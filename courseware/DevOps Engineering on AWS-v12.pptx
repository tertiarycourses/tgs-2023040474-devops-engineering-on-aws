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jpg" ContentType="image/jpeg"/>
  <Default Extension="png" ContentType="image/png"/>
  <Default Extension="rels" ContentType="application/vnd.openxmlformats-package.relationships+xml"/>
  <Default Extension="xlsx" ContentType="application/vnd.openxmlformats-officedocument.spreadsheetml.sheet"/>
  <Default Extension="xml" ContentType="application/xml"/>
  <Override PartName="/docProps/app.xml" ContentType="application/vnd.openxmlformats-officedocument.extended-properties+xml"/>
  <Override PartName="/docProps/core.xml" ContentType="application/vnd.openxmlformats-package.core-properties+xml"/>
  <Override PartName="/ppt/charts/chart1.xml" ContentType="application/vnd.openxmlformats-officedocument.drawingml.chart+xml"/>
  <Override PartName="/ppt/charts/chart10.xml" ContentType="application/vnd.openxmlformats-officedocument.drawingml.chart+xml"/>
  <Override PartName="/ppt/charts/chart11.xml" ContentType="application/vnd.openxmlformats-officedocument.drawingml.chart+xml"/>
  <Override PartName="/ppt/charts/chart12.xml" ContentType="application/vnd.openxmlformats-officedocument.drawingml.chart+xml"/>
  <Override PartName="/ppt/charts/chart13.xml" ContentType="application/vnd.openxmlformats-officedocument.drawingml.chart+xml"/>
  <Override PartName="/ppt/charts/chart2.xml" ContentType="application/vnd.openxmlformats-officedocument.drawingml.chart+xml"/>
  <Override PartName="/ppt/charts/chart3.xml" ContentType="application/vnd.openxmlformats-officedocument.drawingml.chart+xml"/>
  <Override PartName="/ppt/charts/chart4.xml" ContentType="application/vnd.openxmlformats-officedocument.drawingml.chart+xml"/>
  <Override PartName="/ppt/charts/chart5.xml" ContentType="application/vnd.openxmlformats-officedocument.drawingml.chart+xml"/>
  <Override PartName="/ppt/charts/chart6.xml" ContentType="application/vnd.openxmlformats-officedocument.drawingml.chart+xml"/>
  <Override PartName="/ppt/charts/chart7.xml" ContentType="application/vnd.openxmlformats-officedocument.drawingml.chart+xml"/>
  <Override PartName="/ppt/charts/chart8.xml" ContentType="application/vnd.openxmlformats-officedocument.drawingml.chart+xml"/>
  <Override PartName="/ppt/charts/chart9.xml" ContentType="application/vnd.openxmlformats-officedocument.drawingml.chart+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00.xml" ContentType="application/vnd.openxmlformats-officedocument.presentationml.notesSlide+xml"/>
  <Override PartName="/ppt/notesSlides/notesSlide101.xml" ContentType="application/vnd.openxmlformats-officedocument.presentationml.notesSlide+xml"/>
  <Override PartName="/ppt/notesSlides/notesSlide102.xml" ContentType="application/vnd.openxmlformats-officedocument.presentationml.notesSlide+xml"/>
  <Override PartName="/ppt/notesSlides/notesSlide103.xml" ContentType="application/vnd.openxmlformats-officedocument.presentationml.notesSlide+xml"/>
  <Override PartName="/ppt/notesSlides/notesSlide104.xml" ContentType="application/vnd.openxmlformats-officedocument.presentationml.notesSlide+xml"/>
  <Override PartName="/ppt/notesSlides/notesSlide105.xml" ContentType="application/vnd.openxmlformats-officedocument.presentationml.notesSlide+xml"/>
  <Override PartName="/ppt/notesSlides/notesSlide106.xml" ContentType="application/vnd.openxmlformats-officedocument.presentationml.notesSlide+xml"/>
  <Override PartName="/ppt/notesSlides/notesSlide107.xml" ContentType="application/vnd.openxmlformats-officedocument.presentationml.notesSlide+xml"/>
  <Override PartName="/ppt/notesSlides/notesSlide108.xml" ContentType="application/vnd.openxmlformats-officedocument.presentationml.notesSlide+xml"/>
  <Override PartName="/ppt/notesSlides/notesSlide109.xml" ContentType="application/vnd.openxmlformats-officedocument.presentationml.notesSlide+xml"/>
  <Override PartName="/ppt/notesSlides/notesSlide11.xml" ContentType="application/vnd.openxmlformats-officedocument.presentationml.notesSlide+xml"/>
  <Override PartName="/ppt/notesSlides/notesSlide110.xml" ContentType="application/vnd.openxmlformats-officedocument.presentationml.notesSlide+xml"/>
  <Override PartName="/ppt/notesSlides/notesSlide111.xml" ContentType="application/vnd.openxmlformats-officedocument.presentationml.notesSlide+xml"/>
  <Override PartName="/ppt/notesSlides/notesSlide112.xml" ContentType="application/vnd.openxmlformats-officedocument.presentationml.notesSlide+xml"/>
  <Override PartName="/ppt/notesSlides/notesSlide113.xml" ContentType="application/vnd.openxmlformats-officedocument.presentationml.notesSlide+xml"/>
  <Override PartName="/ppt/notesSlides/notesSlide114.xml" ContentType="application/vnd.openxmlformats-officedocument.presentationml.notesSlide+xml"/>
  <Override PartName="/ppt/notesSlides/notesSlide115.xml" ContentType="application/vnd.openxmlformats-officedocument.presentationml.notesSlide+xml"/>
  <Override PartName="/ppt/notesSlides/notesSlide116.xml" ContentType="application/vnd.openxmlformats-officedocument.presentationml.notesSlide+xml"/>
  <Override PartName="/ppt/notesSlides/notesSlide117.xml" ContentType="application/vnd.openxmlformats-officedocument.presentationml.notesSlide+xml"/>
  <Override PartName="/ppt/notesSlides/notesSlide118.xml" ContentType="application/vnd.openxmlformats-officedocument.presentationml.notesSlide+xml"/>
  <Override PartName="/ppt/notesSlides/notesSlide119.xml" ContentType="application/vnd.openxmlformats-officedocument.presentationml.notesSlide+xml"/>
  <Override PartName="/ppt/notesSlides/notesSlide12.xml" ContentType="application/vnd.openxmlformats-officedocument.presentationml.notesSlide+xml"/>
  <Override PartName="/ppt/notesSlides/notesSlide120.xml" ContentType="application/vnd.openxmlformats-officedocument.presentationml.notesSlide+xml"/>
  <Override PartName="/ppt/notesSlides/notesSlide121.xml" ContentType="application/vnd.openxmlformats-officedocument.presentationml.notesSlide+xml"/>
  <Override PartName="/ppt/notesSlides/notesSlide122.xml" ContentType="application/vnd.openxmlformats-officedocument.presentationml.notesSlide+xml"/>
  <Override PartName="/ppt/notesSlides/notesSlide123.xml" ContentType="application/vnd.openxmlformats-officedocument.presentationml.notesSlide+xml"/>
  <Override PartName="/ppt/notesSlides/notesSlide124.xml" ContentType="application/vnd.openxmlformats-officedocument.presentationml.notesSlide+xml"/>
  <Override PartName="/ppt/notesSlides/notesSlide125.xml" ContentType="application/vnd.openxmlformats-officedocument.presentationml.notesSlide+xml"/>
  <Override PartName="/ppt/notesSlides/notesSlide126.xml" ContentType="application/vnd.openxmlformats-officedocument.presentationml.notesSlide+xml"/>
  <Override PartName="/ppt/notesSlides/notesSlide127.xml" ContentType="application/vnd.openxmlformats-officedocument.presentationml.notesSlide+xml"/>
  <Override PartName="/ppt/notesSlides/notesSlide128.xml" ContentType="application/vnd.openxmlformats-officedocument.presentationml.notesSlide+xml"/>
  <Override PartName="/ppt/notesSlides/notesSlide129.xml" ContentType="application/vnd.openxmlformats-officedocument.presentationml.notesSlide+xml"/>
  <Override PartName="/ppt/notesSlides/notesSlide13.xml" ContentType="application/vnd.openxmlformats-officedocument.presentationml.notesSlide+xml"/>
  <Override PartName="/ppt/notesSlides/notesSlide130.xml" ContentType="application/vnd.openxmlformats-officedocument.presentationml.notesSlide+xml"/>
  <Override PartName="/ppt/notesSlides/notesSlide131.xml" ContentType="application/vnd.openxmlformats-officedocument.presentationml.notesSlide+xml"/>
  <Override PartName="/ppt/notesSlides/notesSlide132.xml" ContentType="application/vnd.openxmlformats-officedocument.presentationml.notesSlide+xml"/>
  <Override PartName="/ppt/notesSlides/notesSlide133.xml" ContentType="application/vnd.openxmlformats-officedocument.presentationml.notesSlide+xml"/>
  <Override PartName="/ppt/notesSlides/notesSlide134.xml" ContentType="application/vnd.openxmlformats-officedocument.presentationml.notesSlide+xml"/>
  <Override PartName="/ppt/notesSlides/notesSlide135.xml" ContentType="application/vnd.openxmlformats-officedocument.presentationml.notesSlide+xml"/>
  <Override PartName="/ppt/notesSlides/notesSlide136.xml" ContentType="application/vnd.openxmlformats-officedocument.presentationml.notesSlide+xml"/>
  <Override PartName="/ppt/notesSlides/notesSlide137.xml" ContentType="application/vnd.openxmlformats-officedocument.presentationml.notesSlide+xml"/>
  <Override PartName="/ppt/notesSlides/notesSlide138.xml" ContentType="application/vnd.openxmlformats-officedocument.presentationml.notesSlide+xml"/>
  <Override PartName="/ppt/notesSlides/notesSlide139.xml" ContentType="application/vnd.openxmlformats-officedocument.presentationml.notesSlide+xml"/>
  <Override PartName="/ppt/notesSlides/notesSlide14.xml" ContentType="application/vnd.openxmlformats-officedocument.presentationml.notesSlide+xml"/>
  <Override PartName="/ppt/notesSlides/notesSlide140.xml" ContentType="application/vnd.openxmlformats-officedocument.presentationml.notesSlide+xml"/>
  <Override PartName="/ppt/notesSlides/notesSlide141.xml" ContentType="application/vnd.openxmlformats-officedocument.presentationml.notesSlide+xml"/>
  <Override PartName="/ppt/notesSlides/notesSlide142.xml" ContentType="application/vnd.openxmlformats-officedocument.presentationml.notesSlide+xml"/>
  <Override PartName="/ppt/notesSlides/notesSlide143.xml" ContentType="application/vnd.openxmlformats-officedocument.presentationml.notesSlide+xml"/>
  <Override PartName="/ppt/notesSlides/notesSlide144.xml" ContentType="application/vnd.openxmlformats-officedocument.presentationml.notesSlide+xml"/>
  <Override PartName="/ppt/notesSlides/notesSlide145.xml" ContentType="application/vnd.openxmlformats-officedocument.presentationml.notesSlide+xml"/>
  <Override PartName="/ppt/notesSlides/notesSlide146.xml" ContentType="application/vnd.openxmlformats-officedocument.presentationml.notesSlide+xml"/>
  <Override PartName="/ppt/notesSlides/notesSlide147.xml" ContentType="application/vnd.openxmlformats-officedocument.presentationml.notesSlide+xml"/>
  <Override PartName="/ppt/notesSlides/notesSlide148.xml" ContentType="application/vnd.openxmlformats-officedocument.presentationml.notesSlide+xml"/>
  <Override PartName="/ppt/notesSlides/notesSlide149.xml" ContentType="application/vnd.openxmlformats-officedocument.presentationml.notesSlide+xml"/>
  <Override PartName="/ppt/notesSlides/notesSlide15.xml" ContentType="application/vnd.openxmlformats-officedocument.presentationml.notesSlide+xml"/>
  <Override PartName="/ppt/notesSlides/notesSlide150.xml" ContentType="application/vnd.openxmlformats-officedocument.presentationml.notesSlide+xml"/>
  <Override PartName="/ppt/notesSlides/notesSlide151.xml" ContentType="application/vnd.openxmlformats-officedocument.presentationml.notesSlide+xml"/>
  <Override PartName="/ppt/notesSlides/notesSlide152.xml" ContentType="application/vnd.openxmlformats-officedocument.presentationml.notesSlide+xml"/>
  <Override PartName="/ppt/notesSlides/notesSlide153.xml" ContentType="application/vnd.openxmlformats-officedocument.presentationml.notesSlide+xml"/>
  <Override PartName="/ppt/notesSlides/notesSlide154.xml" ContentType="application/vnd.openxmlformats-officedocument.presentationml.notesSlide+xml"/>
  <Override PartName="/ppt/notesSlides/notesSlide155.xml" ContentType="application/vnd.openxmlformats-officedocument.presentationml.notesSlide+xml"/>
  <Override PartName="/ppt/notesSlides/notesSlide156.xml" ContentType="application/vnd.openxmlformats-officedocument.presentationml.notesSlide+xml"/>
  <Override PartName="/ppt/notesSlides/notesSlide157.xml" ContentType="application/vnd.openxmlformats-officedocument.presentationml.notesSlide+xml"/>
  <Override PartName="/ppt/notesSlides/notesSlide158.xml" ContentType="application/vnd.openxmlformats-officedocument.presentationml.notesSlide+xml"/>
  <Override PartName="/ppt/notesSlides/notesSlide159.xml" ContentType="application/vnd.openxmlformats-officedocument.presentationml.notesSlide+xml"/>
  <Override PartName="/ppt/notesSlides/notesSlide16.xml" ContentType="application/vnd.openxmlformats-officedocument.presentationml.notesSlide+xml"/>
  <Override PartName="/ppt/notesSlides/notesSlide160.xml" ContentType="application/vnd.openxmlformats-officedocument.presentationml.notesSlide+xml"/>
  <Override PartName="/ppt/notesSlides/notesSlide161.xml" ContentType="application/vnd.openxmlformats-officedocument.presentationml.notesSlide+xml"/>
  <Override PartName="/ppt/notesSlides/notesSlide162.xml" ContentType="application/vnd.openxmlformats-officedocument.presentationml.notesSlide+xml"/>
  <Override PartName="/ppt/notesSlides/notesSlide163.xml" ContentType="application/vnd.openxmlformats-officedocument.presentationml.notesSlide+xml"/>
  <Override PartName="/ppt/notesSlides/notesSlide164.xml" ContentType="application/vnd.openxmlformats-officedocument.presentationml.notesSlide+xml"/>
  <Override PartName="/ppt/notesSlides/notesSlide165.xml" ContentType="application/vnd.openxmlformats-officedocument.presentationml.notesSlide+xml"/>
  <Override PartName="/ppt/notesSlides/notesSlide166.xml" ContentType="application/vnd.openxmlformats-officedocument.presentationml.notesSlide+xml"/>
  <Override PartName="/ppt/notesSlides/notesSlide167.xml" ContentType="application/vnd.openxmlformats-officedocument.presentationml.notesSlide+xml"/>
  <Override PartName="/ppt/notesSlides/notesSlide168.xml" ContentType="application/vnd.openxmlformats-officedocument.presentationml.notesSlide+xml"/>
  <Override PartName="/ppt/notesSlides/notesSlide169.xml" ContentType="application/vnd.openxmlformats-officedocument.presentationml.notesSlide+xml"/>
  <Override PartName="/ppt/notesSlides/notesSlide17.xml" ContentType="application/vnd.openxmlformats-officedocument.presentationml.notesSlide+xml"/>
  <Override PartName="/ppt/notesSlides/notesSlide170.xml" ContentType="application/vnd.openxmlformats-officedocument.presentationml.notesSlide+xml"/>
  <Override PartName="/ppt/notesSlides/notesSlide171.xml" ContentType="application/vnd.openxmlformats-officedocument.presentationml.notesSlide+xml"/>
  <Override PartName="/ppt/notesSlides/notesSlide172.xml" ContentType="application/vnd.openxmlformats-officedocument.presentationml.notesSlide+xml"/>
  <Override PartName="/ppt/notesSlides/notesSlide173.xml" ContentType="application/vnd.openxmlformats-officedocument.presentationml.notesSlide+xml"/>
  <Override PartName="/ppt/notesSlides/notesSlide174.xml" ContentType="application/vnd.openxmlformats-officedocument.presentationml.notesSlide+xml"/>
  <Override PartName="/ppt/notesSlides/notesSlide175.xml" ContentType="application/vnd.openxmlformats-officedocument.presentationml.notesSlide+xml"/>
  <Override PartName="/ppt/notesSlides/notesSlide176.xml" ContentType="application/vnd.openxmlformats-officedocument.presentationml.notesSlide+xml"/>
  <Override PartName="/ppt/notesSlides/notesSlide177.xml" ContentType="application/vnd.openxmlformats-officedocument.presentationml.notesSlide+xml"/>
  <Override PartName="/ppt/notesSlides/notesSlide178.xml" ContentType="application/vnd.openxmlformats-officedocument.presentationml.notesSlide+xml"/>
  <Override PartName="/ppt/notesSlides/notesSlide179.xml" ContentType="application/vnd.openxmlformats-officedocument.presentationml.notesSlide+xml"/>
  <Override PartName="/ppt/notesSlides/notesSlide18.xml" ContentType="application/vnd.openxmlformats-officedocument.presentationml.notesSlide+xml"/>
  <Override PartName="/ppt/notesSlides/notesSlide180.xml" ContentType="application/vnd.openxmlformats-officedocument.presentationml.notesSlide+xml"/>
  <Override PartName="/ppt/notesSlides/notesSlide181.xml" ContentType="application/vnd.openxmlformats-officedocument.presentationml.notesSlide+xml"/>
  <Override PartName="/ppt/notesSlides/notesSlide182.xml" ContentType="application/vnd.openxmlformats-officedocument.presentationml.notesSlide+xml"/>
  <Override PartName="/ppt/notesSlides/notesSlide183.xml" ContentType="application/vnd.openxmlformats-officedocument.presentationml.notesSlide+xml"/>
  <Override PartName="/ppt/notesSlides/notesSlide184.xml" ContentType="application/vnd.openxmlformats-officedocument.presentationml.notesSlide+xml"/>
  <Override PartName="/ppt/notesSlides/notesSlide185.xml" ContentType="application/vnd.openxmlformats-officedocument.presentationml.notesSlide+xml"/>
  <Override PartName="/ppt/notesSlides/notesSlide186.xml" ContentType="application/vnd.openxmlformats-officedocument.presentationml.notesSlide+xml"/>
  <Override PartName="/ppt/notesSlides/notesSlide187.xml" ContentType="application/vnd.openxmlformats-officedocument.presentationml.notesSlide+xml"/>
  <Override PartName="/ppt/notesSlides/notesSlide188.xml" ContentType="application/vnd.openxmlformats-officedocument.presentationml.notesSlide+xml"/>
  <Override PartName="/ppt/notesSlides/notesSlide189.xml" ContentType="application/vnd.openxmlformats-officedocument.presentationml.notesSlide+xml"/>
  <Override PartName="/ppt/notesSlides/notesSlide19.xml" ContentType="application/vnd.openxmlformats-officedocument.presentationml.notesSlide+xml"/>
  <Override PartName="/ppt/notesSlides/notesSlide190.xml" ContentType="application/vnd.openxmlformats-officedocument.presentationml.notesSlide+xml"/>
  <Override PartName="/ppt/notesSlides/notesSlide191.xml" ContentType="application/vnd.openxmlformats-officedocument.presentationml.notesSlide+xml"/>
  <Override PartName="/ppt/notesSlides/notesSlide192.xml" ContentType="application/vnd.openxmlformats-officedocument.presentationml.notesSlide+xml"/>
  <Override PartName="/ppt/notesSlides/notesSlide193.xml" ContentType="application/vnd.openxmlformats-officedocument.presentationml.notesSlide+xml"/>
  <Override PartName="/ppt/notesSlides/notesSlide194.xml" ContentType="application/vnd.openxmlformats-officedocument.presentationml.notesSlide+xml"/>
  <Override PartName="/ppt/notesSlides/notesSlide195.xml" ContentType="application/vnd.openxmlformats-officedocument.presentationml.notesSlide+xml"/>
  <Override PartName="/ppt/notesSlides/notesSlide196.xml" ContentType="application/vnd.openxmlformats-officedocument.presentationml.notesSlide+xml"/>
  <Override PartName="/ppt/notesSlides/notesSlide2.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xml" ContentType="application/vnd.openxmlformats-officedocument.presentationml.notesSlide+xml"/>
  <Override PartName="/ppt/notesSlides/notesSlide40.xml" ContentType="application/vnd.openxmlformats-officedocument.presentationml.notesSlide+xml"/>
  <Override PartName="/ppt/notesSlides/notesSlide41.xml" ContentType="application/vnd.openxmlformats-officedocument.presentationml.notesSlide+xml"/>
  <Override PartName="/ppt/notesSlides/notesSlide42.xml" ContentType="application/vnd.openxmlformats-officedocument.presentationml.notesSlide+xml"/>
  <Override PartName="/ppt/notesSlides/notesSlide43.xml" ContentType="application/vnd.openxmlformats-officedocument.presentationml.notesSlide+xml"/>
  <Override PartName="/ppt/notesSlides/notesSlide44.xml" ContentType="application/vnd.openxmlformats-officedocument.presentationml.notesSlide+xml"/>
  <Override PartName="/ppt/notesSlides/notesSlide45.xml" ContentType="application/vnd.openxmlformats-officedocument.presentationml.notesSlide+xml"/>
  <Override PartName="/ppt/notesSlides/notesSlide46.xml" ContentType="application/vnd.openxmlformats-officedocument.presentationml.notesSlide+xml"/>
  <Override PartName="/ppt/notesSlides/notesSlide47.xml" ContentType="application/vnd.openxmlformats-officedocument.presentationml.notesSlide+xml"/>
  <Override PartName="/ppt/notesSlides/notesSlide48.xml" ContentType="application/vnd.openxmlformats-officedocument.presentationml.notesSlide+xml"/>
  <Override PartName="/ppt/notesSlides/notesSlide49.xml" ContentType="application/vnd.openxmlformats-officedocument.presentationml.notesSlide+xml"/>
  <Override PartName="/ppt/notesSlides/notesSlide5.xml" ContentType="application/vnd.openxmlformats-officedocument.presentationml.notesSlide+xml"/>
  <Override PartName="/ppt/notesSlides/notesSlide50.xml" ContentType="application/vnd.openxmlformats-officedocument.presentationml.notesSlide+xml"/>
  <Override PartName="/ppt/notesSlides/notesSlide51.xml" ContentType="application/vnd.openxmlformats-officedocument.presentationml.notesSlide+xml"/>
  <Override PartName="/ppt/notesSlides/notesSlide52.xml" ContentType="application/vnd.openxmlformats-officedocument.presentationml.notesSlide+xml"/>
  <Override PartName="/ppt/notesSlides/notesSlide53.xml" ContentType="application/vnd.openxmlformats-officedocument.presentationml.notesSlide+xml"/>
  <Override PartName="/ppt/notesSlides/notesSlide54.xml" ContentType="application/vnd.openxmlformats-officedocument.presentationml.notesSlide+xml"/>
  <Override PartName="/ppt/notesSlides/notesSlide55.xml" ContentType="application/vnd.openxmlformats-officedocument.presentationml.notesSlide+xml"/>
  <Override PartName="/ppt/notesSlides/notesSlide56.xml" ContentType="application/vnd.openxmlformats-officedocument.presentationml.notesSlide+xml"/>
  <Override PartName="/ppt/notesSlides/notesSlide57.xml" ContentType="application/vnd.openxmlformats-officedocument.presentationml.notesSlide+xml"/>
  <Override PartName="/ppt/notesSlides/notesSlide58.xml" ContentType="application/vnd.openxmlformats-officedocument.presentationml.notesSlide+xml"/>
  <Override PartName="/ppt/notesSlides/notesSlide59.xml" ContentType="application/vnd.openxmlformats-officedocument.presentationml.notesSlide+xml"/>
  <Override PartName="/ppt/notesSlides/notesSlide6.xml" ContentType="application/vnd.openxmlformats-officedocument.presentationml.notesSlide+xml"/>
  <Override PartName="/ppt/notesSlides/notesSlide60.xml" ContentType="application/vnd.openxmlformats-officedocument.presentationml.notesSlide+xml"/>
  <Override PartName="/ppt/notesSlides/notesSlide61.xml" ContentType="application/vnd.openxmlformats-officedocument.presentationml.notesSlide+xml"/>
  <Override PartName="/ppt/notesSlides/notesSlide62.xml" ContentType="application/vnd.openxmlformats-officedocument.presentationml.notesSlide+xml"/>
  <Override PartName="/ppt/notesSlides/notesSlide63.xml" ContentType="application/vnd.openxmlformats-officedocument.presentationml.notesSlide+xml"/>
  <Override PartName="/ppt/notesSlides/notesSlide64.xml" ContentType="application/vnd.openxmlformats-officedocument.presentationml.notesSlide+xml"/>
  <Override PartName="/ppt/notesSlides/notesSlide65.xml" ContentType="application/vnd.openxmlformats-officedocument.presentationml.notesSlide+xml"/>
  <Override PartName="/ppt/notesSlides/notesSlide66.xml" ContentType="application/vnd.openxmlformats-officedocument.presentationml.notesSlide+xml"/>
  <Override PartName="/ppt/notesSlides/notesSlide67.xml" ContentType="application/vnd.openxmlformats-officedocument.presentationml.notesSlide+xml"/>
  <Override PartName="/ppt/notesSlides/notesSlide68.xml" ContentType="application/vnd.openxmlformats-officedocument.presentationml.notesSlide+xml"/>
  <Override PartName="/ppt/notesSlides/notesSlide69.xml" ContentType="application/vnd.openxmlformats-officedocument.presentationml.notesSlide+xml"/>
  <Override PartName="/ppt/notesSlides/notesSlide7.xml" ContentType="application/vnd.openxmlformats-officedocument.presentationml.notesSlide+xml"/>
  <Override PartName="/ppt/notesSlides/notesSlide70.xml" ContentType="application/vnd.openxmlformats-officedocument.presentationml.notesSlide+xml"/>
  <Override PartName="/ppt/notesSlides/notesSlide71.xml" ContentType="application/vnd.openxmlformats-officedocument.presentationml.notesSlide+xml"/>
  <Override PartName="/ppt/notesSlides/notesSlide72.xml" ContentType="application/vnd.openxmlformats-officedocument.presentationml.notesSlide+xml"/>
  <Override PartName="/ppt/notesSlides/notesSlide73.xml" ContentType="application/vnd.openxmlformats-officedocument.presentationml.notesSlide+xml"/>
  <Override PartName="/ppt/notesSlides/notesSlide74.xml" ContentType="application/vnd.openxmlformats-officedocument.presentationml.notesSlide+xml"/>
  <Override PartName="/ppt/notesSlides/notesSlide75.xml" ContentType="application/vnd.openxmlformats-officedocument.presentationml.notesSlide+xml"/>
  <Override PartName="/ppt/notesSlides/notesSlide76.xml" ContentType="application/vnd.openxmlformats-officedocument.presentationml.notesSlide+xml"/>
  <Override PartName="/ppt/notesSlides/notesSlide77.xml" ContentType="application/vnd.openxmlformats-officedocument.presentationml.notesSlide+xml"/>
  <Override PartName="/ppt/notesSlides/notesSlide78.xml" ContentType="application/vnd.openxmlformats-officedocument.presentationml.notesSlide+xml"/>
  <Override PartName="/ppt/notesSlides/notesSlide79.xml" ContentType="application/vnd.openxmlformats-officedocument.presentationml.notesSlide+xml"/>
  <Override PartName="/ppt/notesSlides/notesSlide8.xml" ContentType="application/vnd.openxmlformats-officedocument.presentationml.notesSlide+xml"/>
  <Override PartName="/ppt/notesSlides/notesSlide80.xml" ContentType="application/vnd.openxmlformats-officedocument.presentationml.notesSlide+xml"/>
  <Override PartName="/ppt/notesSlides/notesSlide81.xml" ContentType="application/vnd.openxmlformats-officedocument.presentationml.notesSlide+xml"/>
  <Override PartName="/ppt/notesSlides/notesSlide82.xml" ContentType="application/vnd.openxmlformats-officedocument.presentationml.notesSlide+xml"/>
  <Override PartName="/ppt/notesSlides/notesSlide83.xml" ContentType="application/vnd.openxmlformats-officedocument.presentationml.notesSlide+xml"/>
  <Override PartName="/ppt/notesSlides/notesSlide84.xml" ContentType="application/vnd.openxmlformats-officedocument.presentationml.notesSlide+xml"/>
  <Override PartName="/ppt/notesSlides/notesSlide85.xml" ContentType="application/vnd.openxmlformats-officedocument.presentationml.notesSlide+xml"/>
  <Override PartName="/ppt/notesSlides/notesSlide86.xml" ContentType="application/vnd.openxmlformats-officedocument.presentationml.notesSlide+xml"/>
  <Override PartName="/ppt/notesSlides/notesSlide87.xml" ContentType="application/vnd.openxmlformats-officedocument.presentationml.notesSlide+xml"/>
  <Override PartName="/ppt/notesSlides/notesSlide88.xml" ContentType="application/vnd.openxmlformats-officedocument.presentationml.notesSlide+xml"/>
  <Override PartName="/ppt/notesSlides/notesSlide89.xml" ContentType="application/vnd.openxmlformats-officedocument.presentationml.notesSlide+xml"/>
  <Override PartName="/ppt/notesSlides/notesSlide9.xml" ContentType="application/vnd.openxmlformats-officedocument.presentationml.notesSlide+xml"/>
  <Override PartName="/ppt/notesSlides/notesSlide90.xml" ContentType="application/vnd.openxmlformats-officedocument.presentationml.notesSlide+xml"/>
  <Override PartName="/ppt/notesSlides/notesSlide91.xml" ContentType="application/vnd.openxmlformats-officedocument.presentationml.notesSlide+xml"/>
  <Override PartName="/ppt/notesSlides/notesSlide92.xml" ContentType="application/vnd.openxmlformats-officedocument.presentationml.notesSlide+xml"/>
  <Override PartName="/ppt/notesSlides/notesSlide93.xml" ContentType="application/vnd.openxmlformats-officedocument.presentationml.notesSlide+xml"/>
  <Override PartName="/ppt/notesSlides/notesSlide94.xml" ContentType="application/vnd.openxmlformats-officedocument.presentationml.notesSlide+xml"/>
  <Override PartName="/ppt/notesSlides/notesSlide95.xml" ContentType="application/vnd.openxmlformats-officedocument.presentationml.notesSlide+xml"/>
  <Override PartName="/ppt/notesSlides/notesSlide96.xml" ContentType="application/vnd.openxmlformats-officedocument.presentationml.notesSlide+xml"/>
  <Override PartName="/ppt/notesSlides/notesSlide97.xml" ContentType="application/vnd.openxmlformats-officedocument.presentationml.notesSlide+xml"/>
  <Override PartName="/ppt/notesSlides/notesSlide98.xml" ContentType="application/vnd.openxmlformats-officedocument.presentationml.notesSlide+xml"/>
  <Override PartName="/ppt/notesSlides/notesSlide9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00.xml" ContentType="application/vnd.openxmlformats-officedocument.presentationml.slide+xml"/>
  <Override PartName="/ppt/slides/slide101.xml" ContentType="application/vnd.openxmlformats-officedocument.presentationml.slide+xml"/>
  <Override PartName="/ppt/slides/slide102.xml" ContentType="application/vnd.openxmlformats-officedocument.presentationml.slide+xml"/>
  <Override PartName="/ppt/slides/slide103.xml" ContentType="application/vnd.openxmlformats-officedocument.presentationml.slide+xml"/>
  <Override PartName="/ppt/slides/slide104.xml" ContentType="application/vnd.openxmlformats-officedocument.presentationml.slide+xml"/>
  <Override PartName="/ppt/slides/slide105.xml" ContentType="application/vnd.openxmlformats-officedocument.presentationml.slide+xml"/>
  <Override PartName="/ppt/slides/slide106.xml" ContentType="application/vnd.openxmlformats-officedocument.presentationml.slide+xml"/>
  <Override PartName="/ppt/slides/slide107.xml" ContentType="application/vnd.openxmlformats-officedocument.presentationml.slide+xml"/>
  <Override PartName="/ppt/slides/slide108.xml" ContentType="application/vnd.openxmlformats-officedocument.presentationml.slide+xml"/>
  <Override PartName="/ppt/slides/slide109.xml" ContentType="application/vnd.openxmlformats-officedocument.presentationml.slide+xml"/>
  <Override PartName="/ppt/slides/slide11.xml" ContentType="application/vnd.openxmlformats-officedocument.presentationml.slide+xml"/>
  <Override PartName="/ppt/slides/slide110.xml" ContentType="application/vnd.openxmlformats-officedocument.presentationml.slide+xml"/>
  <Override PartName="/ppt/slides/slide111.xml" ContentType="application/vnd.openxmlformats-officedocument.presentationml.slide+xml"/>
  <Override PartName="/ppt/slides/slide112.xml" ContentType="application/vnd.openxmlformats-officedocument.presentationml.slide+xml"/>
  <Override PartName="/ppt/slides/slide113.xml" ContentType="application/vnd.openxmlformats-officedocument.presentationml.slide+xml"/>
  <Override PartName="/ppt/slides/slide114.xml" ContentType="application/vnd.openxmlformats-officedocument.presentationml.slide+xml"/>
  <Override PartName="/ppt/slides/slide115.xml" ContentType="application/vnd.openxmlformats-officedocument.presentationml.slide+xml"/>
  <Override PartName="/ppt/slides/slide116.xml" ContentType="application/vnd.openxmlformats-officedocument.presentationml.slide+xml"/>
  <Override PartName="/ppt/slides/slide117.xml" ContentType="application/vnd.openxmlformats-officedocument.presentationml.slide+xml"/>
  <Override PartName="/ppt/slides/slide118.xml" ContentType="application/vnd.openxmlformats-officedocument.presentationml.slide+xml"/>
  <Override PartName="/ppt/slides/slide119.xml" ContentType="application/vnd.openxmlformats-officedocument.presentationml.slide+xml"/>
  <Override PartName="/ppt/slides/slide12.xml" ContentType="application/vnd.openxmlformats-officedocument.presentationml.slide+xml"/>
  <Override PartName="/ppt/slides/slide120.xml" ContentType="application/vnd.openxmlformats-officedocument.presentationml.slide+xml"/>
  <Override PartName="/ppt/slides/slide121.xml" ContentType="application/vnd.openxmlformats-officedocument.presentationml.slide+xml"/>
  <Override PartName="/ppt/slides/slide122.xml" ContentType="application/vnd.openxmlformats-officedocument.presentationml.slide+xml"/>
  <Override PartName="/ppt/slides/slide123.xml" ContentType="application/vnd.openxmlformats-officedocument.presentationml.slide+xml"/>
  <Override PartName="/ppt/slides/slide124.xml" ContentType="application/vnd.openxmlformats-officedocument.presentationml.slide+xml"/>
  <Override PartName="/ppt/slides/slide125.xml" ContentType="application/vnd.openxmlformats-officedocument.presentationml.slide+xml"/>
  <Override PartName="/ppt/slides/slide126.xml" ContentType="application/vnd.openxmlformats-officedocument.presentationml.slide+xml"/>
  <Override PartName="/ppt/slides/slide127.xml" ContentType="application/vnd.openxmlformats-officedocument.presentationml.slide+xml"/>
  <Override PartName="/ppt/slides/slide128.xml" ContentType="application/vnd.openxmlformats-officedocument.presentationml.slide+xml"/>
  <Override PartName="/ppt/slides/slide129.xml" ContentType="application/vnd.openxmlformats-officedocument.presentationml.slide+xml"/>
  <Override PartName="/ppt/slides/slide13.xml" ContentType="application/vnd.openxmlformats-officedocument.presentationml.slide+xml"/>
  <Override PartName="/ppt/slides/slide130.xml" ContentType="application/vnd.openxmlformats-officedocument.presentationml.slide+xml"/>
  <Override PartName="/ppt/slides/slide131.xml" ContentType="application/vnd.openxmlformats-officedocument.presentationml.slide+xml"/>
  <Override PartName="/ppt/slides/slide132.xml" ContentType="application/vnd.openxmlformats-officedocument.presentationml.slide+xml"/>
  <Override PartName="/ppt/slides/slide133.xml" ContentType="application/vnd.openxmlformats-officedocument.presentationml.slide+xml"/>
  <Override PartName="/ppt/slides/slide134.xml" ContentType="application/vnd.openxmlformats-officedocument.presentationml.slide+xml"/>
  <Override PartName="/ppt/slides/slide135.xml" ContentType="application/vnd.openxmlformats-officedocument.presentationml.slide+xml"/>
  <Override PartName="/ppt/slides/slide136.xml" ContentType="application/vnd.openxmlformats-officedocument.presentationml.slide+xml"/>
  <Override PartName="/ppt/slides/slide137.xml" ContentType="application/vnd.openxmlformats-officedocument.presentationml.slide+xml"/>
  <Override PartName="/ppt/slides/slide138.xml" ContentType="application/vnd.openxmlformats-officedocument.presentationml.slide+xml"/>
  <Override PartName="/ppt/slides/slide139.xml" ContentType="application/vnd.openxmlformats-officedocument.presentationml.slide+xml"/>
  <Override PartName="/ppt/slides/slide14.xml" ContentType="application/vnd.openxmlformats-officedocument.presentationml.slide+xml"/>
  <Override PartName="/ppt/slides/slide140.xml" ContentType="application/vnd.openxmlformats-officedocument.presentationml.slide+xml"/>
  <Override PartName="/ppt/slides/slide141.xml" ContentType="application/vnd.openxmlformats-officedocument.presentationml.slide+xml"/>
  <Override PartName="/ppt/slides/slide142.xml" ContentType="application/vnd.openxmlformats-officedocument.presentationml.slide+xml"/>
  <Override PartName="/ppt/slides/slide143.xml" ContentType="application/vnd.openxmlformats-officedocument.presentationml.slide+xml"/>
  <Override PartName="/ppt/slides/slide144.xml" ContentType="application/vnd.openxmlformats-officedocument.presentationml.slide+xml"/>
  <Override PartName="/ppt/slides/slide145.xml" ContentType="application/vnd.openxmlformats-officedocument.presentationml.slide+xml"/>
  <Override PartName="/ppt/slides/slide146.xml" ContentType="application/vnd.openxmlformats-officedocument.presentationml.slide+xml"/>
  <Override PartName="/ppt/slides/slide147.xml" ContentType="application/vnd.openxmlformats-officedocument.presentationml.slide+xml"/>
  <Override PartName="/ppt/slides/slide148.xml" ContentType="application/vnd.openxmlformats-officedocument.presentationml.slide+xml"/>
  <Override PartName="/ppt/slides/slide149.xml" ContentType="application/vnd.openxmlformats-officedocument.presentationml.slide+xml"/>
  <Override PartName="/ppt/slides/slide15.xml" ContentType="application/vnd.openxmlformats-officedocument.presentationml.slide+xml"/>
  <Override PartName="/ppt/slides/slide150.xml" ContentType="application/vnd.openxmlformats-officedocument.presentationml.slide+xml"/>
  <Override PartName="/ppt/slides/slide151.xml" ContentType="application/vnd.openxmlformats-officedocument.presentationml.slide+xml"/>
  <Override PartName="/ppt/slides/slide152.xml" ContentType="application/vnd.openxmlformats-officedocument.presentationml.slide+xml"/>
  <Override PartName="/ppt/slides/slide153.xml" ContentType="application/vnd.openxmlformats-officedocument.presentationml.slide+xml"/>
  <Override PartName="/ppt/slides/slide154.xml" ContentType="application/vnd.openxmlformats-officedocument.presentationml.slide+xml"/>
  <Override PartName="/ppt/slides/slide155.xml" ContentType="application/vnd.openxmlformats-officedocument.presentationml.slide+xml"/>
  <Override PartName="/ppt/slides/slide156.xml" ContentType="application/vnd.openxmlformats-officedocument.presentationml.slide+xml"/>
  <Override PartName="/ppt/slides/slide157.xml" ContentType="application/vnd.openxmlformats-officedocument.presentationml.slide+xml"/>
  <Override PartName="/ppt/slides/slide158.xml" ContentType="application/vnd.openxmlformats-officedocument.presentationml.slide+xml"/>
  <Override PartName="/ppt/slides/slide159.xml" ContentType="application/vnd.openxmlformats-officedocument.presentationml.slide+xml"/>
  <Override PartName="/ppt/slides/slide16.xml" ContentType="application/vnd.openxmlformats-officedocument.presentationml.slide+xml"/>
  <Override PartName="/ppt/slides/slide160.xml" ContentType="application/vnd.openxmlformats-officedocument.presentationml.slide+xml"/>
  <Override PartName="/ppt/slides/slide161.xml" ContentType="application/vnd.openxmlformats-officedocument.presentationml.slide+xml"/>
  <Override PartName="/ppt/slides/slide162.xml" ContentType="application/vnd.openxmlformats-officedocument.presentationml.slide+xml"/>
  <Override PartName="/ppt/slides/slide163.xml" ContentType="application/vnd.openxmlformats-officedocument.presentationml.slide+xml"/>
  <Override PartName="/ppt/slides/slide164.xml" ContentType="application/vnd.openxmlformats-officedocument.presentationml.slide+xml"/>
  <Override PartName="/ppt/slides/slide165.xml" ContentType="application/vnd.openxmlformats-officedocument.presentationml.slide+xml"/>
  <Override PartName="/ppt/slides/slide166.xml" ContentType="application/vnd.openxmlformats-officedocument.presentationml.slide+xml"/>
  <Override PartName="/ppt/slides/slide167.xml" ContentType="application/vnd.openxmlformats-officedocument.presentationml.slide+xml"/>
  <Override PartName="/ppt/slides/slide168.xml" ContentType="application/vnd.openxmlformats-officedocument.presentationml.slide+xml"/>
  <Override PartName="/ppt/slides/slide169.xml" ContentType="application/vnd.openxmlformats-officedocument.presentationml.slide+xml"/>
  <Override PartName="/ppt/slides/slide17.xml" ContentType="application/vnd.openxmlformats-officedocument.presentationml.slide+xml"/>
  <Override PartName="/ppt/slides/slide170.xml" ContentType="application/vnd.openxmlformats-officedocument.presentationml.slide+xml"/>
  <Override PartName="/ppt/slides/slide171.xml" ContentType="application/vnd.openxmlformats-officedocument.presentationml.slide+xml"/>
  <Override PartName="/ppt/slides/slide172.xml" ContentType="application/vnd.openxmlformats-officedocument.presentationml.slide+xml"/>
  <Override PartName="/ppt/slides/slide173.xml" ContentType="application/vnd.openxmlformats-officedocument.presentationml.slide+xml"/>
  <Override PartName="/ppt/slides/slide174.xml" ContentType="application/vnd.openxmlformats-officedocument.presentationml.slide+xml"/>
  <Override PartName="/ppt/slides/slide175.xml" ContentType="application/vnd.openxmlformats-officedocument.presentationml.slide+xml"/>
  <Override PartName="/ppt/slides/slide176.xml" ContentType="application/vnd.openxmlformats-officedocument.presentationml.slide+xml"/>
  <Override PartName="/ppt/slides/slide177.xml" ContentType="application/vnd.openxmlformats-officedocument.presentationml.slide+xml"/>
  <Override PartName="/ppt/slides/slide178.xml" ContentType="application/vnd.openxmlformats-officedocument.presentationml.slide+xml"/>
  <Override PartName="/ppt/slides/slide179.xml" ContentType="application/vnd.openxmlformats-officedocument.presentationml.slide+xml"/>
  <Override PartName="/ppt/slides/slide18.xml" ContentType="application/vnd.openxmlformats-officedocument.presentationml.slide+xml"/>
  <Override PartName="/ppt/slides/slide180.xml" ContentType="application/vnd.openxmlformats-officedocument.presentationml.slide+xml"/>
  <Override PartName="/ppt/slides/slide181.xml" ContentType="application/vnd.openxmlformats-officedocument.presentationml.slide+xml"/>
  <Override PartName="/ppt/slides/slide182.xml" ContentType="application/vnd.openxmlformats-officedocument.presentationml.slide+xml"/>
  <Override PartName="/ppt/slides/slide183.xml" ContentType="application/vnd.openxmlformats-officedocument.presentationml.slide+xml"/>
  <Override PartName="/ppt/slides/slide184.xml" ContentType="application/vnd.openxmlformats-officedocument.presentationml.slide+xml"/>
  <Override PartName="/ppt/slides/slide185.xml" ContentType="application/vnd.openxmlformats-officedocument.presentationml.slide+xml"/>
  <Override PartName="/ppt/slides/slide186.xml" ContentType="application/vnd.openxmlformats-officedocument.presentationml.slide+xml"/>
  <Override PartName="/ppt/slides/slide187.xml" ContentType="application/vnd.openxmlformats-officedocument.presentationml.slide+xml"/>
  <Override PartName="/ppt/slides/slide188.xml" ContentType="application/vnd.openxmlformats-officedocument.presentationml.slide+xml"/>
  <Override PartName="/ppt/slides/slide189.xml" ContentType="application/vnd.openxmlformats-officedocument.presentationml.slide+xml"/>
  <Override PartName="/ppt/slides/slide19.xml" ContentType="application/vnd.openxmlformats-officedocument.presentationml.slide+xml"/>
  <Override PartName="/ppt/slides/slide190.xml" ContentType="application/vnd.openxmlformats-officedocument.presentationml.slide+xml"/>
  <Override PartName="/ppt/slides/slide191.xml" ContentType="application/vnd.openxmlformats-officedocument.presentationml.slide+xml"/>
  <Override PartName="/ppt/slides/slide192.xml" ContentType="application/vnd.openxmlformats-officedocument.presentationml.slide+xml"/>
  <Override PartName="/ppt/slides/slide193.xml" ContentType="application/vnd.openxmlformats-officedocument.presentationml.slide+xml"/>
  <Override PartName="/ppt/slides/slide194.xml" ContentType="application/vnd.openxmlformats-officedocument.presentationml.slide+xml"/>
  <Override PartName="/ppt/slides/slide195.xml" ContentType="application/vnd.openxmlformats-officedocument.presentationml.slide+xml"/>
  <Override PartName="/ppt/slides/slide196.xml" ContentType="application/vnd.openxmlformats-officedocument.presentationml.slide+xml"/>
  <Override PartName="/ppt/slides/slide197.xml" ContentType="application/vnd.openxmlformats-officedocument.presentationml.slide+xml"/>
  <Override PartName="/ppt/slides/slide198.xml" ContentType="application/vnd.openxmlformats-officedocument.presentationml.slide+xml"/>
  <Override PartName="/ppt/slides/slide19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00.xml" ContentType="application/vnd.openxmlformats-officedocument.presentationml.slide+xml"/>
  <Override PartName="/ppt/slides/slide201.xml" ContentType="application/vnd.openxmlformats-officedocument.presentationml.slide+xml"/>
  <Override PartName="/ppt/slides/slide202.xml" ContentType="application/vnd.openxmlformats-officedocument.presentationml.slide+xml"/>
  <Override PartName="/ppt/slides/slide203.xml" ContentType="application/vnd.openxmlformats-officedocument.presentationml.slide+xml"/>
  <Override PartName="/ppt/slides/slide204.xml" ContentType="application/vnd.openxmlformats-officedocument.presentationml.slide+xml"/>
  <Override PartName="/ppt/slides/slide205.xml" ContentType="application/vnd.openxmlformats-officedocument.presentationml.slide+xml"/>
  <Override PartName="/ppt/slides/slide206.xml" ContentType="application/vnd.openxmlformats-officedocument.presentationml.slide+xml"/>
  <Override PartName="/ppt/slides/slide207.xml" ContentType="application/vnd.openxmlformats-officedocument.presentationml.slide+xml"/>
  <Override PartName="/ppt/slides/slide208.xml" ContentType="application/vnd.openxmlformats-officedocument.presentationml.slide+xml"/>
  <Override PartName="/ppt/slides/slide209.xml" ContentType="application/vnd.openxmlformats-officedocument.presentationml.slide+xml"/>
  <Override PartName="/ppt/slides/slide21.xml" ContentType="application/vnd.openxmlformats-officedocument.presentationml.slide+xml"/>
  <Override PartName="/ppt/slides/slide210.xml" ContentType="application/vnd.openxmlformats-officedocument.presentationml.slide+xml"/>
  <Override PartName="/ppt/slides/slide211.xml" ContentType="application/vnd.openxmlformats-officedocument.presentationml.slide+xml"/>
  <Override PartName="/ppt/slides/slide212.xml" ContentType="application/vnd.openxmlformats-officedocument.presentationml.slide+xml"/>
  <Override PartName="/ppt/slides/slide213.xml" ContentType="application/vnd.openxmlformats-officedocument.presentationml.slide+xml"/>
  <Override PartName="/ppt/slides/slide214.xml" ContentType="application/vnd.openxmlformats-officedocument.presentationml.slide+xml"/>
  <Override PartName="/ppt/slides/slide215.xml" ContentType="application/vnd.openxmlformats-officedocument.presentationml.slide+xml"/>
  <Override PartName="/ppt/slides/slide216.xml" ContentType="application/vnd.openxmlformats-officedocument.presentationml.slide+xml"/>
  <Override PartName="/ppt/slides/slide217.xml" ContentType="application/vnd.openxmlformats-officedocument.presentationml.slide+xml"/>
  <Override PartName="/ppt/slides/slide218.xml" ContentType="application/vnd.openxmlformats-officedocument.presentationml.slide+xml"/>
  <Override PartName="/ppt/slides/slide219.xml" ContentType="application/vnd.openxmlformats-officedocument.presentationml.slide+xml"/>
  <Override PartName="/ppt/slides/slide22.xml" ContentType="application/vnd.openxmlformats-officedocument.presentationml.slide+xml"/>
  <Override PartName="/ppt/slides/slide220.xml" ContentType="application/vnd.openxmlformats-officedocument.presentationml.slide+xml"/>
  <Override PartName="/ppt/slides/slide221.xml" ContentType="application/vnd.openxmlformats-officedocument.presentationml.slide+xml"/>
  <Override PartName="/ppt/slides/slide222.xml" ContentType="application/vnd.openxmlformats-officedocument.presentationml.slide+xml"/>
  <Override PartName="/ppt/slides/slide223.xml" ContentType="application/vnd.openxmlformats-officedocument.presentationml.slide+xml"/>
  <Override PartName="/ppt/slides/slide224.xml" ContentType="application/vnd.openxmlformats-officedocument.presentationml.slide+xml"/>
  <Override PartName="/ppt/slides/slide225.xml" ContentType="application/vnd.openxmlformats-officedocument.presentationml.slide+xml"/>
  <Override PartName="/ppt/slides/slide226.xml" ContentType="application/vnd.openxmlformats-officedocument.presentationml.slide+xml"/>
  <Override PartName="/ppt/slides/slide227.xml" ContentType="application/vnd.openxmlformats-officedocument.presentationml.slide+xml"/>
  <Override PartName="/ppt/slides/slide228.xml" ContentType="application/vnd.openxmlformats-officedocument.presentationml.slide+xml"/>
  <Override PartName="/ppt/slides/slide229.xml" ContentType="application/vnd.openxmlformats-officedocument.presentationml.slide+xml"/>
  <Override PartName="/ppt/slides/slide23.xml" ContentType="application/vnd.openxmlformats-officedocument.presentationml.slide+xml"/>
  <Override PartName="/ppt/slides/slide230.xml" ContentType="application/vnd.openxmlformats-officedocument.presentationml.slide+xml"/>
  <Override PartName="/ppt/slides/slide231.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slides/slide63.xml" ContentType="application/vnd.openxmlformats-officedocument.presentationml.slide+xml"/>
  <Override PartName="/ppt/slides/slide64.xml" ContentType="application/vnd.openxmlformats-officedocument.presentationml.slide+xml"/>
  <Override PartName="/ppt/slides/slide65.xml" ContentType="application/vnd.openxmlformats-officedocument.presentationml.slide+xml"/>
  <Override PartName="/ppt/slides/slide66.xml" ContentType="application/vnd.openxmlformats-officedocument.presentationml.slide+xml"/>
  <Override PartName="/ppt/slides/slide67.xml" ContentType="application/vnd.openxmlformats-officedocument.presentationml.slide+xml"/>
  <Override PartName="/ppt/slides/slide68.xml" ContentType="application/vnd.openxmlformats-officedocument.presentationml.slide+xml"/>
  <Override PartName="/ppt/slides/slide69.xml" ContentType="application/vnd.openxmlformats-officedocument.presentationml.slide+xml"/>
  <Override PartName="/ppt/slides/slide7.xml" ContentType="application/vnd.openxmlformats-officedocument.presentationml.slide+xml"/>
  <Override PartName="/ppt/slides/slide70.xml" ContentType="application/vnd.openxmlformats-officedocument.presentationml.slide+xml"/>
  <Override PartName="/ppt/slides/slide71.xml" ContentType="application/vnd.openxmlformats-officedocument.presentationml.slide+xml"/>
  <Override PartName="/ppt/slides/slide72.xml" ContentType="application/vnd.openxmlformats-officedocument.presentationml.slide+xml"/>
  <Override PartName="/ppt/slides/slide73.xml" ContentType="application/vnd.openxmlformats-officedocument.presentationml.slide+xml"/>
  <Override PartName="/ppt/slides/slide74.xml" ContentType="application/vnd.openxmlformats-officedocument.presentationml.slide+xml"/>
  <Override PartName="/ppt/slides/slide75.xml" ContentType="application/vnd.openxmlformats-officedocument.presentationml.slide+xml"/>
  <Override PartName="/ppt/slides/slide76.xml" ContentType="application/vnd.openxmlformats-officedocument.presentationml.slide+xml"/>
  <Override PartName="/ppt/slides/slide77.xml" ContentType="application/vnd.openxmlformats-officedocument.presentationml.slide+xml"/>
  <Override PartName="/ppt/slides/slide78.xml" ContentType="application/vnd.openxmlformats-officedocument.presentationml.slide+xml"/>
  <Override PartName="/ppt/slides/slide79.xml" ContentType="application/vnd.openxmlformats-officedocument.presentationml.slide+xml"/>
  <Override PartName="/ppt/slides/slide8.xml" ContentType="application/vnd.openxmlformats-officedocument.presentationml.slide+xml"/>
  <Override PartName="/ppt/slides/slide80.xml" ContentType="application/vnd.openxmlformats-officedocument.presentationml.slide+xml"/>
  <Override PartName="/ppt/slides/slide81.xml" ContentType="application/vnd.openxmlformats-officedocument.presentationml.slide+xml"/>
  <Override PartName="/ppt/slides/slide82.xml" ContentType="application/vnd.openxmlformats-officedocument.presentationml.slide+xml"/>
  <Override PartName="/ppt/slides/slide83.xml" ContentType="application/vnd.openxmlformats-officedocument.presentationml.slide+xml"/>
  <Override PartName="/ppt/slides/slide84.xml" ContentType="application/vnd.openxmlformats-officedocument.presentationml.slide+xml"/>
  <Override PartName="/ppt/slides/slide85.xml" ContentType="application/vnd.openxmlformats-officedocument.presentationml.slide+xml"/>
  <Override PartName="/ppt/slides/slide86.xml" ContentType="application/vnd.openxmlformats-officedocument.presentationml.slide+xml"/>
  <Override PartName="/ppt/slides/slide87.xml" ContentType="application/vnd.openxmlformats-officedocument.presentationml.slide+xml"/>
  <Override PartName="/ppt/slides/slide88.xml" ContentType="application/vnd.openxmlformats-officedocument.presentationml.slide+xml"/>
  <Override PartName="/ppt/slides/slide89.xml" ContentType="application/vnd.openxmlformats-officedocument.presentationml.slide+xml"/>
  <Override PartName="/ppt/slides/slide9.xml" ContentType="application/vnd.openxmlformats-officedocument.presentationml.slide+xml"/>
  <Override PartName="/ppt/slides/slide90.xml" ContentType="application/vnd.openxmlformats-officedocument.presentationml.slide+xml"/>
  <Override PartName="/ppt/slides/slide91.xml" ContentType="application/vnd.openxmlformats-officedocument.presentationml.slide+xml"/>
  <Override PartName="/ppt/slides/slide92.xml" ContentType="application/vnd.openxmlformats-officedocument.presentationml.slide+xml"/>
  <Override PartName="/ppt/slides/slide93.xml" ContentType="application/vnd.openxmlformats-officedocument.presentationml.slide+xml"/>
  <Override PartName="/ppt/slides/slide94.xml" ContentType="application/vnd.openxmlformats-officedocument.presentationml.slide+xml"/>
  <Override PartName="/ppt/slides/slide95.xml" ContentType="application/vnd.openxmlformats-officedocument.presentationml.slide+xml"/>
  <Override PartName="/ppt/slides/slide96.xml" ContentType="application/vnd.openxmlformats-officedocument.presentationml.slide+xml"/>
  <Override PartName="/ppt/slides/slide97.xml" ContentType="application/vnd.openxmlformats-officedocument.presentationml.slide+xml"/>
  <Override PartName="/ppt/slides/slide98.xml" ContentType="application/vnd.openxmlformats-officedocument.presentationml.slide+xml"/>
  <Override PartName="/ppt/slides/slide9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 id="270" r:id="rId22"/>
    <p:sldId id="271" r:id="rId23"/>
    <p:sldId id="272" r:id="rId24"/>
    <p:sldId id="273" r:id="rId25"/>
    <p:sldId id="274" r:id="rId26"/>
    <p:sldId id="275" r:id="rId27"/>
    <p:sldId id="276" r:id="rId28"/>
    <p:sldId id="277" r:id="rId29"/>
    <p:sldId id="278" r:id="rId30"/>
    <p:sldId id="279" r:id="rId31"/>
    <p:sldId id="280" r:id="rId32"/>
    <p:sldId id="281" r:id="rId33"/>
    <p:sldId id="282" r:id="rId34"/>
    <p:sldId id="283" r:id="rId35"/>
    <p:sldId id="284" r:id="rId36"/>
    <p:sldId id="285" r:id="rId37"/>
    <p:sldId id="286" r:id="rId38"/>
    <p:sldId id="287" r:id="rId39"/>
    <p:sldId id="288" r:id="rId40"/>
    <p:sldId id="289" r:id="rId41"/>
    <p:sldId id="290" r:id="rId42"/>
    <p:sldId id="291" r:id="rId43"/>
    <p:sldId id="292" r:id="rId44"/>
    <p:sldId id="293" r:id="rId45"/>
    <p:sldId id="294" r:id="rId46"/>
    <p:sldId id="295" r:id="rId47"/>
    <p:sldId id="296" r:id="rId48"/>
    <p:sldId id="297" r:id="rId49"/>
    <p:sldId id="298" r:id="rId50"/>
    <p:sldId id="299" r:id="rId51"/>
    <p:sldId id="300" r:id="rId52"/>
    <p:sldId id="301" r:id="rId53"/>
    <p:sldId id="302" r:id="rId54"/>
    <p:sldId id="303" r:id="rId55"/>
    <p:sldId id="304" r:id="rId56"/>
    <p:sldId id="305" r:id="rId57"/>
    <p:sldId id="306" r:id="rId58"/>
    <p:sldId id="307" r:id="rId59"/>
    <p:sldId id="308" r:id="rId60"/>
    <p:sldId id="309" r:id="rId61"/>
    <p:sldId id="310" r:id="rId62"/>
    <p:sldId id="311" r:id="rId63"/>
    <p:sldId id="312" r:id="rId64"/>
    <p:sldId id="313" r:id="rId65"/>
    <p:sldId id="314" r:id="rId66"/>
    <p:sldId id="315" r:id="rId67"/>
    <p:sldId id="316" r:id="rId68"/>
    <p:sldId id="317" r:id="rId69"/>
    <p:sldId id="318" r:id="rId70"/>
    <p:sldId id="319" r:id="rId71"/>
    <p:sldId id="320" r:id="rId72"/>
    <p:sldId id="321" r:id="rId73"/>
    <p:sldId id="322" r:id="rId74"/>
    <p:sldId id="323" r:id="rId75"/>
    <p:sldId id="324" r:id="rId76"/>
    <p:sldId id="325" r:id="rId77"/>
    <p:sldId id="326" r:id="rId78"/>
    <p:sldId id="327" r:id="rId79"/>
    <p:sldId id="328" r:id="rId80"/>
    <p:sldId id="329" r:id="rId81"/>
    <p:sldId id="330" r:id="rId82"/>
    <p:sldId id="331" r:id="rId83"/>
    <p:sldId id="332" r:id="rId84"/>
    <p:sldId id="333" r:id="rId85"/>
    <p:sldId id="334" r:id="rId86"/>
    <p:sldId id="335" r:id="rId87"/>
    <p:sldId id="336" r:id="rId88"/>
    <p:sldId id="337" r:id="rId89"/>
    <p:sldId id="338" r:id="rId90"/>
    <p:sldId id="339" r:id="rId91"/>
    <p:sldId id="340" r:id="rId92"/>
    <p:sldId id="341" r:id="rId93"/>
    <p:sldId id="342" r:id="rId94"/>
    <p:sldId id="343" r:id="rId95"/>
    <p:sldId id="344" r:id="rId96"/>
    <p:sldId id="345" r:id="rId97"/>
    <p:sldId id="346" r:id="rId98"/>
    <p:sldId id="347" r:id="rId99"/>
    <p:sldId id="348" r:id="rId100"/>
    <p:sldId id="349" r:id="rId101"/>
    <p:sldId id="350" r:id="rId102"/>
    <p:sldId id="351" r:id="rId103"/>
    <p:sldId id="352" r:id="rId104"/>
    <p:sldId id="353" r:id="rId105"/>
    <p:sldId id="354" r:id="rId106"/>
    <p:sldId id="355" r:id="rId107"/>
    <p:sldId id="356" r:id="rId108"/>
    <p:sldId id="357" r:id="rId109"/>
    <p:sldId id="358" r:id="rId110"/>
    <p:sldId id="359" r:id="rId111"/>
    <p:sldId id="360" r:id="rId112"/>
    <p:sldId id="361" r:id="rId113"/>
    <p:sldId id="362" r:id="rId114"/>
    <p:sldId id="363" r:id="rId115"/>
    <p:sldId id="364" r:id="rId116"/>
    <p:sldId id="365" r:id="rId117"/>
    <p:sldId id="366" r:id="rId118"/>
    <p:sldId id="367" r:id="rId119"/>
    <p:sldId id="368" r:id="rId120"/>
    <p:sldId id="369" r:id="rId121"/>
    <p:sldId id="370" r:id="rId122"/>
    <p:sldId id="371" r:id="rId123"/>
    <p:sldId id="372" r:id="rId124"/>
    <p:sldId id="373" r:id="rId125"/>
    <p:sldId id="374" r:id="rId126"/>
    <p:sldId id="375" r:id="rId127"/>
    <p:sldId id="376" r:id="rId128"/>
    <p:sldId id="377" r:id="rId129"/>
    <p:sldId id="378" r:id="rId130"/>
    <p:sldId id="379" r:id="rId131"/>
    <p:sldId id="380" r:id="rId132"/>
    <p:sldId id="381" r:id="rId133"/>
    <p:sldId id="382" r:id="rId134"/>
    <p:sldId id="383" r:id="rId135"/>
    <p:sldId id="384" r:id="rId136"/>
    <p:sldId id="385" r:id="rId137"/>
    <p:sldId id="386" r:id="rId138"/>
    <p:sldId id="387" r:id="rId139"/>
    <p:sldId id="388" r:id="rId140"/>
    <p:sldId id="389" r:id="rId141"/>
    <p:sldId id="390" r:id="rId142"/>
    <p:sldId id="391" r:id="rId143"/>
    <p:sldId id="392" r:id="rId144"/>
    <p:sldId id="393" r:id="rId145"/>
    <p:sldId id="394" r:id="rId146"/>
    <p:sldId id="395" r:id="rId147"/>
    <p:sldId id="396" r:id="rId148"/>
    <p:sldId id="397" r:id="rId149"/>
    <p:sldId id="398" r:id="rId150"/>
    <p:sldId id="399" r:id="rId151"/>
    <p:sldId id="400" r:id="rId152"/>
    <p:sldId id="401" r:id="rId153"/>
    <p:sldId id="402" r:id="rId154"/>
    <p:sldId id="403" r:id="rId155"/>
    <p:sldId id="404" r:id="rId156"/>
    <p:sldId id="405" r:id="rId157"/>
    <p:sldId id="406" r:id="rId158"/>
    <p:sldId id="407" r:id="rId159"/>
    <p:sldId id="408" r:id="rId160"/>
    <p:sldId id="409" r:id="rId161"/>
    <p:sldId id="410" r:id="rId162"/>
    <p:sldId id="411" r:id="rId163"/>
    <p:sldId id="412" r:id="rId164"/>
    <p:sldId id="413" r:id="rId165"/>
    <p:sldId id="414" r:id="rId166"/>
    <p:sldId id="415" r:id="rId167"/>
    <p:sldId id="416" r:id="rId168"/>
    <p:sldId id="417" r:id="rId169"/>
    <p:sldId id="418" r:id="rId170"/>
    <p:sldId id="419" r:id="rId171"/>
    <p:sldId id="420" r:id="rId172"/>
    <p:sldId id="421" r:id="rId173"/>
    <p:sldId id="422" r:id="rId174"/>
    <p:sldId id="423" r:id="rId175"/>
    <p:sldId id="424" r:id="rId176"/>
    <p:sldId id="425" r:id="rId177"/>
    <p:sldId id="426" r:id="rId178"/>
    <p:sldId id="427" r:id="rId179"/>
    <p:sldId id="428" r:id="rId180"/>
    <p:sldId id="429" r:id="rId181"/>
    <p:sldId id="430" r:id="rId182"/>
    <p:sldId id="431" r:id="rId183"/>
    <p:sldId id="432" r:id="rId184"/>
    <p:sldId id="433" r:id="rId185"/>
    <p:sldId id="434" r:id="rId186"/>
    <p:sldId id="435" r:id="rId187"/>
    <p:sldId id="436" r:id="rId188"/>
    <p:sldId id="437" r:id="rId189"/>
    <p:sldId id="438" r:id="rId190"/>
    <p:sldId id="439" r:id="rId191"/>
    <p:sldId id="440" r:id="rId192"/>
    <p:sldId id="441" r:id="rId193"/>
    <p:sldId id="442" r:id="rId194"/>
    <p:sldId id="443" r:id="rId195"/>
    <p:sldId id="444" r:id="rId196"/>
    <p:sldId id="445" r:id="rId197"/>
    <p:sldId id="446" r:id="rId198"/>
    <p:sldId id="447" r:id="rId199"/>
    <p:sldId id="448" r:id="rId200"/>
    <p:sldId id="449" r:id="rId201"/>
    <p:sldId id="450" r:id="rId202"/>
    <p:sldId id="451" r:id="rId203"/>
    <p:sldId id="452" r:id="rId204"/>
    <p:sldId id="453" r:id="rId205"/>
    <p:sldId id="454" r:id="rId206"/>
    <p:sldId id="455" r:id="rId207"/>
    <p:sldId id="456" r:id="rId208"/>
    <p:sldId id="457" r:id="rId209"/>
    <p:sldId id="458" r:id="rId210"/>
    <p:sldId id="459" r:id="rId211"/>
    <p:sldId id="460" r:id="rId212"/>
    <p:sldId id="461" r:id="rId213"/>
    <p:sldId id="462" r:id="rId214"/>
    <p:sldId id="463" r:id="rId215"/>
    <p:sldId id="464" r:id="rId216"/>
    <p:sldId id="465" r:id="rId217"/>
    <p:sldId id="466" r:id="rId218"/>
    <p:sldId id="467" r:id="rId219"/>
    <p:sldId id="468" r:id="rId220"/>
    <p:sldId id="469" r:id="rId221"/>
    <p:sldId id="470" r:id="rId222"/>
    <p:sldId id="471" r:id="rId223"/>
    <p:sldId id="472" r:id="rId224"/>
    <p:sldId id="473" r:id="rId225"/>
    <p:sldId id="474" r:id="rId226"/>
    <p:sldId id="475" r:id="rId227"/>
    <p:sldId id="476" r:id="rId228"/>
    <p:sldId id="477" r:id="rId229"/>
    <p:sldId id="478" r:id="rId230"/>
    <p:sldId id="479" r:id="rId231"/>
    <p:sldId id="480" r:id="rId232"/>
    <p:sldId id="481" r:id="rId233"/>
    <p:sldId id="482" r:id="rId234"/>
    <p:sldId id="483" r:id="rId235"/>
    <p:sldId id="484" r:id="rId236"/>
    <p:sldId id="485" r:id="rId237"/>
    <p:sldId id="486" r:id="rId238"/>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 Id="rId22" Type="http://schemas.openxmlformats.org/officeDocument/2006/relationships/slide" Target="slides/slide15.xml"/><Relationship Id="rId23" Type="http://schemas.openxmlformats.org/officeDocument/2006/relationships/slide" Target="slides/slide16.xml"/><Relationship Id="rId24" Type="http://schemas.openxmlformats.org/officeDocument/2006/relationships/slide" Target="slides/slide17.xml"/><Relationship Id="rId25" Type="http://schemas.openxmlformats.org/officeDocument/2006/relationships/slide" Target="slides/slide18.xml"/><Relationship Id="rId26" Type="http://schemas.openxmlformats.org/officeDocument/2006/relationships/slide" Target="slides/slide19.xml"/><Relationship Id="rId27" Type="http://schemas.openxmlformats.org/officeDocument/2006/relationships/slide" Target="slides/slide20.xml"/><Relationship Id="rId28" Type="http://schemas.openxmlformats.org/officeDocument/2006/relationships/slide" Target="slides/slide21.xml"/><Relationship Id="rId29" Type="http://schemas.openxmlformats.org/officeDocument/2006/relationships/slide" Target="slides/slide22.xml"/><Relationship Id="rId30" Type="http://schemas.openxmlformats.org/officeDocument/2006/relationships/slide" Target="slides/slide23.xml"/><Relationship Id="rId31" Type="http://schemas.openxmlformats.org/officeDocument/2006/relationships/slide" Target="slides/slide24.xml"/><Relationship Id="rId32" Type="http://schemas.openxmlformats.org/officeDocument/2006/relationships/slide" Target="slides/slide25.xml"/><Relationship Id="rId33" Type="http://schemas.openxmlformats.org/officeDocument/2006/relationships/slide" Target="slides/slide26.xml"/><Relationship Id="rId34" Type="http://schemas.openxmlformats.org/officeDocument/2006/relationships/slide" Target="slides/slide27.xml"/><Relationship Id="rId35" Type="http://schemas.openxmlformats.org/officeDocument/2006/relationships/slide" Target="slides/slide28.xml"/><Relationship Id="rId36" Type="http://schemas.openxmlformats.org/officeDocument/2006/relationships/slide" Target="slides/slide29.xml"/><Relationship Id="rId37" Type="http://schemas.openxmlformats.org/officeDocument/2006/relationships/slide" Target="slides/slide30.xml"/><Relationship Id="rId38" Type="http://schemas.openxmlformats.org/officeDocument/2006/relationships/slide" Target="slides/slide31.xml"/><Relationship Id="rId39" Type="http://schemas.openxmlformats.org/officeDocument/2006/relationships/slide" Target="slides/slide32.xml"/><Relationship Id="rId40" Type="http://schemas.openxmlformats.org/officeDocument/2006/relationships/slide" Target="slides/slide33.xml"/><Relationship Id="rId41" Type="http://schemas.openxmlformats.org/officeDocument/2006/relationships/slide" Target="slides/slide34.xml"/><Relationship Id="rId42" Type="http://schemas.openxmlformats.org/officeDocument/2006/relationships/slide" Target="slides/slide35.xml"/><Relationship Id="rId43" Type="http://schemas.openxmlformats.org/officeDocument/2006/relationships/slide" Target="slides/slide36.xml"/><Relationship Id="rId44" Type="http://schemas.openxmlformats.org/officeDocument/2006/relationships/slide" Target="slides/slide37.xml"/><Relationship Id="rId45" Type="http://schemas.openxmlformats.org/officeDocument/2006/relationships/slide" Target="slides/slide38.xml"/><Relationship Id="rId46" Type="http://schemas.openxmlformats.org/officeDocument/2006/relationships/slide" Target="slides/slide39.xml"/><Relationship Id="rId47" Type="http://schemas.openxmlformats.org/officeDocument/2006/relationships/slide" Target="slides/slide40.xml"/><Relationship Id="rId48" Type="http://schemas.openxmlformats.org/officeDocument/2006/relationships/slide" Target="slides/slide41.xml"/><Relationship Id="rId49" Type="http://schemas.openxmlformats.org/officeDocument/2006/relationships/slide" Target="slides/slide42.xml"/><Relationship Id="rId50" Type="http://schemas.openxmlformats.org/officeDocument/2006/relationships/slide" Target="slides/slide43.xml"/><Relationship Id="rId51" Type="http://schemas.openxmlformats.org/officeDocument/2006/relationships/slide" Target="slides/slide44.xml"/><Relationship Id="rId52" Type="http://schemas.openxmlformats.org/officeDocument/2006/relationships/slide" Target="slides/slide45.xml"/><Relationship Id="rId53" Type="http://schemas.openxmlformats.org/officeDocument/2006/relationships/slide" Target="slides/slide46.xml"/><Relationship Id="rId54" Type="http://schemas.openxmlformats.org/officeDocument/2006/relationships/slide" Target="slides/slide47.xml"/><Relationship Id="rId55" Type="http://schemas.openxmlformats.org/officeDocument/2006/relationships/slide" Target="slides/slide48.xml"/><Relationship Id="rId56" Type="http://schemas.openxmlformats.org/officeDocument/2006/relationships/slide" Target="slides/slide49.xml"/><Relationship Id="rId57" Type="http://schemas.openxmlformats.org/officeDocument/2006/relationships/slide" Target="slides/slide50.xml"/><Relationship Id="rId58" Type="http://schemas.openxmlformats.org/officeDocument/2006/relationships/slide" Target="slides/slide51.xml"/><Relationship Id="rId59" Type="http://schemas.openxmlformats.org/officeDocument/2006/relationships/slide" Target="slides/slide52.xml"/><Relationship Id="rId60" Type="http://schemas.openxmlformats.org/officeDocument/2006/relationships/slide" Target="slides/slide53.xml"/><Relationship Id="rId61" Type="http://schemas.openxmlformats.org/officeDocument/2006/relationships/slide" Target="slides/slide54.xml"/><Relationship Id="rId62" Type="http://schemas.openxmlformats.org/officeDocument/2006/relationships/slide" Target="slides/slide55.xml"/><Relationship Id="rId63" Type="http://schemas.openxmlformats.org/officeDocument/2006/relationships/slide" Target="slides/slide56.xml"/><Relationship Id="rId64" Type="http://schemas.openxmlformats.org/officeDocument/2006/relationships/slide" Target="slides/slide57.xml"/><Relationship Id="rId65" Type="http://schemas.openxmlformats.org/officeDocument/2006/relationships/slide" Target="slides/slide58.xml"/><Relationship Id="rId66" Type="http://schemas.openxmlformats.org/officeDocument/2006/relationships/slide" Target="slides/slide59.xml"/><Relationship Id="rId67" Type="http://schemas.openxmlformats.org/officeDocument/2006/relationships/slide" Target="slides/slide60.xml"/><Relationship Id="rId68" Type="http://schemas.openxmlformats.org/officeDocument/2006/relationships/slide" Target="slides/slide61.xml"/><Relationship Id="rId69" Type="http://schemas.openxmlformats.org/officeDocument/2006/relationships/slide" Target="slides/slide62.xml"/><Relationship Id="rId70" Type="http://schemas.openxmlformats.org/officeDocument/2006/relationships/slide" Target="slides/slide63.xml"/><Relationship Id="rId71" Type="http://schemas.openxmlformats.org/officeDocument/2006/relationships/slide" Target="slides/slide64.xml"/><Relationship Id="rId72" Type="http://schemas.openxmlformats.org/officeDocument/2006/relationships/slide" Target="slides/slide65.xml"/><Relationship Id="rId73" Type="http://schemas.openxmlformats.org/officeDocument/2006/relationships/slide" Target="slides/slide66.xml"/><Relationship Id="rId74" Type="http://schemas.openxmlformats.org/officeDocument/2006/relationships/slide" Target="slides/slide67.xml"/><Relationship Id="rId75" Type="http://schemas.openxmlformats.org/officeDocument/2006/relationships/slide" Target="slides/slide68.xml"/><Relationship Id="rId76" Type="http://schemas.openxmlformats.org/officeDocument/2006/relationships/slide" Target="slides/slide69.xml"/><Relationship Id="rId77" Type="http://schemas.openxmlformats.org/officeDocument/2006/relationships/slide" Target="slides/slide70.xml"/><Relationship Id="rId78" Type="http://schemas.openxmlformats.org/officeDocument/2006/relationships/slide" Target="slides/slide71.xml"/><Relationship Id="rId79" Type="http://schemas.openxmlformats.org/officeDocument/2006/relationships/slide" Target="slides/slide72.xml"/><Relationship Id="rId80" Type="http://schemas.openxmlformats.org/officeDocument/2006/relationships/slide" Target="slides/slide73.xml"/><Relationship Id="rId81" Type="http://schemas.openxmlformats.org/officeDocument/2006/relationships/slide" Target="slides/slide74.xml"/><Relationship Id="rId82" Type="http://schemas.openxmlformats.org/officeDocument/2006/relationships/slide" Target="slides/slide75.xml"/><Relationship Id="rId83" Type="http://schemas.openxmlformats.org/officeDocument/2006/relationships/slide" Target="slides/slide76.xml"/><Relationship Id="rId84" Type="http://schemas.openxmlformats.org/officeDocument/2006/relationships/slide" Target="slides/slide77.xml"/><Relationship Id="rId85" Type="http://schemas.openxmlformats.org/officeDocument/2006/relationships/slide" Target="slides/slide78.xml"/><Relationship Id="rId86" Type="http://schemas.openxmlformats.org/officeDocument/2006/relationships/slide" Target="slides/slide79.xml"/><Relationship Id="rId87" Type="http://schemas.openxmlformats.org/officeDocument/2006/relationships/slide" Target="slides/slide80.xml"/><Relationship Id="rId88" Type="http://schemas.openxmlformats.org/officeDocument/2006/relationships/slide" Target="slides/slide81.xml"/><Relationship Id="rId89" Type="http://schemas.openxmlformats.org/officeDocument/2006/relationships/slide" Target="slides/slide82.xml"/><Relationship Id="rId90" Type="http://schemas.openxmlformats.org/officeDocument/2006/relationships/slide" Target="slides/slide83.xml"/><Relationship Id="rId91" Type="http://schemas.openxmlformats.org/officeDocument/2006/relationships/slide" Target="slides/slide84.xml"/><Relationship Id="rId92" Type="http://schemas.openxmlformats.org/officeDocument/2006/relationships/slide" Target="slides/slide85.xml"/><Relationship Id="rId93" Type="http://schemas.openxmlformats.org/officeDocument/2006/relationships/slide" Target="slides/slide86.xml"/><Relationship Id="rId94" Type="http://schemas.openxmlformats.org/officeDocument/2006/relationships/slide" Target="slides/slide87.xml"/><Relationship Id="rId95" Type="http://schemas.openxmlformats.org/officeDocument/2006/relationships/slide" Target="slides/slide88.xml"/><Relationship Id="rId96" Type="http://schemas.openxmlformats.org/officeDocument/2006/relationships/slide" Target="slides/slide89.xml"/><Relationship Id="rId97" Type="http://schemas.openxmlformats.org/officeDocument/2006/relationships/slide" Target="slides/slide90.xml"/><Relationship Id="rId98" Type="http://schemas.openxmlformats.org/officeDocument/2006/relationships/slide" Target="slides/slide91.xml"/><Relationship Id="rId99" Type="http://schemas.openxmlformats.org/officeDocument/2006/relationships/slide" Target="slides/slide92.xml"/><Relationship Id="rId100" Type="http://schemas.openxmlformats.org/officeDocument/2006/relationships/slide" Target="slides/slide93.xml"/><Relationship Id="rId101" Type="http://schemas.openxmlformats.org/officeDocument/2006/relationships/slide" Target="slides/slide94.xml"/><Relationship Id="rId102" Type="http://schemas.openxmlformats.org/officeDocument/2006/relationships/slide" Target="slides/slide95.xml"/><Relationship Id="rId103" Type="http://schemas.openxmlformats.org/officeDocument/2006/relationships/slide" Target="slides/slide96.xml"/><Relationship Id="rId104" Type="http://schemas.openxmlformats.org/officeDocument/2006/relationships/slide" Target="slides/slide97.xml"/><Relationship Id="rId105" Type="http://schemas.openxmlformats.org/officeDocument/2006/relationships/slide" Target="slides/slide98.xml"/><Relationship Id="rId106" Type="http://schemas.openxmlformats.org/officeDocument/2006/relationships/slide" Target="slides/slide99.xml"/><Relationship Id="rId107" Type="http://schemas.openxmlformats.org/officeDocument/2006/relationships/slide" Target="slides/slide100.xml"/><Relationship Id="rId108" Type="http://schemas.openxmlformats.org/officeDocument/2006/relationships/slide" Target="slides/slide101.xml"/><Relationship Id="rId109" Type="http://schemas.openxmlformats.org/officeDocument/2006/relationships/slide" Target="slides/slide102.xml"/><Relationship Id="rId110" Type="http://schemas.openxmlformats.org/officeDocument/2006/relationships/slide" Target="slides/slide103.xml"/><Relationship Id="rId111" Type="http://schemas.openxmlformats.org/officeDocument/2006/relationships/slide" Target="slides/slide104.xml"/><Relationship Id="rId112" Type="http://schemas.openxmlformats.org/officeDocument/2006/relationships/slide" Target="slides/slide105.xml"/><Relationship Id="rId113" Type="http://schemas.openxmlformats.org/officeDocument/2006/relationships/slide" Target="slides/slide106.xml"/><Relationship Id="rId114" Type="http://schemas.openxmlformats.org/officeDocument/2006/relationships/slide" Target="slides/slide107.xml"/><Relationship Id="rId115" Type="http://schemas.openxmlformats.org/officeDocument/2006/relationships/slide" Target="slides/slide108.xml"/><Relationship Id="rId116" Type="http://schemas.openxmlformats.org/officeDocument/2006/relationships/slide" Target="slides/slide109.xml"/><Relationship Id="rId117" Type="http://schemas.openxmlformats.org/officeDocument/2006/relationships/slide" Target="slides/slide110.xml"/><Relationship Id="rId118" Type="http://schemas.openxmlformats.org/officeDocument/2006/relationships/slide" Target="slides/slide111.xml"/><Relationship Id="rId119" Type="http://schemas.openxmlformats.org/officeDocument/2006/relationships/slide" Target="slides/slide112.xml"/><Relationship Id="rId120" Type="http://schemas.openxmlformats.org/officeDocument/2006/relationships/slide" Target="slides/slide113.xml"/><Relationship Id="rId121" Type="http://schemas.openxmlformats.org/officeDocument/2006/relationships/slide" Target="slides/slide114.xml"/><Relationship Id="rId122" Type="http://schemas.openxmlformats.org/officeDocument/2006/relationships/slide" Target="slides/slide115.xml"/><Relationship Id="rId123" Type="http://schemas.openxmlformats.org/officeDocument/2006/relationships/slide" Target="slides/slide116.xml"/><Relationship Id="rId124" Type="http://schemas.openxmlformats.org/officeDocument/2006/relationships/slide" Target="slides/slide117.xml"/><Relationship Id="rId125" Type="http://schemas.openxmlformats.org/officeDocument/2006/relationships/slide" Target="slides/slide118.xml"/><Relationship Id="rId126" Type="http://schemas.openxmlformats.org/officeDocument/2006/relationships/slide" Target="slides/slide119.xml"/><Relationship Id="rId127" Type="http://schemas.openxmlformats.org/officeDocument/2006/relationships/slide" Target="slides/slide120.xml"/><Relationship Id="rId128" Type="http://schemas.openxmlformats.org/officeDocument/2006/relationships/slide" Target="slides/slide121.xml"/><Relationship Id="rId129" Type="http://schemas.openxmlformats.org/officeDocument/2006/relationships/slide" Target="slides/slide122.xml"/><Relationship Id="rId130" Type="http://schemas.openxmlformats.org/officeDocument/2006/relationships/slide" Target="slides/slide123.xml"/><Relationship Id="rId131" Type="http://schemas.openxmlformats.org/officeDocument/2006/relationships/slide" Target="slides/slide124.xml"/><Relationship Id="rId132" Type="http://schemas.openxmlformats.org/officeDocument/2006/relationships/slide" Target="slides/slide125.xml"/><Relationship Id="rId133" Type="http://schemas.openxmlformats.org/officeDocument/2006/relationships/slide" Target="slides/slide126.xml"/><Relationship Id="rId134" Type="http://schemas.openxmlformats.org/officeDocument/2006/relationships/slide" Target="slides/slide127.xml"/><Relationship Id="rId135" Type="http://schemas.openxmlformats.org/officeDocument/2006/relationships/slide" Target="slides/slide128.xml"/><Relationship Id="rId136" Type="http://schemas.openxmlformats.org/officeDocument/2006/relationships/slide" Target="slides/slide129.xml"/><Relationship Id="rId137" Type="http://schemas.openxmlformats.org/officeDocument/2006/relationships/slide" Target="slides/slide130.xml"/><Relationship Id="rId138" Type="http://schemas.openxmlformats.org/officeDocument/2006/relationships/slide" Target="slides/slide131.xml"/><Relationship Id="rId139" Type="http://schemas.openxmlformats.org/officeDocument/2006/relationships/slide" Target="slides/slide132.xml"/><Relationship Id="rId140" Type="http://schemas.openxmlformats.org/officeDocument/2006/relationships/slide" Target="slides/slide133.xml"/><Relationship Id="rId141" Type="http://schemas.openxmlformats.org/officeDocument/2006/relationships/slide" Target="slides/slide134.xml"/><Relationship Id="rId142" Type="http://schemas.openxmlformats.org/officeDocument/2006/relationships/slide" Target="slides/slide135.xml"/><Relationship Id="rId143" Type="http://schemas.openxmlformats.org/officeDocument/2006/relationships/slide" Target="slides/slide136.xml"/><Relationship Id="rId144" Type="http://schemas.openxmlformats.org/officeDocument/2006/relationships/slide" Target="slides/slide137.xml"/><Relationship Id="rId145" Type="http://schemas.openxmlformats.org/officeDocument/2006/relationships/slide" Target="slides/slide138.xml"/><Relationship Id="rId146" Type="http://schemas.openxmlformats.org/officeDocument/2006/relationships/slide" Target="slides/slide139.xml"/><Relationship Id="rId147" Type="http://schemas.openxmlformats.org/officeDocument/2006/relationships/slide" Target="slides/slide140.xml"/><Relationship Id="rId148" Type="http://schemas.openxmlformats.org/officeDocument/2006/relationships/slide" Target="slides/slide141.xml"/><Relationship Id="rId149" Type="http://schemas.openxmlformats.org/officeDocument/2006/relationships/slide" Target="slides/slide142.xml"/><Relationship Id="rId150" Type="http://schemas.openxmlformats.org/officeDocument/2006/relationships/slide" Target="slides/slide143.xml"/><Relationship Id="rId151" Type="http://schemas.openxmlformats.org/officeDocument/2006/relationships/slide" Target="slides/slide144.xml"/><Relationship Id="rId152" Type="http://schemas.openxmlformats.org/officeDocument/2006/relationships/slide" Target="slides/slide145.xml"/><Relationship Id="rId153" Type="http://schemas.openxmlformats.org/officeDocument/2006/relationships/slide" Target="slides/slide146.xml"/><Relationship Id="rId154" Type="http://schemas.openxmlformats.org/officeDocument/2006/relationships/slide" Target="slides/slide147.xml"/><Relationship Id="rId155" Type="http://schemas.openxmlformats.org/officeDocument/2006/relationships/slide" Target="slides/slide148.xml"/><Relationship Id="rId156" Type="http://schemas.openxmlformats.org/officeDocument/2006/relationships/slide" Target="slides/slide149.xml"/><Relationship Id="rId157" Type="http://schemas.openxmlformats.org/officeDocument/2006/relationships/slide" Target="slides/slide150.xml"/><Relationship Id="rId158" Type="http://schemas.openxmlformats.org/officeDocument/2006/relationships/slide" Target="slides/slide151.xml"/><Relationship Id="rId159" Type="http://schemas.openxmlformats.org/officeDocument/2006/relationships/slide" Target="slides/slide152.xml"/><Relationship Id="rId160" Type="http://schemas.openxmlformats.org/officeDocument/2006/relationships/slide" Target="slides/slide153.xml"/><Relationship Id="rId161" Type="http://schemas.openxmlformats.org/officeDocument/2006/relationships/slide" Target="slides/slide154.xml"/><Relationship Id="rId162" Type="http://schemas.openxmlformats.org/officeDocument/2006/relationships/slide" Target="slides/slide155.xml"/><Relationship Id="rId163" Type="http://schemas.openxmlformats.org/officeDocument/2006/relationships/slide" Target="slides/slide156.xml"/><Relationship Id="rId164" Type="http://schemas.openxmlformats.org/officeDocument/2006/relationships/slide" Target="slides/slide157.xml"/><Relationship Id="rId165" Type="http://schemas.openxmlformats.org/officeDocument/2006/relationships/slide" Target="slides/slide158.xml"/><Relationship Id="rId166" Type="http://schemas.openxmlformats.org/officeDocument/2006/relationships/slide" Target="slides/slide159.xml"/><Relationship Id="rId167" Type="http://schemas.openxmlformats.org/officeDocument/2006/relationships/slide" Target="slides/slide160.xml"/><Relationship Id="rId168" Type="http://schemas.openxmlformats.org/officeDocument/2006/relationships/slide" Target="slides/slide161.xml"/><Relationship Id="rId169" Type="http://schemas.openxmlformats.org/officeDocument/2006/relationships/slide" Target="slides/slide162.xml"/><Relationship Id="rId170" Type="http://schemas.openxmlformats.org/officeDocument/2006/relationships/slide" Target="slides/slide163.xml"/><Relationship Id="rId171" Type="http://schemas.openxmlformats.org/officeDocument/2006/relationships/slide" Target="slides/slide164.xml"/><Relationship Id="rId172" Type="http://schemas.openxmlformats.org/officeDocument/2006/relationships/slide" Target="slides/slide165.xml"/><Relationship Id="rId173" Type="http://schemas.openxmlformats.org/officeDocument/2006/relationships/slide" Target="slides/slide166.xml"/><Relationship Id="rId174" Type="http://schemas.openxmlformats.org/officeDocument/2006/relationships/slide" Target="slides/slide167.xml"/><Relationship Id="rId175" Type="http://schemas.openxmlformats.org/officeDocument/2006/relationships/slide" Target="slides/slide168.xml"/><Relationship Id="rId176" Type="http://schemas.openxmlformats.org/officeDocument/2006/relationships/slide" Target="slides/slide169.xml"/><Relationship Id="rId177" Type="http://schemas.openxmlformats.org/officeDocument/2006/relationships/slide" Target="slides/slide170.xml"/><Relationship Id="rId178" Type="http://schemas.openxmlformats.org/officeDocument/2006/relationships/slide" Target="slides/slide171.xml"/><Relationship Id="rId179" Type="http://schemas.openxmlformats.org/officeDocument/2006/relationships/slide" Target="slides/slide172.xml"/><Relationship Id="rId180" Type="http://schemas.openxmlformats.org/officeDocument/2006/relationships/slide" Target="slides/slide173.xml"/><Relationship Id="rId181" Type="http://schemas.openxmlformats.org/officeDocument/2006/relationships/slide" Target="slides/slide174.xml"/><Relationship Id="rId182" Type="http://schemas.openxmlformats.org/officeDocument/2006/relationships/slide" Target="slides/slide175.xml"/><Relationship Id="rId183" Type="http://schemas.openxmlformats.org/officeDocument/2006/relationships/slide" Target="slides/slide176.xml"/><Relationship Id="rId184" Type="http://schemas.openxmlformats.org/officeDocument/2006/relationships/slide" Target="slides/slide177.xml"/><Relationship Id="rId185" Type="http://schemas.openxmlformats.org/officeDocument/2006/relationships/slide" Target="slides/slide178.xml"/><Relationship Id="rId186" Type="http://schemas.openxmlformats.org/officeDocument/2006/relationships/slide" Target="slides/slide179.xml"/><Relationship Id="rId187" Type="http://schemas.openxmlformats.org/officeDocument/2006/relationships/slide" Target="slides/slide180.xml"/><Relationship Id="rId188" Type="http://schemas.openxmlformats.org/officeDocument/2006/relationships/slide" Target="slides/slide181.xml"/><Relationship Id="rId189" Type="http://schemas.openxmlformats.org/officeDocument/2006/relationships/slide" Target="slides/slide182.xml"/><Relationship Id="rId190" Type="http://schemas.openxmlformats.org/officeDocument/2006/relationships/slide" Target="slides/slide183.xml"/><Relationship Id="rId191" Type="http://schemas.openxmlformats.org/officeDocument/2006/relationships/slide" Target="slides/slide184.xml"/><Relationship Id="rId192" Type="http://schemas.openxmlformats.org/officeDocument/2006/relationships/slide" Target="slides/slide185.xml"/><Relationship Id="rId193" Type="http://schemas.openxmlformats.org/officeDocument/2006/relationships/slide" Target="slides/slide186.xml"/><Relationship Id="rId194" Type="http://schemas.openxmlformats.org/officeDocument/2006/relationships/slide" Target="slides/slide187.xml"/><Relationship Id="rId195" Type="http://schemas.openxmlformats.org/officeDocument/2006/relationships/slide" Target="slides/slide188.xml"/><Relationship Id="rId196" Type="http://schemas.openxmlformats.org/officeDocument/2006/relationships/slide" Target="slides/slide189.xml"/><Relationship Id="rId197" Type="http://schemas.openxmlformats.org/officeDocument/2006/relationships/slide" Target="slides/slide190.xml"/><Relationship Id="rId198" Type="http://schemas.openxmlformats.org/officeDocument/2006/relationships/slide" Target="slides/slide191.xml"/><Relationship Id="rId199" Type="http://schemas.openxmlformats.org/officeDocument/2006/relationships/slide" Target="slides/slide192.xml"/><Relationship Id="rId200" Type="http://schemas.openxmlformats.org/officeDocument/2006/relationships/slide" Target="slides/slide193.xml"/><Relationship Id="rId201" Type="http://schemas.openxmlformats.org/officeDocument/2006/relationships/slide" Target="slides/slide194.xml"/><Relationship Id="rId202" Type="http://schemas.openxmlformats.org/officeDocument/2006/relationships/slide" Target="slides/slide195.xml"/><Relationship Id="rId203" Type="http://schemas.openxmlformats.org/officeDocument/2006/relationships/slide" Target="slides/slide196.xml"/><Relationship Id="rId204" Type="http://schemas.openxmlformats.org/officeDocument/2006/relationships/slide" Target="slides/slide197.xml"/><Relationship Id="rId205" Type="http://schemas.openxmlformats.org/officeDocument/2006/relationships/slide" Target="slides/slide198.xml"/><Relationship Id="rId206" Type="http://schemas.openxmlformats.org/officeDocument/2006/relationships/slide" Target="slides/slide199.xml"/><Relationship Id="rId207" Type="http://schemas.openxmlformats.org/officeDocument/2006/relationships/slide" Target="slides/slide200.xml"/><Relationship Id="rId208" Type="http://schemas.openxmlformats.org/officeDocument/2006/relationships/slide" Target="slides/slide201.xml"/><Relationship Id="rId209" Type="http://schemas.openxmlformats.org/officeDocument/2006/relationships/slide" Target="slides/slide202.xml"/><Relationship Id="rId210" Type="http://schemas.openxmlformats.org/officeDocument/2006/relationships/slide" Target="slides/slide203.xml"/><Relationship Id="rId211" Type="http://schemas.openxmlformats.org/officeDocument/2006/relationships/slide" Target="slides/slide204.xml"/><Relationship Id="rId212" Type="http://schemas.openxmlformats.org/officeDocument/2006/relationships/slide" Target="slides/slide205.xml"/><Relationship Id="rId213" Type="http://schemas.openxmlformats.org/officeDocument/2006/relationships/slide" Target="slides/slide206.xml"/><Relationship Id="rId214" Type="http://schemas.openxmlformats.org/officeDocument/2006/relationships/slide" Target="slides/slide207.xml"/><Relationship Id="rId215" Type="http://schemas.openxmlformats.org/officeDocument/2006/relationships/slide" Target="slides/slide208.xml"/><Relationship Id="rId216" Type="http://schemas.openxmlformats.org/officeDocument/2006/relationships/slide" Target="slides/slide209.xml"/><Relationship Id="rId217" Type="http://schemas.openxmlformats.org/officeDocument/2006/relationships/slide" Target="slides/slide210.xml"/><Relationship Id="rId218" Type="http://schemas.openxmlformats.org/officeDocument/2006/relationships/slide" Target="slides/slide211.xml"/><Relationship Id="rId219" Type="http://schemas.openxmlformats.org/officeDocument/2006/relationships/slide" Target="slides/slide212.xml"/><Relationship Id="rId220" Type="http://schemas.openxmlformats.org/officeDocument/2006/relationships/slide" Target="slides/slide213.xml"/><Relationship Id="rId221" Type="http://schemas.openxmlformats.org/officeDocument/2006/relationships/slide" Target="slides/slide214.xml"/><Relationship Id="rId222" Type="http://schemas.openxmlformats.org/officeDocument/2006/relationships/slide" Target="slides/slide215.xml"/><Relationship Id="rId223" Type="http://schemas.openxmlformats.org/officeDocument/2006/relationships/slide" Target="slides/slide216.xml"/><Relationship Id="rId224" Type="http://schemas.openxmlformats.org/officeDocument/2006/relationships/slide" Target="slides/slide217.xml"/><Relationship Id="rId225" Type="http://schemas.openxmlformats.org/officeDocument/2006/relationships/slide" Target="slides/slide218.xml"/><Relationship Id="rId226" Type="http://schemas.openxmlformats.org/officeDocument/2006/relationships/slide" Target="slides/slide219.xml"/><Relationship Id="rId227" Type="http://schemas.openxmlformats.org/officeDocument/2006/relationships/slide" Target="slides/slide220.xml"/><Relationship Id="rId228" Type="http://schemas.openxmlformats.org/officeDocument/2006/relationships/slide" Target="slides/slide221.xml"/><Relationship Id="rId229" Type="http://schemas.openxmlformats.org/officeDocument/2006/relationships/slide" Target="slides/slide222.xml"/><Relationship Id="rId230" Type="http://schemas.openxmlformats.org/officeDocument/2006/relationships/slide" Target="slides/slide223.xml"/><Relationship Id="rId231" Type="http://schemas.openxmlformats.org/officeDocument/2006/relationships/slide" Target="slides/slide224.xml"/><Relationship Id="rId232" Type="http://schemas.openxmlformats.org/officeDocument/2006/relationships/slide" Target="slides/slide225.xml"/><Relationship Id="rId233" Type="http://schemas.openxmlformats.org/officeDocument/2006/relationships/slide" Target="slides/slide226.xml"/><Relationship Id="rId234" Type="http://schemas.openxmlformats.org/officeDocument/2006/relationships/slide" Target="slides/slide227.xml"/><Relationship Id="rId235" Type="http://schemas.openxmlformats.org/officeDocument/2006/relationships/slide" Target="slides/slide228.xml"/><Relationship Id="rId236" Type="http://schemas.openxmlformats.org/officeDocument/2006/relationships/slide" Target="slides/slide229.xml"/><Relationship Id="rId237" Type="http://schemas.openxmlformats.org/officeDocument/2006/relationships/slide" Target="slides/slide230.xml"/><Relationship Id="rId238" Type="http://schemas.openxmlformats.org/officeDocument/2006/relationships/slide" Target="slides/slide231.xml"/></Relationships>
</file>

<file path=ppt/charts/_rels/chart1.xml.rels><?xml version='1.0' encoding='UTF-8' standalone='yes'?>
<Relationships xmlns="http://schemas.openxmlformats.org/package/2006/relationships"><Relationship Id="rId1" Type="http://schemas.openxmlformats.org/officeDocument/2006/relationships/package" Target="../embeddings/Microsoft_Excel_Sheet1.xlsx"/></Relationships>
</file>

<file path=ppt/charts/_rels/chart2.xml.rels><?xml version='1.0' encoding='UTF-8' standalone='yes'?>
<Relationships xmlns="http://schemas.openxmlformats.org/package/2006/relationships"><Relationship Id="rId1" Type="http://schemas.openxmlformats.org/officeDocument/2006/relationships/package" Target="../embeddings/Microsoft_Excel_Sheet2.xlsx"/></Relationships>
</file>

<file path=ppt/charts/_rels/chart3.xml.rels><?xml version='1.0' encoding='UTF-8' standalone='yes'?>
<Relationships xmlns="http://schemas.openxmlformats.org/package/2006/relationships"><Relationship Id="rId1" Type="http://schemas.openxmlformats.org/officeDocument/2006/relationships/package" Target="../embeddings/Microsoft_Excel_Sheet3.xlsx"/></Relationships>
</file>

<file path=ppt/charts/_rels/chart4.xml.rels><?xml version='1.0' encoding='UTF-8' standalone='yes'?>
<Relationships xmlns="http://schemas.openxmlformats.org/package/2006/relationships"><Relationship Id="rId1" Type="http://schemas.openxmlformats.org/officeDocument/2006/relationships/package" Target="../embeddings/Microsoft_Excel_Sheet4.xlsx"/></Relationships>
</file>

<file path=ppt/charts/_rels/chart5.xml.rels><?xml version='1.0' encoding='UTF-8' standalone='yes'?>
<Relationships xmlns="http://schemas.openxmlformats.org/package/2006/relationships"><Relationship Id="rId1" Type="http://schemas.openxmlformats.org/officeDocument/2006/relationships/package" Target="../embeddings/Microsoft_Excel_Sheet5.xlsx"/></Relationships>
</file>

<file path=ppt/charts/_rels/chart6.xml.rels><?xml version='1.0' encoding='UTF-8' standalone='yes'?>
<Relationships xmlns="http://schemas.openxmlformats.org/package/2006/relationships"><Relationship Id="rId1" Type="http://schemas.openxmlformats.org/officeDocument/2006/relationships/package" Target="../embeddings/Microsoft_Excel_Sheet6.xlsx"/></Relationships>
</file>

<file path=ppt/charts/_rels/chart7.xml.rels><?xml version='1.0' encoding='UTF-8' standalone='yes'?>
<Relationships xmlns="http://schemas.openxmlformats.org/package/2006/relationships"><Relationship Id="rId1" Type="http://schemas.openxmlformats.org/officeDocument/2006/relationships/package" Target="../embeddings/Microsoft_Excel_Sheet7.xlsx"/></Relationships>
</file>

<file path=ppt/charts/_rels/chart8.xml.rels><?xml version='1.0' encoding='UTF-8' standalone='yes'?>
<Relationships xmlns="http://schemas.openxmlformats.org/package/2006/relationships"><Relationship Id="rId1" Type="http://schemas.openxmlformats.org/officeDocument/2006/relationships/package" Target="../embeddings/Microsoft_Excel_Sheet8.xlsx"/></Relationships>
</file>

<file path=ppt/charts/_rels/chart9.xml.rels><?xml version='1.0' encoding='UTF-8' standalone='yes'?>
<Relationships xmlns="http://schemas.openxmlformats.org/package/2006/relationships"><Relationship Id="rId1" Type="http://schemas.openxmlformats.org/officeDocument/2006/relationships/package" Target="../embeddings/Microsoft_Excel_Sheet9.xlsx"/></Relationships>
</file>

<file path=ppt/charts/_rels/chart10.xml.rels><?xml version='1.0' encoding='UTF-8' standalone='yes'?>
<Relationships xmlns="http://schemas.openxmlformats.org/package/2006/relationships"><Relationship Id="rId1" Type="http://schemas.openxmlformats.org/officeDocument/2006/relationships/package" Target="../embeddings/Microsoft_Excel_Sheet10.xlsx"/></Relationships>
</file>

<file path=ppt/charts/_rels/chart11.xml.rels><?xml version='1.0' encoding='UTF-8' standalone='yes'?>
<Relationships xmlns="http://schemas.openxmlformats.org/package/2006/relationships"><Relationship Id="rId1" Type="http://schemas.openxmlformats.org/officeDocument/2006/relationships/package" Target="../embeddings/Microsoft_Excel_Sheet11.xlsx"/></Relationships>
</file>

<file path=ppt/charts/_rels/chart12.xml.rels><?xml version='1.0' encoding='UTF-8' standalone='yes'?>
<Relationships xmlns="http://schemas.openxmlformats.org/package/2006/relationships"><Relationship Id="rId1" Type="http://schemas.openxmlformats.org/officeDocument/2006/relationships/package" Target="../embeddings/Microsoft_Excel_Sheet12.xlsx"/></Relationships>
</file>

<file path=ppt/charts/_rels/chart13.xml.rels><?xml version='1.0' encoding='UTF-8' standalone='yes'?>
<Relationships xmlns="http://schemas.openxmlformats.org/package/2006/relationships"><Relationship Id="rId1" Type="http://schemas.openxmlformats.org/officeDocument/2006/relationships/package" Target="../embeddings/Microsoft_Excel_Sheet13.xlsx"/></Relationships>
</file>

<file path=ppt/charts/chart1.xml><?xml version="1.0" encoding="utf-8"?>
<c:chartSpace xmlns:c="http://schemas.openxmlformats.org/drawingml/2006/chart" xmlns:a="http://schemas.openxmlformats.org/drawingml/2006/main" xmlns:r="http://schemas.openxmlformats.org/officeDocument/2006/relationships">
  <c:date1904 val="0"/>
  <c:chart>
    <c:autoTitleDeleted val="1"/>
    <c:plotArea>
      <c:barChart>
        <c:barDir val="col"/>
        <c:grouping val="clustered"/>
        <c:ser>
          <c:idx val="0"/>
          <c:order val="0"/>
          <c:tx>
            <c:strRef>
              <c:f>Sheet1!$B$1</c:f>
              <c:strCache>
                <c:ptCount val="1"/>
                <c:pt idx="0">
                  <c:v>Weighting %</c:v>
                </c:pt>
              </c:strCache>
            </c:strRef>
          </c:tx>
          <c:spPr>
            <a:solidFill>
              <a:srgbClr val="1F6FEB"/>
            </a:solidFill>
          </c:spPr>
          <c:cat>
            <c:strRef>
              <c:f>Sheet1!$A$2:$A$7</c:f>
              <c:strCache>
                <c:ptCount val="6"/>
                <c:pt idx="0">
                  <c:v>SDLC Automation</c:v>
                </c:pt>
                <c:pt idx="1">
                  <c:v>Configuration Management and IaC</c:v>
                </c:pt>
                <c:pt idx="2">
                  <c:v>Resilient Cloud Solutions</c:v>
                </c:pt>
                <c:pt idx="3">
                  <c:v>Monitoring and Logging</c:v>
                </c:pt>
                <c:pt idx="4">
                  <c:v>Incident and Event Response</c:v>
                </c:pt>
                <c:pt idx="5">
                  <c:v>Security and Compliance</c:v>
                </c:pt>
              </c:strCache>
            </c:strRef>
          </c:cat>
          <c:val>
            <c:numRef>
              <c:f>Sheet1!$B$2:$B$7</c:f>
              <c:numCache>
                <c:formatCode>General</c:formatCode>
                <c:ptCount val="6"/>
                <c:pt idx="0">
                  <c:v>22</c:v>
                </c:pt>
                <c:pt idx="1">
                  <c:v>17</c:v>
                </c:pt>
                <c:pt idx="2">
                  <c:v>15</c:v>
                </c:pt>
                <c:pt idx="3">
                  <c:v>15</c:v>
                </c:pt>
                <c:pt idx="4">
                  <c:v>14</c:v>
                </c:pt>
                <c:pt idx="5">
                  <c:v>17</c:v>
                </c:pt>
              </c:numCache>
            </c:numRef>
          </c:val>
        </c:ser>
        <c:dLbls>
          <c:numFmt formatCode="General" sourceLinked="0"/>
          <c:txPr>
            <a:bodyPr/>
            <a:lstStyle/>
            <a:p>
              <a:pPr>
                <a:defRPr sz="1100" b="1"/>
              </a:pPr>
            </a:p>
          </c:txPr>
          <c:showLegendKey val="0"/>
          <c:showVal val="1"/>
          <c:showCatName val="0"/>
          <c:showSerName val="0"/>
          <c:showPercent val="0"/>
          <c:showBubbleSize val="0"/>
          <c:showLeaderLines val="1"/>
        </c:dLbls>
        <c:gapWidth val="80"/>
        <c:axId val="-2068027336"/>
        <c:axId val="-2113994440"/>
      </c:barChart>
      <c:catAx>
        <c:axId val="-2068027336"/>
        <c:scaling>
          <c:orientation val="minMax"/>
        </c:scaling>
        <c:delete val="0"/>
        <c:axPos val="b"/>
        <c:majorTickMark val="out"/>
        <c:minorTickMark val="none"/>
        <c:tickLblPos val="nextTo"/>
        <c:crossAx val="-2113994440"/>
        <c:crosses val="autoZero"/>
        <c:auto val="1"/>
        <c:lblAlgn val="ctr"/>
        <c:lblOffset val="100"/>
        <c:noMultiLvlLbl val="0"/>
      </c:catAx>
      <c:valAx>
        <c:axId val="-2113994440"/>
        <c:scaling>
          <c:max val="25.0"/>
        </c:scaling>
        <c:delete val="0"/>
        <c:axPos val="l"/>
        <c:majorGridlines/>
        <c:majorTickMark val="out"/>
        <c:minorTickMark val="none"/>
        <c:tickLblPos val="nextTo"/>
        <c:crossAx val="-2068027336"/>
        <c:crosses val="autoZero"/>
      </c:valAx>
    </c:plotArea>
    <c:dispBlanksAs val="gap"/>
  </c:chart>
  <c:txPr>
    <a:bodyPr/>
    <a:lstStyle/>
    <a:p>
      <a:pPr>
        <a:defRPr sz="1100">
          <a:latin typeface="Arial"/>
        </a:defRPr>
      </a:pPr>
      <a:endParaRPr lang="en-US"/>
    </a:p>
  </c:txPr>
  <c:externalData r:id="rId1">
    <c:autoUpdate val="0"/>
  </c:externalData>
</c:chartSpace>
</file>

<file path=ppt/charts/chart2.xml><?xml version="1.0" encoding="utf-8"?>
<c:chartSpace xmlns:c="http://schemas.openxmlformats.org/drawingml/2006/chart" xmlns:a="http://schemas.openxmlformats.org/drawingml/2006/main" xmlns:r="http://schemas.openxmlformats.org/officeDocument/2006/relationships">
  <c:date1904 val="0"/>
  <c:chart>
    <c:autoTitleDeleted val="1"/>
    <c:plotArea>
      <c:barChart>
        <c:barDir val="col"/>
        <c:grouping val="clustered"/>
        <c:ser>
          <c:idx val="0"/>
          <c:order val="0"/>
          <c:tx>
            <c:strRef>
              <c:f>Sheet1!$B$1</c:f>
              <c:strCache>
                <c:ptCount val="1"/>
                <c:pt idx="0">
                  <c:v>Manual (before)</c:v>
                </c:pt>
              </c:strCache>
            </c:strRef>
          </c:tx>
          <c:spPr>
            <a:solidFill>
              <a:srgbClr val="1F6FEB"/>
            </a:solidFill>
          </c:spPr>
          <c:cat>
            <c:strRef>
              <c:f>Sheet1!$A$2:$A$5</c:f>
              <c:strCache>
                <c:ptCount val="4"/>
                <c:pt idx="0">
                  <c:v>Releases per month</c:v>
                </c:pt>
                <c:pt idx="1">
                  <c:v>Lead time (days)</c:v>
                </c:pt>
                <c:pt idx="2">
                  <c:v>Change-fail rate %</c:v>
                </c:pt>
                <c:pt idx="3">
                  <c:v>Hours to recover</c:v>
                </c:pt>
              </c:strCache>
            </c:strRef>
          </c:cat>
          <c:val>
            <c:numRef>
              <c:f>Sheet1!$B$2:$B$5</c:f>
              <c:numCache>
                <c:formatCode>General</c:formatCode>
                <c:ptCount val="4"/>
                <c:pt idx="0">
                  <c:v>2</c:v>
                </c:pt>
                <c:pt idx="1">
                  <c:v>14</c:v>
                </c:pt>
                <c:pt idx="2">
                  <c:v>30</c:v>
                </c:pt>
                <c:pt idx="3">
                  <c:v>8</c:v>
                </c:pt>
              </c:numCache>
            </c:numRef>
          </c:val>
        </c:ser>
        <c:ser>
          <c:idx val="1"/>
          <c:order val="1"/>
          <c:tx>
            <c:strRef>
              <c:f>Sheet1!$C$1</c:f>
              <c:strCache>
                <c:ptCount val="1"/>
                <c:pt idx="0">
                  <c:v>CI/CD on AWS (after)</c:v>
                </c:pt>
              </c:strCache>
            </c:strRef>
          </c:tx>
          <c:spPr>
            <a:solidFill>
              <a:srgbClr val="10B981"/>
            </a:solidFill>
          </c:spPr>
          <c:cat>
            <c:strRef>
              <c:f>Sheet1!$A$2:$A$5</c:f>
              <c:strCache>
                <c:ptCount val="4"/>
                <c:pt idx="0">
                  <c:v>Releases per month</c:v>
                </c:pt>
                <c:pt idx="1">
                  <c:v>Lead time (days)</c:v>
                </c:pt>
                <c:pt idx="2">
                  <c:v>Change-fail rate %</c:v>
                </c:pt>
                <c:pt idx="3">
                  <c:v>Hours to recover</c:v>
                </c:pt>
              </c:strCache>
            </c:strRef>
          </c:cat>
          <c:val>
            <c:numRef>
              <c:f>Sheet1!$C$2:$C$5</c:f>
              <c:numCache>
                <c:formatCode>General</c:formatCode>
                <c:ptCount val="4"/>
                <c:pt idx="0">
                  <c:v>40</c:v>
                </c:pt>
                <c:pt idx="1">
                  <c:v>1</c:v>
                </c:pt>
                <c:pt idx="2">
                  <c:v>10</c:v>
                </c:pt>
                <c:pt idx="3">
                  <c:v>1</c:v>
                </c:pt>
              </c:numCache>
            </c:numRef>
          </c:val>
        </c:ser>
        <c:gapWidth val="80"/>
        <c:axId val="-2068027336"/>
        <c:axId val="-2113994440"/>
      </c:barChart>
      <c:catAx>
        <c:axId val="-2068027336"/>
        <c:scaling>
          <c:orientation val="minMax"/>
        </c:scaling>
        <c:delete val="0"/>
        <c:axPos val="b"/>
        <c:majorTickMark val="out"/>
        <c:minorTickMark val="none"/>
        <c:tickLblPos val="nextTo"/>
        <c:crossAx val="-2113994440"/>
        <c:crosses val="autoZero"/>
        <c:auto val="1"/>
        <c:lblAlgn val="ctr"/>
        <c:lblOffset val="100"/>
        <c:noMultiLvlLbl val="0"/>
      </c:catAx>
      <c:valAx>
        <c:axId val="-2113994440"/>
        <c:scaling/>
        <c:delete val="0"/>
        <c:axPos val="l"/>
        <c:majorGridlines/>
        <c:majorTickMark val="out"/>
        <c:minorTickMark val="none"/>
        <c:tickLblPos val="nextTo"/>
        <c:crossAx val="-2068027336"/>
        <c:crosses val="autoZero"/>
      </c:valAx>
    </c:plotArea>
    <c:legend>
      <c:legendPos val="b"/>
      <c:overlay val="0"/>
    </c:legend>
    <c:dispBlanksAs val="gap"/>
  </c:chart>
  <c:txPr>
    <a:bodyPr/>
    <a:lstStyle/>
    <a:p>
      <a:pPr>
        <a:defRPr sz="1100">
          <a:latin typeface="Arial"/>
        </a:defRPr>
      </a:pPr>
      <a:endParaRPr lang="en-US"/>
    </a:p>
  </c:txPr>
  <c:externalData r:id="rId1">
    <c:autoUpdate val="0"/>
  </c:externalData>
</c:chartSpace>
</file>

<file path=ppt/charts/chart3.xml><?xml version="1.0" encoding="utf-8"?>
<c:chartSpace xmlns:c="http://schemas.openxmlformats.org/drawingml/2006/chart" xmlns:a="http://schemas.openxmlformats.org/drawingml/2006/main" xmlns:r="http://schemas.openxmlformats.org/officeDocument/2006/relationships">
  <c:date1904 val="0"/>
  <c:chart>
    <c:autoTitleDeleted val="1"/>
    <c:plotArea>
      <c:barChart>
        <c:barDir val="col"/>
        <c:grouping val="clustered"/>
        <c:ser>
          <c:idx val="0"/>
          <c:order val="0"/>
          <c:tx>
            <c:strRef>
              <c:f>Sheet1!$B$1</c:f>
              <c:strCache>
                <c:ptCount val="1"/>
                <c:pt idx="0">
                  <c:v>Blast radius (1–10)</c:v>
                </c:pt>
              </c:strCache>
            </c:strRef>
          </c:tx>
          <c:spPr>
            <a:solidFill>
              <a:srgbClr val="1F6FEB"/>
            </a:solidFill>
          </c:spPr>
          <c:cat>
            <c:strRef>
              <c:f>Sheet1!$A$2:$A$5</c:f>
              <c:strCache>
                <c:ptCount val="4"/>
                <c:pt idx="0">
                  <c:v>In-place</c:v>
                </c:pt>
                <c:pt idx="1">
                  <c:v>Rolling</c:v>
                </c:pt>
                <c:pt idx="2">
                  <c:v>Blue/Green</c:v>
                </c:pt>
                <c:pt idx="3">
                  <c:v>Canary</c:v>
                </c:pt>
              </c:strCache>
            </c:strRef>
          </c:cat>
          <c:val>
            <c:numRef>
              <c:f>Sheet1!$B$2:$B$5</c:f>
              <c:numCache>
                <c:formatCode>General</c:formatCode>
                <c:ptCount val="4"/>
                <c:pt idx="0">
                  <c:v>9</c:v>
                </c:pt>
                <c:pt idx="1">
                  <c:v>5</c:v>
                </c:pt>
                <c:pt idx="2">
                  <c:v>2</c:v>
                </c:pt>
                <c:pt idx="3">
                  <c:v>2</c:v>
                </c:pt>
              </c:numCache>
            </c:numRef>
          </c:val>
        </c:ser>
        <c:ser>
          <c:idx val="1"/>
          <c:order val="1"/>
          <c:tx>
            <c:strRef>
              <c:f>Sheet1!$C$1</c:f>
              <c:strCache>
                <c:ptCount val="1"/>
                <c:pt idx="0">
                  <c:v>Rollback speed (1–10)</c:v>
                </c:pt>
              </c:strCache>
            </c:strRef>
          </c:tx>
          <c:spPr>
            <a:solidFill>
              <a:srgbClr val="10B981"/>
            </a:solidFill>
          </c:spPr>
          <c:cat>
            <c:strRef>
              <c:f>Sheet1!$A$2:$A$5</c:f>
              <c:strCache>
                <c:ptCount val="4"/>
                <c:pt idx="0">
                  <c:v>In-place</c:v>
                </c:pt>
                <c:pt idx="1">
                  <c:v>Rolling</c:v>
                </c:pt>
                <c:pt idx="2">
                  <c:v>Blue/Green</c:v>
                </c:pt>
                <c:pt idx="3">
                  <c:v>Canary</c:v>
                </c:pt>
              </c:strCache>
            </c:strRef>
          </c:cat>
          <c:val>
            <c:numRef>
              <c:f>Sheet1!$C$2:$C$5</c:f>
              <c:numCache>
                <c:formatCode>General</c:formatCode>
                <c:ptCount val="4"/>
                <c:pt idx="0">
                  <c:v>3</c:v>
                </c:pt>
                <c:pt idx="1">
                  <c:v>5</c:v>
                </c:pt>
                <c:pt idx="2">
                  <c:v>9</c:v>
                </c:pt>
                <c:pt idx="3">
                  <c:v>8</c:v>
                </c:pt>
              </c:numCache>
            </c:numRef>
          </c:val>
        </c:ser>
        <c:gapWidth val="80"/>
        <c:axId val="-2068027336"/>
        <c:axId val="-2113994440"/>
      </c:barChart>
      <c:catAx>
        <c:axId val="-2068027336"/>
        <c:scaling>
          <c:orientation val="minMax"/>
        </c:scaling>
        <c:delete val="0"/>
        <c:axPos val="b"/>
        <c:majorTickMark val="out"/>
        <c:minorTickMark val="none"/>
        <c:tickLblPos val="nextTo"/>
        <c:crossAx val="-2113994440"/>
        <c:crosses val="autoZero"/>
        <c:auto val="1"/>
        <c:lblAlgn val="ctr"/>
        <c:lblOffset val="100"/>
        <c:noMultiLvlLbl val="0"/>
      </c:catAx>
      <c:valAx>
        <c:axId val="-2113994440"/>
        <c:scaling/>
        <c:delete val="0"/>
        <c:axPos val="l"/>
        <c:majorGridlines/>
        <c:majorTickMark val="out"/>
        <c:minorTickMark val="none"/>
        <c:tickLblPos val="nextTo"/>
        <c:crossAx val="-2068027336"/>
        <c:crosses val="autoZero"/>
      </c:valAx>
    </c:plotArea>
    <c:legend>
      <c:legendPos val="b"/>
      <c:overlay val="0"/>
    </c:legend>
    <c:dispBlanksAs val="gap"/>
  </c:chart>
  <c:txPr>
    <a:bodyPr/>
    <a:lstStyle/>
    <a:p>
      <a:pPr>
        <a:defRPr sz="1100">
          <a:latin typeface="Arial"/>
        </a:defRPr>
      </a:pPr>
      <a:endParaRPr lang="en-US"/>
    </a:p>
  </c:txPr>
  <c:externalData r:id="rId1">
    <c:autoUpdate val="0"/>
  </c:externalData>
</c:chartSpace>
</file>

<file path=ppt/charts/chart4.xml><?xml version="1.0" encoding="utf-8"?>
<c:chartSpace xmlns:c="http://schemas.openxmlformats.org/drawingml/2006/chart" xmlns:a="http://schemas.openxmlformats.org/drawingml/2006/main" xmlns:r="http://schemas.openxmlformats.org/officeDocument/2006/relationships">
  <c:date1904 val="0"/>
  <c:chart>
    <c:autoTitleDeleted val="1"/>
    <c:plotArea>
      <c:barChart>
        <c:barDir val="col"/>
        <c:grouping val="clustered"/>
        <c:ser>
          <c:idx val="0"/>
          <c:order val="0"/>
          <c:tx>
            <c:strRef>
              <c:f>Sheet1!$B$1</c:f>
              <c:strCache>
                <c:ptCount val="1"/>
                <c:pt idx="0">
                  <c:v>Minutes</c:v>
                </c:pt>
              </c:strCache>
            </c:strRef>
          </c:tx>
          <c:spPr>
            <a:solidFill>
              <a:srgbClr val="1F6FEB"/>
            </a:solidFill>
          </c:spPr>
          <c:cat>
            <c:strRef>
              <c:f>Sheet1!$A$2:$A$7</c:f>
              <c:strCache>
                <c:ptCount val="6"/>
                <c:pt idx="0">
                  <c:v>Source</c:v>
                </c:pt>
                <c:pt idx="1">
                  <c:v>Unit test</c:v>
                </c:pt>
                <c:pt idx="2">
                  <c:v>Integration</c:v>
                </c:pt>
                <c:pt idx="3">
                  <c:v>Deploy staging</c:v>
                </c:pt>
                <c:pt idx="4">
                  <c:v>Approval wait</c:v>
                </c:pt>
                <c:pt idx="5">
                  <c:v>Deploy prod</c:v>
                </c:pt>
              </c:strCache>
            </c:strRef>
          </c:cat>
          <c:val>
            <c:numRef>
              <c:f>Sheet1!$B$2:$B$7</c:f>
              <c:numCache>
                <c:formatCode>General</c:formatCode>
                <c:ptCount val="6"/>
                <c:pt idx="0">
                  <c:v>1</c:v>
                </c:pt>
                <c:pt idx="1">
                  <c:v>6</c:v>
                </c:pt>
                <c:pt idx="2">
                  <c:v>12</c:v>
                </c:pt>
                <c:pt idx="3">
                  <c:v>5</c:v>
                </c:pt>
                <c:pt idx="4">
                  <c:v>45</c:v>
                </c:pt>
                <c:pt idx="5">
                  <c:v>6</c:v>
                </c:pt>
              </c:numCache>
            </c:numRef>
          </c:val>
        </c:ser>
        <c:dLbls>
          <c:numFmt formatCode="General" sourceLinked="0"/>
          <c:txPr>
            <a:bodyPr/>
            <a:lstStyle/>
            <a:p>
              <a:pPr>
                <a:defRPr sz="1100" b="1"/>
              </a:pPr>
            </a:p>
          </c:txPr>
          <c:showLegendKey val="0"/>
          <c:showVal val="1"/>
          <c:showCatName val="0"/>
          <c:showSerName val="0"/>
          <c:showPercent val="0"/>
          <c:showBubbleSize val="0"/>
          <c:showLeaderLines val="1"/>
        </c:dLbls>
        <c:gapWidth val="80"/>
        <c:axId val="-2068027336"/>
        <c:axId val="-2113994440"/>
      </c:barChart>
      <c:catAx>
        <c:axId val="-2068027336"/>
        <c:scaling>
          <c:orientation val="minMax"/>
        </c:scaling>
        <c:delete val="0"/>
        <c:axPos val="b"/>
        <c:majorTickMark val="out"/>
        <c:minorTickMark val="none"/>
        <c:tickLblPos val="nextTo"/>
        <c:crossAx val="-2113994440"/>
        <c:crosses val="autoZero"/>
        <c:auto val="1"/>
        <c:lblAlgn val="ctr"/>
        <c:lblOffset val="100"/>
        <c:noMultiLvlLbl val="0"/>
      </c:catAx>
      <c:valAx>
        <c:axId val="-2113994440"/>
        <c:scaling/>
        <c:delete val="0"/>
        <c:axPos val="l"/>
        <c:majorGridlines/>
        <c:majorTickMark val="out"/>
        <c:minorTickMark val="none"/>
        <c:tickLblPos val="nextTo"/>
        <c:crossAx val="-2068027336"/>
        <c:crosses val="autoZero"/>
      </c:valAx>
    </c:plotArea>
    <c:dispBlanksAs val="gap"/>
  </c:chart>
  <c:txPr>
    <a:bodyPr/>
    <a:lstStyle/>
    <a:p>
      <a:pPr>
        <a:defRPr sz="1100">
          <a:latin typeface="Arial"/>
        </a:defRPr>
      </a:pPr>
      <a:endParaRPr lang="en-US"/>
    </a:p>
  </c:txPr>
  <c:externalData r:id="rId1">
    <c:autoUpdate val="0"/>
  </c:externalData>
</c:chartSpace>
</file>

<file path=ppt/charts/chart5.xml><?xml version="1.0" encoding="utf-8"?>
<c:chartSpace xmlns:c="http://schemas.openxmlformats.org/drawingml/2006/chart" xmlns:a="http://schemas.openxmlformats.org/drawingml/2006/main" xmlns:r="http://schemas.openxmlformats.org/officeDocument/2006/relationships">
  <c:date1904 val="0"/>
  <c:chart>
    <c:autoTitleDeleted val="1"/>
    <c:plotArea>
      <c:barChart>
        <c:barDir val="col"/>
        <c:grouping val="clustered"/>
        <c:ser>
          <c:idx val="0"/>
          <c:order val="0"/>
          <c:tx>
            <c:strRef>
              <c:f>Sheet1!$B$1</c:f>
              <c:strCache>
                <c:ptCount val="1"/>
                <c:pt idx="0">
                  <c:v>Manual</c:v>
                </c:pt>
              </c:strCache>
            </c:strRef>
          </c:tx>
          <c:spPr>
            <a:solidFill>
              <a:srgbClr val="1F6FEB"/>
            </a:solidFill>
          </c:spPr>
          <c:cat>
            <c:strRef>
              <c:f>Sheet1!$A$2:$A$4</c:f>
              <c:strCache>
                <c:ptCount val="3"/>
                <c:pt idx="0">
                  <c:v>Time to build env (min)</c:v>
                </c:pt>
                <c:pt idx="1">
                  <c:v>Config errors per env</c:v>
                </c:pt>
                <c:pt idx="2">
                  <c:v>Environments in parity %</c:v>
                </c:pt>
              </c:strCache>
            </c:strRef>
          </c:cat>
          <c:val>
            <c:numRef>
              <c:f>Sheet1!$B$2:$B$4</c:f>
              <c:numCache>
                <c:formatCode>General</c:formatCode>
                <c:ptCount val="3"/>
                <c:pt idx="0">
                  <c:v>240</c:v>
                </c:pt>
                <c:pt idx="1">
                  <c:v>7</c:v>
                </c:pt>
                <c:pt idx="2">
                  <c:v>60</c:v>
                </c:pt>
              </c:numCache>
            </c:numRef>
          </c:val>
        </c:ser>
        <c:ser>
          <c:idx val="1"/>
          <c:order val="1"/>
          <c:tx>
            <c:strRef>
              <c:f>Sheet1!$C$1</c:f>
              <c:strCache>
                <c:ptCount val="1"/>
                <c:pt idx="0">
                  <c:v>CloudFormation</c:v>
                </c:pt>
              </c:strCache>
            </c:strRef>
          </c:tx>
          <c:spPr>
            <a:solidFill>
              <a:srgbClr val="10B981"/>
            </a:solidFill>
          </c:spPr>
          <c:cat>
            <c:strRef>
              <c:f>Sheet1!$A$2:$A$4</c:f>
              <c:strCache>
                <c:ptCount val="3"/>
                <c:pt idx="0">
                  <c:v>Time to build env (min)</c:v>
                </c:pt>
                <c:pt idx="1">
                  <c:v>Config errors per env</c:v>
                </c:pt>
                <c:pt idx="2">
                  <c:v>Environments in parity %</c:v>
                </c:pt>
              </c:strCache>
            </c:strRef>
          </c:cat>
          <c:val>
            <c:numRef>
              <c:f>Sheet1!$C$2:$C$4</c:f>
              <c:numCache>
                <c:formatCode>General</c:formatCode>
                <c:ptCount val="3"/>
                <c:pt idx="0">
                  <c:v>15</c:v>
                </c:pt>
                <c:pt idx="1">
                  <c:v>1</c:v>
                </c:pt>
                <c:pt idx="2">
                  <c:v>100</c:v>
                </c:pt>
              </c:numCache>
            </c:numRef>
          </c:val>
        </c:ser>
        <c:gapWidth val="80"/>
        <c:axId val="-2068027336"/>
        <c:axId val="-2113994440"/>
      </c:barChart>
      <c:catAx>
        <c:axId val="-2068027336"/>
        <c:scaling>
          <c:orientation val="minMax"/>
        </c:scaling>
        <c:delete val="0"/>
        <c:axPos val="b"/>
        <c:majorTickMark val="out"/>
        <c:minorTickMark val="none"/>
        <c:tickLblPos val="nextTo"/>
        <c:crossAx val="-2113994440"/>
        <c:crosses val="autoZero"/>
        <c:auto val="1"/>
        <c:lblAlgn val="ctr"/>
        <c:lblOffset val="100"/>
        <c:noMultiLvlLbl val="0"/>
      </c:catAx>
      <c:valAx>
        <c:axId val="-2113994440"/>
        <c:scaling/>
        <c:delete val="0"/>
        <c:axPos val="l"/>
        <c:majorGridlines/>
        <c:majorTickMark val="out"/>
        <c:minorTickMark val="none"/>
        <c:tickLblPos val="nextTo"/>
        <c:crossAx val="-2068027336"/>
        <c:crosses val="autoZero"/>
      </c:valAx>
    </c:plotArea>
    <c:legend>
      <c:legendPos val="b"/>
      <c:overlay val="0"/>
    </c:legend>
    <c:dispBlanksAs val="gap"/>
  </c:chart>
  <c:txPr>
    <a:bodyPr/>
    <a:lstStyle/>
    <a:p>
      <a:pPr>
        <a:defRPr sz="1100">
          <a:latin typeface="Arial"/>
        </a:defRPr>
      </a:pPr>
      <a:endParaRPr lang="en-US"/>
    </a:p>
  </c:txPr>
  <c:externalData r:id="rId1">
    <c:autoUpdate val="0"/>
  </c:externalData>
</c:chartSpace>
</file>

<file path=ppt/charts/chart6.xml><?xml version="1.0" encoding="utf-8"?>
<c:chartSpace xmlns:c="http://schemas.openxmlformats.org/drawingml/2006/chart" xmlns:a="http://schemas.openxmlformats.org/drawingml/2006/main" xmlns:r="http://schemas.openxmlformats.org/officeDocument/2006/relationships">
  <c:date1904 val="0"/>
  <c:chart>
    <c:autoTitleDeleted val="1"/>
    <c:plotArea>
      <c:barChart>
        <c:barDir val="bar"/>
        <c:grouping val="clustered"/>
        <c:ser>
          <c:idx val="0"/>
          <c:order val="0"/>
          <c:tx>
            <c:strRef>
              <c:f>Sheet1!$B$1</c:f>
              <c:strCache>
                <c:ptCount val="1"/>
                <c:pt idx="0">
                  <c:v>RTO (minutes)</c:v>
                </c:pt>
              </c:strCache>
            </c:strRef>
          </c:tx>
          <c:spPr>
            <a:solidFill>
              <a:srgbClr val="1F6FEB"/>
            </a:solidFill>
          </c:spPr>
          <c:cat>
            <c:strRef>
              <c:f>Sheet1!$A$2:$A$5</c:f>
              <c:strCache>
                <c:ptCount val="4"/>
                <c:pt idx="0">
                  <c:v>Backup &amp; Restore</c:v>
                </c:pt>
                <c:pt idx="1">
                  <c:v>Pilot Light</c:v>
                </c:pt>
                <c:pt idx="2">
                  <c:v>Warm Standby</c:v>
                </c:pt>
                <c:pt idx="3">
                  <c:v>Active/Active</c:v>
                </c:pt>
              </c:strCache>
            </c:strRef>
          </c:cat>
          <c:val>
            <c:numRef>
              <c:f>Sheet1!$B$2:$B$5</c:f>
              <c:numCache>
                <c:formatCode>General</c:formatCode>
                <c:ptCount val="4"/>
                <c:pt idx="0">
                  <c:v>240</c:v>
                </c:pt>
                <c:pt idx="1">
                  <c:v>30</c:v>
                </c:pt>
                <c:pt idx="2">
                  <c:v>5</c:v>
                </c:pt>
                <c:pt idx="3">
                  <c:v>1</c:v>
                </c:pt>
              </c:numCache>
            </c:numRef>
          </c:val>
        </c:ser>
        <c:dLbls>
          <c:numFmt formatCode="General" sourceLinked="0"/>
          <c:txPr>
            <a:bodyPr/>
            <a:lstStyle/>
            <a:p>
              <a:pPr>
                <a:defRPr sz="1100" b="1"/>
              </a:pPr>
            </a:p>
          </c:txPr>
          <c:showLegendKey val="0"/>
          <c:showVal val="1"/>
          <c:showCatName val="0"/>
          <c:showSerName val="0"/>
          <c:showPercent val="0"/>
          <c:showBubbleSize val="0"/>
          <c:showLeaderLines val="1"/>
        </c:dLbls>
        <c:gapWidth val="80"/>
        <c:axId val="-2068027336"/>
        <c:axId val="-2113994440"/>
      </c:barChart>
      <c:catAx>
        <c:axId val="-2068027336"/>
        <c:scaling>
          <c:orientation val="minMax"/>
        </c:scaling>
        <c:delete val="0"/>
        <c:axPos val="l"/>
        <c:majorTickMark val="out"/>
        <c:minorTickMark val="none"/>
        <c:tickLblPos val="nextTo"/>
        <c:crossAx val="-2113994440"/>
        <c:crosses val="autoZero"/>
        <c:auto val="1"/>
        <c:lblAlgn val="ctr"/>
        <c:lblOffset val="100"/>
        <c:noMultiLvlLbl val="0"/>
      </c:catAx>
      <c:valAx>
        <c:axId val="-2113994440"/>
        <c:scaling/>
        <c:delete val="0"/>
        <c:axPos val="b"/>
        <c:majorGridlines/>
        <c:majorTickMark val="out"/>
        <c:minorTickMark val="none"/>
        <c:tickLblPos val="nextTo"/>
        <c:crossAx val="-2068027336"/>
        <c:crosses val="autoZero"/>
      </c:valAx>
    </c:plotArea>
    <c:dispBlanksAs val="gap"/>
  </c:chart>
  <c:txPr>
    <a:bodyPr/>
    <a:lstStyle/>
    <a:p>
      <a:pPr>
        <a:defRPr sz="1100">
          <a:latin typeface="Arial"/>
        </a:defRPr>
      </a:pPr>
      <a:endParaRPr lang="en-US"/>
    </a:p>
  </c:txPr>
  <c:externalData r:id="rId1">
    <c:autoUpdate val="0"/>
  </c:externalData>
</c:chartSpace>
</file>

<file path=ppt/charts/chart7.xml><?xml version="1.0" encoding="utf-8"?>
<c:chartSpace xmlns:c="http://schemas.openxmlformats.org/drawingml/2006/chart" xmlns:a="http://schemas.openxmlformats.org/drawingml/2006/main" xmlns:r="http://schemas.openxmlformats.org/officeDocument/2006/relationships">
  <c:date1904 val="0"/>
  <c:chart>
    <c:autoTitleDeleted val="1"/>
    <c:plotArea>
      <c:barChart>
        <c:barDir val="col"/>
        <c:grouping val="clustered"/>
        <c:ser>
          <c:idx val="0"/>
          <c:order val="0"/>
          <c:tx>
            <c:strRef>
              <c:f>Sheet1!$B$1</c:f>
              <c:strCache>
                <c:ptCount val="1"/>
                <c:pt idx="0">
                  <c:v>Downtime hrs/yr (approx)</c:v>
                </c:pt>
              </c:strCache>
            </c:strRef>
          </c:tx>
          <c:spPr>
            <a:solidFill>
              <a:srgbClr val="1F6FEB"/>
            </a:solidFill>
          </c:spPr>
          <c:cat>
            <c:strRef>
              <c:f>Sheet1!$A$2:$A$5</c:f>
              <c:strCache>
                <c:ptCount val="4"/>
                <c:pt idx="0">
                  <c:v>Single instance</c:v>
                </c:pt>
                <c:pt idx="1">
                  <c:v>Single AZ (ASG)</c:v>
                </c:pt>
                <c:pt idx="2">
                  <c:v>Two AZs (ASG+ALB)</c:v>
                </c:pt>
                <c:pt idx="3">
                  <c:v>Multi-Region</c:v>
                </c:pt>
              </c:strCache>
            </c:strRef>
          </c:cat>
          <c:val>
            <c:numRef>
              <c:f>Sheet1!$B$2:$B$5</c:f>
              <c:numCache>
                <c:formatCode>General</c:formatCode>
                <c:ptCount val="4"/>
                <c:pt idx="0">
                  <c:v>88</c:v>
                </c:pt>
                <c:pt idx="1">
                  <c:v>44</c:v>
                </c:pt>
                <c:pt idx="2">
                  <c:v>4</c:v>
                </c:pt>
                <c:pt idx="3">
                  <c:v>1</c:v>
                </c:pt>
              </c:numCache>
            </c:numRef>
          </c:val>
        </c:ser>
        <c:dLbls>
          <c:numFmt formatCode="General" sourceLinked="0"/>
          <c:txPr>
            <a:bodyPr/>
            <a:lstStyle/>
            <a:p>
              <a:pPr>
                <a:defRPr sz="1100" b="1"/>
              </a:pPr>
            </a:p>
          </c:txPr>
          <c:showLegendKey val="0"/>
          <c:showVal val="1"/>
          <c:showCatName val="0"/>
          <c:showSerName val="0"/>
          <c:showPercent val="0"/>
          <c:showBubbleSize val="0"/>
          <c:showLeaderLines val="1"/>
        </c:dLbls>
        <c:gapWidth val="80"/>
        <c:axId val="-2068027336"/>
        <c:axId val="-2113994440"/>
      </c:barChart>
      <c:catAx>
        <c:axId val="-2068027336"/>
        <c:scaling>
          <c:orientation val="minMax"/>
        </c:scaling>
        <c:delete val="0"/>
        <c:axPos val="b"/>
        <c:majorTickMark val="out"/>
        <c:minorTickMark val="none"/>
        <c:tickLblPos val="nextTo"/>
        <c:crossAx val="-2113994440"/>
        <c:crosses val="autoZero"/>
        <c:auto val="1"/>
        <c:lblAlgn val="ctr"/>
        <c:lblOffset val="100"/>
        <c:noMultiLvlLbl val="0"/>
      </c:catAx>
      <c:valAx>
        <c:axId val="-2113994440"/>
        <c:scaling/>
        <c:delete val="0"/>
        <c:axPos val="l"/>
        <c:majorGridlines/>
        <c:majorTickMark val="out"/>
        <c:minorTickMark val="none"/>
        <c:tickLblPos val="nextTo"/>
        <c:crossAx val="-2068027336"/>
        <c:crosses val="autoZero"/>
      </c:valAx>
    </c:plotArea>
    <c:dispBlanksAs val="gap"/>
  </c:chart>
  <c:txPr>
    <a:bodyPr/>
    <a:lstStyle/>
    <a:p>
      <a:pPr>
        <a:defRPr sz="1100">
          <a:latin typeface="Arial"/>
        </a:defRPr>
      </a:pPr>
      <a:endParaRPr lang="en-US"/>
    </a:p>
  </c:txPr>
  <c:externalData r:id="rId1">
    <c:autoUpdate val="0"/>
  </c:externalData>
</c:chartSpace>
</file>

<file path=ppt/charts/chart8.xml><?xml version="1.0" encoding="utf-8"?>
<c:chartSpace xmlns:c="http://schemas.openxmlformats.org/drawingml/2006/chart" xmlns:a="http://schemas.openxmlformats.org/drawingml/2006/main" xmlns:r="http://schemas.openxmlformats.org/officeDocument/2006/relationships">
  <c:date1904 val="0"/>
  <c:chart>
    <c:autoTitleDeleted val="1"/>
    <c:plotArea>
      <c:lineChart>
        <c:grouping val="standard"/>
        <c:varyColors val="0"/>
        <c:ser>
          <c:idx val="0"/>
          <c:order val="0"/>
          <c:tx>
            <c:strRef>
              <c:f>Sheet1!$B$1</c:f>
              <c:strCache>
                <c:ptCount val="1"/>
                <c:pt idx="0">
                  <c:v>Requests/sec</c:v>
                </c:pt>
              </c:strCache>
            </c:strRef>
          </c:tx>
          <c:spPr>
            <a:solidFill>
              <a:srgbClr val="1F6FEB"/>
            </a:solidFill>
          </c:spPr>
          <c:cat>
            <c:strRef>
              <c:f>Sheet1!$A$2:$A$7</c:f>
              <c:strCache>
                <c:ptCount val="6"/>
                <c:pt idx="0">
                  <c:v>t0</c:v>
                </c:pt>
                <c:pt idx="1">
                  <c:v>t1</c:v>
                </c:pt>
                <c:pt idx="2">
                  <c:v>t2</c:v>
                </c:pt>
                <c:pt idx="3">
                  <c:v>t3</c:v>
                </c:pt>
                <c:pt idx="4">
                  <c:v>t4</c:v>
                </c:pt>
                <c:pt idx="5">
                  <c:v>t5</c:v>
                </c:pt>
              </c:strCache>
            </c:strRef>
          </c:cat>
          <c:val>
            <c:numRef>
              <c:f>Sheet1!$B$2:$B$7</c:f>
              <c:numCache>
                <c:formatCode>General</c:formatCode>
                <c:ptCount val="6"/>
                <c:pt idx="0">
                  <c:v>100</c:v>
                </c:pt>
                <c:pt idx="1">
                  <c:v>260</c:v>
                </c:pt>
                <c:pt idx="2">
                  <c:v>540</c:v>
                </c:pt>
                <c:pt idx="3">
                  <c:v>600</c:v>
                </c:pt>
                <c:pt idx="4">
                  <c:v>300</c:v>
                </c:pt>
                <c:pt idx="5">
                  <c:v>120</c:v>
                </c:pt>
              </c:numCache>
            </c:numRef>
          </c:val>
          <c:smooth val="0"/>
        </c:ser>
        <c:ser>
          <c:idx val="1"/>
          <c:order val="1"/>
          <c:tx>
            <c:strRef>
              <c:f>Sheet1!$C$1</c:f>
              <c:strCache>
                <c:ptCount val="1"/>
                <c:pt idx="0">
                  <c:v>Instances</c:v>
                </c:pt>
              </c:strCache>
            </c:strRef>
          </c:tx>
          <c:spPr>
            <a:solidFill>
              <a:srgbClr val="10B981"/>
            </a:solidFill>
          </c:spPr>
          <c:cat>
            <c:strRef>
              <c:f>Sheet1!$A$2:$A$7</c:f>
              <c:strCache>
                <c:ptCount val="6"/>
                <c:pt idx="0">
                  <c:v>t0</c:v>
                </c:pt>
                <c:pt idx="1">
                  <c:v>t1</c:v>
                </c:pt>
                <c:pt idx="2">
                  <c:v>t2</c:v>
                </c:pt>
                <c:pt idx="3">
                  <c:v>t3</c:v>
                </c:pt>
                <c:pt idx="4">
                  <c:v>t4</c:v>
                </c:pt>
                <c:pt idx="5">
                  <c:v>t5</c:v>
                </c:pt>
              </c:strCache>
            </c:strRef>
          </c:cat>
          <c:val>
            <c:numRef>
              <c:f>Sheet1!$C$2:$C$7</c:f>
              <c:numCache>
                <c:formatCode>General</c:formatCode>
                <c:ptCount val="6"/>
                <c:pt idx="0">
                  <c:v>2</c:v>
                </c:pt>
                <c:pt idx="1">
                  <c:v>3</c:v>
                </c:pt>
                <c:pt idx="2">
                  <c:v>6</c:v>
                </c:pt>
                <c:pt idx="3">
                  <c:v>6</c:v>
                </c:pt>
                <c:pt idx="4">
                  <c:v>4</c:v>
                </c:pt>
                <c:pt idx="5">
                  <c:v>2</c:v>
                </c:pt>
              </c:numCache>
            </c:numRef>
          </c:val>
          <c:smooth val="0"/>
        </c:ser>
        <c:marker val="1"/>
        <c:smooth val="0"/>
        <c:axId val="2118791784"/>
        <c:axId val="2140495176"/>
      </c:lineChart>
      <c:catAx>
        <c:axId val="2118791784"/>
        <c:scaling>
          <c:orientation val="minMax"/>
        </c:scaling>
        <c:delete val="0"/>
        <c:axPos val="b"/>
        <c:majorTickMark val="out"/>
        <c:minorTickMark val="none"/>
        <c:tickLblPos val="nextTo"/>
        <c:crossAx val="2140495176"/>
        <c:crosses val="autoZero"/>
        <c:auto val="1"/>
        <c:lblAlgn val="ctr"/>
        <c:lblOffset val="100"/>
        <c:noMultiLvlLbl val="0"/>
      </c:catAx>
      <c:valAx>
        <c:axId val="2140495176"/>
        <c:scaling/>
        <c:delete val="0"/>
        <c:axPos val="l"/>
        <c:majorGridlines/>
        <c:majorTickMark val="out"/>
        <c:minorTickMark val="none"/>
        <c:tickLblPos val="nextTo"/>
        <c:crossAx val="2118791784"/>
        <c:crosses val="autoZero"/>
      </c:valAx>
    </c:plotArea>
    <c:legend>
      <c:legendPos val="b"/>
      <c:layout/>
      <c:overlay val="0"/>
    </c:legend>
    <c:plotVisOnly val="1"/>
    <c:dispBlanksAs val="gap"/>
    <c:showDLblsOverMax val="0"/>
  </c:chart>
  <c:txPr>
    <a:bodyPr/>
    <a:lstStyle/>
    <a:p>
      <a:pPr>
        <a:defRPr sz="1100">
          <a:latin typeface="Arial"/>
        </a:defRPr>
      </a:pPr>
      <a:endParaRPr lang="en-US"/>
    </a:p>
  </c:txPr>
  <c:externalData r:id="rId1">
    <c:autoUpdate val="0"/>
  </c:externalData>
</c:chartSpace>
</file>

<file path=ppt/charts/chart9.xml><?xml version="1.0" encoding="utf-8"?>
<c:chartSpace xmlns:c="http://schemas.openxmlformats.org/drawingml/2006/chart" xmlns:a="http://schemas.openxmlformats.org/drawingml/2006/main" xmlns:r="http://schemas.openxmlformats.org/officeDocument/2006/relationships">
  <c:date1904 val="0"/>
  <c:chart>
    <c:autoTitleDeleted val="1"/>
    <c:plotArea>
      <c:lineChart>
        <c:grouping val="standard"/>
        <c:varyColors val="0"/>
        <c:ser>
          <c:idx val="0"/>
          <c:order val="0"/>
          <c:tx>
            <c:strRef>
              <c:f>Sheet1!$B$1</c:f>
              <c:strCache>
                <c:ptCount val="1"/>
                <c:pt idx="0">
                  <c:v>Latency ms</c:v>
                </c:pt>
              </c:strCache>
            </c:strRef>
          </c:tx>
          <c:spPr>
            <a:solidFill>
              <a:srgbClr val="1F6FEB"/>
            </a:solidFill>
          </c:spPr>
          <c:cat>
            <c:strRef>
              <c:f>Sheet1!$A$2:$A$7</c:f>
              <c:strCache>
                <c:ptCount val="6"/>
                <c:pt idx="0">
                  <c:v>t-5</c:v>
                </c:pt>
                <c:pt idx="1">
                  <c:v>t-4</c:v>
                </c:pt>
                <c:pt idx="2">
                  <c:v>t-3</c:v>
                </c:pt>
                <c:pt idx="3">
                  <c:v>t-2</c:v>
                </c:pt>
                <c:pt idx="4">
                  <c:v>t-1</c:v>
                </c:pt>
                <c:pt idx="5">
                  <c:v>now</c:v>
                </c:pt>
              </c:strCache>
            </c:strRef>
          </c:cat>
          <c:val>
            <c:numRef>
              <c:f>Sheet1!$B$2:$B$7</c:f>
              <c:numCache>
                <c:formatCode>General</c:formatCode>
                <c:ptCount val="6"/>
                <c:pt idx="0">
                  <c:v>120</c:v>
                </c:pt>
                <c:pt idx="1">
                  <c:v>130</c:v>
                </c:pt>
                <c:pt idx="2">
                  <c:v>140</c:v>
                </c:pt>
                <c:pt idx="3">
                  <c:v>320</c:v>
                </c:pt>
                <c:pt idx="4">
                  <c:v>540</c:v>
                </c:pt>
                <c:pt idx="5">
                  <c:v>720</c:v>
                </c:pt>
              </c:numCache>
            </c:numRef>
          </c:val>
          <c:smooth val="0"/>
        </c:ser>
        <c:ser>
          <c:idx val="1"/>
          <c:order val="1"/>
          <c:tx>
            <c:strRef>
              <c:f>Sheet1!$C$1</c:f>
              <c:strCache>
                <c:ptCount val="1"/>
                <c:pt idx="0">
                  <c:v>Alarm threshold</c:v>
                </c:pt>
              </c:strCache>
            </c:strRef>
          </c:tx>
          <c:spPr>
            <a:solidFill>
              <a:srgbClr val="10B981"/>
            </a:solidFill>
          </c:spPr>
          <c:cat>
            <c:strRef>
              <c:f>Sheet1!$A$2:$A$7</c:f>
              <c:strCache>
                <c:ptCount val="6"/>
                <c:pt idx="0">
                  <c:v>t-5</c:v>
                </c:pt>
                <c:pt idx="1">
                  <c:v>t-4</c:v>
                </c:pt>
                <c:pt idx="2">
                  <c:v>t-3</c:v>
                </c:pt>
                <c:pt idx="3">
                  <c:v>t-2</c:v>
                </c:pt>
                <c:pt idx="4">
                  <c:v>t-1</c:v>
                </c:pt>
                <c:pt idx="5">
                  <c:v>now</c:v>
                </c:pt>
              </c:strCache>
            </c:strRef>
          </c:cat>
          <c:val>
            <c:numRef>
              <c:f>Sheet1!$C$2:$C$7</c:f>
              <c:numCache>
                <c:formatCode>General</c:formatCode>
                <c:ptCount val="6"/>
                <c:pt idx="0">
                  <c:v>400</c:v>
                </c:pt>
                <c:pt idx="1">
                  <c:v>400</c:v>
                </c:pt>
                <c:pt idx="2">
                  <c:v>400</c:v>
                </c:pt>
                <c:pt idx="3">
                  <c:v>400</c:v>
                </c:pt>
                <c:pt idx="4">
                  <c:v>400</c:v>
                </c:pt>
                <c:pt idx="5">
                  <c:v>400</c:v>
                </c:pt>
              </c:numCache>
            </c:numRef>
          </c:val>
          <c:smooth val="0"/>
        </c:ser>
        <c:marker val="1"/>
        <c:smooth val="0"/>
        <c:axId val="2118791784"/>
        <c:axId val="2140495176"/>
      </c:lineChart>
      <c:catAx>
        <c:axId val="2118791784"/>
        <c:scaling>
          <c:orientation val="minMax"/>
        </c:scaling>
        <c:delete val="0"/>
        <c:axPos val="b"/>
        <c:majorTickMark val="out"/>
        <c:minorTickMark val="none"/>
        <c:tickLblPos val="nextTo"/>
        <c:crossAx val="2140495176"/>
        <c:crosses val="autoZero"/>
        <c:auto val="1"/>
        <c:lblAlgn val="ctr"/>
        <c:lblOffset val="100"/>
        <c:noMultiLvlLbl val="0"/>
      </c:catAx>
      <c:valAx>
        <c:axId val="2140495176"/>
        <c:scaling/>
        <c:delete val="0"/>
        <c:axPos val="l"/>
        <c:majorGridlines/>
        <c:majorTickMark val="out"/>
        <c:minorTickMark val="none"/>
        <c:tickLblPos val="nextTo"/>
        <c:crossAx val="2118791784"/>
        <c:crosses val="autoZero"/>
      </c:valAx>
    </c:plotArea>
    <c:legend>
      <c:legendPos val="b"/>
      <c:layout/>
      <c:overlay val="0"/>
    </c:legend>
    <c:plotVisOnly val="1"/>
    <c:dispBlanksAs val="gap"/>
    <c:showDLblsOverMax val="0"/>
  </c:chart>
  <c:txPr>
    <a:bodyPr/>
    <a:lstStyle/>
    <a:p>
      <a:pPr>
        <a:defRPr sz="1100">
          <a:latin typeface="Arial"/>
        </a:defRPr>
      </a:pPr>
      <a:endParaRPr lang="en-US"/>
    </a:p>
  </c:txPr>
  <c:externalData r:id="rId1">
    <c:autoUpdate val="0"/>
  </c:externalData>
</c:chartSpace>
</file>

<file path=ppt/charts/chart10.xml><?xml version="1.0" encoding="utf-8"?>
<c:chartSpace xmlns:c="http://schemas.openxmlformats.org/drawingml/2006/chart" xmlns:a="http://schemas.openxmlformats.org/drawingml/2006/main" xmlns:r="http://schemas.openxmlformats.org/officeDocument/2006/relationships">
  <c:date1904 val="0"/>
  <c:chart>
    <c:autoTitleDeleted val="1"/>
    <c:plotArea>
      <c:barChart>
        <c:barDir val="col"/>
        <c:grouping val="clustered"/>
        <c:ser>
          <c:idx val="0"/>
          <c:order val="0"/>
          <c:tx>
            <c:strRef>
              <c:f>Sheet1!$B$1</c:f>
              <c:strCache>
                <c:ptCount val="1"/>
                <c:pt idx="0">
                  <c:v>Latency ms</c:v>
                </c:pt>
              </c:strCache>
            </c:strRef>
          </c:tx>
          <c:spPr>
            <a:solidFill>
              <a:srgbClr val="1F6FEB"/>
            </a:solidFill>
          </c:spPr>
          <c:cat>
            <c:strRef>
              <c:f>Sheet1!$A$2:$A$5</c:f>
              <c:strCache>
                <c:ptCount val="4"/>
                <c:pt idx="0">
                  <c:v>Average</c:v>
                </c:pt>
                <c:pt idx="1">
                  <c:v>p50</c:v>
                </c:pt>
                <c:pt idx="2">
                  <c:v>p90</c:v>
                </c:pt>
                <c:pt idx="3">
                  <c:v>p99</c:v>
                </c:pt>
              </c:strCache>
            </c:strRef>
          </c:cat>
          <c:val>
            <c:numRef>
              <c:f>Sheet1!$B$2:$B$5</c:f>
              <c:numCache>
                <c:formatCode>General</c:formatCode>
                <c:ptCount val="4"/>
                <c:pt idx="0">
                  <c:v>140</c:v>
                </c:pt>
                <c:pt idx="1">
                  <c:v>110</c:v>
                </c:pt>
                <c:pt idx="2">
                  <c:v>320</c:v>
                </c:pt>
                <c:pt idx="3">
                  <c:v>900</c:v>
                </c:pt>
              </c:numCache>
            </c:numRef>
          </c:val>
        </c:ser>
        <c:dLbls>
          <c:numFmt formatCode="General" sourceLinked="0"/>
          <c:txPr>
            <a:bodyPr/>
            <a:lstStyle/>
            <a:p>
              <a:pPr>
                <a:defRPr sz="1100" b="1"/>
              </a:pPr>
            </a:p>
          </c:txPr>
          <c:showLegendKey val="0"/>
          <c:showVal val="1"/>
          <c:showCatName val="0"/>
          <c:showSerName val="0"/>
          <c:showPercent val="0"/>
          <c:showBubbleSize val="0"/>
          <c:showLeaderLines val="1"/>
        </c:dLbls>
        <c:gapWidth val="80"/>
        <c:axId val="-2068027336"/>
        <c:axId val="-2113994440"/>
      </c:barChart>
      <c:catAx>
        <c:axId val="-2068027336"/>
        <c:scaling>
          <c:orientation val="minMax"/>
        </c:scaling>
        <c:delete val="0"/>
        <c:axPos val="b"/>
        <c:majorTickMark val="out"/>
        <c:minorTickMark val="none"/>
        <c:tickLblPos val="nextTo"/>
        <c:crossAx val="-2113994440"/>
        <c:crosses val="autoZero"/>
        <c:auto val="1"/>
        <c:lblAlgn val="ctr"/>
        <c:lblOffset val="100"/>
        <c:noMultiLvlLbl val="0"/>
      </c:catAx>
      <c:valAx>
        <c:axId val="-2113994440"/>
        <c:scaling/>
        <c:delete val="0"/>
        <c:axPos val="l"/>
        <c:majorGridlines/>
        <c:majorTickMark val="out"/>
        <c:minorTickMark val="none"/>
        <c:tickLblPos val="nextTo"/>
        <c:crossAx val="-2068027336"/>
        <c:crosses val="autoZero"/>
      </c:valAx>
    </c:plotArea>
    <c:dispBlanksAs val="gap"/>
  </c:chart>
  <c:txPr>
    <a:bodyPr/>
    <a:lstStyle/>
    <a:p>
      <a:pPr>
        <a:defRPr sz="1100">
          <a:latin typeface="Arial"/>
        </a:defRPr>
      </a:pPr>
      <a:endParaRPr lang="en-US"/>
    </a:p>
  </c:txPr>
  <c:externalData r:id="rId1">
    <c:autoUpdate val="0"/>
  </c:externalData>
</c:chartSpace>
</file>

<file path=ppt/charts/chart11.xml><?xml version="1.0" encoding="utf-8"?>
<c:chartSpace xmlns:c="http://schemas.openxmlformats.org/drawingml/2006/chart" xmlns:a="http://schemas.openxmlformats.org/drawingml/2006/main" xmlns:r="http://schemas.openxmlformats.org/officeDocument/2006/relationships">
  <c:date1904 val="0"/>
  <c:chart>
    <c:autoTitleDeleted val="1"/>
    <c:plotArea>
      <c:barChart>
        <c:barDir val="bar"/>
        <c:grouping val="clustered"/>
        <c:ser>
          <c:idx val="0"/>
          <c:order val="0"/>
          <c:tx>
            <c:strRef>
              <c:f>Sheet1!$B$1</c:f>
              <c:strCache>
                <c:ptCount val="1"/>
                <c:pt idx="0">
                  <c:v>Manual (min)</c:v>
                </c:pt>
              </c:strCache>
            </c:strRef>
          </c:tx>
          <c:spPr>
            <a:solidFill>
              <a:srgbClr val="1F6FEB"/>
            </a:solidFill>
          </c:spPr>
          <c:cat>
            <c:strRef>
              <c:f>Sheet1!$A$2:$A$5</c:f>
              <c:strCache>
                <c:ptCount val="4"/>
                <c:pt idx="0">
                  <c:v>Detect</c:v>
                </c:pt>
                <c:pt idx="1">
                  <c:v>Notify</c:v>
                </c:pt>
                <c:pt idx="2">
                  <c:v>Diagnose</c:v>
                </c:pt>
                <c:pt idx="3">
                  <c:v>Remediate</c:v>
                </c:pt>
              </c:strCache>
            </c:strRef>
          </c:cat>
          <c:val>
            <c:numRef>
              <c:f>Sheet1!$B$2:$B$5</c:f>
              <c:numCache>
                <c:formatCode>General</c:formatCode>
                <c:ptCount val="4"/>
                <c:pt idx="0">
                  <c:v>10</c:v>
                </c:pt>
                <c:pt idx="1">
                  <c:v>15</c:v>
                </c:pt>
                <c:pt idx="2">
                  <c:v>30</c:v>
                </c:pt>
                <c:pt idx="3">
                  <c:v>20</c:v>
                </c:pt>
              </c:numCache>
            </c:numRef>
          </c:val>
        </c:ser>
        <c:ser>
          <c:idx val="1"/>
          <c:order val="1"/>
          <c:tx>
            <c:strRef>
              <c:f>Sheet1!$C$1</c:f>
              <c:strCache>
                <c:ptCount val="1"/>
                <c:pt idx="0">
                  <c:v>Automated (min)</c:v>
                </c:pt>
              </c:strCache>
            </c:strRef>
          </c:tx>
          <c:spPr>
            <a:solidFill>
              <a:srgbClr val="10B981"/>
            </a:solidFill>
          </c:spPr>
          <c:cat>
            <c:strRef>
              <c:f>Sheet1!$A$2:$A$5</c:f>
              <c:strCache>
                <c:ptCount val="4"/>
                <c:pt idx="0">
                  <c:v>Detect</c:v>
                </c:pt>
                <c:pt idx="1">
                  <c:v>Notify</c:v>
                </c:pt>
                <c:pt idx="2">
                  <c:v>Diagnose</c:v>
                </c:pt>
                <c:pt idx="3">
                  <c:v>Remediate</c:v>
                </c:pt>
              </c:strCache>
            </c:strRef>
          </c:cat>
          <c:val>
            <c:numRef>
              <c:f>Sheet1!$C$2:$C$5</c:f>
              <c:numCache>
                <c:formatCode>General</c:formatCode>
                <c:ptCount val="4"/>
                <c:pt idx="0">
                  <c:v>1</c:v>
                </c:pt>
                <c:pt idx="1">
                  <c:v>1</c:v>
                </c:pt>
                <c:pt idx="2">
                  <c:v>2</c:v>
                </c:pt>
                <c:pt idx="3">
                  <c:v>3</c:v>
                </c:pt>
              </c:numCache>
            </c:numRef>
          </c:val>
        </c:ser>
        <c:gapWidth val="80"/>
        <c:axId val="-2068027336"/>
        <c:axId val="-2113994440"/>
      </c:barChart>
      <c:catAx>
        <c:axId val="-2068027336"/>
        <c:scaling>
          <c:orientation val="minMax"/>
        </c:scaling>
        <c:delete val="0"/>
        <c:axPos val="l"/>
        <c:majorTickMark val="out"/>
        <c:minorTickMark val="none"/>
        <c:tickLblPos val="nextTo"/>
        <c:crossAx val="-2113994440"/>
        <c:crosses val="autoZero"/>
        <c:auto val="1"/>
        <c:lblAlgn val="ctr"/>
        <c:lblOffset val="100"/>
        <c:noMultiLvlLbl val="0"/>
      </c:catAx>
      <c:valAx>
        <c:axId val="-2113994440"/>
        <c:scaling/>
        <c:delete val="0"/>
        <c:axPos val="b"/>
        <c:majorGridlines/>
        <c:majorTickMark val="out"/>
        <c:minorTickMark val="none"/>
        <c:tickLblPos val="nextTo"/>
        <c:crossAx val="-2068027336"/>
        <c:crosses val="autoZero"/>
      </c:valAx>
    </c:plotArea>
    <c:legend>
      <c:legendPos val="b"/>
      <c:overlay val="0"/>
    </c:legend>
    <c:dispBlanksAs val="gap"/>
  </c:chart>
  <c:txPr>
    <a:bodyPr/>
    <a:lstStyle/>
    <a:p>
      <a:pPr>
        <a:defRPr sz="1100">
          <a:latin typeface="Arial"/>
        </a:defRPr>
      </a:pPr>
      <a:endParaRPr lang="en-US"/>
    </a:p>
  </c:txPr>
  <c:externalData r:id="rId1">
    <c:autoUpdate val="0"/>
  </c:externalData>
</c:chartSpace>
</file>

<file path=ppt/charts/chart12.xml><?xml version="1.0" encoding="utf-8"?>
<c:chartSpace xmlns:c="http://schemas.openxmlformats.org/drawingml/2006/chart" xmlns:a="http://schemas.openxmlformats.org/drawingml/2006/main" xmlns:r="http://schemas.openxmlformats.org/officeDocument/2006/relationships">
  <c:date1904 val="0"/>
  <c:chart>
    <c:autoTitleDeleted val="1"/>
    <c:plotArea>
      <c:barChart>
        <c:barDir val="bar"/>
        <c:grouping val="clustered"/>
        <c:ser>
          <c:idx val="0"/>
          <c:order val="0"/>
          <c:tx>
            <c:strRef>
              <c:f>Sheet1!$B$1</c:f>
              <c:strCache>
                <c:ptCount val="1"/>
                <c:pt idx="0">
                  <c:v>Manual (min)</c:v>
                </c:pt>
              </c:strCache>
            </c:strRef>
          </c:tx>
          <c:spPr>
            <a:solidFill>
              <a:srgbClr val="1F6FEB"/>
            </a:solidFill>
          </c:spPr>
          <c:cat>
            <c:strRef>
              <c:f>Sheet1!$A$2:$A$5</c:f>
              <c:strCache>
                <c:ptCount val="4"/>
                <c:pt idx="0">
                  <c:v>Detect</c:v>
                </c:pt>
                <c:pt idx="1">
                  <c:v>Notify</c:v>
                </c:pt>
                <c:pt idx="2">
                  <c:v>Diagnose</c:v>
                </c:pt>
                <c:pt idx="3">
                  <c:v>Remediate</c:v>
                </c:pt>
              </c:strCache>
            </c:strRef>
          </c:cat>
          <c:val>
            <c:numRef>
              <c:f>Sheet1!$B$2:$B$5</c:f>
              <c:numCache>
                <c:formatCode>General</c:formatCode>
                <c:ptCount val="4"/>
                <c:pt idx="0">
                  <c:v>10</c:v>
                </c:pt>
                <c:pt idx="1">
                  <c:v>15</c:v>
                </c:pt>
                <c:pt idx="2">
                  <c:v>30</c:v>
                </c:pt>
                <c:pt idx="3">
                  <c:v>20</c:v>
                </c:pt>
              </c:numCache>
            </c:numRef>
          </c:val>
        </c:ser>
        <c:ser>
          <c:idx val="1"/>
          <c:order val="1"/>
          <c:tx>
            <c:strRef>
              <c:f>Sheet1!$C$1</c:f>
              <c:strCache>
                <c:ptCount val="1"/>
                <c:pt idx="0">
                  <c:v>Automated (min)</c:v>
                </c:pt>
              </c:strCache>
            </c:strRef>
          </c:tx>
          <c:spPr>
            <a:solidFill>
              <a:srgbClr val="10B981"/>
            </a:solidFill>
          </c:spPr>
          <c:cat>
            <c:strRef>
              <c:f>Sheet1!$A$2:$A$5</c:f>
              <c:strCache>
                <c:ptCount val="4"/>
                <c:pt idx="0">
                  <c:v>Detect</c:v>
                </c:pt>
                <c:pt idx="1">
                  <c:v>Notify</c:v>
                </c:pt>
                <c:pt idx="2">
                  <c:v>Diagnose</c:v>
                </c:pt>
                <c:pt idx="3">
                  <c:v>Remediate</c:v>
                </c:pt>
              </c:strCache>
            </c:strRef>
          </c:cat>
          <c:val>
            <c:numRef>
              <c:f>Sheet1!$C$2:$C$5</c:f>
              <c:numCache>
                <c:formatCode>General</c:formatCode>
                <c:ptCount val="4"/>
                <c:pt idx="0">
                  <c:v>1</c:v>
                </c:pt>
                <c:pt idx="1">
                  <c:v>1</c:v>
                </c:pt>
                <c:pt idx="2">
                  <c:v>3</c:v>
                </c:pt>
                <c:pt idx="3">
                  <c:v>3</c:v>
                </c:pt>
              </c:numCache>
            </c:numRef>
          </c:val>
        </c:ser>
        <c:gapWidth val="80"/>
        <c:axId val="-2068027336"/>
        <c:axId val="-2113994440"/>
      </c:barChart>
      <c:catAx>
        <c:axId val="-2068027336"/>
        <c:scaling>
          <c:orientation val="minMax"/>
        </c:scaling>
        <c:delete val="0"/>
        <c:axPos val="l"/>
        <c:majorTickMark val="out"/>
        <c:minorTickMark val="none"/>
        <c:tickLblPos val="nextTo"/>
        <c:crossAx val="-2113994440"/>
        <c:crosses val="autoZero"/>
        <c:auto val="1"/>
        <c:lblAlgn val="ctr"/>
        <c:lblOffset val="100"/>
        <c:noMultiLvlLbl val="0"/>
      </c:catAx>
      <c:valAx>
        <c:axId val="-2113994440"/>
        <c:scaling/>
        <c:delete val="0"/>
        <c:axPos val="b"/>
        <c:majorGridlines/>
        <c:majorTickMark val="out"/>
        <c:minorTickMark val="none"/>
        <c:tickLblPos val="nextTo"/>
        <c:crossAx val="-2068027336"/>
        <c:crosses val="autoZero"/>
      </c:valAx>
    </c:plotArea>
    <c:legend>
      <c:legendPos val="b"/>
      <c:overlay val="0"/>
    </c:legend>
    <c:dispBlanksAs val="gap"/>
  </c:chart>
  <c:txPr>
    <a:bodyPr/>
    <a:lstStyle/>
    <a:p>
      <a:pPr>
        <a:defRPr sz="1100">
          <a:latin typeface="Arial"/>
        </a:defRPr>
      </a:pPr>
      <a:endParaRPr lang="en-US"/>
    </a:p>
  </c:txPr>
  <c:externalData r:id="rId1">
    <c:autoUpdate val="0"/>
  </c:externalData>
</c:chartSpace>
</file>

<file path=ppt/charts/chart13.xml><?xml version="1.0" encoding="utf-8"?>
<c:chartSpace xmlns:c="http://schemas.openxmlformats.org/drawingml/2006/chart" xmlns:a="http://schemas.openxmlformats.org/drawingml/2006/main" xmlns:r="http://schemas.openxmlformats.org/officeDocument/2006/relationships">
  <c:date1904 val="0"/>
  <c:chart>
    <c:autoTitleDeleted val="1"/>
    <c:plotArea>
      <c:barChart>
        <c:barDir val="bar"/>
        <c:grouping val="clustered"/>
        <c:ser>
          <c:idx val="0"/>
          <c:order val="0"/>
          <c:tx>
            <c:strRef>
              <c:f>Sheet1!$B$1</c:f>
              <c:strCache>
                <c:ptCount val="1"/>
                <c:pt idx="0">
                  <c:v>Exposure window (hours)</c:v>
                </c:pt>
              </c:strCache>
            </c:strRef>
          </c:tx>
          <c:spPr>
            <a:solidFill>
              <a:srgbClr val="1F6FEB"/>
            </a:solidFill>
          </c:spPr>
          <c:cat>
            <c:strRef>
              <c:f>Sheet1!$A$2:$A$4</c:f>
              <c:strCache>
                <c:ptCount val="3"/>
                <c:pt idx="0">
                  <c:v>Manual quarterly audit</c:v>
                </c:pt>
                <c:pt idx="1">
                  <c:v>Weekly script</c:v>
                </c:pt>
                <c:pt idx="2">
                  <c:v>AWS Config rule</c:v>
                </c:pt>
              </c:strCache>
            </c:strRef>
          </c:cat>
          <c:val>
            <c:numRef>
              <c:f>Sheet1!$B$2:$B$4</c:f>
              <c:numCache>
                <c:formatCode>General</c:formatCode>
                <c:ptCount val="3"/>
                <c:pt idx="0">
                  <c:v>720</c:v>
                </c:pt>
                <c:pt idx="1">
                  <c:v>84</c:v>
                </c:pt>
                <c:pt idx="2">
                  <c:v>0.2</c:v>
                </c:pt>
              </c:numCache>
            </c:numRef>
          </c:val>
        </c:ser>
        <c:dLbls>
          <c:numFmt formatCode="General" sourceLinked="0"/>
          <c:txPr>
            <a:bodyPr/>
            <a:lstStyle/>
            <a:p>
              <a:pPr>
                <a:defRPr sz="1100" b="1"/>
              </a:pPr>
            </a:p>
          </c:txPr>
          <c:showLegendKey val="0"/>
          <c:showVal val="1"/>
          <c:showCatName val="0"/>
          <c:showSerName val="0"/>
          <c:showPercent val="0"/>
          <c:showBubbleSize val="0"/>
          <c:showLeaderLines val="1"/>
        </c:dLbls>
        <c:gapWidth val="80"/>
        <c:axId val="-2068027336"/>
        <c:axId val="-2113994440"/>
      </c:barChart>
      <c:catAx>
        <c:axId val="-2068027336"/>
        <c:scaling>
          <c:orientation val="minMax"/>
        </c:scaling>
        <c:delete val="0"/>
        <c:axPos val="l"/>
        <c:majorTickMark val="out"/>
        <c:minorTickMark val="none"/>
        <c:tickLblPos val="nextTo"/>
        <c:crossAx val="-2113994440"/>
        <c:crosses val="autoZero"/>
        <c:auto val="1"/>
        <c:lblAlgn val="ctr"/>
        <c:lblOffset val="100"/>
        <c:noMultiLvlLbl val="0"/>
      </c:catAx>
      <c:valAx>
        <c:axId val="-2113994440"/>
        <c:scaling/>
        <c:delete val="0"/>
        <c:axPos val="b"/>
        <c:majorGridlines/>
        <c:majorTickMark val="out"/>
        <c:minorTickMark val="none"/>
        <c:tickLblPos val="nextTo"/>
        <c:crossAx val="-2068027336"/>
        <c:crosses val="autoZero"/>
      </c:valAx>
    </c:plotArea>
    <c:dispBlanksAs val="gap"/>
  </c:chart>
  <c:txPr>
    <a:bodyPr/>
    <a:lstStyle/>
    <a:p>
      <a:pPr>
        <a:defRPr sz="1100">
          <a:latin typeface="Arial"/>
        </a:defRPr>
      </a:pPr>
      <a:endParaRPr lang="en-US"/>
    </a:p>
  </c:txPr>
  <c:externalData r:id="rId1">
    <c:autoUpdate val="0"/>
  </c:externalData>
</c:chartSpace>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1.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3.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6.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8.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9.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0.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1.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2.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3.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4.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5.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7.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8.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3.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9.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0.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1.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2.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4.xml"/></Relationships>
</file>

<file path=ppt/notesSlides/_rels/notesSlide2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5.xml"/></Relationships>
</file>

<file path=ppt/notesSlides/_rels/notesSlide2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6.xml"/></Relationships>
</file>

<file path=ppt/notesSlides/_rels/notesSlide2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7.xml"/></Relationships>
</file>

<file path=ppt/notesSlides/_rels/notesSlide2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8.xml"/></Relationships>
</file>

<file path=ppt/notesSlides/_rels/notesSlide2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9.xml"/></Relationships>
</file>

<file path=ppt/notesSlides/_rels/notesSlide2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0.xml"/></Relationships>
</file>

<file path=ppt/notesSlides/_rels/notesSlide2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1.xml"/></Relationships>
</file>

<file path=ppt/notesSlides/_rels/notesSlide2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2.xml"/></Relationships>
</file>

<file path=ppt/notesSlides/_rels/notesSlide3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3.xml"/></Relationships>
</file>

<file path=ppt/notesSlides/_rels/notesSlide3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4.xml"/></Relationships>
</file>

<file path=ppt/notesSlides/_rels/notesSlide3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5.xml"/></Relationships>
</file>

<file path=ppt/notesSlides/_rels/notesSlide3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6.xml"/></Relationships>
</file>

<file path=ppt/notesSlides/_rels/notesSlide3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7.xml"/></Relationships>
</file>

<file path=ppt/notesSlides/_rels/notesSlide3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8.xml"/></Relationships>
</file>

<file path=ppt/notesSlides/_rels/notesSlide3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9.xml"/></Relationships>
</file>

<file path=ppt/notesSlides/_rels/notesSlide3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0.xml"/></Relationships>
</file>

<file path=ppt/notesSlides/_rels/notesSlide3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1.xml"/></Relationships>
</file>

<file path=ppt/notesSlides/_rels/notesSlide3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2.xml"/></Relationships>
</file>

<file path=ppt/notesSlides/_rels/notesSlide4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3.xml"/></Relationships>
</file>

<file path=ppt/notesSlides/_rels/notesSlide4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4.xml"/></Relationships>
</file>

<file path=ppt/notesSlides/_rels/notesSlide4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5.xml"/></Relationships>
</file>

<file path=ppt/notesSlides/_rels/notesSlide4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6.xml"/></Relationships>
</file>

<file path=ppt/notesSlides/_rels/notesSlide4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7.xml"/></Relationships>
</file>

<file path=ppt/notesSlides/_rels/notesSlide4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8.xml"/></Relationships>
</file>

<file path=ppt/notesSlides/_rels/notesSlide4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0.xml"/></Relationships>
</file>

<file path=ppt/notesSlides/_rels/notesSlide4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1.xml"/></Relationships>
</file>

<file path=ppt/notesSlides/_rels/notesSlide4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2.xml"/></Relationships>
</file>

<file path=ppt/notesSlides/_rels/notesSlide4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3.xml"/></Relationships>
</file>

<file path=ppt/notesSlides/_rels/notesSlide5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4.xml"/></Relationships>
</file>

<file path=ppt/notesSlides/_rels/notesSlide5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5.xml"/></Relationships>
</file>

<file path=ppt/notesSlides/_rels/notesSlide5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6.xml"/></Relationships>
</file>

<file path=ppt/notesSlides/_rels/notesSlide5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7.xml"/></Relationships>
</file>

<file path=ppt/notesSlides/_rels/notesSlide5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8.xml"/></Relationships>
</file>

<file path=ppt/notesSlides/_rels/notesSlide5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9.xml"/></Relationships>
</file>

<file path=ppt/notesSlides/_rels/notesSlide5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0.xml"/></Relationships>
</file>

<file path=ppt/notesSlides/_rels/notesSlide5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1.xml"/></Relationships>
</file>

<file path=ppt/notesSlides/_rels/notesSlide5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2.xml"/></Relationships>
</file>

<file path=ppt/notesSlides/_rels/notesSlide5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3.xml"/></Relationships>
</file>

<file path=ppt/notesSlides/_rels/notesSlide6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4.xml"/></Relationships>
</file>

<file path=ppt/notesSlides/_rels/notesSlide6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5.xml"/></Relationships>
</file>

<file path=ppt/notesSlides/_rels/notesSlide6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6.xml"/></Relationships>
</file>

<file path=ppt/notesSlides/_rels/notesSlide6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7.xml"/></Relationships>
</file>

<file path=ppt/notesSlides/_rels/notesSlide6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8.xml"/></Relationships>
</file>

<file path=ppt/notesSlides/_rels/notesSlide6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9.xml"/></Relationships>
</file>

<file path=ppt/notesSlides/_rels/notesSlide6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0.xml"/></Relationships>
</file>

<file path=ppt/notesSlides/_rels/notesSlide6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1.xml"/></Relationships>
</file>

<file path=ppt/notesSlides/_rels/notesSlide6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2.xml"/></Relationships>
</file>

<file path=ppt/notesSlides/_rels/notesSlide6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3.xml"/></Relationships>
</file>

<file path=ppt/notesSlides/_rels/notesSlide7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4.xml"/></Relationships>
</file>

<file path=ppt/notesSlides/_rels/notesSlide7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5.xml"/></Relationships>
</file>

<file path=ppt/notesSlides/_rels/notesSlide7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6.xml"/></Relationships>
</file>

<file path=ppt/notesSlides/_rels/notesSlide7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7.xml"/></Relationships>
</file>

<file path=ppt/notesSlides/_rels/notesSlide7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8.xml"/></Relationships>
</file>

<file path=ppt/notesSlides/_rels/notesSlide7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9.xml"/></Relationships>
</file>

<file path=ppt/notesSlides/_rels/notesSlide7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1.xml"/></Relationships>
</file>

<file path=ppt/notesSlides/_rels/notesSlide7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4.xml"/></Relationships>
</file>

<file path=ppt/notesSlides/_rels/notesSlide7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2.xml"/></Relationships>
</file>

<file path=ppt/notesSlides/_rels/notesSlide7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3.xml"/></Relationships>
</file>

<file path=ppt/notesSlides/_rels/notesSlide8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5.xml"/></Relationships>
</file>

<file path=ppt/notesSlides/_rels/notesSlide8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6.xml"/></Relationships>
</file>

<file path=ppt/notesSlides/_rels/notesSlide8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7.xml"/></Relationships>
</file>

<file path=ppt/notesSlides/_rels/notesSlide8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8.xml"/></Relationships>
</file>

<file path=ppt/notesSlides/_rels/notesSlide8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9.xml"/></Relationships>
</file>

<file path=ppt/notesSlides/_rels/notesSlide8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0.xml"/></Relationships>
</file>

<file path=ppt/notesSlides/_rels/notesSlide8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1.xml"/></Relationships>
</file>

<file path=ppt/notesSlides/_rels/notesSlide8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2.xml"/></Relationships>
</file>

<file path=ppt/notesSlides/_rels/notesSlide8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3.xml"/></Relationships>
</file>

<file path=ppt/notesSlides/_rels/notesSlide8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4.xml"/></Relationships>
</file>

<file path=ppt/notesSlides/_rels/notesSlide9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5.xml"/></Relationships>
</file>

<file path=ppt/notesSlides/_rels/notesSlide9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6.xml"/></Relationships>
</file>

<file path=ppt/notesSlides/_rels/notesSlide9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7.xml"/></Relationships>
</file>

<file path=ppt/notesSlides/_rels/notesSlide9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8.xml"/></Relationships>
</file>

<file path=ppt/notesSlides/_rels/notesSlide9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9.xml"/></Relationships>
</file>

<file path=ppt/notesSlides/_rels/notesSlide9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0.xml"/></Relationships>
</file>

<file path=ppt/notesSlides/_rels/notesSlide9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1.xml"/></Relationships>
</file>

<file path=ppt/notesSlides/_rels/notesSlide9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2.xml"/></Relationships>
</file>

<file path=ppt/notesSlides/_rels/notesSlide9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3.xml"/></Relationships>
</file>

<file path=ppt/notesSlides/_rels/notesSlide9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4.xml"/></Relationships>
</file>

<file path=ppt/notesSlides/_rels/notesSlide10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5.xml"/></Relationships>
</file>

<file path=ppt/notesSlides/_rels/notesSlide10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6.xml"/></Relationships>
</file>

<file path=ppt/notesSlides/_rels/notesSlide10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7.xml"/></Relationships>
</file>

<file path=ppt/notesSlides/_rels/notesSlide10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8.xml"/></Relationships>
</file>

<file path=ppt/notesSlides/_rels/notesSlide10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9.xml"/></Relationships>
</file>

<file path=ppt/notesSlides/_rels/notesSlide10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0.xml"/></Relationships>
</file>

<file path=ppt/notesSlides/_rels/notesSlide10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1.xml"/></Relationships>
</file>

<file path=ppt/notesSlides/_rels/notesSlide10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3.xml"/></Relationships>
</file>

<file path=ppt/notesSlides/_rels/notesSlide10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4.xml"/></Relationships>
</file>

<file path=ppt/notesSlides/_rels/notesSlide10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7.xml"/></Relationships>
</file>

<file path=ppt/notesSlides/_rels/notesSlide1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5.xml"/></Relationships>
</file>

<file path=ppt/notesSlides/_rels/notesSlide1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6.xml"/></Relationships>
</file>

<file path=ppt/notesSlides/_rels/notesSlide1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8.xml"/></Relationships>
</file>

<file path=ppt/notesSlides/_rels/notesSlide1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9.xml"/></Relationships>
</file>

<file path=ppt/notesSlides/_rels/notesSlide1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0.xml"/></Relationships>
</file>

<file path=ppt/notesSlides/_rels/notesSlide11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1.xml"/></Relationships>
</file>

<file path=ppt/notesSlides/_rels/notesSlide11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2.xml"/></Relationships>
</file>

<file path=ppt/notesSlides/_rels/notesSlide11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3.xml"/></Relationships>
</file>

<file path=ppt/notesSlides/_rels/notesSlide11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4.xml"/></Relationships>
</file>

<file path=ppt/notesSlides/_rels/notesSlide11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5.xml"/></Relationships>
</file>

<file path=ppt/notesSlides/_rels/notesSlide12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6.xml"/></Relationships>
</file>

<file path=ppt/notesSlides/_rels/notesSlide12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7.xml"/></Relationships>
</file>

<file path=ppt/notesSlides/_rels/notesSlide12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8.xml"/></Relationships>
</file>

<file path=ppt/notesSlides/_rels/notesSlide12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9.xml"/></Relationships>
</file>

<file path=ppt/notesSlides/_rels/notesSlide12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50.xml"/></Relationships>
</file>

<file path=ppt/notesSlides/_rels/notesSlide12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51.xml"/></Relationships>
</file>

<file path=ppt/notesSlides/_rels/notesSlide12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52.xml"/></Relationships>
</file>

<file path=ppt/notesSlides/_rels/notesSlide12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53.xml"/></Relationships>
</file>

<file path=ppt/notesSlides/_rels/notesSlide12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54.xml"/></Relationships>
</file>

<file path=ppt/notesSlides/_rels/notesSlide12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55.xml"/></Relationships>
</file>

<file path=ppt/notesSlides/_rels/notesSlide13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56.xml"/></Relationships>
</file>

<file path=ppt/notesSlides/_rels/notesSlide13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57.xml"/></Relationships>
</file>

<file path=ppt/notesSlides/_rels/notesSlide13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58.xml"/></Relationships>
</file>

<file path=ppt/notesSlides/_rels/notesSlide13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59.xml"/></Relationships>
</file>

<file path=ppt/notesSlides/_rels/notesSlide13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60.xml"/></Relationships>
</file>

<file path=ppt/notesSlides/_rels/notesSlide13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62.xml"/></Relationships>
</file>

<file path=ppt/notesSlides/_rels/notesSlide13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65.xml"/></Relationships>
</file>

<file path=ppt/notesSlides/_rels/notesSlide13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63.xml"/></Relationships>
</file>

<file path=ppt/notesSlides/_rels/notesSlide13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64.xml"/></Relationships>
</file>

<file path=ppt/notesSlides/_rels/notesSlide13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66.xml"/></Relationships>
</file>

<file path=ppt/notesSlides/_rels/notesSlide14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67.xml"/></Relationships>
</file>

<file path=ppt/notesSlides/_rels/notesSlide14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68.xml"/></Relationships>
</file>

<file path=ppt/notesSlides/_rels/notesSlide14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69.xml"/></Relationships>
</file>

<file path=ppt/notesSlides/_rels/notesSlide14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70.xml"/></Relationships>
</file>

<file path=ppt/notesSlides/_rels/notesSlide14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71.xml"/></Relationships>
</file>

<file path=ppt/notesSlides/_rels/notesSlide14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72.xml"/></Relationships>
</file>

<file path=ppt/notesSlides/_rels/notesSlide14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73.xml"/></Relationships>
</file>

<file path=ppt/notesSlides/_rels/notesSlide14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74.xml"/></Relationships>
</file>

<file path=ppt/notesSlides/_rels/notesSlide14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75.xml"/></Relationships>
</file>

<file path=ppt/notesSlides/_rels/notesSlide14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76.xml"/></Relationships>
</file>

<file path=ppt/notesSlides/_rels/notesSlide15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77.xml"/></Relationships>
</file>

<file path=ppt/notesSlides/_rels/notesSlide15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78.xml"/></Relationships>
</file>

<file path=ppt/notesSlides/_rels/notesSlide15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79.xml"/></Relationships>
</file>

<file path=ppt/notesSlides/_rels/notesSlide15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80.xml"/></Relationships>
</file>

<file path=ppt/notesSlides/_rels/notesSlide15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81.xml"/></Relationships>
</file>

<file path=ppt/notesSlides/_rels/notesSlide15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82.xml"/></Relationships>
</file>

<file path=ppt/notesSlides/_rels/notesSlide15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83.xml"/></Relationships>
</file>

<file path=ppt/notesSlides/_rels/notesSlide15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84.xml"/></Relationships>
</file>

<file path=ppt/notesSlides/_rels/notesSlide15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85.xml"/></Relationships>
</file>

<file path=ppt/notesSlides/_rels/notesSlide15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86.xml"/></Relationships>
</file>

<file path=ppt/notesSlides/_rels/notesSlide16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87.xml"/></Relationships>
</file>

<file path=ppt/notesSlides/_rels/notesSlide16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89.xml"/></Relationships>
</file>

<file path=ppt/notesSlides/_rels/notesSlide16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90.xml"/></Relationships>
</file>

<file path=ppt/notesSlides/_rels/notesSlide16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91.xml"/></Relationships>
</file>

<file path=ppt/notesSlides/_rels/notesSlide16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92.xml"/></Relationships>
</file>

<file path=ppt/notesSlides/_rels/notesSlide16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93.xml"/></Relationships>
</file>

<file path=ppt/notesSlides/_rels/notesSlide16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94.xml"/></Relationships>
</file>

<file path=ppt/notesSlides/_rels/notesSlide16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95.xml"/></Relationships>
</file>

<file path=ppt/notesSlides/_rels/notesSlide16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96.xml"/></Relationships>
</file>

<file path=ppt/notesSlides/_rels/notesSlide16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97.xml"/></Relationships>
</file>

<file path=ppt/notesSlides/_rels/notesSlide17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98.xml"/></Relationships>
</file>

<file path=ppt/notesSlides/_rels/notesSlide17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99.xml"/></Relationships>
</file>

<file path=ppt/notesSlides/_rels/notesSlide17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00.xml"/></Relationships>
</file>

<file path=ppt/notesSlides/_rels/notesSlide17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01.xml"/></Relationships>
</file>

<file path=ppt/notesSlides/_rels/notesSlide17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02.xml"/></Relationships>
</file>

<file path=ppt/notesSlides/_rels/notesSlide17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03.xml"/></Relationships>
</file>

<file path=ppt/notesSlides/_rels/notesSlide17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04.xml"/></Relationships>
</file>

<file path=ppt/notesSlides/_rels/notesSlide17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05.xml"/></Relationships>
</file>

<file path=ppt/notesSlides/_rels/notesSlide17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06.xml"/></Relationships>
</file>

<file path=ppt/notesSlides/_rels/notesSlide17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07.xml"/></Relationships>
</file>

<file path=ppt/notesSlides/_rels/notesSlide18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08.xml"/></Relationships>
</file>

<file path=ppt/notesSlides/_rels/notesSlide18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09.xml"/></Relationships>
</file>

<file path=ppt/notesSlides/_rels/notesSlide18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10.xml"/></Relationships>
</file>

<file path=ppt/notesSlides/_rels/notesSlide18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11.xml"/></Relationships>
</file>

<file path=ppt/notesSlides/_rels/notesSlide18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12.xml"/></Relationships>
</file>

<file path=ppt/notesSlides/_rels/notesSlide18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13.xml"/></Relationships>
</file>

<file path=ppt/notesSlides/_rels/notesSlide18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14.xml"/></Relationships>
</file>

<file path=ppt/notesSlides/_rels/notesSlide18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15.xml"/></Relationships>
</file>

<file path=ppt/notesSlides/_rels/notesSlide18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16.xml"/></Relationships>
</file>

<file path=ppt/notesSlides/_rels/notesSlide18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17.xml"/></Relationships>
</file>

<file path=ppt/notesSlides/_rels/notesSlide19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18.xml"/></Relationships>
</file>

<file path=ppt/notesSlides/_rels/notesSlide19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20.xml"/></Relationships>
</file>

<file path=ppt/notesSlides/_rels/notesSlide19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21.xml"/></Relationships>
</file>

<file path=ppt/notesSlides/_rels/notesSlide19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22.xml"/></Relationships>
</file>

<file path=ppt/notesSlides/_rels/notesSlide19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23.xml"/></Relationships>
</file>

<file path=ppt/notesSlides/_rels/notesSlide19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24.xml"/></Relationships>
</file>

<file path=ppt/notesSlides/_rels/notesSlide19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30.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Title slide.</a:t>
            </a:r>
          </a:p>
          <a:p>
            <a:r>
              <a:t>Cover hero illustration created for this course with AI image generation (ImageGen).</a:t>
            </a:r>
          </a:p>
          <a:p/>
          <a:p>
            <a:r>
              <a:t>[Sources]</a:t>
            </a:r>
          </a:p>
          <a:p>
            <a:r>
              <a:t>- Legacy course deck: WSQ Master Trainer Slides — DevOps Engineering on AWS (v7).</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Digital attendance (TRAQOM / SSG). Mandatory AM, PM and Assessment attendance for WSQ-funded courses.</a:t>
            </a:r>
          </a:p>
          <a:p>
            <a:r>
              <a:t>The trainer displays the live QR from the SSG portal; the on-slide QR is an illustrative placeholder.</a:t>
            </a:r>
          </a:p>
          <a:p>
            <a:r>
              <a:t>A minimum of 75% attendance is required for assessment and funding.</a:t>
            </a:r>
          </a:p>
          <a:p/>
          <a:p>
            <a:r>
              <a:t>[Sources]</a:t>
            </a:r>
          </a:p>
          <a:p>
            <a:r>
              <a:t>- Legacy course deck: WSQ Master Trainer Slides — DevOps Engineering on AWS (v7).</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AWS DevOps Toolchain. CodePipeline orchestrates the top row; IaC, monitoring and security wrap the whole lifecycle.</a:t>
            </a:r>
          </a:p>
          <a:p>
            <a:r>
              <a:t>Editable reference architecture drawn as native PowerPoint shapes.</a:t>
            </a:r>
          </a:p>
          <a:p/>
          <a:p>
            <a:r>
              <a:t>[Sources]</a:t>
            </a:r>
          </a:p>
          <a:p>
            <a:r>
              <a:t>- AWS Certified DevOps Engineer – Professional (DOP-C02) Exam Guide (docs.aws.amazon.com/pdfs/aws-certification/latest/devops-engineer-professional-02).</a:t>
            </a:r>
          </a:p>
          <a:p>
            <a:r>
              <a:t>- Legacy course deck: WSQ Master Trainer Slides — DevOps Engineering on AWS (v7).</a:t>
            </a:r>
          </a:p>
          <a:p>
            <a:r>
              <a:t>- AWS Developer Tools Documentation (docs.aws.amazon.com/codepipeline).</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Exam / Skills Domain Weightings. What the data shows: SDLC Automation (22%) and the two 17% domains — IaC and Security &amp; Compliance — carry the most weight; plan revision time accordingly.</a:t>
            </a:r>
          </a:p>
          <a:p>
            <a:r>
              <a:t>Figures are illustrative teaching values to convey the relationship, not measured benchmarks.</a:t>
            </a:r>
          </a:p>
          <a:p/>
          <a:p>
            <a:r>
              <a:t>[Sources]</a:t>
            </a:r>
          </a:p>
          <a:p>
            <a:r>
              <a:t>- AWS Certified DevOps Engineer – Professional (DOP-C02) Exam Guide (docs.aws.amazon.com/pdfs/aws-certification/latest/devops-engineer-professional-02).</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Why CI/CD — Release Frequency &amp; Lead Time. What the data shows: Automating the pipeline turns a few risky monthly releases into many small, low-risk ones that recover in hours, not days.</a:t>
            </a:r>
          </a:p>
          <a:p>
            <a:r>
              <a:t>Figures are illustrative teaching values to convey the relationship, not measured benchmarks.</a:t>
            </a:r>
          </a:p>
          <a:p/>
          <a:p>
            <a:r>
              <a:t>[Sources]</a:t>
            </a:r>
          </a:p>
          <a:p>
            <a:r>
              <a:t>- DORA / Google Cloud, Accelerate State of DevOps (dora.dev).</a:t>
            </a:r>
          </a:p>
          <a:p>
            <a:r>
              <a:t>- AWS Certified DevOps Engineer – Professional (DOP-C02) Exam Guide (docs.aws.amazon.com/pdfs/aws-certification/latest/devops-engineer-professional-02).</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DORA's four metrics pair speed with stability so 'go faster' never means 'break more'.</a:t>
            </a:r>
          </a:p>
          <a:p/>
          <a:p>
            <a:r>
              <a:t>[Sources]</a:t>
            </a:r>
          </a:p>
          <a:p>
            <a:r>
              <a:t>- DORA / Google Cloud, Accelerate State of DevOps (dora.dev).</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Trunk-based development plus feature flags is the pattern that makes continuous integration real.</a:t>
            </a:r>
          </a:p>
          <a:p/>
          <a:p>
            <a:r>
              <a:t>[Sources]</a:t>
            </a:r>
          </a:p>
          <a:p>
            <a:r>
              <a:t>- DORA / Google Cloud, Accelerate State of DevOps (dora.dev).</a:t>
            </a:r>
          </a:p>
          <a:p>
            <a:r>
              <a:t>- AWS Certified DevOps Engineer – Professional (DOP-C02) Exam Guide (docs.aws.amazon.com/pdfs/aws-certification/latest/devops-engineer-professional-02).</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same versioned artifact is promoted through environments; only configuration differs — so what you tested is what you ship.</a:t>
            </a:r>
          </a:p>
          <a:p/>
          <a:p>
            <a:r>
              <a:t>[Sources]</a:t>
            </a:r>
          </a:p>
          <a:p>
            <a:r>
              <a:t>- AWS Certified DevOps Engineer – Professional (DOP-C02) Exam Guide (docs.aws.amazon.com/pdfs/aws-certification/latest/devops-engineer-professional-02).</a:t>
            </a:r>
          </a:p>
          <a:p>
            <a:r>
              <a:t>- AWS CodePipeline Documentation (docs.aws.amazon.com/codepipeline).</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New labs use GitHub through CodeConnections as the primary source path; CodeCommit is discussed as an AWS-native option only.</a:t>
            </a:r>
          </a:p>
          <a:p/>
          <a:p>
            <a:r>
              <a:t>[Sources]</a:t>
            </a:r>
          </a:p>
          <a:p>
            <a:r>
              <a:t>- AWS Certified DevOps Engineer – Professional (DOP-C02) Exam Guide (docs.aws.amazon.com/pdfs/aws-certification/latest/devops-engineer-professional-02).</a:t>
            </a:r>
          </a:p>
          <a:p>
            <a:r>
              <a:t>- AWS CodeConnections Documentation (docs.aws.amazon.com/dtconsole/latest/userguide/welcome-connections.html).</a:t>
            </a:r>
          </a:p>
          <a:p>
            <a:r>
              <a:t>- Legacy course deck: WSQ Master Trainer Slides — DevOps Engineering on AWS (v7).</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Immutable infrastructure removes whole classes of drift and 'works on that box' failures.</a:t>
            </a:r>
          </a:p>
          <a:p/>
          <a:p>
            <a:r>
              <a:t>[Sources]</a:t>
            </a:r>
          </a:p>
          <a:p>
            <a:r>
              <a:t>- AWS Well-Architected Framework (docs.aws.amazon.com/wellarchitected).</a:t>
            </a:r>
          </a:p>
          <a:p>
            <a:r>
              <a:t>- AWS Certified DevOps Engineer – Professional (DOP-C02) Exam Guide (docs.aws.amazon.com/pdfs/aws-certification/latest/devops-engineer-professional-02).</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Cost is a first-class operational metric — the same automation that builds resources should clean them up.</a:t>
            </a:r>
          </a:p>
          <a:p/>
          <a:p>
            <a:r>
              <a:t>[Sources]</a:t>
            </a:r>
          </a:p>
          <a:p>
            <a:r>
              <a:t>- AWS Well-Architected Framework (docs.aws.amazon.com/wellarchitected).</a:t>
            </a:r>
          </a:p>
          <a:p>
            <a:r>
              <a:t>- AWS Certified DevOps Engineer – Professional (DOP-C02) Exam Guide (docs.aws.amazon.com/pdfs/aws-certification/latest/devops-engineer-professional-02).</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DevSecOps folds security into every stage rather than bolting it on before release.</a:t>
            </a:r>
          </a:p>
          <a:p/>
          <a:p>
            <a:r>
              <a:t>[Sources]</a:t>
            </a:r>
          </a:p>
          <a:p>
            <a:r>
              <a:t>- AWS Well-Architected Framework (docs.aws.amazon.com/wellarchitected).</a:t>
            </a:r>
          </a:p>
          <a:p>
            <a:r>
              <a:t>- AWS Certified DevOps Engineer – Professional (DOP-C02) Exam Guide (docs.aws.amazon.com/pdfs/aws-certification/latest/devops-engineer-professional-02).</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Comparison — Choosing Compute — EC2 vs ECS/EKS vs Lambda.</a:t>
            </a:r>
          </a:p>
          <a:p/>
          <a:p>
            <a:r>
              <a:t>[Sources]</a:t>
            </a:r>
          </a:p>
          <a:p>
            <a:r>
              <a:t>- AWS Certified DevOps Engineer – Professional (DOP-C02) Exam Guide (docs.aws.amazon.com/pdfs/aws-certification/latest/devops-engineer-professional-02).</a:t>
            </a:r>
          </a:p>
          <a:p>
            <a:r>
              <a:t>- AWS Well-Architected Framework (docs.aws.amazon.com/wellarchitected).</a:t>
            </a:r>
          </a:p>
          <a:p>
            <a:r>
              <a:t>- AWS Compute Documentation (docs.aws.amazon.com/whitepapers/latest/aws-overview/compute-services.html).</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Automating the software-delivery lifecycle on AWS</a:t>
            </a:r>
          </a:p>
          <a:p>
            <a:r>
              <a:t>Illustration created for this course with AI image generation (ImageGen).</a:t>
            </a:r>
          </a:p>
          <a:p/>
          <a:p>
            <a:r>
              <a:t>[Sources]</a:t>
            </a:r>
          </a:p>
          <a:p>
            <a:r>
              <a:t>- Legacy course deck: WSQ Master Trainer Slides — DevOps Engineering on AWS (v7).</a:t>
            </a:r>
          </a:p>
        </p:txBody>
      </p:sp>
      <p:sp>
        <p:nvSpPr>
          <p:cNvPr id="4" name="Slide Number Placeholder 3"/>
          <p:cNvSpPr>
            <a:spLocks noGrp="1"/>
          </p:cNvSpPr>
          <p:nvPr>
            <p:ph type="sldNum" idx="5" sz="quarter"/>
          </p:nvPr>
        </p:nvSpPr>
        <p:spPr/>
      </p:sp>
    </p:spTree>
  </p:cSld>
  <p:clrMapOvr>
    <a:masterClrMapping/>
  </p:clrMapOvr>
</p:notes>
</file>

<file path=ppt/notesSlides/notesSlide1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Key concepts for Domain 01 — SDLC Automation.</a:t>
            </a:r>
          </a:p>
          <a:p>
            <a:r>
              <a:t>Continuous Integration: Developers push often; CodeBuild runs the build and tests on every commit so bugs are found early, not at release.</a:t>
            </a:r>
          </a:p>
          <a:p>
            <a:r>
              <a:t>Continuous Delivery / Deployment: Every green build is releasable; CodePipeline and CodeDeploy move it through dev → test → prod with approvals.</a:t>
            </a:r>
          </a:p>
          <a:p>
            <a:r>
              <a:t>The AWS developer tools: CodeCommit / CodeBuild / CodeDeploy / CodePipeline / CodeArtifact / CodeGuru compose the managed CI/CD toolchain.</a:t>
            </a:r>
          </a:p>
          <a:p>
            <a:r>
              <a:t>buildspec &amp; appspec: buildspec.yml tells CodeBuild what to build and test; appspec.yml tells CodeDeploy what and how to deploy.</a:t>
            </a:r>
          </a:p>
          <a:p>
            <a:r>
              <a:t>Deployment strategies: In-place, rolling, blue/green and canary trade release speed against blast radius and rollback safety.</a:t>
            </a:r>
          </a:p>
          <a:p>
            <a:r>
              <a:t>Artifacts: Build outputs are versioned in S3 / CodeArtifact so any release is reproducible and traceable.</a:t>
            </a:r>
          </a:p>
          <a:p/>
          <a:p>
            <a:r>
              <a:t>[Sources]</a:t>
            </a:r>
          </a:p>
          <a:p>
            <a:r>
              <a:t>- AWS Certified DevOps Engineer – Professional (DOP-C02) Exam Guide (docs.aws.amazon.com/pdfs/aws-certification/latest/devops-engineer-professional-02).</a:t>
            </a:r>
          </a:p>
          <a:p>
            <a:r>
              <a:t>- AWS CodePipeline Documentation (docs.aws.amazon.com/codepipeline).</a:t>
            </a:r>
          </a:p>
          <a:p>
            <a:r>
              <a:t>- Legacy course deck: WSQ Master Trainer Slides — DevOps Engineering on AWS (v7).</a:t>
            </a:r>
          </a:p>
        </p:txBody>
      </p:sp>
      <p:sp>
        <p:nvSpPr>
          <p:cNvPr id="4" name="Slide Number Placeholder 3"/>
          <p:cNvSpPr>
            <a:spLocks noGrp="1"/>
          </p:cNvSpPr>
          <p:nvPr>
            <p:ph type="sldNum" idx="5" sz="quarter"/>
          </p:nvPr>
        </p:nvSpPr>
        <p:spPr/>
      </p:sp>
    </p:spTree>
  </p:cSld>
  <p:clrMapOvr>
    <a:masterClrMapping/>
  </p:clrMapOvr>
</p:notes>
</file>

<file path=ppt/notesSlides/notesSlide1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Deployment Strategy — Blast Radius vs Rollback Speed. What the data shows: Blue/green and canary minimise how many users a bad release can affect and let you roll back fastest.</a:t>
            </a:r>
          </a:p>
          <a:p>
            <a:r>
              <a:t>Figures are illustrative teaching values to convey the relationship, not measured benchmarks.</a:t>
            </a:r>
          </a:p>
        </p:txBody>
      </p:sp>
      <p:sp>
        <p:nvSpPr>
          <p:cNvPr id="4" name="Slide Number Placeholder 3"/>
          <p:cNvSpPr>
            <a:spLocks noGrp="1"/>
          </p:cNvSpPr>
          <p:nvPr>
            <p:ph type="sldNum" idx="5" sz="quarter"/>
          </p:nvPr>
        </p:nvSpPr>
        <p:spPr/>
      </p:sp>
    </p:spTree>
  </p:cSld>
  <p:clrMapOvr>
    <a:masterClrMapping/>
  </p:clrMapOvr>
</p:notes>
</file>

<file path=ppt/notesSlides/notesSlide1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Domain 01 deep dive — SDLC Automation. Editable AWS-native diagram/table/chart.</a:t>
            </a:r>
          </a:p>
          <a:p/>
          <a:p>
            <a:r>
              <a:t>[Sources]</a:t>
            </a:r>
          </a:p>
          <a:p>
            <a:r>
              <a:t>- AWS Certified DevOps Engineer – Professional (DOP-C02) Exam Guide (docs.aws.amazon.com/pdfs/aws-certification/latest/devops-engineer-professional-02).</a:t>
            </a:r>
          </a:p>
          <a:p>
            <a:r>
              <a:t>- AWS CodePipeline Documentation (docs.aws.amazon.com/codepipeline).</a:t>
            </a:r>
          </a:p>
          <a:p>
            <a:r>
              <a:t>- Legacy course deck: WSQ Master Trainer Slides — DevOps Engineering on AWS (v7).</a:t>
            </a:r>
          </a:p>
        </p:txBody>
      </p:sp>
      <p:sp>
        <p:nvSpPr>
          <p:cNvPr id="4" name="Slide Number Placeholder 3"/>
          <p:cNvSpPr>
            <a:spLocks noGrp="1"/>
          </p:cNvSpPr>
          <p:nvPr>
            <p:ph type="sldNum" idx="5" sz="quarter"/>
          </p:nvPr>
        </p:nvSpPr>
        <p:spPr/>
      </p:sp>
    </p:spTree>
  </p:cSld>
  <p:clrMapOvr>
    <a:masterClrMapping/>
  </p:clrMapOvr>
</p:notes>
</file>

<file path=ppt/notesSlides/notesSlide1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Domain 01 deep dive — SDLC Automation. Editable AWS-native diagram/table/chart.</a:t>
            </a:r>
          </a:p>
          <a:p/>
          <a:p>
            <a:r>
              <a:t>[Sources]</a:t>
            </a:r>
          </a:p>
          <a:p>
            <a:r>
              <a:t>- AWS Certified DevOps Engineer – Professional (DOP-C02) Exam Guide (docs.aws.amazon.com/pdfs/aws-certification/latest/devops-engineer-professional-02).</a:t>
            </a:r>
          </a:p>
          <a:p>
            <a:r>
              <a:t>- AWS CodePipeline Documentation (docs.aws.amazon.com/codepipeline).</a:t>
            </a:r>
          </a:p>
          <a:p>
            <a:r>
              <a:t>- Legacy course deck: WSQ Master Trainer Slides — DevOps Engineering on AWS (v7).</a:t>
            </a:r>
          </a:p>
        </p:txBody>
      </p:sp>
      <p:sp>
        <p:nvSpPr>
          <p:cNvPr id="4" name="Slide Number Placeholder 3"/>
          <p:cNvSpPr>
            <a:spLocks noGrp="1"/>
          </p:cNvSpPr>
          <p:nvPr>
            <p:ph type="sldNum" idx="5" sz="quarter"/>
          </p:nvPr>
        </p:nvSpPr>
        <p:spPr/>
      </p:sp>
    </p:spTree>
  </p:cSld>
  <p:clrMapOvr>
    <a:masterClrMapping/>
  </p:clrMapOvr>
</p:notes>
</file>

<file path=ppt/notesSlides/notesSlide1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Domain 01 deep dive — SDLC Automation. Editable AWS-native diagram/table/chart.</a:t>
            </a:r>
          </a:p>
          <a:p/>
          <a:p>
            <a:r>
              <a:t>[Sources]</a:t>
            </a:r>
          </a:p>
          <a:p>
            <a:r>
              <a:t>- AWS Certified DevOps Engineer – Professional (DOP-C02) Exam Guide (docs.aws.amazon.com/pdfs/aws-certification/latest/devops-engineer-professional-02).</a:t>
            </a:r>
          </a:p>
          <a:p>
            <a:r>
              <a:t>- AWS CodePipeline Documentation (docs.aws.amazon.com/codepipeline).</a:t>
            </a:r>
          </a:p>
          <a:p>
            <a:r>
              <a:t>- Legacy course deck: WSQ Master Trainer Slides — DevOps Engineering on AWS (v7).</a:t>
            </a:r>
          </a:p>
        </p:txBody>
      </p:sp>
      <p:sp>
        <p:nvSpPr>
          <p:cNvPr id="4" name="Slide Number Placeholder 3"/>
          <p:cNvSpPr>
            <a:spLocks noGrp="1"/>
          </p:cNvSpPr>
          <p:nvPr>
            <p:ph type="sldNum" idx="5" sz="quarter"/>
          </p:nvPr>
        </p:nvSpPr>
        <p:spPr/>
      </p:sp>
    </p:spTree>
  </p:cSld>
  <p:clrMapOvr>
    <a:masterClrMapping/>
  </p:clrMapOvr>
</p:notes>
</file>

<file path=ppt/notesSlides/notesSlide2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Domain 01 deep dive — SDLC Automation. Editable AWS-native diagram/table/chart.</a:t>
            </a:r>
          </a:p>
          <a:p/>
          <a:p>
            <a:r>
              <a:t>[Sources]</a:t>
            </a:r>
          </a:p>
          <a:p>
            <a:r>
              <a:t>- AWS Certified DevOps Engineer – Professional (DOP-C02) Exam Guide (docs.aws.amazon.com/pdfs/aws-certification/latest/devops-engineer-professional-02).</a:t>
            </a:r>
          </a:p>
          <a:p>
            <a:r>
              <a:t>- AWS CodePipeline Documentation (docs.aws.amazon.com/codepipeline).</a:t>
            </a:r>
          </a:p>
          <a:p>
            <a:r>
              <a:t>- Legacy course deck: WSQ Master Trainer Slides — DevOps Engineering on AWS (v7).</a:t>
            </a:r>
          </a:p>
        </p:txBody>
      </p:sp>
      <p:sp>
        <p:nvSpPr>
          <p:cNvPr id="4" name="Slide Number Placeholder 3"/>
          <p:cNvSpPr>
            <a:spLocks noGrp="1"/>
          </p:cNvSpPr>
          <p:nvPr>
            <p:ph type="sldNum" idx="5" sz="quarter"/>
          </p:nvPr>
        </p:nvSpPr>
        <p:spPr/>
      </p:sp>
    </p:spTree>
  </p:cSld>
  <p:clrMapOvr>
    <a:masterClrMapping/>
  </p:clrMapOvr>
</p:notes>
</file>

<file path=ppt/notesSlides/notesSlide2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Domain 01 deep dive — SDLC Automation. Editable AWS-native diagram/table/chart.</a:t>
            </a:r>
          </a:p>
          <a:p/>
          <a:p>
            <a:r>
              <a:t>[Sources]</a:t>
            </a:r>
          </a:p>
          <a:p>
            <a:r>
              <a:t>- AWS Certified DevOps Engineer – Professional (DOP-C02) Exam Guide (docs.aws.amazon.com/pdfs/aws-certification/latest/devops-engineer-professional-02).</a:t>
            </a:r>
          </a:p>
          <a:p>
            <a:r>
              <a:t>- AWS CodePipeline Documentation (docs.aws.amazon.com/codepipeline).</a:t>
            </a:r>
          </a:p>
          <a:p>
            <a:r>
              <a:t>- Legacy course deck: WSQ Master Trainer Slides — DevOps Engineering on AWS (v7).</a:t>
            </a:r>
          </a:p>
        </p:txBody>
      </p:sp>
      <p:sp>
        <p:nvSpPr>
          <p:cNvPr id="4" name="Slide Number Placeholder 3"/>
          <p:cNvSpPr>
            <a:spLocks noGrp="1"/>
          </p:cNvSpPr>
          <p:nvPr>
            <p:ph type="sldNum" idx="5" sz="quarter"/>
          </p:nvPr>
        </p:nvSpPr>
        <p:spPr/>
      </p:sp>
    </p:spTree>
  </p:cSld>
  <p:clrMapOvr>
    <a:masterClrMapping/>
  </p:clrMapOvr>
</p:notes>
</file>

<file path=ppt/notesSlides/notesSlide2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Domain 01 deep dive — SDLC Automation. Editable AWS-native diagram/table/chart.</a:t>
            </a:r>
          </a:p>
          <a:p/>
          <a:p>
            <a:r>
              <a:t>[Sources]</a:t>
            </a:r>
          </a:p>
          <a:p>
            <a:r>
              <a:t>- AWS Certified DevOps Engineer – Professional (DOP-C02) Exam Guide (docs.aws.amazon.com/pdfs/aws-certification/latest/devops-engineer-professional-02).</a:t>
            </a:r>
          </a:p>
          <a:p>
            <a:r>
              <a:t>- AWS CodePipeline Documentation (docs.aws.amazon.com/codepipeline).</a:t>
            </a:r>
          </a:p>
          <a:p>
            <a:r>
              <a:t>- Legacy course deck: WSQ Master Trainer Slides — DevOps Engineering on AWS (v7).</a:t>
            </a:r>
          </a:p>
        </p:txBody>
      </p:sp>
      <p:sp>
        <p:nvSpPr>
          <p:cNvPr id="4" name="Slide Number Placeholder 3"/>
          <p:cNvSpPr>
            <a:spLocks noGrp="1"/>
          </p:cNvSpPr>
          <p:nvPr>
            <p:ph type="sldNum" idx="5" sz="quarter"/>
          </p:nvPr>
        </p:nvSpPr>
        <p:spPr/>
      </p:sp>
    </p:spTree>
  </p:cSld>
  <p:clrMapOvr>
    <a:masterClrMapping/>
  </p:clrMapOvr>
</p:notes>
</file>

<file path=ppt/notesSlides/notesSlide2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Continuous Integration — mechanics, not just merging.</a:t>
            </a:r>
          </a:p>
          <a:p>
            <a:r>
              <a:t>Why it matters: Small, frequent integrations keep the merge delta tiny, so defects are cheap to locate and revert — the opposite of a painful 'big-bang' integration before release.</a:t>
            </a:r>
          </a:p>
          <a:p>
            <a:r>
              <a:t>Failure mode: Long-lived feature branches that integrate weekly recreate the very merge-hell CI exists to prevent; the build stays green only because nothing is really being integrated.</a:t>
            </a:r>
          </a:p>
          <a:p>
            <a:r>
              <a:t>Trade-off: Faster feedback needs fast builds — split slow suites into parallel CodeBuild batches or later pipeline stages so the commit-stage stays under ~10 minutes.</a:t>
            </a:r>
          </a:p>
          <a:p/>
          <a:p>
            <a:r>
              <a:t>[Sources]</a:t>
            </a:r>
          </a:p>
          <a:p>
            <a:r>
              <a:t>- AWS Certified DevOps Engineer – Professional (DOP-C02) Exam Guide (docs.aws.amazon.com/pdfs/aws-certification/latest/devops-engineer-professional-02).</a:t>
            </a:r>
          </a:p>
          <a:p>
            <a:r>
              <a:t>- AWS CodeBuild Documentation (docs.aws.amazon.com/codebuild).</a:t>
            </a:r>
          </a:p>
          <a:p>
            <a:r>
              <a:t>- DORA / Google Cloud, Accelerate State of DevOps (dora.dev).</a:t>
            </a:r>
          </a:p>
        </p:txBody>
      </p:sp>
      <p:sp>
        <p:nvSpPr>
          <p:cNvPr id="4" name="Slide Number Placeholder 3"/>
          <p:cNvSpPr>
            <a:spLocks noGrp="1"/>
          </p:cNvSpPr>
          <p:nvPr>
            <p:ph type="sldNum" idx="5" sz="quarter"/>
          </p:nvPr>
        </p:nvSpPr>
        <p:spPr/>
      </p:sp>
    </p:spTree>
  </p:cSld>
  <p:clrMapOvr>
    <a:masterClrMapping/>
  </p:clrMapOvr>
</p:notes>
</file>

<file path=ppt/notesSlides/notesSlide2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Continuous Delivery vs Continuous Deployment.</a:t>
            </a:r>
          </a:p>
          <a:p>
            <a:r>
              <a:t>Why it matters: Delivery gives regulated or high-blast-radius teams a control point; Deployment gives high-trust teams maximum flow once automated tests and progressive rollout make failures cheap.</a:t>
            </a:r>
          </a:p>
          <a:p>
            <a:r>
              <a:t>Failure mode: Adopting Continuous Deployment before you have strong automated tests and fast rollback turns the pipeline into an automated way to ship bugs to customers.</a:t>
            </a:r>
          </a:p>
          <a:p>
            <a:r>
              <a:t>Trade-off: An approval gate adds safety but also queueing delay and 'rubber-stamp' risk — reserve manual approval for genuinely irreversible or compliance-driven steps.</a:t>
            </a:r>
          </a:p>
          <a:p/>
          <a:p>
            <a:r>
              <a:t>[Sources]</a:t>
            </a:r>
          </a:p>
          <a:p>
            <a:r>
              <a:t>- AWS Certified DevOps Engineer – Professional (DOP-C02) Exam Guide (docs.aws.amazon.com/pdfs/aws-certification/latest/devops-engineer-professional-02).</a:t>
            </a:r>
          </a:p>
          <a:p>
            <a:r>
              <a:t>- AWS CodePipeline Documentation (docs.aws.amazon.com/codepipeline).</a:t>
            </a:r>
          </a:p>
          <a:p>
            <a:r>
              <a:t>- DORA / Google Cloud, Accelerate State of DevOps (dora.dev).</a:t>
            </a:r>
          </a:p>
        </p:txBody>
      </p:sp>
      <p:sp>
        <p:nvSpPr>
          <p:cNvPr id="4" name="Slide Number Placeholder 3"/>
          <p:cNvSpPr>
            <a:spLocks noGrp="1"/>
          </p:cNvSpPr>
          <p:nvPr>
            <p:ph type="sldNum" idx="5" sz="quarter"/>
          </p:nvPr>
        </p:nvSpPr>
        <p:spPr/>
      </p:sp>
    </p:spTree>
  </p:cSld>
  <p:clrMapOvr>
    <a:masterClrMapping/>
  </p:clrMapOvr>
</p:notes>
</file>

<file path=ppt/notesSlides/notesSlide2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Source control as the pipeline trigger — GitHub via CodeConnections.</a:t>
            </a:r>
          </a:p>
          <a:p>
            <a:r>
              <a:t>Why it matters: CodeConnections removes long-lived Git credentials from the pipeline and lets teams keep their existing GitHub workflow, reviews and branch protection.</a:t>
            </a:r>
          </a:p>
          <a:p>
            <a:r>
              <a:t>Failure mode: Polling a repository instead of using the connection's webhook adds minutes of latency and can miss rapid successive commits.</a:t>
            </a:r>
          </a:p>
          <a:p>
            <a:r>
              <a:t>Trade-off: Managed connections centralise trust in one integration — scope its permissions and monitor CodeConnections access as part of your security posture.</a:t>
            </a:r>
          </a:p>
          <a:p/>
          <a:p>
            <a:r>
              <a:t>[Sources]</a:t>
            </a:r>
          </a:p>
          <a:p>
            <a:r>
              <a:t>- AWS Certified DevOps Engineer – Professional (DOP-C02) Exam Guide (docs.aws.amazon.com/pdfs/aws-certification/latest/devops-engineer-professional-02).</a:t>
            </a:r>
          </a:p>
          <a:p>
            <a:r>
              <a:t>- AWS CodeConnections Documentation (docs.aws.amazon.com/dtconsole/latest/userguide/welcome-connections.html).</a:t>
            </a:r>
          </a:p>
          <a:p>
            <a:r>
              <a:t>- Legacy course deck: WSQ Master Trainer Slides — DevOps Engineering on AWS (v7).</a:t>
            </a:r>
          </a:p>
        </p:txBody>
      </p:sp>
      <p:sp>
        <p:nvSpPr>
          <p:cNvPr id="4" name="Slide Number Placeholder 3"/>
          <p:cNvSpPr>
            <a:spLocks noGrp="1"/>
          </p:cNvSpPr>
          <p:nvPr>
            <p:ph type="sldNum" idx="5" sz="quarter"/>
          </p:nvPr>
        </p:nvSpPr>
        <p:spPr/>
      </p:sp>
    </p:spTree>
  </p:cSld>
  <p:clrMapOvr>
    <a:masterClrMapping/>
  </p:clrMapOvr>
</p:notes>
</file>

<file path=ppt/notesSlides/notesSlide2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buildspec.yml — teaching CodeBuild your build.</a:t>
            </a:r>
          </a:p>
          <a:p>
            <a:r>
              <a:t>Why it matters: A declarative build spec makes the build reproducible and reviewable in code review, and identical across every developer and the pipeline.</a:t>
            </a:r>
          </a:p>
          <a:p>
            <a:r>
              <a:t>Failure mode: Baking credentials or environment-specific values into buildspec.yml couples the artifact to one environment and leaks secrets into logs.</a:t>
            </a:r>
          </a:p>
          <a:p>
            <a:r>
              <a:t>Trade-off: Rich caching (dependencies, layers) speeds builds but can hide dependency drift — pin versions and periodically build clean.</a:t>
            </a:r>
          </a:p>
          <a:p/>
          <a:p>
            <a:r>
              <a:t>[Sources]</a:t>
            </a:r>
          </a:p>
          <a:p>
            <a:r>
              <a:t>- AWS CodeBuild buildspec Documentation (docs.aws.amazon.com/codebuild/latest/userguide/build-spec-ref.html).</a:t>
            </a:r>
          </a:p>
          <a:p>
            <a:r>
              <a:t>- AWS Certified DevOps Engineer – Professional (DOP-C02) Exam Guide (docs.aws.amazon.com/pdfs/aws-certification/latest/devops-engineer-professional-02).</a:t>
            </a:r>
          </a:p>
        </p:txBody>
      </p:sp>
      <p:sp>
        <p:nvSpPr>
          <p:cNvPr id="4" name="Slide Number Placeholder 3"/>
          <p:cNvSpPr>
            <a:spLocks noGrp="1"/>
          </p:cNvSpPr>
          <p:nvPr>
            <p:ph type="sldNum" idx="5" sz="quarter"/>
          </p:nvPr>
        </p:nvSpPr>
        <p:spPr/>
      </p:sp>
    </p:spTree>
  </p:cSld>
  <p:clrMapOvr>
    <a:masterClrMapping/>
  </p:clrMapOvr>
</p:notes>
</file>

<file path=ppt/notesSlides/notesSlide2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appspec + deployment lifecycle hooks.</a:t>
            </a:r>
          </a:p>
          <a:p>
            <a:r>
              <a:t>Why it matters: Lifecycle hooks turn 'copy files' into a safe, verifiable release with an explicit go/no-go check before the deployment is declared successful.</a:t>
            </a:r>
          </a:p>
          <a:p>
            <a:r>
              <a:t>Failure mode: A ValidateService hook that always exits 0 defeats automated rollback — a broken release is reported as healthy.</a:t>
            </a:r>
          </a:p>
          <a:p>
            <a:r>
              <a:t>Trade-off: Longer validation windows catch more problems but slow each deployment and hold the fleet in a mixed-version state.</a:t>
            </a:r>
          </a:p>
          <a:p/>
          <a:p>
            <a:r>
              <a:t>[Sources]</a:t>
            </a:r>
          </a:p>
          <a:p>
            <a:r>
              <a:t>- AWS CodeDeploy appspec Documentation (docs.aws.amazon.com/codedeploy/latest/userguide/reference-appspec-file.html).</a:t>
            </a:r>
          </a:p>
          <a:p>
            <a:r>
              <a:t>- AWS Certified DevOps Engineer – Professional (DOP-C02) Exam Guide (docs.aws.amazon.com/pdfs/aws-certification/latest/devops-engineer-professional-02).</a:t>
            </a:r>
          </a:p>
        </p:txBody>
      </p:sp>
      <p:sp>
        <p:nvSpPr>
          <p:cNvPr id="4" name="Slide Number Placeholder 3"/>
          <p:cNvSpPr>
            <a:spLocks noGrp="1"/>
          </p:cNvSpPr>
          <p:nvPr>
            <p:ph type="sldNum" idx="5" sz="quarter"/>
          </p:nvPr>
        </p:nvSpPr>
        <p:spPr/>
      </p:sp>
    </p:spTree>
  </p:cSld>
  <p:clrMapOvr>
    <a:masterClrMapping/>
  </p:clrMapOvr>
</p:notes>
</file>

<file path=ppt/notesSlides/notesSlide2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Artifacts, versioning and traceability.</a:t>
            </a:r>
          </a:p>
          <a:p>
            <a:r>
              <a:t>Why it matters: Immutable, versioned artifacts make releases reproducible and auditable — essential for incident forensics and compliance evidence.</a:t>
            </a:r>
          </a:p>
          <a:p>
            <a:r>
              <a:t>Failure mode: Rebuilding from source on rollback can pull newer dependencies and reintroduce or mask the very fault you are rolling back from.</a:t>
            </a:r>
          </a:p>
          <a:p>
            <a:r>
              <a:t>Trade-off: Retaining every artifact aids traceability but grows storage cost — apply S3 lifecycle rules to age out old, unreferenced builds.</a:t>
            </a:r>
          </a:p>
          <a:p/>
          <a:p>
            <a:r>
              <a:t>[Sources]</a:t>
            </a:r>
          </a:p>
          <a:p>
            <a:r>
              <a:t>- AWS CodeArtifact Documentation (docs.aws.amazon.com/codeartifact).</a:t>
            </a:r>
          </a:p>
          <a:p>
            <a:r>
              <a:t>- AWS S3 versioning Documentation (docs.aws.amazon.com/AmazonS3/latest/userguide/Versioning.html).</a:t>
            </a:r>
          </a:p>
          <a:p>
            <a:r>
              <a:t>- AWS Certified DevOps Engineer – Professional (DOP-C02) Exam Guide (docs.aws.amazon.com/pdfs/aws-certification/latest/devops-engineer-professional-02).</a:t>
            </a:r>
          </a:p>
        </p:txBody>
      </p:sp>
      <p:sp>
        <p:nvSpPr>
          <p:cNvPr id="4" name="Slide Number Placeholder 3"/>
          <p:cNvSpPr>
            <a:spLocks noGrp="1"/>
          </p:cNvSpPr>
          <p:nvPr>
            <p:ph type="sldNum" idx="5" sz="quarter"/>
          </p:nvPr>
        </p:nvSpPr>
        <p:spPr/>
      </p:sp>
    </p:spTree>
  </p:cSld>
  <p:clrMapOvr>
    <a:masterClrMapping/>
  </p:clrMapOvr>
</p:notes>
</file>

<file path=ppt/notesSlides/notesSlide2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Automated testing and quality gates in the pipeline.</a:t>
            </a:r>
          </a:p>
          <a:p>
            <a:r>
              <a:t>Why it matters: Shifting testing left catches defects when they are cheapest to fix and keeps the mainline releasable at all times.</a:t>
            </a:r>
          </a:p>
          <a:p>
            <a:r>
              <a:t>Failure mode: Flaky tests train the team to ignore red builds; a pipeline everyone overrides provides no protection at all.</a:t>
            </a:r>
          </a:p>
          <a:p>
            <a:r>
              <a:t>Trade-off: More gates raise confidence but lengthen lead time — order them fast-to-slow and fail fast on the cheapest checks.</a:t>
            </a:r>
          </a:p>
          <a:p/>
          <a:p>
            <a:r>
              <a:t>[Sources]</a:t>
            </a:r>
          </a:p>
          <a:p>
            <a:r>
              <a:t>- AWS CodeGuru Documentation (docs.aws.amazon.com/codeguru).</a:t>
            </a:r>
          </a:p>
          <a:p>
            <a:r>
              <a:t>- DORA / Google Cloud, Accelerate State of DevOps (dora.dev).</a:t>
            </a:r>
          </a:p>
          <a:p>
            <a:r>
              <a:t>- AWS Certified DevOps Engineer – Professional (DOP-C02) Exam Guide (docs.aws.amazon.com/pdfs/aws-certification/latest/devops-engineer-professional-02).</a:t>
            </a:r>
          </a:p>
        </p:txBody>
      </p:sp>
      <p:sp>
        <p:nvSpPr>
          <p:cNvPr id="4" name="Slide Number Placeholder 3"/>
          <p:cNvSpPr>
            <a:spLocks noGrp="1"/>
          </p:cNvSpPr>
          <p:nvPr>
            <p:ph type="sldNum" idx="5" sz="quarter"/>
          </p:nvPr>
        </p:nvSpPr>
        <p:spPr/>
      </p:sp>
    </p:spTree>
  </p:cSld>
  <p:clrMapOvr>
    <a:masterClrMapping/>
  </p:clrMapOvr>
</p:notes>
</file>

<file path=ppt/notesSlides/notesSlide3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Choosing a deployment strategy by blast radius.</a:t>
            </a:r>
          </a:p>
          <a:p>
            <a:r>
              <a:t>Why it matters: Matching the strategy to the change's risk lets you trade release speed against how many users a bad release can touch.</a:t>
            </a:r>
          </a:p>
          <a:p>
            <a:r>
              <a:t>Failure mode: Blue/green without draining connections or warming caches can still cause a visible blip at cut-over.</a:t>
            </a:r>
          </a:p>
          <a:p>
            <a:r>
              <a:t>Trade-off: Blue/green needs roughly double capacity during the shift; canary needs good metrics and automated alarms to be safe.</a:t>
            </a:r>
          </a:p>
          <a:p/>
          <a:p>
            <a:r>
              <a:t>[Sources]</a:t>
            </a:r>
          </a:p>
          <a:p>
            <a:r>
              <a:t>- AWS CodeDeploy deployment configs Documentation (docs.aws.amazon.com/codedeploy/latest/userguide/deployment-configurations.html).</a:t>
            </a:r>
          </a:p>
          <a:p>
            <a:r>
              <a:t>- AWS Certified DevOps Engineer – Professional (DOP-C02) Exam Guide (docs.aws.amazon.com/pdfs/aws-certification/latest/devops-engineer-professional-02).</a:t>
            </a:r>
          </a:p>
          <a:p>
            <a:r>
              <a:t>- AWS Well-Architected Framework (docs.aws.amazon.com/wellarchitected).</a:t>
            </a:r>
          </a:p>
        </p:txBody>
      </p:sp>
      <p:sp>
        <p:nvSpPr>
          <p:cNvPr id="4" name="Slide Number Placeholder 3"/>
          <p:cNvSpPr>
            <a:spLocks noGrp="1"/>
          </p:cNvSpPr>
          <p:nvPr>
            <p:ph type="sldNum" idx="5" sz="quarter"/>
          </p:nvPr>
        </p:nvSpPr>
        <p:spPr/>
      </p:sp>
    </p:spTree>
  </p:cSld>
  <p:clrMapOvr>
    <a:masterClrMapping/>
  </p:clrMapOvr>
</p:notes>
</file>

<file path=ppt/notesSlides/notesSlide3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Pipeline structure — stages, actions and promotion.</a:t>
            </a:r>
          </a:p>
          <a:p>
            <a:r>
              <a:t>Why it matters: Modelling promotion explicitly gives a single, auditable path to production and prevents 'works in staging, different build in prod' drift.</a:t>
            </a:r>
          </a:p>
          <a:p>
            <a:r>
              <a:t>Failure mode: Rebuilding per environment breaks the guarantee that what you tested is what you shipped.</a:t>
            </a:r>
          </a:p>
          <a:p>
            <a:r>
              <a:t>Trade-off: More environments raise confidence but add cost and lead time — keep pre-prod as production-like as budget allows.</a:t>
            </a:r>
          </a:p>
          <a:p/>
          <a:p>
            <a:r>
              <a:t>[Sources]</a:t>
            </a:r>
          </a:p>
          <a:p>
            <a:r>
              <a:t>- AWS CodePipeline structure Documentation (docs.aws.amazon.com/codepipeline/latest/userguide/reference-pipeline-structure.html).</a:t>
            </a:r>
          </a:p>
          <a:p>
            <a:r>
              <a:t>- AWS Certified DevOps Engineer – Professional (DOP-C02) Exam Guide (docs.aws.amazon.com/pdfs/aws-certification/latest/devops-engineer-professional-02).</a:t>
            </a:r>
          </a:p>
        </p:txBody>
      </p:sp>
      <p:sp>
        <p:nvSpPr>
          <p:cNvPr id="4" name="Slide Number Placeholder 3"/>
          <p:cNvSpPr>
            <a:spLocks noGrp="1"/>
          </p:cNvSpPr>
          <p:nvPr>
            <p:ph type="sldNum" idx="5" sz="quarter"/>
          </p:nvPr>
        </p:nvSpPr>
        <p:spPr/>
      </p:sp>
    </p:spTree>
  </p:cSld>
  <p:clrMapOvr>
    <a:masterClrMapping/>
  </p:clrMapOvr>
</p:notes>
</file>

<file path=ppt/notesSlides/notesSlide3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Comparison — CI/CD Toolchain — AWS-native vs external.</a:t>
            </a:r>
          </a:p>
          <a:p/>
          <a:p>
            <a:r>
              <a:t>[Sources]</a:t>
            </a:r>
          </a:p>
          <a:p>
            <a:r>
              <a:t>- AWS CodeConnections Documentation (docs.aws.amazon.com/dtconsole/latest/userguide/welcome-connections.html).</a:t>
            </a:r>
          </a:p>
          <a:p>
            <a:r>
              <a:t>- AWS Certified DevOps Engineer – Professional (DOP-C02) Exam Guide (docs.aws.amazon.com/pdfs/aws-certification/latest/devops-engineer-professional-02).</a:t>
            </a:r>
          </a:p>
        </p:txBody>
      </p:sp>
      <p:sp>
        <p:nvSpPr>
          <p:cNvPr id="4" name="Slide Number Placeholder 3"/>
          <p:cNvSpPr>
            <a:spLocks noGrp="1"/>
          </p:cNvSpPr>
          <p:nvPr>
            <p:ph type="sldNum" idx="5" sz="quarter"/>
          </p:nvPr>
        </p:nvSpPr>
        <p:spPr/>
      </p:sp>
    </p:spTree>
  </p:cSld>
  <p:clrMapOvr>
    <a:masterClrMapping/>
  </p:clrMapOvr>
</p:notes>
</file>

<file path=ppt/notesSlides/notesSlide3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Pipeline Lead Time by Stage — Where the Minutes Go. What the data shows: Manual approval dominates lead time here — automate the checks it waits on so approval is a formality, not a bottleneck.</a:t>
            </a:r>
          </a:p>
          <a:p>
            <a:r>
              <a:t>Figures are illustrative teaching values to convey the relationship, not measured benchmarks.</a:t>
            </a:r>
          </a:p>
          <a:p/>
          <a:p>
            <a:r>
              <a:t>[Sources]</a:t>
            </a:r>
          </a:p>
          <a:p>
            <a:r>
              <a:t>- DORA / Google Cloud, Accelerate State of DevOps (dora.dev).</a:t>
            </a:r>
          </a:p>
          <a:p>
            <a:r>
              <a:t>- AWS Certified DevOps Engineer – Professional (DOP-C02) Exam Guide (docs.aws.amazon.com/pdfs/aws-certification/latest/devops-engineer-professional-02).</a:t>
            </a:r>
          </a:p>
        </p:txBody>
      </p:sp>
      <p:sp>
        <p:nvSpPr>
          <p:cNvPr id="4" name="Slide Number Placeholder 3"/>
          <p:cNvSpPr>
            <a:spLocks noGrp="1"/>
          </p:cNvSpPr>
          <p:nvPr>
            <p:ph type="sldNum" idx="5" sz="quarter"/>
          </p:nvPr>
        </p:nvSpPr>
        <p:spPr/>
      </p:sp>
    </p:spTree>
  </p:cSld>
  <p:clrMapOvr>
    <a:masterClrMapping/>
  </p:clrMapOvr>
</p:notes>
</file>

<file path=ppt/notesSlides/notesSlide3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CI/CD Failure Modes &amp; Anti-Patterns.</a:t>
            </a:r>
          </a:p>
          <a:p>
            <a:r>
              <a:t>Snowflake build agents — Builds pass locally, fail in CodeBuild → pin runtime-versions and build in clean containers.</a:t>
            </a:r>
          </a:p>
          <a:p>
            <a:r>
              <a:t>Secrets in source/logs — Keys committed or echoed → pull from Secrets Manager/SSM at build time; mask in logs.</a:t>
            </a:r>
          </a:p>
          <a:p>
            <a:r>
              <a:t>Flaky tests ignored — Red builds routinely overridden → quarantine and fix flaky tests; a gate you bypass is no gate.</a:t>
            </a:r>
          </a:p>
          <a:p>
            <a:r>
              <a:t>Rebuild on promotion — Different artifact per environment → build once, promote the same artifact.</a:t>
            </a:r>
          </a:p>
          <a:p>
            <a:r>
              <a:t>No automated rollback — Bad deploy needs a human at 2am → alarm-based rollback on CodeDeploy.</a:t>
            </a:r>
          </a:p>
          <a:p>
            <a:r>
              <a:t>Polling instead of webhooks — Slow, missed triggers → use the CodeConnections webhook.</a:t>
            </a:r>
          </a:p>
          <a:p/>
          <a:p>
            <a:r>
              <a:t>[Sources]</a:t>
            </a:r>
          </a:p>
          <a:p>
            <a:r>
              <a:t>- AWS Certified DevOps Engineer – Professional (DOP-C02) Exam Guide (docs.aws.amazon.com/pdfs/aws-certification/latest/devops-engineer-professional-02).</a:t>
            </a:r>
          </a:p>
          <a:p>
            <a:r>
              <a:t>- AWS CodeBuild Documentation (docs.aws.amazon.com/codebuild).</a:t>
            </a:r>
          </a:p>
          <a:p>
            <a:r>
              <a:t>- DORA / Google Cloud, Accelerate State of DevOps (dora.dev).</a:t>
            </a:r>
          </a:p>
        </p:txBody>
      </p:sp>
      <p:sp>
        <p:nvSpPr>
          <p:cNvPr id="4" name="Slide Number Placeholder 3"/>
          <p:cNvSpPr>
            <a:spLocks noGrp="1"/>
          </p:cNvSpPr>
          <p:nvPr>
            <p:ph type="sldNum" idx="5" sz="quarter"/>
          </p:nvPr>
        </p:nvSpPr>
        <p:spPr/>
      </p:sp>
    </p:spTree>
  </p:cSld>
  <p:clrMapOvr>
    <a:masterClrMapping/>
  </p:clrMapOvr>
</p:notes>
</file>

<file path=ppt/notesSlides/notesSlide3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Delivery Patterns Worth Adopting.</a:t>
            </a:r>
          </a:p>
          <a:p>
            <a:r>
              <a:t>Trunk-based development — Short-lived branches merged to trunk daily keep integration continuous.</a:t>
            </a:r>
          </a:p>
          <a:p>
            <a:r>
              <a:t>Build once, deploy many — One immutable artifact promoted across environments.</a:t>
            </a:r>
          </a:p>
          <a:p>
            <a:r>
              <a:t>Progressive delivery — Canary/blue-green with automated metric analysis before full rollout.</a:t>
            </a:r>
          </a:p>
          <a:p>
            <a:r>
              <a:t>Pipeline as code — Define the pipeline in CloudFormation/CDK so it is versioned and reviewable.</a:t>
            </a:r>
          </a:p>
          <a:p>
            <a:r>
              <a:t>Fail fast — Cheapest, fastest checks first; stop the line on first failure.</a:t>
            </a:r>
          </a:p>
          <a:p>
            <a:r>
              <a:t>Immutable infrastructure — Replace, don't patch, running servers.</a:t>
            </a:r>
          </a:p>
          <a:p/>
          <a:p>
            <a:r>
              <a:t>[Sources]</a:t>
            </a:r>
          </a:p>
          <a:p>
            <a:r>
              <a:t>- DORA / Google Cloud, Accelerate State of DevOps (dora.dev).</a:t>
            </a:r>
          </a:p>
          <a:p>
            <a:r>
              <a:t>- AWS Well-Architected Framework (docs.aws.amazon.com/wellarchitected).</a:t>
            </a:r>
          </a:p>
          <a:p>
            <a:r>
              <a:t>- AWS Certified DevOps Engineer – Professional (DOP-C02) Exam Guide (docs.aws.amazon.com/pdfs/aws-certification/latest/devops-engineer-professional-02).</a:t>
            </a:r>
          </a:p>
        </p:txBody>
      </p:sp>
      <p:sp>
        <p:nvSpPr>
          <p:cNvPr id="4" name="Slide Number Placeholder 3"/>
          <p:cNvSpPr>
            <a:spLocks noGrp="1"/>
          </p:cNvSpPr>
          <p:nvPr>
            <p:ph type="sldNum" idx="5" sz="quarter"/>
          </p:nvPr>
        </p:nvSpPr>
        <p:spPr/>
      </p:sp>
    </p:spTree>
  </p:cSld>
  <p:clrMapOvr>
    <a:masterClrMapping/>
  </p:clrMapOvr>
</p:notes>
</file>

<file path=ppt/notesSlides/notesSlide3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Architecture Decision — Approval Gate or Not?.</a:t>
            </a:r>
          </a:p>
          <a:p>
            <a:r>
              <a:t>Option A — Manual approval before prod: Regulated change, irreversible action, or immature test suite. Adds a control point and audit record — at the cost of queueing delay.</a:t>
            </a:r>
          </a:p>
          <a:p>
            <a:r>
              <a:t>Option B — Automated to prod: High test coverage, fast rollback and progressive rollout in place. Maximises flow — requires strong alarms and canary analysis.</a:t>
            </a:r>
          </a:p>
          <a:p>
            <a:r>
              <a:t>Option C — Hybrid: Auto-deploy low-risk services; gate high-blast-radius or data-migration changes. The common enterprise middle ground.</a:t>
            </a:r>
          </a:p>
          <a:p/>
          <a:p>
            <a:r>
              <a:t>[Sources]</a:t>
            </a:r>
          </a:p>
          <a:p>
            <a:r>
              <a:t>- AWS Certified DevOps Engineer – Professional (DOP-C02) Exam Guide (docs.aws.amazon.com/pdfs/aws-certification/latest/devops-engineer-professional-02).</a:t>
            </a:r>
          </a:p>
          <a:p>
            <a:r>
              <a:t>- DORA / Google Cloud, Accelerate State of DevOps (dora.dev).</a:t>
            </a:r>
          </a:p>
        </p:txBody>
      </p:sp>
      <p:sp>
        <p:nvSpPr>
          <p:cNvPr id="4" name="Slide Number Placeholder 3"/>
          <p:cNvSpPr>
            <a:spLocks noGrp="1"/>
          </p:cNvSpPr>
          <p:nvPr>
            <p:ph type="sldNum" idx="5" sz="quarter"/>
          </p:nvPr>
        </p:nvSpPr>
        <p:spPr/>
      </p:sp>
    </p:spTree>
  </p:cSld>
  <p:clrMapOvr>
    <a:masterClrMapping/>
  </p:clrMapOvr>
</p:notes>
</file>

<file path=ppt/notesSlides/notesSlide3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Scenario: A deployment passes all pipeline stages, but error rates climb 3 minutes after it reaches production.</a:t>
            </a:r>
          </a:p>
          <a:p>
            <a:r>
              <a:t>The build and unit tests were green, so the fault is environment- or scale-specific — exactly what canary analysis is designed to catch.</a:t>
            </a:r>
          </a:p>
          <a:p>
            <a:r>
              <a:t>Because releases use immutable, versioned artifacts, the last known-good build is one redeploy away.</a:t>
            </a:r>
          </a:p>
          <a:p>
            <a:r>
              <a:t>A CloudWatch alarm on error rate can trigger CodeDeploy's automatic rollback without waiting for a human.</a:t>
            </a:r>
          </a:p>
          <a:p>
            <a:r>
              <a:t>Decision: Wire an error-rate alarm to CodeDeploy auto-rollback and move this service to a canary configuration so the next bad change is caught at 5% of traffic, not 100%.</a:t>
            </a:r>
          </a:p>
          <a:p/>
          <a:p>
            <a:r>
              <a:t>[Sources]</a:t>
            </a:r>
          </a:p>
          <a:p>
            <a:r>
              <a:t>- AWS Certified DevOps Engineer – Professional (DOP-C02) Exam Guide (docs.aws.amazon.com/pdfs/aws-certification/latest/devops-engineer-professional-02).</a:t>
            </a:r>
          </a:p>
          <a:p>
            <a:r>
              <a:t>- AWS CodeDeploy rollback Documentation (docs.aws.amazon.com/codedeploy/latest/userguide/deployments-rollback-and-redeploy.html).</a:t>
            </a:r>
          </a:p>
        </p:txBody>
      </p:sp>
      <p:sp>
        <p:nvSpPr>
          <p:cNvPr id="4" name="Slide Number Placeholder 3"/>
          <p:cNvSpPr>
            <a:spLocks noGrp="1"/>
          </p:cNvSpPr>
          <p:nvPr>
            <p:ph type="sldNum" idx="5" sz="quarter"/>
          </p:nvPr>
        </p:nvSpPr>
        <p:spPr/>
      </p:sp>
    </p:spTree>
  </p:cSld>
  <p:clrMapOvr>
    <a:masterClrMapping/>
  </p:clrMapOvr>
</p:notes>
</file>

<file path=ppt/notesSlides/notesSlide3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Scenario: The commit-stage build takes 25 minutes; developers batch changes to avoid the wait, so integrations get large and risky.</a:t>
            </a:r>
          </a:p>
          <a:p>
            <a:r>
              <a:t>Slow feedback is pushing the team back towards big-bang integration — the DORA lead-time and batch-size signals both degrade.</a:t>
            </a:r>
          </a:p>
          <a:p>
            <a:r>
              <a:t>Test suites can be split and run in parallel CodeBuild projects; dependency caching removes repeated downloads.</a:t>
            </a:r>
          </a:p>
          <a:p>
            <a:r>
              <a:t>Slow end-to-end tests can move to a later stage so the commit stage stays fast.</a:t>
            </a:r>
          </a:p>
          <a:p>
            <a:r>
              <a:t>Decision: Target a sub-10-minute commit stage: parallelise tests, cache dependencies, and defer slow suites downstream so small, frequent merges become painless again.</a:t>
            </a:r>
          </a:p>
          <a:p/>
          <a:p>
            <a:r>
              <a:t>[Sources]</a:t>
            </a:r>
          </a:p>
          <a:p>
            <a:r>
              <a:t>- DORA / Google Cloud, Accelerate State of DevOps (dora.dev).</a:t>
            </a:r>
          </a:p>
          <a:p>
            <a:r>
              <a:t>- AWS CodeBuild Documentation (docs.aws.amazon.com/codebuild).</a:t>
            </a:r>
          </a:p>
        </p:txBody>
      </p:sp>
      <p:sp>
        <p:nvSpPr>
          <p:cNvPr id="4" name="Slide Number Placeholder 3"/>
          <p:cNvSpPr>
            <a:spLocks noGrp="1"/>
          </p:cNvSpPr>
          <p:nvPr>
            <p:ph type="sldNum" idx="5" sz="quarter"/>
          </p:nvPr>
        </p:nvSpPr>
        <p:spPr/>
      </p:sp>
    </p:spTree>
  </p:cSld>
  <p:clrMapOvr>
    <a:masterClrMapping/>
  </p:clrMapOvr>
</p:notes>
</file>

<file path=ppt/notesSlides/notesSlide3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Worked Analysis — Sizing the Impact of CI/CD.</a:t>
            </a:r>
          </a:p>
          <a:p>
            <a:r>
              <a:t>Before: 2 releases/month, 14-day lead time — Large batches; each release bundles ~150 changes, so failures are hard to isolate.</a:t>
            </a:r>
          </a:p>
          <a:p>
            <a:r>
              <a:t>After: 40 releases/month, ~1-day lead time — Small batches; each release is ~7 changes, so a regression is trivially bisected.</a:t>
            </a:r>
          </a:p>
          <a:p>
            <a:r>
              <a:t>Change-failure rate 30% → 10% — Automated gates catch defects pre-prod; progressive rollout limits blast radius.</a:t>
            </a:r>
          </a:p>
          <a:p>
            <a:r>
              <a:t>MTTR 8h → 1h — Versioned artifacts + alarm-based rollback make recovery a redeploy, not a rebuild.</a:t>
            </a:r>
          </a:p>
          <a:p>
            <a:r>
              <a:t>Takeaway: The gain is not just speed — smaller batches make every DORA metric move together: deploy more often, recover faster, fail less.</a:t>
            </a:r>
          </a:p>
          <a:p/>
          <a:p>
            <a:r>
              <a:t>[Sources]</a:t>
            </a:r>
          </a:p>
          <a:p>
            <a:r>
              <a:t>- DORA / Google Cloud, Accelerate State of DevOps (dora.dev).</a:t>
            </a:r>
          </a:p>
          <a:p>
            <a:r>
              <a:t>- AWS Certified DevOps Engineer – Professional (DOP-C02) Exam Guide (docs.aws.amazon.com/pdfs/aws-certification/latest/devops-engineer-professional-02).</a:t>
            </a:r>
          </a:p>
        </p:txBody>
      </p:sp>
      <p:sp>
        <p:nvSpPr>
          <p:cNvPr id="4" name="Slide Number Placeholder 3"/>
          <p:cNvSpPr>
            <a:spLocks noGrp="1"/>
          </p:cNvSpPr>
          <p:nvPr>
            <p:ph type="sldNum" idx="5" sz="quarter"/>
          </p:nvPr>
        </p:nvSpPr>
        <p:spPr/>
      </p:sp>
    </p:spTree>
  </p:cSld>
  <p:clrMapOvr>
    <a:masterClrMapping/>
  </p:clrMapOvr>
</p:notes>
</file>

<file path=ppt/notesSlides/notesSlide4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Lab 1 overview — Stand up a least-privilege AWS CLI/Git workspace and confirm your identity.</a:t>
            </a:r>
          </a:p>
          <a:p>
            <a:r>
              <a:t>Concept-led briefing only. The full detailed procedure, commands, expected outputs, validation and cleanup live in the Learner Guide and the lab README (not on the slides).</a:t>
            </a:r>
          </a:p>
          <a:p>
            <a:r>
              <a:t>Reference architecture: course-generated diagram for Lab 1.</a:t>
            </a:r>
          </a:p>
          <a:p/>
          <a:p>
            <a:r>
              <a:t>[Sources]</a:t>
            </a:r>
          </a:p>
          <a:p>
            <a:r>
              <a:t>- AWS Certified DevOps Engineer – Professional (DOP-C02) Exam Guide (docs.aws.amazon.com/pdfs/aws-certification/latest/devops-engineer-professional-02).</a:t>
            </a:r>
          </a:p>
          <a:p>
            <a:r>
              <a:t>- Legacy course deck: WSQ Master Trainer Slides — DevOps Engineering on AWS (v7).</a:t>
            </a:r>
          </a:p>
        </p:txBody>
      </p:sp>
      <p:sp>
        <p:nvSpPr>
          <p:cNvPr id="4" name="Slide Number Placeholder 3"/>
          <p:cNvSpPr>
            <a:spLocks noGrp="1"/>
          </p:cNvSpPr>
          <p:nvPr>
            <p:ph type="sldNum" idx="5" sz="quarter"/>
          </p:nvPr>
        </p:nvSpPr>
        <p:spPr/>
      </p:sp>
    </p:spTree>
  </p:cSld>
  <p:clrMapOvr>
    <a:masterClrMapping/>
  </p:clrMapOvr>
</p:notes>
</file>

<file path=ppt/notesSlides/notesSlide4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Lab 2 overview — Adopt a trunk-based Git workflow and connect the repository to AWS with CodeConnections.</a:t>
            </a:r>
          </a:p>
          <a:p>
            <a:r>
              <a:t>Concept-led briefing only. The full detailed procedure, commands, expected outputs, validation and cleanup live in the Learner Guide and the lab README (not on the slides).</a:t>
            </a:r>
          </a:p>
          <a:p>
            <a:r>
              <a:t>Reference architecture: course-generated diagram for Lab 2.</a:t>
            </a:r>
          </a:p>
          <a:p/>
          <a:p>
            <a:r>
              <a:t>[Sources]</a:t>
            </a:r>
          </a:p>
          <a:p>
            <a:r>
              <a:t>- AWS Certified DevOps Engineer – Professional (DOP-C02) Exam Guide (docs.aws.amazon.com/pdfs/aws-certification/latest/devops-engineer-professional-02).</a:t>
            </a:r>
          </a:p>
          <a:p>
            <a:r>
              <a:t>- Legacy course deck: WSQ Master Trainer Slides — DevOps Engineering on AWS (v7).</a:t>
            </a:r>
          </a:p>
        </p:txBody>
      </p:sp>
      <p:sp>
        <p:nvSpPr>
          <p:cNvPr id="4" name="Slide Number Placeholder 3"/>
          <p:cNvSpPr>
            <a:spLocks noGrp="1"/>
          </p:cNvSpPr>
          <p:nvPr>
            <p:ph type="sldNum" idx="5" sz="quarter"/>
          </p:nvPr>
        </p:nvSpPr>
        <p:spPr/>
      </p:sp>
    </p:spTree>
  </p:cSld>
  <p:clrMapOvr>
    <a:masterClrMapping/>
  </p:clrMapOvr>
</p:notes>
</file>

<file path=ppt/notesSlides/notesSlide4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Lab 3 overview — Author a buildspec and a CodeBuild project that automatically lints and tests the app.</a:t>
            </a:r>
          </a:p>
          <a:p>
            <a:r>
              <a:t>Concept-led briefing only. The full detailed procedure, commands, expected outputs, validation and cleanup live in the Learner Guide and the lab README (not on the slides).</a:t>
            </a:r>
          </a:p>
          <a:p>
            <a:r>
              <a:t>Reference architecture: course-generated diagram for Lab 3.</a:t>
            </a:r>
          </a:p>
          <a:p/>
          <a:p>
            <a:r>
              <a:t>[Sources]</a:t>
            </a:r>
          </a:p>
          <a:p>
            <a:r>
              <a:t>- AWS Certified DevOps Engineer – Professional (DOP-C02) Exam Guide (docs.aws.amazon.com/pdfs/aws-certification/latest/devops-engineer-professional-02).</a:t>
            </a:r>
          </a:p>
          <a:p>
            <a:r>
              <a:t>- Legacy course deck: WSQ Master Trainer Slides — DevOps Engineering on AWS (v7).</a:t>
            </a:r>
          </a:p>
        </p:txBody>
      </p:sp>
      <p:sp>
        <p:nvSpPr>
          <p:cNvPr id="4" name="Slide Number Placeholder 3"/>
          <p:cNvSpPr>
            <a:spLocks noGrp="1"/>
          </p:cNvSpPr>
          <p:nvPr>
            <p:ph type="sldNum" idx="5" sz="quarter"/>
          </p:nvPr>
        </p:nvSpPr>
        <p:spPr/>
      </p:sp>
    </p:spTree>
  </p:cSld>
  <p:clrMapOvr>
    <a:masterClrMapping/>
  </p:clrMapOvr>
</p:notes>
</file>

<file path=ppt/notesSlides/notesSlide4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Lab 4 overview — Extend the buildspec to package versioned artifacts and store them in an encrypted, versioned bucket.</a:t>
            </a:r>
          </a:p>
          <a:p>
            <a:r>
              <a:t>Concept-led briefing only. The full detailed procedure, commands, expected outputs, validation and cleanup live in the Learner Guide and the lab README (not on the slides).</a:t>
            </a:r>
          </a:p>
          <a:p>
            <a:r>
              <a:t>Reference architecture: course-generated diagram for Lab 4.</a:t>
            </a:r>
          </a:p>
          <a:p/>
          <a:p>
            <a:r>
              <a:t>[Sources]</a:t>
            </a:r>
          </a:p>
          <a:p>
            <a:r>
              <a:t>- AWS Certified DevOps Engineer – Professional (DOP-C02) Exam Guide (docs.aws.amazon.com/pdfs/aws-certification/latest/devops-engineer-professional-02).</a:t>
            </a:r>
          </a:p>
          <a:p>
            <a:r>
              <a:t>- Legacy course deck: WSQ Master Trainer Slides — DevOps Engineering on AWS (v7).</a:t>
            </a:r>
          </a:p>
        </p:txBody>
      </p:sp>
      <p:sp>
        <p:nvSpPr>
          <p:cNvPr id="4" name="Slide Number Placeholder 3"/>
          <p:cNvSpPr>
            <a:spLocks noGrp="1"/>
          </p:cNvSpPr>
          <p:nvPr>
            <p:ph type="sldNum" idx="5" sz="quarter"/>
          </p:nvPr>
        </p:nvSpPr>
        <p:spPr/>
      </p:sp>
    </p:spTree>
  </p:cSld>
  <p:clrMapOvr>
    <a:masterClrMapping/>
  </p:clrMapOvr>
</p:notes>
</file>

<file path=ppt/notesSlides/notesSlide4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Lab 5 overview — Wire an end-to-end pipeline with a manual approval gate, a deployment strategy and auto-rollback.</a:t>
            </a:r>
          </a:p>
          <a:p>
            <a:r>
              <a:t>Concept-led briefing only. The full detailed procedure, commands, expected outputs, validation and cleanup live in the Learner Guide and the lab README (not on the slides).</a:t>
            </a:r>
          </a:p>
          <a:p>
            <a:r>
              <a:t>Reference architecture: course-generated diagram for Lab 5.</a:t>
            </a:r>
          </a:p>
          <a:p/>
          <a:p>
            <a:r>
              <a:t>[Sources]</a:t>
            </a:r>
          </a:p>
          <a:p>
            <a:r>
              <a:t>- AWS Certified DevOps Engineer – Professional (DOP-C02) Exam Guide (docs.aws.amazon.com/pdfs/aws-certification/latest/devops-engineer-professional-02).</a:t>
            </a:r>
          </a:p>
          <a:p>
            <a:r>
              <a:t>- Legacy course deck: WSQ Master Trainer Slides — DevOps Engineering on AWS (v7).</a:t>
            </a:r>
          </a:p>
        </p:txBody>
      </p:sp>
      <p:sp>
        <p:nvSpPr>
          <p:cNvPr id="4" name="Slide Number Placeholder 3"/>
          <p:cNvSpPr>
            <a:spLocks noGrp="1"/>
          </p:cNvSpPr>
          <p:nvPr>
            <p:ph type="sldNum" idx="5" sz="quarter"/>
          </p:nvPr>
        </p:nvSpPr>
        <p:spPr/>
      </p:sp>
    </p:spTree>
  </p:cSld>
  <p:clrMapOvr>
    <a:masterClrMapping/>
  </p:clrMapOvr>
</p:notes>
</file>

<file path=ppt/notesSlides/notesSlide4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Recap of Domain 01 — SDLC Automation.</a:t>
            </a:r>
          </a:p>
          <a:p/>
          <a:p>
            <a:r>
              <a:t>[Sources]</a:t>
            </a:r>
          </a:p>
          <a:p>
            <a:r>
              <a:t>- AWS Certified DevOps Engineer – Professional (DOP-C02) Exam Guide (docs.aws.amazon.com/pdfs/aws-certification/latest/devops-engineer-professional-02).</a:t>
            </a:r>
          </a:p>
          <a:p>
            <a:r>
              <a:t>- AWS CodePipeline Documentation (docs.aws.amazon.com/codepipeline).</a:t>
            </a:r>
          </a:p>
          <a:p>
            <a:r>
              <a:t>- Legacy course deck: WSQ Master Trainer Slides — DevOps Engineering on AWS (v7).</a:t>
            </a:r>
          </a:p>
        </p:txBody>
      </p:sp>
      <p:sp>
        <p:nvSpPr>
          <p:cNvPr id="4" name="Slide Number Placeholder 3"/>
          <p:cNvSpPr>
            <a:spLocks noGrp="1"/>
          </p:cNvSpPr>
          <p:nvPr>
            <p:ph type="sldNum" idx="5" sz="quarter"/>
          </p:nvPr>
        </p:nvSpPr>
        <p:spPr/>
      </p:sp>
    </p:spTree>
  </p:cSld>
  <p:clrMapOvr>
    <a:masterClrMapping/>
  </p:clrMapOvr>
</p:notes>
</file>

<file path=ppt/notesSlides/notesSlide4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Key concepts for Domain 02 — Configuration Management and IaC.</a:t>
            </a:r>
          </a:p>
          <a:p>
            <a:r>
              <a:t>Infrastructure as Code: Declare infrastructure in version-controlled templates so environments are repeatable, reviewable and disposable.</a:t>
            </a:r>
          </a:p>
          <a:p>
            <a:r>
              <a:t>CloudFormation: Declarative JSON/YAML stacks with parameters, mappings, outputs, change sets, drift detection and automatic rollback.</a:t>
            </a:r>
          </a:p>
          <a:p>
            <a:r>
              <a:t>Reusable components: Nested stacks and modules parameterise a pattern once and reuse it across teams and Regions.</a:t>
            </a:r>
          </a:p>
          <a:p>
            <a:r>
              <a:t>CDK vs CloudFormation vs Terraform: CDK generates CloudFormation from real code; Terraform is multi-cloud — all describe desired state.</a:t>
            </a:r>
          </a:p>
          <a:p>
            <a:r>
              <a:t>Configuration management: Systems Manager (State Manager, Automation, Parameter Store) keeps running instances in their desired configuration.</a:t>
            </a:r>
          </a:p>
          <a:p>
            <a:r>
              <a:t>Multi-account &amp; multi-Region: Organizations, StackSets and Control Tower create, onboard and secure accounts at scale.</a:t>
            </a:r>
          </a:p>
          <a:p/>
          <a:p>
            <a:r>
              <a:t>[Sources]</a:t>
            </a:r>
          </a:p>
          <a:p>
            <a:r>
              <a:t>- AWS Certified DevOps Engineer – Professional (DOP-C02) Exam Guide (docs.aws.amazon.com/pdfs/aws-certification/latest/devops-engineer-professional-02).</a:t>
            </a:r>
          </a:p>
          <a:p>
            <a:r>
              <a:t>- AWS CloudFormation Documentation (docs.aws.amazon.com/cloudformation).</a:t>
            </a:r>
          </a:p>
          <a:p>
            <a:r>
              <a:t>- Legacy course deck: WSQ Master Trainer Slides — DevOps Engineering on AWS (v7).</a:t>
            </a:r>
          </a:p>
        </p:txBody>
      </p:sp>
      <p:sp>
        <p:nvSpPr>
          <p:cNvPr id="4" name="Slide Number Placeholder 3"/>
          <p:cNvSpPr>
            <a:spLocks noGrp="1"/>
          </p:cNvSpPr>
          <p:nvPr>
            <p:ph type="sldNum" idx="5" sz="quarter"/>
          </p:nvPr>
        </p:nvSpPr>
        <p:spPr/>
      </p:sp>
    </p:spTree>
  </p:cSld>
  <p:clrMapOvr>
    <a:masterClrMapping/>
  </p:clrMapOvr>
</p:notes>
</file>

<file path=ppt/notesSlides/notesSlide4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Domain 02 deep dive — Configuration Management and IaC. Editable AWS-native diagram/table/chart.</a:t>
            </a:r>
          </a:p>
          <a:p/>
          <a:p>
            <a:r>
              <a:t>[Sources]</a:t>
            </a:r>
          </a:p>
          <a:p>
            <a:r>
              <a:t>- AWS Certified DevOps Engineer – Professional (DOP-C02) Exam Guide (docs.aws.amazon.com/pdfs/aws-certification/latest/devops-engineer-professional-02).</a:t>
            </a:r>
          </a:p>
          <a:p>
            <a:r>
              <a:t>- AWS CloudFormation Documentation (docs.aws.amazon.com/cloudformation).</a:t>
            </a:r>
          </a:p>
          <a:p>
            <a:r>
              <a:t>- Legacy course deck: WSQ Master Trainer Slides — DevOps Engineering on AWS (v7).</a:t>
            </a:r>
          </a:p>
        </p:txBody>
      </p:sp>
      <p:sp>
        <p:nvSpPr>
          <p:cNvPr id="4" name="Slide Number Placeholder 3"/>
          <p:cNvSpPr>
            <a:spLocks noGrp="1"/>
          </p:cNvSpPr>
          <p:nvPr>
            <p:ph type="sldNum" idx="5" sz="quarter"/>
          </p:nvPr>
        </p:nvSpPr>
        <p:spPr/>
      </p:sp>
    </p:spTree>
  </p:cSld>
  <p:clrMapOvr>
    <a:masterClrMapping/>
  </p:clrMapOvr>
</p:notes>
</file>

<file path=ppt/notesSlides/notesSlide4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Domain 02 deep dive — Configuration Management and IaC. Editable AWS-native diagram/table/chart.</a:t>
            </a:r>
          </a:p>
          <a:p/>
          <a:p>
            <a:r>
              <a:t>[Sources]</a:t>
            </a:r>
          </a:p>
          <a:p>
            <a:r>
              <a:t>- AWS Certified DevOps Engineer – Professional (DOP-C02) Exam Guide (docs.aws.amazon.com/pdfs/aws-certification/latest/devops-engineer-professional-02).</a:t>
            </a:r>
          </a:p>
          <a:p>
            <a:r>
              <a:t>- AWS CloudFormation Documentation (docs.aws.amazon.com/cloudformation).</a:t>
            </a:r>
          </a:p>
          <a:p>
            <a:r>
              <a:t>- Legacy course deck: WSQ Master Trainer Slides — DevOps Engineering on AWS (v7).</a:t>
            </a:r>
          </a:p>
        </p:txBody>
      </p:sp>
      <p:sp>
        <p:nvSpPr>
          <p:cNvPr id="4" name="Slide Number Placeholder 3"/>
          <p:cNvSpPr>
            <a:spLocks noGrp="1"/>
          </p:cNvSpPr>
          <p:nvPr>
            <p:ph type="sldNum" idx="5" sz="quarter"/>
          </p:nvPr>
        </p:nvSpPr>
        <p:spPr/>
      </p:sp>
    </p:spTree>
  </p:cSld>
  <p:clrMapOvr>
    <a:masterClrMapping/>
  </p:clrMapOvr>
</p:notes>
</file>

<file path=ppt/notesSlides/notesSlide4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Domain 02 deep dive — Configuration Management and IaC. Editable AWS-native diagram/table/chart.</a:t>
            </a:r>
          </a:p>
          <a:p/>
          <a:p>
            <a:r>
              <a:t>[Sources]</a:t>
            </a:r>
          </a:p>
          <a:p>
            <a:r>
              <a:t>- AWS Certified DevOps Engineer – Professional (DOP-C02) Exam Guide (docs.aws.amazon.com/pdfs/aws-certification/latest/devops-engineer-professional-02).</a:t>
            </a:r>
          </a:p>
          <a:p>
            <a:r>
              <a:t>- AWS CloudFormation Documentation (docs.aws.amazon.com/cloudformation).</a:t>
            </a:r>
          </a:p>
          <a:p>
            <a:r>
              <a:t>- Legacy course deck: WSQ Master Trainer Slides — DevOps Engineering on AWS (v7).</a:t>
            </a:r>
          </a:p>
        </p:txBody>
      </p:sp>
      <p:sp>
        <p:nvSpPr>
          <p:cNvPr id="4" name="Slide Number Placeholder 3"/>
          <p:cNvSpPr>
            <a:spLocks noGrp="1"/>
          </p:cNvSpPr>
          <p:nvPr>
            <p:ph type="sldNum" idx="5" sz="quarter"/>
          </p:nvPr>
        </p:nvSpPr>
        <p:spPr/>
      </p:sp>
    </p:spTree>
  </p:cSld>
  <p:clrMapOvr>
    <a:masterClrMapping/>
  </p:clrMapOvr>
</p:notes>
</file>

<file path=ppt/notesSlides/notesSlide5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Domain 02 deep dive — Configuration Management and IaC. Editable AWS-native diagram/table/chart.</a:t>
            </a:r>
          </a:p>
          <a:p/>
          <a:p>
            <a:r>
              <a:t>[Sources]</a:t>
            </a:r>
          </a:p>
          <a:p>
            <a:r>
              <a:t>- AWS Certified DevOps Engineer – Professional (DOP-C02) Exam Guide (docs.aws.amazon.com/pdfs/aws-certification/latest/devops-engineer-professional-02).</a:t>
            </a:r>
          </a:p>
          <a:p>
            <a:r>
              <a:t>- AWS CloudFormation Documentation (docs.aws.amazon.com/cloudformation).</a:t>
            </a:r>
          </a:p>
          <a:p>
            <a:r>
              <a:t>- Legacy course deck: WSQ Master Trainer Slides — DevOps Engineering on AWS (v7).</a:t>
            </a:r>
          </a:p>
        </p:txBody>
      </p:sp>
      <p:sp>
        <p:nvSpPr>
          <p:cNvPr id="4" name="Slide Number Placeholder 3"/>
          <p:cNvSpPr>
            <a:spLocks noGrp="1"/>
          </p:cNvSpPr>
          <p:nvPr>
            <p:ph type="sldNum" idx="5" sz="quarter"/>
          </p:nvPr>
        </p:nvSpPr>
        <p:spPr/>
      </p:sp>
    </p:spTree>
  </p:cSld>
  <p:clrMapOvr>
    <a:masterClrMapping/>
  </p:clrMapOvr>
</p:notes>
</file>

<file path=ppt/notesSlides/notesSlide5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Domain 02 deep dive — Configuration Management and IaC. Editable AWS-native diagram/table/chart.</a:t>
            </a:r>
          </a:p>
          <a:p/>
          <a:p>
            <a:r>
              <a:t>[Sources]</a:t>
            </a:r>
          </a:p>
          <a:p>
            <a:r>
              <a:t>- AWS Certified DevOps Engineer – Professional (DOP-C02) Exam Guide (docs.aws.amazon.com/pdfs/aws-certification/latest/devops-engineer-professional-02).</a:t>
            </a:r>
          </a:p>
          <a:p>
            <a:r>
              <a:t>- AWS CloudFormation Documentation (docs.aws.amazon.com/cloudformation).</a:t>
            </a:r>
          </a:p>
          <a:p>
            <a:r>
              <a:t>- Legacy course deck: WSQ Master Trainer Slides — DevOps Engineering on AWS (v7).</a:t>
            </a:r>
          </a:p>
        </p:txBody>
      </p:sp>
      <p:sp>
        <p:nvSpPr>
          <p:cNvPr id="4" name="Slide Number Placeholder 3"/>
          <p:cNvSpPr>
            <a:spLocks noGrp="1"/>
          </p:cNvSpPr>
          <p:nvPr>
            <p:ph type="sldNum" idx="5" sz="quarter"/>
          </p:nvPr>
        </p:nvSpPr>
        <p:spPr/>
      </p:sp>
    </p:spTree>
  </p:cSld>
  <p:clrMapOvr>
    <a:masterClrMapping/>
  </p:clrMapOvr>
</p:notes>
</file>

<file path=ppt/notesSlides/notesSlide5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Domain 02 deep dive — Configuration Management and IaC. Editable AWS-native diagram/table/chart.</a:t>
            </a:r>
          </a:p>
          <a:p/>
          <a:p>
            <a:r>
              <a:t>[Sources]</a:t>
            </a:r>
          </a:p>
          <a:p>
            <a:r>
              <a:t>- AWS Certified DevOps Engineer – Professional (DOP-C02) Exam Guide (docs.aws.amazon.com/pdfs/aws-certification/latest/devops-engineer-professional-02).</a:t>
            </a:r>
          </a:p>
          <a:p>
            <a:r>
              <a:t>- AWS CloudFormation Documentation (docs.aws.amazon.com/cloudformation).</a:t>
            </a:r>
          </a:p>
          <a:p>
            <a:r>
              <a:t>- Legacy course deck: WSQ Master Trainer Slides — DevOps Engineering on AWS (v7).</a:t>
            </a:r>
          </a:p>
        </p:txBody>
      </p:sp>
      <p:sp>
        <p:nvSpPr>
          <p:cNvPr id="4" name="Slide Number Placeholder 3"/>
          <p:cNvSpPr>
            <a:spLocks noGrp="1"/>
          </p:cNvSpPr>
          <p:nvPr>
            <p:ph type="sldNum" idx="5" sz="quarter"/>
          </p:nvPr>
        </p:nvSpPr>
        <p:spPr/>
      </p:sp>
    </p:spTree>
  </p:cSld>
  <p:clrMapOvr>
    <a:masterClrMapping/>
  </p:clrMapOvr>
</p:notes>
</file>

<file path=ppt/notesSlides/notesSlide5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Infrastructure as Code — declarative desired state.</a:t>
            </a:r>
          </a:p>
          <a:p>
            <a:r>
              <a:t>Why it matters: Repeatable, reviewable, disposable environments eliminate configuration drift and the 'it works on that server' class of failure.</a:t>
            </a:r>
          </a:p>
          <a:p>
            <a:r>
              <a:t>Failure mode: Mixing manual console changes with IaC creates drift the template no longer describes — the next deploy can revert or clash with them.</a:t>
            </a:r>
          </a:p>
          <a:p>
            <a:r>
              <a:t>Trade-off: Declarative IaC is safe and auditable but less flexible than imperative scripts — use change sets and modules to regain expressiveness.</a:t>
            </a:r>
          </a:p>
          <a:p/>
          <a:p>
            <a:r>
              <a:t>[Sources]</a:t>
            </a:r>
          </a:p>
          <a:p>
            <a:r>
              <a:t>- AWS Certified DevOps Engineer – Professional (DOP-C02) Exam Guide (docs.aws.amazon.com/pdfs/aws-certification/latest/devops-engineer-professional-02).</a:t>
            </a:r>
          </a:p>
          <a:p>
            <a:r>
              <a:t>- AWS CloudFormation Documentation (docs.aws.amazon.com/cloudformation).</a:t>
            </a:r>
          </a:p>
          <a:p>
            <a:r>
              <a:t>- AWS Well-Architected Framework (docs.aws.amazon.com/wellarchitected).</a:t>
            </a:r>
          </a:p>
        </p:txBody>
      </p:sp>
      <p:sp>
        <p:nvSpPr>
          <p:cNvPr id="4" name="Slide Number Placeholder 3"/>
          <p:cNvSpPr>
            <a:spLocks noGrp="1"/>
          </p:cNvSpPr>
          <p:nvPr>
            <p:ph type="sldNum" idx="5" sz="quarter"/>
          </p:nvPr>
        </p:nvSpPr>
        <p:spPr/>
      </p:sp>
    </p:spTree>
  </p:cSld>
  <p:clrMapOvr>
    <a:masterClrMapping/>
  </p:clrMapOvr>
</p:notes>
</file>

<file path=ppt/notesSlides/notesSlide5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CloudFormation stacks, change sets and rollback.</a:t>
            </a:r>
          </a:p>
          <a:p>
            <a:r>
              <a:t>Why it matters: Preview-then-apply plus automatic rollback make infrastructure changes as safe and reversible as a code deployment.</a:t>
            </a:r>
          </a:p>
          <a:p>
            <a:r>
              <a:t>Failure mode: A resource that must be replaced (not updated in place) can cause downtime or data loss if you don't read the change set's Replacement column.</a:t>
            </a:r>
          </a:p>
          <a:p>
            <a:r>
              <a:t>Trade-off: Automatic rollback protects you but can mask the real error — always read the stack Events for the first failing resource.</a:t>
            </a:r>
          </a:p>
          <a:p/>
          <a:p>
            <a:r>
              <a:t>[Sources]</a:t>
            </a:r>
          </a:p>
          <a:p>
            <a:r>
              <a:t>- AWS CloudFormation change sets Documentation (docs.aws.amazon.com/AWSCloudFormation/latest/UserGuide/using-cfn-updating-stacks-changesets.html).</a:t>
            </a:r>
          </a:p>
          <a:p>
            <a:r>
              <a:t>- AWS Certified DevOps Engineer – Professional (DOP-C02) Exam Guide (docs.aws.amazon.com/pdfs/aws-certification/latest/devops-engineer-professional-02).</a:t>
            </a:r>
          </a:p>
        </p:txBody>
      </p:sp>
      <p:sp>
        <p:nvSpPr>
          <p:cNvPr id="4" name="Slide Number Placeholder 3"/>
          <p:cNvSpPr>
            <a:spLocks noGrp="1"/>
          </p:cNvSpPr>
          <p:nvPr>
            <p:ph type="sldNum" idx="5" sz="quarter"/>
          </p:nvPr>
        </p:nvSpPr>
        <p:spPr/>
      </p:sp>
    </p:spTree>
  </p:cSld>
  <p:clrMapOvr>
    <a:masterClrMapping/>
  </p:clrMapOvr>
</p:notes>
</file>

<file path=ppt/notesSlides/notesSlide5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Template anatomy — parameters, mappings, conditions, outputs.</a:t>
            </a:r>
          </a:p>
          <a:p>
            <a:r>
              <a:t>Why it matters: A well-structured template is a reusable product, not a one-off script — one artifact serves many teams and Regions.</a:t>
            </a:r>
          </a:p>
          <a:p>
            <a:r>
              <a:t>Failure mode: Hard-coded AMI IDs, account numbers or Region strings make a template that only works in the account it was written in.</a:t>
            </a:r>
          </a:p>
          <a:p>
            <a:r>
              <a:t>Trade-off: Heavy parameterisation increases flexibility but reduces readability — prefer sensible defaults and SSM public parameters.</a:t>
            </a:r>
          </a:p>
          <a:p/>
          <a:p>
            <a:r>
              <a:t>[Sources]</a:t>
            </a:r>
          </a:p>
          <a:p>
            <a:r>
              <a:t>- AWS CloudFormation template anatomy Documentation (docs.aws.amazon.com/AWSCloudFormation/latest/UserGuide/template-anatomy.html).</a:t>
            </a:r>
          </a:p>
          <a:p>
            <a:r>
              <a:t>- AWS Certified DevOps Engineer – Professional (DOP-C02) Exam Guide (docs.aws.amazon.com/pdfs/aws-certification/latest/devops-engineer-professional-02).</a:t>
            </a:r>
          </a:p>
        </p:txBody>
      </p:sp>
      <p:sp>
        <p:nvSpPr>
          <p:cNvPr id="4" name="Slide Number Placeholder 3"/>
          <p:cNvSpPr>
            <a:spLocks noGrp="1"/>
          </p:cNvSpPr>
          <p:nvPr>
            <p:ph type="sldNum" idx="5" sz="quarter"/>
          </p:nvPr>
        </p:nvSpPr>
        <p:spPr/>
      </p:sp>
    </p:spTree>
  </p:cSld>
  <p:clrMapOvr>
    <a:masterClrMapping/>
  </p:clrMapOvr>
</p:notes>
</file>

<file path=ppt/notesSlides/notesSlide5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Reuse — nested stacks, modules and StackSets.</a:t>
            </a:r>
          </a:p>
          <a:p>
            <a:r>
              <a:t>Why it matters: Reuse turns a proven design into an organisational standard, so every team gets the same secure, compliant baseline.</a:t>
            </a:r>
          </a:p>
          <a:p>
            <a:r>
              <a:t>Failure mode: Over-nesting creates tightly coupled stacks where one change forces wide, slow updates and hard-to-debug failures.</a:t>
            </a:r>
          </a:p>
          <a:p>
            <a:r>
              <a:t>Trade-off: Central StackSets enforce consistency but need governance so account teams aren't blocked waiting on the platform team.</a:t>
            </a:r>
          </a:p>
          <a:p/>
          <a:p>
            <a:r>
              <a:t>[Sources]</a:t>
            </a:r>
          </a:p>
          <a:p>
            <a:r>
              <a:t>- AWS StackSets Documentation (docs.aws.amazon.com/AWSCloudFormation/latest/UserGuide/what-is-cfnstacksets.html).</a:t>
            </a:r>
          </a:p>
          <a:p>
            <a:r>
              <a:t>- AWS Certified DevOps Engineer – Professional (DOP-C02) Exam Guide (docs.aws.amazon.com/pdfs/aws-certification/latest/devops-engineer-professional-02).</a:t>
            </a:r>
          </a:p>
        </p:txBody>
      </p:sp>
      <p:sp>
        <p:nvSpPr>
          <p:cNvPr id="4" name="Slide Number Placeholder 3"/>
          <p:cNvSpPr>
            <a:spLocks noGrp="1"/>
          </p:cNvSpPr>
          <p:nvPr>
            <p:ph type="sldNum" idx="5" sz="quarter"/>
          </p:nvPr>
        </p:nvSpPr>
        <p:spPr/>
      </p:sp>
    </p:spTree>
  </p:cSld>
  <p:clrMapOvr>
    <a:masterClrMapping/>
  </p:clrMapOvr>
</p:notes>
</file>

<file path=ppt/notesSlides/notesSlide5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CDK, SAM and Terraform — when to reach for each.</a:t>
            </a:r>
          </a:p>
          <a:p>
            <a:r>
              <a:t>Why it matters: Choosing the right tool matches the team's skills and estate — real code for testable constructs, SAM for serverless, Terraform for multi-cloud.</a:t>
            </a:r>
          </a:p>
          <a:p>
            <a:r>
              <a:t>Failure mode: Adopting CDK without CloudFormation literacy hides what is really deployed and makes drift and failures harder to reason about.</a:t>
            </a:r>
          </a:p>
          <a:p>
            <a:r>
              <a:t>Trade-off: Higher-level abstractions boost productivity but add a layer to debug when the generated template misbehaves.</a:t>
            </a:r>
          </a:p>
          <a:p/>
          <a:p>
            <a:r>
              <a:t>[Sources]</a:t>
            </a:r>
          </a:p>
          <a:p>
            <a:r>
              <a:t>- AWS CDK Documentation (docs.aws.amazon.com/cdk).</a:t>
            </a:r>
          </a:p>
          <a:p>
            <a:r>
              <a:t>- AWS SAM Documentation (docs.aws.amazon.com/serverless-application-model).</a:t>
            </a:r>
          </a:p>
          <a:p>
            <a:r>
              <a:t>- AWS Certified DevOps Engineer – Professional (DOP-C02) Exam Guide (docs.aws.amazon.com/pdfs/aws-certification/latest/devops-engineer-professional-02).</a:t>
            </a:r>
          </a:p>
        </p:txBody>
      </p:sp>
      <p:sp>
        <p:nvSpPr>
          <p:cNvPr id="4" name="Slide Number Placeholder 3"/>
          <p:cNvSpPr>
            <a:spLocks noGrp="1"/>
          </p:cNvSpPr>
          <p:nvPr>
            <p:ph type="sldNum" idx="5" sz="quarter"/>
          </p:nvPr>
        </p:nvSpPr>
        <p:spPr/>
      </p:sp>
    </p:spTree>
  </p:cSld>
  <p:clrMapOvr>
    <a:masterClrMapping/>
  </p:clrMapOvr>
</p:notes>
</file>

<file path=ppt/notesSlides/notesSlide5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Configuration management with Systems Manager.</a:t>
            </a:r>
          </a:p>
          <a:p>
            <a:r>
              <a:t>Why it matters: Config management closes the gap between 'provisioned' and 'correctly configured and maintained over time'.</a:t>
            </a:r>
          </a:p>
          <a:p>
            <a:r>
              <a:t>Failure mode: Treating servers as pets you SSH into and hand-tune reintroduces drift that no template can track.</a:t>
            </a:r>
          </a:p>
          <a:p>
            <a:r>
              <a:t>Trade-off: Agent-based management adds an agent to run and secure, but removes bastion hosts and standing SSH access.</a:t>
            </a:r>
          </a:p>
          <a:p/>
          <a:p>
            <a:r>
              <a:t>[Sources]</a:t>
            </a:r>
          </a:p>
          <a:p>
            <a:r>
              <a:t>- AWS Systems Manager Documentation (docs.aws.amazon.com/systems-manager).</a:t>
            </a:r>
          </a:p>
          <a:p>
            <a:r>
              <a:t>- AWS Certified DevOps Engineer – Professional (DOP-C02) Exam Guide (docs.aws.amazon.com/pdfs/aws-certification/latest/devops-engineer-professional-02).</a:t>
            </a:r>
          </a:p>
        </p:txBody>
      </p:sp>
      <p:sp>
        <p:nvSpPr>
          <p:cNvPr id="4" name="Slide Number Placeholder 3"/>
          <p:cNvSpPr>
            <a:spLocks noGrp="1"/>
          </p:cNvSpPr>
          <p:nvPr>
            <p:ph type="sldNum" idx="5" sz="quarter"/>
          </p:nvPr>
        </p:nvSpPr>
        <p:spPr/>
      </p:sp>
    </p:spTree>
  </p:cSld>
  <p:clrMapOvr>
    <a:masterClrMapping/>
  </p:clrMapOvr>
</p:notes>
</file>

<file path=ppt/notesSlides/notesSlide5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Drift detection and remediation.</a:t>
            </a:r>
          </a:p>
          <a:p>
            <a:r>
              <a:t>Why it matters: Detecting drift early prevents the slow divergence that eventually makes a stack un-updatable.</a:t>
            </a:r>
          </a:p>
          <a:p>
            <a:r>
              <a:t>Failure mode: Ignoring drift until an urgent change is needed means your 'safe' update now collides with undocumented manual edits.</a:t>
            </a:r>
          </a:p>
          <a:p>
            <a:r>
              <a:t>Trade-off: Strict no-drift policies improve auditability but can slow emergency fixes — provide a documented break-glass path.</a:t>
            </a:r>
          </a:p>
          <a:p/>
          <a:p>
            <a:r>
              <a:t>[Sources]</a:t>
            </a:r>
          </a:p>
          <a:p>
            <a:r>
              <a:t>- AWS CloudFormation drift Documentation (docs.aws.amazon.com/AWSCloudFormation/latest/UserGuide/using-cfn-stack-drift.html).</a:t>
            </a:r>
          </a:p>
          <a:p>
            <a:r>
              <a:t>- AWS Certified DevOps Engineer – Professional (DOP-C02) Exam Guide (docs.aws.amazon.com/pdfs/aws-certification/latest/devops-engineer-professional-02).</a:t>
            </a:r>
          </a:p>
        </p:txBody>
      </p:sp>
      <p:sp>
        <p:nvSpPr>
          <p:cNvPr id="4" name="Slide Number Placeholder 3"/>
          <p:cNvSpPr>
            <a:spLocks noGrp="1"/>
          </p:cNvSpPr>
          <p:nvPr>
            <p:ph type="sldNum" idx="5" sz="quarter"/>
          </p:nvPr>
        </p:nvSpPr>
        <p:spPr/>
      </p:sp>
    </p:spTree>
  </p:cSld>
  <p:clrMapOvr>
    <a:masterClrMapping/>
  </p:clrMapOvr>
</p:notes>
</file>

<file path=ppt/notesSlides/notesSlide6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Multi-account governance — Organizations, Control Tower, SCPs.</a:t>
            </a:r>
          </a:p>
          <a:p>
            <a:r>
              <a:t>Why it matters: Account-level isolation plus org-wide guardrails give strong blast-radius control and a consistent, auditable baseline.</a:t>
            </a:r>
          </a:p>
          <a:p>
            <a:r>
              <a:t>Failure mode: A single shared account for everything makes least-privilege impossible and one mistake blast-radius huge.</a:t>
            </a:r>
          </a:p>
          <a:p>
            <a:r>
              <a:t>Trade-off: More accounts improve isolation but add networking and operational overhead — automate account vending to keep it manageable.</a:t>
            </a:r>
          </a:p>
          <a:p/>
          <a:p>
            <a:r>
              <a:t>[Sources]</a:t>
            </a:r>
          </a:p>
          <a:p>
            <a:r>
              <a:t>- AWS Organizations Documentation (docs.aws.amazon.com/organizations).</a:t>
            </a:r>
          </a:p>
          <a:p>
            <a:r>
              <a:t>- AWS Control Tower Documentation (docs.aws.amazon.com/controltower).</a:t>
            </a:r>
          </a:p>
          <a:p>
            <a:r>
              <a:t>- AWS Certified DevOps Engineer – Professional (DOP-C02) Exam Guide (docs.aws.amazon.com/pdfs/aws-certification/latest/devops-engineer-professional-02).</a:t>
            </a:r>
          </a:p>
        </p:txBody>
      </p:sp>
      <p:sp>
        <p:nvSpPr>
          <p:cNvPr id="4" name="Slide Number Placeholder 3"/>
          <p:cNvSpPr>
            <a:spLocks noGrp="1"/>
          </p:cNvSpPr>
          <p:nvPr>
            <p:ph type="sldNum" idx="5" sz="quarter"/>
          </p:nvPr>
        </p:nvSpPr>
        <p:spPr/>
      </p:sp>
    </p:spTree>
  </p:cSld>
  <p:clrMapOvr>
    <a:masterClrMapping/>
  </p:clrMapOvr>
</p:notes>
</file>

<file path=ppt/notesSlides/notesSlide6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Secrets &amp; configuration — Parameter Store vs Secrets Manager.</a:t>
            </a:r>
          </a:p>
          <a:p>
            <a:r>
              <a:t>Why it matters: Externalising configuration and secrets lets one immutable artifact run safely in every environment.</a:t>
            </a:r>
          </a:p>
          <a:p>
            <a:r>
              <a:t>Failure mode: Baking a database password into a template or AMI leaks it into every copy and every log line.</a:t>
            </a:r>
          </a:p>
          <a:p>
            <a:r>
              <a:t>Trade-off: Automatic rotation is safest but must be tested — a rotation that apps don't reload can cause outages.</a:t>
            </a:r>
          </a:p>
          <a:p/>
          <a:p>
            <a:r>
              <a:t>[Sources]</a:t>
            </a:r>
          </a:p>
          <a:p>
            <a:r>
              <a:t>- AWS Secrets Manager Documentation (docs.aws.amazon.com/secretsmanager).</a:t>
            </a:r>
          </a:p>
          <a:p>
            <a:r>
              <a:t>- AWS SSM Parameter Store Documentation (docs.aws.amazon.com/systems-manager/latest/userguide/systems-manager-parameter-store.html).</a:t>
            </a:r>
          </a:p>
          <a:p>
            <a:r>
              <a:t>- AWS Certified DevOps Engineer – Professional (DOP-C02) Exam Guide (docs.aws.amazon.com/pdfs/aws-certification/latest/devops-engineer-professional-02).</a:t>
            </a:r>
          </a:p>
        </p:txBody>
      </p:sp>
      <p:sp>
        <p:nvSpPr>
          <p:cNvPr id="4" name="Slide Number Placeholder 3"/>
          <p:cNvSpPr>
            <a:spLocks noGrp="1"/>
          </p:cNvSpPr>
          <p:nvPr>
            <p:ph type="sldNum" idx="5" sz="quarter"/>
          </p:nvPr>
        </p:nvSpPr>
        <p:spPr/>
      </p:sp>
    </p:spTree>
  </p:cSld>
  <p:clrMapOvr>
    <a:masterClrMapping/>
  </p:clrMapOvr>
</p:notes>
</file>

<file path=ppt/notesSlides/notesSlide6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Comparison — Change Set Replacement — Read Before You Execute.</a:t>
            </a:r>
          </a:p>
          <a:p/>
          <a:p>
            <a:r>
              <a:t>[Sources]</a:t>
            </a:r>
          </a:p>
          <a:p>
            <a:r>
              <a:t>- AWS CloudFormation update behaviors Documentation (docs.aws.amazon.com/AWSCloudFormation/latest/UserGuide/using-cfn-updating-stacks-update-behaviors.html).</a:t>
            </a:r>
          </a:p>
          <a:p>
            <a:r>
              <a:t>- AWS Certified DevOps Engineer – Professional (DOP-C02) Exam Guide (docs.aws.amazon.com/pdfs/aws-certification/latest/devops-engineer-professional-02).</a:t>
            </a:r>
          </a:p>
        </p:txBody>
      </p:sp>
      <p:sp>
        <p:nvSpPr>
          <p:cNvPr id="4" name="Slide Number Placeholder 3"/>
          <p:cNvSpPr>
            <a:spLocks noGrp="1"/>
          </p:cNvSpPr>
          <p:nvPr>
            <p:ph type="sldNum" idx="5" sz="quarter"/>
          </p:nvPr>
        </p:nvSpPr>
        <p:spPr/>
      </p:sp>
    </p:spTree>
  </p:cSld>
  <p:clrMapOvr>
    <a:masterClrMapping/>
  </p:clrMapOvr>
</p:notes>
</file>

<file path=ppt/notesSlides/notesSlide6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Environment Provisioning — Manual vs IaC. What the data shows: IaC collapses environment build time and errors and — most importantly — makes every environment identical, so tests actually predict production.</a:t>
            </a:r>
          </a:p>
          <a:p>
            <a:r>
              <a:t>Figures are illustrative teaching values to convey the relationship, not measured benchmarks.</a:t>
            </a:r>
          </a:p>
          <a:p/>
          <a:p>
            <a:r>
              <a:t>[Sources]</a:t>
            </a:r>
          </a:p>
          <a:p>
            <a:r>
              <a:t>- AWS Certified DevOps Engineer – Professional (DOP-C02) Exam Guide (docs.aws.amazon.com/pdfs/aws-certification/latest/devops-engineer-professional-02).</a:t>
            </a:r>
          </a:p>
          <a:p>
            <a:r>
              <a:t>- AWS Well-Architected Framework (docs.aws.amazon.com/wellarchitected).</a:t>
            </a:r>
          </a:p>
        </p:txBody>
      </p:sp>
      <p:sp>
        <p:nvSpPr>
          <p:cNvPr id="4" name="Slide Number Placeholder 3"/>
          <p:cNvSpPr>
            <a:spLocks noGrp="1"/>
          </p:cNvSpPr>
          <p:nvPr>
            <p:ph type="sldNum" idx="5" sz="quarter"/>
          </p:nvPr>
        </p:nvSpPr>
        <p:spPr/>
      </p:sp>
    </p:spTree>
  </p:cSld>
  <p:clrMapOvr>
    <a:masterClrMapping/>
  </p:clrMapOvr>
</p:notes>
</file>

<file path=ppt/notesSlides/notesSlide6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IaC Failure Modes &amp; Anti-Patterns.</a:t>
            </a:r>
          </a:p>
          <a:p>
            <a:r>
              <a:t>Out-of-band console edits — Drift the template can't see → detect drift; make console read-only in prod.</a:t>
            </a:r>
          </a:p>
          <a:p>
            <a:r>
              <a:t>Hard-coded IDs/Regions — Template only works in one account → parameters + SSM public parameters.</a:t>
            </a:r>
          </a:p>
          <a:p>
            <a:r>
              <a:t>Giant monolith stack — Slow, risky updates → split by lifecycle and blast radius.</a:t>
            </a:r>
          </a:p>
          <a:p>
            <a:r>
              <a:t>No change-set review — Surprise replacements → always preview before execute.</a:t>
            </a:r>
          </a:p>
          <a:p>
            <a:r>
              <a:t>Secrets in templates — Leaked credentials → Secrets Manager / SSM SecureString.</a:t>
            </a:r>
          </a:p>
          <a:p>
            <a:r>
              <a:t>Copy-paste per environment — Divergent envs → one template, many parameter sets.</a:t>
            </a:r>
          </a:p>
          <a:p/>
          <a:p>
            <a:r>
              <a:t>[Sources]</a:t>
            </a:r>
          </a:p>
          <a:p>
            <a:r>
              <a:t>- AWS Certified DevOps Engineer – Professional (DOP-C02) Exam Guide (docs.aws.amazon.com/pdfs/aws-certification/latest/devops-engineer-professional-02).</a:t>
            </a:r>
          </a:p>
          <a:p>
            <a:r>
              <a:t>- AWS CloudFormation Documentation (docs.aws.amazon.com/cloudformation).</a:t>
            </a:r>
          </a:p>
        </p:txBody>
      </p:sp>
      <p:sp>
        <p:nvSpPr>
          <p:cNvPr id="4" name="Slide Number Placeholder 3"/>
          <p:cNvSpPr>
            <a:spLocks noGrp="1"/>
          </p:cNvSpPr>
          <p:nvPr>
            <p:ph type="sldNum" idx="5" sz="quarter"/>
          </p:nvPr>
        </p:nvSpPr>
        <p:spPr/>
      </p:sp>
    </p:spTree>
  </p:cSld>
  <p:clrMapOvr>
    <a:masterClrMapping/>
  </p:clrMapOvr>
</p:notes>
</file>

<file path=ppt/notesSlides/notesSlide6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IaC Patterns Worth Adopting.</a:t>
            </a:r>
          </a:p>
          <a:p>
            <a:r>
              <a:t>Layered stacks — Separate network, platform and app stacks by change rate.</a:t>
            </a:r>
          </a:p>
          <a:p>
            <a:r>
              <a:t>Landing zone — Control Tower baseline + guardrails for every account.</a:t>
            </a:r>
          </a:p>
          <a:p>
            <a:r>
              <a:t>Immutable AMIs — Bake with a pipeline (e.g. EC2 Image Builder); replace, don't patch.</a:t>
            </a:r>
          </a:p>
          <a:p>
            <a:r>
              <a:t>Public SSM parameters — Reference latest AMIs without hard-coding IDs.</a:t>
            </a:r>
          </a:p>
          <a:p>
            <a:r>
              <a:t>Policy as code — Guardrails via SCPs and Config rules, versioned like IaC.</a:t>
            </a:r>
          </a:p>
          <a:p>
            <a:r>
              <a:t>Pipeline-deployed stacks — No manual stack updates in production.</a:t>
            </a:r>
          </a:p>
          <a:p/>
          <a:p>
            <a:r>
              <a:t>[Sources]</a:t>
            </a:r>
          </a:p>
          <a:p>
            <a:r>
              <a:t>- AWS Well-Architected Framework (docs.aws.amazon.com/wellarchitected).</a:t>
            </a:r>
          </a:p>
          <a:p>
            <a:r>
              <a:t>- AWS Certified DevOps Engineer – Professional (DOP-C02) Exam Guide (docs.aws.amazon.com/pdfs/aws-certification/latest/devops-engineer-professional-02).</a:t>
            </a:r>
          </a:p>
        </p:txBody>
      </p:sp>
      <p:sp>
        <p:nvSpPr>
          <p:cNvPr id="4" name="Slide Number Placeholder 3"/>
          <p:cNvSpPr>
            <a:spLocks noGrp="1"/>
          </p:cNvSpPr>
          <p:nvPr>
            <p:ph type="sldNum" idx="5" sz="quarter"/>
          </p:nvPr>
        </p:nvSpPr>
        <p:spPr/>
      </p:sp>
    </p:spTree>
  </p:cSld>
  <p:clrMapOvr>
    <a:masterClrMapping/>
  </p:clrMapOvr>
</p:notes>
</file>

<file path=ppt/notesSlides/notesSlide6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Architecture Decision — One Big Stack or Many?.</a:t>
            </a:r>
          </a:p>
          <a:p>
            <a:r>
              <a:t>Option A — Single stack: Small app, one team, one lifecycle. Simple to reason about — but every change risks the whole system and updates get slow as it grows.</a:t>
            </a:r>
          </a:p>
          <a:p>
            <a:r>
              <a:t>Option B — Layered stacks: Separate network / platform / app by change rate and owner. Smaller blast radius and faster updates — needs disciplined exports/imports.</a:t>
            </a:r>
          </a:p>
          <a:p>
            <a:r>
              <a:t>Option C — StackSets across accounts: Same baseline in many accounts/Regions. Enforces consistency at scale — requires central governance and account-team coordination.</a:t>
            </a:r>
          </a:p>
          <a:p/>
          <a:p>
            <a:r>
              <a:t>[Sources]</a:t>
            </a:r>
          </a:p>
          <a:p>
            <a:r>
              <a:t>- AWS Certified DevOps Engineer – Professional (DOP-C02) Exam Guide (docs.aws.amazon.com/pdfs/aws-certification/latest/devops-engineer-professional-02).</a:t>
            </a:r>
          </a:p>
          <a:p>
            <a:r>
              <a:t>- AWS Well-Architected Framework (docs.aws.amazon.com/wellarchitected).</a:t>
            </a:r>
          </a:p>
        </p:txBody>
      </p:sp>
      <p:sp>
        <p:nvSpPr>
          <p:cNvPr id="4" name="Slide Number Placeholder 3"/>
          <p:cNvSpPr>
            <a:spLocks noGrp="1"/>
          </p:cNvSpPr>
          <p:nvPr>
            <p:ph type="sldNum" idx="5" sz="quarter"/>
          </p:nvPr>
        </p:nvSpPr>
        <p:spPr/>
      </p:sp>
    </p:spTree>
  </p:cSld>
  <p:clrMapOvr>
    <a:masterClrMapping/>
  </p:clrMapOvr>
</p:notes>
</file>

<file path=ppt/notesSlides/notesSlide6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Scenario: An engineer widens a security group in the console during an incident. Two weeks later, a routine stack update fails or silently reverts the fix.</a:t>
            </a:r>
          </a:p>
          <a:p>
            <a:r>
              <a:t>The live resource no longer matches the template, so CloudFormation's view of desired state is wrong.</a:t>
            </a:r>
          </a:p>
          <a:p>
            <a:r>
              <a:t>Drift detection would have flagged this the same day; Config rules could have alarmed on the open port immediately.</a:t>
            </a:r>
          </a:p>
          <a:p>
            <a:r>
              <a:t>The durable fix is to encode the change in the template and re-apply, not to keep patching by hand.</a:t>
            </a:r>
          </a:p>
          <a:p>
            <a:r>
              <a:t>Decision: Run drift detection on a schedule, alarm on security-group drift via Config, and require that emergency console changes are back-ported into the template within the incident's follow-up.</a:t>
            </a:r>
          </a:p>
          <a:p/>
          <a:p>
            <a:r>
              <a:t>[Sources]</a:t>
            </a:r>
          </a:p>
          <a:p>
            <a:r>
              <a:t>- AWS CloudFormation drift Documentation (docs.aws.amazon.com/AWSCloudFormation/latest/UserGuide/using-cfn-stack-drift.html).</a:t>
            </a:r>
          </a:p>
          <a:p>
            <a:r>
              <a:t>- AWS Config Documentation (docs.aws.amazon.com/config).</a:t>
            </a:r>
          </a:p>
        </p:txBody>
      </p:sp>
      <p:sp>
        <p:nvSpPr>
          <p:cNvPr id="4" name="Slide Number Placeholder 3"/>
          <p:cNvSpPr>
            <a:spLocks noGrp="1"/>
          </p:cNvSpPr>
          <p:nvPr>
            <p:ph type="sldNum" idx="5" sz="quarter"/>
          </p:nvPr>
        </p:nvSpPr>
        <p:spPr/>
      </p:sp>
    </p:spTree>
  </p:cSld>
  <p:clrMapOvr>
    <a:masterClrMapping/>
  </p:clrMapOvr>
</p:notes>
</file>

<file path=ppt/notesSlides/notesSlide6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Scenario: A new business unit needs an AWS account that already meets the company's security, logging and network standards on day one.</a:t>
            </a:r>
          </a:p>
          <a:p>
            <a:r>
              <a:t>Hand-building the account is slow and error-prone and guarantees it drifts from the standard.</a:t>
            </a:r>
          </a:p>
          <a:p>
            <a:r>
              <a:t>Control Tower's account factory vends accounts pre-wired to guardrails and centralised logging.</a:t>
            </a:r>
          </a:p>
          <a:p>
            <a:r>
              <a:t>StackSets push the standard network and security stacks into the new account automatically.</a:t>
            </a:r>
          </a:p>
          <a:p>
            <a:r>
              <a:t>Decision: Vend the account through Control Tower and apply the baseline via StackSets, so 'compliant by default' is the path of least resistance rather than a later audit finding.</a:t>
            </a:r>
          </a:p>
          <a:p/>
          <a:p>
            <a:r>
              <a:t>[Sources]</a:t>
            </a:r>
          </a:p>
          <a:p>
            <a:r>
              <a:t>- AWS Control Tower Documentation (docs.aws.amazon.com/controltower).</a:t>
            </a:r>
          </a:p>
          <a:p>
            <a:r>
              <a:t>- AWS StackSets Documentation (docs.aws.amazon.com/AWSCloudFormation/latest/UserGuide/what-is-cfnstacksets.html).</a:t>
            </a:r>
          </a:p>
        </p:txBody>
      </p:sp>
      <p:sp>
        <p:nvSpPr>
          <p:cNvPr id="4" name="Slide Number Placeholder 3"/>
          <p:cNvSpPr>
            <a:spLocks noGrp="1"/>
          </p:cNvSpPr>
          <p:nvPr>
            <p:ph type="sldNum" idx="5" sz="quarter"/>
          </p:nvPr>
        </p:nvSpPr>
        <p:spPr/>
      </p:sp>
    </p:spTree>
  </p:cSld>
  <p:clrMapOvr>
    <a:masterClrMapping/>
  </p:clrMapOvr>
</p:notes>
</file>

<file path=ppt/notesSlides/notesSlide6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Worked Analysis — Parameterising One Template for Three Environments.</a:t>
            </a:r>
          </a:p>
          <a:p>
            <a:r>
              <a:t>Instance size by env — dev t3.micro, staging t3.small, prod m5.large — a single InstanceType parameter.</a:t>
            </a:r>
          </a:p>
          <a:p>
            <a:r>
              <a:t>High availability by env — A Condition creates the Multi-AZ standby and NAT redundancy only when EnvName = prod.</a:t>
            </a:r>
          </a:p>
          <a:p>
            <a:r>
              <a:t>AMI without hard-coding — An SSM public parameter resolves the latest patched Amazon Linux AMI at deploy time.</a:t>
            </a:r>
          </a:p>
          <a:p>
            <a:r>
              <a:t>Secrets by env — Each environment references its own Secrets Manager secret; none appear in the template.</a:t>
            </a:r>
          </a:p>
          <a:p>
            <a:r>
              <a:t>Takeaway: The differences between environments become a short parameter file — the template itself is identical, so staging genuinely predicts production.</a:t>
            </a:r>
          </a:p>
          <a:p/>
          <a:p>
            <a:r>
              <a:t>[Sources]</a:t>
            </a:r>
          </a:p>
          <a:p>
            <a:r>
              <a:t>- AWS Certified DevOps Engineer – Professional (DOP-C02) Exam Guide (docs.aws.amazon.com/pdfs/aws-certification/latest/devops-engineer-professional-02).</a:t>
            </a:r>
          </a:p>
          <a:p>
            <a:r>
              <a:t>- AWS CloudFormation Documentation (docs.aws.amazon.com/cloudformation).</a:t>
            </a:r>
          </a:p>
        </p:txBody>
      </p:sp>
      <p:sp>
        <p:nvSpPr>
          <p:cNvPr id="4" name="Slide Number Placeholder 3"/>
          <p:cNvSpPr>
            <a:spLocks noGrp="1"/>
          </p:cNvSpPr>
          <p:nvPr>
            <p:ph type="sldNum" idx="5" sz="quarter"/>
          </p:nvPr>
        </p:nvSpPr>
        <p:spPr/>
      </p:sp>
    </p:spTree>
  </p:cSld>
  <p:clrMapOvr>
    <a:masterClrMapping/>
  </p:clrMapOvr>
</p:notes>
</file>

<file path=ppt/notesSlides/notesSlide7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Lab 6 overview — Author, validate and deploy a reusable VPC network baseline with CloudFormation and publish cross-stack exports (LO2, K3, A3).</a:t>
            </a:r>
          </a:p>
          <a:p>
            <a:r>
              <a:t>Concept-led briefing only. The full detailed procedure, commands, expected outputs, validation and cleanup live in the Learner Guide and the lab README (not on the slides).</a:t>
            </a:r>
          </a:p>
          <a:p>
            <a:r>
              <a:t>Reference architecture: course-generated diagram for Lab 6.</a:t>
            </a:r>
          </a:p>
          <a:p/>
          <a:p>
            <a:r>
              <a:t>[Sources]</a:t>
            </a:r>
          </a:p>
          <a:p>
            <a:r>
              <a:t>- AWS Certified DevOps Engineer – Professional (DOP-C02) Exam Guide (docs.aws.amazon.com/pdfs/aws-certification/latest/devops-engineer-professional-02).</a:t>
            </a:r>
          </a:p>
          <a:p>
            <a:r>
              <a:t>- Legacy course deck: WSQ Master Trainer Slides — DevOps Engineering on AWS (v7).</a:t>
            </a:r>
          </a:p>
        </p:txBody>
      </p:sp>
      <p:sp>
        <p:nvSpPr>
          <p:cNvPr id="4" name="Slide Number Placeholder 3"/>
          <p:cNvSpPr>
            <a:spLocks noGrp="1"/>
          </p:cNvSpPr>
          <p:nvPr>
            <p:ph type="sldNum" idx="5" sz="quarter"/>
          </p:nvPr>
        </p:nvSpPr>
        <p:spPr/>
      </p:sp>
    </p:spTree>
  </p:cSld>
  <p:clrMapOvr>
    <a:masterClrMapping/>
  </p:clrMapOvr>
</p:notes>
</file>

<file path=ppt/notesSlides/notesSlide7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Lab 7 overview — Deploy a parameterized application stack that consumes cross-stack exports and reuse it for dev and test via parameter files (LO2, K3, A3).</a:t>
            </a:r>
          </a:p>
          <a:p>
            <a:r>
              <a:t>Concept-led briefing only. The full detailed procedure, commands, expected outputs, validation and cleanup live in the Learner Guide and the lab README (not on the slides).</a:t>
            </a:r>
          </a:p>
          <a:p>
            <a:r>
              <a:t>Reference architecture: course-generated diagram for Lab 7.</a:t>
            </a:r>
          </a:p>
          <a:p/>
          <a:p>
            <a:r>
              <a:t>[Sources]</a:t>
            </a:r>
          </a:p>
          <a:p>
            <a:r>
              <a:t>- AWS Certified DevOps Engineer – Professional (DOP-C02) Exam Guide (docs.aws.amazon.com/pdfs/aws-certification/latest/devops-engineer-professional-02).</a:t>
            </a:r>
          </a:p>
          <a:p>
            <a:r>
              <a:t>- Legacy course deck: WSQ Master Trainer Slides — DevOps Engineering on AWS (v7).</a:t>
            </a:r>
          </a:p>
        </p:txBody>
      </p:sp>
      <p:sp>
        <p:nvSpPr>
          <p:cNvPr id="4" name="Slide Number Placeholder 3"/>
          <p:cNvSpPr>
            <a:spLocks noGrp="1"/>
          </p:cNvSpPr>
          <p:nvPr>
            <p:ph type="sldNum" idx="5" sz="quarter"/>
          </p:nvPr>
        </p:nvSpPr>
        <p:spPr/>
      </p:sp>
    </p:spTree>
  </p:cSld>
  <p:clrMapOvr>
    <a:masterClrMapping/>
  </p:clrMapOvr>
</p:notes>
</file>

<file path=ppt/notesSlides/notesSlide7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Lab 8 overview — Preview a stack modification safely with a change set before executing, then detect out-of-band drift and reconcile it (LO2, K3, A3).</a:t>
            </a:r>
          </a:p>
          <a:p>
            <a:r>
              <a:t>Concept-led briefing only. The full detailed procedure, commands, expected outputs, validation and cleanup live in the Learner Guide and the lab README (not on the slides).</a:t>
            </a:r>
          </a:p>
          <a:p>
            <a:r>
              <a:t>Reference architecture: course-generated diagram for Lab 8.</a:t>
            </a:r>
          </a:p>
          <a:p/>
          <a:p>
            <a:r>
              <a:t>[Sources]</a:t>
            </a:r>
          </a:p>
          <a:p>
            <a:r>
              <a:t>- AWS Certified DevOps Engineer – Professional (DOP-C02) Exam Guide (docs.aws.amazon.com/pdfs/aws-certification/latest/devops-engineer-professional-02).</a:t>
            </a:r>
          </a:p>
          <a:p>
            <a:r>
              <a:t>- Legacy course deck: WSQ Master Trainer Slides — DevOps Engineering on AWS (v7).</a:t>
            </a:r>
          </a:p>
        </p:txBody>
      </p:sp>
      <p:sp>
        <p:nvSpPr>
          <p:cNvPr id="4" name="Slide Number Placeholder 3"/>
          <p:cNvSpPr>
            <a:spLocks noGrp="1"/>
          </p:cNvSpPr>
          <p:nvPr>
            <p:ph type="sldNum" idx="5" sz="quarter"/>
          </p:nvPr>
        </p:nvSpPr>
        <p:spPr/>
      </p:sp>
    </p:spTree>
  </p:cSld>
  <p:clrMapOvr>
    <a:masterClrMapping/>
  </p:clrMapOvr>
</p:notes>
</file>

<file path=ppt/notesSlides/notesSlide7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Lab 9 overview — Externalize application configuration into SSM Parameter Store (String and SecureString), read it at runtime, and compare Parameter Store with Secrets Manager (LO2, K3, A3).</a:t>
            </a:r>
          </a:p>
          <a:p>
            <a:r>
              <a:t>Concept-led briefing only. The full detailed procedure, commands, expected outputs, validation and cleanup live in the Learner Guide and the lab README (not on the slides).</a:t>
            </a:r>
          </a:p>
          <a:p>
            <a:r>
              <a:t>Reference architecture: course-generated diagram for Lab 9.</a:t>
            </a:r>
          </a:p>
          <a:p/>
          <a:p>
            <a:r>
              <a:t>[Sources]</a:t>
            </a:r>
          </a:p>
          <a:p>
            <a:r>
              <a:t>- AWS Certified DevOps Engineer – Professional (DOP-C02) Exam Guide (docs.aws.amazon.com/pdfs/aws-certification/latest/devops-engineer-professional-02).</a:t>
            </a:r>
          </a:p>
          <a:p>
            <a:r>
              <a:t>- Legacy course deck: WSQ Master Trainer Slides — DevOps Engineering on AWS (v7).</a:t>
            </a:r>
          </a:p>
        </p:txBody>
      </p:sp>
      <p:sp>
        <p:nvSpPr>
          <p:cNvPr id="4" name="Slide Number Placeholder 3"/>
          <p:cNvSpPr>
            <a:spLocks noGrp="1"/>
          </p:cNvSpPr>
          <p:nvPr>
            <p:ph type="sldNum" idx="5" sz="quarter"/>
          </p:nvPr>
        </p:nvSpPr>
        <p:spPr/>
      </p:sp>
    </p:spTree>
  </p:cSld>
  <p:clrMapOvr>
    <a:masterClrMapping/>
  </p:clrMapOvr>
</p:notes>
</file>

<file path=ppt/notesSlides/notesSlide7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Lab 10 overview — Design and deploy a multi-account, multi-Region guardrail using CloudFormation StackSets with AWS Organizations service-managed permissions, and express a preventive guardrail as an SCP (LO2, K3, A3).</a:t>
            </a:r>
          </a:p>
          <a:p>
            <a:r>
              <a:t>Concept-led briefing only. The full detailed procedure, commands, expected outputs, validation and cleanup live in the Learner Guide and the lab README (not on the slides).</a:t>
            </a:r>
          </a:p>
          <a:p>
            <a:r>
              <a:t>Reference architecture: course-generated diagram for Lab 10.</a:t>
            </a:r>
          </a:p>
          <a:p/>
          <a:p>
            <a:r>
              <a:t>[Sources]</a:t>
            </a:r>
          </a:p>
          <a:p>
            <a:r>
              <a:t>- AWS Certified DevOps Engineer – Professional (DOP-C02) Exam Guide (docs.aws.amazon.com/pdfs/aws-certification/latest/devops-engineer-professional-02).</a:t>
            </a:r>
          </a:p>
          <a:p>
            <a:r>
              <a:t>- Legacy course deck: WSQ Master Trainer Slides — DevOps Engineering on AWS (v7).</a:t>
            </a:r>
          </a:p>
        </p:txBody>
      </p:sp>
      <p:sp>
        <p:nvSpPr>
          <p:cNvPr id="4" name="Slide Number Placeholder 3"/>
          <p:cNvSpPr>
            <a:spLocks noGrp="1"/>
          </p:cNvSpPr>
          <p:nvPr>
            <p:ph type="sldNum" idx="5" sz="quarter"/>
          </p:nvPr>
        </p:nvSpPr>
        <p:spPr/>
      </p:sp>
    </p:spTree>
  </p:cSld>
  <p:clrMapOvr>
    <a:masterClrMapping/>
  </p:clrMapOvr>
</p:notes>
</file>

<file path=ppt/notesSlides/notesSlide7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Recap of Domain 02 — Configuration Management and IaC.</a:t>
            </a:r>
          </a:p>
          <a:p/>
          <a:p>
            <a:r>
              <a:t>[Sources]</a:t>
            </a:r>
          </a:p>
          <a:p>
            <a:r>
              <a:t>- AWS Certified DevOps Engineer – Professional (DOP-C02) Exam Guide (docs.aws.amazon.com/pdfs/aws-certification/latest/devops-engineer-professional-02).</a:t>
            </a:r>
          </a:p>
          <a:p>
            <a:r>
              <a:t>- AWS CloudFormation Documentation (docs.aws.amazon.com/cloudformation).</a:t>
            </a:r>
          </a:p>
          <a:p>
            <a:r>
              <a:t>- Legacy course deck: WSQ Master Trainer Slides — DevOps Engineering on AWS (v7).</a:t>
            </a:r>
          </a:p>
        </p:txBody>
      </p:sp>
      <p:sp>
        <p:nvSpPr>
          <p:cNvPr id="4" name="Slide Number Placeholder 3"/>
          <p:cNvSpPr>
            <a:spLocks noGrp="1"/>
          </p:cNvSpPr>
          <p:nvPr>
            <p:ph type="sldNum" idx="5" sz="quarter"/>
          </p:nvPr>
        </p:nvSpPr>
        <p:spPr/>
      </p:sp>
    </p:spTree>
  </p:cSld>
  <p:clrMapOvr>
    <a:masterClrMapping/>
  </p:clrMapOvr>
</p:notes>
</file>

<file path=ppt/notesSlides/notesSlide7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Key concepts for Domain 03 — Resilient Cloud Solutions.</a:t>
            </a:r>
          </a:p>
          <a:p>
            <a:r>
              <a:t>High availability: Spread compute across multiple Availability Zones behind an Elastic Load Balancer so one AZ failure is survivable.</a:t>
            </a:r>
          </a:p>
          <a:p>
            <a:r>
              <a:t>Elasticity &amp; Auto Scaling: Auto Scaling groups add and remove capacity on demand using target-tracking and step scaling policies.</a:t>
            </a:r>
          </a:p>
          <a:p>
            <a:r>
              <a:t>Decoupling: SQS, SNS and EventBridge decouple producers from consumers so components fail and scale independently.</a:t>
            </a:r>
          </a:p>
          <a:p>
            <a:r>
              <a:t>RTO &amp; RPO: Recovery Time / Point Objectives drive the DR pattern: backup &amp; restore, pilot light, warm standby or multi-site active/active.</a:t>
            </a:r>
          </a:p>
          <a:p>
            <a:r>
              <a:t>Data durability: Multi-AZ RDS, DynamoDB global tables, S3 cross-Region replication and automated snapshots protect state.</a:t>
            </a:r>
          </a:p>
          <a:p>
            <a:r>
              <a:t>Automated recovery: EC2 auto-recovery, ASG health checks and Route 53 health-check failover restore service without human action.</a:t>
            </a:r>
          </a:p>
          <a:p/>
          <a:p>
            <a:r>
              <a:t>[Sources]</a:t>
            </a:r>
          </a:p>
          <a:p>
            <a:r>
              <a:t>- AWS Certified DevOps Engineer – Professional (DOP-C02) Exam Guide (docs.aws.amazon.com/pdfs/aws-certification/latest/devops-engineer-professional-02).</a:t>
            </a:r>
          </a:p>
          <a:p>
            <a:r>
              <a:t>- AWS Well-Architected Framework (docs.aws.amazon.com/wellarchitected).</a:t>
            </a:r>
          </a:p>
          <a:p>
            <a:r>
              <a:t>- Legacy course deck: WSQ Master Trainer Slides — DevOps Engineering on AWS (v7).</a:t>
            </a:r>
          </a:p>
        </p:txBody>
      </p:sp>
      <p:sp>
        <p:nvSpPr>
          <p:cNvPr id="4" name="Slide Number Placeholder 3"/>
          <p:cNvSpPr>
            <a:spLocks noGrp="1"/>
          </p:cNvSpPr>
          <p:nvPr>
            <p:ph type="sldNum" idx="5" sz="quarter"/>
          </p:nvPr>
        </p:nvSpPr>
        <p:spPr/>
      </p:sp>
    </p:spTree>
  </p:cSld>
  <p:clrMapOvr>
    <a:masterClrMapping/>
  </p:clrMapOvr>
</p:notes>
</file>

<file path=ppt/notesSlides/notesSlide7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DR Patterns — Approximate Recovery Time (RTO). What the data shows: As you move from backup/restore to active/active, RTO falls from hours to near-zero — at rising cost.</a:t>
            </a:r>
          </a:p>
          <a:p>
            <a:r>
              <a:t>Figures are illustrative teaching values to convey the relationship, not measured benchmarks.</a:t>
            </a:r>
          </a:p>
        </p:txBody>
      </p:sp>
      <p:sp>
        <p:nvSpPr>
          <p:cNvPr id="4" name="Slide Number Placeholder 3"/>
          <p:cNvSpPr>
            <a:spLocks noGrp="1"/>
          </p:cNvSpPr>
          <p:nvPr>
            <p:ph type="sldNum" idx="5" sz="quarter"/>
          </p:nvPr>
        </p:nvSpPr>
        <p:spPr/>
      </p:sp>
    </p:spTree>
  </p:cSld>
  <p:clrMapOvr>
    <a:masterClrMapping/>
  </p:clrMapOvr>
</p:notes>
</file>

<file path=ppt/notesSlides/notesSlide7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Domain 03 deep dive — Resilient Cloud Solutions. Editable AWS-native diagram/table/chart.</a:t>
            </a:r>
          </a:p>
          <a:p/>
          <a:p>
            <a:r>
              <a:t>[Sources]</a:t>
            </a:r>
          </a:p>
          <a:p>
            <a:r>
              <a:t>- AWS Certified DevOps Engineer – Professional (DOP-C02) Exam Guide (docs.aws.amazon.com/pdfs/aws-certification/latest/devops-engineer-professional-02).</a:t>
            </a:r>
          </a:p>
          <a:p>
            <a:r>
              <a:t>- AWS Well-Architected Framework (docs.aws.amazon.com/wellarchitected).</a:t>
            </a:r>
          </a:p>
          <a:p>
            <a:r>
              <a:t>- Legacy course deck: WSQ Master Trainer Slides — DevOps Engineering on AWS (v7).</a:t>
            </a:r>
          </a:p>
        </p:txBody>
      </p:sp>
      <p:sp>
        <p:nvSpPr>
          <p:cNvPr id="4" name="Slide Number Placeholder 3"/>
          <p:cNvSpPr>
            <a:spLocks noGrp="1"/>
          </p:cNvSpPr>
          <p:nvPr>
            <p:ph type="sldNum" idx="5" sz="quarter"/>
          </p:nvPr>
        </p:nvSpPr>
        <p:spPr/>
      </p:sp>
    </p:spTree>
  </p:cSld>
  <p:clrMapOvr>
    <a:masterClrMapping/>
  </p:clrMapOvr>
</p:notes>
</file>

<file path=ppt/notesSlides/notesSlide7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Domain 03 deep dive — Resilient Cloud Solutions. Editable AWS-native diagram/table/chart.</a:t>
            </a:r>
          </a:p>
          <a:p/>
          <a:p>
            <a:r>
              <a:t>[Sources]</a:t>
            </a:r>
          </a:p>
          <a:p>
            <a:r>
              <a:t>- AWS Certified DevOps Engineer – Professional (DOP-C02) Exam Guide (docs.aws.amazon.com/pdfs/aws-certification/latest/devops-engineer-professional-02).</a:t>
            </a:r>
          </a:p>
          <a:p>
            <a:r>
              <a:t>- AWS Well-Architected Framework (docs.aws.amazon.com/wellarchitected).</a:t>
            </a:r>
          </a:p>
          <a:p>
            <a:r>
              <a:t>- Legacy course deck: WSQ Master Trainer Slides — DevOps Engineering on AWS (v7).</a:t>
            </a:r>
          </a:p>
        </p:txBody>
      </p:sp>
      <p:sp>
        <p:nvSpPr>
          <p:cNvPr id="4" name="Slide Number Placeholder 3"/>
          <p:cNvSpPr>
            <a:spLocks noGrp="1"/>
          </p:cNvSpPr>
          <p:nvPr>
            <p:ph type="sldNum" idx="5" sz="quarter"/>
          </p:nvPr>
        </p:nvSpPr>
        <p:spPr/>
      </p:sp>
    </p:spTree>
  </p:cSld>
  <p:clrMapOvr>
    <a:masterClrMapping/>
  </p:clrMapOvr>
</p:notes>
</file>

<file path=ppt/notesSlides/notesSlide8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Domain 03 deep dive — Resilient Cloud Solutions. Editable AWS-native diagram/table/chart.</a:t>
            </a:r>
          </a:p>
          <a:p/>
          <a:p>
            <a:r>
              <a:t>[Sources]</a:t>
            </a:r>
          </a:p>
          <a:p>
            <a:r>
              <a:t>- AWS Certified DevOps Engineer – Professional (DOP-C02) Exam Guide (docs.aws.amazon.com/pdfs/aws-certification/latest/devops-engineer-professional-02).</a:t>
            </a:r>
          </a:p>
          <a:p>
            <a:r>
              <a:t>- AWS Well-Architected Framework (docs.aws.amazon.com/wellarchitected).</a:t>
            </a:r>
          </a:p>
          <a:p>
            <a:r>
              <a:t>- Legacy course deck: WSQ Master Trainer Slides — DevOps Engineering on AWS (v7).</a:t>
            </a:r>
          </a:p>
        </p:txBody>
      </p:sp>
      <p:sp>
        <p:nvSpPr>
          <p:cNvPr id="4" name="Slide Number Placeholder 3"/>
          <p:cNvSpPr>
            <a:spLocks noGrp="1"/>
          </p:cNvSpPr>
          <p:nvPr>
            <p:ph type="sldNum" idx="5" sz="quarter"/>
          </p:nvPr>
        </p:nvSpPr>
        <p:spPr/>
      </p:sp>
    </p:spTree>
  </p:cSld>
  <p:clrMapOvr>
    <a:masterClrMapping/>
  </p:clrMapOvr>
</p:notes>
</file>

<file path=ppt/notesSlides/notesSlide8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Domain 03 deep dive — Resilient Cloud Solutions. Editable AWS-native diagram/table/chart.</a:t>
            </a:r>
          </a:p>
          <a:p/>
          <a:p>
            <a:r>
              <a:t>[Sources]</a:t>
            </a:r>
          </a:p>
          <a:p>
            <a:r>
              <a:t>- AWS Certified DevOps Engineer – Professional (DOP-C02) Exam Guide (docs.aws.amazon.com/pdfs/aws-certification/latest/devops-engineer-professional-02).</a:t>
            </a:r>
          </a:p>
          <a:p>
            <a:r>
              <a:t>- AWS Well-Architected Framework (docs.aws.amazon.com/wellarchitected).</a:t>
            </a:r>
          </a:p>
          <a:p>
            <a:r>
              <a:t>- Legacy course deck: WSQ Master Trainer Slides — DevOps Engineering on AWS (v7).</a:t>
            </a:r>
          </a:p>
        </p:txBody>
      </p:sp>
      <p:sp>
        <p:nvSpPr>
          <p:cNvPr id="4" name="Slide Number Placeholder 3"/>
          <p:cNvSpPr>
            <a:spLocks noGrp="1"/>
          </p:cNvSpPr>
          <p:nvPr>
            <p:ph type="sldNum" idx="5" sz="quarter"/>
          </p:nvPr>
        </p:nvSpPr>
        <p:spPr/>
      </p:sp>
    </p:spTree>
  </p:cSld>
  <p:clrMapOvr>
    <a:masterClrMapping/>
  </p:clrMapOvr>
</p:notes>
</file>

<file path=ppt/notesSlides/notesSlide8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Domain 03 deep dive — Resilient Cloud Solutions. Editable AWS-native diagram/table/chart.</a:t>
            </a:r>
          </a:p>
          <a:p/>
          <a:p>
            <a:r>
              <a:t>[Sources]</a:t>
            </a:r>
          </a:p>
          <a:p>
            <a:r>
              <a:t>- AWS Certified DevOps Engineer – Professional (DOP-C02) Exam Guide (docs.aws.amazon.com/pdfs/aws-certification/latest/devops-engineer-professional-02).</a:t>
            </a:r>
          </a:p>
          <a:p>
            <a:r>
              <a:t>- AWS Well-Architected Framework (docs.aws.amazon.com/wellarchitected).</a:t>
            </a:r>
          </a:p>
          <a:p>
            <a:r>
              <a:t>- Legacy course deck: WSQ Master Trainer Slides — DevOps Engineering on AWS (v7).</a:t>
            </a:r>
          </a:p>
        </p:txBody>
      </p:sp>
      <p:sp>
        <p:nvSpPr>
          <p:cNvPr id="4" name="Slide Number Placeholder 3"/>
          <p:cNvSpPr>
            <a:spLocks noGrp="1"/>
          </p:cNvSpPr>
          <p:nvPr>
            <p:ph type="sldNum" idx="5" sz="quarter"/>
          </p:nvPr>
        </p:nvSpPr>
        <p:spPr/>
      </p:sp>
    </p:spTree>
  </p:cSld>
  <p:clrMapOvr>
    <a:masterClrMapping/>
  </p:clrMapOvr>
</p:notes>
</file>

<file path=ppt/notesSlides/notesSlide8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Domain 03 deep dive — Resilient Cloud Solutions. Editable AWS-native diagram/table/chart.</a:t>
            </a:r>
          </a:p>
          <a:p/>
          <a:p>
            <a:r>
              <a:t>[Sources]</a:t>
            </a:r>
          </a:p>
          <a:p>
            <a:r>
              <a:t>- AWS Certified DevOps Engineer – Professional (DOP-C02) Exam Guide (docs.aws.amazon.com/pdfs/aws-certification/latest/devops-engineer-professional-02).</a:t>
            </a:r>
          </a:p>
          <a:p>
            <a:r>
              <a:t>- AWS Well-Architected Framework (docs.aws.amazon.com/wellarchitected).</a:t>
            </a:r>
          </a:p>
          <a:p>
            <a:r>
              <a:t>- Legacy course deck: WSQ Master Trainer Slides — DevOps Engineering on AWS (v7).</a:t>
            </a:r>
          </a:p>
        </p:txBody>
      </p:sp>
      <p:sp>
        <p:nvSpPr>
          <p:cNvPr id="4" name="Slide Number Placeholder 3"/>
          <p:cNvSpPr>
            <a:spLocks noGrp="1"/>
          </p:cNvSpPr>
          <p:nvPr>
            <p:ph type="sldNum" idx="5" sz="quarter"/>
          </p:nvPr>
        </p:nvSpPr>
        <p:spPr/>
      </p:sp>
    </p:spTree>
  </p:cSld>
  <p:clrMapOvr>
    <a:masterClrMapping/>
  </p:clrMapOvr>
</p:notes>
</file>

<file path=ppt/notesSlides/notesSlide8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High availability across Availability Zones.</a:t>
            </a:r>
          </a:p>
          <a:p>
            <a:r>
              <a:t>Why it matters: Multi-AZ is the cheapest, highest-leverage resilience decision — most real outages are single-AZ or single-instance, both survivable.</a:t>
            </a:r>
          </a:p>
          <a:p>
            <a:r>
              <a:t>Failure mode: A single-AZ deployment, or a stateful session pinned to one instance, turns a routine hardware failure into a customer-visible outage.</a:t>
            </a:r>
          </a:p>
          <a:p>
            <a:r>
              <a:t>Trade-off: Cross-AZ traffic incurs latency and data-transfer cost — a fair price for surviving an AZ loss.</a:t>
            </a:r>
          </a:p>
          <a:p/>
          <a:p>
            <a:r>
              <a:t>[Sources]</a:t>
            </a:r>
          </a:p>
          <a:p>
            <a:r>
              <a:t>- AWS Certified DevOps Engineer – Professional (DOP-C02) Exam Guide (docs.aws.amazon.com/pdfs/aws-certification/latest/devops-engineer-professional-02).</a:t>
            </a:r>
          </a:p>
          <a:p>
            <a:r>
              <a:t>- AWS Well-Architected Framework (docs.aws.amazon.com/wellarchitected).</a:t>
            </a:r>
          </a:p>
          <a:p>
            <a:r>
              <a:t>- AWS Regions and AZs Documentation (docs.aws.amazon.com/AWSEC2/latest/UserGuide/using-regions-availability-zones.html).</a:t>
            </a:r>
          </a:p>
        </p:txBody>
      </p:sp>
      <p:sp>
        <p:nvSpPr>
          <p:cNvPr id="4" name="Slide Number Placeholder 3"/>
          <p:cNvSpPr>
            <a:spLocks noGrp="1"/>
          </p:cNvSpPr>
          <p:nvPr>
            <p:ph type="sldNum" idx="5" sz="quarter"/>
          </p:nvPr>
        </p:nvSpPr>
        <p:spPr/>
      </p:sp>
    </p:spTree>
  </p:cSld>
  <p:clrMapOvr>
    <a:masterClrMapping/>
  </p:clrMapOvr>
</p:notes>
</file>

<file path=ppt/notesSlides/notesSlide8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Elasticity and Auto Scaling.</a:t>
            </a:r>
          </a:p>
          <a:p>
            <a:r>
              <a:t>Why it matters: Elasticity matches cost to demand and provides self-healing — a terminated instance is silently replaced.</a:t>
            </a:r>
          </a:p>
          <a:p>
            <a:r>
              <a:t>Failure mode: Scaling on the wrong metric (CPU for an I/O-bound app) leaves you slow under load and over-provisioned when idle.</a:t>
            </a:r>
          </a:p>
          <a:p>
            <a:r>
              <a:t>Trade-off: Aggressive scaling reacts fast but can thrash — tune cooldowns and warm-up so the group settles.</a:t>
            </a:r>
          </a:p>
          <a:p/>
          <a:p>
            <a:r>
              <a:t>[Sources]</a:t>
            </a:r>
          </a:p>
          <a:p>
            <a:r>
              <a:t>- AWS EC2 Auto Scaling Documentation (docs.aws.amazon.com/autoscaling).</a:t>
            </a:r>
          </a:p>
          <a:p>
            <a:r>
              <a:t>- AWS Certified DevOps Engineer – Professional (DOP-C02) Exam Guide (docs.aws.amazon.com/pdfs/aws-certification/latest/devops-engineer-professional-02).</a:t>
            </a:r>
          </a:p>
          <a:p>
            <a:r>
              <a:t>- AWS Well-Architected Framework (docs.aws.amazon.com/wellarchitected).</a:t>
            </a:r>
          </a:p>
        </p:txBody>
      </p:sp>
      <p:sp>
        <p:nvSpPr>
          <p:cNvPr id="4" name="Slide Number Placeholder 3"/>
          <p:cNvSpPr>
            <a:spLocks noGrp="1"/>
          </p:cNvSpPr>
          <p:nvPr>
            <p:ph type="sldNum" idx="5" sz="quarter"/>
          </p:nvPr>
        </p:nvSpPr>
        <p:spPr/>
      </p:sp>
    </p:spTree>
  </p:cSld>
  <p:clrMapOvr>
    <a:masterClrMapping/>
  </p:clrMapOvr>
</p:notes>
</file>

<file path=ppt/notesSlides/notesSlide8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Load balancer types and when to use them.</a:t>
            </a:r>
          </a:p>
          <a:p>
            <a:r>
              <a:t>Why it matters: Choosing the right layer-7 or layer-4 balancer shapes routing, TLS termination, latency and cost.</a:t>
            </a:r>
          </a:p>
          <a:p>
            <a:r>
              <a:t>Failure mode: Forcing an L7 ALB where you need raw TCP throughput or a static IP adds latency and misses the requirement.</a:t>
            </a:r>
          </a:p>
          <a:p>
            <a:r>
              <a:t>Trade-off: ALB gives rich routing at higher per-request processing; NLB gives raw speed with fewer features.</a:t>
            </a:r>
          </a:p>
          <a:p/>
          <a:p>
            <a:r>
              <a:t>[Sources]</a:t>
            </a:r>
          </a:p>
          <a:p>
            <a:r>
              <a:t>- AWS Elastic Load Balancing Documentation (docs.aws.amazon.com/elasticloadbalancing).</a:t>
            </a:r>
          </a:p>
          <a:p>
            <a:r>
              <a:t>- AWS Certified DevOps Engineer – Professional (DOP-C02) Exam Guide (docs.aws.amazon.com/pdfs/aws-certification/latest/devops-engineer-professional-02).</a:t>
            </a:r>
          </a:p>
        </p:txBody>
      </p:sp>
      <p:sp>
        <p:nvSpPr>
          <p:cNvPr id="4" name="Slide Number Placeholder 3"/>
          <p:cNvSpPr>
            <a:spLocks noGrp="1"/>
          </p:cNvSpPr>
          <p:nvPr>
            <p:ph type="sldNum" idx="5" sz="quarter"/>
          </p:nvPr>
        </p:nvSpPr>
        <p:spPr/>
      </p:sp>
    </p:spTree>
  </p:cSld>
  <p:clrMapOvr>
    <a:masterClrMapping/>
  </p:clrMapOvr>
</p:notes>
</file>

<file path=ppt/notesSlides/notesSlide8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Decoupling with queues, topics and events.</a:t>
            </a:r>
          </a:p>
          <a:p>
            <a:r>
              <a:t>Why it matters: Loose coupling converts synchronous, cascading failures into asynchronous backlogs the system can recover from.</a:t>
            </a:r>
          </a:p>
          <a:p>
            <a:r>
              <a:t>Failure mode: A synchronous call chain means one slow downstream service ties up threads and cascades into a full outage.</a:t>
            </a:r>
          </a:p>
          <a:p>
            <a:r>
              <a:t>Trade-off: Asynchronous designs add eventual-consistency and idempotency concerns — consumers must handle duplicates and out-of-order delivery.</a:t>
            </a:r>
          </a:p>
          <a:p/>
          <a:p>
            <a:r>
              <a:t>[Sources]</a:t>
            </a:r>
          </a:p>
          <a:p>
            <a:r>
              <a:t>- AWS SQS Documentation (docs.aws.amazon.com/AWSSimpleQueueService).</a:t>
            </a:r>
          </a:p>
          <a:p>
            <a:r>
              <a:t>- AWS EventBridge Documentation (docs.aws.amazon.com/eventbridge).</a:t>
            </a:r>
          </a:p>
          <a:p>
            <a:r>
              <a:t>- AWS Well-Architected Framework (docs.aws.amazon.com/wellarchitected).</a:t>
            </a:r>
          </a:p>
        </p:txBody>
      </p:sp>
      <p:sp>
        <p:nvSpPr>
          <p:cNvPr id="4" name="Slide Number Placeholder 3"/>
          <p:cNvSpPr>
            <a:spLocks noGrp="1"/>
          </p:cNvSpPr>
          <p:nvPr>
            <p:ph type="sldNum" idx="5" sz="quarter"/>
          </p:nvPr>
        </p:nvSpPr>
        <p:spPr/>
      </p:sp>
    </p:spTree>
  </p:cSld>
  <p:clrMapOvr>
    <a:masterClrMapping/>
  </p:clrMapOvr>
</p:notes>
</file>

<file path=ppt/notesSlides/notesSlide8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RTO and RPO drive the DR pattern.</a:t>
            </a:r>
          </a:p>
          <a:p>
            <a:r>
              <a:t>Why it matters: Naming RTO/RPO turns 'make it resilient' into a concrete, testable and budgetable design target.</a:t>
            </a:r>
          </a:p>
          <a:p>
            <a:r>
              <a:t>Failure mode: Buying active/active for a back-office app wastes money; choosing backup-and-restore for a payment system risks the business.</a:t>
            </a:r>
          </a:p>
          <a:p>
            <a:r>
              <a:t>Trade-off: Lower RTO/RPO means more running (and paid-for) standby capacity — match spend to the revenue at risk.</a:t>
            </a:r>
          </a:p>
          <a:p/>
          <a:p>
            <a:r>
              <a:t>[Sources]</a:t>
            </a:r>
          </a:p>
          <a:p>
            <a:r>
              <a:t>- AWS Disaster Recovery Documentation (docs.aws.amazon.com/whitepapers/latest/disaster-recovery-workloads-on-aws).</a:t>
            </a:r>
          </a:p>
          <a:p>
            <a:r>
              <a:t>- AWS Certified DevOps Engineer – Professional (DOP-C02) Exam Guide (docs.aws.amazon.com/pdfs/aws-certification/latest/devops-engineer-professional-02).</a:t>
            </a:r>
          </a:p>
          <a:p>
            <a:r>
              <a:t>- AWS Well-Architected Framework (docs.aws.amazon.com/wellarchitected).</a:t>
            </a:r>
          </a:p>
        </p:txBody>
      </p:sp>
      <p:sp>
        <p:nvSpPr>
          <p:cNvPr id="4" name="Slide Number Placeholder 3"/>
          <p:cNvSpPr>
            <a:spLocks noGrp="1"/>
          </p:cNvSpPr>
          <p:nvPr>
            <p:ph type="sldNum" idx="5" sz="quarter"/>
          </p:nvPr>
        </p:nvSpPr>
        <p:spPr/>
      </p:sp>
    </p:spTree>
  </p:cSld>
  <p:clrMapOvr>
    <a:masterClrMapping/>
  </p:clrMapOvr>
</p:notes>
</file>

<file path=ppt/notesSlides/notesSlide8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Data durability and multi-Region protection.</a:t>
            </a:r>
          </a:p>
          <a:p>
            <a:r>
              <a:t>Why it matters: Compute is replaceable; data is not — durable, recoverable state is the foundation everything else rebuilds on.</a:t>
            </a:r>
          </a:p>
          <a:p>
            <a:r>
              <a:t>Failure mode: A single-AZ database or un-tested backups mean the app tier can be perfectly redundant yet still lose the business's data.</a:t>
            </a:r>
          </a:p>
          <a:p>
            <a:r>
              <a:t>Trade-off: Synchronous replication protects data but adds write latency; cross-Region copies add cost and lag.</a:t>
            </a:r>
          </a:p>
          <a:p/>
          <a:p>
            <a:r>
              <a:t>[Sources]</a:t>
            </a:r>
          </a:p>
          <a:p>
            <a:r>
              <a:t>- AWS RDS Multi-AZ Documentation (docs.aws.amazon.com/AmazonRDS/latest/UserGuide/Concepts.MultiAZ.html).</a:t>
            </a:r>
          </a:p>
          <a:p>
            <a:r>
              <a:t>- AWS DynamoDB global tables Documentation (docs.aws.amazon.com/amazondynamodb/latest/developerguide/GlobalTables.html).</a:t>
            </a:r>
          </a:p>
          <a:p>
            <a:r>
              <a:t>- AWS Certified DevOps Engineer – Professional (DOP-C02) Exam Guide (docs.aws.amazon.com/pdfs/aws-certification/latest/devops-engineer-professional-02).</a:t>
            </a:r>
          </a:p>
        </p:txBody>
      </p:sp>
      <p:sp>
        <p:nvSpPr>
          <p:cNvPr id="4" name="Slide Number Placeholder 3"/>
          <p:cNvSpPr>
            <a:spLocks noGrp="1"/>
          </p:cNvSpPr>
          <p:nvPr>
            <p:ph type="sldNum" idx="5" sz="quarter"/>
          </p:nvPr>
        </p:nvSpPr>
        <p:spPr/>
      </p:sp>
    </p:spTree>
  </p:cSld>
  <p:clrMapOvr>
    <a:masterClrMapping/>
  </p:clrMapOvr>
</p:notes>
</file>

<file path=ppt/notesSlides/notesSlide9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Automated recovery and self-healing.</a:t>
            </a:r>
          </a:p>
          <a:p>
            <a:r>
              <a:t>Why it matters: Automating recovery shrinks MTTR toward zero for the common failures and frees humans for the novel ones.</a:t>
            </a:r>
          </a:p>
          <a:p>
            <a:r>
              <a:t>Failure mode: Manual failover runbooks that are never rehearsed fail exactly when you need them, under incident pressure.</a:t>
            </a:r>
          </a:p>
          <a:p>
            <a:r>
              <a:t>Trade-off: Automated failover must guard against flapping and split-brain — tune thresholds and use health checks carefully.</a:t>
            </a:r>
          </a:p>
          <a:p/>
          <a:p>
            <a:r>
              <a:t>[Sources]</a:t>
            </a:r>
          </a:p>
          <a:p>
            <a:r>
              <a:t>- AWS Route 53 health checks Documentation (docs.aws.amazon.com/Route53/latest/DeveloperGuide/dns-failover.html).</a:t>
            </a:r>
          </a:p>
          <a:p>
            <a:r>
              <a:t>- AWS Certified DevOps Engineer – Professional (DOP-C02) Exam Guide (docs.aws.amazon.com/pdfs/aws-certification/latest/devops-engineer-professional-02).</a:t>
            </a:r>
          </a:p>
          <a:p>
            <a:r>
              <a:t>- AWS Well-Architected Framework (docs.aws.amazon.com/wellarchitected).</a:t>
            </a:r>
          </a:p>
        </p:txBody>
      </p:sp>
      <p:sp>
        <p:nvSpPr>
          <p:cNvPr id="4" name="Slide Number Placeholder 3"/>
          <p:cNvSpPr>
            <a:spLocks noGrp="1"/>
          </p:cNvSpPr>
          <p:nvPr>
            <p:ph type="sldNum" idx="5" sz="quarter"/>
          </p:nvPr>
        </p:nvSpPr>
        <p:spPr/>
      </p:sp>
    </p:spTree>
  </p:cSld>
  <p:clrMapOvr>
    <a:masterClrMapping/>
  </p:clrMapOvr>
</p:notes>
</file>

<file path=ppt/notesSlides/notesSlide9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Designing for graceful degradation.</a:t>
            </a:r>
          </a:p>
          <a:p>
            <a:r>
              <a:t>Why it matters: Graceful degradation keeps the most important user journeys working even when parts of the system are unhealthy.</a:t>
            </a:r>
          </a:p>
          <a:p>
            <a:r>
              <a:t>Failure mode: Unbounded retries during an incident create a retry storm that turns a brownout into a full outage.</a:t>
            </a:r>
          </a:p>
          <a:p>
            <a:r>
              <a:t>Trade-off: Serving degraded responses reduces functionality temporarily to preserve availability — usually the right call.</a:t>
            </a:r>
          </a:p>
          <a:p/>
          <a:p>
            <a:r>
              <a:t>[Sources]</a:t>
            </a:r>
          </a:p>
          <a:p>
            <a:r>
              <a:t>- AWS Well-Architected Framework (docs.aws.amazon.com/wellarchitected).</a:t>
            </a:r>
          </a:p>
          <a:p>
            <a:r>
              <a:t>- AWS Builders' Library Documentation (docs.aws.amazon.com/builders-library).</a:t>
            </a:r>
          </a:p>
          <a:p>
            <a:r>
              <a:t>- AWS Certified DevOps Engineer – Professional (DOP-C02) Exam Guide (docs.aws.amazon.com/pdfs/aws-certification/latest/devops-engineer-professional-02).</a:t>
            </a:r>
          </a:p>
        </p:txBody>
      </p:sp>
      <p:sp>
        <p:nvSpPr>
          <p:cNvPr id="4" name="Slide Number Placeholder 3"/>
          <p:cNvSpPr>
            <a:spLocks noGrp="1"/>
          </p:cNvSpPr>
          <p:nvPr>
            <p:ph type="sldNum" idx="5" sz="quarter"/>
          </p:nvPr>
        </p:nvSpPr>
        <p:spPr/>
      </p:sp>
    </p:spTree>
  </p:cSld>
  <p:clrMapOvr>
    <a:masterClrMapping/>
  </p:clrMapOvr>
</p:notes>
</file>

<file path=ppt/notesSlides/notesSlide9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Comparison — Disaster Recovery Patterns — Cost vs Recovery.</a:t>
            </a:r>
          </a:p>
          <a:p/>
          <a:p>
            <a:r>
              <a:t>[Sources]</a:t>
            </a:r>
          </a:p>
          <a:p>
            <a:r>
              <a:t>- AWS Disaster Recovery Documentation (docs.aws.amazon.com/whitepapers/latest/disaster-recovery-workloads-on-aws).</a:t>
            </a:r>
          </a:p>
          <a:p>
            <a:r>
              <a:t>- AWS Certified DevOps Engineer – Professional (DOP-C02) Exam Guide (docs.aws.amazon.com/pdfs/aws-certification/latest/devops-engineer-professional-02).</a:t>
            </a:r>
          </a:p>
        </p:txBody>
      </p:sp>
      <p:sp>
        <p:nvSpPr>
          <p:cNvPr id="4" name="Slide Number Placeholder 3"/>
          <p:cNvSpPr>
            <a:spLocks noGrp="1"/>
          </p:cNvSpPr>
          <p:nvPr>
            <p:ph type="sldNum" idx="5" sz="quarter"/>
          </p:nvPr>
        </p:nvSpPr>
        <p:spPr/>
      </p:sp>
    </p:spTree>
  </p:cSld>
  <p:clrMapOvr>
    <a:masterClrMapping/>
  </p:clrMapOvr>
</p:notes>
</file>

<file path=ppt/notesSlides/notesSlide9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Availability Math — Adding a Second AZ. What the data shows: Most availability gain comes from the first jump to multi-AZ; multi-Region adds resilience against rare Region events at much higher cost.</a:t>
            </a:r>
          </a:p>
          <a:p>
            <a:r>
              <a:t>Figures are illustrative teaching values to convey the relationship, not measured benchmarks.</a:t>
            </a:r>
          </a:p>
          <a:p/>
          <a:p>
            <a:r>
              <a:t>[Sources]</a:t>
            </a:r>
          </a:p>
          <a:p>
            <a:r>
              <a:t>- AWS Well-Architected Framework (docs.aws.amazon.com/wellarchitected).</a:t>
            </a:r>
          </a:p>
          <a:p>
            <a:r>
              <a:t>- AWS Certified DevOps Engineer – Professional (DOP-C02) Exam Guide (docs.aws.amazon.com/pdfs/aws-certification/latest/devops-engineer-professional-02).</a:t>
            </a:r>
          </a:p>
        </p:txBody>
      </p:sp>
      <p:sp>
        <p:nvSpPr>
          <p:cNvPr id="4" name="Slide Number Placeholder 3"/>
          <p:cNvSpPr>
            <a:spLocks noGrp="1"/>
          </p:cNvSpPr>
          <p:nvPr>
            <p:ph type="sldNum" idx="5" sz="quarter"/>
          </p:nvPr>
        </p:nvSpPr>
        <p:spPr/>
      </p:sp>
    </p:spTree>
  </p:cSld>
  <p:clrMapOvr>
    <a:masterClrMapping/>
  </p:clrMapOvr>
</p:notes>
</file>

<file path=ppt/notesSlides/notesSlide9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Auto Scaling Under a Load Spike. What the data shows: Target tracking follows demand up and back down, so capacity tracks load — you pay for peak only while the peak lasts.</a:t>
            </a:r>
          </a:p>
          <a:p>
            <a:r>
              <a:t>Figures are illustrative teaching values to convey the relationship, not measured benchmarks.</a:t>
            </a:r>
          </a:p>
          <a:p/>
          <a:p>
            <a:r>
              <a:t>[Sources]</a:t>
            </a:r>
          </a:p>
          <a:p>
            <a:r>
              <a:t>- AWS EC2 Auto Scaling Documentation (docs.aws.amazon.com/autoscaling).</a:t>
            </a:r>
          </a:p>
          <a:p>
            <a:r>
              <a:t>- AWS Certified DevOps Engineer – Professional (DOP-C02) Exam Guide (docs.aws.amazon.com/pdfs/aws-certification/latest/devops-engineer-professional-02).</a:t>
            </a:r>
          </a:p>
        </p:txBody>
      </p:sp>
      <p:sp>
        <p:nvSpPr>
          <p:cNvPr id="4" name="Slide Number Placeholder 3"/>
          <p:cNvSpPr>
            <a:spLocks noGrp="1"/>
          </p:cNvSpPr>
          <p:nvPr>
            <p:ph type="sldNum" idx="5" sz="quarter"/>
          </p:nvPr>
        </p:nvSpPr>
        <p:spPr/>
      </p:sp>
    </p:spTree>
  </p:cSld>
  <p:clrMapOvr>
    <a:masterClrMapping/>
  </p:clrMapOvr>
</p:notes>
</file>

<file path=ppt/notesSlides/notesSlide9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Resilience Failure Modes &amp; Anti-Patterns.</a:t>
            </a:r>
          </a:p>
          <a:p>
            <a:r>
              <a:t>Single-AZ database — App tier redundant, data tier isn't → Multi-AZ RDS / global tables.</a:t>
            </a:r>
          </a:p>
          <a:p>
            <a:r>
              <a:t>Sticky in-memory sessions — One instance loss logs everyone out → externalise session state.</a:t>
            </a:r>
          </a:p>
          <a:p>
            <a:r>
              <a:t>Retry storms — Unbounded retries amplify an outage → backoff + jitter + circuit breakers.</a:t>
            </a:r>
          </a:p>
          <a:p>
            <a:r>
              <a:t>Untested failover — Runbook fails under pressure → game-days and automated failover.</a:t>
            </a:r>
          </a:p>
          <a:p>
            <a:r>
              <a:t>Scaling on wrong metric — Slow under load, wasteful when idle → scale on the true constraint.</a:t>
            </a:r>
          </a:p>
          <a:p>
            <a:r>
              <a:t>No health-check depth — LB routes to a process that's up but broken → deep health checks.</a:t>
            </a:r>
          </a:p>
          <a:p/>
          <a:p>
            <a:r>
              <a:t>[Sources]</a:t>
            </a:r>
          </a:p>
          <a:p>
            <a:r>
              <a:t>- AWS Well-Architected Framework (docs.aws.amazon.com/wellarchitected).</a:t>
            </a:r>
          </a:p>
          <a:p>
            <a:r>
              <a:t>- AWS Certified DevOps Engineer – Professional (DOP-C02) Exam Guide (docs.aws.amazon.com/pdfs/aws-certification/latest/devops-engineer-professional-02).</a:t>
            </a:r>
          </a:p>
        </p:txBody>
      </p:sp>
      <p:sp>
        <p:nvSpPr>
          <p:cNvPr id="4" name="Slide Number Placeholder 3"/>
          <p:cNvSpPr>
            <a:spLocks noGrp="1"/>
          </p:cNvSpPr>
          <p:nvPr>
            <p:ph type="sldNum" idx="5" sz="quarter"/>
          </p:nvPr>
        </p:nvSpPr>
        <p:spPr/>
      </p:sp>
    </p:spTree>
  </p:cSld>
  <p:clrMapOvr>
    <a:masterClrMapping/>
  </p:clrMapOvr>
</p:notes>
</file>

<file path=ppt/notesSlides/notesSlide9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Resilience Patterns Worth Adopting.</a:t>
            </a:r>
          </a:p>
          <a:p>
            <a:r>
              <a:t>Multi-AZ by default — Never depend on a single Availability Zone.</a:t>
            </a:r>
          </a:p>
          <a:p>
            <a:r>
              <a:t>Stateless tiers — Push state to RDS/DynamoDB/ElastiCache so any instance is disposable.</a:t>
            </a:r>
          </a:p>
          <a:p>
            <a:r>
              <a:t>Backoff with jitter — Spread retries to avoid synchronised load.</a:t>
            </a:r>
          </a:p>
          <a:p>
            <a:r>
              <a:t>Circuit breaker — Stop calling a failing dependency; fail fast and recover.</a:t>
            </a:r>
          </a:p>
          <a:p>
            <a:r>
              <a:t>Health-check failover — Route 53 / ELB route around unhealthy targets.</a:t>
            </a:r>
          </a:p>
          <a:p>
            <a:r>
              <a:t>Game-days — Rehearse failure so recovery is routine, not heroic.</a:t>
            </a:r>
          </a:p>
          <a:p/>
          <a:p>
            <a:r>
              <a:t>[Sources]</a:t>
            </a:r>
          </a:p>
          <a:p>
            <a:r>
              <a:t>- AWS Well-Architected Framework (docs.aws.amazon.com/wellarchitected).</a:t>
            </a:r>
          </a:p>
          <a:p>
            <a:r>
              <a:t>- AWS Builders' Library Documentation (docs.aws.amazon.com/builders-library).</a:t>
            </a:r>
          </a:p>
        </p:txBody>
      </p:sp>
      <p:sp>
        <p:nvSpPr>
          <p:cNvPr id="4" name="Slide Number Placeholder 3"/>
          <p:cNvSpPr>
            <a:spLocks noGrp="1"/>
          </p:cNvSpPr>
          <p:nvPr>
            <p:ph type="sldNum" idx="5" sz="quarter"/>
          </p:nvPr>
        </p:nvSpPr>
        <p:spPr/>
      </p:sp>
    </p:spTree>
  </p:cSld>
  <p:clrMapOvr>
    <a:masterClrMapping/>
  </p:clrMapOvr>
</p:notes>
</file>

<file path=ppt/notesSlides/notesSlide9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Architecture Decision — Which DR Pattern?.</a:t>
            </a:r>
          </a:p>
          <a:p>
            <a:r>
              <a:t>Option A — Backup &amp; Restore: Non-critical or easily rebuilt workloads. Cheapest — but recovery takes hours and loses recent data.</a:t>
            </a:r>
          </a:p>
          <a:p>
            <a:r>
              <a:t>Option B — Pilot Light / Warm Standby: Important workloads needing minutes-scale recovery. A scaled-down copy runs ready to promote — moderate standing cost.</a:t>
            </a:r>
          </a:p>
          <a:p>
            <a:r>
              <a:t>Option C — Multi-site Active/Active: Revenue-critical systems that can't be down. Near-zero RTO/RPO — at roughly double the running cost and real complexity.</a:t>
            </a:r>
          </a:p>
          <a:p/>
          <a:p>
            <a:r>
              <a:t>[Sources]</a:t>
            </a:r>
          </a:p>
          <a:p>
            <a:r>
              <a:t>- AWS Disaster Recovery Documentation (docs.aws.amazon.com/whitepapers/latest/disaster-recovery-workloads-on-aws).</a:t>
            </a:r>
          </a:p>
          <a:p>
            <a:r>
              <a:t>- AWS Certified DevOps Engineer – Professional (DOP-C02) Exam Guide (docs.aws.amazon.com/pdfs/aws-certification/latest/devops-engineer-professional-02).</a:t>
            </a:r>
          </a:p>
        </p:txBody>
      </p:sp>
      <p:sp>
        <p:nvSpPr>
          <p:cNvPr id="4" name="Slide Number Placeholder 3"/>
          <p:cNvSpPr>
            <a:spLocks noGrp="1"/>
          </p:cNvSpPr>
          <p:nvPr>
            <p:ph type="sldNum" idx="5" sz="quarter"/>
          </p:nvPr>
        </p:nvSpPr>
        <p:spPr/>
      </p:sp>
    </p:spTree>
  </p:cSld>
  <p:clrMapOvr>
    <a:masterClrMapping/>
  </p:clrMapOvr>
</p:notes>
</file>

<file path=ppt/notesSlides/notesSlide9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Scenario: An AZ becomes impaired. Half the fleet is there, and the primary database node runs in it.</a:t>
            </a:r>
          </a:p>
          <a:p>
            <a:r>
              <a:t>Because compute is stateless behind an ALB across two AZs, the load balancer simply stops routing to the failed AZ.</a:t>
            </a:r>
          </a:p>
          <a:p>
            <a:r>
              <a:t>The Auto Scaling group launches replacement instances in the healthy AZ to restore capacity.</a:t>
            </a:r>
          </a:p>
          <a:p>
            <a:r>
              <a:t>Multi-AZ RDS fails over to the synchronous standby in the other AZ automatically.</a:t>
            </a:r>
          </a:p>
          <a:p>
            <a:r>
              <a:t>Decision: No human action is required for the common case — the design absorbs an AZ loss. Confirm capacity headroom so the healthy AZ can carry full load during the event.</a:t>
            </a:r>
          </a:p>
          <a:p/>
          <a:p>
            <a:r>
              <a:t>[Sources]</a:t>
            </a:r>
          </a:p>
          <a:p>
            <a:r>
              <a:t>- AWS Well-Architected Framework (docs.aws.amazon.com/wellarchitected).</a:t>
            </a:r>
          </a:p>
          <a:p>
            <a:r>
              <a:t>- AWS RDS Multi-AZ Documentation (docs.aws.amazon.com/AmazonRDS/latest/UserGuide/Concepts.MultiAZ.html).</a:t>
            </a:r>
          </a:p>
        </p:txBody>
      </p:sp>
      <p:sp>
        <p:nvSpPr>
          <p:cNvPr id="4" name="Slide Number Placeholder 3"/>
          <p:cNvSpPr>
            <a:spLocks noGrp="1"/>
          </p:cNvSpPr>
          <p:nvPr>
            <p:ph type="sldNum" idx="5" sz="quarter"/>
          </p:nvPr>
        </p:nvSpPr>
        <p:spPr/>
      </p:sp>
    </p:spTree>
  </p:cSld>
  <p:clrMapOvr>
    <a:masterClrMapping/>
  </p:clrMapOvr>
</p:notes>
</file>

<file path=ppt/notesSlides/notesSlide9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Scenario: Traffic will rise 6x for a few hours during a sale, then return to normal.</a:t>
            </a:r>
          </a:p>
          <a:p>
            <a:r>
              <a:t>Fixed capacity sized for the peak wastes money the other 360 days; sized for normal, it falls over during the sale.</a:t>
            </a:r>
          </a:p>
          <a:p>
            <a:r>
              <a:t>Scheduled scaling pre-warms capacity just before the known event; target tracking then follows real demand.</a:t>
            </a:r>
          </a:p>
          <a:p>
            <a:r>
              <a:t>Decoupling checkout with SQS lets bursts queue instead of failing when a downstream service saturates.</a:t>
            </a:r>
          </a:p>
          <a:p>
            <a:r>
              <a:t>Decision: Combine scheduled pre-scaling for the known start time with target-tracking for the actual curve, and buffer spiky writes through a queue so load is absorbed as backlog.</a:t>
            </a:r>
          </a:p>
          <a:p/>
          <a:p>
            <a:r>
              <a:t>[Sources]</a:t>
            </a:r>
          </a:p>
          <a:p>
            <a:r>
              <a:t>- AWS EC2 Auto Scaling Documentation (docs.aws.amazon.com/autoscaling).</a:t>
            </a:r>
          </a:p>
          <a:p>
            <a:r>
              <a:t>- AWS SQS Documentation (docs.aws.amazon.com/AWSSimpleQueueService).</a:t>
            </a:r>
          </a:p>
        </p:txBody>
      </p:sp>
      <p:sp>
        <p:nvSpPr>
          <p:cNvPr id="4" name="Slide Number Placeholder 3"/>
          <p:cNvSpPr>
            <a:spLocks noGrp="1"/>
          </p:cNvSpPr>
          <p:nvPr>
            <p:ph type="sldNum" idx="5" sz="quarter"/>
          </p:nvPr>
        </p:nvSpPr>
        <p:spPr/>
      </p:sp>
    </p:spTree>
  </p:cSld>
  <p:clrMapOvr>
    <a:masterClrMapping/>
  </p:clrMapOvr>
</p:notes>
</file>

<file path=ppt/notesSlides/notesSlide10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Worked Analysis — Reading an RTO/RPO Requirement.</a:t>
            </a:r>
          </a:p>
          <a:p>
            <a:r>
              <a:t>'Restore within 15 minutes' (RTO) — Rules out backup &amp; restore (hours). Warm standby or pilot light needed.</a:t>
            </a:r>
          </a:p>
          <a:p>
            <a:r>
              <a:t>'Lose at most a few seconds' (RPO) — Requires synchronous or near-real-time replication — Multi-AZ RDS or global tables.</a:t>
            </a:r>
          </a:p>
          <a:p>
            <a:r>
              <a:t>'Survive a Region event' — Forces a cross-Region strategy, not just multi-AZ.</a:t>
            </a:r>
          </a:p>
          <a:p>
            <a:r>
              <a:t>Budget is limited — Pilot light: minimal always-on footprint, scaled up on failover — a pragmatic middle.</a:t>
            </a:r>
          </a:p>
          <a:p>
            <a:r>
              <a:t>Takeaway: Each phrase in the requirement eliminates patterns until one fits — resilience design is requirement-driven, not taste-driven.</a:t>
            </a:r>
          </a:p>
          <a:p/>
          <a:p>
            <a:r>
              <a:t>[Sources]</a:t>
            </a:r>
          </a:p>
          <a:p>
            <a:r>
              <a:t>- AWS Disaster Recovery Documentation (docs.aws.amazon.com/whitepapers/latest/disaster-recovery-workloads-on-aws).</a:t>
            </a:r>
          </a:p>
          <a:p>
            <a:r>
              <a:t>- AWS Certified DevOps Engineer – Professional (DOP-C02) Exam Guide (docs.aws.amazon.com/pdfs/aws-certification/latest/devops-engineer-professional-02).</a:t>
            </a:r>
          </a:p>
        </p:txBody>
      </p:sp>
      <p:sp>
        <p:nvSpPr>
          <p:cNvPr id="4" name="Slide Number Placeholder 3"/>
          <p:cNvSpPr>
            <a:spLocks noGrp="1"/>
          </p:cNvSpPr>
          <p:nvPr>
            <p:ph type="sldNum" idx="5" sz="quarter"/>
          </p:nvPr>
        </p:nvSpPr>
        <p:spPr/>
      </p:sp>
    </p:spTree>
  </p:cSld>
  <p:clrMapOvr>
    <a:masterClrMapping/>
  </p:clrMapOvr>
</p:notes>
</file>

<file path=ppt/notesSlides/notesSlide10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Lab 11 overview — Deploy a highly available multi-AZ Application Load Balancer fronting an Auto Scaling group and prove requests are served from both Availability Zones (LO3, K2, K4, A2).</a:t>
            </a:r>
          </a:p>
          <a:p>
            <a:r>
              <a:t>Concept-led briefing only. The full detailed procedure, commands, expected outputs, validation and cleanup live in the Learner Guide and the lab README (not on the slides).</a:t>
            </a:r>
          </a:p>
          <a:p>
            <a:r>
              <a:t>Reference architecture: course-generated diagram for Lab 11.</a:t>
            </a:r>
          </a:p>
          <a:p/>
          <a:p>
            <a:r>
              <a:t>[Sources]</a:t>
            </a:r>
          </a:p>
          <a:p>
            <a:r>
              <a:t>- AWS Certified DevOps Engineer – Professional (DOP-C02) Exam Guide (docs.aws.amazon.com/pdfs/aws-certification/latest/devops-engineer-professional-02).</a:t>
            </a:r>
          </a:p>
          <a:p>
            <a:r>
              <a:t>- Legacy course deck: WSQ Master Trainer Slides — DevOps Engineering on AWS (v7).</a:t>
            </a:r>
          </a:p>
        </p:txBody>
      </p:sp>
      <p:sp>
        <p:nvSpPr>
          <p:cNvPr id="4" name="Slide Number Placeholder 3"/>
          <p:cNvSpPr>
            <a:spLocks noGrp="1"/>
          </p:cNvSpPr>
          <p:nvPr>
            <p:ph type="sldNum" idx="5" sz="quarter"/>
          </p:nvPr>
        </p:nvSpPr>
        <p:spPr/>
      </p:sp>
    </p:spTree>
  </p:cSld>
  <p:clrMapOvr>
    <a:masterClrMapping/>
  </p:clrMapOvr>
</p:notes>
</file>

<file path=ppt/notesSlides/notesSlide10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Lab 12 overview — Attach a target-tracking scaling policy to an Auto Scaling group and validate automatic scale-out under generated load and scale-in when the load stops (LO3, K2, K4, A2).</a:t>
            </a:r>
          </a:p>
          <a:p>
            <a:r>
              <a:t>Concept-led briefing only. The full detailed procedure, commands, expected outputs, validation and cleanup live in the Learner Guide and the lab README (not on the slides).</a:t>
            </a:r>
          </a:p>
          <a:p>
            <a:r>
              <a:t>Reference architecture: course-generated diagram for Lab 12.</a:t>
            </a:r>
          </a:p>
          <a:p/>
          <a:p>
            <a:r>
              <a:t>[Sources]</a:t>
            </a:r>
          </a:p>
          <a:p>
            <a:r>
              <a:t>- AWS Certified DevOps Engineer – Professional (DOP-C02) Exam Guide (docs.aws.amazon.com/pdfs/aws-certification/latest/devops-engineer-professional-02).</a:t>
            </a:r>
          </a:p>
          <a:p>
            <a:r>
              <a:t>- Legacy course deck: WSQ Master Trainer Slides — DevOps Engineering on AWS (v7).</a:t>
            </a:r>
          </a:p>
        </p:txBody>
      </p:sp>
      <p:sp>
        <p:nvSpPr>
          <p:cNvPr id="4" name="Slide Number Placeholder 3"/>
          <p:cNvSpPr>
            <a:spLocks noGrp="1"/>
          </p:cNvSpPr>
          <p:nvPr>
            <p:ph type="sldNum" idx="5" sz="quarter"/>
          </p:nvPr>
        </p:nvSpPr>
        <p:spPr/>
      </p:sp>
    </p:spTree>
  </p:cSld>
  <p:clrMapOvr>
    <a:masterClrMapping/>
  </p:clrMapOvr>
</p:notes>
</file>

<file path=ppt/notesSlides/notesSlide10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Lab 13 overview — Compare the four AWS disaster-recovery strategies against RTO/RPO targets, select an appropriate pattern, and implement a pilot-light skeleton in a second Region (LO3, K2, K4, A2).</a:t>
            </a:r>
          </a:p>
          <a:p>
            <a:r>
              <a:t>Concept-led briefing only. The full detailed procedure, commands, expected outputs, validation and cleanup live in the Learner Guide and the lab README (not on the slides).</a:t>
            </a:r>
          </a:p>
          <a:p>
            <a:r>
              <a:t>Reference architecture: course-generated diagram for Lab 13.</a:t>
            </a:r>
          </a:p>
          <a:p/>
          <a:p>
            <a:r>
              <a:t>[Sources]</a:t>
            </a:r>
          </a:p>
          <a:p>
            <a:r>
              <a:t>- AWS Certified DevOps Engineer – Professional (DOP-C02) Exam Guide (docs.aws.amazon.com/pdfs/aws-certification/latest/devops-engineer-professional-02).</a:t>
            </a:r>
          </a:p>
          <a:p>
            <a:r>
              <a:t>- Legacy course deck: WSQ Master Trainer Slides — DevOps Engineering on AWS (v7).</a:t>
            </a:r>
          </a:p>
        </p:txBody>
      </p:sp>
      <p:sp>
        <p:nvSpPr>
          <p:cNvPr id="4" name="Slide Number Placeholder 3"/>
          <p:cNvSpPr>
            <a:spLocks noGrp="1"/>
          </p:cNvSpPr>
          <p:nvPr>
            <p:ph type="sldNum" idx="5" sz="quarter"/>
          </p:nvPr>
        </p:nvSpPr>
        <p:spPr/>
      </p:sp>
    </p:spTree>
  </p:cSld>
  <p:clrMapOvr>
    <a:masterClrMapping/>
  </p:clrMapOvr>
</p:notes>
</file>

<file path=ppt/notesSlides/notesSlide10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Lab 14 overview — Automate centralized backups with AWS Backup (plan + tag-based selection), test a restore, and add S3 versioning with cross-Region replication and RDS automated snapshots for defense in depth (LO3, K2, K4, A2).</a:t>
            </a:r>
          </a:p>
          <a:p>
            <a:r>
              <a:t>Concept-led briefing only. The full detailed procedure, commands, expected outputs, validation and cleanup live in the Learner Guide and the lab README (not on the slides).</a:t>
            </a:r>
          </a:p>
          <a:p>
            <a:r>
              <a:t>Reference architecture: course-generated diagram for Lab 14.</a:t>
            </a:r>
          </a:p>
          <a:p/>
          <a:p>
            <a:r>
              <a:t>[Sources]</a:t>
            </a:r>
          </a:p>
          <a:p>
            <a:r>
              <a:t>- AWS Certified DevOps Engineer – Professional (DOP-C02) Exam Guide (docs.aws.amazon.com/pdfs/aws-certification/latest/devops-engineer-professional-02).</a:t>
            </a:r>
          </a:p>
          <a:p>
            <a:r>
              <a:t>- Legacy course deck: WSQ Master Trainer Slides — DevOps Engineering on AWS (v7).</a:t>
            </a:r>
          </a:p>
        </p:txBody>
      </p:sp>
      <p:sp>
        <p:nvSpPr>
          <p:cNvPr id="4" name="Slide Number Placeholder 3"/>
          <p:cNvSpPr>
            <a:spLocks noGrp="1"/>
          </p:cNvSpPr>
          <p:nvPr>
            <p:ph type="sldNum" idx="5" sz="quarter"/>
          </p:nvPr>
        </p:nvSpPr>
        <p:spPr/>
      </p:sp>
    </p:spTree>
  </p:cSld>
  <p:clrMapOvr>
    <a:masterClrMapping/>
  </p:clrMapOvr>
</p:notes>
</file>

<file path=ppt/notesSlides/notesSlide10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Lab 15 overview — Prove the multi-AZ tier self-heals by terminating an instance and watching the Auto Scaling group replace it, then run an AWS FIS experiment and confirm the ALB routes around the impaired instances (LO3, K2, K4, A2).</a:t>
            </a:r>
          </a:p>
          <a:p>
            <a:r>
              <a:t>Concept-led briefing only. The full detailed procedure, commands, expected outputs, validation and cleanup live in the Learner Guide and the lab README (not on the slides).</a:t>
            </a:r>
          </a:p>
          <a:p>
            <a:r>
              <a:t>Reference architecture: course-generated diagram for Lab 15.</a:t>
            </a:r>
          </a:p>
          <a:p/>
          <a:p>
            <a:r>
              <a:t>[Sources]</a:t>
            </a:r>
          </a:p>
          <a:p>
            <a:r>
              <a:t>- AWS Certified DevOps Engineer – Professional (DOP-C02) Exam Guide (docs.aws.amazon.com/pdfs/aws-certification/latest/devops-engineer-professional-02).</a:t>
            </a:r>
          </a:p>
          <a:p>
            <a:r>
              <a:t>- Legacy course deck: WSQ Master Trainer Slides — DevOps Engineering on AWS (v7).</a:t>
            </a:r>
          </a:p>
        </p:txBody>
      </p:sp>
      <p:sp>
        <p:nvSpPr>
          <p:cNvPr id="4" name="Slide Number Placeholder 3"/>
          <p:cNvSpPr>
            <a:spLocks noGrp="1"/>
          </p:cNvSpPr>
          <p:nvPr>
            <p:ph type="sldNum" idx="5" sz="quarter"/>
          </p:nvPr>
        </p:nvSpPr>
        <p:spPr/>
      </p:sp>
    </p:spTree>
  </p:cSld>
  <p:clrMapOvr>
    <a:masterClrMapping/>
  </p:clrMapOvr>
</p:notes>
</file>

<file path=ppt/notesSlides/notesSlide10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Recap of Domain 03 — Resilient Cloud Solutions.</a:t>
            </a:r>
          </a:p>
          <a:p/>
          <a:p>
            <a:r>
              <a:t>[Sources]</a:t>
            </a:r>
          </a:p>
          <a:p>
            <a:r>
              <a:t>- AWS Certified DevOps Engineer – Professional (DOP-C02) Exam Guide (docs.aws.amazon.com/pdfs/aws-certification/latest/devops-engineer-professional-02).</a:t>
            </a:r>
          </a:p>
          <a:p>
            <a:r>
              <a:t>- AWS Well-Architected Framework (docs.aws.amazon.com/wellarchitected).</a:t>
            </a:r>
          </a:p>
          <a:p>
            <a:r>
              <a:t>- Legacy course deck: WSQ Master Trainer Slides — DevOps Engineering on AWS (v7).</a:t>
            </a:r>
          </a:p>
        </p:txBody>
      </p:sp>
      <p:sp>
        <p:nvSpPr>
          <p:cNvPr id="4" name="Slide Number Placeholder 3"/>
          <p:cNvSpPr>
            <a:spLocks noGrp="1"/>
          </p:cNvSpPr>
          <p:nvPr>
            <p:ph type="sldNum" idx="5" sz="quarter"/>
          </p:nvPr>
        </p:nvSpPr>
        <p:spPr/>
      </p:sp>
    </p:spTree>
  </p:cSld>
  <p:clrMapOvr>
    <a:masterClrMapping/>
  </p:clrMapOvr>
</p:notes>
</file>

<file path=ppt/notesSlides/notesSlide10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Resilience and observability working together to keep services healthy</a:t>
            </a:r>
          </a:p>
          <a:p>
            <a:r>
              <a:t>Illustration created for this course with AI image generation (ImageGen).</a:t>
            </a:r>
          </a:p>
          <a:p/>
          <a:p>
            <a:r>
              <a:t>[Sources]</a:t>
            </a:r>
          </a:p>
          <a:p>
            <a:r>
              <a:t>- Legacy course deck: WSQ Master Trainer Slides — DevOps Engineering on AWS (v7).</a:t>
            </a:r>
          </a:p>
        </p:txBody>
      </p:sp>
      <p:sp>
        <p:nvSpPr>
          <p:cNvPr id="4" name="Slide Number Placeholder 3"/>
          <p:cNvSpPr>
            <a:spLocks noGrp="1"/>
          </p:cNvSpPr>
          <p:nvPr>
            <p:ph type="sldNum" idx="5" sz="quarter"/>
          </p:nvPr>
        </p:nvSpPr>
        <p:spPr/>
      </p:sp>
    </p:spTree>
  </p:cSld>
  <p:clrMapOvr>
    <a:masterClrMapping/>
  </p:clrMapOvr>
</p:notes>
</file>

<file path=ppt/notesSlides/notesSlide10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Key concepts for Domain 04 — Monitoring and Logging.</a:t>
            </a:r>
          </a:p>
          <a:p>
            <a:r>
              <a:t>CloudWatch metrics: Namespaces, dimensions and custom metrics measure system and application health over time.</a:t>
            </a:r>
          </a:p>
          <a:p>
            <a:r>
              <a:t>CloudWatch Logs: Log groups, streams, subscription filters and metric filters turn raw logs into searchable, alertable signals.</a:t>
            </a:r>
          </a:p>
          <a:p>
            <a:r>
              <a:t>Dashboards: A single pane of glass correlates metrics, logs and alarms for fast troubleshooting.</a:t>
            </a:r>
          </a:p>
          <a:p>
            <a:r>
              <a:t>Alarms &amp; composite alarms: Thresholds and anomaly detection notify SNS or trigger auto-remediation before users are affected.</a:t>
            </a:r>
          </a:p>
          <a:p>
            <a:r>
              <a:t>Tracing &amp; insights: X-Ray traces distributed requests; CloudWatch Logs Insights and Container/Lambda Insights find the root cause.</a:t>
            </a:r>
          </a:p>
          <a:p>
            <a:r>
              <a:t>Aggregation at scale: Cross-account observability, the CloudWatch agent and OpenTelemetry centralise telemetry from many sources.</a:t>
            </a:r>
          </a:p>
          <a:p/>
          <a:p>
            <a:r>
              <a:t>[Sources]</a:t>
            </a:r>
          </a:p>
          <a:p>
            <a:r>
              <a:t>- AWS Certified DevOps Engineer – Professional (DOP-C02) Exam Guide (docs.aws.amazon.com/pdfs/aws-certification/latest/devops-engineer-professional-02).</a:t>
            </a:r>
          </a:p>
          <a:p>
            <a:r>
              <a:t>- AWS CloudWatch Documentation (docs.aws.amazon.com/AmazonCloudWatch).</a:t>
            </a:r>
          </a:p>
          <a:p>
            <a:r>
              <a:t>- Legacy course deck: WSQ Master Trainer Slides — DevOps Engineering on AWS (v7).</a:t>
            </a:r>
          </a:p>
        </p:txBody>
      </p:sp>
      <p:sp>
        <p:nvSpPr>
          <p:cNvPr id="4" name="Slide Number Placeholder 3"/>
          <p:cNvSpPr>
            <a:spLocks noGrp="1"/>
          </p:cNvSpPr>
          <p:nvPr>
            <p:ph type="sldNum" idx="5" sz="quarter"/>
          </p:nvPr>
        </p:nvSpPr>
        <p:spPr/>
      </p:sp>
    </p:spTree>
  </p:cSld>
  <p:clrMapOvr>
    <a:masterClrMapping/>
  </p:clrMapOvr>
</p:notes>
</file>

<file path=ppt/notesSlides/notesSlide10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Alarm Thresholds — Healthy vs Incident. What the data shows: When p90 latency crosses the alarm threshold, CloudWatch fires and the automated response kicks in.</a:t>
            </a:r>
          </a:p>
          <a:p>
            <a:r>
              <a:t>Figures are illustrative teaching values to convey the relationship, not measured benchmarks.</a:t>
            </a:r>
          </a:p>
        </p:txBody>
      </p:sp>
      <p:sp>
        <p:nvSpPr>
          <p:cNvPr id="4" name="Slide Number Placeholder 3"/>
          <p:cNvSpPr>
            <a:spLocks noGrp="1"/>
          </p:cNvSpPr>
          <p:nvPr>
            <p:ph type="sldNum" idx="5" sz="quarter"/>
          </p:nvPr>
        </p:nvSpPr>
        <p:spPr/>
      </p:sp>
    </p:spTree>
  </p:cSld>
  <p:clrMapOvr>
    <a:masterClrMapping/>
  </p:clrMapOvr>
</p:notes>
</file>

<file path=ppt/notesSlides/notesSlide1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Domain 04 deep dive — Monitoring and Logging. Editable AWS-native diagram/table/chart.</a:t>
            </a:r>
          </a:p>
          <a:p/>
          <a:p>
            <a:r>
              <a:t>[Sources]</a:t>
            </a:r>
          </a:p>
          <a:p>
            <a:r>
              <a:t>- AWS Certified DevOps Engineer – Professional (DOP-C02) Exam Guide (docs.aws.amazon.com/pdfs/aws-certification/latest/devops-engineer-professional-02).</a:t>
            </a:r>
          </a:p>
          <a:p>
            <a:r>
              <a:t>- AWS CloudWatch Documentation (docs.aws.amazon.com/AmazonCloudWatch).</a:t>
            </a:r>
          </a:p>
          <a:p>
            <a:r>
              <a:t>- Legacy course deck: WSQ Master Trainer Slides — DevOps Engineering on AWS (v7).</a:t>
            </a:r>
          </a:p>
        </p:txBody>
      </p:sp>
      <p:sp>
        <p:nvSpPr>
          <p:cNvPr id="4" name="Slide Number Placeholder 3"/>
          <p:cNvSpPr>
            <a:spLocks noGrp="1"/>
          </p:cNvSpPr>
          <p:nvPr>
            <p:ph type="sldNum" idx="5" sz="quarter"/>
          </p:nvPr>
        </p:nvSpPr>
        <p:spPr/>
      </p:sp>
    </p:spTree>
  </p:cSld>
  <p:clrMapOvr>
    <a:masterClrMapping/>
  </p:clrMapOvr>
</p:notes>
</file>

<file path=ppt/notesSlides/notesSlide1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Domain 04 deep dive — Monitoring and Logging. Editable AWS-native diagram/table/chart.</a:t>
            </a:r>
          </a:p>
          <a:p/>
          <a:p>
            <a:r>
              <a:t>[Sources]</a:t>
            </a:r>
          </a:p>
          <a:p>
            <a:r>
              <a:t>- AWS Certified DevOps Engineer – Professional (DOP-C02) Exam Guide (docs.aws.amazon.com/pdfs/aws-certification/latest/devops-engineer-professional-02).</a:t>
            </a:r>
          </a:p>
          <a:p>
            <a:r>
              <a:t>- AWS CloudWatch Documentation (docs.aws.amazon.com/AmazonCloudWatch).</a:t>
            </a:r>
          </a:p>
          <a:p>
            <a:r>
              <a:t>- Legacy course deck: WSQ Master Trainer Slides — DevOps Engineering on AWS (v7).</a:t>
            </a:r>
          </a:p>
        </p:txBody>
      </p:sp>
      <p:sp>
        <p:nvSpPr>
          <p:cNvPr id="4" name="Slide Number Placeholder 3"/>
          <p:cNvSpPr>
            <a:spLocks noGrp="1"/>
          </p:cNvSpPr>
          <p:nvPr>
            <p:ph type="sldNum" idx="5" sz="quarter"/>
          </p:nvPr>
        </p:nvSpPr>
        <p:spPr/>
      </p:sp>
    </p:spTree>
  </p:cSld>
  <p:clrMapOvr>
    <a:masterClrMapping/>
  </p:clrMapOvr>
</p:notes>
</file>

<file path=ppt/notesSlides/notesSlide1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Domain 04 deep dive — Monitoring and Logging. Editable AWS-native diagram/table/chart.</a:t>
            </a:r>
          </a:p>
          <a:p/>
          <a:p>
            <a:r>
              <a:t>[Sources]</a:t>
            </a:r>
          </a:p>
          <a:p>
            <a:r>
              <a:t>- AWS Certified DevOps Engineer – Professional (DOP-C02) Exam Guide (docs.aws.amazon.com/pdfs/aws-certification/latest/devops-engineer-professional-02).</a:t>
            </a:r>
          </a:p>
          <a:p>
            <a:r>
              <a:t>- AWS CloudWatch Documentation (docs.aws.amazon.com/AmazonCloudWatch).</a:t>
            </a:r>
          </a:p>
          <a:p>
            <a:r>
              <a:t>- Legacy course deck: WSQ Master Trainer Slides — DevOps Engineering on AWS (v7).</a:t>
            </a:r>
          </a:p>
        </p:txBody>
      </p:sp>
      <p:sp>
        <p:nvSpPr>
          <p:cNvPr id="4" name="Slide Number Placeholder 3"/>
          <p:cNvSpPr>
            <a:spLocks noGrp="1"/>
          </p:cNvSpPr>
          <p:nvPr>
            <p:ph type="sldNum" idx="5" sz="quarter"/>
          </p:nvPr>
        </p:nvSpPr>
        <p:spPr/>
      </p:sp>
    </p:spTree>
  </p:cSld>
  <p:clrMapOvr>
    <a:masterClrMapping/>
  </p:clrMapOvr>
</p:notes>
</file>

<file path=ppt/notesSlides/notesSlide1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Domain 04 deep dive — Monitoring and Logging. Editable AWS-native diagram/table/chart.</a:t>
            </a:r>
          </a:p>
          <a:p/>
          <a:p>
            <a:r>
              <a:t>[Sources]</a:t>
            </a:r>
          </a:p>
          <a:p>
            <a:r>
              <a:t>- AWS Certified DevOps Engineer – Professional (DOP-C02) Exam Guide (docs.aws.amazon.com/pdfs/aws-certification/latest/devops-engineer-professional-02).</a:t>
            </a:r>
          </a:p>
          <a:p>
            <a:r>
              <a:t>- AWS CloudWatch Documentation (docs.aws.amazon.com/AmazonCloudWatch).</a:t>
            </a:r>
          </a:p>
          <a:p>
            <a:r>
              <a:t>- Legacy course deck: WSQ Master Trainer Slides — DevOps Engineering on AWS (v7).</a:t>
            </a:r>
          </a:p>
        </p:txBody>
      </p:sp>
      <p:sp>
        <p:nvSpPr>
          <p:cNvPr id="4" name="Slide Number Placeholder 3"/>
          <p:cNvSpPr>
            <a:spLocks noGrp="1"/>
          </p:cNvSpPr>
          <p:nvPr>
            <p:ph type="sldNum" idx="5" sz="quarter"/>
          </p:nvPr>
        </p:nvSpPr>
        <p:spPr/>
      </p:sp>
    </p:spTree>
  </p:cSld>
  <p:clrMapOvr>
    <a:masterClrMapping/>
  </p:clrMapOvr>
</p:notes>
</file>

<file path=ppt/notesSlides/notesSlide1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Domain 04 deep dive — Monitoring and Logging. Editable AWS-native diagram/table/chart.</a:t>
            </a:r>
          </a:p>
          <a:p/>
          <a:p>
            <a:r>
              <a:t>[Sources]</a:t>
            </a:r>
          </a:p>
          <a:p>
            <a:r>
              <a:t>- AWS Certified DevOps Engineer – Professional (DOP-C02) Exam Guide (docs.aws.amazon.com/pdfs/aws-certification/latest/devops-engineer-professional-02).</a:t>
            </a:r>
          </a:p>
          <a:p>
            <a:r>
              <a:t>- AWS CloudWatch Documentation (docs.aws.amazon.com/AmazonCloudWatch).</a:t>
            </a:r>
          </a:p>
          <a:p>
            <a:r>
              <a:t>- Legacy course deck: WSQ Master Trainer Slides — DevOps Engineering on AWS (v7).</a:t>
            </a:r>
          </a:p>
        </p:txBody>
      </p:sp>
      <p:sp>
        <p:nvSpPr>
          <p:cNvPr id="4" name="Slide Number Placeholder 3"/>
          <p:cNvSpPr>
            <a:spLocks noGrp="1"/>
          </p:cNvSpPr>
          <p:nvPr>
            <p:ph type="sldNum" idx="5" sz="quarter"/>
          </p:nvPr>
        </p:nvSpPr>
        <p:spPr/>
      </p:sp>
    </p:spTree>
  </p:cSld>
  <p:clrMapOvr>
    <a:masterClrMapping/>
  </p:clrMapOvr>
</p:notes>
</file>

<file path=ppt/notesSlides/notesSlide11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three pillars — metrics, logs, traces.</a:t>
            </a:r>
          </a:p>
          <a:p>
            <a:r>
              <a:t>Why it matters: Each pillar answers a different question — 'is it broken?', 'why?', and 'where?' — and you need all three to troubleshoot fast.</a:t>
            </a:r>
          </a:p>
          <a:p>
            <a:r>
              <a:t>Failure mode: Logging everything but graphing nothing leaves you searching text during an outage instead of seeing the problem at a glance.</a:t>
            </a:r>
          </a:p>
          <a:p>
            <a:r>
              <a:t>Trade-off: High-cardinality metrics and verbose logs cost money and can slow queries — sample and aggregate deliberately.</a:t>
            </a:r>
          </a:p>
          <a:p/>
          <a:p>
            <a:r>
              <a:t>[Sources]</a:t>
            </a:r>
          </a:p>
          <a:p>
            <a:r>
              <a:t>- AWS CloudWatch Documentation (docs.aws.amazon.com/AmazonCloudWatch).</a:t>
            </a:r>
          </a:p>
          <a:p>
            <a:r>
              <a:t>- AWS X-Ray Documentation (docs.aws.amazon.com/xray).</a:t>
            </a:r>
          </a:p>
          <a:p>
            <a:r>
              <a:t>- AWS Certified DevOps Engineer – Professional (DOP-C02) Exam Guide (docs.aws.amazon.com/pdfs/aws-certification/latest/devops-engineer-professional-02).</a:t>
            </a:r>
          </a:p>
        </p:txBody>
      </p:sp>
      <p:sp>
        <p:nvSpPr>
          <p:cNvPr id="4" name="Slide Number Placeholder 3"/>
          <p:cNvSpPr>
            <a:spLocks noGrp="1"/>
          </p:cNvSpPr>
          <p:nvPr>
            <p:ph type="sldNum" idx="5" sz="quarter"/>
          </p:nvPr>
        </p:nvSpPr>
        <p:spPr/>
      </p:sp>
    </p:spTree>
  </p:cSld>
  <p:clrMapOvr>
    <a:masterClrMapping/>
  </p:clrMapOvr>
</p:notes>
</file>

<file path=ppt/notesSlides/notesSlide11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CloudWatch metrics model — namespaces, dimensions, statistics.</a:t>
            </a:r>
          </a:p>
          <a:p>
            <a:r>
              <a:t>Why it matters: Understanding dimensions and percentiles is what separates 'average looks fine' from seeing the p99 pain real users feel.</a:t>
            </a:r>
          </a:p>
          <a:p>
            <a:r>
              <a:t>Failure mode: Alarming on Average hides tail latency — the average is healthy while your slowest 1% of users are timing out.</a:t>
            </a:r>
          </a:p>
          <a:p>
            <a:r>
              <a:t>Trade-off: Percentiles and high-resolution metrics cost more but reveal problems averages mask.</a:t>
            </a:r>
          </a:p>
          <a:p/>
          <a:p>
            <a:r>
              <a:t>[Sources]</a:t>
            </a:r>
          </a:p>
          <a:p>
            <a:r>
              <a:t>- AWS CloudWatch metrics Documentation (docs.aws.amazon.com/AmazonCloudWatch/latest/monitoring/working_with_metrics.html).</a:t>
            </a:r>
          </a:p>
          <a:p>
            <a:r>
              <a:t>- AWS Certified DevOps Engineer – Professional (DOP-C02) Exam Guide (docs.aws.amazon.com/pdfs/aws-certification/latest/devops-engineer-professional-02).</a:t>
            </a:r>
          </a:p>
        </p:txBody>
      </p:sp>
      <p:sp>
        <p:nvSpPr>
          <p:cNvPr id="4" name="Slide Number Placeholder 3"/>
          <p:cNvSpPr>
            <a:spLocks noGrp="1"/>
          </p:cNvSpPr>
          <p:nvPr>
            <p:ph type="sldNum" idx="5" sz="quarter"/>
          </p:nvPr>
        </p:nvSpPr>
        <p:spPr/>
      </p:sp>
    </p:spTree>
  </p:cSld>
  <p:clrMapOvr>
    <a:masterClrMapping/>
  </p:clrMapOvr>
</p:notes>
</file>

<file path=ppt/notesSlides/notesSlide11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Turning logs into signals.</a:t>
            </a:r>
          </a:p>
          <a:p>
            <a:r>
              <a:t>Why it matters: A metric filter converts unsearchable text into an alarmable metric, so logs drive automated response, not just post-hoc reading.</a:t>
            </a:r>
          </a:p>
          <a:p>
            <a:r>
              <a:t>Failure mode: Relying on humans to eyeball logs means problems are found only after users complain.</a:t>
            </a:r>
          </a:p>
          <a:p>
            <a:r>
              <a:t>Trade-off: Extracting many metrics from logs adds cost and complexity — extract the few that drive alarms and dashboards.</a:t>
            </a:r>
          </a:p>
          <a:p/>
          <a:p>
            <a:r>
              <a:t>[Sources]</a:t>
            </a:r>
          </a:p>
          <a:p>
            <a:r>
              <a:t>- AWS CloudWatch Logs Documentation (docs.aws.amazon.com/AmazonCloudWatch/latest/logs/WhatIsCloudWatchLogs.html).</a:t>
            </a:r>
          </a:p>
          <a:p>
            <a:r>
              <a:t>- AWS Certified DevOps Engineer – Professional (DOP-C02) Exam Guide (docs.aws.amazon.com/pdfs/aws-certification/latest/devops-engineer-professional-02).</a:t>
            </a:r>
          </a:p>
        </p:txBody>
      </p:sp>
      <p:sp>
        <p:nvSpPr>
          <p:cNvPr id="4" name="Slide Number Placeholder 3"/>
          <p:cNvSpPr>
            <a:spLocks noGrp="1"/>
          </p:cNvSpPr>
          <p:nvPr>
            <p:ph type="sldNum" idx="5" sz="quarter"/>
          </p:nvPr>
        </p:nvSpPr>
        <p:spPr/>
      </p:sp>
    </p:spTree>
  </p:cSld>
  <p:clrMapOvr>
    <a:masterClrMapping/>
  </p:clrMapOvr>
</p:notes>
</file>

<file path=ppt/notesSlides/notesSlide11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Alarms, composite alarms and anomaly detection.</a:t>
            </a:r>
          </a:p>
          <a:p>
            <a:r>
              <a:t>Why it matters: Well-designed alarms notify on real, actionable conditions and feed the automated incident response in Domain 5.</a:t>
            </a:r>
          </a:p>
          <a:p>
            <a:r>
              <a:t>Failure mode: Too many noisy single-metric alarms cause alert fatigue; responders learn to ignore the pager.</a:t>
            </a:r>
          </a:p>
          <a:p>
            <a:r>
              <a:t>Trade-off: Anomaly detection reduces false alarms but needs a learning period and can miss slow, gradual regressions.</a:t>
            </a:r>
          </a:p>
          <a:p/>
          <a:p>
            <a:r>
              <a:t>[Sources]</a:t>
            </a:r>
          </a:p>
          <a:p>
            <a:r>
              <a:t>- AWS CloudWatch alarms Documentation (docs.aws.amazon.com/AmazonCloudWatch/latest/monitoring/AlarmThatSendsEmail.html).</a:t>
            </a:r>
          </a:p>
          <a:p>
            <a:r>
              <a:t>- AWS Certified DevOps Engineer – Professional (DOP-C02) Exam Guide (docs.aws.amazon.com/pdfs/aws-certification/latest/devops-engineer-professional-02).</a:t>
            </a:r>
          </a:p>
        </p:txBody>
      </p:sp>
      <p:sp>
        <p:nvSpPr>
          <p:cNvPr id="4" name="Slide Number Placeholder 3"/>
          <p:cNvSpPr>
            <a:spLocks noGrp="1"/>
          </p:cNvSpPr>
          <p:nvPr>
            <p:ph type="sldNum" idx="5" sz="quarter"/>
          </p:nvPr>
        </p:nvSpPr>
        <p:spPr/>
      </p:sp>
    </p:spTree>
  </p:cSld>
  <p:clrMapOvr>
    <a:masterClrMapping/>
  </p:clrMapOvr>
</p:notes>
</file>

<file path=ppt/notesSlides/notesSlide11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Dashboards and the single pane of glass.</a:t>
            </a:r>
          </a:p>
          <a:p>
            <a:r>
              <a:t>Why it matters: During an incident a good dashboard turns minutes of hunting into seconds of seeing — it is a force multiplier for MTTR.</a:t>
            </a:r>
          </a:p>
          <a:p>
            <a:r>
              <a:t>Failure mode: A wall of 200 unlabelled graphs is as useless as none — no one can spot the anomaly under pressure.</a:t>
            </a:r>
          </a:p>
          <a:p>
            <a:r>
              <a:t>Trade-off: Curated dashboards need maintenance as the system changes — stale dashboards mislead.</a:t>
            </a:r>
          </a:p>
          <a:p/>
          <a:p>
            <a:r>
              <a:t>[Sources]</a:t>
            </a:r>
          </a:p>
          <a:p>
            <a:r>
              <a:t>- AWS CloudWatch dashboards Documentation (docs.aws.amazon.com/AmazonCloudWatch/latest/monitoring/CloudWatch_Dashboards.html).</a:t>
            </a:r>
          </a:p>
          <a:p>
            <a:r>
              <a:t>- AWS Certified DevOps Engineer – Professional (DOP-C02) Exam Guide (docs.aws.amazon.com/pdfs/aws-certification/latest/devops-engineer-professional-02).</a:t>
            </a:r>
          </a:p>
        </p:txBody>
      </p:sp>
      <p:sp>
        <p:nvSpPr>
          <p:cNvPr id="4" name="Slide Number Placeholder 3"/>
          <p:cNvSpPr>
            <a:spLocks noGrp="1"/>
          </p:cNvSpPr>
          <p:nvPr>
            <p:ph type="sldNum" idx="5" sz="quarter"/>
          </p:nvPr>
        </p:nvSpPr>
        <p:spPr/>
      </p:sp>
    </p:spTree>
  </p:cSld>
  <p:clrMapOvr>
    <a:masterClrMapping/>
  </p:clrMapOvr>
</p:notes>
</file>

<file path=ppt/notesSlides/notesSlide12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Distributed tracing with X-Ray.</a:t>
            </a:r>
          </a:p>
          <a:p>
            <a:r>
              <a:t>Why it matters: In microservices, a symptom (slow checkout) and its cause (a slow third-party call three hops away) are far apart — tracing connects them.</a:t>
            </a:r>
          </a:p>
          <a:p>
            <a:r>
              <a:t>Failure mode: Without tracing, teams blame each other's services because no one can see the end-to-end request path.</a:t>
            </a:r>
          </a:p>
          <a:p>
            <a:r>
              <a:t>Trade-off: Full tracing is expensive at scale — sampling trades completeness for affordable, representative visibility.</a:t>
            </a:r>
          </a:p>
          <a:p/>
          <a:p>
            <a:r>
              <a:t>[Sources]</a:t>
            </a:r>
          </a:p>
          <a:p>
            <a:r>
              <a:t>- AWS X-Ray Documentation (docs.aws.amazon.com/xray/latest/devguide).</a:t>
            </a:r>
          </a:p>
          <a:p>
            <a:r>
              <a:t>- AWS Certified DevOps Engineer – Professional (DOP-C02) Exam Guide (docs.aws.amazon.com/pdfs/aws-certification/latest/devops-engineer-professional-02).</a:t>
            </a:r>
          </a:p>
        </p:txBody>
      </p:sp>
      <p:sp>
        <p:nvSpPr>
          <p:cNvPr id="4" name="Slide Number Placeholder 3"/>
          <p:cNvSpPr>
            <a:spLocks noGrp="1"/>
          </p:cNvSpPr>
          <p:nvPr>
            <p:ph type="sldNum" idx="5" sz="quarter"/>
          </p:nvPr>
        </p:nvSpPr>
        <p:spPr/>
      </p:sp>
    </p:spTree>
  </p:cSld>
  <p:clrMapOvr>
    <a:masterClrMapping/>
  </p:clrMapOvr>
</p:notes>
</file>

<file path=ppt/notesSlides/notesSlide12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Observability at scale — agents, OpenTelemetry, cross-account.</a:t>
            </a:r>
          </a:p>
          <a:p>
            <a:r>
              <a:t>Why it matters: A consistent collection standard across a large estate makes telemetry comparable and centrally queryable.</a:t>
            </a:r>
          </a:p>
          <a:p>
            <a:r>
              <a:t>Failure mode: Every team inventing its own metrics and log formats makes cross-service correlation impossible.</a:t>
            </a:r>
          </a:p>
          <a:p>
            <a:r>
              <a:t>Trade-off: Centralisation eases correlation but concentrates cost and access — govern the monitoring account carefully.</a:t>
            </a:r>
          </a:p>
          <a:p/>
          <a:p>
            <a:r>
              <a:t>[Sources]</a:t>
            </a:r>
          </a:p>
          <a:p>
            <a:r>
              <a:t>- AWS CloudWatch agent Documentation (docs.aws.amazon.com/AmazonCloudWatch/latest/monitoring/Install-CloudWatch-Agent.html).</a:t>
            </a:r>
          </a:p>
          <a:p>
            <a:r>
              <a:t>- AWS OpenTelemetry (ADOT) Documentation (docs.aws.amazon.com/otel).</a:t>
            </a:r>
          </a:p>
          <a:p>
            <a:r>
              <a:t>- AWS Certified DevOps Engineer – Professional (DOP-C02) Exam Guide (docs.aws.amazon.com/pdfs/aws-certification/latest/devops-engineer-professional-02).</a:t>
            </a:r>
          </a:p>
        </p:txBody>
      </p:sp>
      <p:sp>
        <p:nvSpPr>
          <p:cNvPr id="4" name="Slide Number Placeholder 3"/>
          <p:cNvSpPr>
            <a:spLocks noGrp="1"/>
          </p:cNvSpPr>
          <p:nvPr>
            <p:ph type="sldNum" idx="5" sz="quarter"/>
          </p:nvPr>
        </p:nvSpPr>
        <p:spPr/>
      </p:sp>
    </p:spTree>
  </p:cSld>
  <p:clrMapOvr>
    <a:masterClrMapping/>
  </p:clrMapOvr>
</p:notes>
</file>

<file path=ppt/notesSlides/notesSlide12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golden signals and SLOs.</a:t>
            </a:r>
          </a:p>
          <a:p>
            <a:r>
              <a:t>Why it matters: Tying monitoring to SLOs focuses attention on what users actually experience and gives an objective 'are we healthy?' answer.</a:t>
            </a:r>
          </a:p>
          <a:p>
            <a:r>
              <a:t>Failure mode: Alerting on CPU while the SLO quietly burns means you page on non-issues and miss the user-facing failure.</a:t>
            </a:r>
          </a:p>
          <a:p>
            <a:r>
              <a:t>Trade-off: Strict SLOs drive reliability work but can slow feature delivery — the error budget is the negotiated balance.</a:t>
            </a:r>
          </a:p>
          <a:p/>
          <a:p>
            <a:r>
              <a:t>[Sources]</a:t>
            </a:r>
          </a:p>
          <a:p>
            <a:r>
              <a:t>- AWS Well-Architected Framework (docs.aws.amazon.com/wellarchitected).</a:t>
            </a:r>
          </a:p>
          <a:p>
            <a:r>
              <a:t>- DORA / Google Cloud, Accelerate State of DevOps (dora.dev).</a:t>
            </a:r>
          </a:p>
          <a:p>
            <a:r>
              <a:t>- AWS CloudWatch Documentation (docs.aws.amazon.com/AmazonCloudWatch).</a:t>
            </a:r>
          </a:p>
        </p:txBody>
      </p:sp>
      <p:sp>
        <p:nvSpPr>
          <p:cNvPr id="4" name="Slide Number Placeholder 3"/>
          <p:cNvSpPr>
            <a:spLocks noGrp="1"/>
          </p:cNvSpPr>
          <p:nvPr>
            <p:ph type="sldNum" idx="5" sz="quarter"/>
          </p:nvPr>
        </p:nvSpPr>
        <p:spPr/>
      </p:sp>
    </p:spTree>
  </p:cSld>
  <p:clrMapOvr>
    <a:masterClrMapping/>
  </p:clrMapOvr>
</p:notes>
</file>

<file path=ppt/notesSlides/notesSlide12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Comparison — CloudWatch Insight Tools — Pick the Right Lens.</a:t>
            </a:r>
          </a:p>
          <a:p/>
          <a:p>
            <a:r>
              <a:t>[Sources]</a:t>
            </a:r>
          </a:p>
          <a:p>
            <a:r>
              <a:t>- AWS CloudWatch Documentation (docs.aws.amazon.com/AmazonCloudWatch).</a:t>
            </a:r>
          </a:p>
          <a:p>
            <a:r>
              <a:t>- AWS X-Ray Documentation (docs.aws.amazon.com/xray).</a:t>
            </a:r>
          </a:p>
          <a:p>
            <a:r>
              <a:t>- AWS Certified DevOps Engineer – Professional (DOP-C02) Exam Guide (docs.aws.amazon.com/pdfs/aws-certification/latest/devops-engineer-professional-02).</a:t>
            </a:r>
          </a:p>
        </p:txBody>
      </p:sp>
      <p:sp>
        <p:nvSpPr>
          <p:cNvPr id="4" name="Slide Number Placeholder 3"/>
          <p:cNvSpPr>
            <a:spLocks noGrp="1"/>
          </p:cNvSpPr>
          <p:nvPr>
            <p:ph type="sldNum" idx="5" sz="quarter"/>
          </p:nvPr>
        </p:nvSpPr>
        <p:spPr/>
      </p:sp>
    </p:spTree>
  </p:cSld>
  <p:clrMapOvr>
    <a:masterClrMapping/>
  </p:clrMapOvr>
</p:notes>
</file>

<file path=ppt/notesSlides/notesSlide12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Average Hides the Tail — Latency Percentiles. What the data shows: The average looks healthy at 140ms while the p99 user waits nearly a second — always alarm on the percentile your users feel.</a:t>
            </a:r>
          </a:p>
          <a:p>
            <a:r>
              <a:t>Figures are illustrative teaching values to convey the relationship, not measured benchmarks.</a:t>
            </a:r>
          </a:p>
          <a:p/>
          <a:p>
            <a:r>
              <a:t>[Sources]</a:t>
            </a:r>
          </a:p>
          <a:p>
            <a:r>
              <a:t>- AWS CloudWatch metrics Documentation (docs.aws.amazon.com/AmazonCloudWatch/latest/monitoring/working_with_metrics.html).</a:t>
            </a:r>
          </a:p>
          <a:p>
            <a:r>
              <a:t>- AWS Well-Architected Framework (docs.aws.amazon.com/wellarchitected).</a:t>
            </a:r>
          </a:p>
        </p:txBody>
      </p:sp>
      <p:sp>
        <p:nvSpPr>
          <p:cNvPr id="4" name="Slide Number Placeholder 3"/>
          <p:cNvSpPr>
            <a:spLocks noGrp="1"/>
          </p:cNvSpPr>
          <p:nvPr>
            <p:ph type="sldNum" idx="5" sz="quarter"/>
          </p:nvPr>
        </p:nvSpPr>
        <p:spPr/>
      </p:sp>
    </p:spTree>
  </p:cSld>
  <p:clrMapOvr>
    <a:masterClrMapping/>
  </p:clrMapOvr>
</p:notes>
</file>

<file path=ppt/notesSlides/notesSlide12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Monitoring Failure Modes &amp; Anti-Patterns.</a:t>
            </a:r>
          </a:p>
          <a:p>
            <a:r>
              <a:t>Alarm on average — Tail latency hidden → alarm on p90/p99.</a:t>
            </a:r>
          </a:p>
          <a:p>
            <a:r>
              <a:t>Alert fatigue — Noisy alarms ignored → composite alarms, SLO-based alerting.</a:t>
            </a:r>
          </a:p>
          <a:p>
            <a:r>
              <a:t>Logs but no metrics — Manual searching in incidents → metric filters + dashboards.</a:t>
            </a:r>
          </a:p>
          <a:p>
            <a:r>
              <a:t>No traces in microservices — Cross-team blame → adopt X-Ray/OTel.</a:t>
            </a:r>
          </a:p>
          <a:p>
            <a:r>
              <a:t>Vanity dashboards — 200 graphs, no signal → golden-signals layout.</a:t>
            </a:r>
          </a:p>
          <a:p>
            <a:r>
              <a:t>Unmonitored dependencies — Third-party outage invisible → synthetic canaries.</a:t>
            </a:r>
          </a:p>
          <a:p/>
          <a:p>
            <a:r>
              <a:t>[Sources]</a:t>
            </a:r>
          </a:p>
          <a:p>
            <a:r>
              <a:t>- AWS Well-Architected Framework (docs.aws.amazon.com/wellarchitected).</a:t>
            </a:r>
          </a:p>
          <a:p>
            <a:r>
              <a:t>- AWS Certified DevOps Engineer – Professional (DOP-C02) Exam Guide (docs.aws.amazon.com/pdfs/aws-certification/latest/devops-engineer-professional-02).</a:t>
            </a:r>
          </a:p>
        </p:txBody>
      </p:sp>
      <p:sp>
        <p:nvSpPr>
          <p:cNvPr id="4" name="Slide Number Placeholder 3"/>
          <p:cNvSpPr>
            <a:spLocks noGrp="1"/>
          </p:cNvSpPr>
          <p:nvPr>
            <p:ph type="sldNum" idx="5" sz="quarter"/>
          </p:nvPr>
        </p:nvSpPr>
        <p:spPr/>
      </p:sp>
    </p:spTree>
  </p:cSld>
  <p:clrMapOvr>
    <a:masterClrMapping/>
  </p:clrMapOvr>
</p:notes>
</file>

<file path=ppt/notesSlides/notesSlide12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Observability Patterns Worth Adopting.</a:t>
            </a:r>
          </a:p>
          <a:p>
            <a:r>
              <a:t>Golden-signals dashboards — Latency, traffic, errors, saturation per service.</a:t>
            </a:r>
          </a:p>
          <a:p>
            <a:r>
              <a:t>SLOs + error budgets — Objective health and a delivery/reliability balance.</a:t>
            </a:r>
          </a:p>
          <a:p>
            <a:r>
              <a:t>Structured logging — JSON logs with correlation IDs for Logs Insights.</a:t>
            </a:r>
          </a:p>
          <a:p>
            <a:r>
              <a:t>Synthetic canaries — Probe key journeys before real users hit failures.</a:t>
            </a:r>
          </a:p>
          <a:p>
            <a:r>
              <a:t>Metric filters → alarms — Turn log events into automated response.</a:t>
            </a:r>
          </a:p>
          <a:p>
            <a:r>
              <a:t>Centralised observability — Cross-account monitoring account.</a:t>
            </a:r>
          </a:p>
          <a:p/>
          <a:p>
            <a:r>
              <a:t>[Sources]</a:t>
            </a:r>
          </a:p>
          <a:p>
            <a:r>
              <a:t>- AWS Well-Architected Framework (docs.aws.amazon.com/wellarchitected).</a:t>
            </a:r>
          </a:p>
          <a:p>
            <a:r>
              <a:t>- DORA / Google Cloud, Accelerate State of DevOps (dora.dev).</a:t>
            </a:r>
          </a:p>
          <a:p>
            <a:r>
              <a:t>- AWS CloudWatch Synthetics Documentation (docs.aws.amazon.com/AmazonCloudWatch/latest/monitoring/CloudWatch_Synthetics_Canaries.html).</a:t>
            </a:r>
          </a:p>
        </p:txBody>
      </p:sp>
      <p:sp>
        <p:nvSpPr>
          <p:cNvPr id="4" name="Slide Number Placeholder 3"/>
          <p:cNvSpPr>
            <a:spLocks noGrp="1"/>
          </p:cNvSpPr>
          <p:nvPr>
            <p:ph type="sldNum" idx="5" sz="quarter"/>
          </p:nvPr>
        </p:nvSpPr>
        <p:spPr/>
      </p:sp>
    </p:spTree>
  </p:cSld>
  <p:clrMapOvr>
    <a:masterClrMapping/>
  </p:clrMapOvr>
</p:notes>
</file>

<file path=ppt/notesSlides/notesSlide12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Architecture Decision — What Should Page a Human?.</a:t>
            </a:r>
          </a:p>
          <a:p>
            <a:r>
              <a:t>Option A — Page immediately: SLO-burning, user-facing symptoms (error rate, latency breach). Actionable now — keep these few and trustworthy.</a:t>
            </a:r>
          </a:p>
          <a:p>
            <a:r>
              <a:t>Option B — Ticket / review later: Trends and capacity signals (rising saturation). Important but not urgent — dashboards and weekly review.</a:t>
            </a:r>
          </a:p>
          <a:p>
            <a:r>
              <a:t>Option C — Auto-remediate, don't page: Known, safe fixes (restart, scale, isolate). Let EventBridge + Lambda handle it and notify, not wake, the team.</a:t>
            </a:r>
          </a:p>
          <a:p/>
          <a:p>
            <a:r>
              <a:t>[Sources]</a:t>
            </a:r>
          </a:p>
          <a:p>
            <a:r>
              <a:t>- AWS Well-Architected Framework (docs.aws.amazon.com/wellarchitected).</a:t>
            </a:r>
          </a:p>
          <a:p>
            <a:r>
              <a:t>- AWS Certified DevOps Engineer – Professional (DOP-C02) Exam Guide (docs.aws.amazon.com/pdfs/aws-certification/latest/devops-engineer-professional-02).</a:t>
            </a:r>
          </a:p>
        </p:txBody>
      </p:sp>
      <p:sp>
        <p:nvSpPr>
          <p:cNvPr id="4" name="Slide Number Placeholder 3"/>
          <p:cNvSpPr>
            <a:spLocks noGrp="1"/>
          </p:cNvSpPr>
          <p:nvPr>
            <p:ph type="sldNum" idx="5" sz="quarter"/>
          </p:nvPr>
        </p:nvSpPr>
        <p:spPr/>
      </p:sp>
    </p:spTree>
  </p:cSld>
  <p:clrMapOvr>
    <a:masterClrMapping/>
  </p:clrMapOvr>
</p:notes>
</file>

<file path=ppt/notesSlides/notesSlide12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Scenario: Dashboards show CPU and memory healthy, yet support reports slow checkouts.</a:t>
            </a:r>
          </a:p>
          <a:p>
            <a:r>
              <a:t>Resource metrics are averages and miss the user-facing symptom; the SLO is about request latency, not CPU.</a:t>
            </a:r>
          </a:p>
          <a:p>
            <a:r>
              <a:t>A p99 latency metric and a Logs Insights query on the checkout path would reveal the slow requests.</a:t>
            </a:r>
          </a:p>
          <a:p>
            <a:r>
              <a:t>An X-Ray service map would localise the slow downstream call.</a:t>
            </a:r>
          </a:p>
          <a:p>
            <a:r>
              <a:t>Decision: Re-orient alerting around the golden signals and the SLO (p99 latency, error rate), and add tracing so the next 'green but slow' is visible and localisable in seconds.</a:t>
            </a:r>
          </a:p>
          <a:p/>
          <a:p>
            <a:r>
              <a:t>[Sources]</a:t>
            </a:r>
          </a:p>
          <a:p>
            <a:r>
              <a:t>- AWS X-Ray Documentation (docs.aws.amazon.com/xray).</a:t>
            </a:r>
          </a:p>
          <a:p>
            <a:r>
              <a:t>- AWS CloudWatch Documentation (docs.aws.amazon.com/AmazonCloudWatch).</a:t>
            </a:r>
          </a:p>
        </p:txBody>
      </p:sp>
      <p:sp>
        <p:nvSpPr>
          <p:cNvPr id="4" name="Slide Number Placeholder 3"/>
          <p:cNvSpPr>
            <a:spLocks noGrp="1"/>
          </p:cNvSpPr>
          <p:nvPr>
            <p:ph type="sldNum" idx="5" sz="quarter"/>
          </p:nvPr>
        </p:nvSpPr>
        <p:spPr/>
      </p:sp>
    </p:spTree>
  </p:cSld>
  <p:clrMapOvr>
    <a:masterClrMapping/>
  </p:clrMapOvr>
</p:notes>
</file>

<file path=ppt/notesSlides/notesSlide12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Scenario: A single database blip fires 40 alarms across dependent services and the on-call mutes the channel.</a:t>
            </a:r>
          </a:p>
          <a:p>
            <a:r>
              <a:t>Many single-metric alarms describe the same root cause, creating noise and fatigue.</a:t>
            </a:r>
          </a:p>
          <a:p>
            <a:r>
              <a:t>A composite alarm can express 'DB unhealthy AND app errors rising' and suppress the downstream chatter.</a:t>
            </a:r>
          </a:p>
          <a:p>
            <a:r>
              <a:t>SLO-based alerting pages on user impact, not on every correlated resource wobble.</a:t>
            </a:r>
          </a:p>
          <a:p>
            <a:r>
              <a:t>Decision: Consolidate with composite alarms and alert on SLO burn, so one meaningful page fires instead of forty — restoring trust in the pager.</a:t>
            </a:r>
          </a:p>
          <a:p/>
          <a:p>
            <a:r>
              <a:t>[Sources]</a:t>
            </a:r>
          </a:p>
          <a:p>
            <a:r>
              <a:t>- AWS Composite alarms Documentation (docs.aws.amazon.com/AmazonCloudWatch/latest/monitoring/Create_Composite_Alarm.html).</a:t>
            </a:r>
          </a:p>
          <a:p>
            <a:r>
              <a:t>- AWS Well-Architected Framework (docs.aws.amazon.com/wellarchitected).</a:t>
            </a:r>
          </a:p>
        </p:txBody>
      </p:sp>
      <p:sp>
        <p:nvSpPr>
          <p:cNvPr id="4" name="Slide Number Placeholder 3"/>
          <p:cNvSpPr>
            <a:spLocks noGrp="1"/>
          </p:cNvSpPr>
          <p:nvPr>
            <p:ph type="sldNum" idx="5" sz="quarter"/>
          </p:nvPr>
        </p:nvSpPr>
        <p:spPr/>
      </p:sp>
    </p:spTree>
  </p:cSld>
  <p:clrMapOvr>
    <a:masterClrMapping/>
  </p:clrMapOvr>
</p:notes>
</file>

<file path=ppt/notesSlides/notesSlide13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Worked Analysis — From Log Line to Alarm.</a:t>
            </a:r>
          </a:p>
          <a:p>
            <a:r>
              <a:t>Raw log: 'ERROR checkout timeout' — Unstructured text — invisible to metrics and alarms as-is.</a:t>
            </a:r>
          </a:p>
          <a:p>
            <a:r>
              <a:t>Metric filter extracts AppErrorCount — A numeric metric now exists in a custom namespace.</a:t>
            </a:r>
          </a:p>
          <a:p>
            <a:r>
              <a:t>Alarm: Sum &gt; 5 in 1 minute — The metric becomes an actionable state change.</a:t>
            </a:r>
          </a:p>
          <a:p>
            <a:r>
              <a:t>Alarm → SNS/EventBridge — Notifies responders and can trigger auto-remediation (Domain 5).</a:t>
            </a:r>
          </a:p>
          <a:p>
            <a:r>
              <a:t>Takeaway: Observability is a pipeline: capture → extract → alarm → act. Each stage turns raw data into faster recovery.</a:t>
            </a:r>
          </a:p>
          <a:p/>
          <a:p>
            <a:r>
              <a:t>[Sources]</a:t>
            </a:r>
          </a:p>
          <a:p>
            <a:r>
              <a:t>- AWS CloudWatch Logs metric filters Documentation (docs.aws.amazon.com/AmazonCloudWatch/latest/logs/MonitoringLogData.html).</a:t>
            </a:r>
          </a:p>
          <a:p>
            <a:r>
              <a:t>- AWS Certified DevOps Engineer – Professional (DOP-C02) Exam Guide (docs.aws.amazon.com/pdfs/aws-certification/latest/devops-engineer-professional-02).</a:t>
            </a:r>
          </a:p>
        </p:txBody>
      </p:sp>
      <p:sp>
        <p:nvSpPr>
          <p:cNvPr id="4" name="Slide Number Placeholder 3"/>
          <p:cNvSpPr>
            <a:spLocks noGrp="1"/>
          </p:cNvSpPr>
          <p:nvPr>
            <p:ph type="sldNum" idx="5" sz="quarter"/>
          </p:nvPr>
        </p:nvSpPr>
        <p:spPr/>
      </p:sp>
    </p:spTree>
  </p:cSld>
  <p:clrMapOvr>
    <a:masterClrMapping/>
  </p:clrMapOvr>
</p:notes>
</file>

<file path=ppt/notesSlides/notesSlide13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Lab 16 overview — Instrument an EC2 workload with memory/disk and application metrics, then visualise CPU, latency, errors and request count on a CloudWatch dashboard (LO4, K5, A6).</a:t>
            </a:r>
          </a:p>
          <a:p>
            <a:r>
              <a:t>Concept-led briefing only. The full detailed procedure, commands, expected outputs, validation and cleanup live in the Learner Guide and the lab README (not on the slides).</a:t>
            </a:r>
          </a:p>
          <a:p>
            <a:r>
              <a:t>Reference architecture: course-generated diagram for Lab 16.</a:t>
            </a:r>
          </a:p>
          <a:p/>
          <a:p>
            <a:r>
              <a:t>[Sources]</a:t>
            </a:r>
          </a:p>
          <a:p>
            <a:r>
              <a:t>- AWS Certified DevOps Engineer – Professional (DOP-C02) Exam Guide (docs.aws.amazon.com/pdfs/aws-certification/latest/devops-engineer-professional-02).</a:t>
            </a:r>
          </a:p>
          <a:p>
            <a:r>
              <a:t>- Legacy course deck: WSQ Master Trainer Slides — DevOps Engineering on AWS (v7).</a:t>
            </a:r>
          </a:p>
        </p:txBody>
      </p:sp>
      <p:sp>
        <p:nvSpPr>
          <p:cNvPr id="4" name="Slide Number Placeholder 3"/>
          <p:cNvSpPr>
            <a:spLocks noGrp="1"/>
          </p:cNvSpPr>
          <p:nvPr>
            <p:ph type="sldNum" idx="5" sz="quarter"/>
          </p:nvPr>
        </p:nvSpPr>
        <p:spPr/>
      </p:sp>
    </p:spTree>
  </p:cSld>
  <p:clrMapOvr>
    <a:masterClrMapping/>
  </p:clrMapOvr>
</p:notes>
</file>

<file path=ppt/notesSlides/notesSlide13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Lab 17 overview — Ship application and system logs into CloudWatch Logs with retention, then use Logs Insights queries to find the slowest and most error-prone requests (LO4, K5, A6).</a:t>
            </a:r>
          </a:p>
          <a:p>
            <a:r>
              <a:t>Concept-led briefing only. The full detailed procedure, commands, expected outputs, validation and cleanup live in the Learner Guide and the lab README (not on the slides).</a:t>
            </a:r>
          </a:p>
          <a:p>
            <a:r>
              <a:t>Reference architecture: course-generated diagram for Lab 17.</a:t>
            </a:r>
          </a:p>
          <a:p/>
          <a:p>
            <a:r>
              <a:t>[Sources]</a:t>
            </a:r>
          </a:p>
          <a:p>
            <a:r>
              <a:t>- AWS Certified DevOps Engineer – Professional (DOP-C02) Exam Guide (docs.aws.amazon.com/pdfs/aws-certification/latest/devops-engineer-professional-02).</a:t>
            </a:r>
          </a:p>
          <a:p>
            <a:r>
              <a:t>- Legacy course deck: WSQ Master Trainer Slides — DevOps Engineering on AWS (v7).</a:t>
            </a:r>
          </a:p>
        </p:txBody>
      </p:sp>
      <p:sp>
        <p:nvSpPr>
          <p:cNvPr id="4" name="Slide Number Placeholder 3"/>
          <p:cNvSpPr>
            <a:spLocks noGrp="1"/>
          </p:cNvSpPr>
          <p:nvPr>
            <p:ph type="sldNum" idx="5" sz="quarter"/>
          </p:nvPr>
        </p:nvSpPr>
        <p:spPr/>
      </p:sp>
    </p:spTree>
  </p:cSld>
  <p:clrMapOvr>
    <a:masterClrMapping/>
  </p:clrMapOvr>
</p:notes>
</file>

<file path=ppt/notesSlides/notesSlide13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Lab 18 overview — Create a metric filter that counts ERROR log lines, alarm on that metric and on high CPU, and notify an on-call engineer by email via SNS (LO4, K5, A6).</a:t>
            </a:r>
          </a:p>
          <a:p>
            <a:r>
              <a:t>Concept-led briefing only. The full detailed procedure, commands, expected outputs, validation and cleanup live in the Learner Guide and the lab README (not on the slides).</a:t>
            </a:r>
          </a:p>
          <a:p>
            <a:r>
              <a:t>Reference architecture: course-generated diagram for Lab 18.</a:t>
            </a:r>
          </a:p>
          <a:p/>
          <a:p>
            <a:r>
              <a:t>[Sources]</a:t>
            </a:r>
          </a:p>
          <a:p>
            <a:r>
              <a:t>- AWS Certified DevOps Engineer – Professional (DOP-C02) Exam Guide (docs.aws.amazon.com/pdfs/aws-certification/latest/devops-engineer-professional-02).</a:t>
            </a:r>
          </a:p>
          <a:p>
            <a:r>
              <a:t>- Legacy course deck: WSQ Master Trainer Slides — DevOps Engineering on AWS (v7).</a:t>
            </a:r>
          </a:p>
        </p:txBody>
      </p:sp>
      <p:sp>
        <p:nvSpPr>
          <p:cNvPr id="4" name="Slide Number Placeholder 3"/>
          <p:cNvSpPr>
            <a:spLocks noGrp="1"/>
          </p:cNvSpPr>
          <p:nvPr>
            <p:ph type="sldNum" idx="5" sz="quarter"/>
          </p:nvPr>
        </p:nvSpPr>
        <p:spPr/>
      </p:sp>
    </p:spTree>
  </p:cSld>
  <p:clrMapOvr>
    <a:masterClrMapping/>
  </p:clrMapOvr>
</p:notes>
</file>

<file path=ppt/notesSlides/notesSlide13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Recap of Domain 04 — Monitoring and Logging.</a:t>
            </a:r>
          </a:p>
          <a:p/>
          <a:p>
            <a:r>
              <a:t>[Sources]</a:t>
            </a:r>
          </a:p>
          <a:p>
            <a:r>
              <a:t>- AWS Certified DevOps Engineer – Professional (DOP-C02) Exam Guide (docs.aws.amazon.com/pdfs/aws-certification/latest/devops-engineer-professional-02).</a:t>
            </a:r>
          </a:p>
          <a:p>
            <a:r>
              <a:t>- AWS CloudWatch Documentation (docs.aws.amazon.com/AmazonCloudWatch).</a:t>
            </a:r>
          </a:p>
          <a:p>
            <a:r>
              <a:t>- Legacy course deck: WSQ Master Trainer Slides — DevOps Engineering on AWS (v7).</a:t>
            </a:r>
          </a:p>
        </p:txBody>
      </p:sp>
      <p:sp>
        <p:nvSpPr>
          <p:cNvPr id="4" name="Slide Number Placeholder 3"/>
          <p:cNvSpPr>
            <a:spLocks noGrp="1"/>
          </p:cNvSpPr>
          <p:nvPr>
            <p:ph type="sldNum" idx="5" sz="quarter"/>
          </p:nvPr>
        </p:nvSpPr>
        <p:spPr/>
      </p:sp>
    </p:spTree>
  </p:cSld>
  <p:clrMapOvr>
    <a:masterClrMapping/>
  </p:clrMapOvr>
</p:notes>
</file>

<file path=ppt/notesSlides/notesSlide13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Key concepts for Domain 05 — Incident and Event Response.</a:t>
            </a:r>
          </a:p>
          <a:p>
            <a:r>
              <a:t>Event-driven operations: EventBridge routes events from AWS services and applications to targets that act automatically.</a:t>
            </a:r>
          </a:p>
          <a:p>
            <a:r>
              <a:t>Notify &amp; act: SNS notifies people; Lambda, Systems Manager Automation and Step Functions take the remediating action.</a:t>
            </a:r>
          </a:p>
          <a:p>
            <a:r>
              <a:t>Auto-remediation: AWS Config rules and EventBridge patterns detect drift and fix it — tag, isolate, restart or roll back.</a:t>
            </a:r>
          </a:p>
          <a:p>
            <a:r>
              <a:t>Runbooks &amp; playbooks: Systems Manager documents codify the response so incidents are handled consistently and fast.</a:t>
            </a:r>
          </a:p>
          <a:p>
            <a:r>
              <a:t>Deployment failure response: CloudWatch alarms roll back CodeDeploy; pipeline stages stop and alert on failure.</a:t>
            </a:r>
          </a:p>
          <a:p>
            <a:r>
              <a:t>Troubleshooting: Correlate metrics, logs, traces and CloudTrail events to find and fix system and application failures.</a:t>
            </a:r>
          </a:p>
          <a:p/>
          <a:p>
            <a:r>
              <a:t>[Sources]</a:t>
            </a:r>
          </a:p>
          <a:p>
            <a:r>
              <a:t>- AWS Certified DevOps Engineer – Professional (DOP-C02) Exam Guide (docs.aws.amazon.com/pdfs/aws-certification/latest/devops-engineer-professional-02).</a:t>
            </a:r>
          </a:p>
          <a:p>
            <a:r>
              <a:t>- AWS EventBridge Documentation (docs.aws.amazon.com/eventbridge).</a:t>
            </a:r>
          </a:p>
          <a:p>
            <a:r>
              <a:t>- Legacy course deck: WSQ Master Trainer Slides — DevOps Engineering on AWS (v7).</a:t>
            </a:r>
          </a:p>
        </p:txBody>
      </p:sp>
      <p:sp>
        <p:nvSpPr>
          <p:cNvPr id="4" name="Slide Number Placeholder 3"/>
          <p:cNvSpPr>
            <a:spLocks noGrp="1"/>
          </p:cNvSpPr>
          <p:nvPr>
            <p:ph type="sldNum" idx="5" sz="quarter"/>
          </p:nvPr>
        </p:nvSpPr>
        <p:spPr/>
      </p:sp>
    </p:spTree>
  </p:cSld>
  <p:clrMapOvr>
    <a:masterClrMapping/>
  </p:clrMapOvr>
</p:notes>
</file>

<file path=ppt/notesSlides/notesSlide13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Automation Cuts Mean Time To Recover. What the data shows: Event-driven automation collapses MTTR from over an hour to a few minutes across every phase.</a:t>
            </a:r>
          </a:p>
          <a:p>
            <a:r>
              <a:t>Figures are illustrative teaching values to convey the relationship, not measured benchmarks.</a:t>
            </a:r>
          </a:p>
        </p:txBody>
      </p:sp>
      <p:sp>
        <p:nvSpPr>
          <p:cNvPr id="4" name="Slide Number Placeholder 3"/>
          <p:cNvSpPr>
            <a:spLocks noGrp="1"/>
          </p:cNvSpPr>
          <p:nvPr>
            <p:ph type="sldNum" idx="5" sz="quarter"/>
          </p:nvPr>
        </p:nvSpPr>
        <p:spPr/>
      </p:sp>
    </p:spTree>
  </p:cSld>
  <p:clrMapOvr>
    <a:masterClrMapping/>
  </p:clrMapOvr>
</p:notes>
</file>

<file path=ppt/notesSlides/notesSlide13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Domain 05 deep dive — Incident and Event Response. Editable AWS-native diagram/table/chart.</a:t>
            </a:r>
          </a:p>
          <a:p/>
          <a:p>
            <a:r>
              <a:t>[Sources]</a:t>
            </a:r>
          </a:p>
          <a:p>
            <a:r>
              <a:t>- AWS Certified DevOps Engineer – Professional (DOP-C02) Exam Guide (docs.aws.amazon.com/pdfs/aws-certification/latest/devops-engineer-professional-02).</a:t>
            </a:r>
          </a:p>
          <a:p>
            <a:r>
              <a:t>- AWS EventBridge Documentation (docs.aws.amazon.com/eventbridge).</a:t>
            </a:r>
          </a:p>
          <a:p>
            <a:r>
              <a:t>- Legacy course deck: WSQ Master Trainer Slides — DevOps Engineering on AWS (v7).</a:t>
            </a:r>
          </a:p>
        </p:txBody>
      </p:sp>
      <p:sp>
        <p:nvSpPr>
          <p:cNvPr id="4" name="Slide Number Placeholder 3"/>
          <p:cNvSpPr>
            <a:spLocks noGrp="1"/>
          </p:cNvSpPr>
          <p:nvPr>
            <p:ph type="sldNum" idx="5" sz="quarter"/>
          </p:nvPr>
        </p:nvSpPr>
        <p:spPr/>
      </p:sp>
    </p:spTree>
  </p:cSld>
  <p:clrMapOvr>
    <a:masterClrMapping/>
  </p:clrMapOvr>
</p:notes>
</file>

<file path=ppt/notesSlides/notesSlide13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Domain 05 deep dive — Incident and Event Response. Editable AWS-native diagram/table/chart.</a:t>
            </a:r>
          </a:p>
          <a:p/>
          <a:p>
            <a:r>
              <a:t>[Sources]</a:t>
            </a:r>
          </a:p>
          <a:p>
            <a:r>
              <a:t>- AWS Certified DevOps Engineer – Professional (DOP-C02) Exam Guide (docs.aws.amazon.com/pdfs/aws-certification/latest/devops-engineer-professional-02).</a:t>
            </a:r>
          </a:p>
          <a:p>
            <a:r>
              <a:t>- AWS EventBridge Documentation (docs.aws.amazon.com/eventbridge).</a:t>
            </a:r>
          </a:p>
          <a:p>
            <a:r>
              <a:t>- Legacy course deck: WSQ Master Trainer Slides — DevOps Engineering on AWS (v7).</a:t>
            </a:r>
          </a:p>
        </p:txBody>
      </p:sp>
      <p:sp>
        <p:nvSpPr>
          <p:cNvPr id="4" name="Slide Number Placeholder 3"/>
          <p:cNvSpPr>
            <a:spLocks noGrp="1"/>
          </p:cNvSpPr>
          <p:nvPr>
            <p:ph type="sldNum" idx="5" sz="quarter"/>
          </p:nvPr>
        </p:nvSpPr>
        <p:spPr/>
      </p:sp>
    </p:spTree>
  </p:cSld>
  <p:clrMapOvr>
    <a:masterClrMapping/>
  </p:clrMapOvr>
</p:notes>
</file>

<file path=ppt/notesSlides/notesSlide13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Domain 05 deep dive — Incident and Event Response. Editable AWS-native diagram/table/chart.</a:t>
            </a:r>
          </a:p>
          <a:p/>
          <a:p>
            <a:r>
              <a:t>[Sources]</a:t>
            </a:r>
          </a:p>
          <a:p>
            <a:r>
              <a:t>- AWS Certified DevOps Engineer – Professional (DOP-C02) Exam Guide (docs.aws.amazon.com/pdfs/aws-certification/latest/devops-engineer-professional-02).</a:t>
            </a:r>
          </a:p>
          <a:p>
            <a:r>
              <a:t>- AWS EventBridge Documentation (docs.aws.amazon.com/eventbridge).</a:t>
            </a:r>
          </a:p>
          <a:p>
            <a:r>
              <a:t>- Legacy course deck: WSQ Master Trainer Slides — DevOps Engineering on AWS (v7).</a:t>
            </a:r>
          </a:p>
        </p:txBody>
      </p:sp>
      <p:sp>
        <p:nvSpPr>
          <p:cNvPr id="4" name="Slide Number Placeholder 3"/>
          <p:cNvSpPr>
            <a:spLocks noGrp="1"/>
          </p:cNvSpPr>
          <p:nvPr>
            <p:ph type="sldNum" idx="5" sz="quarter"/>
          </p:nvPr>
        </p:nvSpPr>
        <p:spPr/>
      </p:sp>
    </p:spTree>
  </p:cSld>
  <p:clrMapOvr>
    <a:masterClrMapping/>
  </p:clrMapOvr>
</p:notes>
</file>

<file path=ppt/notesSlides/notesSlide14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Domain 05 deep dive — Incident and Event Response. Editable AWS-native diagram/table/chart.</a:t>
            </a:r>
          </a:p>
          <a:p/>
          <a:p>
            <a:r>
              <a:t>[Sources]</a:t>
            </a:r>
          </a:p>
          <a:p>
            <a:r>
              <a:t>- AWS Certified DevOps Engineer – Professional (DOP-C02) Exam Guide (docs.aws.amazon.com/pdfs/aws-certification/latest/devops-engineer-professional-02).</a:t>
            </a:r>
          </a:p>
          <a:p>
            <a:r>
              <a:t>- AWS EventBridge Documentation (docs.aws.amazon.com/eventbridge).</a:t>
            </a:r>
          </a:p>
          <a:p>
            <a:r>
              <a:t>- Legacy course deck: WSQ Master Trainer Slides — DevOps Engineering on AWS (v7).</a:t>
            </a:r>
          </a:p>
        </p:txBody>
      </p:sp>
      <p:sp>
        <p:nvSpPr>
          <p:cNvPr id="4" name="Slide Number Placeholder 3"/>
          <p:cNvSpPr>
            <a:spLocks noGrp="1"/>
          </p:cNvSpPr>
          <p:nvPr>
            <p:ph type="sldNum" idx="5" sz="quarter"/>
          </p:nvPr>
        </p:nvSpPr>
        <p:spPr/>
      </p:sp>
    </p:spTree>
  </p:cSld>
  <p:clrMapOvr>
    <a:masterClrMapping/>
  </p:clrMapOvr>
</p:notes>
</file>

<file path=ppt/notesSlides/notesSlide14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Domain 05 deep dive — Incident and Event Response. Editable AWS-native diagram/table/chart.</a:t>
            </a:r>
          </a:p>
          <a:p/>
          <a:p>
            <a:r>
              <a:t>[Sources]</a:t>
            </a:r>
          </a:p>
          <a:p>
            <a:r>
              <a:t>- AWS Certified DevOps Engineer – Professional (DOP-C02) Exam Guide (docs.aws.amazon.com/pdfs/aws-certification/latest/devops-engineer-professional-02).</a:t>
            </a:r>
          </a:p>
          <a:p>
            <a:r>
              <a:t>- AWS EventBridge Documentation (docs.aws.amazon.com/eventbridge).</a:t>
            </a:r>
          </a:p>
          <a:p>
            <a:r>
              <a:t>- Legacy course deck: WSQ Master Trainer Slides — DevOps Engineering on AWS (v7).</a:t>
            </a:r>
          </a:p>
        </p:txBody>
      </p:sp>
      <p:sp>
        <p:nvSpPr>
          <p:cNvPr id="4" name="Slide Number Placeholder 3"/>
          <p:cNvSpPr>
            <a:spLocks noGrp="1"/>
          </p:cNvSpPr>
          <p:nvPr>
            <p:ph type="sldNum" idx="5" sz="quarter"/>
          </p:nvPr>
        </p:nvSpPr>
        <p:spPr/>
      </p:sp>
    </p:spTree>
  </p:cSld>
  <p:clrMapOvr>
    <a:masterClrMapping/>
  </p:clrMapOvr>
</p:notes>
</file>

<file path=ppt/notesSlides/notesSlide14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Event-driven operations with EventBridge.</a:t>
            </a:r>
          </a:p>
          <a:p>
            <a:r>
              <a:t>Why it matters: Events let operations react the instant something changes, instead of polling or waiting for a human to notice.</a:t>
            </a:r>
          </a:p>
          <a:p>
            <a:r>
              <a:t>Failure mode: Over-broad event patterns match far more than intended and trigger remediation on benign events.</a:t>
            </a:r>
          </a:p>
          <a:p>
            <a:r>
              <a:t>Trade-off: Fine-grained rules are precise but numerous to manage; broad rules are simple but risk false triggers.</a:t>
            </a:r>
          </a:p>
          <a:p/>
          <a:p>
            <a:r>
              <a:t>[Sources]</a:t>
            </a:r>
          </a:p>
          <a:p>
            <a:r>
              <a:t>- AWS EventBridge Documentation (docs.aws.amazon.com/eventbridge/latest/userguide).</a:t>
            </a:r>
          </a:p>
          <a:p>
            <a:r>
              <a:t>- AWS Certified DevOps Engineer – Professional (DOP-C02) Exam Guide (docs.aws.amazon.com/pdfs/aws-certification/latest/devops-engineer-professional-02).</a:t>
            </a:r>
          </a:p>
        </p:txBody>
      </p:sp>
      <p:sp>
        <p:nvSpPr>
          <p:cNvPr id="4" name="Slide Number Placeholder 3"/>
          <p:cNvSpPr>
            <a:spLocks noGrp="1"/>
          </p:cNvSpPr>
          <p:nvPr>
            <p:ph type="sldNum" idx="5" sz="quarter"/>
          </p:nvPr>
        </p:nvSpPr>
        <p:spPr/>
      </p:sp>
    </p:spTree>
  </p:cSld>
  <p:clrMapOvr>
    <a:masterClrMapping/>
  </p:clrMapOvr>
</p:notes>
</file>

<file path=ppt/notesSlides/notesSlide14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Notify people, trigger machines.</a:t>
            </a:r>
          </a:p>
          <a:p>
            <a:r>
              <a:t>Why it matters: Separating 'notify' from 'act' means the automated fix starts immediately while humans stay informed and can intervene.</a:t>
            </a:r>
          </a:p>
          <a:p>
            <a:r>
              <a:t>Failure mode: Notifying without automating leaves recovery gated on human reaction time at 3am.</a:t>
            </a:r>
          </a:p>
          <a:p>
            <a:r>
              <a:t>Trade-off: Automating actions demands tight IAM scoping and validation so a bad event can't trigger a harmful action.</a:t>
            </a:r>
          </a:p>
          <a:p/>
          <a:p>
            <a:r>
              <a:t>[Sources]</a:t>
            </a:r>
          </a:p>
          <a:p>
            <a:r>
              <a:t>- AWS SNS Documentation (docs.aws.amazon.com/sns).</a:t>
            </a:r>
          </a:p>
          <a:p>
            <a:r>
              <a:t>- AWS Systems Manager Automation Documentation (docs.aws.amazon.com/systems-manager/latest/userguide/systems-manager-automation.html).</a:t>
            </a:r>
          </a:p>
          <a:p>
            <a:r>
              <a:t>- AWS Certified DevOps Engineer – Professional (DOP-C02) Exam Guide (docs.aws.amazon.com/pdfs/aws-certification/latest/devops-engineer-professional-02).</a:t>
            </a:r>
          </a:p>
        </p:txBody>
      </p:sp>
      <p:sp>
        <p:nvSpPr>
          <p:cNvPr id="4" name="Slide Number Placeholder 3"/>
          <p:cNvSpPr>
            <a:spLocks noGrp="1"/>
          </p:cNvSpPr>
          <p:nvPr>
            <p:ph type="sldNum" idx="5" sz="quarter"/>
          </p:nvPr>
        </p:nvSpPr>
        <p:spPr/>
      </p:sp>
    </p:spTree>
  </p:cSld>
  <p:clrMapOvr>
    <a:masterClrMapping/>
  </p:clrMapOvr>
</p:notes>
</file>

<file path=ppt/notesSlides/notesSlide14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Auto-remediation with Config and Automation.</a:t>
            </a:r>
          </a:p>
          <a:p>
            <a:r>
              <a:t>Why it matters: Continuous detection plus automated remediation keeps the environment compliant without waiting for a human review cycle.</a:t>
            </a:r>
          </a:p>
          <a:p>
            <a:r>
              <a:t>Failure mode: Auto-remediating without guardrails can fight a legitimate change or mask a deeper problem instead of fixing it.</a:t>
            </a:r>
          </a:p>
          <a:p>
            <a:r>
              <a:t>Trade-off: Immediate auto-fix is fast but can hide recurring root causes — track remediation frequency as a signal.</a:t>
            </a:r>
          </a:p>
          <a:p/>
          <a:p>
            <a:r>
              <a:t>[Sources]</a:t>
            </a:r>
          </a:p>
          <a:p>
            <a:r>
              <a:t>- AWS Config remediation Documentation (docs.aws.amazon.com/config/latest/developerguide/remediation.html).</a:t>
            </a:r>
          </a:p>
          <a:p>
            <a:r>
              <a:t>- AWS Certified DevOps Engineer – Professional (DOP-C02) Exam Guide (docs.aws.amazon.com/pdfs/aws-certification/latest/devops-engineer-professional-02).</a:t>
            </a:r>
          </a:p>
        </p:txBody>
      </p:sp>
      <p:sp>
        <p:nvSpPr>
          <p:cNvPr id="4" name="Slide Number Placeholder 3"/>
          <p:cNvSpPr>
            <a:spLocks noGrp="1"/>
          </p:cNvSpPr>
          <p:nvPr>
            <p:ph type="sldNum" idx="5" sz="quarter"/>
          </p:nvPr>
        </p:nvSpPr>
        <p:spPr/>
      </p:sp>
    </p:spTree>
  </p:cSld>
  <p:clrMapOvr>
    <a:masterClrMapping/>
  </p:clrMapOvr>
</p:notes>
</file>

<file path=ppt/notesSlides/notesSlide14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Runbooks and playbooks.</a:t>
            </a:r>
          </a:p>
          <a:p>
            <a:r>
              <a:t>Why it matters: Runbooks turn hard-won incident knowledge into repeatable automation; playbooks coordinate the human response to the unknown.</a:t>
            </a:r>
          </a:p>
          <a:p>
            <a:r>
              <a:t>Failure mode: Tribal knowledge in one engineer's head fails the moment that person is on leave during an incident.</a:t>
            </a:r>
          </a:p>
          <a:p>
            <a:r>
              <a:t>Trade-off: Automated runbooks must be maintained as the system changes, or they confidently do the wrong thing.</a:t>
            </a:r>
          </a:p>
          <a:p/>
          <a:p>
            <a:r>
              <a:t>[Sources]</a:t>
            </a:r>
          </a:p>
          <a:p>
            <a:r>
              <a:t>- AWS Systems Manager runbooks Documentation (docs.aws.amazon.com/systems-manager/latest/userguide/automation-documents.html).</a:t>
            </a:r>
          </a:p>
          <a:p>
            <a:r>
              <a:t>- AWS Certified DevOps Engineer – Professional (DOP-C02) Exam Guide (docs.aws.amazon.com/pdfs/aws-certification/latest/devops-engineer-professional-02).</a:t>
            </a:r>
          </a:p>
        </p:txBody>
      </p:sp>
      <p:sp>
        <p:nvSpPr>
          <p:cNvPr id="4" name="Slide Number Placeholder 3"/>
          <p:cNvSpPr>
            <a:spLocks noGrp="1"/>
          </p:cNvSpPr>
          <p:nvPr>
            <p:ph type="sldNum" idx="5" sz="quarter"/>
          </p:nvPr>
        </p:nvSpPr>
        <p:spPr/>
      </p:sp>
    </p:spTree>
  </p:cSld>
  <p:clrMapOvr>
    <a:masterClrMapping/>
  </p:clrMapOvr>
</p:notes>
</file>

<file path=ppt/notesSlides/notesSlide14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Deployment-failure response.</a:t>
            </a:r>
          </a:p>
          <a:p>
            <a:r>
              <a:t>Why it matters: Wiring release health into automated rollback keeps a bad deployment from becoming a prolonged outage.</a:t>
            </a:r>
          </a:p>
          <a:p>
            <a:r>
              <a:t>Failure mode: Deployments with no health signal or rollback path require a manual, stressful, error-prone recovery.</a:t>
            </a:r>
          </a:p>
          <a:p>
            <a:r>
              <a:t>Trade-off: Fast auto-rollback is safe but can oscillate if the health signal is noisy — tune alarm sensitivity.</a:t>
            </a:r>
          </a:p>
          <a:p/>
          <a:p>
            <a:r>
              <a:t>[Sources]</a:t>
            </a:r>
          </a:p>
          <a:p>
            <a:r>
              <a:t>- AWS CodeDeploy rollback Documentation (docs.aws.amazon.com/codedeploy/latest/userguide/deployments-rollback-and-redeploy.html).</a:t>
            </a:r>
          </a:p>
          <a:p>
            <a:r>
              <a:t>- AWS ECS circuit breaker Documentation (docs.aws.amazon.com/AmazonECS/latest/developerguide/deployment-circuit-breaker.html).</a:t>
            </a:r>
          </a:p>
          <a:p>
            <a:r>
              <a:t>- AWS Certified DevOps Engineer – Professional (DOP-C02) Exam Guide (docs.aws.amazon.com/pdfs/aws-certification/latest/devops-engineer-professional-02).</a:t>
            </a:r>
          </a:p>
        </p:txBody>
      </p:sp>
      <p:sp>
        <p:nvSpPr>
          <p:cNvPr id="4" name="Slide Number Placeholder 3"/>
          <p:cNvSpPr>
            <a:spLocks noGrp="1"/>
          </p:cNvSpPr>
          <p:nvPr>
            <p:ph type="sldNum" idx="5" sz="quarter"/>
          </p:nvPr>
        </p:nvSpPr>
        <p:spPr/>
      </p:sp>
    </p:spTree>
  </p:cSld>
  <p:clrMapOvr>
    <a:masterClrMapping/>
  </p:clrMapOvr>
</p:notes>
</file>

<file path=ppt/notesSlides/notesSlide14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Troubleshooting methodically across signals.</a:t>
            </a:r>
          </a:p>
          <a:p>
            <a:r>
              <a:t>Why it matters: A disciplined, signal-driven method finds root cause faster than guessing and prevents fixing symptoms only.</a:t>
            </a:r>
          </a:p>
          <a:p>
            <a:r>
              <a:t>Failure mode: Restarting things at random during an incident can clear the symptom while leaving the cause to recur.</a:t>
            </a:r>
          </a:p>
          <a:p>
            <a:r>
              <a:t>Trade-off: Thorough diagnosis takes minutes you may feel you don't have — but mis-diagnosis costs more.</a:t>
            </a:r>
          </a:p>
          <a:p/>
          <a:p>
            <a:r>
              <a:t>[Sources]</a:t>
            </a:r>
          </a:p>
          <a:p>
            <a:r>
              <a:t>- AWS CloudTrail Documentation (docs.aws.amazon.com/awscloudtrail).</a:t>
            </a:r>
          </a:p>
          <a:p>
            <a:r>
              <a:t>- AWS CloudWatch Documentation (docs.aws.amazon.com/AmazonCloudWatch).</a:t>
            </a:r>
          </a:p>
          <a:p>
            <a:r>
              <a:t>- AWS Certified DevOps Engineer – Professional (DOP-C02) Exam Guide (docs.aws.amazon.com/pdfs/aws-certification/latest/devops-engineer-professional-02).</a:t>
            </a:r>
          </a:p>
        </p:txBody>
      </p:sp>
      <p:sp>
        <p:nvSpPr>
          <p:cNvPr id="4" name="Slide Number Placeholder 3"/>
          <p:cNvSpPr>
            <a:spLocks noGrp="1"/>
          </p:cNvSpPr>
          <p:nvPr>
            <p:ph type="sldNum" idx="5" sz="quarter"/>
          </p:nvPr>
        </p:nvSpPr>
        <p:spPr/>
      </p:sp>
    </p:spTree>
  </p:cSld>
  <p:clrMapOvr>
    <a:masterClrMapping/>
  </p:clrMapOvr>
</p:notes>
</file>

<file path=ppt/notesSlides/notesSlide14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Blameless post-incident review.</a:t>
            </a:r>
          </a:p>
          <a:p>
            <a:r>
              <a:t>Why it matters: Treating incidents as learning — not fault — turns each outage into durable resilience and better automation.</a:t>
            </a:r>
          </a:p>
          <a:p>
            <a:r>
              <a:t>Failure mode: Blaming individuals drives problems underground; people stop reporting near-misses and the system stops improving.</a:t>
            </a:r>
          </a:p>
          <a:p>
            <a:r>
              <a:t>Trade-off: Reviews cost time and candour — the payoff is compounding reliability over many incidents.</a:t>
            </a:r>
          </a:p>
          <a:p/>
          <a:p>
            <a:r>
              <a:t>[Sources]</a:t>
            </a:r>
          </a:p>
          <a:p>
            <a:r>
              <a:t>- DORA / Google Cloud, Accelerate State of DevOps (dora.dev).</a:t>
            </a:r>
          </a:p>
          <a:p>
            <a:r>
              <a:t>- AWS Well-Architected Framework (docs.aws.amazon.com/wellarchitected).</a:t>
            </a:r>
          </a:p>
          <a:p>
            <a:r>
              <a:t>- AWS Builders' Library Documentation (docs.aws.amazon.com/builders-library).</a:t>
            </a:r>
          </a:p>
        </p:txBody>
      </p:sp>
      <p:sp>
        <p:nvSpPr>
          <p:cNvPr id="4" name="Slide Number Placeholder 3"/>
          <p:cNvSpPr>
            <a:spLocks noGrp="1"/>
          </p:cNvSpPr>
          <p:nvPr>
            <p:ph type="sldNum" idx="5" sz="quarter"/>
          </p:nvPr>
        </p:nvSpPr>
        <p:spPr/>
      </p:sp>
    </p:spTree>
  </p:cSld>
  <p:clrMapOvr>
    <a:masterClrMapping/>
  </p:clrMapOvr>
</p:notes>
</file>

<file path=ppt/notesSlides/notesSlide14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Orchestrating complex responses with Step Functions.</a:t>
            </a:r>
          </a:p>
          <a:p>
            <a:r>
              <a:t>Why it matters: Some incidents need a workflow, not a single action — orchestration gives reliable, observable, multi-step recovery.</a:t>
            </a:r>
          </a:p>
          <a:p>
            <a:r>
              <a:t>Failure mode: A tangle of Lambdas invoking Lambdas becomes impossible to trace or safely modify.</a:t>
            </a:r>
          </a:p>
          <a:p>
            <a:r>
              <a:t>Trade-off: Orchestration adds a service to design and cost, justified when the response has real branching and steps.</a:t>
            </a:r>
          </a:p>
          <a:p/>
          <a:p>
            <a:r>
              <a:t>[Sources]</a:t>
            </a:r>
          </a:p>
          <a:p>
            <a:r>
              <a:t>- AWS Step Functions Documentation (docs.aws.amazon.com/step-functions).</a:t>
            </a:r>
          </a:p>
          <a:p>
            <a:r>
              <a:t>- AWS Certified DevOps Engineer – Professional (DOP-C02) Exam Guide (docs.aws.amazon.com/pdfs/aws-certification/latest/devops-engineer-professional-02).</a:t>
            </a:r>
          </a:p>
        </p:txBody>
      </p:sp>
      <p:sp>
        <p:nvSpPr>
          <p:cNvPr id="4" name="Slide Number Placeholder 3"/>
          <p:cNvSpPr>
            <a:spLocks noGrp="1"/>
          </p:cNvSpPr>
          <p:nvPr>
            <p:ph type="sldNum" idx="5" sz="quarter"/>
          </p:nvPr>
        </p:nvSpPr>
        <p:spPr/>
      </p:sp>
    </p:spTree>
  </p:cSld>
  <p:clrMapOvr>
    <a:masterClrMapping/>
  </p:clrMapOvr>
</p:notes>
</file>

<file path=ppt/notesSlides/notesSlide15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Comparison — Runbook vs Playbook — Know the Difference.</a:t>
            </a:r>
          </a:p>
          <a:p/>
          <a:p>
            <a:r>
              <a:t>[Sources]</a:t>
            </a:r>
          </a:p>
          <a:p>
            <a:r>
              <a:t>- AWS Systems Manager Documentation (docs.aws.amazon.com/systems-manager).</a:t>
            </a:r>
          </a:p>
          <a:p>
            <a:r>
              <a:t>- AWS Certified DevOps Engineer – Professional (DOP-C02) Exam Guide (docs.aws.amazon.com/pdfs/aws-certification/latest/devops-engineer-professional-02).</a:t>
            </a:r>
          </a:p>
        </p:txBody>
      </p:sp>
      <p:sp>
        <p:nvSpPr>
          <p:cNvPr id="4" name="Slide Number Placeholder 3"/>
          <p:cNvSpPr>
            <a:spLocks noGrp="1"/>
          </p:cNvSpPr>
          <p:nvPr>
            <p:ph type="sldNum" idx="5" sz="quarter"/>
          </p:nvPr>
        </p:nvSpPr>
        <p:spPr/>
      </p:sp>
    </p:spTree>
  </p:cSld>
  <p:clrMapOvr>
    <a:masterClrMapping/>
  </p:clrMapOvr>
</p:notes>
</file>

<file path=ppt/notesSlides/notesSlide15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Automation Cuts MTTR Across Every Phase. What the data shows: Event-driven automation collapses mean-time-to-recover from over an hour to a few minutes — most of the saving is in detection and remediation.</a:t>
            </a:r>
          </a:p>
          <a:p>
            <a:r>
              <a:t>Figures are illustrative teaching values to convey the relationship, not measured benchmarks.</a:t>
            </a:r>
          </a:p>
          <a:p/>
          <a:p>
            <a:r>
              <a:t>[Sources]</a:t>
            </a:r>
          </a:p>
          <a:p>
            <a:r>
              <a:t>- DORA / Google Cloud, Accelerate State of DevOps (dora.dev).</a:t>
            </a:r>
          </a:p>
          <a:p>
            <a:r>
              <a:t>- AWS Certified DevOps Engineer – Professional (DOP-C02) Exam Guide (docs.aws.amazon.com/pdfs/aws-certification/latest/devops-engineer-professional-02).</a:t>
            </a:r>
          </a:p>
        </p:txBody>
      </p:sp>
      <p:sp>
        <p:nvSpPr>
          <p:cNvPr id="4" name="Slide Number Placeholder 3"/>
          <p:cNvSpPr>
            <a:spLocks noGrp="1"/>
          </p:cNvSpPr>
          <p:nvPr>
            <p:ph type="sldNum" idx="5" sz="quarter"/>
          </p:nvPr>
        </p:nvSpPr>
        <p:spPr/>
      </p:sp>
    </p:spTree>
  </p:cSld>
  <p:clrMapOvr>
    <a:masterClrMapping/>
  </p:clrMapOvr>
</p:notes>
</file>

<file path=ppt/notesSlides/notesSlide15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Incident-Response Failure Modes &amp; Anti-Patterns.</a:t>
            </a:r>
          </a:p>
          <a:p>
            <a:r>
              <a:t>Over-broad event patterns — Remediation on benign events → precise patterns, test them.</a:t>
            </a:r>
          </a:p>
          <a:p>
            <a:r>
              <a:t>Notify-only, no automation — Recovery gated on human reaction → wire the fix.</a:t>
            </a:r>
          </a:p>
          <a:p>
            <a:r>
              <a:t>Unscoped remediation IAM — A bad event does damage → least-privilege action roles.</a:t>
            </a:r>
          </a:p>
          <a:p>
            <a:r>
              <a:t>Tribal knowledge — Fix lives in one head → codify runbooks.</a:t>
            </a:r>
          </a:p>
          <a:p>
            <a:r>
              <a:t>Random restarts — Symptom cleared, cause remains → signal-driven diagnosis.</a:t>
            </a:r>
          </a:p>
          <a:p>
            <a:r>
              <a:t>No post-incident learning — Same outage recurs → blameless review + action items.</a:t>
            </a:r>
          </a:p>
          <a:p/>
          <a:p>
            <a:r>
              <a:t>[Sources]</a:t>
            </a:r>
          </a:p>
          <a:p>
            <a:r>
              <a:t>- AWS Certified DevOps Engineer – Professional (DOP-C02) Exam Guide (docs.aws.amazon.com/pdfs/aws-certification/latest/devops-engineer-professional-02).</a:t>
            </a:r>
          </a:p>
          <a:p>
            <a:r>
              <a:t>- AWS EventBridge Documentation (docs.aws.amazon.com/eventbridge).</a:t>
            </a:r>
          </a:p>
        </p:txBody>
      </p:sp>
      <p:sp>
        <p:nvSpPr>
          <p:cNvPr id="4" name="Slide Number Placeholder 3"/>
          <p:cNvSpPr>
            <a:spLocks noGrp="1"/>
          </p:cNvSpPr>
          <p:nvPr>
            <p:ph type="sldNum" idx="5" sz="quarter"/>
          </p:nvPr>
        </p:nvSpPr>
        <p:spPr/>
      </p:sp>
    </p:spTree>
  </p:cSld>
  <p:clrMapOvr>
    <a:masterClrMapping/>
  </p:clrMapOvr>
</p:notes>
</file>

<file path=ppt/notesSlides/notesSlide15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Response Patterns Worth Adopting.</a:t>
            </a:r>
          </a:p>
          <a:p>
            <a:r>
              <a:t>Detect → route → notify+act — EventBridge fans out to people and automation.</a:t>
            </a:r>
          </a:p>
          <a:p>
            <a:r>
              <a:t>Alarm-based rollback — Release health auto-reverts bad deploys.</a:t>
            </a:r>
          </a:p>
          <a:p>
            <a:r>
              <a:t>Automated runbooks — SSM Automation for known fixes.</a:t>
            </a:r>
          </a:p>
          <a:p>
            <a:r>
              <a:t>Guarded auto-remediation — Config → remediation with approval for risky actions.</a:t>
            </a:r>
          </a:p>
          <a:p>
            <a:r>
              <a:t>Orchestrated recovery — Step Functions for multi-step responses.</a:t>
            </a:r>
          </a:p>
          <a:p>
            <a:r>
              <a:t>Blameless reviews — Every incident hardens the system.</a:t>
            </a:r>
          </a:p>
          <a:p/>
          <a:p>
            <a:r>
              <a:t>[Sources]</a:t>
            </a:r>
          </a:p>
          <a:p>
            <a:r>
              <a:t>- AWS Well-Architected Framework (docs.aws.amazon.com/wellarchitected).</a:t>
            </a:r>
          </a:p>
          <a:p>
            <a:r>
              <a:t>- AWS Certified DevOps Engineer – Professional (DOP-C02) Exam Guide (docs.aws.amazon.com/pdfs/aws-certification/latest/devops-engineer-professional-02).</a:t>
            </a:r>
          </a:p>
        </p:txBody>
      </p:sp>
      <p:sp>
        <p:nvSpPr>
          <p:cNvPr id="4" name="Slide Number Placeholder 3"/>
          <p:cNvSpPr>
            <a:spLocks noGrp="1"/>
          </p:cNvSpPr>
          <p:nvPr>
            <p:ph type="sldNum" idx="5" sz="quarter"/>
          </p:nvPr>
        </p:nvSpPr>
        <p:spPr/>
      </p:sp>
    </p:spTree>
  </p:cSld>
  <p:clrMapOvr>
    <a:masterClrMapping/>
  </p:clrMapOvr>
</p:notes>
</file>

<file path=ppt/notesSlides/notesSlide15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Architecture Decision — Automate the Fix or Page a Human?.</a:t>
            </a:r>
          </a:p>
          <a:p>
            <a:r>
              <a:t>Option A — Fully automate: Known cause, safe and reversible fix, frequent occurrence. Fastest recovery — needs tight IAM and validation.</a:t>
            </a:r>
          </a:p>
          <a:p>
            <a:r>
              <a:t>Option B — Automate with approval: Higher-risk action or ambiguous trigger. Step Functions pauses for a human yes/no before acting.</a:t>
            </a:r>
          </a:p>
          <a:p>
            <a:r>
              <a:t>Option C — Notify only: Novel or unclear incidents. Page the on-call with rich context; automation isn't safe until the pattern is understood.</a:t>
            </a:r>
          </a:p>
          <a:p/>
          <a:p>
            <a:r>
              <a:t>[Sources]</a:t>
            </a:r>
          </a:p>
          <a:p>
            <a:r>
              <a:t>- AWS Certified DevOps Engineer – Professional (DOP-C02) Exam Guide (docs.aws.amazon.com/pdfs/aws-certification/latest/devops-engineer-professional-02).</a:t>
            </a:r>
          </a:p>
          <a:p>
            <a:r>
              <a:t>- AWS Step Functions Documentation (docs.aws.amazon.com/step-functions).</a:t>
            </a:r>
          </a:p>
        </p:txBody>
      </p:sp>
      <p:sp>
        <p:nvSpPr>
          <p:cNvPr id="4" name="Slide Number Placeholder 3"/>
          <p:cNvSpPr>
            <a:spLocks noGrp="1"/>
          </p:cNvSpPr>
          <p:nvPr>
            <p:ph type="sldNum" idx="5" sz="quarter"/>
          </p:nvPr>
        </p:nvSpPr>
        <p:spPr/>
      </p:sp>
    </p:spTree>
  </p:cSld>
  <p:clrMapOvr>
    <a:masterClrMapping/>
  </p:clrMapOvr>
</p:notes>
</file>

<file path=ppt/notesSlides/notesSlide15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Scenario: Someone changes a bucket to public. Data exposure risk is immediate; no engineer is awake.</a:t>
            </a:r>
          </a:p>
          <a:p>
            <a:r>
              <a:t>AWS Config's s3-bucket-public-read-prohibited rule detects the non-compliant state within minutes.</a:t>
            </a:r>
          </a:p>
          <a:p>
            <a:r>
              <a:t>An EventBridge rule on the Config compliance-change event can trigger an SSM Automation remediation.</a:t>
            </a:r>
          </a:p>
          <a:p>
            <a:r>
              <a:t>The remediation re-applies Block Public Access and SNS notifies the security channel.</a:t>
            </a:r>
          </a:p>
          <a:p>
            <a:r>
              <a:t>Decision: Wire Config → EventBridge → SSM Automation to auto-remediate and notify, so the exposure window is minutes and unattended — with the action logged for the morning review.</a:t>
            </a:r>
          </a:p>
          <a:p/>
          <a:p>
            <a:r>
              <a:t>[Sources]</a:t>
            </a:r>
          </a:p>
          <a:p>
            <a:r>
              <a:t>- AWS Config remediation Documentation (docs.aws.amazon.com/config/latest/developerguide/remediation.html).</a:t>
            </a:r>
          </a:p>
          <a:p>
            <a:r>
              <a:t>- AWS EventBridge Documentation (docs.aws.amazon.com/eventbridge).</a:t>
            </a:r>
          </a:p>
        </p:txBody>
      </p:sp>
      <p:sp>
        <p:nvSpPr>
          <p:cNvPr id="4" name="Slide Number Placeholder 3"/>
          <p:cNvSpPr>
            <a:spLocks noGrp="1"/>
          </p:cNvSpPr>
          <p:nvPr>
            <p:ph type="sldNum" idx="5" sz="quarter"/>
          </p:nvPr>
        </p:nvSpPr>
        <p:spPr/>
      </p:sp>
    </p:spTree>
  </p:cSld>
  <p:clrMapOvr>
    <a:masterClrMapping/>
  </p:clrMapOvr>
</p:notes>
</file>

<file path=ppt/notesSlides/notesSlide15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Scenario: Minutes after a rollout, the error-rate alarm crosses threshold.</a:t>
            </a:r>
          </a:p>
          <a:p>
            <a:r>
              <a:t>The alarm can be an automatic rollback trigger for the CodeDeploy deployment, no human needed.</a:t>
            </a:r>
          </a:p>
          <a:p>
            <a:r>
              <a:t>EventBridge can also notify the team and open an incident record for context.</a:t>
            </a:r>
          </a:p>
          <a:p>
            <a:r>
              <a:t>A post-incident action is to move the service to canary so 5% catches this next time.</a:t>
            </a:r>
          </a:p>
          <a:p>
            <a:r>
              <a:t>Decision: Bind the error-rate alarm to CodeDeploy auto-rollback and notify in parallel; recovery becomes automatic and the follow-up hardens the pipeline.</a:t>
            </a:r>
          </a:p>
          <a:p/>
          <a:p>
            <a:r>
              <a:t>[Sources]</a:t>
            </a:r>
          </a:p>
          <a:p>
            <a:r>
              <a:t>- AWS CodeDeploy rollback Documentation (docs.aws.amazon.com/codedeploy/latest/userguide/deployments-rollback-and-redeploy.html).</a:t>
            </a:r>
          </a:p>
          <a:p>
            <a:r>
              <a:t>- AWS Certified DevOps Engineer – Professional (DOP-C02) Exam Guide (docs.aws.amazon.com/pdfs/aws-certification/latest/devops-engineer-professional-02).</a:t>
            </a:r>
          </a:p>
        </p:txBody>
      </p:sp>
      <p:sp>
        <p:nvSpPr>
          <p:cNvPr id="4" name="Slide Number Placeholder 3"/>
          <p:cNvSpPr>
            <a:spLocks noGrp="1"/>
          </p:cNvSpPr>
          <p:nvPr>
            <p:ph type="sldNum" idx="5" sz="quarter"/>
          </p:nvPr>
        </p:nvSpPr>
        <p:spPr/>
      </p:sp>
    </p:spTree>
  </p:cSld>
  <p:clrMapOvr>
    <a:masterClrMapping/>
  </p:clrMapOvr>
</p:notes>
</file>

<file path=ppt/notesSlides/notesSlide15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Worked Analysis — Anatomy of an Automated Response.</a:t>
            </a:r>
          </a:p>
          <a:p>
            <a:r>
              <a:t>Signal — CloudWatch alarm / Config finding / service event fires.</a:t>
            </a:r>
          </a:p>
          <a:p>
            <a:r>
              <a:t>Route — EventBridge rule matches the event pattern precisely.</a:t>
            </a:r>
          </a:p>
          <a:p>
            <a:r>
              <a:t>Notify — SNS informs responders with context — they watch, not scramble.</a:t>
            </a:r>
          </a:p>
          <a:p>
            <a:r>
              <a:t>Act &amp; verify — Lambda/SSM runbook remediates; a follow-up check confirms healthy state, else escalates.</a:t>
            </a:r>
          </a:p>
          <a:p>
            <a:r>
              <a:t>Takeaway: A good response is a small, testable pipeline — precise trigger, parallel notify-and-act, and a verification step that escalates if the fix didn't hold.</a:t>
            </a:r>
          </a:p>
          <a:p/>
          <a:p>
            <a:r>
              <a:t>[Sources]</a:t>
            </a:r>
          </a:p>
          <a:p>
            <a:r>
              <a:t>- AWS EventBridge Documentation (docs.aws.amazon.com/eventbridge).</a:t>
            </a:r>
          </a:p>
          <a:p>
            <a:r>
              <a:t>- AWS Systems Manager Automation Documentation (docs.aws.amazon.com/systems-manager/latest/userguide/systems-manager-automation.html).</a:t>
            </a:r>
          </a:p>
          <a:p>
            <a:r>
              <a:t>- AWS Certified DevOps Engineer – Professional (DOP-C02) Exam Guide (docs.aws.amazon.com/pdfs/aws-certification/latest/devops-engineer-professional-02).</a:t>
            </a:r>
          </a:p>
        </p:txBody>
      </p:sp>
      <p:sp>
        <p:nvSpPr>
          <p:cNvPr id="4" name="Slide Number Placeholder 3"/>
          <p:cNvSpPr>
            <a:spLocks noGrp="1"/>
          </p:cNvSpPr>
          <p:nvPr>
            <p:ph type="sldNum" idx="5" sz="quarter"/>
          </p:nvPr>
        </p:nvSpPr>
        <p:spPr/>
      </p:sp>
    </p:spTree>
  </p:cSld>
  <p:clrMapOvr>
    <a:masterClrMapping/>
  </p:clrMapOvr>
</p:notes>
</file>

<file path=ppt/notesSlides/notesSlide15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Lab 19 overview — Build an EventBridge rule that matches incident signals and fans them out to notify and log targets (LO5, K7, A5).</a:t>
            </a:r>
          </a:p>
          <a:p>
            <a:r>
              <a:t>Concept-led briefing only. The full detailed procedure, commands, expected outputs, validation and cleanup live in the Learner Guide and the lab README (not on the slides).</a:t>
            </a:r>
          </a:p>
          <a:p>
            <a:r>
              <a:t>Reference architecture: course-generated diagram for Lab 19.</a:t>
            </a:r>
          </a:p>
          <a:p/>
          <a:p>
            <a:r>
              <a:t>[Sources]</a:t>
            </a:r>
          </a:p>
          <a:p>
            <a:r>
              <a:t>- AWS Certified DevOps Engineer – Professional (DOP-C02) Exam Guide (docs.aws.amazon.com/pdfs/aws-certification/latest/devops-engineer-professional-02).</a:t>
            </a:r>
          </a:p>
          <a:p>
            <a:r>
              <a:t>- Legacy course deck: WSQ Master Trainer Slides — DevOps Engineering on AWS (v7).</a:t>
            </a:r>
          </a:p>
        </p:txBody>
      </p:sp>
      <p:sp>
        <p:nvSpPr>
          <p:cNvPr id="4" name="Slide Number Placeholder 3"/>
          <p:cNvSpPr>
            <a:spLocks noGrp="1"/>
          </p:cNvSpPr>
          <p:nvPr>
            <p:ph type="sldNum" idx="5" sz="quarter"/>
          </p:nvPr>
        </p:nvSpPr>
        <p:spPr/>
      </p:sp>
    </p:spTree>
  </p:cSld>
  <p:clrMapOvr>
    <a:masterClrMapping/>
  </p:clrMapOvr>
</p:notes>
</file>

<file path=ppt/notesSlides/notesSlide15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Lab 20 overview — Wire an EventBridge target to a least-privilege Lambda that triggers an SSM Automation runbook so an unhealthy resource self-heals (LO5, K7, A5).</a:t>
            </a:r>
          </a:p>
          <a:p>
            <a:r>
              <a:t>Concept-led briefing only. The full detailed procedure, commands, expected outputs, validation and cleanup live in the Learner Guide and the lab README (not on the slides).</a:t>
            </a:r>
          </a:p>
          <a:p>
            <a:r>
              <a:t>Reference architecture: course-generated diagram for Lab 20.</a:t>
            </a:r>
          </a:p>
          <a:p/>
          <a:p>
            <a:r>
              <a:t>[Sources]</a:t>
            </a:r>
          </a:p>
          <a:p>
            <a:r>
              <a:t>- AWS Certified DevOps Engineer – Professional (DOP-C02) Exam Guide (docs.aws.amazon.com/pdfs/aws-certification/latest/devops-engineer-professional-02).</a:t>
            </a:r>
          </a:p>
          <a:p>
            <a:r>
              <a:t>- Legacy course deck: WSQ Master Trainer Slides — DevOps Engineering on AWS (v7).</a:t>
            </a:r>
          </a:p>
        </p:txBody>
      </p:sp>
      <p:sp>
        <p:nvSpPr>
          <p:cNvPr id="4" name="Slide Number Placeholder 3"/>
          <p:cNvSpPr>
            <a:spLocks noGrp="1"/>
          </p:cNvSpPr>
          <p:nvPr>
            <p:ph type="sldNum" idx="5" sz="quarter"/>
          </p:nvPr>
        </p:nvSpPr>
        <p:spPr/>
      </p:sp>
    </p:spTree>
  </p:cSld>
  <p:clrMapOvr>
    <a:masterClrMapping/>
  </p:clrMapOvr>
</p:notes>
</file>

<file path=ppt/notesSlides/notesSlide16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Recap of Domain 05 — Incident and Event Response.</a:t>
            </a:r>
          </a:p>
          <a:p/>
          <a:p>
            <a:r>
              <a:t>[Sources]</a:t>
            </a:r>
          </a:p>
          <a:p>
            <a:r>
              <a:t>- AWS Certified DevOps Engineer – Professional (DOP-C02) Exam Guide (docs.aws.amazon.com/pdfs/aws-certification/latest/devops-engineer-professional-02).</a:t>
            </a:r>
          </a:p>
          <a:p>
            <a:r>
              <a:t>- AWS EventBridge Documentation (docs.aws.amazon.com/eventbridge).</a:t>
            </a:r>
          </a:p>
          <a:p>
            <a:r>
              <a:t>- Legacy course deck: WSQ Master Trainer Slides — DevOps Engineering on AWS (v7).</a:t>
            </a:r>
          </a:p>
        </p:txBody>
      </p:sp>
      <p:sp>
        <p:nvSpPr>
          <p:cNvPr id="4" name="Slide Number Placeholder 3"/>
          <p:cNvSpPr>
            <a:spLocks noGrp="1"/>
          </p:cNvSpPr>
          <p:nvPr>
            <p:ph type="sldNum" idx="5" sz="quarter"/>
          </p:nvPr>
        </p:nvSpPr>
        <p:spPr/>
      </p:sp>
    </p:spTree>
  </p:cSld>
  <p:clrMapOvr>
    <a:masterClrMapping/>
  </p:clrMapOvr>
</p:notes>
</file>

<file path=ppt/notesSlides/notesSlide16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Security and compliance as continuous, automated guardrails</a:t>
            </a:r>
          </a:p>
          <a:p>
            <a:r>
              <a:t>Illustration created for this course with AI image generation (ImageGen).</a:t>
            </a:r>
          </a:p>
          <a:p/>
          <a:p>
            <a:r>
              <a:t>[Sources]</a:t>
            </a:r>
          </a:p>
          <a:p>
            <a:r>
              <a:t>- Legacy course deck: WSQ Master Trainer Slides — DevOps Engineering on AWS (v7).</a:t>
            </a:r>
          </a:p>
        </p:txBody>
      </p:sp>
      <p:sp>
        <p:nvSpPr>
          <p:cNvPr id="4" name="Slide Number Placeholder 3"/>
          <p:cNvSpPr>
            <a:spLocks noGrp="1"/>
          </p:cNvSpPr>
          <p:nvPr>
            <p:ph type="sldNum" idx="5" sz="quarter"/>
          </p:nvPr>
        </p:nvSpPr>
        <p:spPr/>
      </p:sp>
    </p:spTree>
  </p:cSld>
  <p:clrMapOvr>
    <a:masterClrMapping/>
  </p:clrMapOvr>
</p:notes>
</file>

<file path=ppt/notesSlides/notesSlide16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Key concepts for Domain 06 — Security and Compliance.</a:t>
            </a:r>
          </a:p>
          <a:p>
            <a:r>
              <a:t>Identity &amp; access management: IAM users, roles, policies and permission boundaries enforce least privilege; roles beat long-lived keys.</a:t>
            </a:r>
          </a:p>
          <a:p>
            <a:r>
              <a:t>IAM at scale: Organizations SCPs, IAM Identity Center and federation manage access across many accounts.</a:t>
            </a:r>
          </a:p>
          <a:p>
            <a:r>
              <a:t>Data protection: KMS encryption, Secrets Manager, S3 Block Public Access and TLS protect data at rest and in transit.</a:t>
            </a:r>
          </a:p>
          <a:p>
            <a:r>
              <a:t>Detective controls: CloudTrail, AWS Config, GuardDuty and Security Hub record, assess and score the account's posture.</a:t>
            </a:r>
          </a:p>
          <a:p>
            <a:r>
              <a:t>Automated compliance: Config rules and conformance packs continuously check resources against a technical blueprint.</a:t>
            </a:r>
          </a:p>
          <a:p>
            <a:r>
              <a:t>Governance blueprint: A landing zone plus guardrails give a documented, auditable security and compliance baseline.</a:t>
            </a:r>
          </a:p>
          <a:p/>
          <a:p>
            <a:r>
              <a:t>[Sources]</a:t>
            </a:r>
          </a:p>
          <a:p>
            <a:r>
              <a:t>- AWS Certified DevOps Engineer – Professional (DOP-C02) Exam Guide (docs.aws.amazon.com/pdfs/aws-certification/latest/devops-engineer-professional-02).</a:t>
            </a:r>
          </a:p>
          <a:p>
            <a:r>
              <a:t>- AWS IAM Documentation (docs.aws.amazon.com/IAM/latest/UserGuide).</a:t>
            </a:r>
          </a:p>
          <a:p>
            <a:r>
              <a:t>- Legacy course deck: WSQ Master Trainer Slides — DevOps Engineering on AWS (v7).</a:t>
            </a:r>
          </a:p>
        </p:txBody>
      </p:sp>
      <p:sp>
        <p:nvSpPr>
          <p:cNvPr id="4" name="Slide Number Placeholder 3"/>
          <p:cNvSpPr>
            <a:spLocks noGrp="1"/>
          </p:cNvSpPr>
          <p:nvPr>
            <p:ph type="sldNum" idx="5" sz="quarter"/>
          </p:nvPr>
        </p:nvSpPr>
        <p:spPr/>
      </p:sp>
    </p:spTree>
  </p:cSld>
  <p:clrMapOvr>
    <a:masterClrMapping/>
  </p:clrMapOvr>
</p:notes>
</file>

<file path=ppt/notesSlides/notesSlide16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Domain 06 deep dive — Security and Compliance. Editable AWS-native diagram/table/chart.</a:t>
            </a:r>
          </a:p>
          <a:p/>
          <a:p>
            <a:r>
              <a:t>[Sources]</a:t>
            </a:r>
          </a:p>
          <a:p>
            <a:r>
              <a:t>- AWS Certified DevOps Engineer – Professional (DOP-C02) Exam Guide (docs.aws.amazon.com/pdfs/aws-certification/latest/devops-engineer-professional-02).</a:t>
            </a:r>
          </a:p>
          <a:p>
            <a:r>
              <a:t>- AWS IAM Documentation (docs.aws.amazon.com/IAM/latest/UserGuide).</a:t>
            </a:r>
          </a:p>
          <a:p>
            <a:r>
              <a:t>- Legacy course deck: WSQ Master Trainer Slides — DevOps Engineering on AWS (v7).</a:t>
            </a:r>
          </a:p>
        </p:txBody>
      </p:sp>
      <p:sp>
        <p:nvSpPr>
          <p:cNvPr id="4" name="Slide Number Placeholder 3"/>
          <p:cNvSpPr>
            <a:spLocks noGrp="1"/>
          </p:cNvSpPr>
          <p:nvPr>
            <p:ph type="sldNum" idx="5" sz="quarter"/>
          </p:nvPr>
        </p:nvSpPr>
        <p:spPr/>
      </p:sp>
    </p:spTree>
  </p:cSld>
  <p:clrMapOvr>
    <a:masterClrMapping/>
  </p:clrMapOvr>
</p:notes>
</file>

<file path=ppt/notesSlides/notesSlide16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Domain 06 deep dive — Security and Compliance. Editable AWS-native diagram/table/chart.</a:t>
            </a:r>
          </a:p>
          <a:p/>
          <a:p>
            <a:r>
              <a:t>[Sources]</a:t>
            </a:r>
          </a:p>
          <a:p>
            <a:r>
              <a:t>- AWS Certified DevOps Engineer – Professional (DOP-C02) Exam Guide (docs.aws.amazon.com/pdfs/aws-certification/latest/devops-engineer-professional-02).</a:t>
            </a:r>
          </a:p>
          <a:p>
            <a:r>
              <a:t>- AWS IAM Documentation (docs.aws.amazon.com/IAM/latest/UserGuide).</a:t>
            </a:r>
          </a:p>
          <a:p>
            <a:r>
              <a:t>- Legacy course deck: WSQ Master Trainer Slides — DevOps Engineering on AWS (v7).</a:t>
            </a:r>
          </a:p>
        </p:txBody>
      </p:sp>
      <p:sp>
        <p:nvSpPr>
          <p:cNvPr id="4" name="Slide Number Placeholder 3"/>
          <p:cNvSpPr>
            <a:spLocks noGrp="1"/>
          </p:cNvSpPr>
          <p:nvPr>
            <p:ph type="sldNum" idx="5" sz="quarter"/>
          </p:nvPr>
        </p:nvSpPr>
        <p:spPr/>
      </p:sp>
    </p:spTree>
  </p:cSld>
  <p:clrMapOvr>
    <a:masterClrMapping/>
  </p:clrMapOvr>
</p:notes>
</file>

<file path=ppt/notesSlides/notesSlide16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Domain 06 deep dive — Security and Compliance. Editable AWS-native diagram/table/chart.</a:t>
            </a:r>
          </a:p>
          <a:p/>
          <a:p>
            <a:r>
              <a:t>[Sources]</a:t>
            </a:r>
          </a:p>
          <a:p>
            <a:r>
              <a:t>- AWS Certified DevOps Engineer – Professional (DOP-C02) Exam Guide (docs.aws.amazon.com/pdfs/aws-certification/latest/devops-engineer-professional-02).</a:t>
            </a:r>
          </a:p>
          <a:p>
            <a:r>
              <a:t>- AWS IAM Documentation (docs.aws.amazon.com/IAM/latest/UserGuide).</a:t>
            </a:r>
          </a:p>
          <a:p>
            <a:r>
              <a:t>- Legacy course deck: WSQ Master Trainer Slides — DevOps Engineering on AWS (v7).</a:t>
            </a:r>
          </a:p>
        </p:txBody>
      </p:sp>
      <p:sp>
        <p:nvSpPr>
          <p:cNvPr id="4" name="Slide Number Placeholder 3"/>
          <p:cNvSpPr>
            <a:spLocks noGrp="1"/>
          </p:cNvSpPr>
          <p:nvPr>
            <p:ph type="sldNum" idx="5" sz="quarter"/>
          </p:nvPr>
        </p:nvSpPr>
        <p:spPr/>
      </p:sp>
    </p:spTree>
  </p:cSld>
  <p:clrMapOvr>
    <a:masterClrMapping/>
  </p:clrMapOvr>
</p:notes>
</file>

<file path=ppt/notesSlides/notesSlide16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Domain 06 deep dive — Security and Compliance. Editable AWS-native diagram/table/chart.</a:t>
            </a:r>
          </a:p>
          <a:p/>
          <a:p>
            <a:r>
              <a:t>[Sources]</a:t>
            </a:r>
          </a:p>
          <a:p>
            <a:r>
              <a:t>- AWS Certified DevOps Engineer – Professional (DOP-C02) Exam Guide (docs.aws.amazon.com/pdfs/aws-certification/latest/devops-engineer-professional-02).</a:t>
            </a:r>
          </a:p>
          <a:p>
            <a:r>
              <a:t>- AWS IAM Documentation (docs.aws.amazon.com/IAM/latest/UserGuide).</a:t>
            </a:r>
          </a:p>
          <a:p>
            <a:r>
              <a:t>- Legacy course deck: WSQ Master Trainer Slides — DevOps Engineering on AWS (v7).</a:t>
            </a:r>
          </a:p>
        </p:txBody>
      </p:sp>
      <p:sp>
        <p:nvSpPr>
          <p:cNvPr id="4" name="Slide Number Placeholder 3"/>
          <p:cNvSpPr>
            <a:spLocks noGrp="1"/>
          </p:cNvSpPr>
          <p:nvPr>
            <p:ph type="sldNum" idx="5" sz="quarter"/>
          </p:nvPr>
        </p:nvSpPr>
        <p:spPr/>
      </p:sp>
    </p:spTree>
  </p:cSld>
  <p:clrMapOvr>
    <a:masterClrMapping/>
  </p:clrMapOvr>
</p:notes>
</file>

<file path=ppt/notesSlides/notesSlide16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Domain 06 deep dive — Security and Compliance. Editable AWS-native diagram/table/chart.</a:t>
            </a:r>
          </a:p>
          <a:p/>
          <a:p>
            <a:r>
              <a:t>[Sources]</a:t>
            </a:r>
          </a:p>
          <a:p>
            <a:r>
              <a:t>- AWS Certified DevOps Engineer – Professional (DOP-C02) Exam Guide (docs.aws.amazon.com/pdfs/aws-certification/latest/devops-engineer-professional-02).</a:t>
            </a:r>
          </a:p>
          <a:p>
            <a:r>
              <a:t>- AWS IAM Documentation (docs.aws.amazon.com/IAM/latest/UserGuide).</a:t>
            </a:r>
          </a:p>
          <a:p>
            <a:r>
              <a:t>- Legacy course deck: WSQ Master Trainer Slides — DevOps Engineering on AWS (v7).</a:t>
            </a:r>
          </a:p>
        </p:txBody>
      </p:sp>
      <p:sp>
        <p:nvSpPr>
          <p:cNvPr id="4" name="Slide Number Placeholder 3"/>
          <p:cNvSpPr>
            <a:spLocks noGrp="1"/>
          </p:cNvSpPr>
          <p:nvPr>
            <p:ph type="sldNum" idx="5" sz="quarter"/>
          </p:nvPr>
        </p:nvSpPr>
        <p:spPr/>
      </p:sp>
    </p:spTree>
  </p:cSld>
  <p:clrMapOvr>
    <a:masterClrMapping/>
  </p:clrMapOvr>
</p:notes>
</file>

<file path=ppt/notesSlides/notesSlide16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Domain 06 deep dive — Security and Compliance. Editable AWS-native diagram/table/chart.</a:t>
            </a:r>
          </a:p>
          <a:p/>
          <a:p>
            <a:r>
              <a:t>[Sources]</a:t>
            </a:r>
          </a:p>
          <a:p>
            <a:r>
              <a:t>- AWS Certified DevOps Engineer – Professional (DOP-C02) Exam Guide (docs.aws.amazon.com/pdfs/aws-certification/latest/devops-engineer-professional-02).</a:t>
            </a:r>
          </a:p>
          <a:p>
            <a:r>
              <a:t>- AWS IAM Documentation (docs.aws.amazon.com/IAM/latest/UserGuide).</a:t>
            </a:r>
          </a:p>
          <a:p>
            <a:r>
              <a:t>- Legacy course deck: WSQ Master Trainer Slides — DevOps Engineering on AWS (v7).</a:t>
            </a:r>
          </a:p>
        </p:txBody>
      </p:sp>
      <p:sp>
        <p:nvSpPr>
          <p:cNvPr id="4" name="Slide Number Placeholder 3"/>
          <p:cNvSpPr>
            <a:spLocks noGrp="1"/>
          </p:cNvSpPr>
          <p:nvPr>
            <p:ph type="sldNum" idx="5" sz="quarter"/>
          </p:nvPr>
        </p:nvSpPr>
        <p:spPr/>
      </p:sp>
    </p:spTree>
  </p:cSld>
  <p:clrMapOvr>
    <a:masterClrMapping/>
  </p:clrMapOvr>
</p:notes>
</file>

<file path=ppt/notesSlides/notesSlide16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Identity and access — least privilege by design.</a:t>
            </a:r>
          </a:p>
          <a:p>
            <a:r>
              <a:t>Why it matters: Least privilege limits the blast radius of any compromised credential or mistaken policy to exactly what was needed.</a:t>
            </a:r>
          </a:p>
          <a:p>
            <a:r>
              <a:t>Failure mode: A wildcard 'Action: *' policy or shared long-lived keys turn one leaked secret into full account compromise.</a:t>
            </a:r>
          </a:p>
          <a:p>
            <a:r>
              <a:t>Trade-off: Tight policies take more effort to author and maintain — Access Analyzer and policy generation reduce that cost.</a:t>
            </a:r>
          </a:p>
          <a:p/>
          <a:p>
            <a:r>
              <a:t>[Sources]</a:t>
            </a:r>
          </a:p>
          <a:p>
            <a:r>
              <a:t>- AWS IAM Documentation (docs.aws.amazon.com/IAM/latest/UserGuide).</a:t>
            </a:r>
          </a:p>
          <a:p>
            <a:r>
              <a:t>- AWS Certified DevOps Engineer – Professional (DOP-C02) Exam Guide (docs.aws.amazon.com/pdfs/aws-certification/latest/devops-engineer-professional-02).</a:t>
            </a:r>
          </a:p>
          <a:p>
            <a:r>
              <a:t>- AWS Well-Architected Framework (docs.aws.amazon.com/wellarchitected).</a:t>
            </a:r>
          </a:p>
        </p:txBody>
      </p:sp>
      <p:sp>
        <p:nvSpPr>
          <p:cNvPr id="4" name="Slide Number Placeholder 3"/>
          <p:cNvSpPr>
            <a:spLocks noGrp="1"/>
          </p:cNvSpPr>
          <p:nvPr>
            <p:ph type="sldNum" idx="5" sz="quarter"/>
          </p:nvPr>
        </p:nvSpPr>
        <p:spPr/>
      </p:sp>
    </p:spTree>
  </p:cSld>
  <p:clrMapOvr>
    <a:masterClrMapping/>
  </p:clrMapOvr>
</p:notes>
</file>

<file path=ppt/notesSlides/notesSlide17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Identity at scale — Identity Center, federation, SCPs.</a:t>
            </a:r>
          </a:p>
          <a:p>
            <a:r>
              <a:t>Why it matters: Central identity plus org guardrails make access consistent, auditable and revocable across a whole organisation.</a:t>
            </a:r>
          </a:p>
          <a:p>
            <a:r>
              <a:t>Failure mode: Per-account IAM users multiply credentials to rotate and audit and inevitably drift out of least privilege.</a:t>
            </a:r>
          </a:p>
          <a:p>
            <a:r>
              <a:t>Trade-off: Central control needs governance so it doesn't become a bottleneck for teams needing new access.</a:t>
            </a:r>
          </a:p>
          <a:p/>
          <a:p>
            <a:r>
              <a:t>[Sources]</a:t>
            </a:r>
          </a:p>
          <a:p>
            <a:r>
              <a:t>- AWS IAM Identity Center Documentation (docs.aws.amazon.com/singlesignon).</a:t>
            </a:r>
          </a:p>
          <a:p>
            <a:r>
              <a:t>- AWS Organizations SCPs Documentation (docs.aws.amazon.com/organizations/latest/userguide/orgs_manage_policies_scps.html).</a:t>
            </a:r>
          </a:p>
          <a:p>
            <a:r>
              <a:t>- AWS Certified DevOps Engineer – Professional (DOP-C02) Exam Guide (docs.aws.amazon.com/pdfs/aws-certification/latest/devops-engineer-professional-02).</a:t>
            </a:r>
          </a:p>
        </p:txBody>
      </p:sp>
      <p:sp>
        <p:nvSpPr>
          <p:cNvPr id="4" name="Slide Number Placeholder 3"/>
          <p:cNvSpPr>
            <a:spLocks noGrp="1"/>
          </p:cNvSpPr>
          <p:nvPr>
            <p:ph type="sldNum" idx="5" sz="quarter"/>
          </p:nvPr>
        </p:nvSpPr>
        <p:spPr/>
      </p:sp>
    </p:spTree>
  </p:cSld>
  <p:clrMapOvr>
    <a:masterClrMapping/>
  </p:clrMapOvr>
</p:notes>
</file>

<file path=ppt/notesSlides/notesSlide17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Data protection — encryption and secrets.</a:t>
            </a:r>
          </a:p>
          <a:p>
            <a:r>
              <a:t>Why it matters: Encrypting everywhere and centralising key and secret governance protect data even if another control fails.</a:t>
            </a:r>
          </a:p>
          <a:p>
            <a:r>
              <a:t>Failure mode: An unencrypted volume or a public bucket exposes data regardless of how strong the network perimeter is.</a:t>
            </a:r>
          </a:p>
          <a:p>
            <a:r>
              <a:t>Trade-off: Customer-managed keys give control and auditability but add key-management responsibility and cost.</a:t>
            </a:r>
          </a:p>
          <a:p/>
          <a:p>
            <a:r>
              <a:t>[Sources]</a:t>
            </a:r>
          </a:p>
          <a:p>
            <a:r>
              <a:t>- AWS KMS Documentation (docs.aws.amazon.com/kms).</a:t>
            </a:r>
          </a:p>
          <a:p>
            <a:r>
              <a:t>- AWS Secrets Manager Documentation (docs.aws.amazon.com/secretsmanager).</a:t>
            </a:r>
          </a:p>
          <a:p>
            <a:r>
              <a:t>- AWS Certified DevOps Engineer – Professional (DOP-C02) Exam Guide (docs.aws.amazon.com/pdfs/aws-certification/latest/devops-engineer-professional-02).</a:t>
            </a:r>
          </a:p>
        </p:txBody>
      </p:sp>
      <p:sp>
        <p:nvSpPr>
          <p:cNvPr id="4" name="Slide Number Placeholder 3"/>
          <p:cNvSpPr>
            <a:spLocks noGrp="1"/>
          </p:cNvSpPr>
          <p:nvPr>
            <p:ph type="sldNum" idx="5" sz="quarter"/>
          </p:nvPr>
        </p:nvSpPr>
        <p:spPr/>
      </p:sp>
    </p:spTree>
  </p:cSld>
  <p:clrMapOvr>
    <a:masterClrMapping/>
  </p:clrMapOvr>
</p:notes>
</file>

<file path=ppt/notesSlides/notesSlide17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Detective controls — the audit trail.</a:t>
            </a:r>
          </a:p>
          <a:p>
            <a:r>
              <a:t>Why it matters: Detective controls provide the evidence for incident forensics, audits and continuous compliance scoring.</a:t>
            </a:r>
          </a:p>
          <a:p>
            <a:r>
              <a:t>Failure mode: No CloudTrail (or a trail without log-file validation) means an incident can't be reconstructed and audits fail.</a:t>
            </a:r>
          </a:p>
          <a:p>
            <a:r>
              <a:t>Trade-off: Full logging and threat detection cost money and generate findings to triage — tune and prioritise by severity.</a:t>
            </a:r>
          </a:p>
          <a:p/>
          <a:p>
            <a:r>
              <a:t>[Sources]</a:t>
            </a:r>
          </a:p>
          <a:p>
            <a:r>
              <a:t>- AWS CloudTrail Documentation (docs.aws.amazon.com/awscloudtrail).</a:t>
            </a:r>
          </a:p>
          <a:p>
            <a:r>
              <a:t>- AWS GuardDuty Documentation (docs.aws.amazon.com/guardduty).</a:t>
            </a:r>
          </a:p>
          <a:p>
            <a:r>
              <a:t>- AWS Security Hub Documentation (docs.aws.amazon.com/securityhub).</a:t>
            </a:r>
          </a:p>
          <a:p>
            <a:r>
              <a:t>- AWS Certified DevOps Engineer – Professional (DOP-C02) Exam Guide (docs.aws.amazon.com/pdfs/aws-certification/latest/devops-engineer-professional-02).</a:t>
            </a:r>
          </a:p>
        </p:txBody>
      </p:sp>
      <p:sp>
        <p:nvSpPr>
          <p:cNvPr id="4" name="Slide Number Placeholder 3"/>
          <p:cNvSpPr>
            <a:spLocks noGrp="1"/>
          </p:cNvSpPr>
          <p:nvPr>
            <p:ph type="sldNum" idx="5" sz="quarter"/>
          </p:nvPr>
        </p:nvSpPr>
        <p:spPr/>
      </p:sp>
    </p:spTree>
  </p:cSld>
  <p:clrMapOvr>
    <a:masterClrMapping/>
  </p:clrMapOvr>
</p:notes>
</file>

<file path=ppt/notesSlides/notesSlide17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Automated compliance — Config rules and conformance packs.</a:t>
            </a:r>
          </a:p>
          <a:p>
            <a:r>
              <a:t>Why it matters: Continuous, codified compliance replaces point-in-time audits with always-on assurance and evidence.</a:t>
            </a:r>
          </a:p>
          <a:p>
            <a:r>
              <a:t>Failure mode: Manual quarterly audits miss the days-to-weeks a resource sits non-compliant between checks.</a:t>
            </a:r>
          </a:p>
          <a:p>
            <a:r>
              <a:t>Trade-off: Strict conformance packs improve posture but can generate noise — phase in rules and remediations.</a:t>
            </a:r>
          </a:p>
          <a:p/>
          <a:p>
            <a:r>
              <a:t>[Sources]</a:t>
            </a:r>
          </a:p>
          <a:p>
            <a:r>
              <a:t>- AWS Config conformance packs Documentation (docs.aws.amazon.com/config/latest/developerguide/conformance-packs.html).</a:t>
            </a:r>
          </a:p>
          <a:p>
            <a:r>
              <a:t>- AWS Certified DevOps Engineer – Professional (DOP-C02) Exam Guide (docs.aws.amazon.com/pdfs/aws-certification/latest/devops-engineer-professional-02).</a:t>
            </a:r>
          </a:p>
        </p:txBody>
      </p:sp>
      <p:sp>
        <p:nvSpPr>
          <p:cNvPr id="4" name="Slide Number Placeholder 3"/>
          <p:cNvSpPr>
            <a:spLocks noGrp="1"/>
          </p:cNvSpPr>
          <p:nvPr>
            <p:ph type="sldNum" idx="5" sz="quarter"/>
          </p:nvPr>
        </p:nvSpPr>
        <p:spPr/>
      </p:sp>
    </p:spTree>
  </p:cSld>
  <p:clrMapOvr>
    <a:masterClrMapping/>
  </p:clrMapOvr>
</p:notes>
</file>

<file path=ppt/notesSlides/notesSlide17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Preventive controls and defence in depth.</a:t>
            </a:r>
          </a:p>
          <a:p>
            <a:r>
              <a:t>Why it matters: Defence in depth ensures that when one layer fails — and layers do fail — others still protect the data.</a:t>
            </a:r>
          </a:p>
          <a:p>
            <a:r>
              <a:t>Failure mode: Relying on a single perimeter (a firewall) fails completely the moment that one control is bypassed.</a:t>
            </a:r>
          </a:p>
          <a:p>
            <a:r>
              <a:t>Trade-off: More layers add complexity and can impede legitimate traffic — design them to be observable and testable.</a:t>
            </a:r>
          </a:p>
          <a:p/>
          <a:p>
            <a:r>
              <a:t>[Sources]</a:t>
            </a:r>
          </a:p>
          <a:p>
            <a:r>
              <a:t>- AWS Well-Architected Framework (docs.aws.amazon.com/wellarchitected).</a:t>
            </a:r>
          </a:p>
          <a:p>
            <a:r>
              <a:t>- AWS WAF Documentation (docs.aws.amazon.com/waf).</a:t>
            </a:r>
          </a:p>
          <a:p>
            <a:r>
              <a:t>- AWS Certified DevOps Engineer – Professional (DOP-C02) Exam Guide (docs.aws.amazon.com/pdfs/aws-certification/latest/devops-engineer-professional-02).</a:t>
            </a:r>
          </a:p>
        </p:txBody>
      </p:sp>
      <p:sp>
        <p:nvSpPr>
          <p:cNvPr id="4" name="Slide Number Placeholder 3"/>
          <p:cNvSpPr>
            <a:spLocks noGrp="1"/>
          </p:cNvSpPr>
          <p:nvPr>
            <p:ph type="sldNum" idx="5" sz="quarter"/>
          </p:nvPr>
        </p:nvSpPr>
        <p:spPr/>
      </p:sp>
    </p:spTree>
  </p:cSld>
  <p:clrMapOvr>
    <a:masterClrMapping/>
  </p:clrMapOvr>
</p:notes>
</file>

<file path=ppt/notesSlides/notesSlide17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Governance blueprint — landing zone and guardrails.</a:t>
            </a:r>
          </a:p>
          <a:p>
            <a:r>
              <a:t>Why it matters: A governance blueprint makes 'secure and compliant' the default state of every account, not a per-project effort.</a:t>
            </a:r>
          </a:p>
          <a:p>
            <a:r>
              <a:t>Failure mode: Ad-hoc, per-project security guarantees nothing is consistent and every audit re-discovers the same gaps.</a:t>
            </a:r>
          </a:p>
          <a:p>
            <a:r>
              <a:t>Trade-off: A central blueprint needs a platform team and change process — the payoff is org-wide, provable compliance.</a:t>
            </a:r>
          </a:p>
          <a:p/>
          <a:p>
            <a:r>
              <a:t>[Sources]</a:t>
            </a:r>
          </a:p>
          <a:p>
            <a:r>
              <a:t>- AWS Control Tower Documentation (docs.aws.amazon.com/controltower).</a:t>
            </a:r>
          </a:p>
          <a:p>
            <a:r>
              <a:t>- AWS Well-Architected Framework (docs.aws.amazon.com/wellarchitected).</a:t>
            </a:r>
          </a:p>
          <a:p>
            <a:r>
              <a:t>- AWS Certified DevOps Engineer – Professional (DOP-C02) Exam Guide (docs.aws.amazon.com/pdfs/aws-certification/latest/devops-engineer-professional-02).</a:t>
            </a:r>
          </a:p>
        </p:txBody>
      </p:sp>
      <p:sp>
        <p:nvSpPr>
          <p:cNvPr id="4" name="Slide Number Placeholder 3"/>
          <p:cNvSpPr>
            <a:spLocks noGrp="1"/>
          </p:cNvSpPr>
          <p:nvPr>
            <p:ph type="sldNum" idx="5" sz="quarter"/>
          </p:nvPr>
        </p:nvSpPr>
        <p:spPr/>
      </p:sp>
    </p:spTree>
  </p:cSld>
  <p:clrMapOvr>
    <a:masterClrMapping/>
  </p:clrMapOvr>
</p:notes>
</file>

<file path=ppt/notesSlides/notesSlide17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Securing the pipeline itself (DevSecOps).</a:t>
            </a:r>
          </a:p>
          <a:p>
            <a:r>
              <a:t>Why it matters: The pipeline has powerful credentials and touches production — a compromised pipeline is a compromised environment.</a:t>
            </a:r>
          </a:p>
          <a:p>
            <a:r>
              <a:t>Failure mode: A pipeline role with broad permissions and secrets in the repo is a direct path from a code leak to full compromise.</a:t>
            </a:r>
          </a:p>
          <a:p>
            <a:r>
              <a:t>Trade-off: Security gates add build time — order them fast-to-slow and fail fast to keep the pipeline usable.</a:t>
            </a:r>
          </a:p>
          <a:p/>
          <a:p>
            <a:r>
              <a:t>[Sources]</a:t>
            </a:r>
          </a:p>
          <a:p>
            <a:r>
              <a:t>- AWS Well-Architected Framework (docs.aws.amazon.com/wellarchitected).</a:t>
            </a:r>
          </a:p>
          <a:p>
            <a:r>
              <a:t>- AWS Certified DevOps Engineer – Professional (DOP-C02) Exam Guide (docs.aws.amazon.com/pdfs/aws-certification/latest/devops-engineer-professional-02).</a:t>
            </a:r>
          </a:p>
          <a:p>
            <a:r>
              <a:t>- AWS CodeGuru Documentation (docs.aws.amazon.com/codeguru).</a:t>
            </a:r>
          </a:p>
        </p:txBody>
      </p:sp>
      <p:sp>
        <p:nvSpPr>
          <p:cNvPr id="4" name="Slide Number Placeholder 3"/>
          <p:cNvSpPr>
            <a:spLocks noGrp="1"/>
          </p:cNvSpPr>
          <p:nvPr>
            <p:ph type="sldNum" idx="5" sz="quarter"/>
          </p:nvPr>
        </p:nvSpPr>
        <p:spPr/>
      </p:sp>
    </p:spTree>
  </p:cSld>
  <p:clrMapOvr>
    <a:masterClrMapping/>
  </p:clrMapOvr>
</p:notes>
</file>

<file path=ppt/notesSlides/notesSlide17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Comparison — IAM — Users vs Roles vs Federation.</a:t>
            </a:r>
          </a:p>
          <a:p/>
          <a:p>
            <a:r>
              <a:t>[Sources]</a:t>
            </a:r>
          </a:p>
          <a:p>
            <a:r>
              <a:t>- AWS IAM Documentation (docs.aws.amazon.com/IAM/latest/UserGuide).</a:t>
            </a:r>
          </a:p>
          <a:p>
            <a:r>
              <a:t>- AWS Certified DevOps Engineer – Professional (DOP-C02) Exam Guide (docs.aws.amazon.com/pdfs/aws-certification/latest/devops-engineer-professional-02).</a:t>
            </a:r>
          </a:p>
        </p:txBody>
      </p:sp>
      <p:sp>
        <p:nvSpPr>
          <p:cNvPr id="4" name="Slide Number Placeholder 3"/>
          <p:cNvSpPr>
            <a:spLocks noGrp="1"/>
          </p:cNvSpPr>
          <p:nvPr>
            <p:ph type="sldNum" idx="5" sz="quarter"/>
          </p:nvPr>
        </p:nvSpPr>
        <p:spPr/>
      </p:sp>
    </p:spTree>
  </p:cSld>
  <p:clrMapOvr>
    <a:masterClrMapping/>
  </p:clrMapOvr>
</p:notes>
</file>

<file path=ppt/notesSlides/notesSlide17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Time-to-Detect a Public Bucket — Manual vs Continuous. What the data shows: Continuous Config evaluation shrinks the exposure window from months to minutes — the difference between a finding and a breach.</a:t>
            </a:r>
          </a:p>
          <a:p>
            <a:r>
              <a:t>Figures are illustrative teaching values to convey the relationship, not measured benchmarks.</a:t>
            </a:r>
          </a:p>
          <a:p/>
          <a:p>
            <a:r>
              <a:t>[Sources]</a:t>
            </a:r>
          </a:p>
          <a:p>
            <a:r>
              <a:t>- AWS Config Documentation (docs.aws.amazon.com/config).</a:t>
            </a:r>
          </a:p>
          <a:p>
            <a:r>
              <a:t>- AWS Certified DevOps Engineer – Professional (DOP-C02) Exam Guide (docs.aws.amazon.com/pdfs/aws-certification/latest/devops-engineer-professional-02).</a:t>
            </a:r>
          </a:p>
        </p:txBody>
      </p:sp>
      <p:sp>
        <p:nvSpPr>
          <p:cNvPr id="4" name="Slide Number Placeholder 3"/>
          <p:cNvSpPr>
            <a:spLocks noGrp="1"/>
          </p:cNvSpPr>
          <p:nvPr>
            <p:ph type="sldNum" idx="5" sz="quarter"/>
          </p:nvPr>
        </p:nvSpPr>
        <p:spPr/>
      </p:sp>
    </p:spTree>
  </p:cSld>
  <p:clrMapOvr>
    <a:masterClrMapping/>
  </p:clrMapOvr>
</p:notes>
</file>

<file path=ppt/notesSlides/notesSlide17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Security Failure Modes &amp; Anti-Patterns.</a:t>
            </a:r>
          </a:p>
          <a:p>
            <a:r>
              <a:t>Wildcard IAM policies — One leaked key = full access → least privilege + Access Analyzer.</a:t>
            </a:r>
          </a:p>
          <a:p>
            <a:r>
              <a:t>Long-lived access keys — Hard to rotate/audit → roles and federation.</a:t>
            </a:r>
          </a:p>
          <a:p>
            <a:r>
              <a:t>Public S3 / open SGs — Accidental exposure → Block Public Access, Config rules.</a:t>
            </a:r>
          </a:p>
          <a:p>
            <a:r>
              <a:t>No CloudTrail / validation — Incidents unauditable → org trail + log-file validation.</a:t>
            </a:r>
          </a:p>
          <a:p>
            <a:r>
              <a:t>Secrets in code — Leak on repo access → Secrets Manager/SSM.</a:t>
            </a:r>
          </a:p>
          <a:p>
            <a:r>
              <a:t>Over-privileged pipeline — Code leak → prod compromise → scope deploy roles.</a:t>
            </a:r>
          </a:p>
          <a:p/>
          <a:p>
            <a:r>
              <a:t>[Sources]</a:t>
            </a:r>
          </a:p>
          <a:p>
            <a:r>
              <a:t>- AWS Certified DevOps Engineer – Professional (DOP-C02) Exam Guide (docs.aws.amazon.com/pdfs/aws-certification/latest/devops-engineer-professional-02).</a:t>
            </a:r>
          </a:p>
          <a:p>
            <a:r>
              <a:t>- AWS IAM Documentation (docs.aws.amazon.com/IAM/latest/UserGuide).</a:t>
            </a:r>
          </a:p>
          <a:p>
            <a:r>
              <a:t>- AWS Well-Architected Framework (docs.aws.amazon.com/wellarchitected).</a:t>
            </a:r>
          </a:p>
        </p:txBody>
      </p:sp>
      <p:sp>
        <p:nvSpPr>
          <p:cNvPr id="4" name="Slide Number Placeholder 3"/>
          <p:cNvSpPr>
            <a:spLocks noGrp="1"/>
          </p:cNvSpPr>
          <p:nvPr>
            <p:ph type="sldNum" idx="5" sz="quarter"/>
          </p:nvPr>
        </p:nvSpPr>
        <p:spPr/>
      </p:sp>
    </p:spTree>
  </p:cSld>
  <p:clrMapOvr>
    <a:masterClrMapping/>
  </p:clrMapOvr>
</p:notes>
</file>

<file path=ppt/notesSlides/notesSlide18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Security Patterns Worth Adopting.</a:t>
            </a:r>
          </a:p>
          <a:p>
            <a:r>
              <a:t>Least privilege everywhere — Roles, boundaries, scoped policies, no wildcards.</a:t>
            </a:r>
          </a:p>
          <a:p>
            <a:r>
              <a:t>Encrypt at rest and in transit — KMS + TLS by default on every store.</a:t>
            </a:r>
          </a:p>
          <a:p>
            <a:r>
              <a:t>Continuous compliance — Config rules + conformance packs, auto-remediate.</a:t>
            </a:r>
          </a:p>
          <a:p>
            <a:r>
              <a:t>Central logging account — Immutable CloudTrail + Security Hub aggregation.</a:t>
            </a:r>
          </a:p>
          <a:p>
            <a:r>
              <a:t>Guardrails by SCP — Prevent whole action classes org-wide.</a:t>
            </a:r>
          </a:p>
          <a:p>
            <a:r>
              <a:t>DevSecOps — Scan code, deps and IaC in the pipeline.</a:t>
            </a:r>
          </a:p>
          <a:p/>
          <a:p>
            <a:r>
              <a:t>[Sources]</a:t>
            </a:r>
          </a:p>
          <a:p>
            <a:r>
              <a:t>- AWS Well-Architected Framework (docs.aws.amazon.com/wellarchitected).</a:t>
            </a:r>
          </a:p>
          <a:p>
            <a:r>
              <a:t>- AWS Certified DevOps Engineer – Professional (DOP-C02) Exam Guide (docs.aws.amazon.com/pdfs/aws-certification/latest/devops-engineer-professional-02).</a:t>
            </a:r>
          </a:p>
        </p:txBody>
      </p:sp>
      <p:sp>
        <p:nvSpPr>
          <p:cNvPr id="4" name="Slide Number Placeholder 3"/>
          <p:cNvSpPr>
            <a:spLocks noGrp="1"/>
          </p:cNvSpPr>
          <p:nvPr>
            <p:ph type="sldNum" idx="5" sz="quarter"/>
          </p:nvPr>
        </p:nvSpPr>
        <p:spPr/>
      </p:sp>
    </p:spTree>
  </p:cSld>
  <p:clrMapOvr>
    <a:masterClrMapping/>
  </p:clrMapOvr>
</p:notes>
</file>

<file path=ppt/notesSlides/notesSlide18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Architecture Decision — Where Do Compliance Controls Live?.</a:t>
            </a:r>
          </a:p>
          <a:p>
            <a:r>
              <a:t>Option A — Preventive (SCP / policy): Stop the action from ever happening org-wide. Strongest — but blunt; can block legitimate edge cases.</a:t>
            </a:r>
          </a:p>
          <a:p>
            <a:r>
              <a:t>Option B — Detective (Config / GuardDuty): Allow, but continuously detect and score. Flexible and auditable — leaves a (short) exposure window.</a:t>
            </a:r>
          </a:p>
          <a:p>
            <a:r>
              <a:t>Option C — Automated remediation: Detect then auto-fix (Config → SSM). Closes the window fast — needs careful scoping and logging.</a:t>
            </a:r>
          </a:p>
          <a:p/>
          <a:p>
            <a:r>
              <a:t>[Sources]</a:t>
            </a:r>
          </a:p>
          <a:p>
            <a:r>
              <a:t>- AWS Certified DevOps Engineer – Professional (DOP-C02) Exam Guide (docs.aws.amazon.com/pdfs/aws-certification/latest/devops-engineer-professional-02).</a:t>
            </a:r>
          </a:p>
          <a:p>
            <a:r>
              <a:t>- AWS Config Documentation (docs.aws.amazon.com/config).</a:t>
            </a:r>
          </a:p>
        </p:txBody>
      </p:sp>
      <p:sp>
        <p:nvSpPr>
          <p:cNvPr id="4" name="Slide Number Placeholder 3"/>
          <p:cNvSpPr>
            <a:spLocks noGrp="1"/>
          </p:cNvSpPr>
          <p:nvPr>
            <p:ph type="sldNum" idx="5" sz="quarter"/>
          </p:nvPr>
        </p:nvSpPr>
        <p:spPr/>
      </p:sp>
    </p:spTree>
  </p:cSld>
  <p:clrMapOvr>
    <a:masterClrMapping/>
  </p:clrMapOvr>
</p:notes>
</file>

<file path=ppt/notesSlides/notesSlide18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Scenario: An auditor asks you to prove that all volumes are encrypted and no bucket is public, historically and now.</a:t>
            </a:r>
          </a:p>
          <a:p>
            <a:r>
              <a:t>Point-in-time console screenshots don't prove continuous compliance over the audit period.</a:t>
            </a:r>
          </a:p>
          <a:p>
            <a:r>
              <a:t>AWS Config records configuration history and rule-compliance over time — that history is the evidence.</a:t>
            </a:r>
          </a:p>
          <a:p>
            <a:r>
              <a:t>CloudTrail with log-file validation proves the audit record itself wasn't tampered with.</a:t>
            </a:r>
          </a:p>
          <a:p>
            <a:r>
              <a:t>Decision: Present Config compliance history and conformance-pack results as continuous evidence, backed by a validated CloudTrail — turning audit from a scramble into a query.</a:t>
            </a:r>
          </a:p>
          <a:p/>
          <a:p>
            <a:r>
              <a:t>[Sources]</a:t>
            </a:r>
          </a:p>
          <a:p>
            <a:r>
              <a:t>- AWS Config Documentation (docs.aws.amazon.com/config).</a:t>
            </a:r>
          </a:p>
          <a:p>
            <a:r>
              <a:t>- AWS CloudTrail Documentation (docs.aws.amazon.com/awscloudtrail).</a:t>
            </a:r>
          </a:p>
        </p:txBody>
      </p:sp>
      <p:sp>
        <p:nvSpPr>
          <p:cNvPr id="4" name="Slide Number Placeholder 3"/>
          <p:cNvSpPr>
            <a:spLocks noGrp="1"/>
          </p:cNvSpPr>
          <p:nvPr>
            <p:ph type="sldNum" idx="5" sz="quarter"/>
          </p:nvPr>
        </p:nvSpPr>
        <p:spPr/>
      </p:sp>
    </p:spTree>
  </p:cSld>
  <p:clrMapOvr>
    <a:masterClrMapping/>
  </p:clrMapOvr>
</p:notes>
</file>

<file path=ppt/notesSlides/notesSlide18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Scenario: A service fails with AccessDenied writing to a new S3 prefix. The quick fix is to grant s3:* on all buckets.</a:t>
            </a:r>
          </a:p>
          <a:p>
            <a:r>
              <a:t>A wildcard grant fixes the error but massively widens blast radius if the role is ever compromised.</a:t>
            </a:r>
          </a:p>
          <a:p>
            <a:r>
              <a:t>IAM Access Analyzer can generate a policy scoped to exactly the actions and resources the app used.</a:t>
            </a:r>
          </a:p>
          <a:p>
            <a:r>
              <a:t>The correct grant is s3:PutObject on that specific bucket/prefix, nothing more.</a:t>
            </a:r>
          </a:p>
          <a:p>
            <a:r>
              <a:t>Decision: Grant the single scoped permission the app actually needs (not a wildcard), using Access Analyzer to right-size the policy — keeping least privilege intact under time pressure.</a:t>
            </a:r>
          </a:p>
          <a:p/>
          <a:p>
            <a:r>
              <a:t>[Sources]</a:t>
            </a:r>
          </a:p>
          <a:p>
            <a:r>
              <a:t>- AWS IAM Access Analyzer Documentation (docs.aws.amazon.com/IAM/latest/UserGuide/what-is-access-analyzer.html).</a:t>
            </a:r>
          </a:p>
          <a:p>
            <a:r>
              <a:t>- AWS Certified DevOps Engineer – Professional (DOP-C02) Exam Guide (docs.aws.amazon.com/pdfs/aws-certification/latest/devops-engineer-professional-02).</a:t>
            </a:r>
          </a:p>
        </p:txBody>
      </p:sp>
      <p:sp>
        <p:nvSpPr>
          <p:cNvPr id="4" name="Slide Number Placeholder 3"/>
          <p:cNvSpPr>
            <a:spLocks noGrp="1"/>
          </p:cNvSpPr>
          <p:nvPr>
            <p:ph type="sldNum" idx="5" sz="quarter"/>
          </p:nvPr>
        </p:nvSpPr>
        <p:spPr/>
      </p:sp>
    </p:spTree>
  </p:cSld>
  <p:clrMapOvr>
    <a:masterClrMapping/>
  </p:clrMapOvr>
</p:notes>
</file>

<file path=ppt/notesSlides/notesSlide18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Worked Analysis — Building a Compliance Blueprint.</a:t>
            </a:r>
          </a:p>
          <a:p>
            <a:r>
              <a:t>Requirement: encrypt all data at rest — Config rule encrypted-volumes + S3 default encryption; KMS keys with scoped policies.</a:t>
            </a:r>
          </a:p>
          <a:p>
            <a:r>
              <a:t>Requirement: no public data — S3 Block Public Access org-wide + s3-bucket-public-read-prohibited rule.</a:t>
            </a:r>
          </a:p>
          <a:p>
            <a:r>
              <a:t>Requirement: full audit trail — Org CloudTrail to an encrypted, access-controlled logging account with validation.</a:t>
            </a:r>
          </a:p>
          <a:p>
            <a:r>
              <a:t>Requirement: least-privilege identity — Roles + Identity Center + permission boundaries + Access Analyzer reviews.</a:t>
            </a:r>
          </a:p>
          <a:p>
            <a:r>
              <a:t>Takeaway: A compliance blueprint maps each written requirement to a concrete, testable AWS control — so 'we are compliant' is something you can prove, continuously.</a:t>
            </a:r>
          </a:p>
          <a:p/>
          <a:p>
            <a:r>
              <a:t>[Sources]</a:t>
            </a:r>
          </a:p>
          <a:p>
            <a:r>
              <a:t>- AWS Well-Architected Framework (docs.aws.amazon.com/wellarchitected).</a:t>
            </a:r>
          </a:p>
          <a:p>
            <a:r>
              <a:t>- AWS Config Documentation (docs.aws.amazon.com/config).</a:t>
            </a:r>
          </a:p>
          <a:p>
            <a:r>
              <a:t>- AWS Certified DevOps Engineer – Professional (DOP-C02) Exam Guide (docs.aws.amazon.com/pdfs/aws-certification/latest/devops-engineer-professional-02).</a:t>
            </a:r>
          </a:p>
        </p:txBody>
      </p:sp>
      <p:sp>
        <p:nvSpPr>
          <p:cNvPr id="4" name="Slide Number Placeholder 3"/>
          <p:cNvSpPr>
            <a:spLocks noGrp="1"/>
          </p:cNvSpPr>
          <p:nvPr>
            <p:ph type="sldNum" idx="5" sz="quarter"/>
          </p:nvPr>
        </p:nvSpPr>
        <p:spPr/>
      </p:sp>
    </p:spTree>
  </p:cSld>
  <p:clrMapOvr>
    <a:masterClrMapping/>
  </p:clrMapOvr>
</p:notes>
</file>

<file path=ppt/notesSlides/notesSlide18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Lab 21 overview — Write a scoped IAM policy, cap it with a permission boundary, and prove least privilege with IAM Access Analyzer.</a:t>
            </a:r>
          </a:p>
          <a:p>
            <a:r>
              <a:t>Concept-led briefing only. The full detailed procedure, commands, expected outputs, validation and cleanup live in the Learner Guide and the lab README (not on the slides).</a:t>
            </a:r>
          </a:p>
          <a:p>
            <a:r>
              <a:t>Reference architecture: course-generated diagram for Lab 21.</a:t>
            </a:r>
          </a:p>
          <a:p/>
          <a:p>
            <a:r>
              <a:t>[Sources]</a:t>
            </a:r>
          </a:p>
          <a:p>
            <a:r>
              <a:t>- AWS Certified DevOps Engineer – Professional (DOP-C02) Exam Guide (docs.aws.amazon.com/pdfs/aws-certification/latest/devops-engineer-professional-02).</a:t>
            </a:r>
          </a:p>
          <a:p>
            <a:r>
              <a:t>- Legacy course deck: WSQ Master Trainer Slides — DevOps Engineering on AWS (v7).</a:t>
            </a:r>
          </a:p>
        </p:txBody>
      </p:sp>
      <p:sp>
        <p:nvSpPr>
          <p:cNvPr id="4" name="Slide Number Placeholder 3"/>
          <p:cNvSpPr>
            <a:spLocks noGrp="1"/>
          </p:cNvSpPr>
          <p:nvPr>
            <p:ph type="sldNum" idx="5" sz="quarter"/>
          </p:nvPr>
        </p:nvSpPr>
        <p:spPr/>
      </p:sp>
    </p:spTree>
  </p:cSld>
  <p:clrMapOvr>
    <a:masterClrMapping/>
  </p:clrMapOvr>
</p:notes>
</file>

<file path=ppt/notesSlides/notesSlide18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Lab 22 overview — Create a customer-managed KMS key with a key policy, store a secret with rotation, and enforce encryption on S3.</a:t>
            </a:r>
          </a:p>
          <a:p>
            <a:r>
              <a:t>Concept-led briefing only. The full detailed procedure, commands, expected outputs, validation and cleanup live in the Learner Guide and the lab README (not on the slides).</a:t>
            </a:r>
          </a:p>
          <a:p>
            <a:r>
              <a:t>Reference architecture: course-generated diagram for Lab 22.</a:t>
            </a:r>
          </a:p>
          <a:p/>
          <a:p>
            <a:r>
              <a:t>[Sources]</a:t>
            </a:r>
          </a:p>
          <a:p>
            <a:r>
              <a:t>- AWS Certified DevOps Engineer – Professional (DOP-C02) Exam Guide (docs.aws.amazon.com/pdfs/aws-certification/latest/devops-engineer-professional-02).</a:t>
            </a:r>
          </a:p>
          <a:p>
            <a:r>
              <a:t>- Legacy course deck: WSQ Master Trainer Slides — DevOps Engineering on AWS (v7).</a:t>
            </a:r>
          </a:p>
        </p:txBody>
      </p:sp>
      <p:sp>
        <p:nvSpPr>
          <p:cNvPr id="4" name="Slide Number Placeholder 3"/>
          <p:cNvSpPr>
            <a:spLocks noGrp="1"/>
          </p:cNvSpPr>
          <p:nvPr>
            <p:ph type="sldNum" idx="5" sz="quarter"/>
          </p:nvPr>
        </p:nvSpPr>
        <p:spPr/>
      </p:sp>
    </p:spTree>
  </p:cSld>
  <p:clrMapOvr>
    <a:masterClrMapping/>
  </p:clrMapOvr>
</p:notes>
</file>

<file path=ppt/notesSlides/notesSlide18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Lab 23 overview — Stand up a multi-Region CloudTrail with log-file validation and query it to export audit evidence.</a:t>
            </a:r>
          </a:p>
          <a:p>
            <a:r>
              <a:t>Concept-led briefing only. The full detailed procedure, commands, expected outputs, validation and cleanup live in the Learner Guide and the lab README (not on the slides).</a:t>
            </a:r>
          </a:p>
          <a:p>
            <a:r>
              <a:t>Reference architecture: course-generated diagram for Lab 23.</a:t>
            </a:r>
          </a:p>
          <a:p/>
          <a:p>
            <a:r>
              <a:t>[Sources]</a:t>
            </a:r>
          </a:p>
          <a:p>
            <a:r>
              <a:t>- AWS Certified DevOps Engineer – Professional (DOP-C02) Exam Guide (docs.aws.amazon.com/pdfs/aws-certification/latest/devops-engineer-professional-02).</a:t>
            </a:r>
          </a:p>
          <a:p>
            <a:r>
              <a:t>- Legacy course deck: WSQ Master Trainer Slides — DevOps Engineering on AWS (v7).</a:t>
            </a:r>
          </a:p>
        </p:txBody>
      </p:sp>
      <p:sp>
        <p:nvSpPr>
          <p:cNvPr id="4" name="Slide Number Placeholder 3"/>
          <p:cNvSpPr>
            <a:spLocks noGrp="1"/>
          </p:cNvSpPr>
          <p:nvPr>
            <p:ph type="sldNum" idx="5" sz="quarter"/>
          </p:nvPr>
        </p:nvSpPr>
        <p:spPr/>
      </p:sp>
    </p:spTree>
  </p:cSld>
  <p:clrMapOvr>
    <a:masterClrMapping/>
  </p:clrMapOvr>
</p:notes>
</file>

<file path=ppt/notesSlides/notesSlide18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Lab 24 overview — Enable AWS Config managed rules and Security Hub standards, inject a violation and remediate to COMPLIANT.</a:t>
            </a:r>
          </a:p>
          <a:p>
            <a:r>
              <a:t>Concept-led briefing only. The full detailed procedure, commands, expected outputs, validation and cleanup live in the Learner Guide and the lab README (not on the slides).</a:t>
            </a:r>
          </a:p>
          <a:p>
            <a:r>
              <a:t>Reference architecture: course-generated diagram for Lab 24.</a:t>
            </a:r>
          </a:p>
          <a:p/>
          <a:p>
            <a:r>
              <a:t>[Sources]</a:t>
            </a:r>
          </a:p>
          <a:p>
            <a:r>
              <a:t>- AWS Certified DevOps Engineer – Professional (DOP-C02) Exam Guide (docs.aws.amazon.com/pdfs/aws-certification/latest/devops-engineer-professional-02).</a:t>
            </a:r>
          </a:p>
          <a:p>
            <a:r>
              <a:t>- Legacy course deck: WSQ Master Trainer Slides — DevOps Engineering on AWS (v7).</a:t>
            </a:r>
          </a:p>
        </p:txBody>
      </p:sp>
      <p:sp>
        <p:nvSpPr>
          <p:cNvPr id="4" name="Slide Number Placeholder 3"/>
          <p:cNvSpPr>
            <a:spLocks noGrp="1"/>
          </p:cNvSpPr>
          <p:nvPr>
            <p:ph type="sldNum" idx="5" sz="quarter"/>
          </p:nvPr>
        </p:nvSpPr>
        <p:spPr/>
      </p:sp>
    </p:spTree>
  </p:cSld>
  <p:clrMapOvr>
    <a:masterClrMapping/>
  </p:clrMapOvr>
</p:notes>
</file>

<file path=ppt/notesSlides/notesSlide18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Lab 25 overview — Synthesise Labs 1–24 into one secured, resilient, observable delivery system with a blueprint, an operational review and an evidence pack.</a:t>
            </a:r>
          </a:p>
          <a:p>
            <a:r>
              <a:t>Concept-led briefing only. The full detailed procedure, commands, expected outputs, validation and cleanup live in the Learner Guide and the lab README (not on the slides).</a:t>
            </a:r>
          </a:p>
          <a:p>
            <a:r>
              <a:t>Reference architecture: course-generated diagram for Lab 25.</a:t>
            </a:r>
          </a:p>
          <a:p/>
          <a:p>
            <a:r>
              <a:t>[Sources]</a:t>
            </a:r>
          </a:p>
          <a:p>
            <a:r>
              <a:t>- AWS Certified DevOps Engineer – Professional (DOP-C02) Exam Guide (docs.aws.amazon.com/pdfs/aws-certification/latest/devops-engineer-professional-02).</a:t>
            </a:r>
          </a:p>
          <a:p>
            <a:r>
              <a:t>- Legacy course deck: WSQ Master Trainer Slides — DevOps Engineering on AWS (v7).</a:t>
            </a:r>
          </a:p>
        </p:txBody>
      </p:sp>
      <p:sp>
        <p:nvSpPr>
          <p:cNvPr id="4" name="Slide Number Placeholder 3"/>
          <p:cNvSpPr>
            <a:spLocks noGrp="1"/>
          </p:cNvSpPr>
          <p:nvPr>
            <p:ph type="sldNum" idx="5" sz="quarter"/>
          </p:nvPr>
        </p:nvSpPr>
        <p:spPr/>
      </p:sp>
    </p:spTree>
  </p:cSld>
  <p:clrMapOvr>
    <a:masterClrMapping/>
  </p:clrMapOvr>
</p:notes>
</file>

<file path=ppt/notesSlides/notesSlide19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Recap of Domain 06 — Security and Compliance.</a:t>
            </a:r>
          </a:p>
          <a:p/>
          <a:p>
            <a:r>
              <a:t>[Sources]</a:t>
            </a:r>
          </a:p>
          <a:p>
            <a:r>
              <a:t>- AWS Certified DevOps Engineer – Professional (DOP-C02) Exam Guide (docs.aws.amazon.com/pdfs/aws-certification/latest/devops-engineer-professional-02).</a:t>
            </a:r>
          </a:p>
          <a:p>
            <a:r>
              <a:t>- AWS IAM Documentation (docs.aws.amazon.com/IAM/latest/UserGuide).</a:t>
            </a:r>
          </a:p>
          <a:p>
            <a:r>
              <a:t>- Legacy course deck: WSQ Master Trainer Slides — DevOps Engineering on AWS (v7).</a:t>
            </a:r>
          </a:p>
        </p:txBody>
      </p:sp>
      <p:sp>
        <p:nvSpPr>
          <p:cNvPr id="4" name="Slide Number Placeholder 3"/>
          <p:cNvSpPr>
            <a:spLocks noGrp="1"/>
          </p:cNvSpPr>
          <p:nvPr>
            <p:ph type="sldNum" idx="5" sz="quarter"/>
          </p:nvPr>
        </p:nvSpPr>
        <p:spPr/>
      </p:sp>
    </p:spTree>
  </p:cSld>
  <p:clrMapOvr>
    <a:masterClrMapping/>
  </p:clrMapOvr>
</p:notes>
</file>

<file path=ppt/notesSlides/notesSlide19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Sample Application, End to End. Domains 1–6 map onto one delivery-to-operations loop: build it (1), codify it (2), make it resilient (3), watch it (4), respond (5) and secure it (6).</a:t>
            </a:r>
          </a:p>
          <a:p>
            <a:r>
              <a:t>Editable reference architecture drawn as native PowerPoint shapes.</a:t>
            </a:r>
          </a:p>
          <a:p/>
          <a:p>
            <a:r>
              <a:t>[Sources]</a:t>
            </a:r>
          </a:p>
          <a:p>
            <a:r>
              <a:t>- AWS Certified DevOps Engineer – Professional (DOP-C02) Exam Guide (docs.aws.amazon.com/pdfs/aws-certification/latest/devops-engineer-professional-02).</a:t>
            </a:r>
          </a:p>
          <a:p>
            <a:r>
              <a:t>- AWS Well-Architected Framework (docs.aws.amazon.com/wellarchitected).</a:t>
            </a:r>
          </a:p>
          <a:p>
            <a:r>
              <a:t>- Legacy course deck: WSQ Master Trainer Slides — DevOps Engineering on AWS (v7).</a:t>
            </a:r>
          </a:p>
        </p:txBody>
      </p:sp>
      <p:sp>
        <p:nvSpPr>
          <p:cNvPr id="4" name="Slide Number Placeholder 3"/>
          <p:cNvSpPr>
            <a:spLocks noGrp="1"/>
          </p:cNvSpPr>
          <p:nvPr>
            <p:ph type="sldNum" idx="5" sz="quarter"/>
          </p:nvPr>
        </p:nvSpPr>
        <p:spPr/>
      </p:sp>
    </p:spTree>
  </p:cSld>
  <p:clrMapOvr>
    <a:masterClrMapping/>
  </p:clrMapOvr>
</p:notes>
</file>

<file path=ppt/notesSlides/notesSlide19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25 labs form one delivery-to-operations system — five connected labs per day building the same sample application end to end.</a:t>
            </a:r>
          </a:p>
          <a:p/>
          <a:p>
            <a:r>
              <a:t>[Sources]</a:t>
            </a:r>
          </a:p>
          <a:p>
            <a:r>
              <a:t>- AWS Certified DevOps Engineer – Professional (DOP-C02) Exam Guide (docs.aws.amazon.com/pdfs/aws-certification/latest/devops-engineer-professional-02).</a:t>
            </a:r>
          </a:p>
          <a:p>
            <a:r>
              <a:t>- Legacy course deck: WSQ Master Trainer Slides — DevOps Engineering on AWS (v7).</a:t>
            </a:r>
          </a:p>
        </p:txBody>
      </p:sp>
      <p:sp>
        <p:nvSpPr>
          <p:cNvPr id="4" name="Slide Number Placeholder 3"/>
          <p:cNvSpPr>
            <a:spLocks noGrp="1"/>
          </p:cNvSpPr>
          <p:nvPr>
            <p:ph type="sldNum" idx="5" sz="quarter"/>
          </p:nvPr>
        </p:nvSpPr>
        <p:spPr/>
      </p:sp>
    </p:spTree>
  </p:cSld>
  <p:clrMapOvr>
    <a:masterClrMapping/>
  </p:clrMapOvr>
</p:notes>
</file>

<file path=ppt/notesSlides/notesSlide19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Scenario: A developer merges a change that passes tests but degrades checkout latency once at production scale.</a:t>
            </a:r>
          </a:p>
          <a:p>
            <a:r>
              <a:t>Domain 1: the pipeline built and promoted an immutable artifact with a canary stage.</a:t>
            </a:r>
          </a:p>
          <a:p>
            <a:r>
              <a:t>Domain 3/4: canary p99 latency breaches the SLO; the CloudWatch alarm fires within minutes.</a:t>
            </a:r>
          </a:p>
          <a:p>
            <a:r>
              <a:t>Domain 5: the alarm triggers CodeDeploy auto-rollback and notifies the on-call via EventBridge/SNS.</a:t>
            </a:r>
          </a:p>
          <a:p>
            <a:r>
              <a:t>Domain 6: CloudTrail records exactly who changed what, feeding the blameless review.</a:t>
            </a:r>
          </a:p>
          <a:p>
            <a:r>
              <a:t>Domain 2: the durable fix is encoded in the template/config and re-applied, not hand-patched.</a:t>
            </a:r>
          </a:p>
          <a:p>
            <a:r>
              <a:t>Decision: No 2am heroics: the system detects, rolls back and records the event automatically. The follow-up hardens the canary threshold and adds a regression test.</a:t>
            </a:r>
          </a:p>
          <a:p/>
          <a:p>
            <a:r>
              <a:t>[Sources]</a:t>
            </a:r>
          </a:p>
          <a:p>
            <a:r>
              <a:t>- AWS Certified DevOps Engineer – Professional (DOP-C02) Exam Guide (docs.aws.amazon.com/pdfs/aws-certification/latest/devops-engineer-professional-02).</a:t>
            </a:r>
          </a:p>
          <a:p>
            <a:r>
              <a:t>- AWS Well-Architected Framework (docs.aws.amazon.com/wellarchitected).</a:t>
            </a:r>
          </a:p>
        </p:txBody>
      </p:sp>
      <p:sp>
        <p:nvSpPr>
          <p:cNvPr id="4" name="Slide Number Placeholder 3"/>
          <p:cNvSpPr>
            <a:spLocks noGrp="1"/>
          </p:cNvSpPr>
          <p:nvPr>
            <p:ph type="sldNum" idx="5" sz="quarter"/>
          </p:nvPr>
        </p:nvSpPr>
        <p:spPr/>
      </p:sp>
    </p:spTree>
  </p:cSld>
  <p:clrMapOvr>
    <a:masterClrMapping/>
  </p:clrMapOvr>
</p:notes>
</file>

<file path=ppt/notesSlides/notesSlide19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From Business Requirement to Six-Domain Design.</a:t>
            </a:r>
          </a:p>
          <a:p>
            <a:r>
              <a:t>'Ship weekly without downtime' — Domain 1 CI/CD + blue/green; Domain 3 multi-AZ so releases don't drop traffic.</a:t>
            </a:r>
          </a:p>
          <a:p>
            <a:r>
              <a:t>'Recover an AZ loss in minutes' — Domain 3 Multi-AZ ASG + RDS failover; Domain 4 alarms to confirm health.</a:t>
            </a:r>
          </a:p>
          <a:p>
            <a:r>
              <a:t>'Know within a minute when it breaks' — Domain 4 golden-signal alarms; Domain 5 event-driven notify + remediate.</a:t>
            </a:r>
          </a:p>
          <a:p>
            <a:r>
              <a:t>'Prove we are compliant' — Domain 6 Config + CloudTrail; Domain 2 guardrails as code in every account.</a:t>
            </a:r>
          </a:p>
          <a:p>
            <a:r>
              <a:t>Takeaway: Real requirements cut across domains — a competent DevOps engineer composes controls from all six into one coherent design.</a:t>
            </a:r>
          </a:p>
          <a:p/>
          <a:p>
            <a:r>
              <a:t>[Sources]</a:t>
            </a:r>
          </a:p>
          <a:p>
            <a:r>
              <a:t>- AWS Certified DevOps Engineer – Professional (DOP-C02) Exam Guide (docs.aws.amazon.com/pdfs/aws-certification/latest/devops-engineer-professional-02).</a:t>
            </a:r>
          </a:p>
          <a:p>
            <a:r>
              <a:t>- AWS Well-Architected Framework (docs.aws.amazon.com/wellarchitected).</a:t>
            </a:r>
          </a:p>
        </p:txBody>
      </p:sp>
      <p:sp>
        <p:nvSpPr>
          <p:cNvPr id="4" name="Slide Number Placeholder 3"/>
          <p:cNvSpPr>
            <a:spLocks noGrp="1"/>
          </p:cNvSpPr>
          <p:nvPr>
            <p:ph type="sldNum" idx="5" sz="quarter"/>
          </p:nvPr>
        </p:nvSpPr>
        <p:spPr/>
      </p:sp>
    </p:spTree>
  </p:cSld>
  <p:clrMapOvr>
    <a:masterClrMapping/>
  </p:clrMapOvr>
</p:notes>
</file>

<file path=ppt/notesSlides/notesSlide19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Decision — Build It Yourself or Use a Managed Service?.</a:t>
            </a:r>
          </a:p>
          <a:p>
            <a:r>
              <a:t>Option A — Managed service: Default choice. Less undifferentiated heavy lifting (e.g. RDS vs self-run DB) — at higher unit cost and less control.</a:t>
            </a:r>
          </a:p>
          <a:p>
            <a:r>
              <a:t>Option B — Self-managed on EC2: Only when you need control the managed option can't give (custom kernel, licensing). More ops burden and patching you own.</a:t>
            </a:r>
          </a:p>
          <a:p>
            <a:r>
              <a:t>Option C — Serverless-first: For spiky, event-driven work. Pay-per-use and minimal ops — within the service's limits and cold-start profile.</a:t>
            </a:r>
          </a:p>
          <a:p/>
          <a:p>
            <a:r>
              <a:t>[Sources]</a:t>
            </a:r>
          </a:p>
          <a:p>
            <a:r>
              <a:t>- AWS Well-Architected Framework (docs.aws.amazon.com/wellarchitected).</a:t>
            </a:r>
          </a:p>
          <a:p>
            <a:r>
              <a:t>- AWS Certified DevOps Engineer – Professional (DOP-C02) Exam Guide (docs.aws.amazon.com/pdfs/aws-certification/latest/devops-engineer-professional-02).</a:t>
            </a:r>
          </a:p>
        </p:txBody>
      </p:sp>
      <p:sp>
        <p:nvSpPr>
          <p:cNvPr id="4" name="Slide Number Placeholder 3"/>
          <p:cNvSpPr>
            <a:spLocks noGrp="1"/>
          </p:cNvSpPr>
          <p:nvPr>
            <p:ph type="sldNum" idx="5" sz="quarter"/>
          </p:nvPr>
        </p:nvSpPr>
        <p:spPr/>
      </p:sp>
    </p:spTree>
  </p:cSld>
  <p:clrMapOvr>
    <a:masterClrMapping/>
  </p:clrMapOvr>
</p:notes>
</file>

<file path=ppt/notesSlides/notesSlide19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Digital attendance (TRAQOM / SSG). Mandatory AM, PM and Assessment attendance for WSQ-funded courses.</a:t>
            </a:r>
          </a:p>
          <a:p>
            <a:r>
              <a:t>The trainer displays the live QR from the SSG portal; the on-slide QR is an illustrative placeholder.</a:t>
            </a:r>
          </a:p>
          <a:p>
            <a:r>
              <a:t>A minimum of 75% attendance is required for assessment and funding.</a:t>
            </a:r>
          </a:p>
          <a:p/>
          <a:p>
            <a:r>
              <a:t>[Sources]</a:t>
            </a:r>
          </a:p>
          <a:p>
            <a:r>
              <a:t>- Legacy course deck: WSQ Master Trainer Slides — DevOps Engineering on AWS (v7).</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image" Target="../media/image2.png"/><Relationship Id="rId4"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chart" Target="../charts/chart1.xml"/><Relationship Id="rId3" Type="http://schemas.openxmlformats.org/officeDocument/2006/relationships/notesSlide" Target="../notesSlides/notesSlide4.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chart" Target="../charts/chart2.xml"/><Relationship Id="rId3" Type="http://schemas.openxmlformats.org/officeDocument/2006/relationships/notesSlide" Target="../notesSlides/notesSlide5.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png"/><Relationship Id="rId3" Type="http://schemas.openxmlformats.org/officeDocument/2006/relationships/notesSlide" Target="../notesSlides/notesSlide14.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5.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7.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8.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9.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0.xm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chart" Target="../charts/chart3.xml"/><Relationship Id="rId3" Type="http://schemas.openxmlformats.org/officeDocument/2006/relationships/notesSlide" Target="../notesSlides/notesSlide16.xml"/></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1.xml"/></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2.xml"/></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3.xml"/></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4.xml"/></Relationships>
</file>

<file path=ppt/slides/_rels/slide4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5.xml"/></Relationships>
</file>

<file path=ppt/slides/_rels/slide4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6.xml"/></Relationships>
</file>

<file path=ppt/slides/_rels/slide5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7.xml"/></Relationships>
</file>

<file path=ppt/slides/_rels/slide5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8.xml"/></Relationships>
</file>

<file path=ppt/slides/_rels/slide5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9.xml"/></Relationships>
</file>

<file path=ppt/slides/_rels/slide5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0.xml"/></Relationships>
</file>

<file path=ppt/slides/_rels/slide5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1.xml"/></Relationships>
</file>

<file path=ppt/slides/_rels/slide5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2.xml"/></Relationships>
</file>

<file path=ppt/slides/_rels/slide5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chart" Target="../charts/chart4.xml"/><Relationship Id="rId3" Type="http://schemas.openxmlformats.org/officeDocument/2006/relationships/notesSlide" Target="../notesSlides/notesSlide33.xml"/></Relationships>
</file>

<file path=ppt/slides/_rels/slide5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4.xml"/></Relationships>
</file>

<file path=ppt/slides/_rels/slide5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5.xml"/></Relationships>
</file>

<file path=ppt/slides/_rels/slide5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6.xml"/></Relationships>
</file>

<file path=ppt/slides/_rels/slide6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7.xml"/></Relationships>
</file>

<file path=ppt/slides/_rels/slide6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8.xml"/></Relationships>
</file>

<file path=ppt/slides/_rels/slide6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9.xml"/></Relationships>
</file>

<file path=ppt/slides/_rels/slide6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4.jpg"/><Relationship Id="rId3" Type="http://schemas.openxmlformats.org/officeDocument/2006/relationships/notesSlide" Target="../notesSlides/notesSlide40.xml"/></Relationships>
</file>

<file path=ppt/slides/_rels/slide6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5.jpg"/><Relationship Id="rId3" Type="http://schemas.openxmlformats.org/officeDocument/2006/relationships/notesSlide" Target="../notesSlides/notesSlide41.xml"/></Relationships>
</file>

<file path=ppt/slides/_rels/slide6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6.jpg"/><Relationship Id="rId3" Type="http://schemas.openxmlformats.org/officeDocument/2006/relationships/notesSlide" Target="../notesSlides/notesSlide42.xml"/></Relationships>
</file>

<file path=ppt/slides/_rels/slide6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7.jpg"/><Relationship Id="rId3" Type="http://schemas.openxmlformats.org/officeDocument/2006/relationships/notesSlide" Target="../notesSlides/notesSlide43.xml"/></Relationships>
</file>

<file path=ppt/slides/_rels/slide6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8.jpg"/><Relationship Id="rId3" Type="http://schemas.openxmlformats.org/officeDocument/2006/relationships/notesSlide" Target="../notesSlides/notesSlide44.xml"/></Relationships>
</file>

<file path=ppt/slides/_rels/slide6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5.xml"/></Relationships>
</file>

<file path=ppt/slides/_rels/slide6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6.xml"/></Relationships>
</file>

<file path=ppt/slides/_rels/slide7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7.xml"/></Relationships>
</file>

<file path=ppt/slides/_rels/slide7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8.xml"/></Relationships>
</file>

<file path=ppt/slides/_rels/slide7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9.xml"/></Relationships>
</file>

<file path=ppt/slides/_rels/slide7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0.xml"/></Relationships>
</file>

<file path=ppt/slides/_rels/slide7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1.xml"/></Relationships>
</file>

<file path=ppt/slides/_rels/slide7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2.xml"/></Relationships>
</file>

<file path=ppt/slides/_rels/slide7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3.xml"/></Relationships>
</file>

<file path=ppt/slides/_rels/slide7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4.xml"/></Relationships>
</file>

<file path=ppt/slides/_rels/slide7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5.xml"/></Relationships>
</file>

<file path=ppt/slides/_rels/slide8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6.xml"/></Relationships>
</file>

<file path=ppt/slides/_rels/slide8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7.xml"/></Relationships>
</file>

<file path=ppt/slides/_rels/slide8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8.xml"/></Relationships>
</file>

<file path=ppt/slides/_rels/slide8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9.xml"/></Relationships>
</file>

<file path=ppt/slides/_rels/slide8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0.xml"/></Relationships>
</file>

<file path=ppt/slides/_rels/slide8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1.xml"/></Relationships>
</file>

<file path=ppt/slides/_rels/slide8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2.xml"/></Relationships>
</file>

<file path=ppt/slides/_rels/slide8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chart" Target="../charts/chart5.xml"/><Relationship Id="rId3" Type="http://schemas.openxmlformats.org/officeDocument/2006/relationships/notesSlide" Target="../notesSlides/notesSlide63.xml"/></Relationships>
</file>

<file path=ppt/slides/_rels/slide8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4.xml"/></Relationships>
</file>

<file path=ppt/slides/_rels/slide8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5.xml"/></Relationships>
</file>

<file path=ppt/slides/_rels/slide9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6.xml"/></Relationships>
</file>

<file path=ppt/slides/_rels/slide9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7.xml"/></Relationships>
</file>

<file path=ppt/slides/_rels/slide9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8.xml"/></Relationships>
</file>

<file path=ppt/slides/_rels/slide9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9.xml"/></Relationships>
</file>

<file path=ppt/slides/_rels/slide9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9.jpg"/><Relationship Id="rId3" Type="http://schemas.openxmlformats.org/officeDocument/2006/relationships/notesSlide" Target="../notesSlides/notesSlide70.xml"/></Relationships>
</file>

<file path=ppt/slides/_rels/slide9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0.jpg"/><Relationship Id="rId3" Type="http://schemas.openxmlformats.org/officeDocument/2006/relationships/notesSlide" Target="../notesSlides/notesSlide71.xml"/></Relationships>
</file>

<file path=ppt/slides/_rels/slide9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1.jpg"/><Relationship Id="rId3" Type="http://schemas.openxmlformats.org/officeDocument/2006/relationships/notesSlide" Target="../notesSlides/notesSlide72.xml"/></Relationships>
</file>

<file path=ppt/slides/_rels/slide9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2.jpg"/><Relationship Id="rId3" Type="http://schemas.openxmlformats.org/officeDocument/2006/relationships/notesSlide" Target="../notesSlides/notesSlide73.xml"/></Relationships>
</file>

<file path=ppt/slides/_rels/slide9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3.jpg"/><Relationship Id="rId3" Type="http://schemas.openxmlformats.org/officeDocument/2006/relationships/notesSlide" Target="../notesSlides/notesSlide74.xml"/></Relationships>
</file>

<file path=ppt/slides/_rels/slide9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5.xml"/></Relationships>
</file>

<file path=ppt/slides/_rels/slide10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6.xml"/></Relationships>
</file>

<file path=ppt/slides/_rels/slide10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8.xml"/></Relationships>
</file>

<file path=ppt/slides/_rels/slide10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9.xml"/></Relationships>
</file>

<file path=ppt/slides/_rels/slide10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chart" Target="../charts/chart6.xml"/><Relationship Id="rId3" Type="http://schemas.openxmlformats.org/officeDocument/2006/relationships/notesSlide" Target="../notesSlides/notesSlide77.xml"/></Relationships>
</file>

<file path=ppt/slides/_rels/slide10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0.xml"/></Relationships>
</file>

<file path=ppt/slides/_rels/slide10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1.xml"/></Relationships>
</file>

<file path=ppt/slides/_rels/slide10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2.xml"/></Relationships>
</file>

<file path=ppt/slides/_rels/slide10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3.xml"/></Relationships>
</file>

<file path=ppt/slides/_rels/slide10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4.xml"/></Relationships>
</file>

<file path=ppt/slides/_rels/slide1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5.xml"/></Relationships>
</file>

<file path=ppt/slides/_rels/slide1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6.xml"/></Relationships>
</file>

<file path=ppt/slides/_rels/slide1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7.xml"/></Relationships>
</file>

<file path=ppt/slides/_rels/slide1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8.xml"/></Relationships>
</file>

<file path=ppt/slides/_rels/slide1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9.xml"/></Relationships>
</file>

<file path=ppt/slides/_rels/slide11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0.xml"/></Relationships>
</file>

<file path=ppt/slides/_rels/slide11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1.xml"/></Relationships>
</file>

<file path=ppt/slides/_rels/slide11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2.xml"/></Relationships>
</file>

<file path=ppt/slides/_rels/slide11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chart" Target="../charts/chart7.xml"/><Relationship Id="rId3" Type="http://schemas.openxmlformats.org/officeDocument/2006/relationships/notesSlide" Target="../notesSlides/notesSlide93.xml"/></Relationships>
</file>

<file path=ppt/slides/_rels/slide11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chart" Target="../charts/chart8.xml"/><Relationship Id="rId3" Type="http://schemas.openxmlformats.org/officeDocument/2006/relationships/notesSlide" Target="../notesSlides/notesSlide94.xml"/></Relationships>
</file>

<file path=ppt/slides/_rels/slide12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5.xml"/></Relationships>
</file>

<file path=ppt/slides/_rels/slide12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6.xml"/></Relationships>
</file>

<file path=ppt/slides/_rels/slide12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7.xml"/></Relationships>
</file>

<file path=ppt/slides/_rels/slide12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8.xml"/></Relationships>
</file>

<file path=ppt/slides/_rels/slide12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9.xml"/></Relationships>
</file>

<file path=ppt/slides/_rels/slide12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0.xml"/></Relationships>
</file>

<file path=ppt/slides/_rels/slide12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4.jpg"/><Relationship Id="rId3" Type="http://schemas.openxmlformats.org/officeDocument/2006/relationships/notesSlide" Target="../notesSlides/notesSlide101.xml"/></Relationships>
</file>

<file path=ppt/slides/_rels/slide12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5.jpg"/><Relationship Id="rId3" Type="http://schemas.openxmlformats.org/officeDocument/2006/relationships/notesSlide" Target="../notesSlides/notesSlide102.xml"/></Relationships>
</file>

<file path=ppt/slides/_rels/slide12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6.jpg"/><Relationship Id="rId3" Type="http://schemas.openxmlformats.org/officeDocument/2006/relationships/notesSlide" Target="../notesSlides/notesSlide103.xml"/></Relationships>
</file>

<file path=ppt/slides/_rels/slide12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7.jpg"/><Relationship Id="rId3" Type="http://schemas.openxmlformats.org/officeDocument/2006/relationships/notesSlide" Target="../notesSlides/notesSlide104.xml"/></Relationships>
</file>

<file path=ppt/slides/_rels/slide13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8.jpg"/><Relationship Id="rId3" Type="http://schemas.openxmlformats.org/officeDocument/2006/relationships/notesSlide" Target="../notesSlides/notesSlide105.xml"/></Relationships>
</file>

<file path=ppt/slides/_rels/slide13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6.xml"/></Relationships>
</file>

<file path=ppt/slides/_rels/slide13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3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9.png"/><Relationship Id="rId3" Type="http://schemas.openxmlformats.org/officeDocument/2006/relationships/notesSlide" Target="../notesSlides/notesSlide107.xml"/></Relationships>
</file>

<file path=ppt/slides/_rels/slide13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8.xml"/></Relationships>
</file>

<file path=ppt/slides/_rels/slide13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0.xml"/></Relationships>
</file>

<file path=ppt/slides/_rels/slide13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1.xml"/></Relationships>
</file>

<file path=ppt/slides/_rels/slide13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chart" Target="../charts/chart9.xml"/><Relationship Id="rId3" Type="http://schemas.openxmlformats.org/officeDocument/2006/relationships/notesSlide" Target="../notesSlides/notesSlide109.xml"/></Relationships>
</file>

<file path=ppt/slides/_rels/slide13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2.xml"/></Relationships>
</file>

<file path=ppt/slides/_rels/slide13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3.xml"/></Relationships>
</file>

<file path=ppt/slides/_rels/slide14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4.xml"/></Relationships>
</file>

<file path=ppt/slides/_rels/slide14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5.xml"/></Relationships>
</file>

<file path=ppt/slides/_rels/slide14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6.xml"/></Relationships>
</file>

<file path=ppt/slides/_rels/slide14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7.xml"/></Relationships>
</file>

<file path=ppt/slides/_rels/slide14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8.xml"/></Relationships>
</file>

<file path=ppt/slides/_rels/slide14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9.xml"/></Relationships>
</file>

<file path=ppt/slides/_rels/slide14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0.xml"/></Relationships>
</file>

<file path=ppt/slides/_rels/slide14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1.xml"/></Relationships>
</file>

<file path=ppt/slides/_rels/slide14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2.xml"/></Relationships>
</file>

<file path=ppt/slides/_rels/slide14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3.xml"/></Relationships>
</file>

<file path=ppt/slides/_rels/slide15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chart" Target="../charts/chart10.xml"/><Relationship Id="rId3" Type="http://schemas.openxmlformats.org/officeDocument/2006/relationships/notesSlide" Target="../notesSlides/notesSlide124.xml"/></Relationships>
</file>

<file path=ppt/slides/_rels/slide15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5.xml"/></Relationships>
</file>

<file path=ppt/slides/_rels/slide15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6.xml"/></Relationships>
</file>

<file path=ppt/slides/_rels/slide15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7.xml"/></Relationships>
</file>

<file path=ppt/slides/_rels/slide15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8.xml"/></Relationships>
</file>

<file path=ppt/slides/_rels/slide15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9.xml"/></Relationships>
</file>

<file path=ppt/slides/_rels/slide15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0.xml"/></Relationships>
</file>

<file path=ppt/slides/_rels/slide15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0.jpg"/><Relationship Id="rId3" Type="http://schemas.openxmlformats.org/officeDocument/2006/relationships/notesSlide" Target="../notesSlides/notesSlide131.xml"/></Relationships>
</file>

<file path=ppt/slides/_rels/slide15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1.jpg"/><Relationship Id="rId3" Type="http://schemas.openxmlformats.org/officeDocument/2006/relationships/notesSlide" Target="../notesSlides/notesSlide132.xml"/></Relationships>
</file>

<file path=ppt/slides/_rels/slide15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2.jpg"/><Relationship Id="rId3" Type="http://schemas.openxmlformats.org/officeDocument/2006/relationships/notesSlide" Target="../notesSlides/notesSlide133.xml"/></Relationships>
</file>

<file path=ppt/slides/_rels/slide16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4.xml"/></Relationships>
</file>

<file path=ppt/slides/_rels/slide16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6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5.xml"/></Relationships>
</file>

<file path=ppt/slides/_rels/slide16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7.xml"/></Relationships>
</file>

<file path=ppt/slides/_rels/slide16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8.xml"/></Relationships>
</file>

<file path=ppt/slides/_rels/slide16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chart" Target="../charts/chart11.xml"/><Relationship Id="rId3" Type="http://schemas.openxmlformats.org/officeDocument/2006/relationships/notesSlide" Target="../notesSlides/notesSlide136.xml"/></Relationships>
</file>

<file path=ppt/slides/_rels/slide16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9.xml"/></Relationships>
</file>

<file path=ppt/slides/_rels/slide16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0.xml"/></Relationships>
</file>

<file path=ppt/slides/_rels/slide16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1.xml"/></Relationships>
</file>

<file path=ppt/slides/_rels/slide16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2.xml"/></Relationships>
</file>

<file path=ppt/slides/_rels/slide17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3.xml"/></Relationships>
</file>

<file path=ppt/slides/_rels/slide17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4.xml"/></Relationships>
</file>

<file path=ppt/slides/_rels/slide17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5.xml"/></Relationships>
</file>

<file path=ppt/slides/_rels/slide17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6.xml"/></Relationships>
</file>

<file path=ppt/slides/_rels/slide17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7.xml"/></Relationships>
</file>

<file path=ppt/slides/_rels/slide17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8.xml"/></Relationships>
</file>

<file path=ppt/slides/_rels/slide17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9.xml"/></Relationships>
</file>

<file path=ppt/slides/_rels/slide17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50.xml"/></Relationships>
</file>

<file path=ppt/slides/_rels/slide17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chart" Target="../charts/chart12.xml"/><Relationship Id="rId3" Type="http://schemas.openxmlformats.org/officeDocument/2006/relationships/notesSlide" Target="../notesSlides/notesSlide151.xml"/></Relationships>
</file>

<file path=ppt/slides/_rels/slide17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52.xml"/></Relationships>
</file>

<file path=ppt/slides/_rels/slide18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53.xml"/></Relationships>
</file>

<file path=ppt/slides/_rels/slide18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54.xml"/></Relationships>
</file>

<file path=ppt/slides/_rels/slide18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55.xml"/></Relationships>
</file>

<file path=ppt/slides/_rels/slide18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56.xml"/></Relationships>
</file>

<file path=ppt/slides/_rels/slide18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57.xml"/></Relationships>
</file>

<file path=ppt/slides/_rels/slide18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3.jpg"/><Relationship Id="rId3" Type="http://schemas.openxmlformats.org/officeDocument/2006/relationships/notesSlide" Target="../notesSlides/notesSlide158.xml"/></Relationships>
</file>

<file path=ppt/slides/_rels/slide18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4.jpg"/><Relationship Id="rId3" Type="http://schemas.openxmlformats.org/officeDocument/2006/relationships/notesSlide" Target="../notesSlides/notesSlide159.xml"/></Relationships>
</file>

<file path=ppt/slides/_rels/slide18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60.xml"/></Relationships>
</file>

<file path=ppt/slides/_rels/slide18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8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5.png"/><Relationship Id="rId3" Type="http://schemas.openxmlformats.org/officeDocument/2006/relationships/notesSlide" Target="../notesSlides/notesSlide161.xml"/></Relationships>
</file>

<file path=ppt/slides/_rels/slide19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62.xml"/></Relationships>
</file>

<file path=ppt/slides/_rels/slide19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63.xml"/></Relationships>
</file>

<file path=ppt/slides/_rels/slide19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64.xml"/></Relationships>
</file>

<file path=ppt/slides/_rels/slide19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65.xml"/></Relationships>
</file>

<file path=ppt/slides/_rels/slide19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66.xml"/></Relationships>
</file>

<file path=ppt/slides/_rels/slide19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67.xml"/></Relationships>
</file>

<file path=ppt/slides/_rels/slide19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68.xml"/></Relationships>
</file>

<file path=ppt/slides/_rels/slide19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69.xml"/></Relationships>
</file>

<file path=ppt/slides/_rels/slide19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70.xml"/></Relationships>
</file>

<file path=ppt/slides/_rels/slide19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71.xml"/></Relationships>
</file>

<file path=ppt/slides/_rels/slide20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72.xml"/></Relationships>
</file>

<file path=ppt/slides/_rels/slide20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73.xml"/></Relationships>
</file>

<file path=ppt/slides/_rels/slide20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74.xml"/></Relationships>
</file>

<file path=ppt/slides/_rels/slide20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75.xml"/></Relationships>
</file>

<file path=ppt/slides/_rels/slide20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76.xml"/></Relationships>
</file>

<file path=ppt/slides/_rels/slide20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77.xml"/></Relationships>
</file>

<file path=ppt/slides/_rels/slide20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chart" Target="../charts/chart13.xml"/><Relationship Id="rId3" Type="http://schemas.openxmlformats.org/officeDocument/2006/relationships/notesSlide" Target="../notesSlides/notesSlide178.xml"/></Relationships>
</file>

<file path=ppt/slides/_rels/slide20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79.xml"/></Relationships>
</file>

<file path=ppt/slides/_rels/slide20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80.xml"/></Relationships>
</file>

<file path=ppt/slides/_rels/slide20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81.xml"/></Relationships>
</file>

<file path=ppt/slides/_rels/slide2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82.xml"/></Relationships>
</file>

<file path=ppt/slides/_rels/slide2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83.xml"/></Relationships>
</file>

<file path=ppt/slides/_rels/slide2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84.xml"/></Relationships>
</file>

<file path=ppt/slides/_rels/slide2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6.jpg"/><Relationship Id="rId3" Type="http://schemas.openxmlformats.org/officeDocument/2006/relationships/notesSlide" Target="../notesSlides/notesSlide185.xml"/></Relationships>
</file>

<file path=ppt/slides/_rels/slide2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7.jpg"/><Relationship Id="rId3" Type="http://schemas.openxmlformats.org/officeDocument/2006/relationships/notesSlide" Target="../notesSlides/notesSlide186.xml"/></Relationships>
</file>

<file path=ppt/slides/_rels/slide21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8.jpg"/><Relationship Id="rId3" Type="http://schemas.openxmlformats.org/officeDocument/2006/relationships/notesSlide" Target="../notesSlides/notesSlide187.xml"/></Relationships>
</file>

<file path=ppt/slides/_rels/slide21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9.jpg"/><Relationship Id="rId3" Type="http://schemas.openxmlformats.org/officeDocument/2006/relationships/notesSlide" Target="../notesSlides/notesSlide188.xml"/></Relationships>
</file>

<file path=ppt/slides/_rels/slide21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0.jpg"/><Relationship Id="rId3" Type="http://schemas.openxmlformats.org/officeDocument/2006/relationships/notesSlide" Target="../notesSlides/notesSlide189.xml"/></Relationships>
</file>

<file path=ppt/slides/_rels/slide21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90.xml"/></Relationships>
</file>

<file path=ppt/slides/_rels/slide21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2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91.xml"/></Relationships>
</file>

<file path=ppt/slides/_rels/slide22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92.xml"/></Relationships>
</file>

<file path=ppt/slides/_rels/slide22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93.xml"/></Relationships>
</file>

<file path=ppt/slides/_rels/slide22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94.xml"/></Relationships>
</file>

<file path=ppt/slides/_rels/slide22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95.xml"/></Relationships>
</file>

<file path=ppt/slides/_rels/slide22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2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2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2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2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3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96.xml"/></Relationships>
</file>

<file path=ppt/slides/_rels/slide23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6858000" y="0"/>
            <a:ext cx="5330952" cy="6858000"/>
          </a:xfrm>
          <a:prstGeom prst="rect">
            <a:avLst/>
          </a:prstGeom>
          <a:solidFill>
            <a:srgbClr val="0B214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devops-aws-cover-hero.png"/>
          <p:cNvPicPr>
            <a:picLocks noChangeAspect="1"/>
          </p:cNvPicPr>
          <p:nvPr/>
        </p:nvPicPr>
        <p:blipFill>
          <a:blip r:embed="rId2"/>
          <a:stretch>
            <a:fillRect/>
          </a:stretch>
        </p:blipFill>
        <p:spPr>
          <a:xfrm>
            <a:off x="6858000" y="1600200"/>
            <a:ext cx="5330952" cy="3000255"/>
          </a:xfrm>
          <a:prstGeom prst="rect">
            <a:avLst/>
          </a:prstGeom>
        </p:spPr>
      </p:pic>
      <p:sp>
        <p:nvSpPr>
          <p:cNvPr id="5" name="Rectangle 4"/>
          <p:cNvSpPr/>
          <p:nvPr/>
        </p:nvSpPr>
        <p:spPr>
          <a:xfrm>
            <a:off x="0" y="0"/>
            <a:ext cx="6949440"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0" y="0"/>
            <a:ext cx="12191695" cy="201168"/>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0" y="6656832"/>
            <a:ext cx="12191695" cy="201168"/>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8" name="Picture 7" descr="tertiary-infotech-logo.png"/>
          <p:cNvPicPr>
            <a:picLocks noChangeAspect="1"/>
          </p:cNvPicPr>
          <p:nvPr/>
        </p:nvPicPr>
        <p:blipFill>
          <a:blip r:embed="rId3"/>
          <a:stretch>
            <a:fillRect/>
          </a:stretch>
        </p:blipFill>
        <p:spPr>
          <a:xfrm>
            <a:off x="777240" y="640080"/>
            <a:ext cx="914400" cy="914400"/>
          </a:xfrm>
          <a:prstGeom prst="rect">
            <a:avLst/>
          </a:prstGeom>
        </p:spPr>
      </p:pic>
      <p:sp>
        <p:nvSpPr>
          <p:cNvPr id="9" name="Rounded Rectangle 8"/>
          <p:cNvSpPr/>
          <p:nvPr/>
        </p:nvSpPr>
        <p:spPr>
          <a:xfrm>
            <a:off x="10104120" y="457200"/>
            <a:ext cx="1691640" cy="1024128"/>
          </a:xfrm>
          <a:prstGeom prst="round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10104120" y="457200"/>
            <a:ext cx="1691640" cy="109728"/>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10104120" y="658368"/>
            <a:ext cx="1691640" cy="411480"/>
          </a:xfrm>
          <a:prstGeom prst="rect">
            <a:avLst/>
          </a:prstGeom>
          <a:noFill/>
        </p:spPr>
        <p:txBody>
          <a:bodyPr wrap="square" anchor="t">
            <a:spAutoFit/>
          </a:bodyPr>
          <a:lstStyle/>
          <a:p>
            <a:pPr algn="ctr">
              <a:spcAft>
                <a:spcPts val="400"/>
              </a:spcAft>
            </a:pPr>
            <a:r>
              <a:rPr sz="1900" b="1">
                <a:solidFill>
                  <a:srgbClr val="FFFFFF"/>
                </a:solidFill>
                <a:latin typeface="Arial"/>
              </a:rPr>
              <a:t>DOP-C02</a:t>
            </a:r>
          </a:p>
        </p:txBody>
      </p:sp>
      <p:sp>
        <p:nvSpPr>
          <p:cNvPr id="12" name="Rectangle 11"/>
          <p:cNvSpPr/>
          <p:nvPr/>
        </p:nvSpPr>
        <p:spPr>
          <a:xfrm>
            <a:off x="10565892" y="1078992"/>
            <a:ext cx="768096" cy="9525"/>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10104120" y="1133856"/>
            <a:ext cx="1691640" cy="292608"/>
          </a:xfrm>
          <a:prstGeom prst="rect">
            <a:avLst/>
          </a:prstGeom>
          <a:noFill/>
        </p:spPr>
        <p:txBody>
          <a:bodyPr wrap="square" anchor="t">
            <a:spAutoFit/>
          </a:bodyPr>
          <a:lstStyle/>
          <a:p>
            <a:pPr algn="ctr">
              <a:spcAft>
                <a:spcPts val="400"/>
              </a:spcAft>
            </a:pPr>
            <a:r>
              <a:rPr sz="950" b="1">
                <a:solidFill>
                  <a:srgbClr val="FFFFFF"/>
                </a:solidFill>
                <a:latin typeface="Arial"/>
              </a:rPr>
              <a:t>DEVOPS ENGINEER</a:t>
            </a:r>
          </a:p>
        </p:txBody>
      </p:sp>
      <p:sp>
        <p:nvSpPr>
          <p:cNvPr id="14" name="TextBox 13"/>
          <p:cNvSpPr txBox="1"/>
          <p:nvPr/>
        </p:nvSpPr>
        <p:spPr>
          <a:xfrm>
            <a:off x="822960" y="1965960"/>
            <a:ext cx="5852160" cy="548640"/>
          </a:xfrm>
          <a:prstGeom prst="rect">
            <a:avLst/>
          </a:prstGeom>
          <a:noFill/>
        </p:spPr>
        <p:txBody>
          <a:bodyPr wrap="square" anchor="t">
            <a:spAutoFit/>
          </a:bodyPr>
          <a:lstStyle/>
          <a:p>
            <a:pPr algn="l">
              <a:spcAft>
                <a:spcPts val="400"/>
              </a:spcAft>
            </a:pPr>
            <a:r>
              <a:rPr sz="1500" b="1">
                <a:solidFill>
                  <a:srgbClr val="1F6FEB"/>
                </a:solidFill>
                <a:latin typeface="Arial"/>
              </a:rPr>
              <a:t>COURSE SLIDES  ·  WSQ</a:t>
            </a:r>
          </a:p>
        </p:txBody>
      </p:sp>
      <p:sp>
        <p:nvSpPr>
          <p:cNvPr id="15" name="TextBox 14"/>
          <p:cNvSpPr txBox="1"/>
          <p:nvPr/>
        </p:nvSpPr>
        <p:spPr>
          <a:xfrm>
            <a:off x="822960" y="2423160"/>
            <a:ext cx="5943600" cy="1828800"/>
          </a:xfrm>
          <a:prstGeom prst="rect">
            <a:avLst/>
          </a:prstGeom>
          <a:noFill/>
        </p:spPr>
        <p:txBody>
          <a:bodyPr wrap="square" anchor="t">
            <a:spAutoFit/>
          </a:bodyPr>
          <a:lstStyle/>
          <a:p>
            <a:pPr algn="l">
              <a:spcAft>
                <a:spcPts val="400"/>
              </a:spcAft>
            </a:pPr>
            <a:r>
              <a:rPr sz="4000" b="1">
                <a:solidFill>
                  <a:srgbClr val="161B26"/>
                </a:solidFill>
                <a:latin typeface="Arial"/>
              </a:rPr>
              <a:t>DevOps Engineering on AWS</a:t>
            </a:r>
          </a:p>
        </p:txBody>
      </p:sp>
      <p:sp>
        <p:nvSpPr>
          <p:cNvPr id="16" name="Rectangle 15"/>
          <p:cNvSpPr/>
          <p:nvPr/>
        </p:nvSpPr>
        <p:spPr>
          <a:xfrm>
            <a:off x="841248" y="3977639"/>
            <a:ext cx="2194560" cy="54864"/>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822960" y="4206240"/>
            <a:ext cx="5852160" cy="1097280"/>
          </a:xfrm>
          <a:prstGeom prst="rect">
            <a:avLst/>
          </a:prstGeom>
          <a:noFill/>
        </p:spPr>
        <p:txBody>
          <a:bodyPr wrap="square" anchor="t">
            <a:spAutoFit/>
          </a:bodyPr>
          <a:lstStyle/>
          <a:p>
            <a:pPr algn="l">
              <a:spcAft>
                <a:spcPts val="500"/>
              </a:spcAft>
            </a:pPr>
            <a:r>
              <a:rPr sz="1500" b="0">
                <a:solidFill>
                  <a:srgbClr val="5B6372"/>
                </a:solidFill>
                <a:latin typeface="Arial"/>
              </a:rPr>
              <a:t>WSQ Course Code: TGS-2023040474</a:t>
            </a:r>
          </a:p>
          <a:p>
            <a:pPr algn="l">
              <a:spcAft>
                <a:spcPts val="500"/>
              </a:spcAft>
            </a:pPr>
            <a:r>
              <a:rPr sz="1300" b="0">
                <a:solidFill>
                  <a:srgbClr val="5B6372"/>
                </a:solidFill>
                <a:latin typeface="Arial"/>
              </a:rPr>
              <a:t>Conducted by Tertiary Infotech Academy Pte Ltd</a:t>
            </a:r>
          </a:p>
          <a:p>
            <a:pPr algn="l">
              <a:spcAft>
                <a:spcPts val="500"/>
              </a:spcAft>
            </a:pPr>
            <a:r>
              <a:rPr sz="1300" b="0">
                <a:solidFill>
                  <a:srgbClr val="5B6372"/>
                </a:solidFill>
                <a:latin typeface="Arial"/>
              </a:rPr>
              <a:t>UEN: 201200696W</a:t>
            </a:r>
          </a:p>
        </p:txBody>
      </p:sp>
      <p:sp>
        <p:nvSpPr>
          <p:cNvPr id="18" name="TextBox 17"/>
          <p:cNvSpPr txBox="1"/>
          <p:nvPr/>
        </p:nvSpPr>
        <p:spPr>
          <a:xfrm>
            <a:off x="822960" y="5806440"/>
            <a:ext cx="5852160" cy="365760"/>
          </a:xfrm>
          <a:prstGeom prst="rect">
            <a:avLst/>
          </a:prstGeom>
          <a:noFill/>
        </p:spPr>
        <p:txBody>
          <a:bodyPr wrap="square" anchor="t">
            <a:spAutoFit/>
          </a:bodyPr>
          <a:lstStyle/>
          <a:p>
            <a:pPr algn="l">
              <a:spcAft>
                <a:spcPts val="400"/>
              </a:spcAft>
            </a:pPr>
            <a:r>
              <a:rPr sz="1200" b="1">
                <a:solidFill>
                  <a:srgbClr val="5B6372"/>
                </a:solidFill>
                <a:latin typeface="Arial"/>
              </a:rPr>
              <a:t>Version v12  ·  23 August 2026</a:t>
            </a:r>
          </a:p>
        </p:txBody>
      </p:sp>
      <p:sp>
        <p:nvSpPr>
          <p:cNvPr id="19" name="TextBox 18"/>
          <p:cNvSpPr txBox="1"/>
          <p:nvPr/>
        </p:nvSpPr>
        <p:spPr>
          <a:xfrm>
            <a:off x="822960" y="6144768"/>
            <a:ext cx="5943600" cy="310896"/>
          </a:xfrm>
          <a:prstGeom prst="rect">
            <a:avLst/>
          </a:prstGeom>
          <a:noFill/>
        </p:spPr>
        <p:txBody>
          <a:bodyPr wrap="square" anchor="t">
            <a:spAutoFit/>
          </a:bodyPr>
          <a:lstStyle/>
          <a:p>
            <a:pPr algn="l">
              <a:spcAft>
                <a:spcPts val="400"/>
              </a:spcAft>
            </a:pPr>
            <a:r>
              <a:rPr sz="900" b="0">
                <a:solidFill>
                  <a:srgbClr val="5B6372"/>
                </a:solidFill>
                <a:latin typeface="Arial"/>
              </a:rPr>
              <a:t>© 2026 Tertiary Infotech Academy Pte Ltd. All rights reserved.  ·  www.tertiarycourses.com.sg</a:t>
            </a:r>
          </a:p>
        </p:txBody>
      </p:sp>
    </p:spTree>
  </p:cSld>
  <p:clrMapOvr>
    <a:masterClrMapping/>
  </p:clrMapOvr>
  <p:transition xmlns:p14="http://schemas.microsoft.com/office/powerpoint/2010/main" p14:dur="380">
    <p:fade/>
  </p:transition>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685800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777240" y="2286000"/>
            <a:ext cx="128016" cy="182880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1143000" y="2331720"/>
            <a:ext cx="10058400" cy="548640"/>
          </a:xfrm>
          <a:prstGeom prst="rect">
            <a:avLst/>
          </a:prstGeom>
          <a:noFill/>
        </p:spPr>
        <p:txBody>
          <a:bodyPr wrap="square" anchor="t">
            <a:spAutoFit/>
          </a:bodyPr>
          <a:lstStyle/>
          <a:p>
            <a:pPr algn="l">
              <a:spcAft>
                <a:spcPts val="400"/>
              </a:spcAft>
            </a:pPr>
            <a:r>
              <a:rPr sz="1800" b="1">
                <a:solidFill>
                  <a:srgbClr val="1F6FEB"/>
                </a:solidFill>
                <a:latin typeface="Arial"/>
              </a:rPr>
              <a:t>COURSE ADMINISTRATION</a:t>
            </a:r>
          </a:p>
        </p:txBody>
      </p:sp>
      <p:sp>
        <p:nvSpPr>
          <p:cNvPr id="6" name="TextBox 5"/>
          <p:cNvSpPr txBox="1"/>
          <p:nvPr/>
        </p:nvSpPr>
        <p:spPr>
          <a:xfrm>
            <a:off x="1143000" y="2743200"/>
            <a:ext cx="10424160" cy="1463040"/>
          </a:xfrm>
          <a:prstGeom prst="rect">
            <a:avLst/>
          </a:prstGeom>
          <a:noFill/>
        </p:spPr>
        <p:txBody>
          <a:bodyPr wrap="square" anchor="t">
            <a:spAutoFit/>
          </a:bodyPr>
          <a:lstStyle/>
          <a:p>
            <a:pPr algn="l">
              <a:spcAft>
                <a:spcPts val="400"/>
              </a:spcAft>
            </a:pPr>
            <a:r>
              <a:rPr sz="4000" b="1">
                <a:solidFill>
                  <a:srgbClr val="161B26"/>
                </a:solidFill>
                <a:latin typeface="Arial"/>
              </a:rPr>
              <a:t>Welcome &amp; Housekeeping</a:t>
            </a:r>
          </a:p>
        </p:txBody>
      </p:sp>
      <p:sp>
        <p:nvSpPr>
          <p:cNvPr id="7" name="TextBox 6"/>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DevOps Engineering on AWS  ·  TGS-2023040474</a:t>
            </a:r>
          </a:p>
        </p:txBody>
      </p:sp>
      <p:sp>
        <p:nvSpPr>
          <p:cNvPr id="8" name="TextBox 7"/>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9" name="TextBox 8"/>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1</a:t>
            </a:r>
          </a:p>
        </p:txBody>
      </p:sp>
    </p:spTree>
  </p:cSld>
  <p:clrMapOvr>
    <a:masterClrMapping/>
  </p:clrMapOvr>
  <p:transition xmlns:p14="http://schemas.microsoft.com/office/powerpoint/2010/main" p14:dur="380">
    <p:fade/>
  </p:transition>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38912"/>
            <a:ext cx="10607040" cy="365760"/>
          </a:xfrm>
          <a:prstGeom prst="rect">
            <a:avLst/>
          </a:prstGeom>
          <a:noFill/>
        </p:spPr>
        <p:txBody>
          <a:bodyPr wrap="square" anchor="t">
            <a:spAutoFit/>
          </a:bodyPr>
          <a:lstStyle/>
          <a:p>
            <a:pPr algn="l">
              <a:spcAft>
                <a:spcPts val="400"/>
              </a:spcAft>
            </a:pPr>
            <a:r>
              <a:rPr sz="1400" b="1">
                <a:solidFill>
                  <a:srgbClr val="1F6FEB"/>
                </a:solidFill>
                <a:latin typeface="Arial"/>
              </a:rPr>
              <a:t>TRAQOM · SSG DIGITAL ATTENDANCE</a:t>
            </a:r>
          </a:p>
        </p:txBody>
      </p:sp>
      <p:sp>
        <p:nvSpPr>
          <p:cNvPr id="5" name="TextBox 4"/>
          <p:cNvSpPr txBox="1"/>
          <p:nvPr/>
        </p:nvSpPr>
        <p:spPr>
          <a:xfrm>
            <a:off x="777240" y="804672"/>
            <a:ext cx="10927080" cy="731520"/>
          </a:xfrm>
          <a:prstGeom prst="rect">
            <a:avLst/>
          </a:prstGeom>
          <a:noFill/>
        </p:spPr>
        <p:txBody>
          <a:bodyPr wrap="square" anchor="t">
            <a:spAutoFit/>
          </a:bodyPr>
          <a:lstStyle/>
          <a:p>
            <a:pPr algn="l">
              <a:spcAft>
                <a:spcPts val="400"/>
              </a:spcAft>
            </a:pPr>
            <a:r>
              <a:rPr sz="2900" b="1">
                <a:solidFill>
                  <a:srgbClr val="161B26"/>
                </a:solidFill>
                <a:latin typeface="Arial"/>
              </a:rPr>
              <a:t>Digital Attendance (Mandatory)</a:t>
            </a:r>
          </a:p>
        </p:txBody>
      </p:sp>
      <p:sp>
        <p:nvSpPr>
          <p:cNvPr id="6" name="Rectangle 5"/>
          <p:cNvSpPr/>
          <p:nvPr/>
        </p:nvSpPr>
        <p:spPr>
          <a:xfrm>
            <a:off x="777240" y="1572768"/>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777240" y="1737360"/>
            <a:ext cx="6720840" cy="365760"/>
          </a:xfrm>
          <a:prstGeom prst="rect">
            <a:avLst/>
          </a:prstGeom>
          <a:noFill/>
        </p:spPr>
        <p:txBody>
          <a:bodyPr wrap="square" anchor="t">
            <a:spAutoFit/>
          </a:bodyPr>
          <a:lstStyle/>
          <a:p>
            <a:pPr algn="l">
              <a:spcAft>
                <a:spcPts val="400"/>
              </a:spcAft>
            </a:pPr>
            <a:r>
              <a:rPr sz="1350" b="1">
                <a:solidFill>
                  <a:srgbClr val="161B26"/>
                </a:solidFill>
                <a:latin typeface="Arial"/>
              </a:rPr>
              <a:t>Take the SSG digital attendance at three points on every funded day:</a:t>
            </a:r>
          </a:p>
        </p:txBody>
      </p:sp>
      <p:sp>
        <p:nvSpPr>
          <p:cNvPr id="8" name="Rectangle 7"/>
          <p:cNvSpPr/>
          <p:nvPr/>
        </p:nvSpPr>
        <p:spPr>
          <a:xfrm>
            <a:off x="777240" y="2194560"/>
            <a:ext cx="2057400" cy="114300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777240" y="2194560"/>
            <a:ext cx="2057400" cy="9144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777240" y="2395728"/>
            <a:ext cx="2057400" cy="457200"/>
          </a:xfrm>
          <a:prstGeom prst="rect">
            <a:avLst/>
          </a:prstGeom>
          <a:noFill/>
        </p:spPr>
        <p:txBody>
          <a:bodyPr wrap="square" anchor="t">
            <a:spAutoFit/>
          </a:bodyPr>
          <a:lstStyle/>
          <a:p>
            <a:pPr algn="ctr">
              <a:spcAft>
                <a:spcPts val="400"/>
              </a:spcAft>
            </a:pPr>
            <a:r>
              <a:rPr sz="1800" b="1">
                <a:solidFill>
                  <a:srgbClr val="1F6FEB"/>
                </a:solidFill>
                <a:latin typeface="Arial"/>
              </a:rPr>
              <a:t>AM</a:t>
            </a:r>
          </a:p>
        </p:txBody>
      </p:sp>
      <p:sp>
        <p:nvSpPr>
          <p:cNvPr id="11" name="TextBox 10"/>
          <p:cNvSpPr txBox="1"/>
          <p:nvPr/>
        </p:nvSpPr>
        <p:spPr>
          <a:xfrm>
            <a:off x="905256" y="2852928"/>
            <a:ext cx="1801368" cy="457200"/>
          </a:xfrm>
          <a:prstGeom prst="rect">
            <a:avLst/>
          </a:prstGeom>
          <a:noFill/>
        </p:spPr>
        <p:txBody>
          <a:bodyPr wrap="square" anchor="t">
            <a:spAutoFit/>
          </a:bodyPr>
          <a:lstStyle/>
          <a:p>
            <a:pPr algn="ctr">
              <a:spcAft>
                <a:spcPts val="400"/>
              </a:spcAft>
            </a:pPr>
            <a:r>
              <a:rPr sz="1050" b="0">
                <a:solidFill>
                  <a:srgbClr val="5B6372"/>
                </a:solidFill>
                <a:latin typeface="Arial"/>
              </a:rPr>
              <a:t>Start of the morning session</a:t>
            </a:r>
          </a:p>
        </p:txBody>
      </p:sp>
      <p:sp>
        <p:nvSpPr>
          <p:cNvPr id="12" name="Rectangle 11"/>
          <p:cNvSpPr/>
          <p:nvPr/>
        </p:nvSpPr>
        <p:spPr>
          <a:xfrm>
            <a:off x="3108960" y="2194560"/>
            <a:ext cx="2057400" cy="114300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3108960" y="2194560"/>
            <a:ext cx="2057400" cy="9144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3108960" y="2395728"/>
            <a:ext cx="2057400" cy="457200"/>
          </a:xfrm>
          <a:prstGeom prst="rect">
            <a:avLst/>
          </a:prstGeom>
          <a:noFill/>
        </p:spPr>
        <p:txBody>
          <a:bodyPr wrap="square" anchor="t">
            <a:spAutoFit/>
          </a:bodyPr>
          <a:lstStyle/>
          <a:p>
            <a:pPr algn="ctr">
              <a:spcAft>
                <a:spcPts val="400"/>
              </a:spcAft>
            </a:pPr>
            <a:r>
              <a:rPr sz="1800" b="1">
                <a:solidFill>
                  <a:srgbClr val="10B981"/>
                </a:solidFill>
                <a:latin typeface="Arial"/>
              </a:rPr>
              <a:t>PM</a:t>
            </a:r>
          </a:p>
        </p:txBody>
      </p:sp>
      <p:sp>
        <p:nvSpPr>
          <p:cNvPr id="15" name="TextBox 14"/>
          <p:cNvSpPr txBox="1"/>
          <p:nvPr/>
        </p:nvSpPr>
        <p:spPr>
          <a:xfrm>
            <a:off x="3236976" y="2852928"/>
            <a:ext cx="1801368" cy="457200"/>
          </a:xfrm>
          <a:prstGeom prst="rect">
            <a:avLst/>
          </a:prstGeom>
          <a:noFill/>
        </p:spPr>
        <p:txBody>
          <a:bodyPr wrap="square" anchor="t">
            <a:spAutoFit/>
          </a:bodyPr>
          <a:lstStyle/>
          <a:p>
            <a:pPr algn="ctr">
              <a:spcAft>
                <a:spcPts val="400"/>
              </a:spcAft>
            </a:pPr>
            <a:r>
              <a:rPr sz="1050" b="0">
                <a:solidFill>
                  <a:srgbClr val="5B6372"/>
                </a:solidFill>
                <a:latin typeface="Arial"/>
              </a:rPr>
              <a:t>Start of the afternoon session</a:t>
            </a:r>
          </a:p>
        </p:txBody>
      </p:sp>
      <p:sp>
        <p:nvSpPr>
          <p:cNvPr id="16" name="Rectangle 15"/>
          <p:cNvSpPr/>
          <p:nvPr/>
        </p:nvSpPr>
        <p:spPr>
          <a:xfrm>
            <a:off x="5440680" y="2194560"/>
            <a:ext cx="2057400" cy="114300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ectangle 16"/>
          <p:cNvSpPr/>
          <p:nvPr/>
        </p:nvSpPr>
        <p:spPr>
          <a:xfrm>
            <a:off x="5440680" y="2194560"/>
            <a:ext cx="2057400" cy="91440"/>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5440680" y="2395728"/>
            <a:ext cx="2057400" cy="457200"/>
          </a:xfrm>
          <a:prstGeom prst="rect">
            <a:avLst/>
          </a:prstGeom>
          <a:noFill/>
        </p:spPr>
        <p:txBody>
          <a:bodyPr wrap="square" anchor="t">
            <a:spAutoFit/>
          </a:bodyPr>
          <a:lstStyle/>
          <a:p>
            <a:pPr algn="ctr">
              <a:spcAft>
                <a:spcPts val="400"/>
              </a:spcAft>
            </a:pPr>
            <a:r>
              <a:rPr sz="1800" b="1">
                <a:solidFill>
                  <a:srgbClr val="7C3AED"/>
                </a:solidFill>
                <a:latin typeface="Arial"/>
              </a:rPr>
              <a:t>ASSESSMENT</a:t>
            </a:r>
          </a:p>
        </p:txBody>
      </p:sp>
      <p:sp>
        <p:nvSpPr>
          <p:cNvPr id="19" name="TextBox 18"/>
          <p:cNvSpPr txBox="1"/>
          <p:nvPr/>
        </p:nvSpPr>
        <p:spPr>
          <a:xfrm>
            <a:off x="5568696" y="2852928"/>
            <a:ext cx="1801368" cy="457200"/>
          </a:xfrm>
          <a:prstGeom prst="rect">
            <a:avLst/>
          </a:prstGeom>
          <a:noFill/>
        </p:spPr>
        <p:txBody>
          <a:bodyPr wrap="square" anchor="t">
            <a:spAutoFit/>
          </a:bodyPr>
          <a:lstStyle/>
          <a:p>
            <a:pPr algn="ctr">
              <a:spcAft>
                <a:spcPts val="400"/>
              </a:spcAft>
            </a:pPr>
            <a:r>
              <a:rPr sz="1050" b="0">
                <a:solidFill>
                  <a:srgbClr val="5B6372"/>
                </a:solidFill>
                <a:latin typeface="Arial"/>
              </a:rPr>
              <a:t>Before the Day 5 assessment</a:t>
            </a:r>
          </a:p>
        </p:txBody>
      </p:sp>
      <p:sp>
        <p:nvSpPr>
          <p:cNvPr id="20" name="Rectangle 19"/>
          <p:cNvSpPr/>
          <p:nvPr/>
        </p:nvSpPr>
        <p:spPr>
          <a:xfrm>
            <a:off x="777240" y="3566160"/>
            <a:ext cx="6720840" cy="548640"/>
          </a:xfrm>
          <a:prstGeom prst="rect">
            <a:avLst/>
          </a:prstGeom>
          <a:solidFill>
            <a:srgbClr val="FFFFFF"/>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Oval 20"/>
          <p:cNvSpPr/>
          <p:nvPr/>
        </p:nvSpPr>
        <p:spPr>
          <a:xfrm>
            <a:off x="941832" y="3639312"/>
            <a:ext cx="402336" cy="402336"/>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941832" y="3639312"/>
            <a:ext cx="402336" cy="402336"/>
          </a:xfrm>
          <a:prstGeom prst="rect">
            <a:avLst/>
          </a:prstGeom>
          <a:noFill/>
        </p:spPr>
        <p:txBody>
          <a:bodyPr wrap="square" anchor="ctr">
            <a:spAutoFit/>
          </a:bodyPr>
          <a:lstStyle/>
          <a:p>
            <a:pPr algn="ctr">
              <a:spcAft>
                <a:spcPts val="400"/>
              </a:spcAft>
            </a:pPr>
            <a:r>
              <a:rPr sz="1600" b="1">
                <a:solidFill>
                  <a:srgbClr val="FFFFFF"/>
                </a:solidFill>
                <a:latin typeface="Arial"/>
              </a:rPr>
              <a:t>1</a:t>
            </a:r>
          </a:p>
        </p:txBody>
      </p:sp>
      <p:sp>
        <p:nvSpPr>
          <p:cNvPr id="23" name="TextBox 22"/>
          <p:cNvSpPr txBox="1"/>
          <p:nvPr/>
        </p:nvSpPr>
        <p:spPr>
          <a:xfrm>
            <a:off x="1600200" y="3566160"/>
            <a:ext cx="5715000" cy="548640"/>
          </a:xfrm>
          <a:prstGeom prst="rect">
            <a:avLst/>
          </a:prstGeom>
          <a:noFill/>
        </p:spPr>
        <p:txBody>
          <a:bodyPr wrap="square" anchor="ctr">
            <a:spAutoFit/>
          </a:bodyPr>
          <a:lstStyle/>
          <a:p>
            <a:pPr algn="l">
              <a:spcAft>
                <a:spcPts val="400"/>
              </a:spcAft>
            </a:pPr>
            <a:r>
              <a:rPr sz="1200" b="0">
                <a:solidFill>
                  <a:srgbClr val="161B26"/>
                </a:solidFill>
                <a:latin typeface="Arial"/>
              </a:rPr>
              <a:t>The trainer/administrator displays the SSG digital-attendance QR code from the portal.</a:t>
            </a:r>
          </a:p>
        </p:txBody>
      </p:sp>
      <p:sp>
        <p:nvSpPr>
          <p:cNvPr id="24" name="Rectangle 23"/>
          <p:cNvSpPr/>
          <p:nvPr/>
        </p:nvSpPr>
        <p:spPr>
          <a:xfrm>
            <a:off x="777240" y="4224528"/>
            <a:ext cx="6720840" cy="548640"/>
          </a:xfrm>
          <a:prstGeom prst="rect">
            <a:avLst/>
          </a:prstGeom>
          <a:solidFill>
            <a:srgbClr val="FFFFFF"/>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Oval 24"/>
          <p:cNvSpPr/>
          <p:nvPr/>
        </p:nvSpPr>
        <p:spPr>
          <a:xfrm>
            <a:off x="941832" y="4297680"/>
            <a:ext cx="402336" cy="402336"/>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941832" y="4297680"/>
            <a:ext cx="402336" cy="402336"/>
          </a:xfrm>
          <a:prstGeom prst="rect">
            <a:avLst/>
          </a:prstGeom>
          <a:noFill/>
        </p:spPr>
        <p:txBody>
          <a:bodyPr wrap="square" anchor="ctr">
            <a:spAutoFit/>
          </a:bodyPr>
          <a:lstStyle/>
          <a:p>
            <a:pPr algn="ctr">
              <a:spcAft>
                <a:spcPts val="400"/>
              </a:spcAft>
            </a:pPr>
            <a:r>
              <a:rPr sz="1600" b="1">
                <a:solidFill>
                  <a:srgbClr val="FFFFFF"/>
                </a:solidFill>
                <a:latin typeface="Arial"/>
              </a:rPr>
              <a:t>2</a:t>
            </a:r>
          </a:p>
        </p:txBody>
      </p:sp>
      <p:sp>
        <p:nvSpPr>
          <p:cNvPr id="27" name="TextBox 26"/>
          <p:cNvSpPr txBox="1"/>
          <p:nvPr/>
        </p:nvSpPr>
        <p:spPr>
          <a:xfrm>
            <a:off x="1600200" y="4224528"/>
            <a:ext cx="5715000" cy="548640"/>
          </a:xfrm>
          <a:prstGeom prst="rect">
            <a:avLst/>
          </a:prstGeom>
          <a:noFill/>
        </p:spPr>
        <p:txBody>
          <a:bodyPr wrap="square" anchor="ctr">
            <a:spAutoFit/>
          </a:bodyPr>
          <a:lstStyle/>
          <a:p>
            <a:pPr algn="l">
              <a:spcAft>
                <a:spcPts val="400"/>
              </a:spcAft>
            </a:pPr>
            <a:r>
              <a:rPr sz="1200" b="0">
                <a:solidFill>
                  <a:srgbClr val="161B26"/>
                </a:solidFill>
                <a:latin typeface="Arial"/>
              </a:rPr>
              <a:t>Scan the QR code with your mobile phone camera and submit your attendance.</a:t>
            </a:r>
          </a:p>
        </p:txBody>
      </p:sp>
      <p:sp>
        <p:nvSpPr>
          <p:cNvPr id="28" name="Rectangle 27"/>
          <p:cNvSpPr/>
          <p:nvPr/>
        </p:nvSpPr>
        <p:spPr>
          <a:xfrm>
            <a:off x="777240" y="4882896"/>
            <a:ext cx="6720840" cy="548640"/>
          </a:xfrm>
          <a:prstGeom prst="rect">
            <a:avLst/>
          </a:prstGeom>
          <a:solidFill>
            <a:srgbClr val="FFFFFF"/>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Oval 28"/>
          <p:cNvSpPr/>
          <p:nvPr/>
        </p:nvSpPr>
        <p:spPr>
          <a:xfrm>
            <a:off x="941832" y="4956048"/>
            <a:ext cx="402336" cy="402336"/>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941832" y="4956048"/>
            <a:ext cx="402336" cy="402336"/>
          </a:xfrm>
          <a:prstGeom prst="rect">
            <a:avLst/>
          </a:prstGeom>
          <a:noFill/>
        </p:spPr>
        <p:txBody>
          <a:bodyPr wrap="square" anchor="ctr">
            <a:spAutoFit/>
          </a:bodyPr>
          <a:lstStyle/>
          <a:p>
            <a:pPr algn="ctr">
              <a:spcAft>
                <a:spcPts val="400"/>
              </a:spcAft>
            </a:pPr>
            <a:r>
              <a:rPr sz="1600" b="1">
                <a:solidFill>
                  <a:srgbClr val="FFFFFF"/>
                </a:solidFill>
                <a:latin typeface="Arial"/>
              </a:rPr>
              <a:t>3</a:t>
            </a:r>
          </a:p>
        </p:txBody>
      </p:sp>
      <p:sp>
        <p:nvSpPr>
          <p:cNvPr id="31" name="TextBox 30"/>
          <p:cNvSpPr txBox="1"/>
          <p:nvPr/>
        </p:nvSpPr>
        <p:spPr>
          <a:xfrm>
            <a:off x="1600200" y="4882896"/>
            <a:ext cx="5715000" cy="548640"/>
          </a:xfrm>
          <a:prstGeom prst="rect">
            <a:avLst/>
          </a:prstGeom>
          <a:noFill/>
        </p:spPr>
        <p:txBody>
          <a:bodyPr wrap="square" anchor="ctr">
            <a:spAutoFit/>
          </a:bodyPr>
          <a:lstStyle/>
          <a:p>
            <a:pPr algn="l">
              <a:spcAft>
                <a:spcPts val="400"/>
              </a:spcAft>
            </a:pPr>
            <a:r>
              <a:rPr sz="1200" b="0">
                <a:solidFill>
                  <a:srgbClr val="161B26"/>
                </a:solidFill>
                <a:latin typeface="Arial"/>
              </a:rPr>
              <a:t>It is mandatory for AM, PM and the Assessment sessions on WSQ-funded courses.</a:t>
            </a:r>
          </a:p>
        </p:txBody>
      </p:sp>
      <p:sp>
        <p:nvSpPr>
          <p:cNvPr id="32" name="Rectangle 31"/>
          <p:cNvSpPr/>
          <p:nvPr/>
        </p:nvSpPr>
        <p:spPr>
          <a:xfrm>
            <a:off x="7818120" y="1737360"/>
            <a:ext cx="3566160" cy="370332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Rectangle 32"/>
          <p:cNvSpPr/>
          <p:nvPr/>
        </p:nvSpPr>
        <p:spPr>
          <a:xfrm>
            <a:off x="7818120" y="1737360"/>
            <a:ext cx="3566160" cy="9144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TextBox 33"/>
          <p:cNvSpPr txBox="1"/>
          <p:nvPr/>
        </p:nvSpPr>
        <p:spPr>
          <a:xfrm>
            <a:off x="7818120" y="1938528"/>
            <a:ext cx="3566160" cy="365760"/>
          </a:xfrm>
          <a:prstGeom prst="rect">
            <a:avLst/>
          </a:prstGeom>
          <a:noFill/>
        </p:spPr>
        <p:txBody>
          <a:bodyPr wrap="square" anchor="t">
            <a:spAutoFit/>
          </a:bodyPr>
          <a:lstStyle/>
          <a:p>
            <a:pPr algn="ctr">
              <a:spcAft>
                <a:spcPts val="400"/>
              </a:spcAft>
            </a:pPr>
            <a:r>
              <a:rPr sz="1100" b="1">
                <a:solidFill>
                  <a:srgbClr val="10B981"/>
                </a:solidFill>
                <a:latin typeface="Arial"/>
              </a:rPr>
              <a:t>SCAN TO SUBMIT ATTENDANCE</a:t>
            </a:r>
          </a:p>
        </p:txBody>
      </p:sp>
      <p:sp>
        <p:nvSpPr>
          <p:cNvPr id="35" name="Rectangle 34"/>
          <p:cNvSpPr/>
          <p:nvPr/>
        </p:nvSpPr>
        <p:spPr>
          <a:xfrm>
            <a:off x="8435340" y="2377440"/>
            <a:ext cx="2331720" cy="2331720"/>
          </a:xfrm>
          <a:prstGeom prst="rect">
            <a:avLst/>
          </a:prstGeom>
          <a:solidFill>
            <a:srgbClr val="FFFFFF"/>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Rectangle 35"/>
          <p:cNvSpPr/>
          <p:nvPr/>
        </p:nvSpPr>
        <p:spPr>
          <a:xfrm>
            <a:off x="9532620" y="2788920"/>
            <a:ext cx="137160" cy="137160"/>
          </a:xfrm>
          <a:prstGeom prst="rect">
            <a:avLst/>
          </a:prstGeom>
          <a:solidFill>
            <a:srgbClr val="161B2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7" name="Rectangle 36"/>
          <p:cNvSpPr/>
          <p:nvPr/>
        </p:nvSpPr>
        <p:spPr>
          <a:xfrm>
            <a:off x="9532620" y="3200400"/>
            <a:ext cx="137160" cy="137160"/>
          </a:xfrm>
          <a:prstGeom prst="rect">
            <a:avLst/>
          </a:prstGeom>
          <a:solidFill>
            <a:srgbClr val="161B2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8" name="Rectangle 37"/>
          <p:cNvSpPr/>
          <p:nvPr/>
        </p:nvSpPr>
        <p:spPr>
          <a:xfrm>
            <a:off x="8572500" y="3474720"/>
            <a:ext cx="137160" cy="137160"/>
          </a:xfrm>
          <a:prstGeom prst="rect">
            <a:avLst/>
          </a:prstGeom>
          <a:solidFill>
            <a:srgbClr val="161B2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9" name="Rectangle 38"/>
          <p:cNvSpPr/>
          <p:nvPr/>
        </p:nvSpPr>
        <p:spPr>
          <a:xfrm>
            <a:off x="8983980" y="3474720"/>
            <a:ext cx="137160" cy="137160"/>
          </a:xfrm>
          <a:prstGeom prst="rect">
            <a:avLst/>
          </a:prstGeom>
          <a:solidFill>
            <a:srgbClr val="161B2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0" name="Rectangle 39"/>
          <p:cNvSpPr/>
          <p:nvPr/>
        </p:nvSpPr>
        <p:spPr>
          <a:xfrm>
            <a:off x="9395460" y="3474720"/>
            <a:ext cx="137160" cy="137160"/>
          </a:xfrm>
          <a:prstGeom prst="rect">
            <a:avLst/>
          </a:prstGeom>
          <a:solidFill>
            <a:srgbClr val="161B2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1" name="Rectangle 40"/>
          <p:cNvSpPr/>
          <p:nvPr/>
        </p:nvSpPr>
        <p:spPr>
          <a:xfrm>
            <a:off x="9806940" y="3474720"/>
            <a:ext cx="137160" cy="137160"/>
          </a:xfrm>
          <a:prstGeom prst="rect">
            <a:avLst/>
          </a:prstGeom>
          <a:solidFill>
            <a:srgbClr val="161B2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2" name="Rectangle 41"/>
          <p:cNvSpPr/>
          <p:nvPr/>
        </p:nvSpPr>
        <p:spPr>
          <a:xfrm>
            <a:off x="10218420" y="3474720"/>
            <a:ext cx="137160" cy="137160"/>
          </a:xfrm>
          <a:prstGeom prst="rect">
            <a:avLst/>
          </a:prstGeom>
          <a:solidFill>
            <a:srgbClr val="161B2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3" name="Rectangle 42"/>
          <p:cNvSpPr/>
          <p:nvPr/>
        </p:nvSpPr>
        <p:spPr>
          <a:xfrm>
            <a:off x="9532620" y="3611880"/>
            <a:ext cx="137160" cy="137160"/>
          </a:xfrm>
          <a:prstGeom prst="rect">
            <a:avLst/>
          </a:prstGeom>
          <a:solidFill>
            <a:srgbClr val="161B2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4" name="Rectangle 43"/>
          <p:cNvSpPr/>
          <p:nvPr/>
        </p:nvSpPr>
        <p:spPr>
          <a:xfrm>
            <a:off x="9669780" y="3611880"/>
            <a:ext cx="137160" cy="137160"/>
          </a:xfrm>
          <a:prstGeom prst="rect">
            <a:avLst/>
          </a:prstGeom>
          <a:solidFill>
            <a:srgbClr val="161B2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5" name="Rectangle 44"/>
          <p:cNvSpPr/>
          <p:nvPr/>
        </p:nvSpPr>
        <p:spPr>
          <a:xfrm>
            <a:off x="9806940" y="3611880"/>
            <a:ext cx="137160" cy="137160"/>
          </a:xfrm>
          <a:prstGeom prst="rect">
            <a:avLst/>
          </a:prstGeom>
          <a:solidFill>
            <a:srgbClr val="161B2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6" name="Rectangle 45"/>
          <p:cNvSpPr/>
          <p:nvPr/>
        </p:nvSpPr>
        <p:spPr>
          <a:xfrm>
            <a:off x="9944100" y="3611880"/>
            <a:ext cx="137160" cy="137160"/>
          </a:xfrm>
          <a:prstGeom prst="rect">
            <a:avLst/>
          </a:prstGeom>
          <a:solidFill>
            <a:srgbClr val="161B2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7" name="Rectangle 46"/>
          <p:cNvSpPr/>
          <p:nvPr/>
        </p:nvSpPr>
        <p:spPr>
          <a:xfrm>
            <a:off x="10081260" y="3611880"/>
            <a:ext cx="137160" cy="137160"/>
          </a:xfrm>
          <a:prstGeom prst="rect">
            <a:avLst/>
          </a:prstGeom>
          <a:solidFill>
            <a:srgbClr val="161B2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8" name="Rectangle 47"/>
          <p:cNvSpPr/>
          <p:nvPr/>
        </p:nvSpPr>
        <p:spPr>
          <a:xfrm>
            <a:off x="10218420" y="3611880"/>
            <a:ext cx="137160" cy="137160"/>
          </a:xfrm>
          <a:prstGeom prst="rect">
            <a:avLst/>
          </a:prstGeom>
          <a:solidFill>
            <a:srgbClr val="161B2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9" name="Rectangle 48"/>
          <p:cNvSpPr/>
          <p:nvPr/>
        </p:nvSpPr>
        <p:spPr>
          <a:xfrm>
            <a:off x="10355580" y="3611880"/>
            <a:ext cx="137160" cy="137160"/>
          </a:xfrm>
          <a:prstGeom prst="rect">
            <a:avLst/>
          </a:prstGeom>
          <a:solidFill>
            <a:srgbClr val="161B2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0" name="Rectangle 49"/>
          <p:cNvSpPr/>
          <p:nvPr/>
        </p:nvSpPr>
        <p:spPr>
          <a:xfrm>
            <a:off x="10492740" y="3611880"/>
            <a:ext cx="137160" cy="137160"/>
          </a:xfrm>
          <a:prstGeom prst="rect">
            <a:avLst/>
          </a:prstGeom>
          <a:solidFill>
            <a:srgbClr val="161B2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1" name="Rectangle 50"/>
          <p:cNvSpPr/>
          <p:nvPr/>
        </p:nvSpPr>
        <p:spPr>
          <a:xfrm>
            <a:off x="9806940" y="3749040"/>
            <a:ext cx="137160" cy="137160"/>
          </a:xfrm>
          <a:prstGeom prst="rect">
            <a:avLst/>
          </a:prstGeom>
          <a:solidFill>
            <a:srgbClr val="161B2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2" name="Rectangle 51"/>
          <p:cNvSpPr/>
          <p:nvPr/>
        </p:nvSpPr>
        <p:spPr>
          <a:xfrm>
            <a:off x="10218420" y="3749040"/>
            <a:ext cx="137160" cy="137160"/>
          </a:xfrm>
          <a:prstGeom prst="rect">
            <a:avLst/>
          </a:prstGeom>
          <a:solidFill>
            <a:srgbClr val="161B2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3" name="Rectangle 52"/>
          <p:cNvSpPr/>
          <p:nvPr/>
        </p:nvSpPr>
        <p:spPr>
          <a:xfrm>
            <a:off x="9806940" y="3886200"/>
            <a:ext cx="137160" cy="137160"/>
          </a:xfrm>
          <a:prstGeom prst="rect">
            <a:avLst/>
          </a:prstGeom>
          <a:solidFill>
            <a:srgbClr val="161B2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4" name="Rectangle 53"/>
          <p:cNvSpPr/>
          <p:nvPr/>
        </p:nvSpPr>
        <p:spPr>
          <a:xfrm>
            <a:off x="10218420" y="3886200"/>
            <a:ext cx="137160" cy="137160"/>
          </a:xfrm>
          <a:prstGeom prst="rect">
            <a:avLst/>
          </a:prstGeom>
          <a:solidFill>
            <a:srgbClr val="161B2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5" name="Rectangle 54"/>
          <p:cNvSpPr/>
          <p:nvPr/>
        </p:nvSpPr>
        <p:spPr>
          <a:xfrm>
            <a:off x="9532620" y="4023360"/>
            <a:ext cx="137160" cy="137160"/>
          </a:xfrm>
          <a:prstGeom prst="rect">
            <a:avLst/>
          </a:prstGeom>
          <a:solidFill>
            <a:srgbClr val="161B2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6" name="Rectangle 55"/>
          <p:cNvSpPr/>
          <p:nvPr/>
        </p:nvSpPr>
        <p:spPr>
          <a:xfrm>
            <a:off x="9669780" y="4023360"/>
            <a:ext cx="137160" cy="137160"/>
          </a:xfrm>
          <a:prstGeom prst="rect">
            <a:avLst/>
          </a:prstGeom>
          <a:solidFill>
            <a:srgbClr val="161B2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7" name="Rectangle 56"/>
          <p:cNvSpPr/>
          <p:nvPr/>
        </p:nvSpPr>
        <p:spPr>
          <a:xfrm>
            <a:off x="9806940" y="4023360"/>
            <a:ext cx="137160" cy="137160"/>
          </a:xfrm>
          <a:prstGeom prst="rect">
            <a:avLst/>
          </a:prstGeom>
          <a:solidFill>
            <a:srgbClr val="161B2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8" name="Rectangle 57"/>
          <p:cNvSpPr/>
          <p:nvPr/>
        </p:nvSpPr>
        <p:spPr>
          <a:xfrm>
            <a:off x="9944100" y="4023360"/>
            <a:ext cx="137160" cy="137160"/>
          </a:xfrm>
          <a:prstGeom prst="rect">
            <a:avLst/>
          </a:prstGeom>
          <a:solidFill>
            <a:srgbClr val="161B2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9" name="Rectangle 58"/>
          <p:cNvSpPr/>
          <p:nvPr/>
        </p:nvSpPr>
        <p:spPr>
          <a:xfrm>
            <a:off x="10081260" y="4023360"/>
            <a:ext cx="137160" cy="137160"/>
          </a:xfrm>
          <a:prstGeom prst="rect">
            <a:avLst/>
          </a:prstGeom>
          <a:solidFill>
            <a:srgbClr val="161B2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0" name="Rectangle 59"/>
          <p:cNvSpPr/>
          <p:nvPr/>
        </p:nvSpPr>
        <p:spPr>
          <a:xfrm>
            <a:off x="10218420" y="4023360"/>
            <a:ext cx="137160" cy="137160"/>
          </a:xfrm>
          <a:prstGeom prst="rect">
            <a:avLst/>
          </a:prstGeom>
          <a:solidFill>
            <a:srgbClr val="161B2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1" name="Rectangle 60"/>
          <p:cNvSpPr/>
          <p:nvPr/>
        </p:nvSpPr>
        <p:spPr>
          <a:xfrm>
            <a:off x="10355580" y="4023360"/>
            <a:ext cx="137160" cy="137160"/>
          </a:xfrm>
          <a:prstGeom prst="rect">
            <a:avLst/>
          </a:prstGeom>
          <a:solidFill>
            <a:srgbClr val="161B2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2" name="Rectangle 61"/>
          <p:cNvSpPr/>
          <p:nvPr/>
        </p:nvSpPr>
        <p:spPr>
          <a:xfrm>
            <a:off x="10492740" y="4023360"/>
            <a:ext cx="137160" cy="137160"/>
          </a:xfrm>
          <a:prstGeom prst="rect">
            <a:avLst/>
          </a:prstGeom>
          <a:solidFill>
            <a:srgbClr val="161B2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3" name="Rectangle 62"/>
          <p:cNvSpPr/>
          <p:nvPr/>
        </p:nvSpPr>
        <p:spPr>
          <a:xfrm>
            <a:off x="9806940" y="4160520"/>
            <a:ext cx="137160" cy="137160"/>
          </a:xfrm>
          <a:prstGeom prst="rect">
            <a:avLst/>
          </a:prstGeom>
          <a:solidFill>
            <a:srgbClr val="161B2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4" name="Rectangle 63"/>
          <p:cNvSpPr/>
          <p:nvPr/>
        </p:nvSpPr>
        <p:spPr>
          <a:xfrm>
            <a:off x="10218420" y="4160520"/>
            <a:ext cx="137160" cy="137160"/>
          </a:xfrm>
          <a:prstGeom prst="rect">
            <a:avLst/>
          </a:prstGeom>
          <a:solidFill>
            <a:srgbClr val="161B2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5" name="Rectangle 64"/>
          <p:cNvSpPr/>
          <p:nvPr/>
        </p:nvSpPr>
        <p:spPr>
          <a:xfrm>
            <a:off x="9806940" y="4297680"/>
            <a:ext cx="137160" cy="137160"/>
          </a:xfrm>
          <a:prstGeom prst="rect">
            <a:avLst/>
          </a:prstGeom>
          <a:solidFill>
            <a:srgbClr val="161B2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6" name="Rectangle 65"/>
          <p:cNvSpPr/>
          <p:nvPr/>
        </p:nvSpPr>
        <p:spPr>
          <a:xfrm>
            <a:off x="10218420" y="4297680"/>
            <a:ext cx="137160" cy="137160"/>
          </a:xfrm>
          <a:prstGeom prst="rect">
            <a:avLst/>
          </a:prstGeom>
          <a:solidFill>
            <a:srgbClr val="161B2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7" name="Rectangle 66"/>
          <p:cNvSpPr/>
          <p:nvPr/>
        </p:nvSpPr>
        <p:spPr>
          <a:xfrm>
            <a:off x="9532620" y="4434840"/>
            <a:ext cx="137160" cy="137160"/>
          </a:xfrm>
          <a:prstGeom prst="rect">
            <a:avLst/>
          </a:prstGeom>
          <a:solidFill>
            <a:srgbClr val="161B2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8" name="Rectangle 67"/>
          <p:cNvSpPr/>
          <p:nvPr/>
        </p:nvSpPr>
        <p:spPr>
          <a:xfrm>
            <a:off x="9669780" y="4434840"/>
            <a:ext cx="137160" cy="137160"/>
          </a:xfrm>
          <a:prstGeom prst="rect">
            <a:avLst/>
          </a:prstGeom>
          <a:solidFill>
            <a:srgbClr val="161B2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9" name="Rectangle 68"/>
          <p:cNvSpPr/>
          <p:nvPr/>
        </p:nvSpPr>
        <p:spPr>
          <a:xfrm>
            <a:off x="9806940" y="4434840"/>
            <a:ext cx="137160" cy="137160"/>
          </a:xfrm>
          <a:prstGeom prst="rect">
            <a:avLst/>
          </a:prstGeom>
          <a:solidFill>
            <a:srgbClr val="161B2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0" name="Rectangle 69"/>
          <p:cNvSpPr/>
          <p:nvPr/>
        </p:nvSpPr>
        <p:spPr>
          <a:xfrm>
            <a:off x="9944100" y="4434840"/>
            <a:ext cx="137160" cy="137160"/>
          </a:xfrm>
          <a:prstGeom prst="rect">
            <a:avLst/>
          </a:prstGeom>
          <a:solidFill>
            <a:srgbClr val="161B2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1" name="Rectangle 70"/>
          <p:cNvSpPr/>
          <p:nvPr/>
        </p:nvSpPr>
        <p:spPr>
          <a:xfrm>
            <a:off x="10081260" y="4434840"/>
            <a:ext cx="137160" cy="137160"/>
          </a:xfrm>
          <a:prstGeom prst="rect">
            <a:avLst/>
          </a:prstGeom>
          <a:solidFill>
            <a:srgbClr val="161B2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2" name="Rectangle 71"/>
          <p:cNvSpPr/>
          <p:nvPr/>
        </p:nvSpPr>
        <p:spPr>
          <a:xfrm>
            <a:off x="10218420" y="4434840"/>
            <a:ext cx="137160" cy="137160"/>
          </a:xfrm>
          <a:prstGeom prst="rect">
            <a:avLst/>
          </a:prstGeom>
          <a:solidFill>
            <a:srgbClr val="161B2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3" name="Rectangle 72"/>
          <p:cNvSpPr/>
          <p:nvPr/>
        </p:nvSpPr>
        <p:spPr>
          <a:xfrm>
            <a:off x="10355580" y="4434840"/>
            <a:ext cx="137160" cy="137160"/>
          </a:xfrm>
          <a:prstGeom prst="rect">
            <a:avLst/>
          </a:prstGeom>
          <a:solidFill>
            <a:srgbClr val="161B2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4" name="Rectangle 73"/>
          <p:cNvSpPr/>
          <p:nvPr/>
        </p:nvSpPr>
        <p:spPr>
          <a:xfrm>
            <a:off x="10492740" y="4434840"/>
            <a:ext cx="137160" cy="137160"/>
          </a:xfrm>
          <a:prstGeom prst="rect">
            <a:avLst/>
          </a:prstGeom>
          <a:solidFill>
            <a:srgbClr val="161B2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5" name="Rectangle 74"/>
          <p:cNvSpPr/>
          <p:nvPr/>
        </p:nvSpPr>
        <p:spPr>
          <a:xfrm>
            <a:off x="8572500" y="2514600"/>
            <a:ext cx="137160" cy="137160"/>
          </a:xfrm>
          <a:prstGeom prst="rect">
            <a:avLst/>
          </a:prstGeom>
          <a:solidFill>
            <a:srgbClr val="161B2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6" name="Rectangle 75"/>
          <p:cNvSpPr/>
          <p:nvPr/>
        </p:nvSpPr>
        <p:spPr>
          <a:xfrm>
            <a:off x="8709660" y="2514600"/>
            <a:ext cx="137160" cy="137160"/>
          </a:xfrm>
          <a:prstGeom prst="rect">
            <a:avLst/>
          </a:prstGeom>
          <a:solidFill>
            <a:srgbClr val="161B2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7" name="Rectangle 76"/>
          <p:cNvSpPr/>
          <p:nvPr/>
        </p:nvSpPr>
        <p:spPr>
          <a:xfrm>
            <a:off x="8846820" y="2514600"/>
            <a:ext cx="137160" cy="137160"/>
          </a:xfrm>
          <a:prstGeom prst="rect">
            <a:avLst/>
          </a:prstGeom>
          <a:solidFill>
            <a:srgbClr val="161B2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8" name="Rectangle 77"/>
          <p:cNvSpPr/>
          <p:nvPr/>
        </p:nvSpPr>
        <p:spPr>
          <a:xfrm>
            <a:off x="8983980" y="2514600"/>
            <a:ext cx="137160" cy="137160"/>
          </a:xfrm>
          <a:prstGeom prst="rect">
            <a:avLst/>
          </a:prstGeom>
          <a:solidFill>
            <a:srgbClr val="161B2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9" name="Rectangle 78"/>
          <p:cNvSpPr/>
          <p:nvPr/>
        </p:nvSpPr>
        <p:spPr>
          <a:xfrm>
            <a:off x="9121140" y="2514600"/>
            <a:ext cx="137160" cy="137160"/>
          </a:xfrm>
          <a:prstGeom prst="rect">
            <a:avLst/>
          </a:prstGeom>
          <a:solidFill>
            <a:srgbClr val="161B2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0" name="Rectangle 79"/>
          <p:cNvSpPr/>
          <p:nvPr/>
        </p:nvSpPr>
        <p:spPr>
          <a:xfrm>
            <a:off x="9258300" y="2514600"/>
            <a:ext cx="137160" cy="137160"/>
          </a:xfrm>
          <a:prstGeom prst="rect">
            <a:avLst/>
          </a:prstGeom>
          <a:solidFill>
            <a:srgbClr val="161B2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1" name="Rectangle 80"/>
          <p:cNvSpPr/>
          <p:nvPr/>
        </p:nvSpPr>
        <p:spPr>
          <a:xfrm>
            <a:off x="9395460" y="2514600"/>
            <a:ext cx="137160" cy="137160"/>
          </a:xfrm>
          <a:prstGeom prst="rect">
            <a:avLst/>
          </a:prstGeom>
          <a:solidFill>
            <a:srgbClr val="161B2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2" name="Rectangle 81"/>
          <p:cNvSpPr/>
          <p:nvPr/>
        </p:nvSpPr>
        <p:spPr>
          <a:xfrm>
            <a:off x="8572500" y="2651760"/>
            <a:ext cx="137160" cy="137160"/>
          </a:xfrm>
          <a:prstGeom prst="rect">
            <a:avLst/>
          </a:prstGeom>
          <a:solidFill>
            <a:srgbClr val="161B2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3" name="Rectangle 82"/>
          <p:cNvSpPr/>
          <p:nvPr/>
        </p:nvSpPr>
        <p:spPr>
          <a:xfrm>
            <a:off x="9395460" y="2651760"/>
            <a:ext cx="137160" cy="137160"/>
          </a:xfrm>
          <a:prstGeom prst="rect">
            <a:avLst/>
          </a:prstGeom>
          <a:solidFill>
            <a:srgbClr val="161B2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4" name="Rectangle 83"/>
          <p:cNvSpPr/>
          <p:nvPr/>
        </p:nvSpPr>
        <p:spPr>
          <a:xfrm>
            <a:off x="8572500" y="2788920"/>
            <a:ext cx="137160" cy="137160"/>
          </a:xfrm>
          <a:prstGeom prst="rect">
            <a:avLst/>
          </a:prstGeom>
          <a:solidFill>
            <a:srgbClr val="161B2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5" name="Rectangle 84"/>
          <p:cNvSpPr/>
          <p:nvPr/>
        </p:nvSpPr>
        <p:spPr>
          <a:xfrm>
            <a:off x="8846820" y="2788920"/>
            <a:ext cx="137160" cy="137160"/>
          </a:xfrm>
          <a:prstGeom prst="rect">
            <a:avLst/>
          </a:prstGeom>
          <a:solidFill>
            <a:srgbClr val="161B2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6" name="Rectangle 85"/>
          <p:cNvSpPr/>
          <p:nvPr/>
        </p:nvSpPr>
        <p:spPr>
          <a:xfrm>
            <a:off x="8983980" y="2788920"/>
            <a:ext cx="137160" cy="137160"/>
          </a:xfrm>
          <a:prstGeom prst="rect">
            <a:avLst/>
          </a:prstGeom>
          <a:solidFill>
            <a:srgbClr val="161B2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7" name="Rectangle 86"/>
          <p:cNvSpPr/>
          <p:nvPr/>
        </p:nvSpPr>
        <p:spPr>
          <a:xfrm>
            <a:off x="9121140" y="2788920"/>
            <a:ext cx="137160" cy="137160"/>
          </a:xfrm>
          <a:prstGeom prst="rect">
            <a:avLst/>
          </a:prstGeom>
          <a:solidFill>
            <a:srgbClr val="161B2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8" name="Rectangle 87"/>
          <p:cNvSpPr/>
          <p:nvPr/>
        </p:nvSpPr>
        <p:spPr>
          <a:xfrm>
            <a:off x="9395460" y="2788920"/>
            <a:ext cx="137160" cy="137160"/>
          </a:xfrm>
          <a:prstGeom prst="rect">
            <a:avLst/>
          </a:prstGeom>
          <a:solidFill>
            <a:srgbClr val="161B2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9" name="Rectangle 88"/>
          <p:cNvSpPr/>
          <p:nvPr/>
        </p:nvSpPr>
        <p:spPr>
          <a:xfrm>
            <a:off x="8572500" y="2926080"/>
            <a:ext cx="137160" cy="137160"/>
          </a:xfrm>
          <a:prstGeom prst="rect">
            <a:avLst/>
          </a:prstGeom>
          <a:solidFill>
            <a:srgbClr val="161B2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0" name="Rectangle 89"/>
          <p:cNvSpPr/>
          <p:nvPr/>
        </p:nvSpPr>
        <p:spPr>
          <a:xfrm>
            <a:off x="8846820" y="2926080"/>
            <a:ext cx="137160" cy="137160"/>
          </a:xfrm>
          <a:prstGeom prst="rect">
            <a:avLst/>
          </a:prstGeom>
          <a:solidFill>
            <a:srgbClr val="161B2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1" name="Rectangle 90"/>
          <p:cNvSpPr/>
          <p:nvPr/>
        </p:nvSpPr>
        <p:spPr>
          <a:xfrm>
            <a:off x="8983980" y="2926080"/>
            <a:ext cx="137160" cy="137160"/>
          </a:xfrm>
          <a:prstGeom prst="rect">
            <a:avLst/>
          </a:prstGeom>
          <a:solidFill>
            <a:srgbClr val="161B2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2" name="Rectangle 91"/>
          <p:cNvSpPr/>
          <p:nvPr/>
        </p:nvSpPr>
        <p:spPr>
          <a:xfrm>
            <a:off x="9121140" y="2926080"/>
            <a:ext cx="137160" cy="137160"/>
          </a:xfrm>
          <a:prstGeom prst="rect">
            <a:avLst/>
          </a:prstGeom>
          <a:solidFill>
            <a:srgbClr val="161B2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3" name="Rectangle 92"/>
          <p:cNvSpPr/>
          <p:nvPr/>
        </p:nvSpPr>
        <p:spPr>
          <a:xfrm>
            <a:off x="9395460" y="2926080"/>
            <a:ext cx="137160" cy="137160"/>
          </a:xfrm>
          <a:prstGeom prst="rect">
            <a:avLst/>
          </a:prstGeom>
          <a:solidFill>
            <a:srgbClr val="161B2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4" name="Rectangle 93"/>
          <p:cNvSpPr/>
          <p:nvPr/>
        </p:nvSpPr>
        <p:spPr>
          <a:xfrm>
            <a:off x="8572500" y="3063240"/>
            <a:ext cx="137160" cy="137160"/>
          </a:xfrm>
          <a:prstGeom prst="rect">
            <a:avLst/>
          </a:prstGeom>
          <a:solidFill>
            <a:srgbClr val="161B2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5" name="Rectangle 94"/>
          <p:cNvSpPr/>
          <p:nvPr/>
        </p:nvSpPr>
        <p:spPr>
          <a:xfrm>
            <a:off x="8846820" y="3063240"/>
            <a:ext cx="137160" cy="137160"/>
          </a:xfrm>
          <a:prstGeom prst="rect">
            <a:avLst/>
          </a:prstGeom>
          <a:solidFill>
            <a:srgbClr val="161B2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6" name="Rectangle 95"/>
          <p:cNvSpPr/>
          <p:nvPr/>
        </p:nvSpPr>
        <p:spPr>
          <a:xfrm>
            <a:off x="8983980" y="3063240"/>
            <a:ext cx="137160" cy="137160"/>
          </a:xfrm>
          <a:prstGeom prst="rect">
            <a:avLst/>
          </a:prstGeom>
          <a:solidFill>
            <a:srgbClr val="161B2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7" name="Rectangle 96"/>
          <p:cNvSpPr/>
          <p:nvPr/>
        </p:nvSpPr>
        <p:spPr>
          <a:xfrm>
            <a:off x="9121140" y="3063240"/>
            <a:ext cx="137160" cy="137160"/>
          </a:xfrm>
          <a:prstGeom prst="rect">
            <a:avLst/>
          </a:prstGeom>
          <a:solidFill>
            <a:srgbClr val="161B2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8" name="Rectangle 97"/>
          <p:cNvSpPr/>
          <p:nvPr/>
        </p:nvSpPr>
        <p:spPr>
          <a:xfrm>
            <a:off x="9395460" y="3063240"/>
            <a:ext cx="137160" cy="137160"/>
          </a:xfrm>
          <a:prstGeom prst="rect">
            <a:avLst/>
          </a:prstGeom>
          <a:solidFill>
            <a:srgbClr val="161B2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9" name="Rectangle 98"/>
          <p:cNvSpPr/>
          <p:nvPr/>
        </p:nvSpPr>
        <p:spPr>
          <a:xfrm>
            <a:off x="8572500" y="3200400"/>
            <a:ext cx="137160" cy="137160"/>
          </a:xfrm>
          <a:prstGeom prst="rect">
            <a:avLst/>
          </a:prstGeom>
          <a:solidFill>
            <a:srgbClr val="161B2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0" name="Rectangle 99"/>
          <p:cNvSpPr/>
          <p:nvPr/>
        </p:nvSpPr>
        <p:spPr>
          <a:xfrm>
            <a:off x="9395460" y="3200400"/>
            <a:ext cx="137160" cy="137160"/>
          </a:xfrm>
          <a:prstGeom prst="rect">
            <a:avLst/>
          </a:prstGeom>
          <a:solidFill>
            <a:srgbClr val="161B2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1" name="Rectangle 100"/>
          <p:cNvSpPr/>
          <p:nvPr/>
        </p:nvSpPr>
        <p:spPr>
          <a:xfrm>
            <a:off x="8572500" y="3337560"/>
            <a:ext cx="137160" cy="137160"/>
          </a:xfrm>
          <a:prstGeom prst="rect">
            <a:avLst/>
          </a:prstGeom>
          <a:solidFill>
            <a:srgbClr val="161B2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2" name="Rectangle 101"/>
          <p:cNvSpPr/>
          <p:nvPr/>
        </p:nvSpPr>
        <p:spPr>
          <a:xfrm>
            <a:off x="8709660" y="3337560"/>
            <a:ext cx="137160" cy="137160"/>
          </a:xfrm>
          <a:prstGeom prst="rect">
            <a:avLst/>
          </a:prstGeom>
          <a:solidFill>
            <a:srgbClr val="161B2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3" name="Rectangle 102"/>
          <p:cNvSpPr/>
          <p:nvPr/>
        </p:nvSpPr>
        <p:spPr>
          <a:xfrm>
            <a:off x="8846820" y="3337560"/>
            <a:ext cx="137160" cy="137160"/>
          </a:xfrm>
          <a:prstGeom prst="rect">
            <a:avLst/>
          </a:prstGeom>
          <a:solidFill>
            <a:srgbClr val="161B2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4" name="Rectangle 103"/>
          <p:cNvSpPr/>
          <p:nvPr/>
        </p:nvSpPr>
        <p:spPr>
          <a:xfrm>
            <a:off x="8983980" y="3337560"/>
            <a:ext cx="137160" cy="137160"/>
          </a:xfrm>
          <a:prstGeom prst="rect">
            <a:avLst/>
          </a:prstGeom>
          <a:solidFill>
            <a:srgbClr val="161B2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5" name="Rectangle 104"/>
          <p:cNvSpPr/>
          <p:nvPr/>
        </p:nvSpPr>
        <p:spPr>
          <a:xfrm>
            <a:off x="9121140" y="3337560"/>
            <a:ext cx="137160" cy="137160"/>
          </a:xfrm>
          <a:prstGeom prst="rect">
            <a:avLst/>
          </a:prstGeom>
          <a:solidFill>
            <a:srgbClr val="161B2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6" name="Rectangle 105"/>
          <p:cNvSpPr/>
          <p:nvPr/>
        </p:nvSpPr>
        <p:spPr>
          <a:xfrm>
            <a:off x="9258300" y="3337560"/>
            <a:ext cx="137160" cy="137160"/>
          </a:xfrm>
          <a:prstGeom prst="rect">
            <a:avLst/>
          </a:prstGeom>
          <a:solidFill>
            <a:srgbClr val="161B2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7" name="Rectangle 106"/>
          <p:cNvSpPr/>
          <p:nvPr/>
        </p:nvSpPr>
        <p:spPr>
          <a:xfrm>
            <a:off x="9395460" y="3337560"/>
            <a:ext cx="137160" cy="137160"/>
          </a:xfrm>
          <a:prstGeom prst="rect">
            <a:avLst/>
          </a:prstGeom>
          <a:solidFill>
            <a:srgbClr val="161B2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8" name="Rectangle 107"/>
          <p:cNvSpPr/>
          <p:nvPr/>
        </p:nvSpPr>
        <p:spPr>
          <a:xfrm>
            <a:off x="9669780" y="2514600"/>
            <a:ext cx="137160" cy="137160"/>
          </a:xfrm>
          <a:prstGeom prst="rect">
            <a:avLst/>
          </a:prstGeom>
          <a:solidFill>
            <a:srgbClr val="161B2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9" name="Rectangle 108"/>
          <p:cNvSpPr/>
          <p:nvPr/>
        </p:nvSpPr>
        <p:spPr>
          <a:xfrm>
            <a:off x="9806940" y="2514600"/>
            <a:ext cx="137160" cy="137160"/>
          </a:xfrm>
          <a:prstGeom prst="rect">
            <a:avLst/>
          </a:prstGeom>
          <a:solidFill>
            <a:srgbClr val="161B2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0" name="Rectangle 109"/>
          <p:cNvSpPr/>
          <p:nvPr/>
        </p:nvSpPr>
        <p:spPr>
          <a:xfrm>
            <a:off x="9944100" y="2514600"/>
            <a:ext cx="137160" cy="137160"/>
          </a:xfrm>
          <a:prstGeom prst="rect">
            <a:avLst/>
          </a:prstGeom>
          <a:solidFill>
            <a:srgbClr val="161B2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1" name="Rectangle 110"/>
          <p:cNvSpPr/>
          <p:nvPr/>
        </p:nvSpPr>
        <p:spPr>
          <a:xfrm>
            <a:off x="10081260" y="2514600"/>
            <a:ext cx="137160" cy="137160"/>
          </a:xfrm>
          <a:prstGeom prst="rect">
            <a:avLst/>
          </a:prstGeom>
          <a:solidFill>
            <a:srgbClr val="161B2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2" name="Rectangle 111"/>
          <p:cNvSpPr/>
          <p:nvPr/>
        </p:nvSpPr>
        <p:spPr>
          <a:xfrm>
            <a:off x="10218420" y="2514600"/>
            <a:ext cx="137160" cy="137160"/>
          </a:xfrm>
          <a:prstGeom prst="rect">
            <a:avLst/>
          </a:prstGeom>
          <a:solidFill>
            <a:srgbClr val="161B2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3" name="Rectangle 112"/>
          <p:cNvSpPr/>
          <p:nvPr/>
        </p:nvSpPr>
        <p:spPr>
          <a:xfrm>
            <a:off x="10355580" y="2514600"/>
            <a:ext cx="137160" cy="137160"/>
          </a:xfrm>
          <a:prstGeom prst="rect">
            <a:avLst/>
          </a:prstGeom>
          <a:solidFill>
            <a:srgbClr val="161B2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4" name="Rectangle 113"/>
          <p:cNvSpPr/>
          <p:nvPr/>
        </p:nvSpPr>
        <p:spPr>
          <a:xfrm>
            <a:off x="10492740" y="2514600"/>
            <a:ext cx="137160" cy="137160"/>
          </a:xfrm>
          <a:prstGeom prst="rect">
            <a:avLst/>
          </a:prstGeom>
          <a:solidFill>
            <a:srgbClr val="161B2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5" name="Rectangle 114"/>
          <p:cNvSpPr/>
          <p:nvPr/>
        </p:nvSpPr>
        <p:spPr>
          <a:xfrm>
            <a:off x="9669780" y="2651760"/>
            <a:ext cx="137160" cy="137160"/>
          </a:xfrm>
          <a:prstGeom prst="rect">
            <a:avLst/>
          </a:prstGeom>
          <a:solidFill>
            <a:srgbClr val="161B2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6" name="Rectangle 115"/>
          <p:cNvSpPr/>
          <p:nvPr/>
        </p:nvSpPr>
        <p:spPr>
          <a:xfrm>
            <a:off x="10492740" y="2651760"/>
            <a:ext cx="137160" cy="137160"/>
          </a:xfrm>
          <a:prstGeom prst="rect">
            <a:avLst/>
          </a:prstGeom>
          <a:solidFill>
            <a:srgbClr val="161B2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7" name="Rectangle 116"/>
          <p:cNvSpPr/>
          <p:nvPr/>
        </p:nvSpPr>
        <p:spPr>
          <a:xfrm>
            <a:off x="9669780" y="2788920"/>
            <a:ext cx="137160" cy="137160"/>
          </a:xfrm>
          <a:prstGeom prst="rect">
            <a:avLst/>
          </a:prstGeom>
          <a:solidFill>
            <a:srgbClr val="161B2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8" name="Rectangle 117"/>
          <p:cNvSpPr/>
          <p:nvPr/>
        </p:nvSpPr>
        <p:spPr>
          <a:xfrm>
            <a:off x="9944100" y="2788920"/>
            <a:ext cx="137160" cy="137160"/>
          </a:xfrm>
          <a:prstGeom prst="rect">
            <a:avLst/>
          </a:prstGeom>
          <a:solidFill>
            <a:srgbClr val="161B2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9" name="Rectangle 118"/>
          <p:cNvSpPr/>
          <p:nvPr/>
        </p:nvSpPr>
        <p:spPr>
          <a:xfrm>
            <a:off x="10081260" y="2788920"/>
            <a:ext cx="137160" cy="137160"/>
          </a:xfrm>
          <a:prstGeom prst="rect">
            <a:avLst/>
          </a:prstGeom>
          <a:solidFill>
            <a:srgbClr val="161B2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0" name="Rectangle 119"/>
          <p:cNvSpPr/>
          <p:nvPr/>
        </p:nvSpPr>
        <p:spPr>
          <a:xfrm>
            <a:off x="10218420" y="2788920"/>
            <a:ext cx="137160" cy="137160"/>
          </a:xfrm>
          <a:prstGeom prst="rect">
            <a:avLst/>
          </a:prstGeom>
          <a:solidFill>
            <a:srgbClr val="161B2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1" name="Rectangle 120"/>
          <p:cNvSpPr/>
          <p:nvPr/>
        </p:nvSpPr>
        <p:spPr>
          <a:xfrm>
            <a:off x="10492740" y="2788920"/>
            <a:ext cx="137160" cy="137160"/>
          </a:xfrm>
          <a:prstGeom prst="rect">
            <a:avLst/>
          </a:prstGeom>
          <a:solidFill>
            <a:srgbClr val="161B2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2" name="Rectangle 121"/>
          <p:cNvSpPr/>
          <p:nvPr/>
        </p:nvSpPr>
        <p:spPr>
          <a:xfrm>
            <a:off x="9669780" y="2926080"/>
            <a:ext cx="137160" cy="137160"/>
          </a:xfrm>
          <a:prstGeom prst="rect">
            <a:avLst/>
          </a:prstGeom>
          <a:solidFill>
            <a:srgbClr val="161B2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3" name="Rectangle 122"/>
          <p:cNvSpPr/>
          <p:nvPr/>
        </p:nvSpPr>
        <p:spPr>
          <a:xfrm>
            <a:off x="9944100" y="2926080"/>
            <a:ext cx="137160" cy="137160"/>
          </a:xfrm>
          <a:prstGeom prst="rect">
            <a:avLst/>
          </a:prstGeom>
          <a:solidFill>
            <a:srgbClr val="161B2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4" name="Rectangle 123"/>
          <p:cNvSpPr/>
          <p:nvPr/>
        </p:nvSpPr>
        <p:spPr>
          <a:xfrm>
            <a:off x="10081260" y="2926080"/>
            <a:ext cx="137160" cy="137160"/>
          </a:xfrm>
          <a:prstGeom prst="rect">
            <a:avLst/>
          </a:prstGeom>
          <a:solidFill>
            <a:srgbClr val="161B2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5" name="Rectangle 124"/>
          <p:cNvSpPr/>
          <p:nvPr/>
        </p:nvSpPr>
        <p:spPr>
          <a:xfrm>
            <a:off x="10218420" y="2926080"/>
            <a:ext cx="137160" cy="137160"/>
          </a:xfrm>
          <a:prstGeom prst="rect">
            <a:avLst/>
          </a:prstGeom>
          <a:solidFill>
            <a:srgbClr val="161B2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6" name="Rectangle 125"/>
          <p:cNvSpPr/>
          <p:nvPr/>
        </p:nvSpPr>
        <p:spPr>
          <a:xfrm>
            <a:off x="10492740" y="2926080"/>
            <a:ext cx="137160" cy="137160"/>
          </a:xfrm>
          <a:prstGeom prst="rect">
            <a:avLst/>
          </a:prstGeom>
          <a:solidFill>
            <a:srgbClr val="161B2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7" name="Rectangle 126"/>
          <p:cNvSpPr/>
          <p:nvPr/>
        </p:nvSpPr>
        <p:spPr>
          <a:xfrm>
            <a:off x="9669780" y="3063240"/>
            <a:ext cx="137160" cy="137160"/>
          </a:xfrm>
          <a:prstGeom prst="rect">
            <a:avLst/>
          </a:prstGeom>
          <a:solidFill>
            <a:srgbClr val="161B2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8" name="Rectangle 127"/>
          <p:cNvSpPr/>
          <p:nvPr/>
        </p:nvSpPr>
        <p:spPr>
          <a:xfrm>
            <a:off x="9944100" y="3063240"/>
            <a:ext cx="137160" cy="137160"/>
          </a:xfrm>
          <a:prstGeom prst="rect">
            <a:avLst/>
          </a:prstGeom>
          <a:solidFill>
            <a:srgbClr val="161B2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9" name="Rectangle 128"/>
          <p:cNvSpPr/>
          <p:nvPr/>
        </p:nvSpPr>
        <p:spPr>
          <a:xfrm>
            <a:off x="10081260" y="3063240"/>
            <a:ext cx="137160" cy="137160"/>
          </a:xfrm>
          <a:prstGeom prst="rect">
            <a:avLst/>
          </a:prstGeom>
          <a:solidFill>
            <a:srgbClr val="161B2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0" name="Rectangle 129"/>
          <p:cNvSpPr/>
          <p:nvPr/>
        </p:nvSpPr>
        <p:spPr>
          <a:xfrm>
            <a:off x="10218420" y="3063240"/>
            <a:ext cx="137160" cy="137160"/>
          </a:xfrm>
          <a:prstGeom prst="rect">
            <a:avLst/>
          </a:prstGeom>
          <a:solidFill>
            <a:srgbClr val="161B2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1" name="Rectangle 130"/>
          <p:cNvSpPr/>
          <p:nvPr/>
        </p:nvSpPr>
        <p:spPr>
          <a:xfrm>
            <a:off x="10492740" y="3063240"/>
            <a:ext cx="137160" cy="137160"/>
          </a:xfrm>
          <a:prstGeom prst="rect">
            <a:avLst/>
          </a:prstGeom>
          <a:solidFill>
            <a:srgbClr val="161B2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2" name="Rectangle 131"/>
          <p:cNvSpPr/>
          <p:nvPr/>
        </p:nvSpPr>
        <p:spPr>
          <a:xfrm>
            <a:off x="9669780" y="3200400"/>
            <a:ext cx="137160" cy="137160"/>
          </a:xfrm>
          <a:prstGeom prst="rect">
            <a:avLst/>
          </a:prstGeom>
          <a:solidFill>
            <a:srgbClr val="161B2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3" name="Rectangle 132"/>
          <p:cNvSpPr/>
          <p:nvPr/>
        </p:nvSpPr>
        <p:spPr>
          <a:xfrm>
            <a:off x="10492740" y="3200400"/>
            <a:ext cx="137160" cy="137160"/>
          </a:xfrm>
          <a:prstGeom prst="rect">
            <a:avLst/>
          </a:prstGeom>
          <a:solidFill>
            <a:srgbClr val="161B2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4" name="Rectangle 133"/>
          <p:cNvSpPr/>
          <p:nvPr/>
        </p:nvSpPr>
        <p:spPr>
          <a:xfrm>
            <a:off x="9669780" y="3337560"/>
            <a:ext cx="137160" cy="137160"/>
          </a:xfrm>
          <a:prstGeom prst="rect">
            <a:avLst/>
          </a:prstGeom>
          <a:solidFill>
            <a:srgbClr val="161B2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5" name="Rectangle 134"/>
          <p:cNvSpPr/>
          <p:nvPr/>
        </p:nvSpPr>
        <p:spPr>
          <a:xfrm>
            <a:off x="9806940" y="3337560"/>
            <a:ext cx="137160" cy="137160"/>
          </a:xfrm>
          <a:prstGeom prst="rect">
            <a:avLst/>
          </a:prstGeom>
          <a:solidFill>
            <a:srgbClr val="161B2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6" name="Rectangle 135"/>
          <p:cNvSpPr/>
          <p:nvPr/>
        </p:nvSpPr>
        <p:spPr>
          <a:xfrm>
            <a:off x="9944100" y="3337560"/>
            <a:ext cx="137160" cy="137160"/>
          </a:xfrm>
          <a:prstGeom prst="rect">
            <a:avLst/>
          </a:prstGeom>
          <a:solidFill>
            <a:srgbClr val="161B2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7" name="Rectangle 136"/>
          <p:cNvSpPr/>
          <p:nvPr/>
        </p:nvSpPr>
        <p:spPr>
          <a:xfrm>
            <a:off x="10081260" y="3337560"/>
            <a:ext cx="137160" cy="137160"/>
          </a:xfrm>
          <a:prstGeom prst="rect">
            <a:avLst/>
          </a:prstGeom>
          <a:solidFill>
            <a:srgbClr val="161B2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8" name="Rectangle 137"/>
          <p:cNvSpPr/>
          <p:nvPr/>
        </p:nvSpPr>
        <p:spPr>
          <a:xfrm>
            <a:off x="10218420" y="3337560"/>
            <a:ext cx="137160" cy="137160"/>
          </a:xfrm>
          <a:prstGeom prst="rect">
            <a:avLst/>
          </a:prstGeom>
          <a:solidFill>
            <a:srgbClr val="161B2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9" name="Rectangle 138"/>
          <p:cNvSpPr/>
          <p:nvPr/>
        </p:nvSpPr>
        <p:spPr>
          <a:xfrm>
            <a:off x="10355580" y="3337560"/>
            <a:ext cx="137160" cy="137160"/>
          </a:xfrm>
          <a:prstGeom prst="rect">
            <a:avLst/>
          </a:prstGeom>
          <a:solidFill>
            <a:srgbClr val="161B2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0" name="Rectangle 139"/>
          <p:cNvSpPr/>
          <p:nvPr/>
        </p:nvSpPr>
        <p:spPr>
          <a:xfrm>
            <a:off x="10492740" y="3337560"/>
            <a:ext cx="137160" cy="137160"/>
          </a:xfrm>
          <a:prstGeom prst="rect">
            <a:avLst/>
          </a:prstGeom>
          <a:solidFill>
            <a:srgbClr val="161B2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1" name="Rectangle 140"/>
          <p:cNvSpPr/>
          <p:nvPr/>
        </p:nvSpPr>
        <p:spPr>
          <a:xfrm>
            <a:off x="8572500" y="3611880"/>
            <a:ext cx="137160" cy="137160"/>
          </a:xfrm>
          <a:prstGeom prst="rect">
            <a:avLst/>
          </a:prstGeom>
          <a:solidFill>
            <a:srgbClr val="161B2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2" name="Rectangle 141"/>
          <p:cNvSpPr/>
          <p:nvPr/>
        </p:nvSpPr>
        <p:spPr>
          <a:xfrm>
            <a:off x="8709660" y="3611880"/>
            <a:ext cx="137160" cy="137160"/>
          </a:xfrm>
          <a:prstGeom prst="rect">
            <a:avLst/>
          </a:prstGeom>
          <a:solidFill>
            <a:srgbClr val="161B2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3" name="Rectangle 142"/>
          <p:cNvSpPr/>
          <p:nvPr/>
        </p:nvSpPr>
        <p:spPr>
          <a:xfrm>
            <a:off x="8846820" y="3611880"/>
            <a:ext cx="137160" cy="137160"/>
          </a:xfrm>
          <a:prstGeom prst="rect">
            <a:avLst/>
          </a:prstGeom>
          <a:solidFill>
            <a:srgbClr val="161B2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4" name="Rectangle 143"/>
          <p:cNvSpPr/>
          <p:nvPr/>
        </p:nvSpPr>
        <p:spPr>
          <a:xfrm>
            <a:off x="8983980" y="3611880"/>
            <a:ext cx="137160" cy="137160"/>
          </a:xfrm>
          <a:prstGeom prst="rect">
            <a:avLst/>
          </a:prstGeom>
          <a:solidFill>
            <a:srgbClr val="161B2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5" name="Rectangle 144"/>
          <p:cNvSpPr/>
          <p:nvPr/>
        </p:nvSpPr>
        <p:spPr>
          <a:xfrm>
            <a:off x="9121140" y="3611880"/>
            <a:ext cx="137160" cy="137160"/>
          </a:xfrm>
          <a:prstGeom prst="rect">
            <a:avLst/>
          </a:prstGeom>
          <a:solidFill>
            <a:srgbClr val="161B2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6" name="Rectangle 145"/>
          <p:cNvSpPr/>
          <p:nvPr/>
        </p:nvSpPr>
        <p:spPr>
          <a:xfrm>
            <a:off x="9258300" y="3611880"/>
            <a:ext cx="137160" cy="137160"/>
          </a:xfrm>
          <a:prstGeom prst="rect">
            <a:avLst/>
          </a:prstGeom>
          <a:solidFill>
            <a:srgbClr val="161B2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7" name="Rectangle 146"/>
          <p:cNvSpPr/>
          <p:nvPr/>
        </p:nvSpPr>
        <p:spPr>
          <a:xfrm>
            <a:off x="9395460" y="3611880"/>
            <a:ext cx="137160" cy="137160"/>
          </a:xfrm>
          <a:prstGeom prst="rect">
            <a:avLst/>
          </a:prstGeom>
          <a:solidFill>
            <a:srgbClr val="161B2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8" name="Rectangle 147"/>
          <p:cNvSpPr/>
          <p:nvPr/>
        </p:nvSpPr>
        <p:spPr>
          <a:xfrm>
            <a:off x="8572500" y="3749040"/>
            <a:ext cx="137160" cy="137160"/>
          </a:xfrm>
          <a:prstGeom prst="rect">
            <a:avLst/>
          </a:prstGeom>
          <a:solidFill>
            <a:srgbClr val="161B2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9" name="Rectangle 148"/>
          <p:cNvSpPr/>
          <p:nvPr/>
        </p:nvSpPr>
        <p:spPr>
          <a:xfrm>
            <a:off x="9395460" y="3749040"/>
            <a:ext cx="137160" cy="137160"/>
          </a:xfrm>
          <a:prstGeom prst="rect">
            <a:avLst/>
          </a:prstGeom>
          <a:solidFill>
            <a:srgbClr val="161B2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0" name="Rectangle 149"/>
          <p:cNvSpPr/>
          <p:nvPr/>
        </p:nvSpPr>
        <p:spPr>
          <a:xfrm>
            <a:off x="8572500" y="3886200"/>
            <a:ext cx="137160" cy="137160"/>
          </a:xfrm>
          <a:prstGeom prst="rect">
            <a:avLst/>
          </a:prstGeom>
          <a:solidFill>
            <a:srgbClr val="161B2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1" name="Rectangle 150"/>
          <p:cNvSpPr/>
          <p:nvPr/>
        </p:nvSpPr>
        <p:spPr>
          <a:xfrm>
            <a:off x="8846820" y="3886200"/>
            <a:ext cx="137160" cy="137160"/>
          </a:xfrm>
          <a:prstGeom prst="rect">
            <a:avLst/>
          </a:prstGeom>
          <a:solidFill>
            <a:srgbClr val="161B2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2" name="Rectangle 151"/>
          <p:cNvSpPr/>
          <p:nvPr/>
        </p:nvSpPr>
        <p:spPr>
          <a:xfrm>
            <a:off x="8983980" y="3886200"/>
            <a:ext cx="137160" cy="137160"/>
          </a:xfrm>
          <a:prstGeom prst="rect">
            <a:avLst/>
          </a:prstGeom>
          <a:solidFill>
            <a:srgbClr val="161B2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3" name="Rectangle 152"/>
          <p:cNvSpPr/>
          <p:nvPr/>
        </p:nvSpPr>
        <p:spPr>
          <a:xfrm>
            <a:off x="9121140" y="3886200"/>
            <a:ext cx="137160" cy="137160"/>
          </a:xfrm>
          <a:prstGeom prst="rect">
            <a:avLst/>
          </a:prstGeom>
          <a:solidFill>
            <a:srgbClr val="161B2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4" name="Rectangle 153"/>
          <p:cNvSpPr/>
          <p:nvPr/>
        </p:nvSpPr>
        <p:spPr>
          <a:xfrm>
            <a:off x="9395460" y="3886200"/>
            <a:ext cx="137160" cy="137160"/>
          </a:xfrm>
          <a:prstGeom prst="rect">
            <a:avLst/>
          </a:prstGeom>
          <a:solidFill>
            <a:srgbClr val="161B2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5" name="Rectangle 154"/>
          <p:cNvSpPr/>
          <p:nvPr/>
        </p:nvSpPr>
        <p:spPr>
          <a:xfrm>
            <a:off x="8572500" y="4023360"/>
            <a:ext cx="137160" cy="137160"/>
          </a:xfrm>
          <a:prstGeom prst="rect">
            <a:avLst/>
          </a:prstGeom>
          <a:solidFill>
            <a:srgbClr val="161B2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6" name="Rectangle 155"/>
          <p:cNvSpPr/>
          <p:nvPr/>
        </p:nvSpPr>
        <p:spPr>
          <a:xfrm>
            <a:off x="8846820" y="4023360"/>
            <a:ext cx="137160" cy="137160"/>
          </a:xfrm>
          <a:prstGeom prst="rect">
            <a:avLst/>
          </a:prstGeom>
          <a:solidFill>
            <a:srgbClr val="161B2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7" name="Rectangle 156"/>
          <p:cNvSpPr/>
          <p:nvPr/>
        </p:nvSpPr>
        <p:spPr>
          <a:xfrm>
            <a:off x="8983980" y="4023360"/>
            <a:ext cx="137160" cy="137160"/>
          </a:xfrm>
          <a:prstGeom prst="rect">
            <a:avLst/>
          </a:prstGeom>
          <a:solidFill>
            <a:srgbClr val="161B2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8" name="Rectangle 157"/>
          <p:cNvSpPr/>
          <p:nvPr/>
        </p:nvSpPr>
        <p:spPr>
          <a:xfrm>
            <a:off x="9121140" y="4023360"/>
            <a:ext cx="137160" cy="137160"/>
          </a:xfrm>
          <a:prstGeom prst="rect">
            <a:avLst/>
          </a:prstGeom>
          <a:solidFill>
            <a:srgbClr val="161B2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9" name="Rectangle 158"/>
          <p:cNvSpPr/>
          <p:nvPr/>
        </p:nvSpPr>
        <p:spPr>
          <a:xfrm>
            <a:off x="9395460" y="4023360"/>
            <a:ext cx="137160" cy="137160"/>
          </a:xfrm>
          <a:prstGeom prst="rect">
            <a:avLst/>
          </a:prstGeom>
          <a:solidFill>
            <a:srgbClr val="161B2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0" name="Rectangle 159"/>
          <p:cNvSpPr/>
          <p:nvPr/>
        </p:nvSpPr>
        <p:spPr>
          <a:xfrm>
            <a:off x="8572500" y="4160520"/>
            <a:ext cx="137160" cy="137160"/>
          </a:xfrm>
          <a:prstGeom prst="rect">
            <a:avLst/>
          </a:prstGeom>
          <a:solidFill>
            <a:srgbClr val="161B2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1" name="Rectangle 160"/>
          <p:cNvSpPr/>
          <p:nvPr/>
        </p:nvSpPr>
        <p:spPr>
          <a:xfrm>
            <a:off x="8846820" y="4160520"/>
            <a:ext cx="137160" cy="137160"/>
          </a:xfrm>
          <a:prstGeom prst="rect">
            <a:avLst/>
          </a:prstGeom>
          <a:solidFill>
            <a:srgbClr val="161B2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2" name="Rectangle 161"/>
          <p:cNvSpPr/>
          <p:nvPr/>
        </p:nvSpPr>
        <p:spPr>
          <a:xfrm>
            <a:off x="8983980" y="4160520"/>
            <a:ext cx="137160" cy="137160"/>
          </a:xfrm>
          <a:prstGeom prst="rect">
            <a:avLst/>
          </a:prstGeom>
          <a:solidFill>
            <a:srgbClr val="161B2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3" name="Rectangle 162"/>
          <p:cNvSpPr/>
          <p:nvPr/>
        </p:nvSpPr>
        <p:spPr>
          <a:xfrm>
            <a:off x="9121140" y="4160520"/>
            <a:ext cx="137160" cy="137160"/>
          </a:xfrm>
          <a:prstGeom prst="rect">
            <a:avLst/>
          </a:prstGeom>
          <a:solidFill>
            <a:srgbClr val="161B2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4" name="Rectangle 163"/>
          <p:cNvSpPr/>
          <p:nvPr/>
        </p:nvSpPr>
        <p:spPr>
          <a:xfrm>
            <a:off x="9395460" y="4160520"/>
            <a:ext cx="137160" cy="137160"/>
          </a:xfrm>
          <a:prstGeom prst="rect">
            <a:avLst/>
          </a:prstGeom>
          <a:solidFill>
            <a:srgbClr val="161B2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5" name="Rectangle 164"/>
          <p:cNvSpPr/>
          <p:nvPr/>
        </p:nvSpPr>
        <p:spPr>
          <a:xfrm>
            <a:off x="8572500" y="4297680"/>
            <a:ext cx="137160" cy="137160"/>
          </a:xfrm>
          <a:prstGeom prst="rect">
            <a:avLst/>
          </a:prstGeom>
          <a:solidFill>
            <a:srgbClr val="161B2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6" name="Rectangle 165"/>
          <p:cNvSpPr/>
          <p:nvPr/>
        </p:nvSpPr>
        <p:spPr>
          <a:xfrm>
            <a:off x="9395460" y="4297680"/>
            <a:ext cx="137160" cy="137160"/>
          </a:xfrm>
          <a:prstGeom prst="rect">
            <a:avLst/>
          </a:prstGeom>
          <a:solidFill>
            <a:srgbClr val="161B2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7" name="Rectangle 166"/>
          <p:cNvSpPr/>
          <p:nvPr/>
        </p:nvSpPr>
        <p:spPr>
          <a:xfrm>
            <a:off x="8572500" y="4434840"/>
            <a:ext cx="137160" cy="137160"/>
          </a:xfrm>
          <a:prstGeom prst="rect">
            <a:avLst/>
          </a:prstGeom>
          <a:solidFill>
            <a:srgbClr val="161B2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8" name="Rectangle 167"/>
          <p:cNvSpPr/>
          <p:nvPr/>
        </p:nvSpPr>
        <p:spPr>
          <a:xfrm>
            <a:off x="8709660" y="4434840"/>
            <a:ext cx="137160" cy="137160"/>
          </a:xfrm>
          <a:prstGeom prst="rect">
            <a:avLst/>
          </a:prstGeom>
          <a:solidFill>
            <a:srgbClr val="161B2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9" name="Rectangle 168"/>
          <p:cNvSpPr/>
          <p:nvPr/>
        </p:nvSpPr>
        <p:spPr>
          <a:xfrm>
            <a:off x="8846820" y="4434840"/>
            <a:ext cx="137160" cy="137160"/>
          </a:xfrm>
          <a:prstGeom prst="rect">
            <a:avLst/>
          </a:prstGeom>
          <a:solidFill>
            <a:srgbClr val="161B2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0" name="Rectangle 169"/>
          <p:cNvSpPr/>
          <p:nvPr/>
        </p:nvSpPr>
        <p:spPr>
          <a:xfrm>
            <a:off x="8983980" y="4434840"/>
            <a:ext cx="137160" cy="137160"/>
          </a:xfrm>
          <a:prstGeom prst="rect">
            <a:avLst/>
          </a:prstGeom>
          <a:solidFill>
            <a:srgbClr val="161B2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1" name="Rectangle 170"/>
          <p:cNvSpPr/>
          <p:nvPr/>
        </p:nvSpPr>
        <p:spPr>
          <a:xfrm>
            <a:off x="9121140" y="4434840"/>
            <a:ext cx="137160" cy="137160"/>
          </a:xfrm>
          <a:prstGeom prst="rect">
            <a:avLst/>
          </a:prstGeom>
          <a:solidFill>
            <a:srgbClr val="161B2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2" name="Rectangle 171"/>
          <p:cNvSpPr/>
          <p:nvPr/>
        </p:nvSpPr>
        <p:spPr>
          <a:xfrm>
            <a:off x="9258300" y="4434840"/>
            <a:ext cx="137160" cy="137160"/>
          </a:xfrm>
          <a:prstGeom prst="rect">
            <a:avLst/>
          </a:prstGeom>
          <a:solidFill>
            <a:srgbClr val="161B2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3" name="Rectangle 172"/>
          <p:cNvSpPr/>
          <p:nvPr/>
        </p:nvSpPr>
        <p:spPr>
          <a:xfrm>
            <a:off x="9395460" y="4434840"/>
            <a:ext cx="137160" cy="137160"/>
          </a:xfrm>
          <a:prstGeom prst="rect">
            <a:avLst/>
          </a:prstGeom>
          <a:solidFill>
            <a:srgbClr val="161B2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4" name="TextBox 173"/>
          <p:cNvSpPr txBox="1"/>
          <p:nvPr/>
        </p:nvSpPr>
        <p:spPr>
          <a:xfrm>
            <a:off x="8001000" y="4846320"/>
            <a:ext cx="3200400" cy="548640"/>
          </a:xfrm>
          <a:prstGeom prst="rect">
            <a:avLst/>
          </a:prstGeom>
          <a:noFill/>
        </p:spPr>
        <p:txBody>
          <a:bodyPr wrap="square" anchor="t">
            <a:spAutoFit/>
          </a:bodyPr>
          <a:lstStyle/>
          <a:p>
            <a:pPr algn="ctr">
              <a:spcAft>
                <a:spcPts val="400"/>
              </a:spcAft>
            </a:pPr>
            <a:r>
              <a:rPr sz="1050" b="0">
                <a:solidFill>
                  <a:srgbClr val="5B6372"/>
                </a:solidFill>
                <a:latin typeface="Arial"/>
              </a:rPr>
              <a:t>SSG digital-attendance QR — displayed live from the portal by the trainer</a:t>
            </a:r>
          </a:p>
        </p:txBody>
      </p:sp>
      <p:sp>
        <p:nvSpPr>
          <p:cNvPr id="175" name="Rectangle 174"/>
          <p:cNvSpPr/>
          <p:nvPr/>
        </p:nvSpPr>
        <p:spPr>
          <a:xfrm>
            <a:off x="777240" y="5623560"/>
            <a:ext cx="10607040" cy="566928"/>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6" name="TextBox 175"/>
          <p:cNvSpPr txBox="1"/>
          <p:nvPr/>
        </p:nvSpPr>
        <p:spPr>
          <a:xfrm>
            <a:off x="1005840" y="5623560"/>
            <a:ext cx="10149840" cy="566928"/>
          </a:xfrm>
          <a:prstGeom prst="rect">
            <a:avLst/>
          </a:prstGeom>
          <a:noFill/>
        </p:spPr>
        <p:txBody>
          <a:bodyPr wrap="square" anchor="ctr">
            <a:spAutoFit/>
          </a:bodyPr>
          <a:lstStyle/>
          <a:p>
            <a:pPr algn="l">
              <a:spcAft>
                <a:spcPts val="400"/>
              </a:spcAft>
            </a:pPr>
            <a:r>
              <a:rPr sz="1250" b="1">
                <a:solidFill>
                  <a:srgbClr val="FFFFFF"/>
                </a:solidFill>
                <a:latin typeface="Arial"/>
              </a:rPr>
              <a:t>Minimum 75% attendance on the SSG Digital Attendance record is required to be eligible for assessment and funding.</a:t>
            </a:r>
          </a:p>
        </p:txBody>
      </p:sp>
      <p:sp>
        <p:nvSpPr>
          <p:cNvPr id="177" name="TextBox 176"/>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DevOps Engineering on AWS  ·  TGS-2023040474</a:t>
            </a:r>
          </a:p>
        </p:txBody>
      </p:sp>
      <p:sp>
        <p:nvSpPr>
          <p:cNvPr id="178" name="TextBox 177"/>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79" name="TextBox 178"/>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2</a:t>
            </a:r>
          </a:p>
        </p:txBody>
      </p:sp>
    </p:spTree>
  </p:cSld>
  <p:clrMapOvr>
    <a:masterClrMapping/>
  </p:clrMapOvr>
  <p:transition xmlns:p14="http://schemas.microsoft.com/office/powerpoint/2010/main" p14:dur="380">
    <p:fade/>
  </p:transition>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5B637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38912"/>
            <a:ext cx="10607040" cy="365760"/>
          </a:xfrm>
          <a:prstGeom prst="rect">
            <a:avLst/>
          </a:prstGeom>
          <a:noFill/>
        </p:spPr>
        <p:txBody>
          <a:bodyPr wrap="square" anchor="t">
            <a:spAutoFit/>
          </a:bodyPr>
          <a:lstStyle/>
          <a:p>
            <a:pPr algn="l">
              <a:spcAft>
                <a:spcPts val="400"/>
              </a:spcAft>
            </a:pPr>
            <a:r>
              <a:rPr sz="1400" b="1">
                <a:solidFill>
                  <a:srgbClr val="5B6372"/>
                </a:solidFill>
                <a:latin typeface="Arial"/>
              </a:rPr>
              <a:t>YOUR TRAINER · GENERAL</a:t>
            </a:r>
          </a:p>
        </p:txBody>
      </p:sp>
      <p:sp>
        <p:nvSpPr>
          <p:cNvPr id="5" name="TextBox 4"/>
          <p:cNvSpPr txBox="1"/>
          <p:nvPr/>
        </p:nvSpPr>
        <p:spPr>
          <a:xfrm>
            <a:off x="777240" y="804672"/>
            <a:ext cx="10927080" cy="731520"/>
          </a:xfrm>
          <a:prstGeom prst="rect">
            <a:avLst/>
          </a:prstGeom>
          <a:noFill/>
        </p:spPr>
        <p:txBody>
          <a:bodyPr wrap="square" anchor="t">
            <a:spAutoFit/>
          </a:bodyPr>
          <a:lstStyle/>
          <a:p>
            <a:pPr algn="l">
              <a:spcAft>
                <a:spcPts val="400"/>
              </a:spcAft>
            </a:pPr>
            <a:r>
              <a:rPr sz="2900" b="1">
                <a:solidFill>
                  <a:srgbClr val="161B26"/>
                </a:solidFill>
                <a:latin typeface="Arial"/>
              </a:rPr>
              <a:t>About the Trainer</a:t>
            </a:r>
          </a:p>
        </p:txBody>
      </p:sp>
      <p:sp>
        <p:nvSpPr>
          <p:cNvPr id="6" name="Rectangle 5"/>
          <p:cNvSpPr/>
          <p:nvPr/>
        </p:nvSpPr>
        <p:spPr>
          <a:xfrm>
            <a:off x="777240" y="1572768"/>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783080"/>
            <a:ext cx="3337560" cy="429768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1783080"/>
            <a:ext cx="3337560" cy="109728"/>
          </a:xfrm>
          <a:prstGeom prst="rect">
            <a:avLst/>
          </a:prstGeom>
          <a:solidFill>
            <a:srgbClr val="5B637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1668780" y="2286000"/>
            <a:ext cx="1554480" cy="1554480"/>
          </a:xfrm>
          <a:prstGeom prst="ellipse">
            <a:avLst/>
          </a:prstGeom>
          <a:solidFill>
            <a:srgbClr val="5B637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668780" y="2286000"/>
            <a:ext cx="1554480" cy="1554480"/>
          </a:xfrm>
          <a:prstGeom prst="rect">
            <a:avLst/>
          </a:prstGeom>
          <a:noFill/>
        </p:spPr>
        <p:txBody>
          <a:bodyPr wrap="square" anchor="ctr">
            <a:spAutoFit/>
          </a:bodyPr>
          <a:lstStyle/>
          <a:p>
            <a:pPr algn="ctr">
              <a:spcAft>
                <a:spcPts val="400"/>
              </a:spcAft>
            </a:pPr>
            <a:r>
              <a:rPr sz="4400" b="1">
                <a:solidFill>
                  <a:srgbClr val="FFFFFF"/>
                </a:solidFill>
                <a:latin typeface="Arial"/>
              </a:rPr>
              <a:t>?</a:t>
            </a:r>
          </a:p>
        </p:txBody>
      </p:sp>
      <p:sp>
        <p:nvSpPr>
          <p:cNvPr id="11" name="TextBox 10"/>
          <p:cNvSpPr txBox="1"/>
          <p:nvPr/>
        </p:nvSpPr>
        <p:spPr>
          <a:xfrm>
            <a:off x="914400" y="4160520"/>
            <a:ext cx="3063240" cy="548640"/>
          </a:xfrm>
          <a:prstGeom prst="rect">
            <a:avLst/>
          </a:prstGeom>
          <a:noFill/>
        </p:spPr>
        <p:txBody>
          <a:bodyPr wrap="square" anchor="t">
            <a:spAutoFit/>
          </a:bodyPr>
          <a:lstStyle/>
          <a:p>
            <a:pPr algn="ctr">
              <a:spcAft>
                <a:spcPts val="400"/>
              </a:spcAft>
            </a:pPr>
            <a:r>
              <a:rPr sz="2100" b="1">
                <a:solidFill>
                  <a:srgbClr val="161B26"/>
                </a:solidFill>
                <a:latin typeface="Arial"/>
              </a:rPr>
              <a:t>Your Trainer</a:t>
            </a:r>
          </a:p>
        </p:txBody>
      </p:sp>
      <p:sp>
        <p:nvSpPr>
          <p:cNvPr id="12" name="TextBox 11"/>
          <p:cNvSpPr txBox="1"/>
          <p:nvPr/>
        </p:nvSpPr>
        <p:spPr>
          <a:xfrm>
            <a:off x="914400" y="4754880"/>
            <a:ext cx="3063240" cy="1097280"/>
          </a:xfrm>
          <a:prstGeom prst="rect">
            <a:avLst/>
          </a:prstGeom>
          <a:noFill/>
        </p:spPr>
        <p:txBody>
          <a:bodyPr wrap="square" anchor="t">
            <a:spAutoFit/>
          </a:bodyPr>
          <a:lstStyle/>
          <a:p>
            <a:pPr algn="ctr">
              <a:spcAft>
                <a:spcPts val="400"/>
              </a:spcAft>
            </a:pPr>
            <a:r>
              <a:rPr sz="1300" b="0">
                <a:solidFill>
                  <a:srgbClr val="5B6372"/>
                </a:solidFill>
                <a:latin typeface="Arial"/>
              </a:rPr>
              <a:t>General Trainer template —
to be completed by the trainer</a:t>
            </a:r>
          </a:p>
        </p:txBody>
      </p:sp>
      <p:sp>
        <p:nvSpPr>
          <p:cNvPr id="13" name="Rectangle 12"/>
          <p:cNvSpPr/>
          <p:nvPr/>
        </p:nvSpPr>
        <p:spPr>
          <a:xfrm>
            <a:off x="4480560" y="1783080"/>
            <a:ext cx="6949440" cy="56388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ectangle 13"/>
          <p:cNvSpPr/>
          <p:nvPr/>
        </p:nvSpPr>
        <p:spPr>
          <a:xfrm>
            <a:off x="4480560" y="1783080"/>
            <a:ext cx="91440" cy="56388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4773168" y="1783080"/>
            <a:ext cx="6400800" cy="563880"/>
          </a:xfrm>
          <a:prstGeom prst="rect">
            <a:avLst/>
          </a:prstGeom>
          <a:noFill/>
        </p:spPr>
        <p:txBody>
          <a:bodyPr wrap="square" anchor="ctr">
            <a:spAutoFit/>
          </a:bodyPr>
          <a:lstStyle/>
          <a:p>
            <a:pPr algn="l">
              <a:spcAft>
                <a:spcPts val="300"/>
              </a:spcAft>
            </a:pPr>
            <a:r>
              <a:rPr sz="1100" b="1">
                <a:solidFill>
                  <a:srgbClr val="1F6FEB"/>
                </a:solidFill>
                <a:latin typeface="Arial"/>
              </a:rPr>
              <a:t>NAME</a:t>
            </a:r>
          </a:p>
          <a:p>
            <a:pPr algn="l">
              <a:spcAft>
                <a:spcPts val="300"/>
              </a:spcAft>
            </a:pPr>
            <a:r>
              <a:rPr sz="1300" b="0">
                <a:solidFill>
                  <a:srgbClr val="E2E8F0"/>
                </a:solidFill>
                <a:latin typeface="Arial"/>
              </a:rPr>
              <a:t>____________________________________________</a:t>
            </a:r>
          </a:p>
        </p:txBody>
      </p:sp>
      <p:sp>
        <p:nvSpPr>
          <p:cNvPr id="16" name="Rectangle 15"/>
          <p:cNvSpPr/>
          <p:nvPr/>
        </p:nvSpPr>
        <p:spPr>
          <a:xfrm>
            <a:off x="4480560" y="2529840"/>
            <a:ext cx="6949440" cy="56388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ectangle 16"/>
          <p:cNvSpPr/>
          <p:nvPr/>
        </p:nvSpPr>
        <p:spPr>
          <a:xfrm>
            <a:off x="4480560" y="2529840"/>
            <a:ext cx="91440" cy="56388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4773168" y="2529840"/>
            <a:ext cx="6400800" cy="563880"/>
          </a:xfrm>
          <a:prstGeom prst="rect">
            <a:avLst/>
          </a:prstGeom>
          <a:noFill/>
        </p:spPr>
        <p:txBody>
          <a:bodyPr wrap="square" anchor="ctr">
            <a:spAutoFit/>
          </a:bodyPr>
          <a:lstStyle/>
          <a:p>
            <a:pPr algn="l">
              <a:spcAft>
                <a:spcPts val="300"/>
              </a:spcAft>
            </a:pPr>
            <a:r>
              <a:rPr sz="1100" b="1">
                <a:solidFill>
                  <a:srgbClr val="10B981"/>
                </a:solidFill>
                <a:latin typeface="Arial"/>
              </a:rPr>
              <a:t>TITLE / DESIGNATION</a:t>
            </a:r>
          </a:p>
          <a:p>
            <a:pPr algn="l">
              <a:spcAft>
                <a:spcPts val="300"/>
              </a:spcAft>
            </a:pPr>
            <a:r>
              <a:rPr sz="1300" b="0">
                <a:solidFill>
                  <a:srgbClr val="E2E8F0"/>
                </a:solidFill>
                <a:latin typeface="Arial"/>
              </a:rPr>
              <a:t>____________________________________________</a:t>
            </a:r>
          </a:p>
        </p:txBody>
      </p:sp>
      <p:sp>
        <p:nvSpPr>
          <p:cNvPr id="19" name="Rectangle 18"/>
          <p:cNvSpPr/>
          <p:nvPr/>
        </p:nvSpPr>
        <p:spPr>
          <a:xfrm>
            <a:off x="4480560" y="3276600"/>
            <a:ext cx="6949440" cy="56388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Rectangle 19"/>
          <p:cNvSpPr/>
          <p:nvPr/>
        </p:nvSpPr>
        <p:spPr>
          <a:xfrm>
            <a:off x="4480560" y="3276600"/>
            <a:ext cx="91440" cy="563880"/>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4773168" y="3276600"/>
            <a:ext cx="6400800" cy="563880"/>
          </a:xfrm>
          <a:prstGeom prst="rect">
            <a:avLst/>
          </a:prstGeom>
          <a:noFill/>
        </p:spPr>
        <p:txBody>
          <a:bodyPr wrap="square" anchor="ctr">
            <a:spAutoFit/>
          </a:bodyPr>
          <a:lstStyle/>
          <a:p>
            <a:pPr algn="l">
              <a:spcAft>
                <a:spcPts val="300"/>
              </a:spcAft>
            </a:pPr>
            <a:r>
              <a:rPr sz="1100" b="1">
                <a:solidFill>
                  <a:srgbClr val="7C3AED"/>
                </a:solidFill>
                <a:latin typeface="Arial"/>
              </a:rPr>
              <a:t>QUALIFICATIONS</a:t>
            </a:r>
          </a:p>
          <a:p>
            <a:pPr algn="l">
              <a:spcAft>
                <a:spcPts val="300"/>
              </a:spcAft>
            </a:pPr>
            <a:r>
              <a:rPr sz="1300" b="0">
                <a:solidFill>
                  <a:srgbClr val="E2E8F0"/>
                </a:solidFill>
                <a:latin typeface="Arial"/>
              </a:rPr>
              <a:t>____________________________________________</a:t>
            </a:r>
          </a:p>
        </p:txBody>
      </p:sp>
      <p:sp>
        <p:nvSpPr>
          <p:cNvPr id="22" name="Rectangle 21"/>
          <p:cNvSpPr/>
          <p:nvPr/>
        </p:nvSpPr>
        <p:spPr>
          <a:xfrm>
            <a:off x="4480560" y="4023360"/>
            <a:ext cx="6949440" cy="56388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ectangle 22"/>
          <p:cNvSpPr/>
          <p:nvPr/>
        </p:nvSpPr>
        <p:spPr>
          <a:xfrm>
            <a:off x="4480560" y="4023360"/>
            <a:ext cx="91440" cy="563880"/>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4773168" y="4023360"/>
            <a:ext cx="6400800" cy="563880"/>
          </a:xfrm>
          <a:prstGeom prst="rect">
            <a:avLst/>
          </a:prstGeom>
          <a:noFill/>
        </p:spPr>
        <p:txBody>
          <a:bodyPr wrap="square" anchor="ctr">
            <a:spAutoFit/>
          </a:bodyPr>
          <a:lstStyle/>
          <a:p>
            <a:pPr algn="l">
              <a:spcAft>
                <a:spcPts val="300"/>
              </a:spcAft>
            </a:pPr>
            <a:r>
              <a:rPr sz="1100" b="1">
                <a:solidFill>
                  <a:srgbClr val="F59E0B"/>
                </a:solidFill>
                <a:latin typeface="Arial"/>
              </a:rPr>
              <a:t>AREAS OF EXPERTISE</a:t>
            </a:r>
          </a:p>
          <a:p>
            <a:pPr algn="l">
              <a:spcAft>
                <a:spcPts val="300"/>
              </a:spcAft>
            </a:pPr>
            <a:r>
              <a:rPr sz="1300" b="0">
                <a:solidFill>
                  <a:srgbClr val="E2E8F0"/>
                </a:solidFill>
                <a:latin typeface="Arial"/>
              </a:rPr>
              <a:t>____________________________________________</a:t>
            </a:r>
          </a:p>
        </p:txBody>
      </p:sp>
      <p:sp>
        <p:nvSpPr>
          <p:cNvPr id="25" name="Rectangle 24"/>
          <p:cNvSpPr/>
          <p:nvPr/>
        </p:nvSpPr>
        <p:spPr>
          <a:xfrm>
            <a:off x="4480560" y="4770120"/>
            <a:ext cx="6949440" cy="56388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Rectangle 25"/>
          <p:cNvSpPr/>
          <p:nvPr/>
        </p:nvSpPr>
        <p:spPr>
          <a:xfrm>
            <a:off x="4480560" y="4770120"/>
            <a:ext cx="91440" cy="563880"/>
          </a:xfrm>
          <a:prstGeom prst="rect">
            <a:avLst/>
          </a:prstGeom>
          <a:solidFill>
            <a:srgbClr val="EC711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TextBox 26"/>
          <p:cNvSpPr txBox="1"/>
          <p:nvPr/>
        </p:nvSpPr>
        <p:spPr>
          <a:xfrm>
            <a:off x="4773168" y="4770120"/>
            <a:ext cx="6400800" cy="563880"/>
          </a:xfrm>
          <a:prstGeom prst="rect">
            <a:avLst/>
          </a:prstGeom>
          <a:noFill/>
        </p:spPr>
        <p:txBody>
          <a:bodyPr wrap="square" anchor="ctr">
            <a:spAutoFit/>
          </a:bodyPr>
          <a:lstStyle/>
          <a:p>
            <a:pPr algn="l">
              <a:spcAft>
                <a:spcPts val="300"/>
              </a:spcAft>
            </a:pPr>
            <a:r>
              <a:rPr sz="1100" b="1">
                <a:solidFill>
                  <a:srgbClr val="EC711E"/>
                </a:solidFill>
                <a:latin typeface="Arial"/>
              </a:rPr>
              <a:t>TRAINING &amp; INDUSTRY EXPERIENCE</a:t>
            </a:r>
          </a:p>
          <a:p>
            <a:pPr algn="l">
              <a:spcAft>
                <a:spcPts val="300"/>
              </a:spcAft>
            </a:pPr>
            <a:r>
              <a:rPr sz="1300" b="0">
                <a:solidFill>
                  <a:srgbClr val="E2E8F0"/>
                </a:solidFill>
                <a:latin typeface="Arial"/>
              </a:rPr>
              <a:t>____________________________________________</a:t>
            </a:r>
          </a:p>
        </p:txBody>
      </p:sp>
      <p:sp>
        <p:nvSpPr>
          <p:cNvPr id="28" name="Rectangle 27"/>
          <p:cNvSpPr/>
          <p:nvPr/>
        </p:nvSpPr>
        <p:spPr>
          <a:xfrm>
            <a:off x="4480560" y="5516880"/>
            <a:ext cx="6949440" cy="56388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Rectangle 28"/>
          <p:cNvSpPr/>
          <p:nvPr/>
        </p:nvSpPr>
        <p:spPr>
          <a:xfrm>
            <a:off x="4480560" y="5516880"/>
            <a:ext cx="91440" cy="563880"/>
          </a:xfrm>
          <a:prstGeom prst="rect">
            <a:avLst/>
          </a:prstGeom>
          <a:solidFill>
            <a:srgbClr val="0E9EC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4773168" y="5516880"/>
            <a:ext cx="6400800" cy="563880"/>
          </a:xfrm>
          <a:prstGeom prst="rect">
            <a:avLst/>
          </a:prstGeom>
          <a:noFill/>
        </p:spPr>
        <p:txBody>
          <a:bodyPr wrap="square" anchor="ctr">
            <a:spAutoFit/>
          </a:bodyPr>
          <a:lstStyle/>
          <a:p>
            <a:pPr algn="l">
              <a:spcAft>
                <a:spcPts val="300"/>
              </a:spcAft>
            </a:pPr>
            <a:r>
              <a:rPr sz="1100" b="1">
                <a:solidFill>
                  <a:srgbClr val="0E9EC9"/>
                </a:solidFill>
                <a:latin typeface="Arial"/>
              </a:rPr>
              <a:t>CONTACT</a:t>
            </a:r>
          </a:p>
          <a:p>
            <a:pPr algn="l">
              <a:spcAft>
                <a:spcPts val="300"/>
              </a:spcAft>
            </a:pPr>
            <a:r>
              <a:rPr sz="1300" b="0">
                <a:solidFill>
                  <a:srgbClr val="E2E8F0"/>
                </a:solidFill>
                <a:latin typeface="Arial"/>
              </a:rPr>
              <a:t>____________________________________________</a:t>
            </a:r>
          </a:p>
        </p:txBody>
      </p:sp>
      <p:sp>
        <p:nvSpPr>
          <p:cNvPr id="31" name="TextBox 30"/>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DevOps Engineering on AWS  ·  TGS-2023040474</a:t>
            </a:r>
          </a:p>
        </p:txBody>
      </p:sp>
      <p:sp>
        <p:nvSpPr>
          <p:cNvPr id="32" name="TextBox 31"/>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33" name="TextBox 32"/>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3</a:t>
            </a:r>
          </a:p>
        </p:txBody>
      </p:sp>
    </p:spTree>
  </p:cSld>
  <p:clrMapOvr>
    <a:masterClrMapping/>
  </p:clrMapOvr>
  <p:transition xmlns:p14="http://schemas.microsoft.com/office/powerpoint/2010/main" p14:dur="380">
    <p:fade/>
  </p:transition>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38912"/>
            <a:ext cx="10607040" cy="365760"/>
          </a:xfrm>
          <a:prstGeom prst="rect">
            <a:avLst/>
          </a:prstGeom>
          <a:noFill/>
        </p:spPr>
        <p:txBody>
          <a:bodyPr wrap="square" anchor="t">
            <a:spAutoFit/>
          </a:bodyPr>
          <a:lstStyle/>
          <a:p>
            <a:pPr algn="l">
              <a:spcAft>
                <a:spcPts val="400"/>
              </a:spcAft>
            </a:pPr>
            <a:r>
              <a:rPr sz="1400" b="1">
                <a:solidFill>
                  <a:srgbClr val="1F6FEB"/>
                </a:solidFill>
                <a:latin typeface="Arial"/>
              </a:rPr>
              <a:t>YOUR TRAINER</a:t>
            </a:r>
          </a:p>
        </p:txBody>
      </p:sp>
      <p:sp>
        <p:nvSpPr>
          <p:cNvPr id="5" name="TextBox 4"/>
          <p:cNvSpPr txBox="1"/>
          <p:nvPr/>
        </p:nvSpPr>
        <p:spPr>
          <a:xfrm>
            <a:off x="777240" y="804672"/>
            <a:ext cx="10927080" cy="731520"/>
          </a:xfrm>
          <a:prstGeom prst="rect">
            <a:avLst/>
          </a:prstGeom>
          <a:noFill/>
        </p:spPr>
        <p:txBody>
          <a:bodyPr wrap="square" anchor="t">
            <a:spAutoFit/>
          </a:bodyPr>
          <a:lstStyle/>
          <a:p>
            <a:pPr algn="l">
              <a:spcAft>
                <a:spcPts val="400"/>
              </a:spcAft>
            </a:pPr>
            <a:r>
              <a:rPr sz="2900" b="1">
                <a:solidFill>
                  <a:srgbClr val="161B26"/>
                </a:solidFill>
                <a:latin typeface="Arial"/>
              </a:rPr>
              <a:t>About the Trainer</a:t>
            </a:r>
          </a:p>
        </p:txBody>
      </p:sp>
      <p:sp>
        <p:nvSpPr>
          <p:cNvPr id="6" name="Rectangle 5"/>
          <p:cNvSpPr/>
          <p:nvPr/>
        </p:nvSpPr>
        <p:spPr>
          <a:xfrm>
            <a:off x="777240" y="1572768"/>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783080"/>
            <a:ext cx="3337560" cy="429768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1783080"/>
            <a:ext cx="3337560" cy="109728"/>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1668780" y="2286000"/>
            <a:ext cx="1554480" cy="1554480"/>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668780" y="2286000"/>
            <a:ext cx="1554480" cy="1554480"/>
          </a:xfrm>
          <a:prstGeom prst="rect">
            <a:avLst/>
          </a:prstGeom>
          <a:noFill/>
        </p:spPr>
        <p:txBody>
          <a:bodyPr wrap="square" anchor="ctr">
            <a:spAutoFit/>
          </a:bodyPr>
          <a:lstStyle/>
          <a:p>
            <a:pPr algn="ctr">
              <a:spcAft>
                <a:spcPts val="400"/>
              </a:spcAft>
            </a:pPr>
            <a:r>
              <a:rPr sz="4400" b="1">
                <a:solidFill>
                  <a:srgbClr val="FFFFFF"/>
                </a:solidFill>
                <a:latin typeface="Arial"/>
              </a:rPr>
              <a:t>AA</a:t>
            </a:r>
          </a:p>
        </p:txBody>
      </p:sp>
      <p:sp>
        <p:nvSpPr>
          <p:cNvPr id="11" name="TextBox 10"/>
          <p:cNvSpPr txBox="1"/>
          <p:nvPr/>
        </p:nvSpPr>
        <p:spPr>
          <a:xfrm>
            <a:off x="914400" y="4160520"/>
            <a:ext cx="3063240" cy="548640"/>
          </a:xfrm>
          <a:prstGeom prst="rect">
            <a:avLst/>
          </a:prstGeom>
          <a:noFill/>
        </p:spPr>
        <p:txBody>
          <a:bodyPr wrap="square" anchor="t">
            <a:spAutoFit/>
          </a:bodyPr>
          <a:lstStyle/>
          <a:p>
            <a:pPr algn="ctr">
              <a:spcAft>
                <a:spcPts val="400"/>
              </a:spcAft>
            </a:pPr>
            <a:r>
              <a:rPr sz="2100" b="1">
                <a:solidFill>
                  <a:srgbClr val="161B26"/>
                </a:solidFill>
                <a:latin typeface="Arial"/>
              </a:rPr>
              <a:t>Dr Alfred Ang</a:t>
            </a:r>
          </a:p>
        </p:txBody>
      </p:sp>
      <p:sp>
        <p:nvSpPr>
          <p:cNvPr id="12" name="TextBox 11"/>
          <p:cNvSpPr txBox="1"/>
          <p:nvPr/>
        </p:nvSpPr>
        <p:spPr>
          <a:xfrm>
            <a:off x="914400" y="4754880"/>
            <a:ext cx="3063240" cy="1097280"/>
          </a:xfrm>
          <a:prstGeom prst="rect">
            <a:avLst/>
          </a:prstGeom>
          <a:noFill/>
        </p:spPr>
        <p:txBody>
          <a:bodyPr wrap="square" anchor="t">
            <a:spAutoFit/>
          </a:bodyPr>
          <a:lstStyle/>
          <a:p>
            <a:pPr algn="ctr">
              <a:spcAft>
                <a:spcPts val="400"/>
              </a:spcAft>
            </a:pPr>
            <a:r>
              <a:rPr sz="1300" b="0">
                <a:solidFill>
                  <a:srgbClr val="5B6372"/>
                </a:solidFill>
                <a:latin typeface="Arial"/>
              </a:rPr>
              <a:t>Principal Trainer
Tertiary Infotech Academy Pte Ltd</a:t>
            </a:r>
          </a:p>
        </p:txBody>
      </p:sp>
      <p:sp>
        <p:nvSpPr>
          <p:cNvPr id="13" name="Rectangle 12"/>
          <p:cNvSpPr/>
          <p:nvPr/>
        </p:nvSpPr>
        <p:spPr>
          <a:xfrm>
            <a:off x="4480560" y="1783080"/>
            <a:ext cx="6949440" cy="713232"/>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ectangle 13"/>
          <p:cNvSpPr/>
          <p:nvPr/>
        </p:nvSpPr>
        <p:spPr>
          <a:xfrm>
            <a:off x="4480560" y="1783080"/>
            <a:ext cx="91440" cy="713232"/>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4773168" y="1783080"/>
            <a:ext cx="6400800" cy="713232"/>
          </a:xfrm>
          <a:prstGeom prst="rect">
            <a:avLst/>
          </a:prstGeom>
          <a:noFill/>
        </p:spPr>
        <p:txBody>
          <a:bodyPr wrap="square" anchor="ctr">
            <a:spAutoFit/>
          </a:bodyPr>
          <a:lstStyle/>
          <a:p>
            <a:pPr algn="l">
              <a:spcAft>
                <a:spcPts val="300"/>
              </a:spcAft>
            </a:pPr>
            <a:r>
              <a:rPr sz="1100" b="1">
                <a:solidFill>
                  <a:srgbClr val="1F6FEB"/>
                </a:solidFill>
                <a:latin typeface="Arial"/>
              </a:rPr>
              <a:t>ROLE</a:t>
            </a:r>
          </a:p>
          <a:p>
            <a:pPr algn="l">
              <a:spcAft>
                <a:spcPts val="300"/>
              </a:spcAft>
            </a:pPr>
            <a:r>
              <a:rPr sz="1300" b="0">
                <a:solidFill>
                  <a:srgbClr val="161B26"/>
                </a:solidFill>
                <a:latin typeface="Arial"/>
              </a:rPr>
              <a:t>Principal Trainer, Tertiary Infotech Academy Pte Ltd</a:t>
            </a:r>
          </a:p>
        </p:txBody>
      </p:sp>
      <p:sp>
        <p:nvSpPr>
          <p:cNvPr id="16" name="Rectangle 15"/>
          <p:cNvSpPr/>
          <p:nvPr/>
        </p:nvSpPr>
        <p:spPr>
          <a:xfrm>
            <a:off x="4480560" y="2679192"/>
            <a:ext cx="6949440" cy="713232"/>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ectangle 16"/>
          <p:cNvSpPr/>
          <p:nvPr/>
        </p:nvSpPr>
        <p:spPr>
          <a:xfrm>
            <a:off x="4480560" y="2679192"/>
            <a:ext cx="91440" cy="713232"/>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4773168" y="2679192"/>
            <a:ext cx="6400800" cy="713232"/>
          </a:xfrm>
          <a:prstGeom prst="rect">
            <a:avLst/>
          </a:prstGeom>
          <a:noFill/>
        </p:spPr>
        <p:txBody>
          <a:bodyPr wrap="square" anchor="ctr">
            <a:spAutoFit/>
          </a:bodyPr>
          <a:lstStyle/>
          <a:p>
            <a:pPr algn="l">
              <a:spcAft>
                <a:spcPts val="300"/>
              </a:spcAft>
            </a:pPr>
            <a:r>
              <a:rPr sz="1100" b="1">
                <a:solidFill>
                  <a:srgbClr val="10B981"/>
                </a:solidFill>
                <a:latin typeface="Arial"/>
              </a:rPr>
              <a:t>QUALIFICATIONS</a:t>
            </a:r>
          </a:p>
          <a:p>
            <a:pPr algn="l">
              <a:spcAft>
                <a:spcPts val="300"/>
              </a:spcAft>
            </a:pPr>
            <a:r>
              <a:rPr sz="1300" b="0">
                <a:solidFill>
                  <a:srgbClr val="161B26"/>
                </a:solidFill>
                <a:latin typeface="Arial"/>
              </a:rPr>
              <a:t>PhD; ACTA/DACE-certified adult educator.</a:t>
            </a:r>
          </a:p>
        </p:txBody>
      </p:sp>
      <p:sp>
        <p:nvSpPr>
          <p:cNvPr id="19" name="Rectangle 18"/>
          <p:cNvSpPr/>
          <p:nvPr/>
        </p:nvSpPr>
        <p:spPr>
          <a:xfrm>
            <a:off x="4480560" y="3575304"/>
            <a:ext cx="6949440" cy="713232"/>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Rectangle 19"/>
          <p:cNvSpPr/>
          <p:nvPr/>
        </p:nvSpPr>
        <p:spPr>
          <a:xfrm>
            <a:off x="4480560" y="3575304"/>
            <a:ext cx="91440" cy="713232"/>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4773168" y="3575304"/>
            <a:ext cx="6400800" cy="713232"/>
          </a:xfrm>
          <a:prstGeom prst="rect">
            <a:avLst/>
          </a:prstGeom>
          <a:noFill/>
        </p:spPr>
        <p:txBody>
          <a:bodyPr wrap="square" anchor="ctr">
            <a:spAutoFit/>
          </a:bodyPr>
          <a:lstStyle/>
          <a:p>
            <a:pPr algn="l">
              <a:spcAft>
                <a:spcPts val="300"/>
              </a:spcAft>
            </a:pPr>
            <a:r>
              <a:rPr sz="1100" b="1">
                <a:solidFill>
                  <a:srgbClr val="7C3AED"/>
                </a:solidFill>
                <a:latin typeface="Arial"/>
              </a:rPr>
              <a:t>EXPERTISE</a:t>
            </a:r>
          </a:p>
          <a:p>
            <a:pPr algn="l">
              <a:spcAft>
                <a:spcPts val="300"/>
              </a:spcAft>
            </a:pPr>
            <a:r>
              <a:rPr sz="1300" b="0">
                <a:solidFill>
                  <a:srgbClr val="161B26"/>
                </a:solidFill>
                <a:latin typeface="Arial"/>
              </a:rPr>
              <a:t>AWS cloud architecture, DevOps, CI/CD automation, Infrastructure as Code and cloud security.</a:t>
            </a:r>
          </a:p>
        </p:txBody>
      </p:sp>
      <p:sp>
        <p:nvSpPr>
          <p:cNvPr id="22" name="Rectangle 21"/>
          <p:cNvSpPr/>
          <p:nvPr/>
        </p:nvSpPr>
        <p:spPr>
          <a:xfrm>
            <a:off x="4480560" y="4471416"/>
            <a:ext cx="6949440" cy="713232"/>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ectangle 22"/>
          <p:cNvSpPr/>
          <p:nvPr/>
        </p:nvSpPr>
        <p:spPr>
          <a:xfrm>
            <a:off x="4480560" y="4471416"/>
            <a:ext cx="91440" cy="713232"/>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4773168" y="4471416"/>
            <a:ext cx="6400800" cy="713232"/>
          </a:xfrm>
          <a:prstGeom prst="rect">
            <a:avLst/>
          </a:prstGeom>
          <a:noFill/>
        </p:spPr>
        <p:txBody>
          <a:bodyPr wrap="square" anchor="ctr">
            <a:spAutoFit/>
          </a:bodyPr>
          <a:lstStyle/>
          <a:p>
            <a:pPr algn="l">
              <a:spcAft>
                <a:spcPts val="300"/>
              </a:spcAft>
            </a:pPr>
            <a:r>
              <a:rPr sz="1100" b="1">
                <a:solidFill>
                  <a:srgbClr val="F59E0B"/>
                </a:solidFill>
                <a:latin typeface="Arial"/>
              </a:rPr>
              <a:t>DELIVERS</a:t>
            </a:r>
          </a:p>
          <a:p>
            <a:pPr algn="l">
              <a:spcAft>
                <a:spcPts val="300"/>
              </a:spcAft>
            </a:pPr>
            <a:r>
              <a:rPr sz="1300" b="0">
                <a:solidFill>
                  <a:srgbClr val="161B26"/>
                </a:solidFill>
                <a:latin typeface="Arial"/>
              </a:rPr>
              <a:t>WSQ courses on AWS, DevOps engineering, cloud and software engineering.</a:t>
            </a:r>
          </a:p>
        </p:txBody>
      </p:sp>
      <p:sp>
        <p:nvSpPr>
          <p:cNvPr id="25" name="Rectangle 24"/>
          <p:cNvSpPr/>
          <p:nvPr/>
        </p:nvSpPr>
        <p:spPr>
          <a:xfrm>
            <a:off x="4480560" y="5367528"/>
            <a:ext cx="6949440" cy="713232"/>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Rectangle 25"/>
          <p:cNvSpPr/>
          <p:nvPr/>
        </p:nvSpPr>
        <p:spPr>
          <a:xfrm>
            <a:off x="4480560" y="5367528"/>
            <a:ext cx="91440" cy="713232"/>
          </a:xfrm>
          <a:prstGeom prst="rect">
            <a:avLst/>
          </a:prstGeom>
          <a:solidFill>
            <a:srgbClr val="EC711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TextBox 26"/>
          <p:cNvSpPr txBox="1"/>
          <p:nvPr/>
        </p:nvSpPr>
        <p:spPr>
          <a:xfrm>
            <a:off x="4773168" y="5367528"/>
            <a:ext cx="6400800" cy="713232"/>
          </a:xfrm>
          <a:prstGeom prst="rect">
            <a:avLst/>
          </a:prstGeom>
          <a:noFill/>
        </p:spPr>
        <p:txBody>
          <a:bodyPr wrap="square" anchor="ctr">
            <a:spAutoFit/>
          </a:bodyPr>
          <a:lstStyle/>
          <a:p>
            <a:pPr algn="l">
              <a:spcAft>
                <a:spcPts val="300"/>
              </a:spcAft>
            </a:pPr>
            <a:r>
              <a:rPr sz="1100" b="1">
                <a:solidFill>
                  <a:srgbClr val="EC711E"/>
                </a:solidFill>
                <a:latin typeface="Arial"/>
              </a:rPr>
              <a:t>FOUNDER</a:t>
            </a:r>
          </a:p>
          <a:p>
            <a:pPr algn="l">
              <a:spcAft>
                <a:spcPts val="300"/>
              </a:spcAft>
            </a:pPr>
            <a:r>
              <a:rPr sz="1300" b="0">
                <a:solidFill>
                  <a:srgbClr val="161B26"/>
                </a:solidFill>
                <a:latin typeface="Arial"/>
              </a:rPr>
              <a:t>Founder and lead instructor at Tertiary Infotech / Tertiary Courses.</a:t>
            </a:r>
          </a:p>
        </p:txBody>
      </p:sp>
      <p:sp>
        <p:nvSpPr>
          <p:cNvPr id="28" name="TextBox 27"/>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DevOps Engineering on AWS  ·  TGS-2023040474</a:t>
            </a:r>
          </a:p>
        </p:txBody>
      </p:sp>
      <p:sp>
        <p:nvSpPr>
          <p:cNvPr id="29" name="TextBox 28"/>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30" name="TextBox 29"/>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4</a:t>
            </a:r>
          </a:p>
        </p:txBody>
      </p:sp>
    </p:spTree>
  </p:cSld>
  <p:clrMapOvr>
    <a:masterClrMapping/>
  </p:clrMapOvr>
  <p:transition xmlns:p14="http://schemas.microsoft.com/office/powerpoint/2010/main" p14:dur="380">
    <p:fade/>
  </p:transition>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38912"/>
            <a:ext cx="10607040" cy="365760"/>
          </a:xfrm>
          <a:prstGeom prst="rect">
            <a:avLst/>
          </a:prstGeom>
          <a:noFill/>
        </p:spPr>
        <p:txBody>
          <a:bodyPr wrap="square" anchor="t">
            <a:spAutoFit/>
          </a:bodyPr>
          <a:lstStyle/>
          <a:p>
            <a:pPr algn="l">
              <a:spcAft>
                <a:spcPts val="400"/>
              </a:spcAft>
            </a:pPr>
            <a:r>
              <a:rPr sz="1400" b="1">
                <a:solidFill>
                  <a:srgbClr val="1F6FEB"/>
                </a:solidFill>
                <a:latin typeface="Arial"/>
              </a:rPr>
              <a:t>ICE-BREAKER</a:t>
            </a:r>
          </a:p>
        </p:txBody>
      </p:sp>
      <p:sp>
        <p:nvSpPr>
          <p:cNvPr id="5" name="TextBox 4"/>
          <p:cNvSpPr txBox="1"/>
          <p:nvPr/>
        </p:nvSpPr>
        <p:spPr>
          <a:xfrm>
            <a:off x="777240" y="804672"/>
            <a:ext cx="10927080" cy="731520"/>
          </a:xfrm>
          <a:prstGeom prst="rect">
            <a:avLst/>
          </a:prstGeom>
          <a:noFill/>
        </p:spPr>
        <p:txBody>
          <a:bodyPr wrap="square" anchor="t">
            <a:spAutoFit/>
          </a:bodyPr>
          <a:lstStyle/>
          <a:p>
            <a:pPr algn="l">
              <a:spcAft>
                <a:spcPts val="400"/>
              </a:spcAft>
            </a:pPr>
            <a:r>
              <a:rPr sz="2900" b="1">
                <a:solidFill>
                  <a:srgbClr val="161B26"/>
                </a:solidFill>
                <a:latin typeface="Arial"/>
              </a:rPr>
              <a:t>Let's Know Each Other</a:t>
            </a:r>
          </a:p>
        </p:txBody>
      </p:sp>
      <p:sp>
        <p:nvSpPr>
          <p:cNvPr id="6" name="Rectangle 5"/>
          <p:cNvSpPr/>
          <p:nvPr/>
        </p:nvSpPr>
        <p:spPr>
          <a:xfrm>
            <a:off x="777240" y="1572768"/>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777240" y="1783080"/>
            <a:ext cx="10607040" cy="4480560"/>
          </a:xfrm>
          <a:prstGeom prst="rect">
            <a:avLst/>
          </a:prstGeom>
          <a:noFill/>
        </p:spPr>
        <p:txBody>
          <a:bodyPr wrap="square">
            <a:spAutoFit/>
          </a:bodyPr>
          <a:lstStyle/>
          <a:p>
            <a:pPr>
              <a:spcAft>
                <a:spcPts val="1000"/>
              </a:spcAft>
            </a:pPr>
            <a:r>
              <a:rPr sz="2000" b="0">
                <a:solidFill>
                  <a:srgbClr val="161B26"/>
                </a:solidFill>
                <a:latin typeface="Arial"/>
              </a:rPr>
              <a:t>•  Your name and organisation / role.</a:t>
            </a:r>
          </a:p>
          <a:p>
            <a:pPr>
              <a:spcAft>
                <a:spcPts val="1000"/>
              </a:spcAft>
            </a:pPr>
            <a:r>
              <a:rPr sz="2000" b="0">
                <a:solidFill>
                  <a:srgbClr val="161B26"/>
                </a:solidFill>
                <a:latin typeface="Arial"/>
              </a:rPr>
              <a:t>•  Your experience with AWS, DevOps or automation (if any).</a:t>
            </a:r>
          </a:p>
          <a:p>
            <a:pPr>
              <a:spcAft>
                <a:spcPts val="1000"/>
              </a:spcAft>
            </a:pPr>
            <a:r>
              <a:rPr sz="2000" b="0">
                <a:solidFill>
                  <a:srgbClr val="161B26"/>
                </a:solidFill>
                <a:latin typeface="Arial"/>
              </a:rPr>
              <a:t>•  What you want to automate or improve on AWS after this course.</a:t>
            </a:r>
          </a:p>
        </p:txBody>
      </p:sp>
      <p:sp>
        <p:nvSpPr>
          <p:cNvPr id="8" name="TextBox 7"/>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DevOps Engineering on AWS  ·  TGS-2023040474</a:t>
            </a:r>
          </a:p>
        </p:txBody>
      </p:sp>
      <p:sp>
        <p:nvSpPr>
          <p:cNvPr id="9" name="TextBox 8"/>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0" name="TextBox 9"/>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5</a:t>
            </a:r>
          </a:p>
        </p:txBody>
      </p:sp>
    </p:spTree>
  </p:cSld>
  <p:clrMapOvr>
    <a:masterClrMapping/>
  </p:clrMapOvr>
  <p:transition xmlns:p14="http://schemas.microsoft.com/office/powerpoint/2010/main" p14:dur="380">
    <p:fade/>
  </p:transition>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38912"/>
            <a:ext cx="10607040" cy="365760"/>
          </a:xfrm>
          <a:prstGeom prst="rect">
            <a:avLst/>
          </a:prstGeom>
          <a:noFill/>
        </p:spPr>
        <p:txBody>
          <a:bodyPr wrap="square" anchor="t">
            <a:spAutoFit/>
          </a:bodyPr>
          <a:lstStyle/>
          <a:p>
            <a:pPr algn="l">
              <a:spcAft>
                <a:spcPts val="400"/>
              </a:spcAft>
            </a:pPr>
            <a:r>
              <a:rPr sz="1400" b="1">
                <a:solidFill>
                  <a:srgbClr val="1F6FEB"/>
                </a:solidFill>
                <a:latin typeface="Arial"/>
              </a:rPr>
              <a:t>HOUSEKEEPING</a:t>
            </a:r>
          </a:p>
        </p:txBody>
      </p:sp>
      <p:sp>
        <p:nvSpPr>
          <p:cNvPr id="5" name="TextBox 4"/>
          <p:cNvSpPr txBox="1"/>
          <p:nvPr/>
        </p:nvSpPr>
        <p:spPr>
          <a:xfrm>
            <a:off x="777240" y="804672"/>
            <a:ext cx="10927080" cy="731520"/>
          </a:xfrm>
          <a:prstGeom prst="rect">
            <a:avLst/>
          </a:prstGeom>
          <a:noFill/>
        </p:spPr>
        <p:txBody>
          <a:bodyPr wrap="square" anchor="t">
            <a:spAutoFit/>
          </a:bodyPr>
          <a:lstStyle/>
          <a:p>
            <a:pPr algn="l">
              <a:spcAft>
                <a:spcPts val="400"/>
              </a:spcAft>
            </a:pPr>
            <a:r>
              <a:rPr sz="2900" b="1">
                <a:solidFill>
                  <a:srgbClr val="161B26"/>
                </a:solidFill>
                <a:latin typeface="Arial"/>
              </a:rPr>
              <a:t>Ground Rules</a:t>
            </a:r>
          </a:p>
        </p:txBody>
      </p:sp>
      <p:sp>
        <p:nvSpPr>
          <p:cNvPr id="6" name="Rectangle 5"/>
          <p:cNvSpPr/>
          <p:nvPr/>
        </p:nvSpPr>
        <p:spPr>
          <a:xfrm>
            <a:off x="777240" y="1572768"/>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783080"/>
            <a:ext cx="5180076" cy="131064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1783080"/>
            <a:ext cx="91440" cy="131064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1033272" y="2164080"/>
            <a:ext cx="548640" cy="548640"/>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033272" y="2164080"/>
            <a:ext cx="548640" cy="548640"/>
          </a:xfrm>
          <a:prstGeom prst="rect">
            <a:avLst/>
          </a:prstGeom>
          <a:noFill/>
        </p:spPr>
        <p:txBody>
          <a:bodyPr wrap="square" anchor="ctr">
            <a:spAutoFit/>
          </a:bodyPr>
          <a:lstStyle/>
          <a:p>
            <a:pPr algn="ctr">
              <a:spcAft>
                <a:spcPts val="400"/>
              </a:spcAft>
            </a:pPr>
            <a:r>
              <a:rPr sz="1800" b="1">
                <a:solidFill>
                  <a:srgbClr val="FFFFFF"/>
                </a:solidFill>
                <a:latin typeface="Arial"/>
              </a:rPr>
              <a:t>1</a:t>
            </a:r>
          </a:p>
        </p:txBody>
      </p:sp>
      <p:sp>
        <p:nvSpPr>
          <p:cNvPr id="11" name="TextBox 10"/>
          <p:cNvSpPr txBox="1"/>
          <p:nvPr/>
        </p:nvSpPr>
        <p:spPr>
          <a:xfrm>
            <a:off x="1764792" y="1874520"/>
            <a:ext cx="3973068" cy="1164336"/>
          </a:xfrm>
          <a:prstGeom prst="rect">
            <a:avLst/>
          </a:prstGeom>
          <a:noFill/>
        </p:spPr>
        <p:txBody>
          <a:bodyPr wrap="square" anchor="ctr">
            <a:spAutoFit/>
          </a:bodyPr>
          <a:lstStyle/>
          <a:p>
            <a:pPr algn="l">
              <a:spcAft>
                <a:spcPts val="400"/>
              </a:spcAft>
            </a:pPr>
            <a:r>
              <a:rPr sz="1500" b="0">
                <a:solidFill>
                  <a:srgbClr val="161B26"/>
                </a:solidFill>
                <a:latin typeface="Arial"/>
              </a:rPr>
              <a:t>Set your mobile phone to silent mode.</a:t>
            </a:r>
          </a:p>
        </p:txBody>
      </p:sp>
      <p:sp>
        <p:nvSpPr>
          <p:cNvPr id="12" name="Rectangle 11"/>
          <p:cNvSpPr/>
          <p:nvPr/>
        </p:nvSpPr>
        <p:spPr>
          <a:xfrm>
            <a:off x="6231636" y="1783080"/>
            <a:ext cx="5180076" cy="131064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6231636" y="1783080"/>
            <a:ext cx="91440" cy="131064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Oval 13"/>
          <p:cNvSpPr/>
          <p:nvPr/>
        </p:nvSpPr>
        <p:spPr>
          <a:xfrm>
            <a:off x="6487668" y="2164080"/>
            <a:ext cx="548640" cy="54864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6487668" y="2164080"/>
            <a:ext cx="548640" cy="548640"/>
          </a:xfrm>
          <a:prstGeom prst="rect">
            <a:avLst/>
          </a:prstGeom>
          <a:noFill/>
        </p:spPr>
        <p:txBody>
          <a:bodyPr wrap="square" anchor="ctr">
            <a:spAutoFit/>
          </a:bodyPr>
          <a:lstStyle/>
          <a:p>
            <a:pPr algn="ctr">
              <a:spcAft>
                <a:spcPts val="400"/>
              </a:spcAft>
            </a:pPr>
            <a:r>
              <a:rPr sz="1800" b="1">
                <a:solidFill>
                  <a:srgbClr val="FFFFFF"/>
                </a:solidFill>
                <a:latin typeface="Arial"/>
              </a:rPr>
              <a:t>2</a:t>
            </a:r>
          </a:p>
        </p:txBody>
      </p:sp>
      <p:sp>
        <p:nvSpPr>
          <p:cNvPr id="16" name="TextBox 15"/>
          <p:cNvSpPr txBox="1"/>
          <p:nvPr/>
        </p:nvSpPr>
        <p:spPr>
          <a:xfrm>
            <a:off x="7219188" y="1874520"/>
            <a:ext cx="3973068" cy="1164336"/>
          </a:xfrm>
          <a:prstGeom prst="rect">
            <a:avLst/>
          </a:prstGeom>
          <a:noFill/>
        </p:spPr>
        <p:txBody>
          <a:bodyPr wrap="square" anchor="ctr">
            <a:spAutoFit/>
          </a:bodyPr>
          <a:lstStyle/>
          <a:p>
            <a:pPr algn="l">
              <a:spcAft>
                <a:spcPts val="400"/>
              </a:spcAft>
            </a:pPr>
            <a:r>
              <a:rPr sz="1500" b="0">
                <a:solidFill>
                  <a:srgbClr val="161B26"/>
                </a:solidFill>
                <a:latin typeface="Arial"/>
              </a:rPr>
              <a:t>Participate actively — no question is too small.</a:t>
            </a:r>
          </a:p>
        </p:txBody>
      </p:sp>
      <p:sp>
        <p:nvSpPr>
          <p:cNvPr id="17" name="Rectangle 16"/>
          <p:cNvSpPr/>
          <p:nvPr/>
        </p:nvSpPr>
        <p:spPr>
          <a:xfrm>
            <a:off x="777240" y="3313176"/>
            <a:ext cx="5180076" cy="131064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777240" y="3313176"/>
            <a:ext cx="91440" cy="1310640"/>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Oval 18"/>
          <p:cNvSpPr/>
          <p:nvPr/>
        </p:nvSpPr>
        <p:spPr>
          <a:xfrm>
            <a:off x="1033272" y="3694176"/>
            <a:ext cx="548640" cy="548640"/>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1033272" y="3694176"/>
            <a:ext cx="548640" cy="548640"/>
          </a:xfrm>
          <a:prstGeom prst="rect">
            <a:avLst/>
          </a:prstGeom>
          <a:noFill/>
        </p:spPr>
        <p:txBody>
          <a:bodyPr wrap="square" anchor="ctr">
            <a:spAutoFit/>
          </a:bodyPr>
          <a:lstStyle/>
          <a:p>
            <a:pPr algn="ctr">
              <a:spcAft>
                <a:spcPts val="400"/>
              </a:spcAft>
            </a:pPr>
            <a:r>
              <a:rPr sz="1800" b="1">
                <a:solidFill>
                  <a:srgbClr val="FFFFFF"/>
                </a:solidFill>
                <a:latin typeface="Arial"/>
              </a:rPr>
              <a:t>3</a:t>
            </a:r>
          </a:p>
        </p:txBody>
      </p:sp>
      <p:sp>
        <p:nvSpPr>
          <p:cNvPr id="21" name="TextBox 20"/>
          <p:cNvSpPr txBox="1"/>
          <p:nvPr/>
        </p:nvSpPr>
        <p:spPr>
          <a:xfrm>
            <a:off x="1764792" y="3404616"/>
            <a:ext cx="3973068" cy="1164336"/>
          </a:xfrm>
          <a:prstGeom prst="rect">
            <a:avLst/>
          </a:prstGeom>
          <a:noFill/>
        </p:spPr>
        <p:txBody>
          <a:bodyPr wrap="square" anchor="ctr">
            <a:spAutoFit/>
          </a:bodyPr>
          <a:lstStyle/>
          <a:p>
            <a:pPr algn="l">
              <a:spcAft>
                <a:spcPts val="400"/>
              </a:spcAft>
            </a:pPr>
            <a:r>
              <a:rPr sz="1500" b="0">
                <a:solidFill>
                  <a:srgbClr val="161B26"/>
                </a:solidFill>
                <a:latin typeface="Arial"/>
              </a:rPr>
              <a:t>Mutual respect: agree to disagree.</a:t>
            </a:r>
          </a:p>
        </p:txBody>
      </p:sp>
      <p:sp>
        <p:nvSpPr>
          <p:cNvPr id="22" name="Rectangle 21"/>
          <p:cNvSpPr/>
          <p:nvPr/>
        </p:nvSpPr>
        <p:spPr>
          <a:xfrm>
            <a:off x="6231636" y="3313176"/>
            <a:ext cx="5180076" cy="131064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ectangle 22"/>
          <p:cNvSpPr/>
          <p:nvPr/>
        </p:nvSpPr>
        <p:spPr>
          <a:xfrm>
            <a:off x="6231636" y="3313176"/>
            <a:ext cx="91440" cy="1310640"/>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Oval 23"/>
          <p:cNvSpPr/>
          <p:nvPr/>
        </p:nvSpPr>
        <p:spPr>
          <a:xfrm>
            <a:off x="6487668" y="3694176"/>
            <a:ext cx="548640" cy="548640"/>
          </a:xfrm>
          <a:prstGeom prst="ellipse">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6487668" y="3694176"/>
            <a:ext cx="548640" cy="548640"/>
          </a:xfrm>
          <a:prstGeom prst="rect">
            <a:avLst/>
          </a:prstGeom>
          <a:noFill/>
        </p:spPr>
        <p:txBody>
          <a:bodyPr wrap="square" anchor="ctr">
            <a:spAutoFit/>
          </a:bodyPr>
          <a:lstStyle/>
          <a:p>
            <a:pPr algn="ctr">
              <a:spcAft>
                <a:spcPts val="400"/>
              </a:spcAft>
            </a:pPr>
            <a:r>
              <a:rPr sz="1800" b="1">
                <a:solidFill>
                  <a:srgbClr val="FFFFFF"/>
                </a:solidFill>
                <a:latin typeface="Arial"/>
              </a:rPr>
              <a:t>4</a:t>
            </a:r>
          </a:p>
        </p:txBody>
      </p:sp>
      <p:sp>
        <p:nvSpPr>
          <p:cNvPr id="26" name="TextBox 25"/>
          <p:cNvSpPr txBox="1"/>
          <p:nvPr/>
        </p:nvSpPr>
        <p:spPr>
          <a:xfrm>
            <a:off x="7219188" y="3404616"/>
            <a:ext cx="3973068" cy="1164336"/>
          </a:xfrm>
          <a:prstGeom prst="rect">
            <a:avLst/>
          </a:prstGeom>
          <a:noFill/>
        </p:spPr>
        <p:txBody>
          <a:bodyPr wrap="square" anchor="ctr">
            <a:spAutoFit/>
          </a:bodyPr>
          <a:lstStyle/>
          <a:p>
            <a:pPr algn="l">
              <a:spcAft>
                <a:spcPts val="400"/>
              </a:spcAft>
            </a:pPr>
            <a:r>
              <a:rPr sz="1500" b="0">
                <a:solidFill>
                  <a:srgbClr val="161B26"/>
                </a:solidFill>
                <a:latin typeface="Arial"/>
              </a:rPr>
              <a:t>One conversation at a time.</a:t>
            </a:r>
          </a:p>
        </p:txBody>
      </p:sp>
      <p:sp>
        <p:nvSpPr>
          <p:cNvPr id="27" name="Rectangle 26"/>
          <p:cNvSpPr/>
          <p:nvPr/>
        </p:nvSpPr>
        <p:spPr>
          <a:xfrm>
            <a:off x="777240" y="4843272"/>
            <a:ext cx="5180076" cy="131064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Rectangle 27"/>
          <p:cNvSpPr/>
          <p:nvPr/>
        </p:nvSpPr>
        <p:spPr>
          <a:xfrm>
            <a:off x="777240" y="4843272"/>
            <a:ext cx="91440" cy="1310640"/>
          </a:xfrm>
          <a:prstGeom prst="rect">
            <a:avLst/>
          </a:prstGeom>
          <a:solidFill>
            <a:srgbClr val="EC711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Oval 28"/>
          <p:cNvSpPr/>
          <p:nvPr/>
        </p:nvSpPr>
        <p:spPr>
          <a:xfrm>
            <a:off x="1033272" y="5224272"/>
            <a:ext cx="548640" cy="548640"/>
          </a:xfrm>
          <a:prstGeom prst="ellipse">
            <a:avLst/>
          </a:prstGeom>
          <a:solidFill>
            <a:srgbClr val="EC711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1033272" y="5224272"/>
            <a:ext cx="548640" cy="548640"/>
          </a:xfrm>
          <a:prstGeom prst="rect">
            <a:avLst/>
          </a:prstGeom>
          <a:noFill/>
        </p:spPr>
        <p:txBody>
          <a:bodyPr wrap="square" anchor="ctr">
            <a:spAutoFit/>
          </a:bodyPr>
          <a:lstStyle/>
          <a:p>
            <a:pPr algn="ctr">
              <a:spcAft>
                <a:spcPts val="400"/>
              </a:spcAft>
            </a:pPr>
            <a:r>
              <a:rPr sz="1800" b="1">
                <a:solidFill>
                  <a:srgbClr val="FFFFFF"/>
                </a:solidFill>
                <a:latin typeface="Arial"/>
              </a:rPr>
              <a:t>5</a:t>
            </a:r>
          </a:p>
        </p:txBody>
      </p:sp>
      <p:sp>
        <p:nvSpPr>
          <p:cNvPr id="31" name="TextBox 30"/>
          <p:cNvSpPr txBox="1"/>
          <p:nvPr/>
        </p:nvSpPr>
        <p:spPr>
          <a:xfrm>
            <a:off x="1764792" y="4934712"/>
            <a:ext cx="3973068" cy="1164336"/>
          </a:xfrm>
          <a:prstGeom prst="rect">
            <a:avLst/>
          </a:prstGeom>
          <a:noFill/>
        </p:spPr>
        <p:txBody>
          <a:bodyPr wrap="square" anchor="ctr">
            <a:spAutoFit/>
          </a:bodyPr>
          <a:lstStyle/>
          <a:p>
            <a:pPr algn="l">
              <a:spcAft>
                <a:spcPts val="400"/>
              </a:spcAft>
            </a:pPr>
            <a:r>
              <a:rPr sz="1500" b="0">
                <a:solidFill>
                  <a:srgbClr val="161B26"/>
                </a:solidFill>
                <a:latin typeface="Arial"/>
              </a:rPr>
              <a:t>Be punctual; return from breaks on time.</a:t>
            </a:r>
          </a:p>
        </p:txBody>
      </p:sp>
      <p:sp>
        <p:nvSpPr>
          <p:cNvPr id="32" name="Rectangle 31"/>
          <p:cNvSpPr/>
          <p:nvPr/>
        </p:nvSpPr>
        <p:spPr>
          <a:xfrm>
            <a:off x="6231636" y="4843272"/>
            <a:ext cx="5180076" cy="131064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Rectangle 32"/>
          <p:cNvSpPr/>
          <p:nvPr/>
        </p:nvSpPr>
        <p:spPr>
          <a:xfrm>
            <a:off x="6231636" y="4843272"/>
            <a:ext cx="91440" cy="1310640"/>
          </a:xfrm>
          <a:prstGeom prst="rect">
            <a:avLst/>
          </a:prstGeom>
          <a:solidFill>
            <a:srgbClr val="0E9EC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Oval 33"/>
          <p:cNvSpPr/>
          <p:nvPr/>
        </p:nvSpPr>
        <p:spPr>
          <a:xfrm>
            <a:off x="6487668" y="5224272"/>
            <a:ext cx="548640" cy="548640"/>
          </a:xfrm>
          <a:prstGeom prst="ellipse">
            <a:avLst/>
          </a:prstGeom>
          <a:solidFill>
            <a:srgbClr val="0E9EC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TextBox 34"/>
          <p:cNvSpPr txBox="1"/>
          <p:nvPr/>
        </p:nvSpPr>
        <p:spPr>
          <a:xfrm>
            <a:off x="6487668" y="5224272"/>
            <a:ext cx="548640" cy="548640"/>
          </a:xfrm>
          <a:prstGeom prst="rect">
            <a:avLst/>
          </a:prstGeom>
          <a:noFill/>
        </p:spPr>
        <p:txBody>
          <a:bodyPr wrap="square" anchor="ctr">
            <a:spAutoFit/>
          </a:bodyPr>
          <a:lstStyle/>
          <a:p>
            <a:pPr algn="ctr">
              <a:spcAft>
                <a:spcPts val="400"/>
              </a:spcAft>
            </a:pPr>
            <a:r>
              <a:rPr sz="1800" b="1">
                <a:solidFill>
                  <a:srgbClr val="FFFFFF"/>
                </a:solidFill>
                <a:latin typeface="Arial"/>
              </a:rPr>
              <a:t>6</a:t>
            </a:r>
          </a:p>
        </p:txBody>
      </p:sp>
      <p:sp>
        <p:nvSpPr>
          <p:cNvPr id="36" name="TextBox 35"/>
          <p:cNvSpPr txBox="1"/>
          <p:nvPr/>
        </p:nvSpPr>
        <p:spPr>
          <a:xfrm>
            <a:off x="7219188" y="4934712"/>
            <a:ext cx="3973068" cy="1164336"/>
          </a:xfrm>
          <a:prstGeom prst="rect">
            <a:avLst/>
          </a:prstGeom>
          <a:noFill/>
        </p:spPr>
        <p:txBody>
          <a:bodyPr wrap="square" anchor="ctr">
            <a:spAutoFit/>
          </a:bodyPr>
          <a:lstStyle/>
          <a:p>
            <a:pPr algn="l">
              <a:spcAft>
                <a:spcPts val="400"/>
              </a:spcAft>
            </a:pPr>
            <a:r>
              <a:rPr sz="1500" b="0">
                <a:solidFill>
                  <a:srgbClr val="161B26"/>
                </a:solidFill>
                <a:latin typeface="Arial"/>
              </a:rPr>
              <a:t>75% attendance is required for funding.</a:t>
            </a:r>
          </a:p>
        </p:txBody>
      </p:sp>
      <p:sp>
        <p:nvSpPr>
          <p:cNvPr id="37" name="TextBox 36"/>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DevOps Engineering on AWS  ·  TGS-2023040474</a:t>
            </a:r>
          </a:p>
        </p:txBody>
      </p:sp>
      <p:sp>
        <p:nvSpPr>
          <p:cNvPr id="38" name="TextBox 37"/>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39" name="TextBox 38"/>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6</a:t>
            </a:r>
          </a:p>
        </p:txBody>
      </p:sp>
    </p:spTree>
  </p:cSld>
  <p:clrMapOvr>
    <a:masterClrMapping/>
  </p:clrMapOvr>
  <p:transition xmlns:p14="http://schemas.microsoft.com/office/powerpoint/2010/main" p14:dur="380">
    <p:fade/>
  </p:transition>
</p:sld>
</file>

<file path=ppt/slides/slide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38912"/>
            <a:ext cx="10607040" cy="365760"/>
          </a:xfrm>
          <a:prstGeom prst="rect">
            <a:avLst/>
          </a:prstGeom>
          <a:noFill/>
        </p:spPr>
        <p:txBody>
          <a:bodyPr wrap="square" anchor="t">
            <a:spAutoFit/>
          </a:bodyPr>
          <a:lstStyle/>
          <a:p>
            <a:pPr algn="l">
              <a:spcAft>
                <a:spcPts val="400"/>
              </a:spcAft>
            </a:pPr>
            <a:r>
              <a:rPr sz="1400" b="1">
                <a:solidFill>
                  <a:srgbClr val="1F6FEB"/>
                </a:solidFill>
                <a:latin typeface="Arial"/>
              </a:rPr>
              <a:t>COURSE PORTAL</a:t>
            </a:r>
          </a:p>
        </p:txBody>
      </p:sp>
      <p:sp>
        <p:nvSpPr>
          <p:cNvPr id="5" name="TextBox 4"/>
          <p:cNvSpPr txBox="1"/>
          <p:nvPr/>
        </p:nvSpPr>
        <p:spPr>
          <a:xfrm>
            <a:off x="777240" y="804672"/>
            <a:ext cx="10927080" cy="731520"/>
          </a:xfrm>
          <a:prstGeom prst="rect">
            <a:avLst/>
          </a:prstGeom>
          <a:noFill/>
        </p:spPr>
        <p:txBody>
          <a:bodyPr wrap="square" anchor="t">
            <a:spAutoFit/>
          </a:bodyPr>
          <a:lstStyle/>
          <a:p>
            <a:pPr algn="l">
              <a:spcAft>
                <a:spcPts val="400"/>
              </a:spcAft>
            </a:pPr>
            <a:r>
              <a:rPr sz="2900" b="1">
                <a:solidFill>
                  <a:srgbClr val="161B26"/>
                </a:solidFill>
                <a:latin typeface="Arial"/>
              </a:rPr>
              <a:t>Download Your Course Material</a:t>
            </a:r>
          </a:p>
        </p:txBody>
      </p:sp>
      <p:sp>
        <p:nvSpPr>
          <p:cNvPr id="6" name="Rectangle 5"/>
          <p:cNvSpPr/>
          <p:nvPr/>
        </p:nvSpPr>
        <p:spPr>
          <a:xfrm>
            <a:off x="777240" y="1572768"/>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828800"/>
            <a:ext cx="6309360" cy="4160520"/>
          </a:xfrm>
          <a:prstGeom prst="rect">
            <a:avLst/>
          </a:prstGeom>
          <a:solidFill>
            <a:srgbClr val="FFFFFF"/>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1828800"/>
            <a:ext cx="6309360" cy="457200"/>
          </a:xfrm>
          <a:prstGeom prst="rect">
            <a:avLst/>
          </a:prstGeom>
          <a:solidFill>
            <a:srgbClr val="0B214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960120" y="1984248"/>
            <a:ext cx="146304" cy="146304"/>
          </a:xfrm>
          <a:prstGeom prst="ellipse">
            <a:avLst/>
          </a:prstGeom>
          <a:solidFill>
            <a:srgbClr val="FF5F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Oval 9"/>
          <p:cNvSpPr/>
          <p:nvPr/>
        </p:nvSpPr>
        <p:spPr>
          <a:xfrm>
            <a:off x="1216152" y="1984248"/>
            <a:ext cx="146304" cy="146304"/>
          </a:xfrm>
          <a:prstGeom prst="ellipse">
            <a:avLst/>
          </a:prstGeom>
          <a:solidFill>
            <a:srgbClr val="FEBC2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Oval 10"/>
          <p:cNvSpPr/>
          <p:nvPr/>
        </p:nvSpPr>
        <p:spPr>
          <a:xfrm>
            <a:off x="1472184" y="1984248"/>
            <a:ext cx="146304" cy="146304"/>
          </a:xfrm>
          <a:prstGeom prst="ellipse">
            <a:avLst/>
          </a:prstGeom>
          <a:solidFill>
            <a:srgbClr val="28C84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ectangle 11"/>
          <p:cNvSpPr/>
          <p:nvPr/>
        </p:nvSpPr>
        <p:spPr>
          <a:xfrm>
            <a:off x="1783080" y="1938528"/>
            <a:ext cx="5120640" cy="237744"/>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1920240" y="1920240"/>
            <a:ext cx="4937760" cy="274320"/>
          </a:xfrm>
          <a:prstGeom prst="rect">
            <a:avLst/>
          </a:prstGeom>
          <a:noFill/>
        </p:spPr>
        <p:txBody>
          <a:bodyPr wrap="square" anchor="ctr">
            <a:spAutoFit/>
          </a:bodyPr>
          <a:lstStyle/>
          <a:p>
            <a:pPr algn="l">
              <a:spcAft>
                <a:spcPts val="400"/>
              </a:spcAft>
            </a:pPr>
            <a:r>
              <a:rPr sz="1200" b="0">
                <a:solidFill>
                  <a:srgbClr val="5B6372"/>
                </a:solidFill>
                <a:latin typeface="Arial"/>
              </a:rPr>
              <a:t>🔒  lms-tms.tertiaryinfotech.com</a:t>
            </a:r>
          </a:p>
        </p:txBody>
      </p:sp>
      <p:sp>
        <p:nvSpPr>
          <p:cNvPr id="14" name="Rectangle 13"/>
          <p:cNvSpPr/>
          <p:nvPr/>
        </p:nvSpPr>
        <p:spPr>
          <a:xfrm>
            <a:off x="1051560" y="2514600"/>
            <a:ext cx="5760720" cy="73152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1234440" y="2578608"/>
            <a:ext cx="5394960" cy="640080"/>
          </a:xfrm>
          <a:prstGeom prst="rect">
            <a:avLst/>
          </a:prstGeom>
          <a:noFill/>
        </p:spPr>
        <p:txBody>
          <a:bodyPr wrap="square" anchor="ctr">
            <a:spAutoFit/>
          </a:bodyPr>
          <a:lstStyle/>
          <a:p>
            <a:pPr algn="l">
              <a:spcAft>
                <a:spcPts val="200"/>
              </a:spcAft>
            </a:pPr>
            <a:r>
              <a:rPr sz="1400" b="1">
                <a:solidFill>
                  <a:srgbClr val="161B26"/>
                </a:solidFill>
                <a:latin typeface="Arial"/>
              </a:rPr>
              <a:t>DevOps Engineering on AWS</a:t>
            </a:r>
          </a:p>
          <a:p>
            <a:pPr algn="l">
              <a:spcAft>
                <a:spcPts val="200"/>
              </a:spcAft>
            </a:pPr>
            <a:r>
              <a:rPr sz="1100" b="0">
                <a:solidFill>
                  <a:srgbClr val="5B6372"/>
                </a:solidFill>
                <a:latin typeface="Arial"/>
              </a:rPr>
              <a:t>My Courses ›  Course Material</a:t>
            </a:r>
          </a:p>
        </p:txBody>
      </p:sp>
      <p:sp>
        <p:nvSpPr>
          <p:cNvPr id="16" name="Rounded Rectangle 15"/>
          <p:cNvSpPr/>
          <p:nvPr/>
        </p:nvSpPr>
        <p:spPr>
          <a:xfrm>
            <a:off x="1051560" y="3429000"/>
            <a:ext cx="5760720" cy="530352"/>
          </a:xfrm>
          <a:prstGeom prst="roundRect">
            <a:avLst/>
          </a:prstGeom>
          <a:solidFill>
            <a:srgbClr val="FFFFFF"/>
          </a:solidFill>
          <a:ln w="15875">
            <a:solidFill>
              <a:srgbClr val="1F6FE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1234440" y="3429000"/>
            <a:ext cx="5394960" cy="530352"/>
          </a:xfrm>
          <a:prstGeom prst="rect">
            <a:avLst/>
          </a:prstGeom>
          <a:noFill/>
        </p:spPr>
        <p:txBody>
          <a:bodyPr wrap="square" anchor="ctr">
            <a:spAutoFit/>
          </a:bodyPr>
          <a:lstStyle/>
          <a:p>
            <a:pPr algn="l">
              <a:spcAft>
                <a:spcPts val="400"/>
              </a:spcAft>
            </a:pPr>
            <a:r>
              <a:rPr sz="1300" b="1">
                <a:solidFill>
                  <a:srgbClr val="1F6FEB"/>
                </a:solidFill>
                <a:latin typeface="Arial"/>
              </a:rPr>
              <a:t>⬇  Trainer Slides (PDF)</a:t>
            </a:r>
          </a:p>
        </p:txBody>
      </p:sp>
      <p:sp>
        <p:nvSpPr>
          <p:cNvPr id="18" name="Rounded Rectangle 17"/>
          <p:cNvSpPr/>
          <p:nvPr/>
        </p:nvSpPr>
        <p:spPr>
          <a:xfrm>
            <a:off x="1051560" y="4087368"/>
            <a:ext cx="5760720" cy="530352"/>
          </a:xfrm>
          <a:prstGeom prst="roundRect">
            <a:avLst/>
          </a:prstGeom>
          <a:solidFill>
            <a:srgbClr val="FFFFFF"/>
          </a:solidFill>
          <a:ln w="15875">
            <a:solidFill>
              <a:srgbClr val="10B98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1234440" y="4087368"/>
            <a:ext cx="5394960" cy="530352"/>
          </a:xfrm>
          <a:prstGeom prst="rect">
            <a:avLst/>
          </a:prstGeom>
          <a:noFill/>
        </p:spPr>
        <p:txBody>
          <a:bodyPr wrap="square" anchor="ctr">
            <a:spAutoFit/>
          </a:bodyPr>
          <a:lstStyle/>
          <a:p>
            <a:pPr algn="l">
              <a:spcAft>
                <a:spcPts val="400"/>
              </a:spcAft>
            </a:pPr>
            <a:r>
              <a:rPr sz="1300" b="1">
                <a:solidFill>
                  <a:srgbClr val="10B981"/>
                </a:solidFill>
                <a:latin typeface="Arial"/>
              </a:rPr>
              <a:t>⬇  Learner Guide (PDF)</a:t>
            </a:r>
          </a:p>
        </p:txBody>
      </p:sp>
      <p:sp>
        <p:nvSpPr>
          <p:cNvPr id="20" name="Rounded Rectangle 19"/>
          <p:cNvSpPr/>
          <p:nvPr/>
        </p:nvSpPr>
        <p:spPr>
          <a:xfrm>
            <a:off x="1051560" y="4745736"/>
            <a:ext cx="5760720" cy="530352"/>
          </a:xfrm>
          <a:prstGeom prst="roundRect">
            <a:avLst/>
          </a:prstGeom>
          <a:solidFill>
            <a:srgbClr val="FFFFFF"/>
          </a:solidFill>
          <a:ln w="15875">
            <a:solidFill>
              <a:srgbClr val="7C3AED"/>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1234440" y="4745736"/>
            <a:ext cx="5394960" cy="530352"/>
          </a:xfrm>
          <a:prstGeom prst="rect">
            <a:avLst/>
          </a:prstGeom>
          <a:noFill/>
        </p:spPr>
        <p:txBody>
          <a:bodyPr wrap="square" anchor="ctr">
            <a:spAutoFit/>
          </a:bodyPr>
          <a:lstStyle/>
          <a:p>
            <a:pPr algn="l">
              <a:spcAft>
                <a:spcPts val="400"/>
              </a:spcAft>
            </a:pPr>
            <a:r>
              <a:rPr sz="1300" b="1">
                <a:solidFill>
                  <a:srgbClr val="7C3AED"/>
                </a:solidFill>
                <a:latin typeface="Arial"/>
              </a:rPr>
              <a:t>⬇  Lesson Plan (PDF)</a:t>
            </a:r>
          </a:p>
        </p:txBody>
      </p:sp>
      <p:sp>
        <p:nvSpPr>
          <p:cNvPr id="22" name="Rectangle 21"/>
          <p:cNvSpPr/>
          <p:nvPr/>
        </p:nvSpPr>
        <p:spPr>
          <a:xfrm>
            <a:off x="7360920" y="1828800"/>
            <a:ext cx="4069080" cy="83439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ectangle 22"/>
          <p:cNvSpPr/>
          <p:nvPr/>
        </p:nvSpPr>
        <p:spPr>
          <a:xfrm>
            <a:off x="7360920" y="1828800"/>
            <a:ext cx="91440" cy="83439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Oval 23"/>
          <p:cNvSpPr/>
          <p:nvPr/>
        </p:nvSpPr>
        <p:spPr>
          <a:xfrm>
            <a:off x="7562088" y="1989963"/>
            <a:ext cx="512064" cy="512064"/>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7562088" y="1989963"/>
            <a:ext cx="512064" cy="512064"/>
          </a:xfrm>
          <a:prstGeom prst="rect">
            <a:avLst/>
          </a:prstGeom>
          <a:noFill/>
        </p:spPr>
        <p:txBody>
          <a:bodyPr wrap="square" anchor="ctr">
            <a:spAutoFit/>
          </a:bodyPr>
          <a:lstStyle/>
          <a:p>
            <a:pPr algn="ctr">
              <a:spcAft>
                <a:spcPts val="400"/>
              </a:spcAft>
            </a:pPr>
            <a:r>
              <a:rPr sz="1800" b="1">
                <a:solidFill>
                  <a:srgbClr val="FFFFFF"/>
                </a:solidFill>
                <a:latin typeface="Arial"/>
              </a:rPr>
              <a:t>1</a:t>
            </a:r>
          </a:p>
        </p:txBody>
      </p:sp>
      <p:sp>
        <p:nvSpPr>
          <p:cNvPr id="26" name="TextBox 25"/>
          <p:cNvSpPr txBox="1"/>
          <p:nvPr/>
        </p:nvSpPr>
        <p:spPr>
          <a:xfrm>
            <a:off x="8229600" y="1828800"/>
            <a:ext cx="3063240" cy="834390"/>
          </a:xfrm>
          <a:prstGeom prst="rect">
            <a:avLst/>
          </a:prstGeom>
          <a:noFill/>
        </p:spPr>
        <p:txBody>
          <a:bodyPr wrap="square" anchor="ctr">
            <a:spAutoFit/>
          </a:bodyPr>
          <a:lstStyle/>
          <a:p>
            <a:pPr algn="l">
              <a:spcAft>
                <a:spcPts val="200"/>
              </a:spcAft>
            </a:pPr>
            <a:r>
              <a:rPr sz="1400" b="1">
                <a:solidFill>
                  <a:srgbClr val="161B26"/>
                </a:solidFill>
                <a:latin typeface="Arial"/>
              </a:rPr>
              <a:t>Sign in</a:t>
            </a:r>
          </a:p>
          <a:p>
            <a:pPr algn="l">
              <a:spcAft>
                <a:spcPts val="200"/>
              </a:spcAft>
            </a:pPr>
            <a:r>
              <a:rPr sz="1150" b="0">
                <a:solidFill>
                  <a:srgbClr val="5B6372"/>
                </a:solidFill>
                <a:latin typeface="Arial"/>
              </a:rPr>
              <a:t>Log in to lms-tms.tertiaryinfotech.com with your enrolled account.</a:t>
            </a:r>
          </a:p>
        </p:txBody>
      </p:sp>
      <p:sp>
        <p:nvSpPr>
          <p:cNvPr id="27" name="Rectangle 26"/>
          <p:cNvSpPr/>
          <p:nvPr/>
        </p:nvSpPr>
        <p:spPr>
          <a:xfrm>
            <a:off x="7360920" y="2937510"/>
            <a:ext cx="4069080" cy="83439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Rectangle 27"/>
          <p:cNvSpPr/>
          <p:nvPr/>
        </p:nvSpPr>
        <p:spPr>
          <a:xfrm>
            <a:off x="7360920" y="2937510"/>
            <a:ext cx="91440" cy="83439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Oval 28"/>
          <p:cNvSpPr/>
          <p:nvPr/>
        </p:nvSpPr>
        <p:spPr>
          <a:xfrm>
            <a:off x="7562088" y="3098673"/>
            <a:ext cx="512064" cy="512064"/>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7562088" y="3098673"/>
            <a:ext cx="512064" cy="512064"/>
          </a:xfrm>
          <a:prstGeom prst="rect">
            <a:avLst/>
          </a:prstGeom>
          <a:noFill/>
        </p:spPr>
        <p:txBody>
          <a:bodyPr wrap="square" anchor="ctr">
            <a:spAutoFit/>
          </a:bodyPr>
          <a:lstStyle/>
          <a:p>
            <a:pPr algn="ctr">
              <a:spcAft>
                <a:spcPts val="400"/>
              </a:spcAft>
            </a:pPr>
            <a:r>
              <a:rPr sz="1800" b="1">
                <a:solidFill>
                  <a:srgbClr val="FFFFFF"/>
                </a:solidFill>
                <a:latin typeface="Arial"/>
              </a:rPr>
              <a:t>2</a:t>
            </a:r>
          </a:p>
        </p:txBody>
      </p:sp>
      <p:sp>
        <p:nvSpPr>
          <p:cNvPr id="31" name="TextBox 30"/>
          <p:cNvSpPr txBox="1"/>
          <p:nvPr/>
        </p:nvSpPr>
        <p:spPr>
          <a:xfrm>
            <a:off x="8229600" y="2937510"/>
            <a:ext cx="3063240" cy="834390"/>
          </a:xfrm>
          <a:prstGeom prst="rect">
            <a:avLst/>
          </a:prstGeom>
          <a:noFill/>
        </p:spPr>
        <p:txBody>
          <a:bodyPr wrap="square" anchor="ctr">
            <a:spAutoFit/>
          </a:bodyPr>
          <a:lstStyle/>
          <a:p>
            <a:pPr algn="l">
              <a:spcAft>
                <a:spcPts val="200"/>
              </a:spcAft>
            </a:pPr>
            <a:r>
              <a:rPr sz="1400" b="1">
                <a:solidFill>
                  <a:srgbClr val="161B26"/>
                </a:solidFill>
                <a:latin typeface="Arial"/>
              </a:rPr>
              <a:t>Open your course</a:t>
            </a:r>
          </a:p>
          <a:p>
            <a:pPr algn="l">
              <a:spcAft>
                <a:spcPts val="200"/>
              </a:spcAft>
            </a:pPr>
            <a:r>
              <a:rPr sz="1150" b="0">
                <a:solidFill>
                  <a:srgbClr val="5B6372"/>
                </a:solidFill>
                <a:latin typeface="Arial"/>
              </a:rPr>
              <a:t>Go to My Courses and select DevOps Engineering on AWS.</a:t>
            </a:r>
          </a:p>
        </p:txBody>
      </p:sp>
      <p:sp>
        <p:nvSpPr>
          <p:cNvPr id="32" name="Rectangle 31"/>
          <p:cNvSpPr/>
          <p:nvPr/>
        </p:nvSpPr>
        <p:spPr>
          <a:xfrm>
            <a:off x="7360920" y="4046220"/>
            <a:ext cx="4069080" cy="83439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Rectangle 32"/>
          <p:cNvSpPr/>
          <p:nvPr/>
        </p:nvSpPr>
        <p:spPr>
          <a:xfrm>
            <a:off x="7360920" y="4046220"/>
            <a:ext cx="91440" cy="834390"/>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Oval 33"/>
          <p:cNvSpPr/>
          <p:nvPr/>
        </p:nvSpPr>
        <p:spPr>
          <a:xfrm>
            <a:off x="7562088" y="4207383"/>
            <a:ext cx="512064" cy="512064"/>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TextBox 34"/>
          <p:cNvSpPr txBox="1"/>
          <p:nvPr/>
        </p:nvSpPr>
        <p:spPr>
          <a:xfrm>
            <a:off x="7562088" y="4207383"/>
            <a:ext cx="512064" cy="512064"/>
          </a:xfrm>
          <a:prstGeom prst="rect">
            <a:avLst/>
          </a:prstGeom>
          <a:noFill/>
        </p:spPr>
        <p:txBody>
          <a:bodyPr wrap="square" anchor="ctr">
            <a:spAutoFit/>
          </a:bodyPr>
          <a:lstStyle/>
          <a:p>
            <a:pPr algn="ctr">
              <a:spcAft>
                <a:spcPts val="400"/>
              </a:spcAft>
            </a:pPr>
            <a:r>
              <a:rPr sz="1800" b="1">
                <a:solidFill>
                  <a:srgbClr val="FFFFFF"/>
                </a:solidFill>
                <a:latin typeface="Arial"/>
              </a:rPr>
              <a:t>3</a:t>
            </a:r>
          </a:p>
        </p:txBody>
      </p:sp>
      <p:sp>
        <p:nvSpPr>
          <p:cNvPr id="36" name="TextBox 35"/>
          <p:cNvSpPr txBox="1"/>
          <p:nvPr/>
        </p:nvSpPr>
        <p:spPr>
          <a:xfrm>
            <a:off x="8229600" y="4046220"/>
            <a:ext cx="3063240" cy="834390"/>
          </a:xfrm>
          <a:prstGeom prst="rect">
            <a:avLst/>
          </a:prstGeom>
          <a:noFill/>
        </p:spPr>
        <p:txBody>
          <a:bodyPr wrap="square" anchor="ctr">
            <a:spAutoFit/>
          </a:bodyPr>
          <a:lstStyle/>
          <a:p>
            <a:pPr algn="l">
              <a:spcAft>
                <a:spcPts val="200"/>
              </a:spcAft>
            </a:pPr>
            <a:r>
              <a:rPr sz="1400" b="1">
                <a:solidFill>
                  <a:srgbClr val="161B26"/>
                </a:solidFill>
                <a:latin typeface="Arial"/>
              </a:rPr>
              <a:t>Course Material</a:t>
            </a:r>
          </a:p>
          <a:p>
            <a:pPr algn="l">
              <a:spcAft>
                <a:spcPts val="200"/>
              </a:spcAft>
            </a:pPr>
            <a:r>
              <a:rPr sz="1150" b="0">
                <a:solidFill>
                  <a:srgbClr val="5B6372"/>
                </a:solidFill>
                <a:latin typeface="Arial"/>
              </a:rPr>
              <a:t>Open the Course Material tab for this course.</a:t>
            </a:r>
          </a:p>
        </p:txBody>
      </p:sp>
      <p:sp>
        <p:nvSpPr>
          <p:cNvPr id="37" name="Rectangle 36"/>
          <p:cNvSpPr/>
          <p:nvPr/>
        </p:nvSpPr>
        <p:spPr>
          <a:xfrm>
            <a:off x="7360920" y="5154930"/>
            <a:ext cx="4069080" cy="83439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8" name="Rectangle 37"/>
          <p:cNvSpPr/>
          <p:nvPr/>
        </p:nvSpPr>
        <p:spPr>
          <a:xfrm>
            <a:off x="7360920" y="5154930"/>
            <a:ext cx="91440" cy="834390"/>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9" name="Oval 38"/>
          <p:cNvSpPr/>
          <p:nvPr/>
        </p:nvSpPr>
        <p:spPr>
          <a:xfrm>
            <a:off x="7562088" y="5316093"/>
            <a:ext cx="512064" cy="512064"/>
          </a:xfrm>
          <a:prstGeom prst="ellipse">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0" name="TextBox 39"/>
          <p:cNvSpPr txBox="1"/>
          <p:nvPr/>
        </p:nvSpPr>
        <p:spPr>
          <a:xfrm>
            <a:off x="7562088" y="5316093"/>
            <a:ext cx="512064" cy="512064"/>
          </a:xfrm>
          <a:prstGeom prst="rect">
            <a:avLst/>
          </a:prstGeom>
          <a:noFill/>
        </p:spPr>
        <p:txBody>
          <a:bodyPr wrap="square" anchor="ctr">
            <a:spAutoFit/>
          </a:bodyPr>
          <a:lstStyle/>
          <a:p>
            <a:pPr algn="ctr">
              <a:spcAft>
                <a:spcPts val="400"/>
              </a:spcAft>
            </a:pPr>
            <a:r>
              <a:rPr sz="1800" b="1">
                <a:solidFill>
                  <a:srgbClr val="FFFFFF"/>
                </a:solidFill>
                <a:latin typeface="Arial"/>
              </a:rPr>
              <a:t>4</a:t>
            </a:r>
          </a:p>
        </p:txBody>
      </p:sp>
      <p:sp>
        <p:nvSpPr>
          <p:cNvPr id="41" name="TextBox 40"/>
          <p:cNvSpPr txBox="1"/>
          <p:nvPr/>
        </p:nvSpPr>
        <p:spPr>
          <a:xfrm>
            <a:off x="8229600" y="5154930"/>
            <a:ext cx="3063240" cy="834390"/>
          </a:xfrm>
          <a:prstGeom prst="rect">
            <a:avLst/>
          </a:prstGeom>
          <a:noFill/>
        </p:spPr>
        <p:txBody>
          <a:bodyPr wrap="square" anchor="ctr">
            <a:spAutoFit/>
          </a:bodyPr>
          <a:lstStyle/>
          <a:p>
            <a:pPr algn="l">
              <a:spcAft>
                <a:spcPts val="200"/>
              </a:spcAft>
            </a:pPr>
            <a:r>
              <a:rPr sz="1400" b="1">
                <a:solidFill>
                  <a:srgbClr val="161B26"/>
                </a:solidFill>
                <a:latin typeface="Arial"/>
              </a:rPr>
              <a:t>Download</a:t>
            </a:r>
          </a:p>
          <a:p>
            <a:pPr algn="l">
              <a:spcAft>
                <a:spcPts val="200"/>
              </a:spcAft>
            </a:pPr>
            <a:r>
              <a:rPr sz="1150" b="0">
                <a:solidFill>
                  <a:srgbClr val="5B6372"/>
                </a:solidFill>
                <a:latin typeface="Arial"/>
              </a:rPr>
              <a:t>Download the Trainer Slides, Learner Guide and Lesson Plan for the open-book assessment.</a:t>
            </a:r>
          </a:p>
        </p:txBody>
      </p:sp>
      <p:sp>
        <p:nvSpPr>
          <p:cNvPr id="42" name="TextBox 41"/>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DevOps Engineering on AWS  ·  TGS-2023040474</a:t>
            </a:r>
          </a:p>
        </p:txBody>
      </p:sp>
      <p:sp>
        <p:nvSpPr>
          <p:cNvPr id="43" name="TextBox 42"/>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44" name="TextBox 43"/>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7</a:t>
            </a:r>
          </a:p>
        </p:txBody>
      </p:sp>
    </p:spTree>
  </p:cSld>
  <p:clrMapOvr>
    <a:masterClrMapping/>
  </p:clrMapOvr>
  <p:transition xmlns:p14="http://schemas.microsoft.com/office/powerpoint/2010/main" p14:dur="380">
    <p:fade/>
  </p:transition>
</p:sld>
</file>

<file path=ppt/slides/slide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38912"/>
            <a:ext cx="10607040" cy="365760"/>
          </a:xfrm>
          <a:prstGeom prst="rect">
            <a:avLst/>
          </a:prstGeom>
          <a:noFill/>
        </p:spPr>
        <p:txBody>
          <a:bodyPr wrap="square" anchor="t">
            <a:spAutoFit/>
          </a:bodyPr>
          <a:lstStyle/>
          <a:p>
            <a:pPr algn="l">
              <a:spcAft>
                <a:spcPts val="400"/>
              </a:spcAft>
            </a:pPr>
            <a:r>
              <a:rPr sz="1400" b="1">
                <a:solidFill>
                  <a:srgbClr val="1F6FEB"/>
                </a:solidFill>
                <a:latin typeface="Arial"/>
              </a:rPr>
              <a:t>CRITERIA FOR FUNDING</a:t>
            </a:r>
          </a:p>
        </p:txBody>
      </p:sp>
      <p:sp>
        <p:nvSpPr>
          <p:cNvPr id="5" name="TextBox 4"/>
          <p:cNvSpPr txBox="1"/>
          <p:nvPr/>
        </p:nvSpPr>
        <p:spPr>
          <a:xfrm>
            <a:off x="777240" y="804672"/>
            <a:ext cx="10927080" cy="731520"/>
          </a:xfrm>
          <a:prstGeom prst="rect">
            <a:avLst/>
          </a:prstGeom>
          <a:noFill/>
        </p:spPr>
        <p:txBody>
          <a:bodyPr wrap="square" anchor="t">
            <a:spAutoFit/>
          </a:bodyPr>
          <a:lstStyle/>
          <a:p>
            <a:pPr algn="l">
              <a:spcAft>
                <a:spcPts val="400"/>
              </a:spcAft>
            </a:pPr>
            <a:r>
              <a:rPr sz="2900" b="1">
                <a:solidFill>
                  <a:srgbClr val="161B26"/>
                </a:solidFill>
                <a:latin typeface="Arial"/>
              </a:rPr>
              <a:t>Funding &amp; Eligibility</a:t>
            </a:r>
          </a:p>
        </p:txBody>
      </p:sp>
      <p:sp>
        <p:nvSpPr>
          <p:cNvPr id="6" name="Rectangle 5"/>
          <p:cNvSpPr/>
          <p:nvPr/>
        </p:nvSpPr>
        <p:spPr>
          <a:xfrm>
            <a:off x="777240" y="1572768"/>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783080"/>
            <a:ext cx="5180076" cy="207568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1783080"/>
            <a:ext cx="91440" cy="2075688"/>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1033272" y="2546604"/>
            <a:ext cx="548640" cy="548640"/>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033272" y="2546604"/>
            <a:ext cx="548640" cy="548640"/>
          </a:xfrm>
          <a:prstGeom prst="rect">
            <a:avLst/>
          </a:prstGeom>
          <a:noFill/>
        </p:spPr>
        <p:txBody>
          <a:bodyPr wrap="square" anchor="ctr">
            <a:spAutoFit/>
          </a:bodyPr>
          <a:lstStyle/>
          <a:p>
            <a:pPr algn="ctr">
              <a:spcAft>
                <a:spcPts val="400"/>
              </a:spcAft>
            </a:pPr>
            <a:r>
              <a:rPr sz="1800" b="1">
                <a:solidFill>
                  <a:srgbClr val="FFFFFF"/>
                </a:solidFill>
                <a:latin typeface="Arial"/>
              </a:rPr>
              <a:t>1</a:t>
            </a:r>
          </a:p>
        </p:txBody>
      </p:sp>
      <p:sp>
        <p:nvSpPr>
          <p:cNvPr id="11" name="TextBox 10"/>
          <p:cNvSpPr txBox="1"/>
          <p:nvPr/>
        </p:nvSpPr>
        <p:spPr>
          <a:xfrm>
            <a:off x="1764792" y="1892808"/>
            <a:ext cx="3973068" cy="1892808"/>
          </a:xfrm>
          <a:prstGeom prst="rect">
            <a:avLst/>
          </a:prstGeom>
          <a:noFill/>
        </p:spPr>
        <p:txBody>
          <a:bodyPr wrap="square" anchor="ctr">
            <a:spAutoFit/>
          </a:bodyPr>
          <a:lstStyle/>
          <a:p>
            <a:pPr algn="l">
              <a:spcAft>
                <a:spcPts val="300"/>
              </a:spcAft>
            </a:pPr>
            <a:r>
              <a:rPr sz="1700" b="1">
                <a:solidFill>
                  <a:srgbClr val="161B26"/>
                </a:solidFill>
                <a:latin typeface="Arial"/>
              </a:rPr>
              <a:t>Attendance</a:t>
            </a:r>
          </a:p>
          <a:p>
            <a:pPr algn="l">
              <a:spcAft>
                <a:spcPts val="300"/>
              </a:spcAft>
            </a:pPr>
            <a:r>
              <a:rPr sz="1300" b="0">
                <a:solidFill>
                  <a:srgbClr val="5B6372"/>
                </a:solidFill>
                <a:latin typeface="Arial"/>
              </a:rPr>
              <a:t>Minimum 75% attendance on the SSG Digital Attendance record.</a:t>
            </a:r>
          </a:p>
        </p:txBody>
      </p:sp>
      <p:sp>
        <p:nvSpPr>
          <p:cNvPr id="12" name="Rectangle 11"/>
          <p:cNvSpPr/>
          <p:nvPr/>
        </p:nvSpPr>
        <p:spPr>
          <a:xfrm>
            <a:off x="6231636" y="1783080"/>
            <a:ext cx="5180076" cy="207568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6231636" y="1783080"/>
            <a:ext cx="91440" cy="2075688"/>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Oval 13"/>
          <p:cNvSpPr/>
          <p:nvPr/>
        </p:nvSpPr>
        <p:spPr>
          <a:xfrm>
            <a:off x="6487668" y="2546604"/>
            <a:ext cx="548640" cy="54864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6487668" y="2546604"/>
            <a:ext cx="548640" cy="548640"/>
          </a:xfrm>
          <a:prstGeom prst="rect">
            <a:avLst/>
          </a:prstGeom>
          <a:noFill/>
        </p:spPr>
        <p:txBody>
          <a:bodyPr wrap="square" anchor="ctr">
            <a:spAutoFit/>
          </a:bodyPr>
          <a:lstStyle/>
          <a:p>
            <a:pPr algn="ctr">
              <a:spcAft>
                <a:spcPts val="400"/>
              </a:spcAft>
            </a:pPr>
            <a:r>
              <a:rPr sz="1800" b="1">
                <a:solidFill>
                  <a:srgbClr val="FFFFFF"/>
                </a:solidFill>
                <a:latin typeface="Arial"/>
              </a:rPr>
              <a:t>2</a:t>
            </a:r>
          </a:p>
        </p:txBody>
      </p:sp>
      <p:sp>
        <p:nvSpPr>
          <p:cNvPr id="16" name="TextBox 15"/>
          <p:cNvSpPr txBox="1"/>
          <p:nvPr/>
        </p:nvSpPr>
        <p:spPr>
          <a:xfrm>
            <a:off x="7219188" y="1892808"/>
            <a:ext cx="3973068" cy="1892808"/>
          </a:xfrm>
          <a:prstGeom prst="rect">
            <a:avLst/>
          </a:prstGeom>
          <a:noFill/>
        </p:spPr>
        <p:txBody>
          <a:bodyPr wrap="square" anchor="ctr">
            <a:spAutoFit/>
          </a:bodyPr>
          <a:lstStyle/>
          <a:p>
            <a:pPr algn="l">
              <a:spcAft>
                <a:spcPts val="300"/>
              </a:spcAft>
            </a:pPr>
            <a:r>
              <a:rPr sz="1700" b="1">
                <a:solidFill>
                  <a:srgbClr val="161B26"/>
                </a:solidFill>
                <a:latin typeface="Arial"/>
              </a:rPr>
              <a:t>Assessment</a:t>
            </a:r>
          </a:p>
          <a:p>
            <a:pPr algn="l">
              <a:spcAft>
                <a:spcPts val="300"/>
              </a:spcAft>
            </a:pPr>
            <a:r>
              <a:rPr sz="1300" b="0">
                <a:solidFill>
                  <a:srgbClr val="5B6372"/>
                </a:solidFill>
                <a:latin typeface="Arial"/>
              </a:rPr>
              <a:t>Complete the assessment and be assessed as ‘Competent’.</a:t>
            </a:r>
          </a:p>
        </p:txBody>
      </p:sp>
      <p:sp>
        <p:nvSpPr>
          <p:cNvPr id="17" name="Rectangle 16"/>
          <p:cNvSpPr/>
          <p:nvPr/>
        </p:nvSpPr>
        <p:spPr>
          <a:xfrm>
            <a:off x="777240" y="4078224"/>
            <a:ext cx="5180076" cy="207568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777240" y="4078224"/>
            <a:ext cx="91440" cy="2075688"/>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Oval 18"/>
          <p:cNvSpPr/>
          <p:nvPr/>
        </p:nvSpPr>
        <p:spPr>
          <a:xfrm>
            <a:off x="1033272" y="4841748"/>
            <a:ext cx="548640" cy="548640"/>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1033272" y="4841748"/>
            <a:ext cx="548640" cy="548640"/>
          </a:xfrm>
          <a:prstGeom prst="rect">
            <a:avLst/>
          </a:prstGeom>
          <a:noFill/>
        </p:spPr>
        <p:txBody>
          <a:bodyPr wrap="square" anchor="ctr">
            <a:spAutoFit/>
          </a:bodyPr>
          <a:lstStyle/>
          <a:p>
            <a:pPr algn="ctr">
              <a:spcAft>
                <a:spcPts val="400"/>
              </a:spcAft>
            </a:pPr>
            <a:r>
              <a:rPr sz="1800" b="1">
                <a:solidFill>
                  <a:srgbClr val="FFFFFF"/>
                </a:solidFill>
                <a:latin typeface="Arial"/>
              </a:rPr>
              <a:t>3</a:t>
            </a:r>
          </a:p>
        </p:txBody>
      </p:sp>
      <p:sp>
        <p:nvSpPr>
          <p:cNvPr id="21" name="TextBox 20"/>
          <p:cNvSpPr txBox="1"/>
          <p:nvPr/>
        </p:nvSpPr>
        <p:spPr>
          <a:xfrm>
            <a:off x="1764792" y="4187952"/>
            <a:ext cx="3973068" cy="1892808"/>
          </a:xfrm>
          <a:prstGeom prst="rect">
            <a:avLst/>
          </a:prstGeom>
          <a:noFill/>
        </p:spPr>
        <p:txBody>
          <a:bodyPr wrap="square" anchor="ctr">
            <a:spAutoFit/>
          </a:bodyPr>
          <a:lstStyle/>
          <a:p>
            <a:pPr algn="l">
              <a:spcAft>
                <a:spcPts val="300"/>
              </a:spcAft>
            </a:pPr>
            <a:r>
              <a:rPr sz="1700" b="1">
                <a:solidFill>
                  <a:srgbClr val="161B26"/>
                </a:solidFill>
                <a:latin typeface="Arial"/>
              </a:rPr>
              <a:t>Open book</a:t>
            </a:r>
          </a:p>
          <a:p>
            <a:pPr algn="l">
              <a:spcAft>
                <a:spcPts val="300"/>
              </a:spcAft>
            </a:pPr>
            <a:r>
              <a:rPr sz="1300" b="0">
                <a:solidFill>
                  <a:srgbClr val="5B6372"/>
                </a:solidFill>
                <a:latin typeface="Arial"/>
              </a:rPr>
              <a:t>The slides and Learner Guide may be used during the assessment.</a:t>
            </a:r>
          </a:p>
        </p:txBody>
      </p:sp>
      <p:sp>
        <p:nvSpPr>
          <p:cNvPr id="22" name="Rectangle 21"/>
          <p:cNvSpPr/>
          <p:nvPr/>
        </p:nvSpPr>
        <p:spPr>
          <a:xfrm>
            <a:off x="6231636" y="4078224"/>
            <a:ext cx="5180076" cy="207568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ectangle 22"/>
          <p:cNvSpPr/>
          <p:nvPr/>
        </p:nvSpPr>
        <p:spPr>
          <a:xfrm>
            <a:off x="6231636" y="4078224"/>
            <a:ext cx="91440" cy="2075688"/>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Oval 23"/>
          <p:cNvSpPr/>
          <p:nvPr/>
        </p:nvSpPr>
        <p:spPr>
          <a:xfrm>
            <a:off x="6487668" y="4841748"/>
            <a:ext cx="548640" cy="548640"/>
          </a:xfrm>
          <a:prstGeom prst="ellipse">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6487668" y="4841748"/>
            <a:ext cx="548640" cy="548640"/>
          </a:xfrm>
          <a:prstGeom prst="rect">
            <a:avLst/>
          </a:prstGeom>
          <a:noFill/>
        </p:spPr>
        <p:txBody>
          <a:bodyPr wrap="square" anchor="ctr">
            <a:spAutoFit/>
          </a:bodyPr>
          <a:lstStyle/>
          <a:p>
            <a:pPr algn="ctr">
              <a:spcAft>
                <a:spcPts val="400"/>
              </a:spcAft>
            </a:pPr>
            <a:r>
              <a:rPr sz="1800" b="1">
                <a:solidFill>
                  <a:srgbClr val="FFFFFF"/>
                </a:solidFill>
                <a:latin typeface="Arial"/>
              </a:rPr>
              <a:t>4</a:t>
            </a:r>
          </a:p>
        </p:txBody>
      </p:sp>
      <p:sp>
        <p:nvSpPr>
          <p:cNvPr id="26" name="TextBox 25"/>
          <p:cNvSpPr txBox="1"/>
          <p:nvPr/>
        </p:nvSpPr>
        <p:spPr>
          <a:xfrm>
            <a:off x="7219188" y="4187952"/>
            <a:ext cx="3973068" cy="1892808"/>
          </a:xfrm>
          <a:prstGeom prst="rect">
            <a:avLst/>
          </a:prstGeom>
          <a:noFill/>
        </p:spPr>
        <p:txBody>
          <a:bodyPr wrap="square" anchor="ctr">
            <a:spAutoFit/>
          </a:bodyPr>
          <a:lstStyle/>
          <a:p>
            <a:pPr algn="l">
              <a:spcAft>
                <a:spcPts val="300"/>
              </a:spcAft>
            </a:pPr>
            <a:r>
              <a:rPr sz="1700" b="1">
                <a:solidFill>
                  <a:srgbClr val="161B26"/>
                </a:solidFill>
                <a:latin typeface="Arial"/>
              </a:rPr>
              <a:t>Course portal</a:t>
            </a:r>
          </a:p>
          <a:p>
            <a:pPr algn="l">
              <a:spcAft>
                <a:spcPts val="300"/>
              </a:spcAft>
            </a:pPr>
            <a:r>
              <a:rPr sz="1300" b="0">
                <a:solidFill>
                  <a:srgbClr val="5B6372"/>
                </a:solidFill>
                <a:latin typeface="Arial"/>
              </a:rPr>
              <a:t>All materials, attendance and assessment are on lms-tms.tertiaryinfotech.com.</a:t>
            </a:r>
          </a:p>
        </p:txBody>
      </p:sp>
      <p:sp>
        <p:nvSpPr>
          <p:cNvPr id="27" name="TextBox 26"/>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DevOps Engineering on AWS  ·  TGS-2023040474</a:t>
            </a:r>
          </a:p>
        </p:txBody>
      </p:sp>
      <p:sp>
        <p:nvSpPr>
          <p:cNvPr id="28" name="TextBox 27"/>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29" name="TextBox 28"/>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8</a:t>
            </a:r>
          </a:p>
        </p:txBody>
      </p:sp>
    </p:spTree>
  </p:cSld>
  <p:clrMapOvr>
    <a:masterClrMapping/>
  </p:clrMapOvr>
  <p:transition xmlns:p14="http://schemas.microsoft.com/office/powerpoint/2010/main" p14:dur="380">
    <p:fade/>
  </p:transition>
</p:sld>
</file>

<file path=ppt/slides/slide1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38912"/>
            <a:ext cx="10607040" cy="365760"/>
          </a:xfrm>
          <a:prstGeom prst="rect">
            <a:avLst/>
          </a:prstGeom>
          <a:noFill/>
        </p:spPr>
        <p:txBody>
          <a:bodyPr wrap="square" anchor="t">
            <a:spAutoFit/>
          </a:bodyPr>
          <a:lstStyle/>
          <a:p>
            <a:pPr algn="l">
              <a:spcAft>
                <a:spcPts val="400"/>
              </a:spcAft>
            </a:pPr>
            <a:r>
              <a:rPr sz="1400" b="1">
                <a:solidFill>
                  <a:srgbClr val="1F6FEB"/>
                </a:solidFill>
                <a:latin typeface="Arial"/>
              </a:rPr>
              <a:t>COURSE SCHEDULE · 40 HOURS (37 INSTRUCTIONAL + 3 ASSESSMENT)</a:t>
            </a:r>
          </a:p>
        </p:txBody>
      </p:sp>
      <p:sp>
        <p:nvSpPr>
          <p:cNvPr id="5" name="TextBox 4"/>
          <p:cNvSpPr txBox="1"/>
          <p:nvPr/>
        </p:nvSpPr>
        <p:spPr>
          <a:xfrm>
            <a:off x="777240" y="896112"/>
            <a:ext cx="10927080" cy="731520"/>
          </a:xfrm>
          <a:prstGeom prst="rect">
            <a:avLst/>
          </a:prstGeom>
          <a:noFill/>
        </p:spPr>
        <p:txBody>
          <a:bodyPr wrap="square" anchor="t">
            <a:spAutoFit/>
          </a:bodyPr>
          <a:lstStyle/>
          <a:p>
            <a:pPr algn="l">
              <a:spcAft>
                <a:spcPts val="400"/>
              </a:spcAft>
            </a:pPr>
            <a:r>
              <a:rPr sz="2100" b="1">
                <a:solidFill>
                  <a:srgbClr val="161B26"/>
                </a:solidFill>
                <a:latin typeface="Arial"/>
              </a:rPr>
              <a:t>Lesson Plan — 5 Days · 5 Hands-On Labs per Day (25 Labs)</a:t>
            </a:r>
          </a:p>
        </p:txBody>
      </p:sp>
      <p:sp>
        <p:nvSpPr>
          <p:cNvPr id="6" name="Rectangle 5"/>
          <p:cNvSpPr/>
          <p:nvPr/>
        </p:nvSpPr>
        <p:spPr>
          <a:xfrm>
            <a:off x="777240" y="1572768"/>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783080"/>
            <a:ext cx="5180076" cy="131064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1783080"/>
            <a:ext cx="91440" cy="131064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1033272" y="2164080"/>
            <a:ext cx="548640" cy="548640"/>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033272" y="2164080"/>
            <a:ext cx="548640" cy="548640"/>
          </a:xfrm>
          <a:prstGeom prst="rect">
            <a:avLst/>
          </a:prstGeom>
          <a:noFill/>
        </p:spPr>
        <p:txBody>
          <a:bodyPr wrap="square" anchor="ctr">
            <a:spAutoFit/>
          </a:bodyPr>
          <a:lstStyle/>
          <a:p>
            <a:pPr algn="ctr">
              <a:spcAft>
                <a:spcPts val="400"/>
              </a:spcAft>
            </a:pPr>
            <a:r>
              <a:rPr sz="1800" b="1">
                <a:solidFill>
                  <a:srgbClr val="FFFFFF"/>
                </a:solidFill>
                <a:latin typeface="Arial"/>
              </a:rPr>
              <a:t>1</a:t>
            </a:r>
          </a:p>
        </p:txBody>
      </p:sp>
      <p:sp>
        <p:nvSpPr>
          <p:cNvPr id="11" name="TextBox 10"/>
          <p:cNvSpPr txBox="1"/>
          <p:nvPr/>
        </p:nvSpPr>
        <p:spPr>
          <a:xfrm>
            <a:off x="1764792" y="1892808"/>
            <a:ext cx="3973068" cy="1127760"/>
          </a:xfrm>
          <a:prstGeom prst="rect">
            <a:avLst/>
          </a:prstGeom>
          <a:noFill/>
        </p:spPr>
        <p:txBody>
          <a:bodyPr wrap="square" anchor="ctr">
            <a:spAutoFit/>
          </a:bodyPr>
          <a:lstStyle/>
          <a:p>
            <a:pPr algn="l">
              <a:spcAft>
                <a:spcPts val="300"/>
              </a:spcAft>
            </a:pPr>
            <a:r>
              <a:rPr sz="1600" b="1">
                <a:solidFill>
                  <a:srgbClr val="161B26"/>
                </a:solidFill>
                <a:latin typeface="Arial"/>
              </a:rPr>
              <a:t>Day 1</a:t>
            </a:r>
          </a:p>
          <a:p>
            <a:pPr algn="l">
              <a:spcAft>
                <a:spcPts val="300"/>
              </a:spcAft>
            </a:pPr>
            <a:r>
              <a:rPr sz="1200" b="0">
                <a:solidFill>
                  <a:srgbClr val="5B6372"/>
                </a:solidFill>
                <a:latin typeface="Arial"/>
              </a:rPr>
              <a:t>Foundations &amp; SDLC Automation (Labs 1–5)</a:t>
            </a:r>
          </a:p>
        </p:txBody>
      </p:sp>
      <p:sp>
        <p:nvSpPr>
          <p:cNvPr id="12" name="Rectangle 11"/>
          <p:cNvSpPr/>
          <p:nvPr/>
        </p:nvSpPr>
        <p:spPr>
          <a:xfrm>
            <a:off x="6231636" y="1783080"/>
            <a:ext cx="5180076" cy="131064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6231636" y="1783080"/>
            <a:ext cx="91440" cy="131064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Oval 13"/>
          <p:cNvSpPr/>
          <p:nvPr/>
        </p:nvSpPr>
        <p:spPr>
          <a:xfrm>
            <a:off x="6487668" y="2164080"/>
            <a:ext cx="548640" cy="54864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6487668" y="2164080"/>
            <a:ext cx="548640" cy="548640"/>
          </a:xfrm>
          <a:prstGeom prst="rect">
            <a:avLst/>
          </a:prstGeom>
          <a:noFill/>
        </p:spPr>
        <p:txBody>
          <a:bodyPr wrap="square" anchor="ctr">
            <a:spAutoFit/>
          </a:bodyPr>
          <a:lstStyle/>
          <a:p>
            <a:pPr algn="ctr">
              <a:spcAft>
                <a:spcPts val="400"/>
              </a:spcAft>
            </a:pPr>
            <a:r>
              <a:rPr sz="1800" b="1">
                <a:solidFill>
                  <a:srgbClr val="FFFFFF"/>
                </a:solidFill>
                <a:latin typeface="Arial"/>
              </a:rPr>
              <a:t>2</a:t>
            </a:r>
          </a:p>
        </p:txBody>
      </p:sp>
      <p:sp>
        <p:nvSpPr>
          <p:cNvPr id="16" name="TextBox 15"/>
          <p:cNvSpPr txBox="1"/>
          <p:nvPr/>
        </p:nvSpPr>
        <p:spPr>
          <a:xfrm>
            <a:off x="7219188" y="1892808"/>
            <a:ext cx="3973068" cy="1127760"/>
          </a:xfrm>
          <a:prstGeom prst="rect">
            <a:avLst/>
          </a:prstGeom>
          <a:noFill/>
        </p:spPr>
        <p:txBody>
          <a:bodyPr wrap="square" anchor="ctr">
            <a:spAutoFit/>
          </a:bodyPr>
          <a:lstStyle/>
          <a:p>
            <a:pPr algn="l">
              <a:spcAft>
                <a:spcPts val="300"/>
              </a:spcAft>
            </a:pPr>
            <a:r>
              <a:rPr sz="1600" b="1">
                <a:solidFill>
                  <a:srgbClr val="161B26"/>
                </a:solidFill>
                <a:latin typeface="Arial"/>
              </a:rPr>
              <a:t>Day 2</a:t>
            </a:r>
          </a:p>
          <a:p>
            <a:pPr algn="l">
              <a:spcAft>
                <a:spcPts val="300"/>
              </a:spcAft>
            </a:pPr>
            <a:r>
              <a:rPr sz="1200" b="0">
                <a:solidFill>
                  <a:srgbClr val="5B6372"/>
                </a:solidFill>
                <a:latin typeface="Arial"/>
              </a:rPr>
              <a:t>Configuration Management &amp; IaC (Labs 6–10)</a:t>
            </a:r>
          </a:p>
        </p:txBody>
      </p:sp>
      <p:sp>
        <p:nvSpPr>
          <p:cNvPr id="17" name="Rectangle 16"/>
          <p:cNvSpPr/>
          <p:nvPr/>
        </p:nvSpPr>
        <p:spPr>
          <a:xfrm>
            <a:off x="777240" y="3313176"/>
            <a:ext cx="5180076" cy="131064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777240" y="3313176"/>
            <a:ext cx="91440" cy="1310640"/>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Oval 18"/>
          <p:cNvSpPr/>
          <p:nvPr/>
        </p:nvSpPr>
        <p:spPr>
          <a:xfrm>
            <a:off x="1033272" y="3694176"/>
            <a:ext cx="548640" cy="548640"/>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1033272" y="3694176"/>
            <a:ext cx="548640" cy="548640"/>
          </a:xfrm>
          <a:prstGeom prst="rect">
            <a:avLst/>
          </a:prstGeom>
          <a:noFill/>
        </p:spPr>
        <p:txBody>
          <a:bodyPr wrap="square" anchor="ctr">
            <a:spAutoFit/>
          </a:bodyPr>
          <a:lstStyle/>
          <a:p>
            <a:pPr algn="ctr">
              <a:spcAft>
                <a:spcPts val="400"/>
              </a:spcAft>
            </a:pPr>
            <a:r>
              <a:rPr sz="1800" b="1">
                <a:solidFill>
                  <a:srgbClr val="FFFFFF"/>
                </a:solidFill>
                <a:latin typeface="Arial"/>
              </a:rPr>
              <a:t>3</a:t>
            </a:r>
          </a:p>
        </p:txBody>
      </p:sp>
      <p:sp>
        <p:nvSpPr>
          <p:cNvPr id="21" name="TextBox 20"/>
          <p:cNvSpPr txBox="1"/>
          <p:nvPr/>
        </p:nvSpPr>
        <p:spPr>
          <a:xfrm>
            <a:off x="1764792" y="3422904"/>
            <a:ext cx="3973068" cy="1127760"/>
          </a:xfrm>
          <a:prstGeom prst="rect">
            <a:avLst/>
          </a:prstGeom>
          <a:noFill/>
        </p:spPr>
        <p:txBody>
          <a:bodyPr wrap="square" anchor="ctr">
            <a:spAutoFit/>
          </a:bodyPr>
          <a:lstStyle/>
          <a:p>
            <a:pPr algn="l">
              <a:spcAft>
                <a:spcPts val="300"/>
              </a:spcAft>
            </a:pPr>
            <a:r>
              <a:rPr sz="1600" b="1">
                <a:solidFill>
                  <a:srgbClr val="161B26"/>
                </a:solidFill>
                <a:latin typeface="Arial"/>
              </a:rPr>
              <a:t>Day 3</a:t>
            </a:r>
          </a:p>
          <a:p>
            <a:pPr algn="l">
              <a:spcAft>
                <a:spcPts val="300"/>
              </a:spcAft>
            </a:pPr>
            <a:r>
              <a:rPr sz="1200" b="0">
                <a:solidFill>
                  <a:srgbClr val="5B6372"/>
                </a:solidFill>
                <a:latin typeface="Arial"/>
              </a:rPr>
              <a:t>Resilient Cloud Solutions (Labs 11–15)</a:t>
            </a:r>
          </a:p>
        </p:txBody>
      </p:sp>
      <p:sp>
        <p:nvSpPr>
          <p:cNvPr id="22" name="Rectangle 21"/>
          <p:cNvSpPr/>
          <p:nvPr/>
        </p:nvSpPr>
        <p:spPr>
          <a:xfrm>
            <a:off x="6231636" y="3313176"/>
            <a:ext cx="5180076" cy="131064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ectangle 22"/>
          <p:cNvSpPr/>
          <p:nvPr/>
        </p:nvSpPr>
        <p:spPr>
          <a:xfrm>
            <a:off x="6231636" y="3313176"/>
            <a:ext cx="91440" cy="1310640"/>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Oval 23"/>
          <p:cNvSpPr/>
          <p:nvPr/>
        </p:nvSpPr>
        <p:spPr>
          <a:xfrm>
            <a:off x="6487668" y="3694176"/>
            <a:ext cx="548640" cy="548640"/>
          </a:xfrm>
          <a:prstGeom prst="ellipse">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6487668" y="3694176"/>
            <a:ext cx="548640" cy="548640"/>
          </a:xfrm>
          <a:prstGeom prst="rect">
            <a:avLst/>
          </a:prstGeom>
          <a:noFill/>
        </p:spPr>
        <p:txBody>
          <a:bodyPr wrap="square" anchor="ctr">
            <a:spAutoFit/>
          </a:bodyPr>
          <a:lstStyle/>
          <a:p>
            <a:pPr algn="ctr">
              <a:spcAft>
                <a:spcPts val="400"/>
              </a:spcAft>
            </a:pPr>
            <a:r>
              <a:rPr sz="1800" b="1">
                <a:solidFill>
                  <a:srgbClr val="FFFFFF"/>
                </a:solidFill>
                <a:latin typeface="Arial"/>
              </a:rPr>
              <a:t>4</a:t>
            </a:r>
          </a:p>
        </p:txBody>
      </p:sp>
      <p:sp>
        <p:nvSpPr>
          <p:cNvPr id="26" name="TextBox 25"/>
          <p:cNvSpPr txBox="1"/>
          <p:nvPr/>
        </p:nvSpPr>
        <p:spPr>
          <a:xfrm>
            <a:off x="7219188" y="3422904"/>
            <a:ext cx="3973068" cy="1127760"/>
          </a:xfrm>
          <a:prstGeom prst="rect">
            <a:avLst/>
          </a:prstGeom>
          <a:noFill/>
        </p:spPr>
        <p:txBody>
          <a:bodyPr wrap="square" anchor="ctr">
            <a:spAutoFit/>
          </a:bodyPr>
          <a:lstStyle/>
          <a:p>
            <a:pPr algn="l">
              <a:spcAft>
                <a:spcPts val="300"/>
              </a:spcAft>
            </a:pPr>
            <a:r>
              <a:rPr sz="1600" b="1">
                <a:solidFill>
                  <a:srgbClr val="161B26"/>
                </a:solidFill>
                <a:latin typeface="Arial"/>
              </a:rPr>
              <a:t>Day 4</a:t>
            </a:r>
          </a:p>
          <a:p>
            <a:pPr algn="l">
              <a:spcAft>
                <a:spcPts val="300"/>
              </a:spcAft>
            </a:pPr>
            <a:r>
              <a:rPr sz="1200" b="0">
                <a:solidFill>
                  <a:srgbClr val="5B6372"/>
                </a:solidFill>
                <a:latin typeface="Arial"/>
              </a:rPr>
              <a:t>Monitoring, Logging &amp; Incident Response (Labs 16–20)</a:t>
            </a:r>
          </a:p>
        </p:txBody>
      </p:sp>
      <p:sp>
        <p:nvSpPr>
          <p:cNvPr id="27" name="Rectangle 26"/>
          <p:cNvSpPr/>
          <p:nvPr/>
        </p:nvSpPr>
        <p:spPr>
          <a:xfrm>
            <a:off x="777240" y="4843272"/>
            <a:ext cx="5180076" cy="131064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Rectangle 27"/>
          <p:cNvSpPr/>
          <p:nvPr/>
        </p:nvSpPr>
        <p:spPr>
          <a:xfrm>
            <a:off x="777240" y="4843272"/>
            <a:ext cx="91440" cy="1310640"/>
          </a:xfrm>
          <a:prstGeom prst="rect">
            <a:avLst/>
          </a:prstGeom>
          <a:solidFill>
            <a:srgbClr val="EC711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Oval 28"/>
          <p:cNvSpPr/>
          <p:nvPr/>
        </p:nvSpPr>
        <p:spPr>
          <a:xfrm>
            <a:off x="1033272" y="5224272"/>
            <a:ext cx="548640" cy="548640"/>
          </a:xfrm>
          <a:prstGeom prst="ellipse">
            <a:avLst/>
          </a:prstGeom>
          <a:solidFill>
            <a:srgbClr val="EC711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1033272" y="5224272"/>
            <a:ext cx="548640" cy="548640"/>
          </a:xfrm>
          <a:prstGeom prst="rect">
            <a:avLst/>
          </a:prstGeom>
          <a:noFill/>
        </p:spPr>
        <p:txBody>
          <a:bodyPr wrap="square" anchor="ctr">
            <a:spAutoFit/>
          </a:bodyPr>
          <a:lstStyle/>
          <a:p>
            <a:pPr algn="ctr">
              <a:spcAft>
                <a:spcPts val="400"/>
              </a:spcAft>
            </a:pPr>
            <a:r>
              <a:rPr sz="1800" b="1">
                <a:solidFill>
                  <a:srgbClr val="FFFFFF"/>
                </a:solidFill>
                <a:latin typeface="Arial"/>
              </a:rPr>
              <a:t>5</a:t>
            </a:r>
          </a:p>
        </p:txBody>
      </p:sp>
      <p:sp>
        <p:nvSpPr>
          <p:cNvPr id="31" name="TextBox 30"/>
          <p:cNvSpPr txBox="1"/>
          <p:nvPr/>
        </p:nvSpPr>
        <p:spPr>
          <a:xfrm>
            <a:off x="1764792" y="4953000"/>
            <a:ext cx="3973068" cy="1127760"/>
          </a:xfrm>
          <a:prstGeom prst="rect">
            <a:avLst/>
          </a:prstGeom>
          <a:noFill/>
        </p:spPr>
        <p:txBody>
          <a:bodyPr wrap="square" anchor="ctr">
            <a:spAutoFit/>
          </a:bodyPr>
          <a:lstStyle/>
          <a:p>
            <a:pPr algn="l">
              <a:spcAft>
                <a:spcPts val="300"/>
              </a:spcAft>
            </a:pPr>
            <a:r>
              <a:rPr sz="1600" b="1">
                <a:solidFill>
                  <a:srgbClr val="161B26"/>
                </a:solidFill>
                <a:latin typeface="Arial"/>
              </a:rPr>
              <a:t>Day 5</a:t>
            </a:r>
          </a:p>
          <a:p>
            <a:pPr algn="l">
              <a:spcAft>
                <a:spcPts val="300"/>
              </a:spcAft>
            </a:pPr>
            <a:r>
              <a:rPr sz="1200" b="0">
                <a:solidFill>
                  <a:srgbClr val="5B6372"/>
                </a:solidFill>
                <a:latin typeface="Arial"/>
              </a:rPr>
              <a:t>Security, Compliance &amp; Capstone (Labs 21–25) + Final Assessment</a:t>
            </a:r>
          </a:p>
        </p:txBody>
      </p:sp>
      <p:sp>
        <p:nvSpPr>
          <p:cNvPr id="32" name="Rectangle 31"/>
          <p:cNvSpPr/>
          <p:nvPr/>
        </p:nvSpPr>
        <p:spPr>
          <a:xfrm>
            <a:off x="6231636" y="4843272"/>
            <a:ext cx="5180076" cy="131064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Rectangle 32"/>
          <p:cNvSpPr/>
          <p:nvPr/>
        </p:nvSpPr>
        <p:spPr>
          <a:xfrm>
            <a:off x="6231636" y="4843272"/>
            <a:ext cx="91440" cy="1310640"/>
          </a:xfrm>
          <a:prstGeom prst="rect">
            <a:avLst/>
          </a:prstGeom>
          <a:solidFill>
            <a:srgbClr val="0E9EC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Oval 33"/>
          <p:cNvSpPr/>
          <p:nvPr/>
        </p:nvSpPr>
        <p:spPr>
          <a:xfrm>
            <a:off x="6487668" y="5224272"/>
            <a:ext cx="548640" cy="548640"/>
          </a:xfrm>
          <a:prstGeom prst="ellipse">
            <a:avLst/>
          </a:prstGeom>
          <a:solidFill>
            <a:srgbClr val="0E9EC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TextBox 34"/>
          <p:cNvSpPr txBox="1"/>
          <p:nvPr/>
        </p:nvSpPr>
        <p:spPr>
          <a:xfrm>
            <a:off x="6487668" y="5224272"/>
            <a:ext cx="548640" cy="548640"/>
          </a:xfrm>
          <a:prstGeom prst="rect">
            <a:avLst/>
          </a:prstGeom>
          <a:noFill/>
        </p:spPr>
        <p:txBody>
          <a:bodyPr wrap="square" anchor="ctr">
            <a:spAutoFit/>
          </a:bodyPr>
          <a:lstStyle/>
          <a:p>
            <a:pPr algn="ctr">
              <a:spcAft>
                <a:spcPts val="400"/>
              </a:spcAft>
            </a:pPr>
            <a:r>
              <a:rPr sz="1800" b="1">
                <a:solidFill>
                  <a:srgbClr val="FFFFFF"/>
                </a:solidFill>
                <a:latin typeface="Arial"/>
              </a:rPr>
              <a:t>6</a:t>
            </a:r>
          </a:p>
        </p:txBody>
      </p:sp>
      <p:sp>
        <p:nvSpPr>
          <p:cNvPr id="36" name="TextBox 35"/>
          <p:cNvSpPr txBox="1"/>
          <p:nvPr/>
        </p:nvSpPr>
        <p:spPr>
          <a:xfrm>
            <a:off x="7219188" y="4953000"/>
            <a:ext cx="3973068" cy="1127760"/>
          </a:xfrm>
          <a:prstGeom prst="rect">
            <a:avLst/>
          </a:prstGeom>
          <a:noFill/>
        </p:spPr>
        <p:txBody>
          <a:bodyPr wrap="square" anchor="ctr">
            <a:spAutoFit/>
          </a:bodyPr>
          <a:lstStyle/>
          <a:p>
            <a:pPr algn="l">
              <a:spcAft>
                <a:spcPts val="300"/>
              </a:spcAft>
            </a:pPr>
            <a:r>
              <a:rPr sz="1600" b="1">
                <a:solidFill>
                  <a:srgbClr val="161B26"/>
                </a:solidFill>
                <a:latin typeface="Arial"/>
              </a:rPr>
              <a:t>Daily timing</a:t>
            </a:r>
          </a:p>
          <a:p>
            <a:pPr algn="l">
              <a:spcAft>
                <a:spcPts val="300"/>
              </a:spcAft>
            </a:pPr>
            <a:r>
              <a:rPr sz="1200" b="0">
                <a:solidFill>
                  <a:srgbClr val="5B6372"/>
                </a:solidFill>
                <a:latin typeface="Arial"/>
              </a:rPr>
              <a:t>9:30 am – 6:00 pm · 30-minute lunch · tea breaks within</a:t>
            </a:r>
          </a:p>
        </p:txBody>
      </p:sp>
      <p:sp>
        <p:nvSpPr>
          <p:cNvPr id="37" name="TextBox 36"/>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DevOps Engineering on AWS  ·  TGS-2023040474</a:t>
            </a:r>
          </a:p>
        </p:txBody>
      </p:sp>
      <p:sp>
        <p:nvSpPr>
          <p:cNvPr id="38" name="TextBox 37"/>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39" name="TextBox 38"/>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9</a:t>
            </a:r>
          </a:p>
        </p:txBody>
      </p:sp>
    </p:spTree>
  </p:cSld>
  <p:clrMapOvr>
    <a:masterClrMapping/>
  </p:clrMapOvr>
  <p:transition xmlns:p14="http://schemas.microsoft.com/office/powerpoint/2010/main" p14:dur="380">
    <p:fade/>
  </p:transition>
</p:sld>
</file>

<file path=ppt/slides/slide1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38912"/>
            <a:ext cx="10607040" cy="365760"/>
          </a:xfrm>
          <a:prstGeom prst="rect">
            <a:avLst/>
          </a:prstGeom>
          <a:noFill/>
        </p:spPr>
        <p:txBody>
          <a:bodyPr wrap="square" anchor="t">
            <a:spAutoFit/>
          </a:bodyPr>
          <a:lstStyle/>
          <a:p>
            <a:pPr algn="l">
              <a:spcAft>
                <a:spcPts val="400"/>
              </a:spcAft>
            </a:pPr>
            <a:r>
              <a:rPr sz="1400" b="1">
                <a:solidFill>
                  <a:srgbClr val="1F6FEB"/>
                </a:solidFill>
                <a:latin typeface="Arial"/>
              </a:rPr>
              <a:t>WHAT YOU'LL ACHIEVE</a:t>
            </a:r>
          </a:p>
        </p:txBody>
      </p:sp>
      <p:sp>
        <p:nvSpPr>
          <p:cNvPr id="5" name="TextBox 4"/>
          <p:cNvSpPr txBox="1"/>
          <p:nvPr/>
        </p:nvSpPr>
        <p:spPr>
          <a:xfrm>
            <a:off x="777240" y="804672"/>
            <a:ext cx="10927080" cy="731520"/>
          </a:xfrm>
          <a:prstGeom prst="rect">
            <a:avLst/>
          </a:prstGeom>
          <a:noFill/>
        </p:spPr>
        <p:txBody>
          <a:bodyPr wrap="square" anchor="t">
            <a:spAutoFit/>
          </a:bodyPr>
          <a:lstStyle/>
          <a:p>
            <a:pPr algn="l">
              <a:spcAft>
                <a:spcPts val="400"/>
              </a:spcAft>
            </a:pPr>
            <a:r>
              <a:rPr sz="2900" b="1">
                <a:solidFill>
                  <a:srgbClr val="161B26"/>
                </a:solidFill>
                <a:latin typeface="Arial"/>
              </a:rPr>
              <a:t>Learning Outcomes</a:t>
            </a:r>
          </a:p>
        </p:txBody>
      </p:sp>
      <p:sp>
        <p:nvSpPr>
          <p:cNvPr id="6" name="Rectangle 5"/>
          <p:cNvSpPr/>
          <p:nvPr/>
        </p:nvSpPr>
        <p:spPr>
          <a:xfrm>
            <a:off x="777240" y="1572768"/>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783080"/>
            <a:ext cx="5180076" cy="131064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1783080"/>
            <a:ext cx="91440" cy="131064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1033272" y="2164080"/>
            <a:ext cx="548640" cy="548640"/>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033272" y="2164080"/>
            <a:ext cx="548640" cy="548640"/>
          </a:xfrm>
          <a:prstGeom prst="rect">
            <a:avLst/>
          </a:prstGeom>
          <a:noFill/>
        </p:spPr>
        <p:txBody>
          <a:bodyPr wrap="square" anchor="ctr">
            <a:spAutoFit/>
          </a:bodyPr>
          <a:lstStyle/>
          <a:p>
            <a:pPr algn="ctr">
              <a:spcAft>
                <a:spcPts val="400"/>
              </a:spcAft>
            </a:pPr>
            <a:r>
              <a:rPr sz="1800" b="1">
                <a:solidFill>
                  <a:srgbClr val="FFFFFF"/>
                </a:solidFill>
                <a:latin typeface="Arial"/>
              </a:rPr>
              <a:t>1</a:t>
            </a:r>
          </a:p>
        </p:txBody>
      </p:sp>
      <p:sp>
        <p:nvSpPr>
          <p:cNvPr id="11" name="TextBox 10"/>
          <p:cNvSpPr txBox="1"/>
          <p:nvPr/>
        </p:nvSpPr>
        <p:spPr>
          <a:xfrm>
            <a:off x="1764792" y="1892808"/>
            <a:ext cx="3973068" cy="1127760"/>
          </a:xfrm>
          <a:prstGeom prst="rect">
            <a:avLst/>
          </a:prstGeom>
          <a:noFill/>
        </p:spPr>
        <p:txBody>
          <a:bodyPr wrap="square" anchor="ctr">
            <a:spAutoFit/>
          </a:bodyPr>
          <a:lstStyle/>
          <a:p>
            <a:pPr algn="l">
              <a:spcAft>
                <a:spcPts val="300"/>
              </a:spcAft>
            </a:pPr>
            <a:r>
              <a:rPr sz="1600" b="1">
                <a:solidFill>
                  <a:srgbClr val="161B26"/>
                </a:solidFill>
                <a:latin typeface="Arial"/>
              </a:rPr>
              <a:t>LO1</a:t>
            </a:r>
          </a:p>
          <a:p>
            <a:pPr algn="l">
              <a:spcAft>
                <a:spcPts val="300"/>
              </a:spcAft>
            </a:pPr>
            <a:r>
              <a:rPr sz="1200" b="0">
                <a:solidFill>
                  <a:srgbClr val="5B6372"/>
                </a:solidFill>
                <a:latin typeface="Arial"/>
              </a:rPr>
              <a:t>Develop an AWS CI/CD pipeline proof of concept.</a:t>
            </a:r>
          </a:p>
        </p:txBody>
      </p:sp>
      <p:sp>
        <p:nvSpPr>
          <p:cNvPr id="12" name="Rectangle 11"/>
          <p:cNvSpPr/>
          <p:nvPr/>
        </p:nvSpPr>
        <p:spPr>
          <a:xfrm>
            <a:off x="6231636" y="1783080"/>
            <a:ext cx="5180076" cy="131064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6231636" y="1783080"/>
            <a:ext cx="91440" cy="131064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Oval 13"/>
          <p:cNvSpPr/>
          <p:nvPr/>
        </p:nvSpPr>
        <p:spPr>
          <a:xfrm>
            <a:off x="6487668" y="2164080"/>
            <a:ext cx="548640" cy="54864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6487668" y="2164080"/>
            <a:ext cx="548640" cy="548640"/>
          </a:xfrm>
          <a:prstGeom prst="rect">
            <a:avLst/>
          </a:prstGeom>
          <a:noFill/>
        </p:spPr>
        <p:txBody>
          <a:bodyPr wrap="square" anchor="ctr">
            <a:spAutoFit/>
          </a:bodyPr>
          <a:lstStyle/>
          <a:p>
            <a:pPr algn="ctr">
              <a:spcAft>
                <a:spcPts val="400"/>
              </a:spcAft>
            </a:pPr>
            <a:r>
              <a:rPr sz="1800" b="1">
                <a:solidFill>
                  <a:srgbClr val="FFFFFF"/>
                </a:solidFill>
                <a:latin typeface="Arial"/>
              </a:rPr>
              <a:t>2</a:t>
            </a:r>
          </a:p>
        </p:txBody>
      </p:sp>
      <p:sp>
        <p:nvSpPr>
          <p:cNvPr id="16" name="TextBox 15"/>
          <p:cNvSpPr txBox="1"/>
          <p:nvPr/>
        </p:nvSpPr>
        <p:spPr>
          <a:xfrm>
            <a:off x="7219188" y="1892808"/>
            <a:ext cx="3973068" cy="1127760"/>
          </a:xfrm>
          <a:prstGeom prst="rect">
            <a:avLst/>
          </a:prstGeom>
          <a:noFill/>
        </p:spPr>
        <p:txBody>
          <a:bodyPr wrap="square" anchor="ctr">
            <a:spAutoFit/>
          </a:bodyPr>
          <a:lstStyle/>
          <a:p>
            <a:pPr algn="l">
              <a:spcAft>
                <a:spcPts val="300"/>
              </a:spcAft>
            </a:pPr>
            <a:r>
              <a:rPr sz="1600" b="1">
                <a:solidFill>
                  <a:srgbClr val="161B26"/>
                </a:solidFill>
                <a:latin typeface="Arial"/>
              </a:rPr>
              <a:t>LO2</a:t>
            </a:r>
          </a:p>
          <a:p>
            <a:pPr algn="l">
              <a:spcAft>
                <a:spcPts val="300"/>
              </a:spcAft>
            </a:pPr>
            <a:r>
              <a:rPr sz="1200" b="0">
                <a:solidFill>
                  <a:srgbClr val="5B6372"/>
                </a:solidFill>
                <a:latin typeface="Arial"/>
              </a:rPr>
              <a:t>Identify the technical and practical requirements in an AWS cloud infrastructure setup.</a:t>
            </a:r>
          </a:p>
        </p:txBody>
      </p:sp>
      <p:sp>
        <p:nvSpPr>
          <p:cNvPr id="17" name="Rectangle 16"/>
          <p:cNvSpPr/>
          <p:nvPr/>
        </p:nvSpPr>
        <p:spPr>
          <a:xfrm>
            <a:off x="777240" y="3313176"/>
            <a:ext cx="5180076" cy="131064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777240" y="3313176"/>
            <a:ext cx="91440" cy="1310640"/>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Oval 18"/>
          <p:cNvSpPr/>
          <p:nvPr/>
        </p:nvSpPr>
        <p:spPr>
          <a:xfrm>
            <a:off x="1033272" y="3694176"/>
            <a:ext cx="548640" cy="548640"/>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1033272" y="3694176"/>
            <a:ext cx="548640" cy="548640"/>
          </a:xfrm>
          <a:prstGeom prst="rect">
            <a:avLst/>
          </a:prstGeom>
          <a:noFill/>
        </p:spPr>
        <p:txBody>
          <a:bodyPr wrap="square" anchor="ctr">
            <a:spAutoFit/>
          </a:bodyPr>
          <a:lstStyle/>
          <a:p>
            <a:pPr algn="ctr">
              <a:spcAft>
                <a:spcPts val="400"/>
              </a:spcAft>
            </a:pPr>
            <a:r>
              <a:rPr sz="1800" b="1">
                <a:solidFill>
                  <a:srgbClr val="FFFFFF"/>
                </a:solidFill>
                <a:latin typeface="Arial"/>
              </a:rPr>
              <a:t>3</a:t>
            </a:r>
          </a:p>
        </p:txBody>
      </p:sp>
      <p:sp>
        <p:nvSpPr>
          <p:cNvPr id="21" name="TextBox 20"/>
          <p:cNvSpPr txBox="1"/>
          <p:nvPr/>
        </p:nvSpPr>
        <p:spPr>
          <a:xfrm>
            <a:off x="1764792" y="3422904"/>
            <a:ext cx="3973068" cy="1127760"/>
          </a:xfrm>
          <a:prstGeom prst="rect">
            <a:avLst/>
          </a:prstGeom>
          <a:noFill/>
        </p:spPr>
        <p:txBody>
          <a:bodyPr wrap="square" anchor="ctr">
            <a:spAutoFit/>
          </a:bodyPr>
          <a:lstStyle/>
          <a:p>
            <a:pPr algn="l">
              <a:spcAft>
                <a:spcPts val="300"/>
              </a:spcAft>
            </a:pPr>
            <a:r>
              <a:rPr sz="1600" b="1">
                <a:solidFill>
                  <a:srgbClr val="161B26"/>
                </a:solidFill>
                <a:latin typeface="Arial"/>
              </a:rPr>
              <a:t>LO3</a:t>
            </a:r>
          </a:p>
          <a:p>
            <a:pPr algn="l">
              <a:spcAft>
                <a:spcPts val="300"/>
              </a:spcAft>
            </a:pPr>
            <a:r>
              <a:rPr sz="1200" b="0">
                <a:solidFill>
                  <a:srgbClr val="5B6372"/>
                </a:solidFill>
                <a:latin typeface="Arial"/>
              </a:rPr>
              <a:t>Develop a resilient cloud solution based on AWS cloud components.</a:t>
            </a:r>
          </a:p>
        </p:txBody>
      </p:sp>
      <p:sp>
        <p:nvSpPr>
          <p:cNvPr id="22" name="Rectangle 21"/>
          <p:cNvSpPr/>
          <p:nvPr/>
        </p:nvSpPr>
        <p:spPr>
          <a:xfrm>
            <a:off x="6231636" y="3313176"/>
            <a:ext cx="5180076" cy="131064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ectangle 22"/>
          <p:cNvSpPr/>
          <p:nvPr/>
        </p:nvSpPr>
        <p:spPr>
          <a:xfrm>
            <a:off x="6231636" y="3313176"/>
            <a:ext cx="91440" cy="1310640"/>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Oval 23"/>
          <p:cNvSpPr/>
          <p:nvPr/>
        </p:nvSpPr>
        <p:spPr>
          <a:xfrm>
            <a:off x="6487668" y="3694176"/>
            <a:ext cx="548640" cy="548640"/>
          </a:xfrm>
          <a:prstGeom prst="ellipse">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6487668" y="3694176"/>
            <a:ext cx="548640" cy="548640"/>
          </a:xfrm>
          <a:prstGeom prst="rect">
            <a:avLst/>
          </a:prstGeom>
          <a:noFill/>
        </p:spPr>
        <p:txBody>
          <a:bodyPr wrap="square" anchor="ctr">
            <a:spAutoFit/>
          </a:bodyPr>
          <a:lstStyle/>
          <a:p>
            <a:pPr algn="ctr">
              <a:spcAft>
                <a:spcPts val="400"/>
              </a:spcAft>
            </a:pPr>
            <a:r>
              <a:rPr sz="1800" b="1">
                <a:solidFill>
                  <a:srgbClr val="FFFFFF"/>
                </a:solidFill>
                <a:latin typeface="Arial"/>
              </a:rPr>
              <a:t>4</a:t>
            </a:r>
          </a:p>
        </p:txBody>
      </p:sp>
      <p:sp>
        <p:nvSpPr>
          <p:cNvPr id="26" name="TextBox 25"/>
          <p:cNvSpPr txBox="1"/>
          <p:nvPr/>
        </p:nvSpPr>
        <p:spPr>
          <a:xfrm>
            <a:off x="7219188" y="3422904"/>
            <a:ext cx="3973068" cy="1127760"/>
          </a:xfrm>
          <a:prstGeom prst="rect">
            <a:avLst/>
          </a:prstGeom>
          <a:noFill/>
        </p:spPr>
        <p:txBody>
          <a:bodyPr wrap="square" anchor="ctr">
            <a:spAutoFit/>
          </a:bodyPr>
          <a:lstStyle/>
          <a:p>
            <a:pPr algn="l">
              <a:spcAft>
                <a:spcPts val="300"/>
              </a:spcAft>
            </a:pPr>
            <a:r>
              <a:rPr sz="1600" b="1">
                <a:solidFill>
                  <a:srgbClr val="161B26"/>
                </a:solidFill>
                <a:latin typeface="Arial"/>
              </a:rPr>
              <a:t>LO4</a:t>
            </a:r>
          </a:p>
          <a:p>
            <a:pPr algn="l">
              <a:spcAft>
                <a:spcPts val="300"/>
              </a:spcAft>
            </a:pPr>
            <a:r>
              <a:rPr sz="1200" b="0">
                <a:solidFill>
                  <a:srgbClr val="5B6372"/>
                </a:solidFill>
                <a:latin typeface="Arial"/>
              </a:rPr>
              <a:t>Implement regular AWS monitoring and perform necessary troubleshooting.</a:t>
            </a:r>
          </a:p>
        </p:txBody>
      </p:sp>
      <p:sp>
        <p:nvSpPr>
          <p:cNvPr id="27" name="Rectangle 26"/>
          <p:cNvSpPr/>
          <p:nvPr/>
        </p:nvSpPr>
        <p:spPr>
          <a:xfrm>
            <a:off x="777240" y="4843272"/>
            <a:ext cx="5180076" cy="131064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Rectangle 27"/>
          <p:cNvSpPr/>
          <p:nvPr/>
        </p:nvSpPr>
        <p:spPr>
          <a:xfrm>
            <a:off x="777240" y="4843272"/>
            <a:ext cx="91440" cy="1310640"/>
          </a:xfrm>
          <a:prstGeom prst="rect">
            <a:avLst/>
          </a:prstGeom>
          <a:solidFill>
            <a:srgbClr val="EC711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Oval 28"/>
          <p:cNvSpPr/>
          <p:nvPr/>
        </p:nvSpPr>
        <p:spPr>
          <a:xfrm>
            <a:off x="1033272" y="5224272"/>
            <a:ext cx="548640" cy="548640"/>
          </a:xfrm>
          <a:prstGeom prst="ellipse">
            <a:avLst/>
          </a:prstGeom>
          <a:solidFill>
            <a:srgbClr val="EC711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1033272" y="5224272"/>
            <a:ext cx="548640" cy="548640"/>
          </a:xfrm>
          <a:prstGeom prst="rect">
            <a:avLst/>
          </a:prstGeom>
          <a:noFill/>
        </p:spPr>
        <p:txBody>
          <a:bodyPr wrap="square" anchor="ctr">
            <a:spAutoFit/>
          </a:bodyPr>
          <a:lstStyle/>
          <a:p>
            <a:pPr algn="ctr">
              <a:spcAft>
                <a:spcPts val="400"/>
              </a:spcAft>
            </a:pPr>
            <a:r>
              <a:rPr sz="1800" b="1">
                <a:solidFill>
                  <a:srgbClr val="FFFFFF"/>
                </a:solidFill>
                <a:latin typeface="Arial"/>
              </a:rPr>
              <a:t>5</a:t>
            </a:r>
          </a:p>
        </p:txBody>
      </p:sp>
      <p:sp>
        <p:nvSpPr>
          <p:cNvPr id="31" name="TextBox 30"/>
          <p:cNvSpPr txBox="1"/>
          <p:nvPr/>
        </p:nvSpPr>
        <p:spPr>
          <a:xfrm>
            <a:off x="1764792" y="4953000"/>
            <a:ext cx="3973068" cy="1127760"/>
          </a:xfrm>
          <a:prstGeom prst="rect">
            <a:avLst/>
          </a:prstGeom>
          <a:noFill/>
        </p:spPr>
        <p:txBody>
          <a:bodyPr wrap="square" anchor="ctr">
            <a:spAutoFit/>
          </a:bodyPr>
          <a:lstStyle/>
          <a:p>
            <a:pPr algn="l">
              <a:spcAft>
                <a:spcPts val="300"/>
              </a:spcAft>
            </a:pPr>
            <a:r>
              <a:rPr sz="1600" b="1">
                <a:solidFill>
                  <a:srgbClr val="161B26"/>
                </a:solidFill>
                <a:latin typeface="Arial"/>
              </a:rPr>
              <a:t>LO5</a:t>
            </a:r>
          </a:p>
          <a:p>
            <a:pPr algn="l">
              <a:spcAft>
                <a:spcPts val="300"/>
              </a:spcAft>
            </a:pPr>
            <a:r>
              <a:rPr sz="1200" b="0">
                <a:solidFill>
                  <a:srgbClr val="5B6372"/>
                </a:solidFill>
                <a:latin typeface="Arial"/>
              </a:rPr>
              <a:t>Demonstrate solutions to incidents and business problems on the AWS cloud.</a:t>
            </a:r>
          </a:p>
        </p:txBody>
      </p:sp>
      <p:sp>
        <p:nvSpPr>
          <p:cNvPr id="32" name="Rectangle 31"/>
          <p:cNvSpPr/>
          <p:nvPr/>
        </p:nvSpPr>
        <p:spPr>
          <a:xfrm>
            <a:off x="6231636" y="4843272"/>
            <a:ext cx="5180076" cy="131064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Rectangle 32"/>
          <p:cNvSpPr/>
          <p:nvPr/>
        </p:nvSpPr>
        <p:spPr>
          <a:xfrm>
            <a:off x="6231636" y="4843272"/>
            <a:ext cx="91440" cy="1310640"/>
          </a:xfrm>
          <a:prstGeom prst="rect">
            <a:avLst/>
          </a:prstGeom>
          <a:solidFill>
            <a:srgbClr val="0E9EC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Oval 33"/>
          <p:cNvSpPr/>
          <p:nvPr/>
        </p:nvSpPr>
        <p:spPr>
          <a:xfrm>
            <a:off x="6487668" y="5224272"/>
            <a:ext cx="548640" cy="548640"/>
          </a:xfrm>
          <a:prstGeom prst="ellipse">
            <a:avLst/>
          </a:prstGeom>
          <a:solidFill>
            <a:srgbClr val="0E9EC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TextBox 34"/>
          <p:cNvSpPr txBox="1"/>
          <p:nvPr/>
        </p:nvSpPr>
        <p:spPr>
          <a:xfrm>
            <a:off x="6487668" y="5224272"/>
            <a:ext cx="548640" cy="548640"/>
          </a:xfrm>
          <a:prstGeom prst="rect">
            <a:avLst/>
          </a:prstGeom>
          <a:noFill/>
        </p:spPr>
        <p:txBody>
          <a:bodyPr wrap="square" anchor="ctr">
            <a:spAutoFit/>
          </a:bodyPr>
          <a:lstStyle/>
          <a:p>
            <a:pPr algn="ctr">
              <a:spcAft>
                <a:spcPts val="400"/>
              </a:spcAft>
            </a:pPr>
            <a:r>
              <a:rPr sz="1800" b="1">
                <a:solidFill>
                  <a:srgbClr val="FFFFFF"/>
                </a:solidFill>
                <a:latin typeface="Arial"/>
              </a:rPr>
              <a:t>6</a:t>
            </a:r>
          </a:p>
        </p:txBody>
      </p:sp>
      <p:sp>
        <p:nvSpPr>
          <p:cNvPr id="36" name="TextBox 35"/>
          <p:cNvSpPr txBox="1"/>
          <p:nvPr/>
        </p:nvSpPr>
        <p:spPr>
          <a:xfrm>
            <a:off x="7219188" y="4953000"/>
            <a:ext cx="3973068" cy="1127760"/>
          </a:xfrm>
          <a:prstGeom prst="rect">
            <a:avLst/>
          </a:prstGeom>
          <a:noFill/>
        </p:spPr>
        <p:txBody>
          <a:bodyPr wrap="square" anchor="ctr">
            <a:spAutoFit/>
          </a:bodyPr>
          <a:lstStyle/>
          <a:p>
            <a:pPr algn="l">
              <a:spcAft>
                <a:spcPts val="300"/>
              </a:spcAft>
            </a:pPr>
            <a:r>
              <a:rPr sz="1600" b="1">
                <a:solidFill>
                  <a:srgbClr val="161B26"/>
                </a:solidFill>
                <a:latin typeface="Arial"/>
              </a:rPr>
              <a:t>LO6</a:t>
            </a:r>
          </a:p>
          <a:p>
            <a:pPr algn="l">
              <a:spcAft>
                <a:spcPts val="300"/>
              </a:spcAft>
            </a:pPr>
            <a:r>
              <a:rPr sz="1200" b="0">
                <a:solidFill>
                  <a:srgbClr val="5B6372"/>
                </a:solidFill>
                <a:latin typeface="Arial"/>
              </a:rPr>
              <a:t>Prepare a technical blueprint to address security and compliance.</a:t>
            </a:r>
          </a:p>
        </p:txBody>
      </p:sp>
      <p:sp>
        <p:nvSpPr>
          <p:cNvPr id="37" name="TextBox 36"/>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DevOps Engineering on AWS  ·  TGS-2023040474</a:t>
            </a:r>
          </a:p>
        </p:txBody>
      </p:sp>
      <p:sp>
        <p:nvSpPr>
          <p:cNvPr id="38" name="TextBox 37"/>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39" name="TextBox 38"/>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10</a:t>
            </a:r>
          </a:p>
        </p:txBody>
      </p:sp>
    </p:spTree>
  </p:cSld>
  <p:clrMapOvr>
    <a:masterClrMapping/>
  </p:clrMapOvr>
  <p:transition xmlns:p14="http://schemas.microsoft.com/office/powerpoint/2010/main" p14:dur="380">
    <p:fade/>
  </p:transition>
</p:sld>
</file>

<file path=ppt/slides/slide1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38912"/>
            <a:ext cx="10607040" cy="365760"/>
          </a:xfrm>
          <a:prstGeom prst="rect">
            <a:avLst/>
          </a:prstGeom>
          <a:noFill/>
        </p:spPr>
        <p:txBody>
          <a:bodyPr wrap="square" anchor="t">
            <a:spAutoFit/>
          </a:bodyPr>
          <a:lstStyle/>
          <a:p>
            <a:pPr algn="l">
              <a:spcAft>
                <a:spcPts val="400"/>
              </a:spcAft>
            </a:pPr>
            <a:r>
              <a:rPr sz="1400" b="1">
                <a:solidFill>
                  <a:srgbClr val="1F6FEB"/>
                </a:solidFill>
                <a:latin typeface="Arial"/>
              </a:rPr>
              <a:t>TSC MAPPING · K1–K7 · A1–A6 · LO1–LO6</a:t>
            </a:r>
          </a:p>
        </p:txBody>
      </p:sp>
      <p:sp>
        <p:nvSpPr>
          <p:cNvPr id="5" name="TextBox 4"/>
          <p:cNvSpPr txBox="1"/>
          <p:nvPr/>
        </p:nvSpPr>
        <p:spPr>
          <a:xfrm>
            <a:off x="777240" y="896112"/>
            <a:ext cx="10927080" cy="731520"/>
          </a:xfrm>
          <a:prstGeom prst="rect">
            <a:avLst/>
          </a:prstGeom>
          <a:noFill/>
        </p:spPr>
        <p:txBody>
          <a:bodyPr wrap="square" anchor="t">
            <a:spAutoFit/>
          </a:bodyPr>
          <a:lstStyle/>
          <a:p>
            <a:pPr algn="l">
              <a:spcAft>
                <a:spcPts val="400"/>
              </a:spcAft>
            </a:pPr>
            <a:r>
              <a:rPr sz="2500" b="1">
                <a:solidFill>
                  <a:srgbClr val="161B26"/>
                </a:solidFill>
                <a:latin typeface="Arial"/>
              </a:rPr>
              <a:t>Skills Framework Alignment (ICT-DES-4006-1.1)</a:t>
            </a:r>
          </a:p>
        </p:txBody>
      </p:sp>
      <p:sp>
        <p:nvSpPr>
          <p:cNvPr id="6" name="Rectangle 5"/>
          <p:cNvSpPr/>
          <p:nvPr/>
        </p:nvSpPr>
        <p:spPr>
          <a:xfrm>
            <a:off x="777240" y="1572768"/>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783080"/>
            <a:ext cx="4466478" cy="5029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886968" y="1783080"/>
            <a:ext cx="4283598" cy="502920"/>
          </a:xfrm>
          <a:prstGeom prst="rect">
            <a:avLst/>
          </a:prstGeom>
          <a:noFill/>
        </p:spPr>
        <p:txBody>
          <a:bodyPr wrap="square" anchor="ctr">
            <a:spAutoFit/>
          </a:bodyPr>
          <a:lstStyle/>
          <a:p>
            <a:pPr algn="l">
              <a:spcAft>
                <a:spcPts val="400"/>
              </a:spcAft>
            </a:pPr>
            <a:r>
              <a:rPr sz="1400" b="1">
                <a:solidFill>
                  <a:srgbClr val="FFFFFF"/>
                </a:solidFill>
                <a:latin typeface="Arial"/>
              </a:rPr>
              <a:t>Domain</a:t>
            </a:r>
          </a:p>
        </p:txBody>
      </p:sp>
      <p:sp>
        <p:nvSpPr>
          <p:cNvPr id="9" name="Rectangle 8"/>
          <p:cNvSpPr/>
          <p:nvPr/>
        </p:nvSpPr>
        <p:spPr>
          <a:xfrm>
            <a:off x="5243718" y="1783080"/>
            <a:ext cx="1701515" cy="5029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5353446" y="1783080"/>
            <a:ext cx="1518635" cy="502920"/>
          </a:xfrm>
          <a:prstGeom prst="rect">
            <a:avLst/>
          </a:prstGeom>
          <a:noFill/>
        </p:spPr>
        <p:txBody>
          <a:bodyPr wrap="square" anchor="ctr">
            <a:spAutoFit/>
          </a:bodyPr>
          <a:lstStyle/>
          <a:p>
            <a:pPr algn="ctr">
              <a:spcAft>
                <a:spcPts val="400"/>
              </a:spcAft>
            </a:pPr>
            <a:r>
              <a:rPr sz="1400" b="1">
                <a:solidFill>
                  <a:srgbClr val="FFFFFF"/>
                </a:solidFill>
                <a:latin typeface="Arial"/>
              </a:rPr>
              <a:t>Learning Outcome</a:t>
            </a:r>
          </a:p>
        </p:txBody>
      </p:sp>
      <p:sp>
        <p:nvSpPr>
          <p:cNvPr id="11" name="Rectangle 10"/>
          <p:cNvSpPr/>
          <p:nvPr/>
        </p:nvSpPr>
        <p:spPr>
          <a:xfrm>
            <a:off x="6945233" y="1783080"/>
            <a:ext cx="2233239" cy="5029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7054961" y="1783080"/>
            <a:ext cx="2050359" cy="502920"/>
          </a:xfrm>
          <a:prstGeom prst="rect">
            <a:avLst/>
          </a:prstGeom>
          <a:noFill/>
        </p:spPr>
        <p:txBody>
          <a:bodyPr wrap="square" anchor="ctr">
            <a:spAutoFit/>
          </a:bodyPr>
          <a:lstStyle/>
          <a:p>
            <a:pPr algn="ctr">
              <a:spcAft>
                <a:spcPts val="400"/>
              </a:spcAft>
            </a:pPr>
            <a:r>
              <a:rPr sz="1400" b="1">
                <a:solidFill>
                  <a:srgbClr val="FFFFFF"/>
                </a:solidFill>
                <a:latin typeface="Arial"/>
              </a:rPr>
              <a:t>Knowledge</a:t>
            </a:r>
          </a:p>
        </p:txBody>
      </p:sp>
      <p:sp>
        <p:nvSpPr>
          <p:cNvPr id="13" name="Rectangle 12"/>
          <p:cNvSpPr/>
          <p:nvPr/>
        </p:nvSpPr>
        <p:spPr>
          <a:xfrm>
            <a:off x="9178472" y="1783080"/>
            <a:ext cx="2233239" cy="5029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9288200" y="1783080"/>
            <a:ext cx="2050359" cy="502920"/>
          </a:xfrm>
          <a:prstGeom prst="rect">
            <a:avLst/>
          </a:prstGeom>
          <a:noFill/>
        </p:spPr>
        <p:txBody>
          <a:bodyPr wrap="square" anchor="ctr">
            <a:spAutoFit/>
          </a:bodyPr>
          <a:lstStyle/>
          <a:p>
            <a:pPr algn="ctr">
              <a:spcAft>
                <a:spcPts val="400"/>
              </a:spcAft>
            </a:pPr>
            <a:r>
              <a:rPr sz="1400" b="1">
                <a:solidFill>
                  <a:srgbClr val="FFFFFF"/>
                </a:solidFill>
                <a:latin typeface="Arial"/>
              </a:rPr>
              <a:t>Ability</a:t>
            </a:r>
          </a:p>
        </p:txBody>
      </p:sp>
      <p:sp>
        <p:nvSpPr>
          <p:cNvPr id="15" name="Rectangle 14"/>
          <p:cNvSpPr/>
          <p:nvPr/>
        </p:nvSpPr>
        <p:spPr>
          <a:xfrm>
            <a:off x="777240" y="2286000"/>
            <a:ext cx="4466478" cy="685800"/>
          </a:xfrm>
          <a:prstGeom prst="rect">
            <a:avLst/>
          </a:prstGeom>
          <a:solidFill>
            <a:srgbClr val="F5F8FC"/>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886968" y="2286000"/>
            <a:ext cx="4283598" cy="685800"/>
          </a:xfrm>
          <a:prstGeom prst="rect">
            <a:avLst/>
          </a:prstGeom>
          <a:noFill/>
        </p:spPr>
        <p:txBody>
          <a:bodyPr wrap="square" anchor="ctr">
            <a:spAutoFit/>
          </a:bodyPr>
          <a:lstStyle/>
          <a:p>
            <a:pPr algn="l">
              <a:spcAft>
                <a:spcPts val="400"/>
              </a:spcAft>
            </a:pPr>
            <a:r>
              <a:rPr sz="1250" b="1">
                <a:solidFill>
                  <a:srgbClr val="161B26"/>
                </a:solidFill>
                <a:latin typeface="Arial"/>
              </a:rPr>
              <a:t>01 SDLC Automation</a:t>
            </a:r>
          </a:p>
        </p:txBody>
      </p:sp>
      <p:sp>
        <p:nvSpPr>
          <p:cNvPr id="17" name="Rectangle 16"/>
          <p:cNvSpPr/>
          <p:nvPr/>
        </p:nvSpPr>
        <p:spPr>
          <a:xfrm>
            <a:off x="5243718" y="2286000"/>
            <a:ext cx="1701515" cy="685800"/>
          </a:xfrm>
          <a:prstGeom prst="rect">
            <a:avLst/>
          </a:prstGeom>
          <a:solidFill>
            <a:srgbClr val="F5F8FC"/>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5353446" y="2286000"/>
            <a:ext cx="1518635" cy="685800"/>
          </a:xfrm>
          <a:prstGeom prst="rect">
            <a:avLst/>
          </a:prstGeom>
          <a:noFill/>
        </p:spPr>
        <p:txBody>
          <a:bodyPr wrap="square" anchor="ctr">
            <a:spAutoFit/>
          </a:bodyPr>
          <a:lstStyle/>
          <a:p>
            <a:pPr algn="ctr">
              <a:spcAft>
                <a:spcPts val="400"/>
              </a:spcAft>
            </a:pPr>
            <a:r>
              <a:rPr sz="1250" b="0">
                <a:solidFill>
                  <a:srgbClr val="5B6372"/>
                </a:solidFill>
                <a:latin typeface="Arial"/>
              </a:rPr>
              <a:t>LO1</a:t>
            </a:r>
          </a:p>
        </p:txBody>
      </p:sp>
      <p:sp>
        <p:nvSpPr>
          <p:cNvPr id="19" name="Rectangle 18"/>
          <p:cNvSpPr/>
          <p:nvPr/>
        </p:nvSpPr>
        <p:spPr>
          <a:xfrm>
            <a:off x="6945233" y="2286000"/>
            <a:ext cx="2233239" cy="685800"/>
          </a:xfrm>
          <a:prstGeom prst="rect">
            <a:avLst/>
          </a:prstGeom>
          <a:solidFill>
            <a:srgbClr val="F5F8FC"/>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7054961" y="2286000"/>
            <a:ext cx="2050359" cy="685800"/>
          </a:xfrm>
          <a:prstGeom prst="rect">
            <a:avLst/>
          </a:prstGeom>
          <a:noFill/>
        </p:spPr>
        <p:txBody>
          <a:bodyPr wrap="square" anchor="ctr">
            <a:spAutoFit/>
          </a:bodyPr>
          <a:lstStyle/>
          <a:p>
            <a:pPr algn="ctr">
              <a:spcAft>
                <a:spcPts val="400"/>
              </a:spcAft>
            </a:pPr>
            <a:r>
              <a:rPr sz="1250" b="0">
                <a:solidFill>
                  <a:srgbClr val="5B6372"/>
                </a:solidFill>
                <a:latin typeface="Arial"/>
              </a:rPr>
              <a:t>K1</a:t>
            </a:r>
          </a:p>
        </p:txBody>
      </p:sp>
      <p:sp>
        <p:nvSpPr>
          <p:cNvPr id="21" name="Rectangle 20"/>
          <p:cNvSpPr/>
          <p:nvPr/>
        </p:nvSpPr>
        <p:spPr>
          <a:xfrm>
            <a:off x="9178472" y="2286000"/>
            <a:ext cx="2233239" cy="685800"/>
          </a:xfrm>
          <a:prstGeom prst="rect">
            <a:avLst/>
          </a:prstGeom>
          <a:solidFill>
            <a:srgbClr val="F5F8FC"/>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9288200" y="2286000"/>
            <a:ext cx="2050359" cy="685800"/>
          </a:xfrm>
          <a:prstGeom prst="rect">
            <a:avLst/>
          </a:prstGeom>
          <a:noFill/>
        </p:spPr>
        <p:txBody>
          <a:bodyPr wrap="square" anchor="ctr">
            <a:spAutoFit/>
          </a:bodyPr>
          <a:lstStyle/>
          <a:p>
            <a:pPr algn="ctr">
              <a:spcAft>
                <a:spcPts val="400"/>
              </a:spcAft>
            </a:pPr>
            <a:r>
              <a:rPr sz="1250" b="0">
                <a:solidFill>
                  <a:srgbClr val="5B6372"/>
                </a:solidFill>
                <a:latin typeface="Arial"/>
              </a:rPr>
              <a:t>A1</a:t>
            </a:r>
          </a:p>
        </p:txBody>
      </p:sp>
      <p:sp>
        <p:nvSpPr>
          <p:cNvPr id="23" name="Rectangle 22"/>
          <p:cNvSpPr/>
          <p:nvPr/>
        </p:nvSpPr>
        <p:spPr>
          <a:xfrm>
            <a:off x="777240" y="2971800"/>
            <a:ext cx="4466478" cy="685800"/>
          </a:xfrm>
          <a:prstGeom prst="rect">
            <a:avLst/>
          </a:prstGeom>
          <a:solidFill>
            <a:srgbClr val="FFFFFF"/>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886968" y="2971800"/>
            <a:ext cx="4283598" cy="685800"/>
          </a:xfrm>
          <a:prstGeom prst="rect">
            <a:avLst/>
          </a:prstGeom>
          <a:noFill/>
        </p:spPr>
        <p:txBody>
          <a:bodyPr wrap="square" anchor="ctr">
            <a:spAutoFit/>
          </a:bodyPr>
          <a:lstStyle/>
          <a:p>
            <a:pPr algn="l">
              <a:spcAft>
                <a:spcPts val="400"/>
              </a:spcAft>
            </a:pPr>
            <a:r>
              <a:rPr sz="1250" b="1">
                <a:solidFill>
                  <a:srgbClr val="161B26"/>
                </a:solidFill>
                <a:latin typeface="Arial"/>
              </a:rPr>
              <a:t>02 Configuration Management and IaC</a:t>
            </a:r>
          </a:p>
        </p:txBody>
      </p:sp>
      <p:sp>
        <p:nvSpPr>
          <p:cNvPr id="25" name="Rectangle 24"/>
          <p:cNvSpPr/>
          <p:nvPr/>
        </p:nvSpPr>
        <p:spPr>
          <a:xfrm>
            <a:off x="5243718" y="2971800"/>
            <a:ext cx="1701515" cy="685800"/>
          </a:xfrm>
          <a:prstGeom prst="rect">
            <a:avLst/>
          </a:prstGeom>
          <a:solidFill>
            <a:srgbClr val="FFFFFF"/>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5353446" y="2971800"/>
            <a:ext cx="1518635" cy="685800"/>
          </a:xfrm>
          <a:prstGeom prst="rect">
            <a:avLst/>
          </a:prstGeom>
          <a:noFill/>
        </p:spPr>
        <p:txBody>
          <a:bodyPr wrap="square" anchor="ctr">
            <a:spAutoFit/>
          </a:bodyPr>
          <a:lstStyle/>
          <a:p>
            <a:pPr algn="ctr">
              <a:spcAft>
                <a:spcPts val="400"/>
              </a:spcAft>
            </a:pPr>
            <a:r>
              <a:rPr sz="1250" b="0">
                <a:solidFill>
                  <a:srgbClr val="5B6372"/>
                </a:solidFill>
                <a:latin typeface="Arial"/>
              </a:rPr>
              <a:t>LO2</a:t>
            </a:r>
          </a:p>
        </p:txBody>
      </p:sp>
      <p:sp>
        <p:nvSpPr>
          <p:cNvPr id="27" name="Rectangle 26"/>
          <p:cNvSpPr/>
          <p:nvPr/>
        </p:nvSpPr>
        <p:spPr>
          <a:xfrm>
            <a:off x="6945233" y="2971800"/>
            <a:ext cx="2233239" cy="685800"/>
          </a:xfrm>
          <a:prstGeom prst="rect">
            <a:avLst/>
          </a:prstGeom>
          <a:solidFill>
            <a:srgbClr val="FFFFFF"/>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7054961" y="2971800"/>
            <a:ext cx="2050359" cy="685800"/>
          </a:xfrm>
          <a:prstGeom prst="rect">
            <a:avLst/>
          </a:prstGeom>
          <a:noFill/>
        </p:spPr>
        <p:txBody>
          <a:bodyPr wrap="square" anchor="ctr">
            <a:spAutoFit/>
          </a:bodyPr>
          <a:lstStyle/>
          <a:p>
            <a:pPr algn="ctr">
              <a:spcAft>
                <a:spcPts val="400"/>
              </a:spcAft>
            </a:pPr>
            <a:r>
              <a:rPr sz="1250" b="0">
                <a:solidFill>
                  <a:srgbClr val="5B6372"/>
                </a:solidFill>
                <a:latin typeface="Arial"/>
              </a:rPr>
              <a:t>K3</a:t>
            </a:r>
          </a:p>
        </p:txBody>
      </p:sp>
      <p:sp>
        <p:nvSpPr>
          <p:cNvPr id="29" name="Rectangle 28"/>
          <p:cNvSpPr/>
          <p:nvPr/>
        </p:nvSpPr>
        <p:spPr>
          <a:xfrm>
            <a:off x="9178472" y="2971800"/>
            <a:ext cx="2233239" cy="685800"/>
          </a:xfrm>
          <a:prstGeom prst="rect">
            <a:avLst/>
          </a:prstGeom>
          <a:solidFill>
            <a:srgbClr val="FFFFFF"/>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9288200" y="2971800"/>
            <a:ext cx="2050359" cy="685800"/>
          </a:xfrm>
          <a:prstGeom prst="rect">
            <a:avLst/>
          </a:prstGeom>
          <a:noFill/>
        </p:spPr>
        <p:txBody>
          <a:bodyPr wrap="square" anchor="ctr">
            <a:spAutoFit/>
          </a:bodyPr>
          <a:lstStyle/>
          <a:p>
            <a:pPr algn="ctr">
              <a:spcAft>
                <a:spcPts val="400"/>
              </a:spcAft>
            </a:pPr>
            <a:r>
              <a:rPr sz="1250" b="0">
                <a:solidFill>
                  <a:srgbClr val="5B6372"/>
                </a:solidFill>
                <a:latin typeface="Arial"/>
              </a:rPr>
              <a:t>A3</a:t>
            </a:r>
          </a:p>
        </p:txBody>
      </p:sp>
      <p:sp>
        <p:nvSpPr>
          <p:cNvPr id="31" name="Rectangle 30"/>
          <p:cNvSpPr/>
          <p:nvPr/>
        </p:nvSpPr>
        <p:spPr>
          <a:xfrm>
            <a:off x="777240" y="3657600"/>
            <a:ext cx="4466478" cy="685800"/>
          </a:xfrm>
          <a:prstGeom prst="rect">
            <a:avLst/>
          </a:prstGeom>
          <a:solidFill>
            <a:srgbClr val="F5F8FC"/>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TextBox 31"/>
          <p:cNvSpPr txBox="1"/>
          <p:nvPr/>
        </p:nvSpPr>
        <p:spPr>
          <a:xfrm>
            <a:off x="886968" y="3657600"/>
            <a:ext cx="4283598" cy="685800"/>
          </a:xfrm>
          <a:prstGeom prst="rect">
            <a:avLst/>
          </a:prstGeom>
          <a:noFill/>
        </p:spPr>
        <p:txBody>
          <a:bodyPr wrap="square" anchor="ctr">
            <a:spAutoFit/>
          </a:bodyPr>
          <a:lstStyle/>
          <a:p>
            <a:pPr algn="l">
              <a:spcAft>
                <a:spcPts val="400"/>
              </a:spcAft>
            </a:pPr>
            <a:r>
              <a:rPr sz="1250" b="1">
                <a:solidFill>
                  <a:srgbClr val="161B26"/>
                </a:solidFill>
                <a:latin typeface="Arial"/>
              </a:rPr>
              <a:t>03 Resilient Cloud Solutions</a:t>
            </a:r>
          </a:p>
        </p:txBody>
      </p:sp>
      <p:sp>
        <p:nvSpPr>
          <p:cNvPr id="33" name="Rectangle 32"/>
          <p:cNvSpPr/>
          <p:nvPr/>
        </p:nvSpPr>
        <p:spPr>
          <a:xfrm>
            <a:off x="5243718" y="3657600"/>
            <a:ext cx="1701515" cy="685800"/>
          </a:xfrm>
          <a:prstGeom prst="rect">
            <a:avLst/>
          </a:prstGeom>
          <a:solidFill>
            <a:srgbClr val="F5F8FC"/>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TextBox 33"/>
          <p:cNvSpPr txBox="1"/>
          <p:nvPr/>
        </p:nvSpPr>
        <p:spPr>
          <a:xfrm>
            <a:off x="5353446" y="3657600"/>
            <a:ext cx="1518635" cy="685800"/>
          </a:xfrm>
          <a:prstGeom prst="rect">
            <a:avLst/>
          </a:prstGeom>
          <a:noFill/>
        </p:spPr>
        <p:txBody>
          <a:bodyPr wrap="square" anchor="ctr">
            <a:spAutoFit/>
          </a:bodyPr>
          <a:lstStyle/>
          <a:p>
            <a:pPr algn="ctr">
              <a:spcAft>
                <a:spcPts val="400"/>
              </a:spcAft>
            </a:pPr>
            <a:r>
              <a:rPr sz="1250" b="0">
                <a:solidFill>
                  <a:srgbClr val="5B6372"/>
                </a:solidFill>
                <a:latin typeface="Arial"/>
              </a:rPr>
              <a:t>LO3</a:t>
            </a:r>
          </a:p>
        </p:txBody>
      </p:sp>
      <p:sp>
        <p:nvSpPr>
          <p:cNvPr id="35" name="Rectangle 34"/>
          <p:cNvSpPr/>
          <p:nvPr/>
        </p:nvSpPr>
        <p:spPr>
          <a:xfrm>
            <a:off x="6945233" y="3657600"/>
            <a:ext cx="2233239" cy="685800"/>
          </a:xfrm>
          <a:prstGeom prst="rect">
            <a:avLst/>
          </a:prstGeom>
          <a:solidFill>
            <a:srgbClr val="F5F8FC"/>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TextBox 35"/>
          <p:cNvSpPr txBox="1"/>
          <p:nvPr/>
        </p:nvSpPr>
        <p:spPr>
          <a:xfrm>
            <a:off x="7054961" y="3657600"/>
            <a:ext cx="2050359" cy="685800"/>
          </a:xfrm>
          <a:prstGeom prst="rect">
            <a:avLst/>
          </a:prstGeom>
          <a:noFill/>
        </p:spPr>
        <p:txBody>
          <a:bodyPr wrap="square" anchor="ctr">
            <a:spAutoFit/>
          </a:bodyPr>
          <a:lstStyle/>
          <a:p>
            <a:pPr algn="ctr">
              <a:spcAft>
                <a:spcPts val="400"/>
              </a:spcAft>
            </a:pPr>
            <a:r>
              <a:rPr sz="1250" b="0">
                <a:solidFill>
                  <a:srgbClr val="5B6372"/>
                </a:solidFill>
                <a:latin typeface="Arial"/>
              </a:rPr>
              <a:t>K2, K4</a:t>
            </a:r>
          </a:p>
        </p:txBody>
      </p:sp>
      <p:sp>
        <p:nvSpPr>
          <p:cNvPr id="37" name="Rectangle 36"/>
          <p:cNvSpPr/>
          <p:nvPr/>
        </p:nvSpPr>
        <p:spPr>
          <a:xfrm>
            <a:off x="9178472" y="3657600"/>
            <a:ext cx="2233239" cy="685800"/>
          </a:xfrm>
          <a:prstGeom prst="rect">
            <a:avLst/>
          </a:prstGeom>
          <a:solidFill>
            <a:srgbClr val="F5F8FC"/>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8" name="TextBox 37"/>
          <p:cNvSpPr txBox="1"/>
          <p:nvPr/>
        </p:nvSpPr>
        <p:spPr>
          <a:xfrm>
            <a:off x="9288200" y="3657600"/>
            <a:ext cx="2050359" cy="685800"/>
          </a:xfrm>
          <a:prstGeom prst="rect">
            <a:avLst/>
          </a:prstGeom>
          <a:noFill/>
        </p:spPr>
        <p:txBody>
          <a:bodyPr wrap="square" anchor="ctr">
            <a:spAutoFit/>
          </a:bodyPr>
          <a:lstStyle/>
          <a:p>
            <a:pPr algn="ctr">
              <a:spcAft>
                <a:spcPts val="400"/>
              </a:spcAft>
            </a:pPr>
            <a:r>
              <a:rPr sz="1250" b="0">
                <a:solidFill>
                  <a:srgbClr val="5B6372"/>
                </a:solidFill>
                <a:latin typeface="Arial"/>
              </a:rPr>
              <a:t>A2</a:t>
            </a:r>
          </a:p>
        </p:txBody>
      </p:sp>
      <p:sp>
        <p:nvSpPr>
          <p:cNvPr id="39" name="Rectangle 38"/>
          <p:cNvSpPr/>
          <p:nvPr/>
        </p:nvSpPr>
        <p:spPr>
          <a:xfrm>
            <a:off x="777240" y="4343400"/>
            <a:ext cx="4466478" cy="685800"/>
          </a:xfrm>
          <a:prstGeom prst="rect">
            <a:avLst/>
          </a:prstGeom>
          <a:solidFill>
            <a:srgbClr val="FFFFFF"/>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0" name="TextBox 39"/>
          <p:cNvSpPr txBox="1"/>
          <p:nvPr/>
        </p:nvSpPr>
        <p:spPr>
          <a:xfrm>
            <a:off x="886968" y="4343400"/>
            <a:ext cx="4283598" cy="685800"/>
          </a:xfrm>
          <a:prstGeom prst="rect">
            <a:avLst/>
          </a:prstGeom>
          <a:noFill/>
        </p:spPr>
        <p:txBody>
          <a:bodyPr wrap="square" anchor="ctr">
            <a:spAutoFit/>
          </a:bodyPr>
          <a:lstStyle/>
          <a:p>
            <a:pPr algn="l">
              <a:spcAft>
                <a:spcPts val="400"/>
              </a:spcAft>
            </a:pPr>
            <a:r>
              <a:rPr sz="1250" b="1">
                <a:solidFill>
                  <a:srgbClr val="161B26"/>
                </a:solidFill>
                <a:latin typeface="Arial"/>
              </a:rPr>
              <a:t>04 Monitoring and Logging</a:t>
            </a:r>
          </a:p>
        </p:txBody>
      </p:sp>
      <p:sp>
        <p:nvSpPr>
          <p:cNvPr id="41" name="Rectangle 40"/>
          <p:cNvSpPr/>
          <p:nvPr/>
        </p:nvSpPr>
        <p:spPr>
          <a:xfrm>
            <a:off x="5243718" y="4343400"/>
            <a:ext cx="1701515" cy="685800"/>
          </a:xfrm>
          <a:prstGeom prst="rect">
            <a:avLst/>
          </a:prstGeom>
          <a:solidFill>
            <a:srgbClr val="FFFFFF"/>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2" name="TextBox 41"/>
          <p:cNvSpPr txBox="1"/>
          <p:nvPr/>
        </p:nvSpPr>
        <p:spPr>
          <a:xfrm>
            <a:off x="5353446" y="4343400"/>
            <a:ext cx="1518635" cy="685800"/>
          </a:xfrm>
          <a:prstGeom prst="rect">
            <a:avLst/>
          </a:prstGeom>
          <a:noFill/>
        </p:spPr>
        <p:txBody>
          <a:bodyPr wrap="square" anchor="ctr">
            <a:spAutoFit/>
          </a:bodyPr>
          <a:lstStyle/>
          <a:p>
            <a:pPr algn="ctr">
              <a:spcAft>
                <a:spcPts val="400"/>
              </a:spcAft>
            </a:pPr>
            <a:r>
              <a:rPr sz="1250" b="0">
                <a:solidFill>
                  <a:srgbClr val="5B6372"/>
                </a:solidFill>
                <a:latin typeface="Arial"/>
              </a:rPr>
              <a:t>LO4</a:t>
            </a:r>
          </a:p>
        </p:txBody>
      </p:sp>
      <p:sp>
        <p:nvSpPr>
          <p:cNvPr id="43" name="Rectangle 42"/>
          <p:cNvSpPr/>
          <p:nvPr/>
        </p:nvSpPr>
        <p:spPr>
          <a:xfrm>
            <a:off x="6945233" y="4343400"/>
            <a:ext cx="2233239" cy="685800"/>
          </a:xfrm>
          <a:prstGeom prst="rect">
            <a:avLst/>
          </a:prstGeom>
          <a:solidFill>
            <a:srgbClr val="FFFFFF"/>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4" name="TextBox 43"/>
          <p:cNvSpPr txBox="1"/>
          <p:nvPr/>
        </p:nvSpPr>
        <p:spPr>
          <a:xfrm>
            <a:off x="7054961" y="4343400"/>
            <a:ext cx="2050359" cy="685800"/>
          </a:xfrm>
          <a:prstGeom prst="rect">
            <a:avLst/>
          </a:prstGeom>
          <a:noFill/>
        </p:spPr>
        <p:txBody>
          <a:bodyPr wrap="square" anchor="ctr">
            <a:spAutoFit/>
          </a:bodyPr>
          <a:lstStyle/>
          <a:p>
            <a:pPr algn="ctr">
              <a:spcAft>
                <a:spcPts val="400"/>
              </a:spcAft>
            </a:pPr>
            <a:r>
              <a:rPr sz="1250" b="0">
                <a:solidFill>
                  <a:srgbClr val="5B6372"/>
                </a:solidFill>
                <a:latin typeface="Arial"/>
              </a:rPr>
              <a:t>K5</a:t>
            </a:r>
          </a:p>
        </p:txBody>
      </p:sp>
      <p:sp>
        <p:nvSpPr>
          <p:cNvPr id="45" name="Rectangle 44"/>
          <p:cNvSpPr/>
          <p:nvPr/>
        </p:nvSpPr>
        <p:spPr>
          <a:xfrm>
            <a:off x="9178472" y="4343400"/>
            <a:ext cx="2233239" cy="685800"/>
          </a:xfrm>
          <a:prstGeom prst="rect">
            <a:avLst/>
          </a:prstGeom>
          <a:solidFill>
            <a:srgbClr val="FFFFFF"/>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6" name="TextBox 45"/>
          <p:cNvSpPr txBox="1"/>
          <p:nvPr/>
        </p:nvSpPr>
        <p:spPr>
          <a:xfrm>
            <a:off x="9288200" y="4343400"/>
            <a:ext cx="2050359" cy="685800"/>
          </a:xfrm>
          <a:prstGeom prst="rect">
            <a:avLst/>
          </a:prstGeom>
          <a:noFill/>
        </p:spPr>
        <p:txBody>
          <a:bodyPr wrap="square" anchor="ctr">
            <a:spAutoFit/>
          </a:bodyPr>
          <a:lstStyle/>
          <a:p>
            <a:pPr algn="ctr">
              <a:spcAft>
                <a:spcPts val="400"/>
              </a:spcAft>
            </a:pPr>
            <a:r>
              <a:rPr sz="1250" b="0">
                <a:solidFill>
                  <a:srgbClr val="5B6372"/>
                </a:solidFill>
                <a:latin typeface="Arial"/>
              </a:rPr>
              <a:t>A6</a:t>
            </a:r>
          </a:p>
        </p:txBody>
      </p:sp>
      <p:sp>
        <p:nvSpPr>
          <p:cNvPr id="47" name="Rectangle 46"/>
          <p:cNvSpPr/>
          <p:nvPr/>
        </p:nvSpPr>
        <p:spPr>
          <a:xfrm>
            <a:off x="777240" y="5029200"/>
            <a:ext cx="4466478" cy="685800"/>
          </a:xfrm>
          <a:prstGeom prst="rect">
            <a:avLst/>
          </a:prstGeom>
          <a:solidFill>
            <a:srgbClr val="F5F8FC"/>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8" name="TextBox 47"/>
          <p:cNvSpPr txBox="1"/>
          <p:nvPr/>
        </p:nvSpPr>
        <p:spPr>
          <a:xfrm>
            <a:off x="886968" y="5029200"/>
            <a:ext cx="4283598" cy="685800"/>
          </a:xfrm>
          <a:prstGeom prst="rect">
            <a:avLst/>
          </a:prstGeom>
          <a:noFill/>
        </p:spPr>
        <p:txBody>
          <a:bodyPr wrap="square" anchor="ctr">
            <a:spAutoFit/>
          </a:bodyPr>
          <a:lstStyle/>
          <a:p>
            <a:pPr algn="l">
              <a:spcAft>
                <a:spcPts val="400"/>
              </a:spcAft>
            </a:pPr>
            <a:r>
              <a:rPr sz="1250" b="1">
                <a:solidFill>
                  <a:srgbClr val="161B26"/>
                </a:solidFill>
                <a:latin typeface="Arial"/>
              </a:rPr>
              <a:t>05 Incident and Event Response</a:t>
            </a:r>
          </a:p>
        </p:txBody>
      </p:sp>
      <p:sp>
        <p:nvSpPr>
          <p:cNvPr id="49" name="Rectangle 48"/>
          <p:cNvSpPr/>
          <p:nvPr/>
        </p:nvSpPr>
        <p:spPr>
          <a:xfrm>
            <a:off x="5243718" y="5029200"/>
            <a:ext cx="1701515" cy="685800"/>
          </a:xfrm>
          <a:prstGeom prst="rect">
            <a:avLst/>
          </a:prstGeom>
          <a:solidFill>
            <a:srgbClr val="F5F8FC"/>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0" name="TextBox 49"/>
          <p:cNvSpPr txBox="1"/>
          <p:nvPr/>
        </p:nvSpPr>
        <p:spPr>
          <a:xfrm>
            <a:off x="5353446" y="5029200"/>
            <a:ext cx="1518635" cy="685800"/>
          </a:xfrm>
          <a:prstGeom prst="rect">
            <a:avLst/>
          </a:prstGeom>
          <a:noFill/>
        </p:spPr>
        <p:txBody>
          <a:bodyPr wrap="square" anchor="ctr">
            <a:spAutoFit/>
          </a:bodyPr>
          <a:lstStyle/>
          <a:p>
            <a:pPr algn="ctr">
              <a:spcAft>
                <a:spcPts val="400"/>
              </a:spcAft>
            </a:pPr>
            <a:r>
              <a:rPr sz="1250" b="0">
                <a:solidFill>
                  <a:srgbClr val="5B6372"/>
                </a:solidFill>
                <a:latin typeface="Arial"/>
              </a:rPr>
              <a:t>LO5</a:t>
            </a:r>
          </a:p>
        </p:txBody>
      </p:sp>
      <p:sp>
        <p:nvSpPr>
          <p:cNvPr id="51" name="Rectangle 50"/>
          <p:cNvSpPr/>
          <p:nvPr/>
        </p:nvSpPr>
        <p:spPr>
          <a:xfrm>
            <a:off x="6945233" y="5029200"/>
            <a:ext cx="2233239" cy="685800"/>
          </a:xfrm>
          <a:prstGeom prst="rect">
            <a:avLst/>
          </a:prstGeom>
          <a:solidFill>
            <a:srgbClr val="F5F8FC"/>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2" name="TextBox 51"/>
          <p:cNvSpPr txBox="1"/>
          <p:nvPr/>
        </p:nvSpPr>
        <p:spPr>
          <a:xfrm>
            <a:off x="7054961" y="5029200"/>
            <a:ext cx="2050359" cy="685800"/>
          </a:xfrm>
          <a:prstGeom prst="rect">
            <a:avLst/>
          </a:prstGeom>
          <a:noFill/>
        </p:spPr>
        <p:txBody>
          <a:bodyPr wrap="square" anchor="ctr">
            <a:spAutoFit/>
          </a:bodyPr>
          <a:lstStyle/>
          <a:p>
            <a:pPr algn="ctr">
              <a:spcAft>
                <a:spcPts val="400"/>
              </a:spcAft>
            </a:pPr>
            <a:r>
              <a:rPr sz="1250" b="0">
                <a:solidFill>
                  <a:srgbClr val="5B6372"/>
                </a:solidFill>
                <a:latin typeface="Arial"/>
              </a:rPr>
              <a:t>K7</a:t>
            </a:r>
          </a:p>
        </p:txBody>
      </p:sp>
      <p:sp>
        <p:nvSpPr>
          <p:cNvPr id="53" name="Rectangle 52"/>
          <p:cNvSpPr/>
          <p:nvPr/>
        </p:nvSpPr>
        <p:spPr>
          <a:xfrm>
            <a:off x="9178472" y="5029200"/>
            <a:ext cx="2233239" cy="685800"/>
          </a:xfrm>
          <a:prstGeom prst="rect">
            <a:avLst/>
          </a:prstGeom>
          <a:solidFill>
            <a:srgbClr val="F5F8FC"/>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4" name="TextBox 53"/>
          <p:cNvSpPr txBox="1"/>
          <p:nvPr/>
        </p:nvSpPr>
        <p:spPr>
          <a:xfrm>
            <a:off x="9288200" y="5029200"/>
            <a:ext cx="2050359" cy="685800"/>
          </a:xfrm>
          <a:prstGeom prst="rect">
            <a:avLst/>
          </a:prstGeom>
          <a:noFill/>
        </p:spPr>
        <p:txBody>
          <a:bodyPr wrap="square" anchor="ctr">
            <a:spAutoFit/>
          </a:bodyPr>
          <a:lstStyle/>
          <a:p>
            <a:pPr algn="ctr">
              <a:spcAft>
                <a:spcPts val="400"/>
              </a:spcAft>
            </a:pPr>
            <a:r>
              <a:rPr sz="1250" b="0">
                <a:solidFill>
                  <a:srgbClr val="5B6372"/>
                </a:solidFill>
                <a:latin typeface="Arial"/>
              </a:rPr>
              <a:t>A5</a:t>
            </a:r>
          </a:p>
        </p:txBody>
      </p:sp>
      <p:sp>
        <p:nvSpPr>
          <p:cNvPr id="55" name="Rectangle 54"/>
          <p:cNvSpPr/>
          <p:nvPr/>
        </p:nvSpPr>
        <p:spPr>
          <a:xfrm>
            <a:off x="777240" y="5715000"/>
            <a:ext cx="4466478" cy="685800"/>
          </a:xfrm>
          <a:prstGeom prst="rect">
            <a:avLst/>
          </a:prstGeom>
          <a:solidFill>
            <a:srgbClr val="FFFFFF"/>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6" name="TextBox 55"/>
          <p:cNvSpPr txBox="1"/>
          <p:nvPr/>
        </p:nvSpPr>
        <p:spPr>
          <a:xfrm>
            <a:off x="886968" y="5715000"/>
            <a:ext cx="4283598" cy="685800"/>
          </a:xfrm>
          <a:prstGeom prst="rect">
            <a:avLst/>
          </a:prstGeom>
          <a:noFill/>
        </p:spPr>
        <p:txBody>
          <a:bodyPr wrap="square" anchor="ctr">
            <a:spAutoFit/>
          </a:bodyPr>
          <a:lstStyle/>
          <a:p>
            <a:pPr algn="l">
              <a:spcAft>
                <a:spcPts val="400"/>
              </a:spcAft>
            </a:pPr>
            <a:r>
              <a:rPr sz="1250" b="1">
                <a:solidFill>
                  <a:srgbClr val="161B26"/>
                </a:solidFill>
                <a:latin typeface="Arial"/>
              </a:rPr>
              <a:t>06 Security and Compliance</a:t>
            </a:r>
          </a:p>
        </p:txBody>
      </p:sp>
      <p:sp>
        <p:nvSpPr>
          <p:cNvPr id="57" name="Rectangle 56"/>
          <p:cNvSpPr/>
          <p:nvPr/>
        </p:nvSpPr>
        <p:spPr>
          <a:xfrm>
            <a:off x="5243718" y="5715000"/>
            <a:ext cx="1701515" cy="685800"/>
          </a:xfrm>
          <a:prstGeom prst="rect">
            <a:avLst/>
          </a:prstGeom>
          <a:solidFill>
            <a:srgbClr val="FFFFFF"/>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8" name="TextBox 57"/>
          <p:cNvSpPr txBox="1"/>
          <p:nvPr/>
        </p:nvSpPr>
        <p:spPr>
          <a:xfrm>
            <a:off x="5353446" y="5715000"/>
            <a:ext cx="1518635" cy="685800"/>
          </a:xfrm>
          <a:prstGeom prst="rect">
            <a:avLst/>
          </a:prstGeom>
          <a:noFill/>
        </p:spPr>
        <p:txBody>
          <a:bodyPr wrap="square" anchor="ctr">
            <a:spAutoFit/>
          </a:bodyPr>
          <a:lstStyle/>
          <a:p>
            <a:pPr algn="ctr">
              <a:spcAft>
                <a:spcPts val="400"/>
              </a:spcAft>
            </a:pPr>
            <a:r>
              <a:rPr sz="1250" b="0">
                <a:solidFill>
                  <a:srgbClr val="5B6372"/>
                </a:solidFill>
                <a:latin typeface="Arial"/>
              </a:rPr>
              <a:t>LO6</a:t>
            </a:r>
          </a:p>
        </p:txBody>
      </p:sp>
      <p:sp>
        <p:nvSpPr>
          <p:cNvPr id="59" name="Rectangle 58"/>
          <p:cNvSpPr/>
          <p:nvPr/>
        </p:nvSpPr>
        <p:spPr>
          <a:xfrm>
            <a:off x="6945233" y="5715000"/>
            <a:ext cx="2233239" cy="685800"/>
          </a:xfrm>
          <a:prstGeom prst="rect">
            <a:avLst/>
          </a:prstGeom>
          <a:solidFill>
            <a:srgbClr val="FFFFFF"/>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0" name="TextBox 59"/>
          <p:cNvSpPr txBox="1"/>
          <p:nvPr/>
        </p:nvSpPr>
        <p:spPr>
          <a:xfrm>
            <a:off x="7054961" y="5715000"/>
            <a:ext cx="2050359" cy="685800"/>
          </a:xfrm>
          <a:prstGeom prst="rect">
            <a:avLst/>
          </a:prstGeom>
          <a:noFill/>
        </p:spPr>
        <p:txBody>
          <a:bodyPr wrap="square" anchor="ctr">
            <a:spAutoFit/>
          </a:bodyPr>
          <a:lstStyle/>
          <a:p>
            <a:pPr algn="ctr">
              <a:spcAft>
                <a:spcPts val="400"/>
              </a:spcAft>
            </a:pPr>
            <a:r>
              <a:rPr sz="1250" b="0">
                <a:solidFill>
                  <a:srgbClr val="5B6372"/>
                </a:solidFill>
                <a:latin typeface="Arial"/>
              </a:rPr>
              <a:t>K6</a:t>
            </a:r>
          </a:p>
        </p:txBody>
      </p:sp>
      <p:sp>
        <p:nvSpPr>
          <p:cNvPr id="61" name="Rectangle 60"/>
          <p:cNvSpPr/>
          <p:nvPr/>
        </p:nvSpPr>
        <p:spPr>
          <a:xfrm>
            <a:off x="9178472" y="5715000"/>
            <a:ext cx="2233239" cy="685800"/>
          </a:xfrm>
          <a:prstGeom prst="rect">
            <a:avLst/>
          </a:prstGeom>
          <a:solidFill>
            <a:srgbClr val="FFFFFF"/>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2" name="TextBox 61"/>
          <p:cNvSpPr txBox="1"/>
          <p:nvPr/>
        </p:nvSpPr>
        <p:spPr>
          <a:xfrm>
            <a:off x="9288200" y="5715000"/>
            <a:ext cx="2050359" cy="685800"/>
          </a:xfrm>
          <a:prstGeom prst="rect">
            <a:avLst/>
          </a:prstGeom>
          <a:noFill/>
        </p:spPr>
        <p:txBody>
          <a:bodyPr wrap="square" anchor="ctr">
            <a:spAutoFit/>
          </a:bodyPr>
          <a:lstStyle/>
          <a:p>
            <a:pPr algn="ctr">
              <a:spcAft>
                <a:spcPts val="400"/>
              </a:spcAft>
            </a:pPr>
            <a:r>
              <a:rPr sz="1250" b="0">
                <a:solidFill>
                  <a:srgbClr val="5B6372"/>
                </a:solidFill>
                <a:latin typeface="Arial"/>
              </a:rPr>
              <a:t>A4</a:t>
            </a:r>
          </a:p>
        </p:txBody>
      </p:sp>
      <p:sp>
        <p:nvSpPr>
          <p:cNvPr id="63" name="TextBox 62"/>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DevOps Engineering on AWS  ·  TGS-2023040474</a:t>
            </a:r>
          </a:p>
        </p:txBody>
      </p:sp>
      <p:sp>
        <p:nvSpPr>
          <p:cNvPr id="64" name="TextBox 63"/>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65" name="TextBox 64"/>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11</a:t>
            </a:r>
          </a:p>
        </p:txBody>
      </p:sp>
    </p:spTree>
  </p:cSld>
  <p:clrMapOvr>
    <a:masterClrMapping/>
  </p:clrMapOvr>
  <p:transition xmlns:p14="http://schemas.microsoft.com/office/powerpoint/2010/main" p14:dur="380">
    <p:fade/>
  </p:transition>
</p:sld>
</file>

<file path=ppt/slides/slide1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38912"/>
            <a:ext cx="10607040" cy="365760"/>
          </a:xfrm>
          <a:prstGeom prst="rect">
            <a:avLst/>
          </a:prstGeom>
          <a:noFill/>
        </p:spPr>
        <p:txBody>
          <a:bodyPr wrap="square" anchor="t">
            <a:spAutoFit/>
          </a:bodyPr>
          <a:lstStyle/>
          <a:p>
            <a:pPr algn="l">
              <a:spcAft>
                <a:spcPts val="400"/>
              </a:spcAft>
            </a:pPr>
            <a:r>
              <a:rPr sz="1400" b="1">
                <a:solidFill>
                  <a:srgbClr val="1F6FEB"/>
                </a:solidFill>
                <a:latin typeface="Arial"/>
              </a:rPr>
              <a:t>BEFORE THE ASSESSMENT</a:t>
            </a:r>
          </a:p>
        </p:txBody>
      </p:sp>
      <p:sp>
        <p:nvSpPr>
          <p:cNvPr id="5" name="TextBox 4"/>
          <p:cNvSpPr txBox="1"/>
          <p:nvPr/>
        </p:nvSpPr>
        <p:spPr>
          <a:xfrm>
            <a:off x="777240" y="804672"/>
            <a:ext cx="10927080" cy="731520"/>
          </a:xfrm>
          <a:prstGeom prst="rect">
            <a:avLst/>
          </a:prstGeom>
          <a:noFill/>
        </p:spPr>
        <p:txBody>
          <a:bodyPr wrap="square" anchor="t">
            <a:spAutoFit/>
          </a:bodyPr>
          <a:lstStyle/>
          <a:p>
            <a:pPr algn="l">
              <a:spcAft>
                <a:spcPts val="400"/>
              </a:spcAft>
            </a:pPr>
            <a:r>
              <a:rPr sz="2900" b="1">
                <a:solidFill>
                  <a:srgbClr val="161B26"/>
                </a:solidFill>
                <a:latin typeface="Arial"/>
              </a:rPr>
              <a:t>Briefing for Assessment</a:t>
            </a:r>
          </a:p>
        </p:txBody>
      </p:sp>
      <p:sp>
        <p:nvSpPr>
          <p:cNvPr id="6" name="Rectangle 5"/>
          <p:cNvSpPr/>
          <p:nvPr/>
        </p:nvSpPr>
        <p:spPr>
          <a:xfrm>
            <a:off x="777240" y="1572768"/>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777240" y="1783080"/>
            <a:ext cx="10607040" cy="4480560"/>
          </a:xfrm>
          <a:prstGeom prst="rect">
            <a:avLst/>
          </a:prstGeom>
          <a:noFill/>
        </p:spPr>
        <p:txBody>
          <a:bodyPr wrap="square">
            <a:spAutoFit/>
          </a:bodyPr>
          <a:lstStyle/>
          <a:p>
            <a:pPr>
              <a:spcAft>
                <a:spcPts val="1000"/>
              </a:spcAft>
            </a:pPr>
            <a:r>
              <a:rPr sz="2000" b="0">
                <a:solidFill>
                  <a:srgbClr val="161B26"/>
                </a:solidFill>
                <a:latin typeface="Arial"/>
              </a:rPr>
              <a:t>•  Place phones and other materials under the table or on the floor unless the assessment is open book.</a:t>
            </a:r>
          </a:p>
          <a:p>
            <a:pPr>
              <a:spcAft>
                <a:spcPts val="1000"/>
              </a:spcAft>
            </a:pPr>
            <a:r>
              <a:rPr sz="2000" b="0">
                <a:solidFill>
                  <a:srgbClr val="161B26"/>
                </a:solidFill>
                <a:latin typeface="Arial"/>
              </a:rPr>
              <a:t>•  No photos or recording of assessment scripts.</a:t>
            </a:r>
          </a:p>
          <a:p>
            <a:pPr>
              <a:spcAft>
                <a:spcPts val="1000"/>
              </a:spcAft>
            </a:pPr>
            <a:r>
              <a:rPr sz="2000" b="0">
                <a:solidFill>
                  <a:srgbClr val="161B26"/>
                </a:solidFill>
                <a:latin typeface="Arial"/>
              </a:rPr>
              <a:t>•  No discussion during the assessment.</a:t>
            </a:r>
          </a:p>
          <a:p>
            <a:pPr>
              <a:spcAft>
                <a:spcPts val="1000"/>
              </a:spcAft>
            </a:pPr>
            <a:r>
              <a:rPr sz="2000" b="0">
                <a:solidFill>
                  <a:srgbClr val="161B26"/>
                </a:solidFill>
                <a:latin typeface="Arial"/>
              </a:rPr>
              <a:t>•  Use a black/blue pen for hard-copy assessments.</a:t>
            </a:r>
          </a:p>
          <a:p>
            <a:pPr>
              <a:spcAft>
                <a:spcPts val="1000"/>
              </a:spcAft>
            </a:pPr>
            <a:r>
              <a:rPr sz="2000" b="0">
                <a:solidFill>
                  <a:srgbClr val="161B26"/>
                </a:solidFill>
                <a:latin typeface="Arial"/>
              </a:rPr>
              <a:t>•  No liquid paper / correction tape.</a:t>
            </a:r>
          </a:p>
          <a:p>
            <a:pPr>
              <a:spcAft>
                <a:spcPts val="1000"/>
              </a:spcAft>
            </a:pPr>
            <a:r>
              <a:rPr sz="2000" b="0">
                <a:solidFill>
                  <a:srgbClr val="161B26"/>
                </a:solidFill>
                <a:latin typeface="Arial"/>
              </a:rPr>
              <a:t>•  Scripts are collected when time is up.</a:t>
            </a:r>
          </a:p>
        </p:txBody>
      </p:sp>
      <p:sp>
        <p:nvSpPr>
          <p:cNvPr id="8" name="TextBox 7"/>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DevOps Engineering on AWS  ·  TGS-2023040474</a:t>
            </a:r>
          </a:p>
        </p:txBody>
      </p:sp>
      <p:sp>
        <p:nvSpPr>
          <p:cNvPr id="9" name="TextBox 8"/>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0" name="TextBox 9"/>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12</a:t>
            </a:r>
          </a:p>
        </p:txBody>
      </p:sp>
    </p:spTree>
  </p:cSld>
  <p:clrMapOvr>
    <a:masterClrMapping/>
  </p:clrMapOvr>
  <p:transition xmlns:p14="http://schemas.microsoft.com/office/powerpoint/2010/main" p14:dur="380">
    <p:fade/>
  </p:transition>
</p:sld>
</file>

<file path=ppt/slides/slide1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38912"/>
            <a:ext cx="10607040" cy="365760"/>
          </a:xfrm>
          <a:prstGeom prst="rect">
            <a:avLst/>
          </a:prstGeom>
          <a:noFill/>
        </p:spPr>
        <p:txBody>
          <a:bodyPr wrap="square" anchor="t">
            <a:spAutoFit/>
          </a:bodyPr>
          <a:lstStyle/>
          <a:p>
            <a:pPr algn="l">
              <a:spcAft>
                <a:spcPts val="400"/>
              </a:spcAft>
            </a:pPr>
            <a:r>
              <a:rPr sz="1400" b="1">
                <a:solidFill>
                  <a:srgbClr val="1F6FEB"/>
                </a:solidFill>
                <a:latin typeface="Arial"/>
              </a:rPr>
              <a:t>FINAL ASSESSMENT</a:t>
            </a:r>
          </a:p>
        </p:txBody>
      </p:sp>
      <p:sp>
        <p:nvSpPr>
          <p:cNvPr id="5" name="TextBox 4"/>
          <p:cNvSpPr txBox="1"/>
          <p:nvPr/>
        </p:nvSpPr>
        <p:spPr>
          <a:xfrm>
            <a:off x="777240" y="804672"/>
            <a:ext cx="10927080" cy="731520"/>
          </a:xfrm>
          <a:prstGeom prst="rect">
            <a:avLst/>
          </a:prstGeom>
          <a:noFill/>
        </p:spPr>
        <p:txBody>
          <a:bodyPr wrap="square" anchor="t">
            <a:spAutoFit/>
          </a:bodyPr>
          <a:lstStyle/>
          <a:p>
            <a:pPr algn="l">
              <a:spcAft>
                <a:spcPts val="400"/>
              </a:spcAft>
            </a:pPr>
            <a:r>
              <a:rPr sz="2900" b="1">
                <a:solidFill>
                  <a:srgbClr val="161B26"/>
                </a:solidFill>
                <a:latin typeface="Arial"/>
              </a:rPr>
              <a:t>Assessment</a:t>
            </a:r>
          </a:p>
        </p:txBody>
      </p:sp>
      <p:sp>
        <p:nvSpPr>
          <p:cNvPr id="6" name="Rectangle 5"/>
          <p:cNvSpPr/>
          <p:nvPr/>
        </p:nvSpPr>
        <p:spPr>
          <a:xfrm>
            <a:off x="777240" y="1572768"/>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777240" y="1783080"/>
            <a:ext cx="10607040" cy="4480560"/>
          </a:xfrm>
          <a:prstGeom prst="rect">
            <a:avLst/>
          </a:prstGeom>
          <a:noFill/>
        </p:spPr>
        <p:txBody>
          <a:bodyPr wrap="square">
            <a:spAutoFit/>
          </a:bodyPr>
          <a:lstStyle/>
          <a:p>
            <a:pPr>
              <a:spcAft>
                <a:spcPts val="1000"/>
              </a:spcAft>
            </a:pPr>
            <a:r>
              <a:rPr sz="2000" b="0">
                <a:solidFill>
                  <a:srgbClr val="161B26"/>
                </a:solidFill>
                <a:latin typeface="Arial"/>
              </a:rPr>
              <a:t>•  Written Assessment (WA) — Short-Answer Questions (SAQ), 1 hour, open book.</a:t>
            </a:r>
          </a:p>
          <a:p>
            <a:pPr>
              <a:spcAft>
                <a:spcPts val="1000"/>
              </a:spcAft>
            </a:pPr>
            <a:r>
              <a:rPr sz="2000" b="0">
                <a:solidFill>
                  <a:srgbClr val="161B26"/>
                </a:solidFill>
                <a:latin typeface="Arial"/>
              </a:rPr>
              <a:t>•  Practical Performance (PP) — hands-on AWS DevOps tasks, 2 hours, open book.</a:t>
            </a:r>
          </a:p>
          <a:p>
            <a:pPr>
              <a:spcAft>
                <a:spcPts val="1000"/>
              </a:spcAft>
            </a:pPr>
            <a:r>
              <a:rPr sz="2000" b="0">
                <a:solidFill>
                  <a:srgbClr val="161B26"/>
                </a:solidFill>
                <a:latin typeface="Arial"/>
              </a:rPr>
              <a:t>•  Format: Open Book — course slides, Learner Guide and approved materials only.</a:t>
            </a:r>
          </a:p>
          <a:p>
            <a:pPr>
              <a:spcAft>
                <a:spcPts val="1000"/>
              </a:spcAft>
            </a:pPr>
            <a:r>
              <a:rPr sz="2000" b="0">
                <a:solidFill>
                  <a:srgbClr val="161B26"/>
                </a:solidFill>
                <a:latin typeface="Arial"/>
              </a:rPr>
              <a:t>•  Conducted on Day 5 after the training content (3 assessment hours in total — WA 1 hour + PP 2 hours).</a:t>
            </a:r>
          </a:p>
          <a:p>
            <a:pPr>
              <a:spcAft>
                <a:spcPts val="1000"/>
              </a:spcAft>
            </a:pPr>
            <a:r>
              <a:rPr sz="2000" b="0">
                <a:solidFill>
                  <a:srgbClr val="161B26"/>
                </a:solidFill>
                <a:latin typeface="Arial"/>
              </a:rPr>
              <a:t>•  A minimum of 75% attendance is required to be eligible for assessment and funding.</a:t>
            </a:r>
          </a:p>
          <a:p>
            <a:pPr>
              <a:spcAft>
                <a:spcPts val="1000"/>
              </a:spcAft>
            </a:pPr>
            <a:r>
              <a:rPr sz="2000" b="0">
                <a:solidFill>
                  <a:srgbClr val="161B26"/>
                </a:solidFill>
                <a:latin typeface="Arial"/>
              </a:rPr>
              <a:t>•  An appeal process is available if required.</a:t>
            </a:r>
          </a:p>
        </p:txBody>
      </p:sp>
      <p:sp>
        <p:nvSpPr>
          <p:cNvPr id="8" name="TextBox 7"/>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DevOps Engineering on AWS  ·  TGS-2023040474</a:t>
            </a:r>
          </a:p>
        </p:txBody>
      </p:sp>
      <p:sp>
        <p:nvSpPr>
          <p:cNvPr id="9" name="TextBox 8"/>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0" name="TextBox 9"/>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13</a:t>
            </a:r>
          </a:p>
        </p:txBody>
      </p:sp>
    </p:spTree>
  </p:cSld>
  <p:clrMapOvr>
    <a:masterClrMapping/>
  </p:clrMapOvr>
  <p:transition xmlns:p14="http://schemas.microsoft.com/office/powerpoint/2010/main" p14:dur="380">
    <p:fade/>
  </p:transition>
</p:sld>
</file>

<file path=ppt/slides/slide1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38912"/>
            <a:ext cx="10607040" cy="365760"/>
          </a:xfrm>
          <a:prstGeom prst="rect">
            <a:avLst/>
          </a:prstGeom>
          <a:noFill/>
        </p:spPr>
        <p:txBody>
          <a:bodyPr wrap="square" anchor="t">
            <a:spAutoFit/>
          </a:bodyPr>
          <a:lstStyle/>
          <a:p>
            <a:pPr algn="l">
              <a:spcAft>
                <a:spcPts val="400"/>
              </a:spcAft>
            </a:pPr>
            <a:r>
              <a:rPr sz="1400" b="1">
                <a:solidFill>
                  <a:srgbClr val="1F6FEB"/>
                </a:solidFill>
                <a:latin typeface="Arial"/>
              </a:rPr>
              <a:t>ON ASSESSMENT DAY</a:t>
            </a:r>
          </a:p>
        </p:txBody>
      </p:sp>
      <p:sp>
        <p:nvSpPr>
          <p:cNvPr id="5" name="TextBox 4"/>
          <p:cNvSpPr txBox="1"/>
          <p:nvPr/>
        </p:nvSpPr>
        <p:spPr>
          <a:xfrm>
            <a:off x="777240" y="804672"/>
            <a:ext cx="10927080" cy="731520"/>
          </a:xfrm>
          <a:prstGeom prst="rect">
            <a:avLst/>
          </a:prstGeom>
          <a:noFill/>
        </p:spPr>
        <p:txBody>
          <a:bodyPr wrap="square" anchor="t">
            <a:spAutoFit/>
          </a:bodyPr>
          <a:lstStyle/>
          <a:p>
            <a:pPr algn="l">
              <a:spcAft>
                <a:spcPts val="400"/>
              </a:spcAft>
            </a:pPr>
            <a:r>
              <a:rPr sz="2900" b="1">
                <a:solidFill>
                  <a:srgbClr val="161B26"/>
                </a:solidFill>
                <a:latin typeface="Arial"/>
              </a:rPr>
              <a:t>Assessment Flow</a:t>
            </a:r>
          </a:p>
        </p:txBody>
      </p:sp>
      <p:sp>
        <p:nvSpPr>
          <p:cNvPr id="6" name="Rectangle 5"/>
          <p:cNvSpPr/>
          <p:nvPr/>
        </p:nvSpPr>
        <p:spPr>
          <a:xfrm>
            <a:off x="777240" y="1572768"/>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2331720"/>
            <a:ext cx="1878177" cy="288036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2331720"/>
            <a:ext cx="1878177" cy="9144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1341424" y="2715768"/>
            <a:ext cx="749808" cy="749808"/>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341424" y="2715768"/>
            <a:ext cx="749808" cy="749808"/>
          </a:xfrm>
          <a:prstGeom prst="rect">
            <a:avLst/>
          </a:prstGeom>
          <a:noFill/>
        </p:spPr>
        <p:txBody>
          <a:bodyPr wrap="square" anchor="ctr">
            <a:spAutoFit/>
          </a:bodyPr>
          <a:lstStyle/>
          <a:p>
            <a:pPr algn="ctr">
              <a:spcAft>
                <a:spcPts val="400"/>
              </a:spcAft>
            </a:pPr>
            <a:r>
              <a:rPr sz="3000" b="1">
                <a:solidFill>
                  <a:srgbClr val="FFFFFF"/>
                </a:solidFill>
                <a:latin typeface="Arial"/>
              </a:rPr>
              <a:t>1</a:t>
            </a:r>
          </a:p>
        </p:txBody>
      </p:sp>
      <p:sp>
        <p:nvSpPr>
          <p:cNvPr id="11" name="TextBox 10"/>
          <p:cNvSpPr txBox="1"/>
          <p:nvPr/>
        </p:nvSpPr>
        <p:spPr>
          <a:xfrm>
            <a:off x="923544" y="3749040"/>
            <a:ext cx="1585569" cy="1325880"/>
          </a:xfrm>
          <a:prstGeom prst="rect">
            <a:avLst/>
          </a:prstGeom>
          <a:noFill/>
        </p:spPr>
        <p:txBody>
          <a:bodyPr wrap="square" anchor="t">
            <a:spAutoFit/>
          </a:bodyPr>
          <a:lstStyle/>
          <a:p>
            <a:pPr algn="ctr">
              <a:spcAft>
                <a:spcPts val="400"/>
              </a:spcAft>
            </a:pPr>
            <a:r>
              <a:rPr sz="1300" b="0">
                <a:solidFill>
                  <a:srgbClr val="161B26"/>
                </a:solidFill>
                <a:latin typeface="Arial"/>
              </a:rPr>
              <a:t>TRAQOM survey — scan the QR code on the LMS</a:t>
            </a:r>
          </a:p>
        </p:txBody>
      </p:sp>
      <p:sp>
        <p:nvSpPr>
          <p:cNvPr id="12" name="TextBox 11"/>
          <p:cNvSpPr txBox="1"/>
          <p:nvPr/>
        </p:nvSpPr>
        <p:spPr>
          <a:xfrm>
            <a:off x="2618841" y="3497580"/>
            <a:ext cx="384048" cy="548640"/>
          </a:xfrm>
          <a:prstGeom prst="rect">
            <a:avLst/>
          </a:prstGeom>
          <a:noFill/>
        </p:spPr>
        <p:txBody>
          <a:bodyPr wrap="square" anchor="ctr">
            <a:spAutoFit/>
          </a:bodyPr>
          <a:lstStyle/>
          <a:p>
            <a:pPr algn="ctr">
              <a:spcAft>
                <a:spcPts val="400"/>
              </a:spcAft>
            </a:pPr>
            <a:r>
              <a:rPr sz="1500" b="1">
                <a:solidFill>
                  <a:srgbClr val="1F6FEB"/>
                </a:solidFill>
                <a:latin typeface="Arial"/>
              </a:rPr>
              <a:t>▶</a:t>
            </a:r>
          </a:p>
        </p:txBody>
      </p:sp>
      <p:sp>
        <p:nvSpPr>
          <p:cNvPr id="13" name="Rectangle 12"/>
          <p:cNvSpPr/>
          <p:nvPr/>
        </p:nvSpPr>
        <p:spPr>
          <a:xfrm>
            <a:off x="2966313" y="2331720"/>
            <a:ext cx="1878177" cy="288036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ectangle 13"/>
          <p:cNvSpPr/>
          <p:nvPr/>
        </p:nvSpPr>
        <p:spPr>
          <a:xfrm>
            <a:off x="2966313" y="2331720"/>
            <a:ext cx="1878177" cy="9144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Oval 14"/>
          <p:cNvSpPr/>
          <p:nvPr/>
        </p:nvSpPr>
        <p:spPr>
          <a:xfrm>
            <a:off x="3530497" y="2715768"/>
            <a:ext cx="749808" cy="749808"/>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3530497" y="2715768"/>
            <a:ext cx="749808" cy="749808"/>
          </a:xfrm>
          <a:prstGeom prst="rect">
            <a:avLst/>
          </a:prstGeom>
          <a:noFill/>
        </p:spPr>
        <p:txBody>
          <a:bodyPr wrap="square" anchor="ctr">
            <a:spAutoFit/>
          </a:bodyPr>
          <a:lstStyle/>
          <a:p>
            <a:pPr algn="ctr">
              <a:spcAft>
                <a:spcPts val="400"/>
              </a:spcAft>
            </a:pPr>
            <a:r>
              <a:rPr sz="3000" b="1">
                <a:solidFill>
                  <a:srgbClr val="FFFFFF"/>
                </a:solidFill>
                <a:latin typeface="Arial"/>
              </a:rPr>
              <a:t>2</a:t>
            </a:r>
          </a:p>
        </p:txBody>
      </p:sp>
      <p:sp>
        <p:nvSpPr>
          <p:cNvPr id="17" name="TextBox 16"/>
          <p:cNvSpPr txBox="1"/>
          <p:nvPr/>
        </p:nvSpPr>
        <p:spPr>
          <a:xfrm>
            <a:off x="3112617" y="3749040"/>
            <a:ext cx="1585569" cy="1325880"/>
          </a:xfrm>
          <a:prstGeom prst="rect">
            <a:avLst/>
          </a:prstGeom>
          <a:noFill/>
        </p:spPr>
        <p:txBody>
          <a:bodyPr wrap="square" anchor="t">
            <a:spAutoFit/>
          </a:bodyPr>
          <a:lstStyle/>
          <a:p>
            <a:pPr algn="ctr">
              <a:spcAft>
                <a:spcPts val="400"/>
              </a:spcAft>
            </a:pPr>
            <a:r>
              <a:rPr sz="1300" b="0">
                <a:solidFill>
                  <a:srgbClr val="161B26"/>
                </a:solidFill>
                <a:latin typeface="Arial"/>
              </a:rPr>
              <a:t>Assessment digital attendance — scan the SSG QR</a:t>
            </a:r>
          </a:p>
        </p:txBody>
      </p:sp>
      <p:sp>
        <p:nvSpPr>
          <p:cNvPr id="18" name="TextBox 17"/>
          <p:cNvSpPr txBox="1"/>
          <p:nvPr/>
        </p:nvSpPr>
        <p:spPr>
          <a:xfrm>
            <a:off x="4807914" y="3497580"/>
            <a:ext cx="384048" cy="548640"/>
          </a:xfrm>
          <a:prstGeom prst="rect">
            <a:avLst/>
          </a:prstGeom>
          <a:noFill/>
        </p:spPr>
        <p:txBody>
          <a:bodyPr wrap="square" anchor="ctr">
            <a:spAutoFit/>
          </a:bodyPr>
          <a:lstStyle/>
          <a:p>
            <a:pPr algn="ctr">
              <a:spcAft>
                <a:spcPts val="400"/>
              </a:spcAft>
            </a:pPr>
            <a:r>
              <a:rPr sz="1500" b="1">
                <a:solidFill>
                  <a:srgbClr val="1F6FEB"/>
                </a:solidFill>
                <a:latin typeface="Arial"/>
              </a:rPr>
              <a:t>▶</a:t>
            </a:r>
          </a:p>
        </p:txBody>
      </p:sp>
      <p:sp>
        <p:nvSpPr>
          <p:cNvPr id="19" name="Rectangle 18"/>
          <p:cNvSpPr/>
          <p:nvPr/>
        </p:nvSpPr>
        <p:spPr>
          <a:xfrm>
            <a:off x="5155386" y="2331720"/>
            <a:ext cx="1878177" cy="288036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Rectangle 19"/>
          <p:cNvSpPr/>
          <p:nvPr/>
        </p:nvSpPr>
        <p:spPr>
          <a:xfrm>
            <a:off x="5155386" y="2331720"/>
            <a:ext cx="1878177" cy="9144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Oval 20"/>
          <p:cNvSpPr/>
          <p:nvPr/>
        </p:nvSpPr>
        <p:spPr>
          <a:xfrm>
            <a:off x="5719570" y="2715768"/>
            <a:ext cx="749808" cy="749808"/>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5719570" y="2715768"/>
            <a:ext cx="749808" cy="749808"/>
          </a:xfrm>
          <a:prstGeom prst="rect">
            <a:avLst/>
          </a:prstGeom>
          <a:noFill/>
        </p:spPr>
        <p:txBody>
          <a:bodyPr wrap="square" anchor="ctr">
            <a:spAutoFit/>
          </a:bodyPr>
          <a:lstStyle/>
          <a:p>
            <a:pPr algn="ctr">
              <a:spcAft>
                <a:spcPts val="400"/>
              </a:spcAft>
            </a:pPr>
            <a:r>
              <a:rPr sz="3000" b="1">
                <a:solidFill>
                  <a:srgbClr val="FFFFFF"/>
                </a:solidFill>
                <a:latin typeface="Arial"/>
              </a:rPr>
              <a:t>3</a:t>
            </a:r>
          </a:p>
        </p:txBody>
      </p:sp>
      <p:sp>
        <p:nvSpPr>
          <p:cNvPr id="23" name="TextBox 22"/>
          <p:cNvSpPr txBox="1"/>
          <p:nvPr/>
        </p:nvSpPr>
        <p:spPr>
          <a:xfrm>
            <a:off x="5301690" y="3749040"/>
            <a:ext cx="1585569" cy="1325880"/>
          </a:xfrm>
          <a:prstGeom prst="rect">
            <a:avLst/>
          </a:prstGeom>
          <a:noFill/>
        </p:spPr>
        <p:txBody>
          <a:bodyPr wrap="square" anchor="t">
            <a:spAutoFit/>
          </a:bodyPr>
          <a:lstStyle/>
          <a:p>
            <a:pPr algn="ctr">
              <a:spcAft>
                <a:spcPts val="400"/>
              </a:spcAft>
            </a:pPr>
            <a:r>
              <a:rPr sz="1300" b="0">
                <a:solidFill>
                  <a:srgbClr val="161B26"/>
                </a:solidFill>
                <a:latin typeface="Arial"/>
              </a:rPr>
              <a:t>Sit WA (SAQ) then PP — open book</a:t>
            </a:r>
          </a:p>
        </p:txBody>
      </p:sp>
      <p:sp>
        <p:nvSpPr>
          <p:cNvPr id="24" name="TextBox 23"/>
          <p:cNvSpPr txBox="1"/>
          <p:nvPr/>
        </p:nvSpPr>
        <p:spPr>
          <a:xfrm>
            <a:off x="6996987" y="3497580"/>
            <a:ext cx="384048" cy="548640"/>
          </a:xfrm>
          <a:prstGeom prst="rect">
            <a:avLst/>
          </a:prstGeom>
          <a:noFill/>
        </p:spPr>
        <p:txBody>
          <a:bodyPr wrap="square" anchor="ctr">
            <a:spAutoFit/>
          </a:bodyPr>
          <a:lstStyle/>
          <a:p>
            <a:pPr algn="ctr">
              <a:spcAft>
                <a:spcPts val="400"/>
              </a:spcAft>
            </a:pPr>
            <a:r>
              <a:rPr sz="1500" b="1">
                <a:solidFill>
                  <a:srgbClr val="1F6FEB"/>
                </a:solidFill>
                <a:latin typeface="Arial"/>
              </a:rPr>
              <a:t>▶</a:t>
            </a:r>
          </a:p>
        </p:txBody>
      </p:sp>
      <p:sp>
        <p:nvSpPr>
          <p:cNvPr id="25" name="Rectangle 24"/>
          <p:cNvSpPr/>
          <p:nvPr/>
        </p:nvSpPr>
        <p:spPr>
          <a:xfrm>
            <a:off x="7344459" y="2331720"/>
            <a:ext cx="1878177" cy="288036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Rectangle 25"/>
          <p:cNvSpPr/>
          <p:nvPr/>
        </p:nvSpPr>
        <p:spPr>
          <a:xfrm>
            <a:off x="7344459" y="2331720"/>
            <a:ext cx="1878177" cy="9144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Oval 26"/>
          <p:cNvSpPr/>
          <p:nvPr/>
        </p:nvSpPr>
        <p:spPr>
          <a:xfrm>
            <a:off x="7908643" y="2715768"/>
            <a:ext cx="749808" cy="749808"/>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7908643" y="2715768"/>
            <a:ext cx="749808" cy="749808"/>
          </a:xfrm>
          <a:prstGeom prst="rect">
            <a:avLst/>
          </a:prstGeom>
          <a:noFill/>
        </p:spPr>
        <p:txBody>
          <a:bodyPr wrap="square" anchor="ctr">
            <a:spAutoFit/>
          </a:bodyPr>
          <a:lstStyle/>
          <a:p>
            <a:pPr algn="ctr">
              <a:spcAft>
                <a:spcPts val="400"/>
              </a:spcAft>
            </a:pPr>
            <a:r>
              <a:rPr sz="3000" b="1">
                <a:solidFill>
                  <a:srgbClr val="FFFFFF"/>
                </a:solidFill>
                <a:latin typeface="Arial"/>
              </a:rPr>
              <a:t>4</a:t>
            </a:r>
          </a:p>
        </p:txBody>
      </p:sp>
      <p:sp>
        <p:nvSpPr>
          <p:cNvPr id="29" name="TextBox 28"/>
          <p:cNvSpPr txBox="1"/>
          <p:nvPr/>
        </p:nvSpPr>
        <p:spPr>
          <a:xfrm>
            <a:off x="7490763" y="3749040"/>
            <a:ext cx="1585569" cy="1325880"/>
          </a:xfrm>
          <a:prstGeom prst="rect">
            <a:avLst/>
          </a:prstGeom>
          <a:noFill/>
        </p:spPr>
        <p:txBody>
          <a:bodyPr wrap="square" anchor="t">
            <a:spAutoFit/>
          </a:bodyPr>
          <a:lstStyle/>
          <a:p>
            <a:pPr algn="ctr">
              <a:spcAft>
                <a:spcPts val="400"/>
              </a:spcAft>
            </a:pPr>
            <a:r>
              <a:rPr sz="1300" b="0">
                <a:solidFill>
                  <a:srgbClr val="161B26"/>
                </a:solidFill>
                <a:latin typeface="Arial"/>
              </a:rPr>
              <a:t>Submit your answers on the LMS</a:t>
            </a:r>
          </a:p>
        </p:txBody>
      </p:sp>
      <p:sp>
        <p:nvSpPr>
          <p:cNvPr id="30" name="TextBox 29"/>
          <p:cNvSpPr txBox="1"/>
          <p:nvPr/>
        </p:nvSpPr>
        <p:spPr>
          <a:xfrm>
            <a:off x="9186060" y="3497580"/>
            <a:ext cx="384048" cy="548640"/>
          </a:xfrm>
          <a:prstGeom prst="rect">
            <a:avLst/>
          </a:prstGeom>
          <a:noFill/>
        </p:spPr>
        <p:txBody>
          <a:bodyPr wrap="square" anchor="ctr">
            <a:spAutoFit/>
          </a:bodyPr>
          <a:lstStyle/>
          <a:p>
            <a:pPr algn="ctr">
              <a:spcAft>
                <a:spcPts val="400"/>
              </a:spcAft>
            </a:pPr>
            <a:r>
              <a:rPr sz="1500" b="1">
                <a:solidFill>
                  <a:srgbClr val="1F6FEB"/>
                </a:solidFill>
                <a:latin typeface="Arial"/>
              </a:rPr>
              <a:t>▶</a:t>
            </a:r>
          </a:p>
        </p:txBody>
      </p:sp>
      <p:sp>
        <p:nvSpPr>
          <p:cNvPr id="31" name="Rectangle 30"/>
          <p:cNvSpPr/>
          <p:nvPr/>
        </p:nvSpPr>
        <p:spPr>
          <a:xfrm>
            <a:off x="9533532" y="2331720"/>
            <a:ext cx="1878177" cy="288036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Rectangle 31"/>
          <p:cNvSpPr/>
          <p:nvPr/>
        </p:nvSpPr>
        <p:spPr>
          <a:xfrm>
            <a:off x="9533532" y="2331720"/>
            <a:ext cx="1878177" cy="9144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Oval 32"/>
          <p:cNvSpPr/>
          <p:nvPr/>
        </p:nvSpPr>
        <p:spPr>
          <a:xfrm>
            <a:off x="10097716" y="2715768"/>
            <a:ext cx="749808" cy="749808"/>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TextBox 33"/>
          <p:cNvSpPr txBox="1"/>
          <p:nvPr/>
        </p:nvSpPr>
        <p:spPr>
          <a:xfrm>
            <a:off x="10097716" y="2715768"/>
            <a:ext cx="749808" cy="749808"/>
          </a:xfrm>
          <a:prstGeom prst="rect">
            <a:avLst/>
          </a:prstGeom>
          <a:noFill/>
        </p:spPr>
        <p:txBody>
          <a:bodyPr wrap="square" anchor="ctr">
            <a:spAutoFit/>
          </a:bodyPr>
          <a:lstStyle/>
          <a:p>
            <a:pPr algn="ctr">
              <a:spcAft>
                <a:spcPts val="400"/>
              </a:spcAft>
            </a:pPr>
            <a:r>
              <a:rPr sz="3000" b="1">
                <a:solidFill>
                  <a:srgbClr val="FFFFFF"/>
                </a:solidFill>
                <a:latin typeface="Arial"/>
              </a:rPr>
              <a:t>5</a:t>
            </a:r>
          </a:p>
        </p:txBody>
      </p:sp>
      <p:sp>
        <p:nvSpPr>
          <p:cNvPr id="35" name="TextBox 34"/>
          <p:cNvSpPr txBox="1"/>
          <p:nvPr/>
        </p:nvSpPr>
        <p:spPr>
          <a:xfrm>
            <a:off x="9679836" y="3749040"/>
            <a:ext cx="1585569" cy="1325880"/>
          </a:xfrm>
          <a:prstGeom prst="rect">
            <a:avLst/>
          </a:prstGeom>
          <a:noFill/>
        </p:spPr>
        <p:txBody>
          <a:bodyPr wrap="square" anchor="t">
            <a:spAutoFit/>
          </a:bodyPr>
          <a:lstStyle/>
          <a:p>
            <a:pPr algn="ctr">
              <a:spcAft>
                <a:spcPts val="400"/>
              </a:spcAft>
            </a:pPr>
            <a:r>
              <a:rPr sz="1300" b="0">
                <a:solidFill>
                  <a:srgbClr val="161B26"/>
                </a:solidFill>
                <a:latin typeface="Arial"/>
              </a:rPr>
              <a:t>Sign the Assessment Summary Record</a:t>
            </a:r>
          </a:p>
        </p:txBody>
      </p:sp>
      <p:sp>
        <p:nvSpPr>
          <p:cNvPr id="36" name="TextBox 35"/>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DevOps Engineering on AWS  ·  TGS-2023040474</a:t>
            </a:r>
          </a:p>
        </p:txBody>
      </p:sp>
      <p:sp>
        <p:nvSpPr>
          <p:cNvPr id="37" name="TextBox 36"/>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38" name="TextBox 37"/>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14</a:t>
            </a:r>
          </a:p>
        </p:txBody>
      </p:sp>
    </p:spTree>
  </p:cSld>
  <p:clrMapOvr>
    <a:masterClrMapping/>
  </p:clrMapOvr>
  <p:transition xmlns:p14="http://schemas.microsoft.com/office/powerpoint/2010/main" p14:dur="380">
    <p:fade/>
  </p:transition>
</p:sld>
</file>

<file path=ppt/slides/slide1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685800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777240" y="2286000"/>
            <a:ext cx="128016" cy="182880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1143000" y="2331720"/>
            <a:ext cx="10058400" cy="548640"/>
          </a:xfrm>
          <a:prstGeom prst="rect">
            <a:avLst/>
          </a:prstGeom>
          <a:noFill/>
        </p:spPr>
        <p:txBody>
          <a:bodyPr wrap="square" anchor="t">
            <a:spAutoFit/>
          </a:bodyPr>
          <a:lstStyle/>
          <a:p>
            <a:pPr algn="l">
              <a:spcAft>
                <a:spcPts val="400"/>
              </a:spcAft>
            </a:pPr>
            <a:r>
              <a:rPr sz="1800" b="1">
                <a:solidFill>
                  <a:srgbClr val="1F6FEB"/>
                </a:solidFill>
                <a:latin typeface="Arial"/>
              </a:rPr>
              <a:t>FOUNDATIONS</a:t>
            </a:r>
          </a:p>
        </p:txBody>
      </p:sp>
      <p:sp>
        <p:nvSpPr>
          <p:cNvPr id="6" name="TextBox 5"/>
          <p:cNvSpPr txBox="1"/>
          <p:nvPr/>
        </p:nvSpPr>
        <p:spPr>
          <a:xfrm>
            <a:off x="1143000" y="2743200"/>
            <a:ext cx="10424160" cy="1463040"/>
          </a:xfrm>
          <a:prstGeom prst="rect">
            <a:avLst/>
          </a:prstGeom>
          <a:noFill/>
        </p:spPr>
        <p:txBody>
          <a:bodyPr wrap="square" anchor="t">
            <a:spAutoFit/>
          </a:bodyPr>
          <a:lstStyle/>
          <a:p>
            <a:pPr algn="l">
              <a:spcAft>
                <a:spcPts val="400"/>
              </a:spcAft>
            </a:pPr>
            <a:r>
              <a:rPr sz="4000" b="1">
                <a:solidFill>
                  <a:srgbClr val="161B26"/>
                </a:solidFill>
                <a:latin typeface="Arial"/>
              </a:rPr>
              <a:t>DevOps Engineering on AWS</a:t>
            </a:r>
          </a:p>
        </p:txBody>
      </p:sp>
      <p:sp>
        <p:nvSpPr>
          <p:cNvPr id="7" name="TextBox 6"/>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DevOps Engineering on AWS  ·  TGS-2023040474</a:t>
            </a:r>
          </a:p>
        </p:txBody>
      </p:sp>
      <p:sp>
        <p:nvSpPr>
          <p:cNvPr id="8" name="TextBox 7"/>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9" name="TextBox 8"/>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15</a:t>
            </a:r>
          </a:p>
        </p:txBody>
      </p:sp>
    </p:spTree>
  </p:cSld>
  <p:clrMapOvr>
    <a:masterClrMapping/>
  </p:clrMapOvr>
  <p:transition xmlns:p14="http://schemas.microsoft.com/office/powerpoint/2010/main" p14:dur="380">
    <p:fade/>
  </p:transition>
</p:sld>
</file>

<file path=ppt/slides/slide1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38912"/>
            <a:ext cx="10607040" cy="365760"/>
          </a:xfrm>
          <a:prstGeom prst="rect">
            <a:avLst/>
          </a:prstGeom>
          <a:noFill/>
        </p:spPr>
        <p:txBody>
          <a:bodyPr wrap="square" anchor="t">
            <a:spAutoFit/>
          </a:bodyPr>
          <a:lstStyle/>
          <a:p>
            <a:pPr algn="l">
              <a:spcAft>
                <a:spcPts val="400"/>
              </a:spcAft>
            </a:pPr>
            <a:r>
              <a:rPr sz="1400" b="1">
                <a:solidFill>
                  <a:srgbClr val="1F6FEB"/>
                </a:solidFill>
                <a:latin typeface="Arial"/>
              </a:rPr>
              <a:t>THE MINDSET</a:t>
            </a:r>
          </a:p>
        </p:txBody>
      </p:sp>
      <p:sp>
        <p:nvSpPr>
          <p:cNvPr id="5" name="TextBox 4"/>
          <p:cNvSpPr txBox="1"/>
          <p:nvPr/>
        </p:nvSpPr>
        <p:spPr>
          <a:xfrm>
            <a:off x="777240" y="804672"/>
            <a:ext cx="10927080" cy="731520"/>
          </a:xfrm>
          <a:prstGeom prst="rect">
            <a:avLst/>
          </a:prstGeom>
          <a:noFill/>
        </p:spPr>
        <p:txBody>
          <a:bodyPr wrap="square" anchor="t">
            <a:spAutoFit/>
          </a:bodyPr>
          <a:lstStyle/>
          <a:p>
            <a:pPr algn="l">
              <a:spcAft>
                <a:spcPts val="400"/>
              </a:spcAft>
            </a:pPr>
            <a:r>
              <a:rPr sz="2900" b="1">
                <a:solidFill>
                  <a:srgbClr val="161B26"/>
                </a:solidFill>
                <a:latin typeface="Arial"/>
              </a:rPr>
              <a:t>What is DevOps?</a:t>
            </a:r>
          </a:p>
        </p:txBody>
      </p:sp>
      <p:sp>
        <p:nvSpPr>
          <p:cNvPr id="6" name="Rectangle 5"/>
          <p:cNvSpPr/>
          <p:nvPr/>
        </p:nvSpPr>
        <p:spPr>
          <a:xfrm>
            <a:off x="777240" y="1572768"/>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783080"/>
            <a:ext cx="5180076" cy="207568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1783080"/>
            <a:ext cx="91440" cy="2075688"/>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1033272" y="2546604"/>
            <a:ext cx="548640" cy="548640"/>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033272" y="2546604"/>
            <a:ext cx="548640" cy="548640"/>
          </a:xfrm>
          <a:prstGeom prst="rect">
            <a:avLst/>
          </a:prstGeom>
          <a:noFill/>
        </p:spPr>
        <p:txBody>
          <a:bodyPr wrap="square" anchor="ctr">
            <a:spAutoFit/>
          </a:bodyPr>
          <a:lstStyle/>
          <a:p>
            <a:pPr algn="ctr">
              <a:spcAft>
                <a:spcPts val="400"/>
              </a:spcAft>
            </a:pPr>
            <a:r>
              <a:rPr sz="1800" b="1">
                <a:solidFill>
                  <a:srgbClr val="FFFFFF"/>
                </a:solidFill>
                <a:latin typeface="Arial"/>
              </a:rPr>
              <a:t>1</a:t>
            </a:r>
          </a:p>
        </p:txBody>
      </p:sp>
      <p:sp>
        <p:nvSpPr>
          <p:cNvPr id="11" name="TextBox 10"/>
          <p:cNvSpPr txBox="1"/>
          <p:nvPr/>
        </p:nvSpPr>
        <p:spPr>
          <a:xfrm>
            <a:off x="1764792" y="1892808"/>
            <a:ext cx="3973068" cy="1892808"/>
          </a:xfrm>
          <a:prstGeom prst="rect">
            <a:avLst/>
          </a:prstGeom>
          <a:noFill/>
        </p:spPr>
        <p:txBody>
          <a:bodyPr wrap="square" anchor="ctr">
            <a:spAutoFit/>
          </a:bodyPr>
          <a:lstStyle/>
          <a:p>
            <a:pPr algn="l">
              <a:spcAft>
                <a:spcPts val="300"/>
              </a:spcAft>
            </a:pPr>
            <a:r>
              <a:rPr sz="1700" b="1">
                <a:solidFill>
                  <a:srgbClr val="161B26"/>
                </a:solidFill>
                <a:latin typeface="Arial"/>
              </a:rPr>
              <a:t>Culture + practice</a:t>
            </a:r>
          </a:p>
          <a:p>
            <a:pPr algn="l">
              <a:spcAft>
                <a:spcPts val="300"/>
              </a:spcAft>
            </a:pPr>
            <a:r>
              <a:rPr sz="1300" b="0">
                <a:solidFill>
                  <a:srgbClr val="5B6372"/>
                </a:solidFill>
                <a:latin typeface="Arial"/>
              </a:rPr>
              <a:t>DevOps unites development and operations to deliver value faster and more reliably.</a:t>
            </a:r>
          </a:p>
        </p:txBody>
      </p:sp>
      <p:sp>
        <p:nvSpPr>
          <p:cNvPr id="12" name="Rectangle 11"/>
          <p:cNvSpPr/>
          <p:nvPr/>
        </p:nvSpPr>
        <p:spPr>
          <a:xfrm>
            <a:off x="6231636" y="1783080"/>
            <a:ext cx="5180076" cy="207568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6231636" y="1783080"/>
            <a:ext cx="91440" cy="2075688"/>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Oval 13"/>
          <p:cNvSpPr/>
          <p:nvPr/>
        </p:nvSpPr>
        <p:spPr>
          <a:xfrm>
            <a:off x="6487668" y="2546604"/>
            <a:ext cx="548640" cy="54864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6487668" y="2546604"/>
            <a:ext cx="548640" cy="548640"/>
          </a:xfrm>
          <a:prstGeom prst="rect">
            <a:avLst/>
          </a:prstGeom>
          <a:noFill/>
        </p:spPr>
        <p:txBody>
          <a:bodyPr wrap="square" anchor="ctr">
            <a:spAutoFit/>
          </a:bodyPr>
          <a:lstStyle/>
          <a:p>
            <a:pPr algn="ctr">
              <a:spcAft>
                <a:spcPts val="400"/>
              </a:spcAft>
            </a:pPr>
            <a:r>
              <a:rPr sz="1800" b="1">
                <a:solidFill>
                  <a:srgbClr val="FFFFFF"/>
                </a:solidFill>
                <a:latin typeface="Arial"/>
              </a:rPr>
              <a:t>2</a:t>
            </a:r>
          </a:p>
        </p:txBody>
      </p:sp>
      <p:sp>
        <p:nvSpPr>
          <p:cNvPr id="16" name="TextBox 15"/>
          <p:cNvSpPr txBox="1"/>
          <p:nvPr/>
        </p:nvSpPr>
        <p:spPr>
          <a:xfrm>
            <a:off x="7219188" y="1892808"/>
            <a:ext cx="3973068" cy="1892808"/>
          </a:xfrm>
          <a:prstGeom prst="rect">
            <a:avLst/>
          </a:prstGeom>
          <a:noFill/>
        </p:spPr>
        <p:txBody>
          <a:bodyPr wrap="square" anchor="ctr">
            <a:spAutoFit/>
          </a:bodyPr>
          <a:lstStyle/>
          <a:p>
            <a:pPr algn="l">
              <a:spcAft>
                <a:spcPts val="300"/>
              </a:spcAft>
            </a:pPr>
            <a:r>
              <a:rPr sz="1700" b="1">
                <a:solidFill>
                  <a:srgbClr val="161B26"/>
                </a:solidFill>
                <a:latin typeface="Arial"/>
              </a:rPr>
              <a:t>Automate everything</a:t>
            </a:r>
          </a:p>
          <a:p>
            <a:pPr algn="l">
              <a:spcAft>
                <a:spcPts val="300"/>
              </a:spcAft>
            </a:pPr>
            <a:r>
              <a:rPr sz="1300" b="0">
                <a:solidFill>
                  <a:srgbClr val="5B6372"/>
                </a:solidFill>
                <a:latin typeface="Arial"/>
              </a:rPr>
              <a:t>Build, test, deploy and infrastructure become code — repeatable and reviewable.</a:t>
            </a:r>
          </a:p>
        </p:txBody>
      </p:sp>
      <p:sp>
        <p:nvSpPr>
          <p:cNvPr id="17" name="Rectangle 16"/>
          <p:cNvSpPr/>
          <p:nvPr/>
        </p:nvSpPr>
        <p:spPr>
          <a:xfrm>
            <a:off x="777240" y="4078224"/>
            <a:ext cx="5180076" cy="207568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777240" y="4078224"/>
            <a:ext cx="91440" cy="2075688"/>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Oval 18"/>
          <p:cNvSpPr/>
          <p:nvPr/>
        </p:nvSpPr>
        <p:spPr>
          <a:xfrm>
            <a:off x="1033272" y="4841748"/>
            <a:ext cx="548640" cy="548640"/>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1033272" y="4841748"/>
            <a:ext cx="548640" cy="548640"/>
          </a:xfrm>
          <a:prstGeom prst="rect">
            <a:avLst/>
          </a:prstGeom>
          <a:noFill/>
        </p:spPr>
        <p:txBody>
          <a:bodyPr wrap="square" anchor="ctr">
            <a:spAutoFit/>
          </a:bodyPr>
          <a:lstStyle/>
          <a:p>
            <a:pPr algn="ctr">
              <a:spcAft>
                <a:spcPts val="400"/>
              </a:spcAft>
            </a:pPr>
            <a:r>
              <a:rPr sz="1800" b="1">
                <a:solidFill>
                  <a:srgbClr val="FFFFFF"/>
                </a:solidFill>
                <a:latin typeface="Arial"/>
              </a:rPr>
              <a:t>3</a:t>
            </a:r>
          </a:p>
        </p:txBody>
      </p:sp>
      <p:sp>
        <p:nvSpPr>
          <p:cNvPr id="21" name="TextBox 20"/>
          <p:cNvSpPr txBox="1"/>
          <p:nvPr/>
        </p:nvSpPr>
        <p:spPr>
          <a:xfrm>
            <a:off x="1764792" y="4187952"/>
            <a:ext cx="3973068" cy="1892808"/>
          </a:xfrm>
          <a:prstGeom prst="rect">
            <a:avLst/>
          </a:prstGeom>
          <a:noFill/>
        </p:spPr>
        <p:txBody>
          <a:bodyPr wrap="square" anchor="ctr">
            <a:spAutoFit/>
          </a:bodyPr>
          <a:lstStyle/>
          <a:p>
            <a:pPr algn="l">
              <a:spcAft>
                <a:spcPts val="300"/>
              </a:spcAft>
            </a:pPr>
            <a:r>
              <a:rPr sz="1700" b="1">
                <a:solidFill>
                  <a:srgbClr val="161B26"/>
                </a:solidFill>
                <a:latin typeface="Arial"/>
              </a:rPr>
              <a:t>Fast, safe feedback</a:t>
            </a:r>
          </a:p>
          <a:p>
            <a:pPr algn="l">
              <a:spcAft>
                <a:spcPts val="300"/>
              </a:spcAft>
            </a:pPr>
            <a:r>
              <a:rPr sz="1300" b="0">
                <a:solidFill>
                  <a:srgbClr val="5B6372"/>
                </a:solidFill>
                <a:latin typeface="Arial"/>
              </a:rPr>
              <a:t>Small, frequent changes with monitoring make failures cheap and recoverable.</a:t>
            </a:r>
          </a:p>
        </p:txBody>
      </p:sp>
      <p:sp>
        <p:nvSpPr>
          <p:cNvPr id="22" name="Rectangle 21"/>
          <p:cNvSpPr/>
          <p:nvPr/>
        </p:nvSpPr>
        <p:spPr>
          <a:xfrm>
            <a:off x="6231636" y="4078224"/>
            <a:ext cx="5180076" cy="207568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ectangle 22"/>
          <p:cNvSpPr/>
          <p:nvPr/>
        </p:nvSpPr>
        <p:spPr>
          <a:xfrm>
            <a:off x="6231636" y="4078224"/>
            <a:ext cx="91440" cy="2075688"/>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Oval 23"/>
          <p:cNvSpPr/>
          <p:nvPr/>
        </p:nvSpPr>
        <p:spPr>
          <a:xfrm>
            <a:off x="6487668" y="4841748"/>
            <a:ext cx="548640" cy="548640"/>
          </a:xfrm>
          <a:prstGeom prst="ellipse">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6487668" y="4841748"/>
            <a:ext cx="548640" cy="548640"/>
          </a:xfrm>
          <a:prstGeom prst="rect">
            <a:avLst/>
          </a:prstGeom>
          <a:noFill/>
        </p:spPr>
        <p:txBody>
          <a:bodyPr wrap="square" anchor="ctr">
            <a:spAutoFit/>
          </a:bodyPr>
          <a:lstStyle/>
          <a:p>
            <a:pPr algn="ctr">
              <a:spcAft>
                <a:spcPts val="400"/>
              </a:spcAft>
            </a:pPr>
            <a:r>
              <a:rPr sz="1800" b="1">
                <a:solidFill>
                  <a:srgbClr val="FFFFFF"/>
                </a:solidFill>
                <a:latin typeface="Arial"/>
              </a:rPr>
              <a:t>4</a:t>
            </a:r>
          </a:p>
        </p:txBody>
      </p:sp>
      <p:sp>
        <p:nvSpPr>
          <p:cNvPr id="26" name="TextBox 25"/>
          <p:cNvSpPr txBox="1"/>
          <p:nvPr/>
        </p:nvSpPr>
        <p:spPr>
          <a:xfrm>
            <a:off x="7219188" y="4187952"/>
            <a:ext cx="3973068" cy="1892808"/>
          </a:xfrm>
          <a:prstGeom prst="rect">
            <a:avLst/>
          </a:prstGeom>
          <a:noFill/>
        </p:spPr>
        <p:txBody>
          <a:bodyPr wrap="square" anchor="ctr">
            <a:spAutoFit/>
          </a:bodyPr>
          <a:lstStyle/>
          <a:p>
            <a:pPr algn="l">
              <a:spcAft>
                <a:spcPts val="300"/>
              </a:spcAft>
            </a:pPr>
            <a:r>
              <a:rPr sz="1700" b="1">
                <a:solidFill>
                  <a:srgbClr val="161B26"/>
                </a:solidFill>
                <a:latin typeface="Arial"/>
              </a:rPr>
              <a:t>Shared ownership</a:t>
            </a:r>
          </a:p>
          <a:p>
            <a:pPr algn="l">
              <a:spcAft>
                <a:spcPts val="300"/>
              </a:spcAft>
            </a:pPr>
            <a:r>
              <a:rPr sz="1300" b="0">
                <a:solidFill>
                  <a:srgbClr val="5B6372"/>
                </a:solidFill>
                <a:latin typeface="Arial"/>
              </a:rPr>
              <a:t>Teams own their service end to end — you build it, you run it.</a:t>
            </a:r>
          </a:p>
        </p:txBody>
      </p:sp>
      <p:sp>
        <p:nvSpPr>
          <p:cNvPr id="27" name="TextBox 26"/>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DevOps Engineering on AWS  ·  TGS-2023040474</a:t>
            </a:r>
          </a:p>
        </p:txBody>
      </p:sp>
      <p:sp>
        <p:nvSpPr>
          <p:cNvPr id="28" name="TextBox 27"/>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29" name="TextBox 28"/>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16</a:t>
            </a:r>
          </a:p>
        </p:txBody>
      </p:sp>
    </p:spTree>
  </p:cSld>
  <p:clrMapOvr>
    <a:masterClrMapping/>
  </p:clrMapOvr>
  <p:transition xmlns:p14="http://schemas.microsoft.com/office/powerpoint/2010/main" p14:dur="380">
    <p:fade/>
  </p:transition>
</p:sld>
</file>

<file path=ppt/slides/slide1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38912"/>
            <a:ext cx="10607040" cy="365760"/>
          </a:xfrm>
          <a:prstGeom prst="rect">
            <a:avLst/>
          </a:prstGeom>
          <a:noFill/>
        </p:spPr>
        <p:txBody>
          <a:bodyPr wrap="square" anchor="t">
            <a:spAutoFit/>
          </a:bodyPr>
          <a:lstStyle/>
          <a:p>
            <a:pPr algn="l">
              <a:spcAft>
                <a:spcPts val="400"/>
              </a:spcAft>
            </a:pPr>
            <a:r>
              <a:rPr sz="1400" b="1">
                <a:solidFill>
                  <a:srgbClr val="10B981"/>
                </a:solidFill>
                <a:latin typeface="Arial"/>
              </a:rPr>
              <a:t>CULTURE FRAMEWORK</a:t>
            </a:r>
          </a:p>
        </p:txBody>
      </p:sp>
      <p:sp>
        <p:nvSpPr>
          <p:cNvPr id="5" name="TextBox 4"/>
          <p:cNvSpPr txBox="1"/>
          <p:nvPr/>
        </p:nvSpPr>
        <p:spPr>
          <a:xfrm>
            <a:off x="777240" y="804672"/>
            <a:ext cx="10927080" cy="731520"/>
          </a:xfrm>
          <a:prstGeom prst="rect">
            <a:avLst/>
          </a:prstGeom>
          <a:noFill/>
        </p:spPr>
        <p:txBody>
          <a:bodyPr wrap="square" anchor="t">
            <a:spAutoFit/>
          </a:bodyPr>
          <a:lstStyle/>
          <a:p>
            <a:pPr algn="l">
              <a:spcAft>
                <a:spcPts val="400"/>
              </a:spcAft>
            </a:pPr>
            <a:r>
              <a:rPr sz="2900" b="1">
                <a:solidFill>
                  <a:srgbClr val="161B26"/>
                </a:solidFill>
                <a:latin typeface="Arial"/>
              </a:rPr>
              <a:t>The CALMS Model</a:t>
            </a:r>
          </a:p>
        </p:txBody>
      </p:sp>
      <p:sp>
        <p:nvSpPr>
          <p:cNvPr id="6" name="Rectangle 5"/>
          <p:cNvSpPr/>
          <p:nvPr/>
        </p:nvSpPr>
        <p:spPr>
          <a:xfrm>
            <a:off x="777240" y="1572768"/>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783080"/>
            <a:ext cx="5180076" cy="131064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1783080"/>
            <a:ext cx="91440" cy="131064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1033272" y="2164080"/>
            <a:ext cx="548640" cy="548640"/>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033272" y="2164080"/>
            <a:ext cx="548640" cy="548640"/>
          </a:xfrm>
          <a:prstGeom prst="rect">
            <a:avLst/>
          </a:prstGeom>
          <a:noFill/>
        </p:spPr>
        <p:txBody>
          <a:bodyPr wrap="square" anchor="ctr">
            <a:spAutoFit/>
          </a:bodyPr>
          <a:lstStyle/>
          <a:p>
            <a:pPr algn="ctr">
              <a:spcAft>
                <a:spcPts val="400"/>
              </a:spcAft>
            </a:pPr>
            <a:r>
              <a:rPr sz="1800" b="1">
                <a:solidFill>
                  <a:srgbClr val="FFFFFF"/>
                </a:solidFill>
                <a:latin typeface="Arial"/>
              </a:rPr>
              <a:t>1</a:t>
            </a:r>
          </a:p>
        </p:txBody>
      </p:sp>
      <p:sp>
        <p:nvSpPr>
          <p:cNvPr id="11" name="TextBox 10"/>
          <p:cNvSpPr txBox="1"/>
          <p:nvPr/>
        </p:nvSpPr>
        <p:spPr>
          <a:xfrm>
            <a:off x="1764792" y="1892808"/>
            <a:ext cx="3973068" cy="1127760"/>
          </a:xfrm>
          <a:prstGeom prst="rect">
            <a:avLst/>
          </a:prstGeom>
          <a:noFill/>
        </p:spPr>
        <p:txBody>
          <a:bodyPr wrap="square" anchor="ctr">
            <a:spAutoFit/>
          </a:bodyPr>
          <a:lstStyle/>
          <a:p>
            <a:pPr algn="l">
              <a:spcAft>
                <a:spcPts val="300"/>
              </a:spcAft>
            </a:pPr>
            <a:r>
              <a:rPr sz="1700" b="1">
                <a:solidFill>
                  <a:srgbClr val="161B26"/>
                </a:solidFill>
                <a:latin typeface="Arial"/>
              </a:rPr>
              <a:t>Culture</a:t>
            </a:r>
          </a:p>
          <a:p>
            <a:pPr algn="l">
              <a:spcAft>
                <a:spcPts val="300"/>
              </a:spcAft>
            </a:pPr>
            <a:r>
              <a:rPr sz="1300" b="0">
                <a:solidFill>
                  <a:srgbClr val="5B6372"/>
                </a:solidFill>
                <a:latin typeface="Arial"/>
              </a:rPr>
              <a:t>Collaboration and shared responsibility across dev and ops.</a:t>
            </a:r>
          </a:p>
        </p:txBody>
      </p:sp>
      <p:sp>
        <p:nvSpPr>
          <p:cNvPr id="12" name="Rectangle 11"/>
          <p:cNvSpPr/>
          <p:nvPr/>
        </p:nvSpPr>
        <p:spPr>
          <a:xfrm>
            <a:off x="6231636" y="1783080"/>
            <a:ext cx="5180076" cy="131064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6231636" y="1783080"/>
            <a:ext cx="91440" cy="131064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Oval 13"/>
          <p:cNvSpPr/>
          <p:nvPr/>
        </p:nvSpPr>
        <p:spPr>
          <a:xfrm>
            <a:off x="6487668" y="2164080"/>
            <a:ext cx="548640" cy="54864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6487668" y="2164080"/>
            <a:ext cx="548640" cy="548640"/>
          </a:xfrm>
          <a:prstGeom prst="rect">
            <a:avLst/>
          </a:prstGeom>
          <a:noFill/>
        </p:spPr>
        <p:txBody>
          <a:bodyPr wrap="square" anchor="ctr">
            <a:spAutoFit/>
          </a:bodyPr>
          <a:lstStyle/>
          <a:p>
            <a:pPr algn="ctr">
              <a:spcAft>
                <a:spcPts val="400"/>
              </a:spcAft>
            </a:pPr>
            <a:r>
              <a:rPr sz="1800" b="1">
                <a:solidFill>
                  <a:srgbClr val="FFFFFF"/>
                </a:solidFill>
                <a:latin typeface="Arial"/>
              </a:rPr>
              <a:t>2</a:t>
            </a:r>
          </a:p>
        </p:txBody>
      </p:sp>
      <p:sp>
        <p:nvSpPr>
          <p:cNvPr id="16" name="TextBox 15"/>
          <p:cNvSpPr txBox="1"/>
          <p:nvPr/>
        </p:nvSpPr>
        <p:spPr>
          <a:xfrm>
            <a:off x="7219188" y="1892808"/>
            <a:ext cx="3973068" cy="1127760"/>
          </a:xfrm>
          <a:prstGeom prst="rect">
            <a:avLst/>
          </a:prstGeom>
          <a:noFill/>
        </p:spPr>
        <p:txBody>
          <a:bodyPr wrap="square" anchor="ctr">
            <a:spAutoFit/>
          </a:bodyPr>
          <a:lstStyle/>
          <a:p>
            <a:pPr algn="l">
              <a:spcAft>
                <a:spcPts val="300"/>
              </a:spcAft>
            </a:pPr>
            <a:r>
              <a:rPr sz="1700" b="1">
                <a:solidFill>
                  <a:srgbClr val="161B26"/>
                </a:solidFill>
                <a:latin typeface="Arial"/>
              </a:rPr>
              <a:t>Automation</a:t>
            </a:r>
          </a:p>
          <a:p>
            <a:pPr algn="l">
              <a:spcAft>
                <a:spcPts val="300"/>
              </a:spcAft>
            </a:pPr>
            <a:r>
              <a:rPr sz="1300" b="0">
                <a:solidFill>
                  <a:srgbClr val="5B6372"/>
                </a:solidFill>
                <a:latin typeface="Arial"/>
              </a:rPr>
              <a:t>Remove manual, error-prone steps from the delivery pipeline.</a:t>
            </a:r>
          </a:p>
        </p:txBody>
      </p:sp>
      <p:sp>
        <p:nvSpPr>
          <p:cNvPr id="17" name="Rectangle 16"/>
          <p:cNvSpPr/>
          <p:nvPr/>
        </p:nvSpPr>
        <p:spPr>
          <a:xfrm>
            <a:off x="777240" y="3313176"/>
            <a:ext cx="5180076" cy="131064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777240" y="3313176"/>
            <a:ext cx="91440" cy="1310640"/>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Oval 18"/>
          <p:cNvSpPr/>
          <p:nvPr/>
        </p:nvSpPr>
        <p:spPr>
          <a:xfrm>
            <a:off x="1033272" y="3694176"/>
            <a:ext cx="548640" cy="548640"/>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1033272" y="3694176"/>
            <a:ext cx="548640" cy="548640"/>
          </a:xfrm>
          <a:prstGeom prst="rect">
            <a:avLst/>
          </a:prstGeom>
          <a:noFill/>
        </p:spPr>
        <p:txBody>
          <a:bodyPr wrap="square" anchor="ctr">
            <a:spAutoFit/>
          </a:bodyPr>
          <a:lstStyle/>
          <a:p>
            <a:pPr algn="ctr">
              <a:spcAft>
                <a:spcPts val="400"/>
              </a:spcAft>
            </a:pPr>
            <a:r>
              <a:rPr sz="1800" b="1">
                <a:solidFill>
                  <a:srgbClr val="FFFFFF"/>
                </a:solidFill>
                <a:latin typeface="Arial"/>
              </a:rPr>
              <a:t>3</a:t>
            </a:r>
          </a:p>
        </p:txBody>
      </p:sp>
      <p:sp>
        <p:nvSpPr>
          <p:cNvPr id="21" name="TextBox 20"/>
          <p:cNvSpPr txBox="1"/>
          <p:nvPr/>
        </p:nvSpPr>
        <p:spPr>
          <a:xfrm>
            <a:off x="1764792" y="3422904"/>
            <a:ext cx="3973068" cy="1127760"/>
          </a:xfrm>
          <a:prstGeom prst="rect">
            <a:avLst/>
          </a:prstGeom>
          <a:noFill/>
        </p:spPr>
        <p:txBody>
          <a:bodyPr wrap="square" anchor="ctr">
            <a:spAutoFit/>
          </a:bodyPr>
          <a:lstStyle/>
          <a:p>
            <a:pPr algn="l">
              <a:spcAft>
                <a:spcPts val="300"/>
              </a:spcAft>
            </a:pPr>
            <a:r>
              <a:rPr sz="1700" b="1">
                <a:solidFill>
                  <a:srgbClr val="161B26"/>
                </a:solidFill>
                <a:latin typeface="Arial"/>
              </a:rPr>
              <a:t>Lean</a:t>
            </a:r>
          </a:p>
          <a:p>
            <a:pPr algn="l">
              <a:spcAft>
                <a:spcPts val="300"/>
              </a:spcAft>
            </a:pPr>
            <a:r>
              <a:rPr sz="1300" b="0">
                <a:solidFill>
                  <a:srgbClr val="5B6372"/>
                </a:solidFill>
                <a:latin typeface="Arial"/>
              </a:rPr>
              <a:t>Small batches, fast flow, eliminate waste.</a:t>
            </a:r>
          </a:p>
        </p:txBody>
      </p:sp>
      <p:sp>
        <p:nvSpPr>
          <p:cNvPr id="22" name="Rectangle 21"/>
          <p:cNvSpPr/>
          <p:nvPr/>
        </p:nvSpPr>
        <p:spPr>
          <a:xfrm>
            <a:off x="6231636" y="3313176"/>
            <a:ext cx="5180076" cy="131064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ectangle 22"/>
          <p:cNvSpPr/>
          <p:nvPr/>
        </p:nvSpPr>
        <p:spPr>
          <a:xfrm>
            <a:off x="6231636" y="3313176"/>
            <a:ext cx="91440" cy="1310640"/>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Oval 23"/>
          <p:cNvSpPr/>
          <p:nvPr/>
        </p:nvSpPr>
        <p:spPr>
          <a:xfrm>
            <a:off x="6487668" y="3694176"/>
            <a:ext cx="548640" cy="548640"/>
          </a:xfrm>
          <a:prstGeom prst="ellipse">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6487668" y="3694176"/>
            <a:ext cx="548640" cy="548640"/>
          </a:xfrm>
          <a:prstGeom prst="rect">
            <a:avLst/>
          </a:prstGeom>
          <a:noFill/>
        </p:spPr>
        <p:txBody>
          <a:bodyPr wrap="square" anchor="ctr">
            <a:spAutoFit/>
          </a:bodyPr>
          <a:lstStyle/>
          <a:p>
            <a:pPr algn="ctr">
              <a:spcAft>
                <a:spcPts val="400"/>
              </a:spcAft>
            </a:pPr>
            <a:r>
              <a:rPr sz="1800" b="1">
                <a:solidFill>
                  <a:srgbClr val="FFFFFF"/>
                </a:solidFill>
                <a:latin typeface="Arial"/>
              </a:rPr>
              <a:t>4</a:t>
            </a:r>
          </a:p>
        </p:txBody>
      </p:sp>
      <p:sp>
        <p:nvSpPr>
          <p:cNvPr id="26" name="TextBox 25"/>
          <p:cNvSpPr txBox="1"/>
          <p:nvPr/>
        </p:nvSpPr>
        <p:spPr>
          <a:xfrm>
            <a:off x="7219188" y="3422904"/>
            <a:ext cx="3973068" cy="1127760"/>
          </a:xfrm>
          <a:prstGeom prst="rect">
            <a:avLst/>
          </a:prstGeom>
          <a:noFill/>
        </p:spPr>
        <p:txBody>
          <a:bodyPr wrap="square" anchor="ctr">
            <a:spAutoFit/>
          </a:bodyPr>
          <a:lstStyle/>
          <a:p>
            <a:pPr algn="l">
              <a:spcAft>
                <a:spcPts val="300"/>
              </a:spcAft>
            </a:pPr>
            <a:r>
              <a:rPr sz="1700" b="1">
                <a:solidFill>
                  <a:srgbClr val="161B26"/>
                </a:solidFill>
                <a:latin typeface="Arial"/>
              </a:rPr>
              <a:t>Measurement</a:t>
            </a:r>
          </a:p>
          <a:p>
            <a:pPr algn="l">
              <a:spcAft>
                <a:spcPts val="300"/>
              </a:spcAft>
            </a:pPr>
            <a:r>
              <a:rPr sz="1300" b="0">
                <a:solidFill>
                  <a:srgbClr val="5B6372"/>
                </a:solidFill>
                <a:latin typeface="Arial"/>
              </a:rPr>
              <a:t>Metrics and feedback drive continuous improvement.</a:t>
            </a:r>
          </a:p>
        </p:txBody>
      </p:sp>
      <p:sp>
        <p:nvSpPr>
          <p:cNvPr id="27" name="Rectangle 26"/>
          <p:cNvSpPr/>
          <p:nvPr/>
        </p:nvSpPr>
        <p:spPr>
          <a:xfrm>
            <a:off x="777240" y="4843272"/>
            <a:ext cx="5180076" cy="131064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Rectangle 27"/>
          <p:cNvSpPr/>
          <p:nvPr/>
        </p:nvSpPr>
        <p:spPr>
          <a:xfrm>
            <a:off x="777240" y="4843272"/>
            <a:ext cx="91440" cy="1310640"/>
          </a:xfrm>
          <a:prstGeom prst="rect">
            <a:avLst/>
          </a:prstGeom>
          <a:solidFill>
            <a:srgbClr val="EC711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Oval 28"/>
          <p:cNvSpPr/>
          <p:nvPr/>
        </p:nvSpPr>
        <p:spPr>
          <a:xfrm>
            <a:off x="1033272" y="5224272"/>
            <a:ext cx="548640" cy="548640"/>
          </a:xfrm>
          <a:prstGeom prst="ellipse">
            <a:avLst/>
          </a:prstGeom>
          <a:solidFill>
            <a:srgbClr val="EC711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1033272" y="5224272"/>
            <a:ext cx="548640" cy="548640"/>
          </a:xfrm>
          <a:prstGeom prst="rect">
            <a:avLst/>
          </a:prstGeom>
          <a:noFill/>
        </p:spPr>
        <p:txBody>
          <a:bodyPr wrap="square" anchor="ctr">
            <a:spAutoFit/>
          </a:bodyPr>
          <a:lstStyle/>
          <a:p>
            <a:pPr algn="ctr">
              <a:spcAft>
                <a:spcPts val="400"/>
              </a:spcAft>
            </a:pPr>
            <a:r>
              <a:rPr sz="1800" b="1">
                <a:solidFill>
                  <a:srgbClr val="FFFFFF"/>
                </a:solidFill>
                <a:latin typeface="Arial"/>
              </a:rPr>
              <a:t>5</a:t>
            </a:r>
          </a:p>
        </p:txBody>
      </p:sp>
      <p:sp>
        <p:nvSpPr>
          <p:cNvPr id="31" name="TextBox 30"/>
          <p:cNvSpPr txBox="1"/>
          <p:nvPr/>
        </p:nvSpPr>
        <p:spPr>
          <a:xfrm>
            <a:off x="1764792" y="4953000"/>
            <a:ext cx="3973068" cy="1127760"/>
          </a:xfrm>
          <a:prstGeom prst="rect">
            <a:avLst/>
          </a:prstGeom>
          <a:noFill/>
        </p:spPr>
        <p:txBody>
          <a:bodyPr wrap="square" anchor="ctr">
            <a:spAutoFit/>
          </a:bodyPr>
          <a:lstStyle/>
          <a:p>
            <a:pPr algn="l">
              <a:spcAft>
                <a:spcPts val="300"/>
              </a:spcAft>
            </a:pPr>
            <a:r>
              <a:rPr sz="1700" b="1">
                <a:solidFill>
                  <a:srgbClr val="161B26"/>
                </a:solidFill>
                <a:latin typeface="Arial"/>
              </a:rPr>
              <a:t>Sharing</a:t>
            </a:r>
          </a:p>
          <a:p>
            <a:pPr algn="l">
              <a:spcAft>
                <a:spcPts val="300"/>
              </a:spcAft>
            </a:pPr>
            <a:r>
              <a:rPr sz="1300" b="0">
                <a:solidFill>
                  <a:srgbClr val="5B6372"/>
                </a:solidFill>
                <a:latin typeface="Arial"/>
              </a:rPr>
              <a:t>Transparency, blameless learning and reusable patterns.</a:t>
            </a:r>
          </a:p>
        </p:txBody>
      </p:sp>
      <p:sp>
        <p:nvSpPr>
          <p:cNvPr id="32" name="TextBox 31"/>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DevOps Engineering on AWS  ·  TGS-2023040474</a:t>
            </a:r>
          </a:p>
        </p:txBody>
      </p:sp>
      <p:sp>
        <p:nvSpPr>
          <p:cNvPr id="33" name="TextBox 32"/>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34" name="TextBox 33"/>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17</a:t>
            </a:r>
          </a:p>
        </p:txBody>
      </p:sp>
    </p:spTree>
  </p:cSld>
  <p:clrMapOvr>
    <a:masterClrMapping/>
  </p:clrMapOvr>
  <p:transition xmlns:p14="http://schemas.microsoft.com/office/powerpoint/2010/main" p14:dur="380">
    <p:fade/>
  </p:transition>
</p:sld>
</file>

<file path=ppt/slides/slide1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38912"/>
            <a:ext cx="10607040" cy="365760"/>
          </a:xfrm>
          <a:prstGeom prst="rect">
            <a:avLst/>
          </a:prstGeom>
          <a:noFill/>
        </p:spPr>
        <p:txBody>
          <a:bodyPr wrap="square" anchor="t">
            <a:spAutoFit/>
          </a:bodyPr>
          <a:lstStyle/>
          <a:p>
            <a:pPr algn="l">
              <a:spcAft>
                <a:spcPts val="400"/>
              </a:spcAft>
            </a:pPr>
            <a:r>
              <a:rPr sz="1400" b="1">
                <a:solidFill>
                  <a:srgbClr val="10B981"/>
                </a:solidFill>
                <a:latin typeface="Arial"/>
              </a:rPr>
              <a:t>A CONTINUOUS LOOP</a:t>
            </a:r>
          </a:p>
        </p:txBody>
      </p:sp>
      <p:sp>
        <p:nvSpPr>
          <p:cNvPr id="5" name="TextBox 4"/>
          <p:cNvSpPr txBox="1"/>
          <p:nvPr/>
        </p:nvSpPr>
        <p:spPr>
          <a:xfrm>
            <a:off x="777240" y="804672"/>
            <a:ext cx="10927080" cy="731520"/>
          </a:xfrm>
          <a:prstGeom prst="rect">
            <a:avLst/>
          </a:prstGeom>
          <a:noFill/>
        </p:spPr>
        <p:txBody>
          <a:bodyPr wrap="square" anchor="t">
            <a:spAutoFit/>
          </a:bodyPr>
          <a:lstStyle/>
          <a:p>
            <a:pPr algn="l">
              <a:spcAft>
                <a:spcPts val="400"/>
              </a:spcAft>
            </a:pPr>
            <a:r>
              <a:rPr sz="2900" b="1">
                <a:solidFill>
                  <a:srgbClr val="161B26"/>
                </a:solidFill>
                <a:latin typeface="Arial"/>
              </a:rPr>
              <a:t>The DevOps Lifecycle</a:t>
            </a:r>
          </a:p>
        </p:txBody>
      </p:sp>
      <p:sp>
        <p:nvSpPr>
          <p:cNvPr id="6" name="Rectangle 5"/>
          <p:cNvSpPr/>
          <p:nvPr/>
        </p:nvSpPr>
        <p:spPr>
          <a:xfrm>
            <a:off x="777240" y="1572768"/>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2331720"/>
            <a:ext cx="1252728" cy="288036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2331720"/>
            <a:ext cx="1252728" cy="9144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1028700" y="2715768"/>
            <a:ext cx="749808" cy="749808"/>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028700" y="2715768"/>
            <a:ext cx="749808" cy="749808"/>
          </a:xfrm>
          <a:prstGeom prst="rect">
            <a:avLst/>
          </a:prstGeom>
          <a:noFill/>
        </p:spPr>
        <p:txBody>
          <a:bodyPr wrap="square" anchor="ctr">
            <a:spAutoFit/>
          </a:bodyPr>
          <a:lstStyle/>
          <a:p>
            <a:pPr algn="ctr">
              <a:spcAft>
                <a:spcPts val="400"/>
              </a:spcAft>
            </a:pPr>
            <a:r>
              <a:rPr sz="3000" b="1">
                <a:solidFill>
                  <a:srgbClr val="FFFFFF"/>
                </a:solidFill>
                <a:latin typeface="Arial"/>
              </a:rPr>
              <a:t>1</a:t>
            </a:r>
          </a:p>
        </p:txBody>
      </p:sp>
      <p:sp>
        <p:nvSpPr>
          <p:cNvPr id="11" name="TextBox 10"/>
          <p:cNvSpPr txBox="1"/>
          <p:nvPr/>
        </p:nvSpPr>
        <p:spPr>
          <a:xfrm>
            <a:off x="923544" y="3749040"/>
            <a:ext cx="960120" cy="1325880"/>
          </a:xfrm>
          <a:prstGeom prst="rect">
            <a:avLst/>
          </a:prstGeom>
          <a:noFill/>
        </p:spPr>
        <p:txBody>
          <a:bodyPr wrap="square" anchor="t">
            <a:spAutoFit/>
          </a:bodyPr>
          <a:lstStyle/>
          <a:p>
            <a:pPr algn="ctr">
              <a:spcAft>
                <a:spcPts val="400"/>
              </a:spcAft>
            </a:pPr>
            <a:r>
              <a:rPr sz="1300" b="0">
                <a:solidFill>
                  <a:srgbClr val="161B26"/>
                </a:solidFill>
                <a:latin typeface="Arial"/>
              </a:rPr>
              <a:t>Plan
backlog, design</a:t>
            </a:r>
          </a:p>
        </p:txBody>
      </p:sp>
      <p:sp>
        <p:nvSpPr>
          <p:cNvPr id="12" name="TextBox 11"/>
          <p:cNvSpPr txBox="1"/>
          <p:nvPr/>
        </p:nvSpPr>
        <p:spPr>
          <a:xfrm>
            <a:off x="1993392" y="3497580"/>
            <a:ext cx="384048" cy="548640"/>
          </a:xfrm>
          <a:prstGeom prst="rect">
            <a:avLst/>
          </a:prstGeom>
          <a:noFill/>
        </p:spPr>
        <p:txBody>
          <a:bodyPr wrap="square" anchor="ctr">
            <a:spAutoFit/>
          </a:bodyPr>
          <a:lstStyle/>
          <a:p>
            <a:pPr algn="ctr">
              <a:spcAft>
                <a:spcPts val="400"/>
              </a:spcAft>
            </a:pPr>
            <a:r>
              <a:rPr sz="1500" b="1">
                <a:solidFill>
                  <a:srgbClr val="10B981"/>
                </a:solidFill>
                <a:latin typeface="Arial"/>
              </a:rPr>
              <a:t>▶</a:t>
            </a:r>
          </a:p>
        </p:txBody>
      </p:sp>
      <p:sp>
        <p:nvSpPr>
          <p:cNvPr id="13" name="Rectangle 12"/>
          <p:cNvSpPr/>
          <p:nvPr/>
        </p:nvSpPr>
        <p:spPr>
          <a:xfrm>
            <a:off x="2340864" y="2331720"/>
            <a:ext cx="1252728" cy="288036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ectangle 13"/>
          <p:cNvSpPr/>
          <p:nvPr/>
        </p:nvSpPr>
        <p:spPr>
          <a:xfrm>
            <a:off x="2340864" y="2331720"/>
            <a:ext cx="1252728" cy="9144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Oval 14"/>
          <p:cNvSpPr/>
          <p:nvPr/>
        </p:nvSpPr>
        <p:spPr>
          <a:xfrm>
            <a:off x="2592324" y="2715768"/>
            <a:ext cx="749808" cy="749808"/>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2592324" y="2715768"/>
            <a:ext cx="749808" cy="749808"/>
          </a:xfrm>
          <a:prstGeom prst="rect">
            <a:avLst/>
          </a:prstGeom>
          <a:noFill/>
        </p:spPr>
        <p:txBody>
          <a:bodyPr wrap="square" anchor="ctr">
            <a:spAutoFit/>
          </a:bodyPr>
          <a:lstStyle/>
          <a:p>
            <a:pPr algn="ctr">
              <a:spcAft>
                <a:spcPts val="400"/>
              </a:spcAft>
            </a:pPr>
            <a:r>
              <a:rPr sz="3000" b="1">
                <a:solidFill>
                  <a:srgbClr val="FFFFFF"/>
                </a:solidFill>
                <a:latin typeface="Arial"/>
              </a:rPr>
              <a:t>2</a:t>
            </a:r>
          </a:p>
        </p:txBody>
      </p:sp>
      <p:sp>
        <p:nvSpPr>
          <p:cNvPr id="17" name="TextBox 16"/>
          <p:cNvSpPr txBox="1"/>
          <p:nvPr/>
        </p:nvSpPr>
        <p:spPr>
          <a:xfrm>
            <a:off x="2487168" y="3749040"/>
            <a:ext cx="960120" cy="1325880"/>
          </a:xfrm>
          <a:prstGeom prst="rect">
            <a:avLst/>
          </a:prstGeom>
          <a:noFill/>
        </p:spPr>
        <p:txBody>
          <a:bodyPr wrap="square" anchor="t">
            <a:spAutoFit/>
          </a:bodyPr>
          <a:lstStyle/>
          <a:p>
            <a:pPr algn="ctr">
              <a:spcAft>
                <a:spcPts val="400"/>
              </a:spcAft>
            </a:pPr>
            <a:r>
              <a:rPr sz="1300" b="0">
                <a:solidFill>
                  <a:srgbClr val="161B26"/>
                </a:solidFill>
                <a:latin typeface="Arial"/>
              </a:rPr>
              <a:t>Code
version control</a:t>
            </a:r>
          </a:p>
        </p:txBody>
      </p:sp>
      <p:sp>
        <p:nvSpPr>
          <p:cNvPr id="18" name="TextBox 17"/>
          <p:cNvSpPr txBox="1"/>
          <p:nvPr/>
        </p:nvSpPr>
        <p:spPr>
          <a:xfrm>
            <a:off x="3557016" y="3497580"/>
            <a:ext cx="384048" cy="548640"/>
          </a:xfrm>
          <a:prstGeom prst="rect">
            <a:avLst/>
          </a:prstGeom>
          <a:noFill/>
        </p:spPr>
        <p:txBody>
          <a:bodyPr wrap="square" anchor="ctr">
            <a:spAutoFit/>
          </a:bodyPr>
          <a:lstStyle/>
          <a:p>
            <a:pPr algn="ctr">
              <a:spcAft>
                <a:spcPts val="400"/>
              </a:spcAft>
            </a:pPr>
            <a:r>
              <a:rPr sz="1500" b="1">
                <a:solidFill>
                  <a:srgbClr val="10B981"/>
                </a:solidFill>
                <a:latin typeface="Arial"/>
              </a:rPr>
              <a:t>▶</a:t>
            </a:r>
          </a:p>
        </p:txBody>
      </p:sp>
      <p:sp>
        <p:nvSpPr>
          <p:cNvPr id="19" name="Rectangle 18"/>
          <p:cNvSpPr/>
          <p:nvPr/>
        </p:nvSpPr>
        <p:spPr>
          <a:xfrm>
            <a:off x="3904488" y="2331720"/>
            <a:ext cx="1252728" cy="288036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Rectangle 19"/>
          <p:cNvSpPr/>
          <p:nvPr/>
        </p:nvSpPr>
        <p:spPr>
          <a:xfrm>
            <a:off x="3904488" y="2331720"/>
            <a:ext cx="1252728" cy="9144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Oval 20"/>
          <p:cNvSpPr/>
          <p:nvPr/>
        </p:nvSpPr>
        <p:spPr>
          <a:xfrm>
            <a:off x="4155948" y="2715768"/>
            <a:ext cx="749808" cy="749808"/>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4155948" y="2715768"/>
            <a:ext cx="749808" cy="749808"/>
          </a:xfrm>
          <a:prstGeom prst="rect">
            <a:avLst/>
          </a:prstGeom>
          <a:noFill/>
        </p:spPr>
        <p:txBody>
          <a:bodyPr wrap="square" anchor="ctr">
            <a:spAutoFit/>
          </a:bodyPr>
          <a:lstStyle/>
          <a:p>
            <a:pPr algn="ctr">
              <a:spcAft>
                <a:spcPts val="400"/>
              </a:spcAft>
            </a:pPr>
            <a:r>
              <a:rPr sz="3000" b="1">
                <a:solidFill>
                  <a:srgbClr val="FFFFFF"/>
                </a:solidFill>
                <a:latin typeface="Arial"/>
              </a:rPr>
              <a:t>3</a:t>
            </a:r>
          </a:p>
        </p:txBody>
      </p:sp>
      <p:sp>
        <p:nvSpPr>
          <p:cNvPr id="23" name="TextBox 22"/>
          <p:cNvSpPr txBox="1"/>
          <p:nvPr/>
        </p:nvSpPr>
        <p:spPr>
          <a:xfrm>
            <a:off x="4050792" y="3749040"/>
            <a:ext cx="960120" cy="1325880"/>
          </a:xfrm>
          <a:prstGeom prst="rect">
            <a:avLst/>
          </a:prstGeom>
          <a:noFill/>
        </p:spPr>
        <p:txBody>
          <a:bodyPr wrap="square" anchor="t">
            <a:spAutoFit/>
          </a:bodyPr>
          <a:lstStyle/>
          <a:p>
            <a:pPr algn="ctr">
              <a:spcAft>
                <a:spcPts val="400"/>
              </a:spcAft>
            </a:pPr>
            <a:r>
              <a:rPr sz="1300" b="0">
                <a:solidFill>
                  <a:srgbClr val="161B26"/>
                </a:solidFill>
                <a:latin typeface="Arial"/>
              </a:rPr>
              <a:t>Build
compile + package</a:t>
            </a:r>
          </a:p>
        </p:txBody>
      </p:sp>
      <p:sp>
        <p:nvSpPr>
          <p:cNvPr id="24" name="TextBox 23"/>
          <p:cNvSpPr txBox="1"/>
          <p:nvPr/>
        </p:nvSpPr>
        <p:spPr>
          <a:xfrm>
            <a:off x="5120640" y="3497580"/>
            <a:ext cx="384048" cy="548640"/>
          </a:xfrm>
          <a:prstGeom prst="rect">
            <a:avLst/>
          </a:prstGeom>
          <a:noFill/>
        </p:spPr>
        <p:txBody>
          <a:bodyPr wrap="square" anchor="ctr">
            <a:spAutoFit/>
          </a:bodyPr>
          <a:lstStyle/>
          <a:p>
            <a:pPr algn="ctr">
              <a:spcAft>
                <a:spcPts val="400"/>
              </a:spcAft>
            </a:pPr>
            <a:r>
              <a:rPr sz="1500" b="1">
                <a:solidFill>
                  <a:srgbClr val="10B981"/>
                </a:solidFill>
                <a:latin typeface="Arial"/>
              </a:rPr>
              <a:t>▶</a:t>
            </a:r>
          </a:p>
        </p:txBody>
      </p:sp>
      <p:sp>
        <p:nvSpPr>
          <p:cNvPr id="25" name="Rectangle 24"/>
          <p:cNvSpPr/>
          <p:nvPr/>
        </p:nvSpPr>
        <p:spPr>
          <a:xfrm>
            <a:off x="5468112" y="2331720"/>
            <a:ext cx="1252728" cy="288036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Rectangle 25"/>
          <p:cNvSpPr/>
          <p:nvPr/>
        </p:nvSpPr>
        <p:spPr>
          <a:xfrm>
            <a:off x="5468112" y="2331720"/>
            <a:ext cx="1252728" cy="9144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Oval 26"/>
          <p:cNvSpPr/>
          <p:nvPr/>
        </p:nvSpPr>
        <p:spPr>
          <a:xfrm>
            <a:off x="5719572" y="2715768"/>
            <a:ext cx="749808" cy="749808"/>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5719572" y="2715768"/>
            <a:ext cx="749808" cy="749808"/>
          </a:xfrm>
          <a:prstGeom prst="rect">
            <a:avLst/>
          </a:prstGeom>
          <a:noFill/>
        </p:spPr>
        <p:txBody>
          <a:bodyPr wrap="square" anchor="ctr">
            <a:spAutoFit/>
          </a:bodyPr>
          <a:lstStyle/>
          <a:p>
            <a:pPr algn="ctr">
              <a:spcAft>
                <a:spcPts val="400"/>
              </a:spcAft>
            </a:pPr>
            <a:r>
              <a:rPr sz="3000" b="1">
                <a:solidFill>
                  <a:srgbClr val="FFFFFF"/>
                </a:solidFill>
                <a:latin typeface="Arial"/>
              </a:rPr>
              <a:t>4</a:t>
            </a:r>
          </a:p>
        </p:txBody>
      </p:sp>
      <p:sp>
        <p:nvSpPr>
          <p:cNvPr id="29" name="TextBox 28"/>
          <p:cNvSpPr txBox="1"/>
          <p:nvPr/>
        </p:nvSpPr>
        <p:spPr>
          <a:xfrm>
            <a:off x="5614416" y="3749040"/>
            <a:ext cx="960120" cy="1325880"/>
          </a:xfrm>
          <a:prstGeom prst="rect">
            <a:avLst/>
          </a:prstGeom>
          <a:noFill/>
        </p:spPr>
        <p:txBody>
          <a:bodyPr wrap="square" anchor="t">
            <a:spAutoFit/>
          </a:bodyPr>
          <a:lstStyle/>
          <a:p>
            <a:pPr algn="ctr">
              <a:spcAft>
                <a:spcPts val="400"/>
              </a:spcAft>
            </a:pPr>
            <a:r>
              <a:rPr sz="1300" b="0">
                <a:solidFill>
                  <a:srgbClr val="161B26"/>
                </a:solidFill>
                <a:latin typeface="Arial"/>
              </a:rPr>
              <a:t>Test
automated checks</a:t>
            </a:r>
          </a:p>
        </p:txBody>
      </p:sp>
      <p:sp>
        <p:nvSpPr>
          <p:cNvPr id="30" name="TextBox 29"/>
          <p:cNvSpPr txBox="1"/>
          <p:nvPr/>
        </p:nvSpPr>
        <p:spPr>
          <a:xfrm>
            <a:off x="6684264" y="3497580"/>
            <a:ext cx="384048" cy="548640"/>
          </a:xfrm>
          <a:prstGeom prst="rect">
            <a:avLst/>
          </a:prstGeom>
          <a:noFill/>
        </p:spPr>
        <p:txBody>
          <a:bodyPr wrap="square" anchor="ctr">
            <a:spAutoFit/>
          </a:bodyPr>
          <a:lstStyle/>
          <a:p>
            <a:pPr algn="ctr">
              <a:spcAft>
                <a:spcPts val="400"/>
              </a:spcAft>
            </a:pPr>
            <a:r>
              <a:rPr sz="1500" b="1">
                <a:solidFill>
                  <a:srgbClr val="10B981"/>
                </a:solidFill>
                <a:latin typeface="Arial"/>
              </a:rPr>
              <a:t>▶</a:t>
            </a:r>
          </a:p>
        </p:txBody>
      </p:sp>
      <p:sp>
        <p:nvSpPr>
          <p:cNvPr id="31" name="Rectangle 30"/>
          <p:cNvSpPr/>
          <p:nvPr/>
        </p:nvSpPr>
        <p:spPr>
          <a:xfrm>
            <a:off x="7031736" y="2331720"/>
            <a:ext cx="1252728" cy="288036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Rectangle 31"/>
          <p:cNvSpPr/>
          <p:nvPr/>
        </p:nvSpPr>
        <p:spPr>
          <a:xfrm>
            <a:off x="7031736" y="2331720"/>
            <a:ext cx="1252728" cy="9144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Oval 32"/>
          <p:cNvSpPr/>
          <p:nvPr/>
        </p:nvSpPr>
        <p:spPr>
          <a:xfrm>
            <a:off x="7283196" y="2715768"/>
            <a:ext cx="749808" cy="749808"/>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TextBox 33"/>
          <p:cNvSpPr txBox="1"/>
          <p:nvPr/>
        </p:nvSpPr>
        <p:spPr>
          <a:xfrm>
            <a:off x="7283196" y="2715768"/>
            <a:ext cx="749808" cy="749808"/>
          </a:xfrm>
          <a:prstGeom prst="rect">
            <a:avLst/>
          </a:prstGeom>
          <a:noFill/>
        </p:spPr>
        <p:txBody>
          <a:bodyPr wrap="square" anchor="ctr">
            <a:spAutoFit/>
          </a:bodyPr>
          <a:lstStyle/>
          <a:p>
            <a:pPr algn="ctr">
              <a:spcAft>
                <a:spcPts val="400"/>
              </a:spcAft>
            </a:pPr>
            <a:r>
              <a:rPr sz="3000" b="1">
                <a:solidFill>
                  <a:srgbClr val="FFFFFF"/>
                </a:solidFill>
                <a:latin typeface="Arial"/>
              </a:rPr>
              <a:t>5</a:t>
            </a:r>
          </a:p>
        </p:txBody>
      </p:sp>
      <p:sp>
        <p:nvSpPr>
          <p:cNvPr id="35" name="TextBox 34"/>
          <p:cNvSpPr txBox="1"/>
          <p:nvPr/>
        </p:nvSpPr>
        <p:spPr>
          <a:xfrm>
            <a:off x="7178040" y="3749040"/>
            <a:ext cx="960120" cy="1325880"/>
          </a:xfrm>
          <a:prstGeom prst="rect">
            <a:avLst/>
          </a:prstGeom>
          <a:noFill/>
        </p:spPr>
        <p:txBody>
          <a:bodyPr wrap="square" anchor="t">
            <a:spAutoFit/>
          </a:bodyPr>
          <a:lstStyle/>
          <a:p>
            <a:pPr algn="ctr">
              <a:spcAft>
                <a:spcPts val="400"/>
              </a:spcAft>
            </a:pPr>
            <a:r>
              <a:rPr sz="1300" b="0">
                <a:solidFill>
                  <a:srgbClr val="161B26"/>
                </a:solidFill>
                <a:latin typeface="Arial"/>
              </a:rPr>
              <a:t>Release
artifacts + approve</a:t>
            </a:r>
          </a:p>
        </p:txBody>
      </p:sp>
      <p:sp>
        <p:nvSpPr>
          <p:cNvPr id="36" name="TextBox 35"/>
          <p:cNvSpPr txBox="1"/>
          <p:nvPr/>
        </p:nvSpPr>
        <p:spPr>
          <a:xfrm>
            <a:off x="8247888" y="3497580"/>
            <a:ext cx="384048" cy="548640"/>
          </a:xfrm>
          <a:prstGeom prst="rect">
            <a:avLst/>
          </a:prstGeom>
          <a:noFill/>
        </p:spPr>
        <p:txBody>
          <a:bodyPr wrap="square" anchor="ctr">
            <a:spAutoFit/>
          </a:bodyPr>
          <a:lstStyle/>
          <a:p>
            <a:pPr algn="ctr">
              <a:spcAft>
                <a:spcPts val="400"/>
              </a:spcAft>
            </a:pPr>
            <a:r>
              <a:rPr sz="1500" b="1">
                <a:solidFill>
                  <a:srgbClr val="10B981"/>
                </a:solidFill>
                <a:latin typeface="Arial"/>
              </a:rPr>
              <a:t>▶</a:t>
            </a:r>
          </a:p>
        </p:txBody>
      </p:sp>
      <p:sp>
        <p:nvSpPr>
          <p:cNvPr id="37" name="Rectangle 36"/>
          <p:cNvSpPr/>
          <p:nvPr/>
        </p:nvSpPr>
        <p:spPr>
          <a:xfrm>
            <a:off x="8595360" y="2331720"/>
            <a:ext cx="1252728" cy="288036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8" name="Rectangle 37"/>
          <p:cNvSpPr/>
          <p:nvPr/>
        </p:nvSpPr>
        <p:spPr>
          <a:xfrm>
            <a:off x="8595360" y="2331720"/>
            <a:ext cx="1252728" cy="9144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9" name="Oval 38"/>
          <p:cNvSpPr/>
          <p:nvPr/>
        </p:nvSpPr>
        <p:spPr>
          <a:xfrm>
            <a:off x="8846820" y="2715768"/>
            <a:ext cx="749808" cy="749808"/>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0" name="TextBox 39"/>
          <p:cNvSpPr txBox="1"/>
          <p:nvPr/>
        </p:nvSpPr>
        <p:spPr>
          <a:xfrm>
            <a:off x="8846820" y="2715768"/>
            <a:ext cx="749808" cy="749808"/>
          </a:xfrm>
          <a:prstGeom prst="rect">
            <a:avLst/>
          </a:prstGeom>
          <a:noFill/>
        </p:spPr>
        <p:txBody>
          <a:bodyPr wrap="square" anchor="ctr">
            <a:spAutoFit/>
          </a:bodyPr>
          <a:lstStyle/>
          <a:p>
            <a:pPr algn="ctr">
              <a:spcAft>
                <a:spcPts val="400"/>
              </a:spcAft>
            </a:pPr>
            <a:r>
              <a:rPr sz="3000" b="1">
                <a:solidFill>
                  <a:srgbClr val="FFFFFF"/>
                </a:solidFill>
                <a:latin typeface="Arial"/>
              </a:rPr>
              <a:t>6</a:t>
            </a:r>
          </a:p>
        </p:txBody>
      </p:sp>
      <p:sp>
        <p:nvSpPr>
          <p:cNvPr id="41" name="TextBox 40"/>
          <p:cNvSpPr txBox="1"/>
          <p:nvPr/>
        </p:nvSpPr>
        <p:spPr>
          <a:xfrm>
            <a:off x="8741664" y="3749040"/>
            <a:ext cx="960120" cy="1325880"/>
          </a:xfrm>
          <a:prstGeom prst="rect">
            <a:avLst/>
          </a:prstGeom>
          <a:noFill/>
        </p:spPr>
        <p:txBody>
          <a:bodyPr wrap="square" anchor="t">
            <a:spAutoFit/>
          </a:bodyPr>
          <a:lstStyle/>
          <a:p>
            <a:pPr algn="ctr">
              <a:spcAft>
                <a:spcPts val="400"/>
              </a:spcAft>
            </a:pPr>
            <a:r>
              <a:rPr sz="1300" b="0">
                <a:solidFill>
                  <a:srgbClr val="161B26"/>
                </a:solidFill>
                <a:latin typeface="Arial"/>
              </a:rPr>
              <a:t>Deploy
to environments</a:t>
            </a:r>
          </a:p>
        </p:txBody>
      </p:sp>
      <p:sp>
        <p:nvSpPr>
          <p:cNvPr id="42" name="TextBox 41"/>
          <p:cNvSpPr txBox="1"/>
          <p:nvPr/>
        </p:nvSpPr>
        <p:spPr>
          <a:xfrm>
            <a:off x="9811512" y="3497580"/>
            <a:ext cx="384048" cy="548640"/>
          </a:xfrm>
          <a:prstGeom prst="rect">
            <a:avLst/>
          </a:prstGeom>
          <a:noFill/>
        </p:spPr>
        <p:txBody>
          <a:bodyPr wrap="square" anchor="ctr">
            <a:spAutoFit/>
          </a:bodyPr>
          <a:lstStyle/>
          <a:p>
            <a:pPr algn="ctr">
              <a:spcAft>
                <a:spcPts val="400"/>
              </a:spcAft>
            </a:pPr>
            <a:r>
              <a:rPr sz="1500" b="1">
                <a:solidFill>
                  <a:srgbClr val="10B981"/>
                </a:solidFill>
                <a:latin typeface="Arial"/>
              </a:rPr>
              <a:t>▶</a:t>
            </a:r>
          </a:p>
        </p:txBody>
      </p:sp>
      <p:sp>
        <p:nvSpPr>
          <p:cNvPr id="43" name="Rectangle 42"/>
          <p:cNvSpPr/>
          <p:nvPr/>
        </p:nvSpPr>
        <p:spPr>
          <a:xfrm>
            <a:off x="10158984" y="2331720"/>
            <a:ext cx="1252728" cy="288036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4" name="Rectangle 43"/>
          <p:cNvSpPr/>
          <p:nvPr/>
        </p:nvSpPr>
        <p:spPr>
          <a:xfrm>
            <a:off x="10158984" y="2331720"/>
            <a:ext cx="1252728" cy="9144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5" name="Oval 44"/>
          <p:cNvSpPr/>
          <p:nvPr/>
        </p:nvSpPr>
        <p:spPr>
          <a:xfrm>
            <a:off x="10410444" y="2715768"/>
            <a:ext cx="749808" cy="749808"/>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6" name="TextBox 45"/>
          <p:cNvSpPr txBox="1"/>
          <p:nvPr/>
        </p:nvSpPr>
        <p:spPr>
          <a:xfrm>
            <a:off x="10410444" y="2715768"/>
            <a:ext cx="749808" cy="749808"/>
          </a:xfrm>
          <a:prstGeom prst="rect">
            <a:avLst/>
          </a:prstGeom>
          <a:noFill/>
        </p:spPr>
        <p:txBody>
          <a:bodyPr wrap="square" anchor="ctr">
            <a:spAutoFit/>
          </a:bodyPr>
          <a:lstStyle/>
          <a:p>
            <a:pPr algn="ctr">
              <a:spcAft>
                <a:spcPts val="400"/>
              </a:spcAft>
            </a:pPr>
            <a:r>
              <a:rPr sz="3000" b="1">
                <a:solidFill>
                  <a:srgbClr val="FFFFFF"/>
                </a:solidFill>
                <a:latin typeface="Arial"/>
              </a:rPr>
              <a:t>7</a:t>
            </a:r>
          </a:p>
        </p:txBody>
      </p:sp>
      <p:sp>
        <p:nvSpPr>
          <p:cNvPr id="47" name="TextBox 46"/>
          <p:cNvSpPr txBox="1"/>
          <p:nvPr/>
        </p:nvSpPr>
        <p:spPr>
          <a:xfrm>
            <a:off x="10305288" y="3749040"/>
            <a:ext cx="960120" cy="1325880"/>
          </a:xfrm>
          <a:prstGeom prst="rect">
            <a:avLst/>
          </a:prstGeom>
          <a:noFill/>
        </p:spPr>
        <p:txBody>
          <a:bodyPr wrap="square" anchor="t">
            <a:spAutoFit/>
          </a:bodyPr>
          <a:lstStyle/>
          <a:p>
            <a:pPr algn="ctr">
              <a:spcAft>
                <a:spcPts val="400"/>
              </a:spcAft>
            </a:pPr>
            <a:r>
              <a:rPr sz="1300" b="0">
                <a:solidFill>
                  <a:srgbClr val="161B26"/>
                </a:solidFill>
                <a:latin typeface="Arial"/>
              </a:rPr>
              <a:t>Operate &amp; Monitor
feedback loop</a:t>
            </a:r>
          </a:p>
        </p:txBody>
      </p:sp>
      <p:sp>
        <p:nvSpPr>
          <p:cNvPr id="48" name="TextBox 47"/>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DevOps Engineering on AWS  ·  TGS-2023040474</a:t>
            </a:r>
          </a:p>
        </p:txBody>
      </p:sp>
      <p:sp>
        <p:nvSpPr>
          <p:cNvPr id="49" name="TextBox 48"/>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50" name="TextBox 49"/>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18</a:t>
            </a:r>
          </a:p>
        </p:txBody>
      </p:sp>
    </p:spTree>
  </p:cSld>
  <p:clrMapOvr>
    <a:masterClrMapping/>
  </p:clrMapOvr>
  <p:transition xmlns:p14="http://schemas.microsoft.com/office/powerpoint/2010/main" p14:dur="380">
    <p:fade/>
  </p:transition>
</p:sld>
</file>

<file path=ppt/slides/slide2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38912"/>
            <a:ext cx="10607040" cy="365760"/>
          </a:xfrm>
          <a:prstGeom prst="rect">
            <a:avLst/>
          </a:prstGeom>
          <a:noFill/>
        </p:spPr>
        <p:txBody>
          <a:bodyPr wrap="square" anchor="t">
            <a:spAutoFit/>
          </a:bodyPr>
          <a:lstStyle/>
          <a:p>
            <a:pPr algn="l">
              <a:spcAft>
                <a:spcPts val="400"/>
              </a:spcAft>
            </a:pPr>
            <a:r>
              <a:rPr sz="1400" b="1">
                <a:solidFill>
                  <a:srgbClr val="1F6FEB"/>
                </a:solidFill>
                <a:latin typeface="Arial"/>
              </a:rPr>
              <a:t>OUTCOMES THAT MATTER</a:t>
            </a:r>
          </a:p>
        </p:txBody>
      </p:sp>
      <p:sp>
        <p:nvSpPr>
          <p:cNvPr id="5" name="TextBox 4"/>
          <p:cNvSpPr txBox="1"/>
          <p:nvPr/>
        </p:nvSpPr>
        <p:spPr>
          <a:xfrm>
            <a:off x="777240" y="804672"/>
            <a:ext cx="10927080" cy="731520"/>
          </a:xfrm>
          <a:prstGeom prst="rect">
            <a:avLst/>
          </a:prstGeom>
          <a:noFill/>
        </p:spPr>
        <p:txBody>
          <a:bodyPr wrap="square" anchor="t">
            <a:spAutoFit/>
          </a:bodyPr>
          <a:lstStyle/>
          <a:p>
            <a:pPr algn="l">
              <a:spcAft>
                <a:spcPts val="400"/>
              </a:spcAft>
            </a:pPr>
            <a:r>
              <a:rPr sz="2900" b="1">
                <a:solidFill>
                  <a:srgbClr val="161B26"/>
                </a:solidFill>
                <a:latin typeface="Arial"/>
              </a:rPr>
              <a:t>Measuring DevOps — The DORA Metrics</a:t>
            </a:r>
          </a:p>
        </p:txBody>
      </p:sp>
      <p:sp>
        <p:nvSpPr>
          <p:cNvPr id="6" name="Rectangle 5"/>
          <p:cNvSpPr/>
          <p:nvPr/>
        </p:nvSpPr>
        <p:spPr>
          <a:xfrm>
            <a:off x="777240" y="1572768"/>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783080"/>
            <a:ext cx="5180076" cy="207568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1783080"/>
            <a:ext cx="91440" cy="2075688"/>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1033272" y="2546604"/>
            <a:ext cx="548640" cy="548640"/>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033272" y="2546604"/>
            <a:ext cx="548640" cy="548640"/>
          </a:xfrm>
          <a:prstGeom prst="rect">
            <a:avLst/>
          </a:prstGeom>
          <a:noFill/>
        </p:spPr>
        <p:txBody>
          <a:bodyPr wrap="square" anchor="ctr">
            <a:spAutoFit/>
          </a:bodyPr>
          <a:lstStyle/>
          <a:p>
            <a:pPr algn="ctr">
              <a:spcAft>
                <a:spcPts val="400"/>
              </a:spcAft>
            </a:pPr>
            <a:r>
              <a:rPr sz="1800" b="1">
                <a:solidFill>
                  <a:srgbClr val="FFFFFF"/>
                </a:solidFill>
                <a:latin typeface="Arial"/>
              </a:rPr>
              <a:t>1</a:t>
            </a:r>
          </a:p>
        </p:txBody>
      </p:sp>
      <p:sp>
        <p:nvSpPr>
          <p:cNvPr id="11" name="TextBox 10"/>
          <p:cNvSpPr txBox="1"/>
          <p:nvPr/>
        </p:nvSpPr>
        <p:spPr>
          <a:xfrm>
            <a:off x="1764792" y="1892808"/>
            <a:ext cx="3973068" cy="1892808"/>
          </a:xfrm>
          <a:prstGeom prst="rect">
            <a:avLst/>
          </a:prstGeom>
          <a:noFill/>
        </p:spPr>
        <p:txBody>
          <a:bodyPr wrap="square" anchor="ctr">
            <a:spAutoFit/>
          </a:bodyPr>
          <a:lstStyle/>
          <a:p>
            <a:pPr algn="l">
              <a:spcAft>
                <a:spcPts val="300"/>
              </a:spcAft>
            </a:pPr>
            <a:r>
              <a:rPr sz="1700" b="1">
                <a:solidFill>
                  <a:srgbClr val="161B26"/>
                </a:solidFill>
                <a:latin typeface="Arial"/>
              </a:rPr>
              <a:t>Deployment frequency</a:t>
            </a:r>
          </a:p>
          <a:p>
            <a:pPr algn="l">
              <a:spcAft>
                <a:spcPts val="300"/>
              </a:spcAft>
            </a:pPr>
            <a:r>
              <a:rPr sz="1300" b="0">
                <a:solidFill>
                  <a:srgbClr val="5B6372"/>
                </a:solidFill>
                <a:latin typeface="Arial"/>
              </a:rPr>
              <a:t>How often you ship to production — elite teams deploy on demand.</a:t>
            </a:r>
          </a:p>
        </p:txBody>
      </p:sp>
      <p:sp>
        <p:nvSpPr>
          <p:cNvPr id="12" name="Rectangle 11"/>
          <p:cNvSpPr/>
          <p:nvPr/>
        </p:nvSpPr>
        <p:spPr>
          <a:xfrm>
            <a:off x="6231636" y="1783080"/>
            <a:ext cx="5180076" cy="207568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6231636" y="1783080"/>
            <a:ext cx="91440" cy="2075688"/>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Oval 13"/>
          <p:cNvSpPr/>
          <p:nvPr/>
        </p:nvSpPr>
        <p:spPr>
          <a:xfrm>
            <a:off x="6487668" y="2546604"/>
            <a:ext cx="548640" cy="54864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6487668" y="2546604"/>
            <a:ext cx="548640" cy="548640"/>
          </a:xfrm>
          <a:prstGeom prst="rect">
            <a:avLst/>
          </a:prstGeom>
          <a:noFill/>
        </p:spPr>
        <p:txBody>
          <a:bodyPr wrap="square" anchor="ctr">
            <a:spAutoFit/>
          </a:bodyPr>
          <a:lstStyle/>
          <a:p>
            <a:pPr algn="ctr">
              <a:spcAft>
                <a:spcPts val="400"/>
              </a:spcAft>
            </a:pPr>
            <a:r>
              <a:rPr sz="1800" b="1">
                <a:solidFill>
                  <a:srgbClr val="FFFFFF"/>
                </a:solidFill>
                <a:latin typeface="Arial"/>
              </a:rPr>
              <a:t>2</a:t>
            </a:r>
          </a:p>
        </p:txBody>
      </p:sp>
      <p:sp>
        <p:nvSpPr>
          <p:cNvPr id="16" name="TextBox 15"/>
          <p:cNvSpPr txBox="1"/>
          <p:nvPr/>
        </p:nvSpPr>
        <p:spPr>
          <a:xfrm>
            <a:off x="7219188" y="1892808"/>
            <a:ext cx="3973068" cy="1892808"/>
          </a:xfrm>
          <a:prstGeom prst="rect">
            <a:avLst/>
          </a:prstGeom>
          <a:noFill/>
        </p:spPr>
        <p:txBody>
          <a:bodyPr wrap="square" anchor="ctr">
            <a:spAutoFit/>
          </a:bodyPr>
          <a:lstStyle/>
          <a:p>
            <a:pPr algn="l">
              <a:spcAft>
                <a:spcPts val="300"/>
              </a:spcAft>
            </a:pPr>
            <a:r>
              <a:rPr sz="1700" b="1">
                <a:solidFill>
                  <a:srgbClr val="161B26"/>
                </a:solidFill>
                <a:latin typeface="Arial"/>
              </a:rPr>
              <a:t>Lead time for changes</a:t>
            </a:r>
          </a:p>
          <a:p>
            <a:pPr algn="l">
              <a:spcAft>
                <a:spcPts val="300"/>
              </a:spcAft>
            </a:pPr>
            <a:r>
              <a:rPr sz="1300" b="0">
                <a:solidFill>
                  <a:srgbClr val="5B6372"/>
                </a:solidFill>
                <a:latin typeface="Arial"/>
              </a:rPr>
              <a:t>Commit → production time — minutes/hours, not weeks.</a:t>
            </a:r>
          </a:p>
        </p:txBody>
      </p:sp>
      <p:sp>
        <p:nvSpPr>
          <p:cNvPr id="17" name="Rectangle 16"/>
          <p:cNvSpPr/>
          <p:nvPr/>
        </p:nvSpPr>
        <p:spPr>
          <a:xfrm>
            <a:off x="777240" y="4078224"/>
            <a:ext cx="5180076" cy="207568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777240" y="4078224"/>
            <a:ext cx="91440" cy="2075688"/>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Oval 18"/>
          <p:cNvSpPr/>
          <p:nvPr/>
        </p:nvSpPr>
        <p:spPr>
          <a:xfrm>
            <a:off x="1033272" y="4841748"/>
            <a:ext cx="548640" cy="548640"/>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1033272" y="4841748"/>
            <a:ext cx="548640" cy="548640"/>
          </a:xfrm>
          <a:prstGeom prst="rect">
            <a:avLst/>
          </a:prstGeom>
          <a:noFill/>
        </p:spPr>
        <p:txBody>
          <a:bodyPr wrap="square" anchor="ctr">
            <a:spAutoFit/>
          </a:bodyPr>
          <a:lstStyle/>
          <a:p>
            <a:pPr algn="ctr">
              <a:spcAft>
                <a:spcPts val="400"/>
              </a:spcAft>
            </a:pPr>
            <a:r>
              <a:rPr sz="1800" b="1">
                <a:solidFill>
                  <a:srgbClr val="FFFFFF"/>
                </a:solidFill>
                <a:latin typeface="Arial"/>
              </a:rPr>
              <a:t>3</a:t>
            </a:r>
          </a:p>
        </p:txBody>
      </p:sp>
      <p:sp>
        <p:nvSpPr>
          <p:cNvPr id="21" name="TextBox 20"/>
          <p:cNvSpPr txBox="1"/>
          <p:nvPr/>
        </p:nvSpPr>
        <p:spPr>
          <a:xfrm>
            <a:off x="1764792" y="4187952"/>
            <a:ext cx="3973068" cy="1892808"/>
          </a:xfrm>
          <a:prstGeom prst="rect">
            <a:avLst/>
          </a:prstGeom>
          <a:noFill/>
        </p:spPr>
        <p:txBody>
          <a:bodyPr wrap="square" anchor="ctr">
            <a:spAutoFit/>
          </a:bodyPr>
          <a:lstStyle/>
          <a:p>
            <a:pPr algn="l">
              <a:spcAft>
                <a:spcPts val="300"/>
              </a:spcAft>
            </a:pPr>
            <a:r>
              <a:rPr sz="1700" b="1">
                <a:solidFill>
                  <a:srgbClr val="161B26"/>
                </a:solidFill>
                <a:latin typeface="Arial"/>
              </a:rPr>
              <a:t>Change failure rate</a:t>
            </a:r>
          </a:p>
          <a:p>
            <a:pPr algn="l">
              <a:spcAft>
                <a:spcPts val="300"/>
              </a:spcAft>
            </a:pPr>
            <a:r>
              <a:rPr sz="1300" b="0">
                <a:solidFill>
                  <a:srgbClr val="5B6372"/>
                </a:solidFill>
                <a:latin typeface="Arial"/>
              </a:rPr>
              <a:t>% of deployments causing a failure — lower is healthier.</a:t>
            </a:r>
          </a:p>
        </p:txBody>
      </p:sp>
      <p:sp>
        <p:nvSpPr>
          <p:cNvPr id="22" name="Rectangle 21"/>
          <p:cNvSpPr/>
          <p:nvPr/>
        </p:nvSpPr>
        <p:spPr>
          <a:xfrm>
            <a:off x="6231636" y="4078224"/>
            <a:ext cx="5180076" cy="207568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ectangle 22"/>
          <p:cNvSpPr/>
          <p:nvPr/>
        </p:nvSpPr>
        <p:spPr>
          <a:xfrm>
            <a:off x="6231636" y="4078224"/>
            <a:ext cx="91440" cy="2075688"/>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Oval 23"/>
          <p:cNvSpPr/>
          <p:nvPr/>
        </p:nvSpPr>
        <p:spPr>
          <a:xfrm>
            <a:off x="6487668" y="4841748"/>
            <a:ext cx="548640" cy="548640"/>
          </a:xfrm>
          <a:prstGeom prst="ellipse">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6487668" y="4841748"/>
            <a:ext cx="548640" cy="548640"/>
          </a:xfrm>
          <a:prstGeom prst="rect">
            <a:avLst/>
          </a:prstGeom>
          <a:noFill/>
        </p:spPr>
        <p:txBody>
          <a:bodyPr wrap="square" anchor="ctr">
            <a:spAutoFit/>
          </a:bodyPr>
          <a:lstStyle/>
          <a:p>
            <a:pPr algn="ctr">
              <a:spcAft>
                <a:spcPts val="400"/>
              </a:spcAft>
            </a:pPr>
            <a:r>
              <a:rPr sz="1800" b="1">
                <a:solidFill>
                  <a:srgbClr val="FFFFFF"/>
                </a:solidFill>
                <a:latin typeface="Arial"/>
              </a:rPr>
              <a:t>4</a:t>
            </a:r>
          </a:p>
        </p:txBody>
      </p:sp>
      <p:sp>
        <p:nvSpPr>
          <p:cNvPr id="26" name="TextBox 25"/>
          <p:cNvSpPr txBox="1"/>
          <p:nvPr/>
        </p:nvSpPr>
        <p:spPr>
          <a:xfrm>
            <a:off x="7219188" y="4187952"/>
            <a:ext cx="3973068" cy="1892808"/>
          </a:xfrm>
          <a:prstGeom prst="rect">
            <a:avLst/>
          </a:prstGeom>
          <a:noFill/>
        </p:spPr>
        <p:txBody>
          <a:bodyPr wrap="square" anchor="ctr">
            <a:spAutoFit/>
          </a:bodyPr>
          <a:lstStyle/>
          <a:p>
            <a:pPr algn="l">
              <a:spcAft>
                <a:spcPts val="300"/>
              </a:spcAft>
            </a:pPr>
            <a:r>
              <a:rPr sz="1700" b="1">
                <a:solidFill>
                  <a:srgbClr val="161B26"/>
                </a:solidFill>
                <a:latin typeface="Arial"/>
              </a:rPr>
              <a:t>Mean time to recover</a:t>
            </a:r>
          </a:p>
          <a:p>
            <a:pPr algn="l">
              <a:spcAft>
                <a:spcPts val="300"/>
              </a:spcAft>
            </a:pPr>
            <a:r>
              <a:rPr sz="1300" b="0">
                <a:solidFill>
                  <a:srgbClr val="5B6372"/>
                </a:solidFill>
                <a:latin typeface="Arial"/>
              </a:rPr>
              <a:t>How fast you restore service after an incident — minimise it.</a:t>
            </a:r>
          </a:p>
        </p:txBody>
      </p:sp>
      <p:sp>
        <p:nvSpPr>
          <p:cNvPr id="27" name="TextBox 26"/>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DevOps Engineering on AWS  ·  TGS-2023040474</a:t>
            </a:r>
          </a:p>
        </p:txBody>
      </p:sp>
      <p:sp>
        <p:nvSpPr>
          <p:cNvPr id="28" name="TextBox 27"/>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29" name="TextBox 28"/>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19</a:t>
            </a:r>
          </a:p>
        </p:txBody>
      </p:sp>
    </p:spTree>
  </p:cSld>
  <p:clrMapOvr>
    <a:masterClrMapping/>
  </p:clrMapOvr>
  <p:transition xmlns:p14="http://schemas.microsoft.com/office/powerpoint/2010/main" p14:dur="380">
    <p:fade/>
  </p:transition>
</p:sld>
</file>

<file path=ppt/slides/slide2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38912"/>
            <a:ext cx="10607040" cy="365760"/>
          </a:xfrm>
          <a:prstGeom prst="rect">
            <a:avLst/>
          </a:prstGeom>
          <a:noFill/>
        </p:spPr>
        <p:txBody>
          <a:bodyPr wrap="square" anchor="t">
            <a:spAutoFit/>
          </a:bodyPr>
          <a:lstStyle/>
          <a:p>
            <a:pPr algn="l">
              <a:spcAft>
                <a:spcPts val="400"/>
              </a:spcAft>
            </a:pPr>
            <a:r>
              <a:rPr sz="1400" b="1">
                <a:solidFill>
                  <a:srgbClr val="1F6FEB"/>
                </a:solidFill>
                <a:latin typeface="Arial"/>
              </a:rPr>
              <a:t>END-TO-END DELIVERY</a:t>
            </a:r>
          </a:p>
        </p:txBody>
      </p:sp>
      <p:sp>
        <p:nvSpPr>
          <p:cNvPr id="5" name="TextBox 4"/>
          <p:cNvSpPr txBox="1"/>
          <p:nvPr/>
        </p:nvSpPr>
        <p:spPr>
          <a:xfrm>
            <a:off x="777240" y="804672"/>
            <a:ext cx="10927080" cy="731520"/>
          </a:xfrm>
          <a:prstGeom prst="rect">
            <a:avLst/>
          </a:prstGeom>
          <a:noFill/>
        </p:spPr>
        <p:txBody>
          <a:bodyPr wrap="square" anchor="t">
            <a:spAutoFit/>
          </a:bodyPr>
          <a:lstStyle/>
          <a:p>
            <a:pPr algn="l">
              <a:spcAft>
                <a:spcPts val="400"/>
              </a:spcAft>
            </a:pPr>
            <a:r>
              <a:rPr sz="2900" b="1">
                <a:solidFill>
                  <a:srgbClr val="161B26"/>
                </a:solidFill>
                <a:latin typeface="Arial"/>
              </a:rPr>
              <a:t>The AWS DevOps Toolchain</a:t>
            </a:r>
          </a:p>
        </p:txBody>
      </p:sp>
      <p:sp>
        <p:nvSpPr>
          <p:cNvPr id="6" name="Rectangle 5"/>
          <p:cNvSpPr/>
          <p:nvPr/>
        </p:nvSpPr>
        <p:spPr>
          <a:xfrm>
            <a:off x="777240" y="1572768"/>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ounded Rectangle 6"/>
          <p:cNvSpPr/>
          <p:nvPr/>
        </p:nvSpPr>
        <p:spPr>
          <a:xfrm>
            <a:off x="777240" y="1965960"/>
            <a:ext cx="2377440" cy="1051560"/>
          </a:xfrm>
          <a:prstGeom prst="roundRect">
            <a:avLst/>
          </a:prstGeom>
          <a:solidFill>
            <a:srgbClr val="F5F8FC"/>
          </a:solidFill>
          <a:ln w="15875">
            <a:solidFill>
              <a:srgbClr val="1F6FE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1965960"/>
            <a:ext cx="2377440" cy="82296"/>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868680" y="2075688"/>
            <a:ext cx="2194560" cy="868680"/>
          </a:xfrm>
          <a:prstGeom prst="rect">
            <a:avLst/>
          </a:prstGeom>
          <a:noFill/>
        </p:spPr>
        <p:txBody>
          <a:bodyPr wrap="square" anchor="ctr">
            <a:spAutoFit/>
          </a:bodyPr>
          <a:lstStyle/>
          <a:p>
            <a:pPr algn="ctr">
              <a:spcAft>
                <a:spcPts val="400"/>
              </a:spcAft>
            </a:pPr>
            <a:r>
              <a:rPr sz="1300" b="1">
                <a:solidFill>
                  <a:srgbClr val="161B26"/>
                </a:solidFill>
                <a:latin typeface="Arial"/>
              </a:rPr>
              <a:t>Source
CodeCommit / GitHub</a:t>
            </a:r>
          </a:p>
        </p:txBody>
      </p:sp>
      <p:sp>
        <p:nvSpPr>
          <p:cNvPr id="10" name="Rounded Rectangle 9"/>
          <p:cNvSpPr/>
          <p:nvPr/>
        </p:nvSpPr>
        <p:spPr>
          <a:xfrm>
            <a:off x="3520440" y="1965960"/>
            <a:ext cx="2377440" cy="1051560"/>
          </a:xfrm>
          <a:prstGeom prst="roundRect">
            <a:avLst/>
          </a:prstGeom>
          <a:solidFill>
            <a:srgbClr val="F5F8FC"/>
          </a:solidFill>
          <a:ln w="15875">
            <a:solidFill>
              <a:srgbClr val="1F6FE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ectangle 10"/>
          <p:cNvSpPr/>
          <p:nvPr/>
        </p:nvSpPr>
        <p:spPr>
          <a:xfrm>
            <a:off x="3520440" y="1965960"/>
            <a:ext cx="2377440" cy="82296"/>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3611880" y="2075688"/>
            <a:ext cx="2194560" cy="868680"/>
          </a:xfrm>
          <a:prstGeom prst="rect">
            <a:avLst/>
          </a:prstGeom>
          <a:noFill/>
        </p:spPr>
        <p:txBody>
          <a:bodyPr wrap="square" anchor="ctr">
            <a:spAutoFit/>
          </a:bodyPr>
          <a:lstStyle/>
          <a:p>
            <a:pPr algn="ctr">
              <a:spcAft>
                <a:spcPts val="400"/>
              </a:spcAft>
            </a:pPr>
            <a:r>
              <a:rPr sz="1300" b="1">
                <a:solidFill>
                  <a:srgbClr val="161B26"/>
                </a:solidFill>
                <a:latin typeface="Arial"/>
              </a:rPr>
              <a:t>Build &amp; Test
CodeBuild</a:t>
            </a:r>
          </a:p>
        </p:txBody>
      </p:sp>
      <p:sp>
        <p:nvSpPr>
          <p:cNvPr id="13" name="Rounded Rectangle 12"/>
          <p:cNvSpPr/>
          <p:nvPr/>
        </p:nvSpPr>
        <p:spPr>
          <a:xfrm>
            <a:off x="6263640" y="1965960"/>
            <a:ext cx="2377440" cy="1051560"/>
          </a:xfrm>
          <a:prstGeom prst="roundRect">
            <a:avLst/>
          </a:prstGeom>
          <a:solidFill>
            <a:srgbClr val="F5F8FC"/>
          </a:solidFill>
          <a:ln w="15875">
            <a:solidFill>
              <a:srgbClr val="7C3AED"/>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ectangle 13"/>
          <p:cNvSpPr/>
          <p:nvPr/>
        </p:nvSpPr>
        <p:spPr>
          <a:xfrm>
            <a:off x="6263640" y="1965960"/>
            <a:ext cx="2377440" cy="82296"/>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6355080" y="2075688"/>
            <a:ext cx="2194560" cy="868680"/>
          </a:xfrm>
          <a:prstGeom prst="rect">
            <a:avLst/>
          </a:prstGeom>
          <a:noFill/>
        </p:spPr>
        <p:txBody>
          <a:bodyPr wrap="square" anchor="ctr">
            <a:spAutoFit/>
          </a:bodyPr>
          <a:lstStyle/>
          <a:p>
            <a:pPr algn="ctr">
              <a:spcAft>
                <a:spcPts val="400"/>
              </a:spcAft>
            </a:pPr>
            <a:r>
              <a:rPr sz="1300" b="1">
                <a:solidFill>
                  <a:srgbClr val="161B26"/>
                </a:solidFill>
                <a:latin typeface="Arial"/>
              </a:rPr>
              <a:t>Artifacts
S3 / CodeArtifact</a:t>
            </a:r>
          </a:p>
        </p:txBody>
      </p:sp>
      <p:sp>
        <p:nvSpPr>
          <p:cNvPr id="16" name="Rounded Rectangle 15"/>
          <p:cNvSpPr/>
          <p:nvPr/>
        </p:nvSpPr>
        <p:spPr>
          <a:xfrm>
            <a:off x="9006840" y="1965960"/>
            <a:ext cx="2377440" cy="1051560"/>
          </a:xfrm>
          <a:prstGeom prst="roundRect">
            <a:avLst/>
          </a:prstGeom>
          <a:solidFill>
            <a:srgbClr val="F5F8FC"/>
          </a:solidFill>
          <a:ln w="15875">
            <a:solidFill>
              <a:srgbClr val="10B98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ectangle 16"/>
          <p:cNvSpPr/>
          <p:nvPr/>
        </p:nvSpPr>
        <p:spPr>
          <a:xfrm>
            <a:off x="9006840" y="1965960"/>
            <a:ext cx="2377440" cy="82296"/>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9098280" y="2075688"/>
            <a:ext cx="2194560" cy="868680"/>
          </a:xfrm>
          <a:prstGeom prst="rect">
            <a:avLst/>
          </a:prstGeom>
          <a:noFill/>
        </p:spPr>
        <p:txBody>
          <a:bodyPr wrap="square" anchor="ctr">
            <a:spAutoFit/>
          </a:bodyPr>
          <a:lstStyle/>
          <a:p>
            <a:pPr algn="ctr">
              <a:spcAft>
                <a:spcPts val="400"/>
              </a:spcAft>
            </a:pPr>
            <a:r>
              <a:rPr sz="1300" b="1">
                <a:solidFill>
                  <a:srgbClr val="161B26"/>
                </a:solidFill>
                <a:latin typeface="Arial"/>
              </a:rPr>
              <a:t>Deploy
CodeDeploy</a:t>
            </a:r>
          </a:p>
        </p:txBody>
      </p:sp>
      <p:sp>
        <p:nvSpPr>
          <p:cNvPr id="19" name="Rounded Rectangle 18"/>
          <p:cNvSpPr/>
          <p:nvPr/>
        </p:nvSpPr>
        <p:spPr>
          <a:xfrm>
            <a:off x="777240" y="3657600"/>
            <a:ext cx="2377440" cy="1051560"/>
          </a:xfrm>
          <a:prstGeom prst="roundRect">
            <a:avLst/>
          </a:prstGeom>
          <a:solidFill>
            <a:srgbClr val="F5F8FC"/>
          </a:solidFill>
          <a:ln w="15875">
            <a:solidFill>
              <a:srgbClr val="EC711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Rectangle 19"/>
          <p:cNvSpPr/>
          <p:nvPr/>
        </p:nvSpPr>
        <p:spPr>
          <a:xfrm>
            <a:off x="777240" y="3657600"/>
            <a:ext cx="2377440" cy="82296"/>
          </a:xfrm>
          <a:prstGeom prst="rect">
            <a:avLst/>
          </a:prstGeom>
          <a:solidFill>
            <a:srgbClr val="EC711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868680" y="3767328"/>
            <a:ext cx="2194560" cy="868680"/>
          </a:xfrm>
          <a:prstGeom prst="rect">
            <a:avLst/>
          </a:prstGeom>
          <a:noFill/>
        </p:spPr>
        <p:txBody>
          <a:bodyPr wrap="square" anchor="ctr">
            <a:spAutoFit/>
          </a:bodyPr>
          <a:lstStyle/>
          <a:p>
            <a:pPr algn="ctr">
              <a:spcAft>
                <a:spcPts val="400"/>
              </a:spcAft>
            </a:pPr>
            <a:r>
              <a:rPr sz="1300" b="1">
                <a:solidFill>
                  <a:srgbClr val="161B26"/>
                </a:solidFill>
                <a:latin typeface="Arial"/>
              </a:rPr>
              <a:t>Infra as Code
CloudFormation</a:t>
            </a:r>
          </a:p>
        </p:txBody>
      </p:sp>
      <p:sp>
        <p:nvSpPr>
          <p:cNvPr id="22" name="Rounded Rectangle 21"/>
          <p:cNvSpPr/>
          <p:nvPr/>
        </p:nvSpPr>
        <p:spPr>
          <a:xfrm>
            <a:off x="9006840" y="3657600"/>
            <a:ext cx="2377440" cy="1051560"/>
          </a:xfrm>
          <a:prstGeom prst="roundRect">
            <a:avLst/>
          </a:prstGeom>
          <a:solidFill>
            <a:srgbClr val="F5F8FC"/>
          </a:solidFill>
          <a:ln w="15875">
            <a:solidFill>
              <a:srgbClr val="10B98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ectangle 22"/>
          <p:cNvSpPr/>
          <p:nvPr/>
        </p:nvSpPr>
        <p:spPr>
          <a:xfrm>
            <a:off x="9006840" y="3657600"/>
            <a:ext cx="2377440" cy="82296"/>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9098280" y="3767328"/>
            <a:ext cx="2194560" cy="868680"/>
          </a:xfrm>
          <a:prstGeom prst="rect">
            <a:avLst/>
          </a:prstGeom>
          <a:noFill/>
        </p:spPr>
        <p:txBody>
          <a:bodyPr wrap="square" anchor="ctr">
            <a:spAutoFit/>
          </a:bodyPr>
          <a:lstStyle/>
          <a:p>
            <a:pPr algn="ctr">
              <a:spcAft>
                <a:spcPts val="400"/>
              </a:spcAft>
            </a:pPr>
            <a:r>
              <a:rPr sz="1300" b="1">
                <a:solidFill>
                  <a:srgbClr val="161B26"/>
                </a:solidFill>
                <a:latin typeface="Arial"/>
              </a:rPr>
              <a:t>Run
EC2 / ECS / Lambda</a:t>
            </a:r>
          </a:p>
        </p:txBody>
      </p:sp>
      <p:sp>
        <p:nvSpPr>
          <p:cNvPr id="25" name="Rounded Rectangle 24"/>
          <p:cNvSpPr/>
          <p:nvPr/>
        </p:nvSpPr>
        <p:spPr>
          <a:xfrm>
            <a:off x="6263640" y="3657600"/>
            <a:ext cx="2377440" cy="1051560"/>
          </a:xfrm>
          <a:prstGeom prst="roundRect">
            <a:avLst/>
          </a:prstGeom>
          <a:solidFill>
            <a:srgbClr val="F5F8FC"/>
          </a:solidFill>
          <a:ln w="15875">
            <a:solidFill>
              <a:srgbClr val="F59E0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Rectangle 25"/>
          <p:cNvSpPr/>
          <p:nvPr/>
        </p:nvSpPr>
        <p:spPr>
          <a:xfrm>
            <a:off x="6263640" y="3657600"/>
            <a:ext cx="2377440" cy="82296"/>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TextBox 26"/>
          <p:cNvSpPr txBox="1"/>
          <p:nvPr/>
        </p:nvSpPr>
        <p:spPr>
          <a:xfrm>
            <a:off x="6355080" y="3767328"/>
            <a:ext cx="2194560" cy="868680"/>
          </a:xfrm>
          <a:prstGeom prst="rect">
            <a:avLst/>
          </a:prstGeom>
          <a:noFill/>
        </p:spPr>
        <p:txBody>
          <a:bodyPr wrap="square" anchor="ctr">
            <a:spAutoFit/>
          </a:bodyPr>
          <a:lstStyle/>
          <a:p>
            <a:pPr algn="ctr">
              <a:spcAft>
                <a:spcPts val="400"/>
              </a:spcAft>
            </a:pPr>
            <a:r>
              <a:rPr sz="1300" b="1">
                <a:solidFill>
                  <a:srgbClr val="161B26"/>
                </a:solidFill>
                <a:latin typeface="Arial"/>
              </a:rPr>
              <a:t>Monitor
CloudWatch</a:t>
            </a:r>
          </a:p>
        </p:txBody>
      </p:sp>
      <p:sp>
        <p:nvSpPr>
          <p:cNvPr id="28" name="Rounded Rectangle 27"/>
          <p:cNvSpPr/>
          <p:nvPr/>
        </p:nvSpPr>
        <p:spPr>
          <a:xfrm>
            <a:off x="3520440" y="3657600"/>
            <a:ext cx="2377440" cy="1051560"/>
          </a:xfrm>
          <a:prstGeom prst="roundRect">
            <a:avLst/>
          </a:prstGeom>
          <a:solidFill>
            <a:srgbClr val="F5F8FC"/>
          </a:solidFill>
          <a:ln w="15875">
            <a:solidFill>
              <a:srgbClr val="C0392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Rectangle 28"/>
          <p:cNvSpPr/>
          <p:nvPr/>
        </p:nvSpPr>
        <p:spPr>
          <a:xfrm>
            <a:off x="3520440" y="3657600"/>
            <a:ext cx="2377440" cy="82296"/>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3611880" y="3767328"/>
            <a:ext cx="2194560" cy="868680"/>
          </a:xfrm>
          <a:prstGeom prst="rect">
            <a:avLst/>
          </a:prstGeom>
          <a:noFill/>
        </p:spPr>
        <p:txBody>
          <a:bodyPr wrap="square" anchor="ctr">
            <a:spAutoFit/>
          </a:bodyPr>
          <a:lstStyle/>
          <a:p>
            <a:pPr algn="ctr">
              <a:spcAft>
                <a:spcPts val="400"/>
              </a:spcAft>
            </a:pPr>
            <a:r>
              <a:rPr sz="1300" b="1">
                <a:solidFill>
                  <a:srgbClr val="161B26"/>
                </a:solidFill>
                <a:latin typeface="Arial"/>
              </a:rPr>
              <a:t>Secure &amp; Audit
IAM / Config / CloudTrail</a:t>
            </a:r>
          </a:p>
        </p:txBody>
      </p:sp>
      <p:cxnSp>
        <p:nvCxnSpPr>
          <p:cNvPr id="31" name="Connector 30"/>
          <p:cNvCxnSpPr/>
          <p:nvPr/>
        </p:nvCxnSpPr>
        <p:spPr>
          <a:xfrm>
            <a:off x="3154680" y="2491740"/>
            <a:ext cx="365760" cy="0"/>
          </a:xfrm>
          <a:prstGeom prst="line">
            <a:avLst/>
          </a:prstGeom>
          <a:ln w="22225">
            <a:solidFill>
              <a:srgbClr val="5B6372"/>
            </a:solidFill>
            <a:tailEnd type="triangle" w="med" len="med"/>
          </a:ln>
          <a:effectLst/>
        </p:spPr>
        <p:style>
          <a:lnRef idx="2">
            <a:schemeClr val="accent1"/>
          </a:lnRef>
          <a:fillRef idx="0">
            <a:schemeClr val="accent1"/>
          </a:fillRef>
          <a:effectRef idx="1">
            <a:schemeClr val="accent1"/>
          </a:effectRef>
          <a:fontRef idx="minor">
            <a:schemeClr val="tx1"/>
          </a:fontRef>
        </p:style>
      </p:cxnSp>
      <p:cxnSp>
        <p:nvCxnSpPr>
          <p:cNvPr id="32" name="Connector 31"/>
          <p:cNvCxnSpPr/>
          <p:nvPr/>
        </p:nvCxnSpPr>
        <p:spPr>
          <a:xfrm>
            <a:off x="5897880" y="2491740"/>
            <a:ext cx="365760" cy="0"/>
          </a:xfrm>
          <a:prstGeom prst="line">
            <a:avLst/>
          </a:prstGeom>
          <a:ln w="22225">
            <a:solidFill>
              <a:srgbClr val="5B6372"/>
            </a:solidFill>
            <a:tailEnd type="triangle" w="med" len="med"/>
          </a:ln>
          <a:effectLst/>
        </p:spPr>
        <p:style>
          <a:lnRef idx="2">
            <a:schemeClr val="accent1"/>
          </a:lnRef>
          <a:fillRef idx="0">
            <a:schemeClr val="accent1"/>
          </a:fillRef>
          <a:effectRef idx="1">
            <a:schemeClr val="accent1"/>
          </a:effectRef>
          <a:fontRef idx="minor">
            <a:schemeClr val="tx1"/>
          </a:fontRef>
        </p:style>
      </p:cxnSp>
      <p:cxnSp>
        <p:nvCxnSpPr>
          <p:cNvPr id="33" name="Connector 32"/>
          <p:cNvCxnSpPr/>
          <p:nvPr/>
        </p:nvCxnSpPr>
        <p:spPr>
          <a:xfrm>
            <a:off x="8641080" y="2491740"/>
            <a:ext cx="365760" cy="0"/>
          </a:xfrm>
          <a:prstGeom prst="line">
            <a:avLst/>
          </a:prstGeom>
          <a:ln w="22225">
            <a:solidFill>
              <a:srgbClr val="5B6372"/>
            </a:solidFill>
            <a:tailEnd type="triangle" w="med" len="med"/>
          </a:ln>
          <a:effectLst/>
        </p:spPr>
        <p:style>
          <a:lnRef idx="2">
            <a:schemeClr val="accent1"/>
          </a:lnRef>
          <a:fillRef idx="0">
            <a:schemeClr val="accent1"/>
          </a:fillRef>
          <a:effectRef idx="1">
            <a:schemeClr val="accent1"/>
          </a:effectRef>
          <a:fontRef idx="minor">
            <a:schemeClr val="tx1"/>
          </a:fontRef>
        </p:style>
      </p:cxnSp>
      <p:cxnSp>
        <p:nvCxnSpPr>
          <p:cNvPr id="34" name="Connector 33"/>
          <p:cNvCxnSpPr/>
          <p:nvPr/>
        </p:nvCxnSpPr>
        <p:spPr>
          <a:xfrm flipV="1">
            <a:off x="1965960" y="3017520"/>
            <a:ext cx="0" cy="640080"/>
          </a:xfrm>
          <a:prstGeom prst="line">
            <a:avLst/>
          </a:prstGeom>
          <a:ln w="22225">
            <a:solidFill>
              <a:srgbClr val="5B6372"/>
            </a:solidFill>
            <a:tailEnd type="triangle" w="med" len="med"/>
          </a:ln>
          <a:effectLst/>
        </p:spPr>
        <p:style>
          <a:lnRef idx="2">
            <a:schemeClr val="accent1"/>
          </a:lnRef>
          <a:fillRef idx="0">
            <a:schemeClr val="accent1"/>
          </a:fillRef>
          <a:effectRef idx="1">
            <a:schemeClr val="accent1"/>
          </a:effectRef>
          <a:fontRef idx="minor">
            <a:schemeClr val="tx1"/>
          </a:fontRef>
        </p:style>
      </p:cxnSp>
      <p:cxnSp>
        <p:nvCxnSpPr>
          <p:cNvPr id="35" name="Connector 34"/>
          <p:cNvCxnSpPr/>
          <p:nvPr/>
        </p:nvCxnSpPr>
        <p:spPr>
          <a:xfrm>
            <a:off x="10195560" y="3017520"/>
            <a:ext cx="0" cy="640080"/>
          </a:xfrm>
          <a:prstGeom prst="line">
            <a:avLst/>
          </a:prstGeom>
          <a:ln w="22225">
            <a:solidFill>
              <a:srgbClr val="5B6372"/>
            </a:solidFill>
            <a:tailEnd type="triangle" w="med" len="med"/>
          </a:ln>
          <a:effectLst/>
        </p:spPr>
        <p:style>
          <a:lnRef idx="2">
            <a:schemeClr val="accent1"/>
          </a:lnRef>
          <a:fillRef idx="0">
            <a:schemeClr val="accent1"/>
          </a:fillRef>
          <a:effectRef idx="1">
            <a:schemeClr val="accent1"/>
          </a:effectRef>
          <a:fontRef idx="minor">
            <a:schemeClr val="tx1"/>
          </a:fontRef>
        </p:style>
      </p:cxnSp>
      <p:cxnSp>
        <p:nvCxnSpPr>
          <p:cNvPr id="36" name="Connector 35"/>
          <p:cNvCxnSpPr/>
          <p:nvPr/>
        </p:nvCxnSpPr>
        <p:spPr>
          <a:xfrm flipH="1">
            <a:off x="8641080" y="4183380"/>
            <a:ext cx="365760" cy="0"/>
          </a:xfrm>
          <a:prstGeom prst="line">
            <a:avLst/>
          </a:prstGeom>
          <a:ln w="22225">
            <a:solidFill>
              <a:srgbClr val="5B6372"/>
            </a:solidFill>
            <a:tailEnd type="triangle" w="med" len="med"/>
          </a:ln>
          <a:effectLst/>
        </p:spPr>
        <p:style>
          <a:lnRef idx="2">
            <a:schemeClr val="accent1"/>
          </a:lnRef>
          <a:fillRef idx="0">
            <a:schemeClr val="accent1"/>
          </a:fillRef>
          <a:effectRef idx="1">
            <a:schemeClr val="accent1"/>
          </a:effectRef>
          <a:fontRef idx="minor">
            <a:schemeClr val="tx1"/>
          </a:fontRef>
        </p:style>
      </p:cxnSp>
      <p:cxnSp>
        <p:nvCxnSpPr>
          <p:cNvPr id="37" name="Connector 36"/>
          <p:cNvCxnSpPr/>
          <p:nvPr/>
        </p:nvCxnSpPr>
        <p:spPr>
          <a:xfrm flipH="1">
            <a:off x="5897880" y="4183380"/>
            <a:ext cx="365760" cy="0"/>
          </a:xfrm>
          <a:prstGeom prst="line">
            <a:avLst/>
          </a:prstGeom>
          <a:ln w="22225">
            <a:solidFill>
              <a:srgbClr val="5B6372"/>
            </a:solidFill>
            <a:tailEnd type="triangle" w="med" len="med"/>
          </a:ln>
          <a:effectLst/>
        </p:spPr>
        <p:style>
          <a:lnRef idx="2">
            <a:schemeClr val="accent1"/>
          </a:lnRef>
          <a:fillRef idx="0">
            <a:schemeClr val="accent1"/>
          </a:fillRef>
          <a:effectRef idx="1">
            <a:schemeClr val="accent1"/>
          </a:effectRef>
          <a:fontRef idx="minor">
            <a:schemeClr val="tx1"/>
          </a:fontRef>
        </p:style>
      </p:cxnSp>
      <p:sp>
        <p:nvSpPr>
          <p:cNvPr id="38" name="Rectangle 37"/>
          <p:cNvSpPr/>
          <p:nvPr/>
        </p:nvSpPr>
        <p:spPr>
          <a:xfrm>
            <a:off x="777240" y="5669280"/>
            <a:ext cx="10634472" cy="54864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9" name="TextBox 38"/>
          <p:cNvSpPr txBox="1"/>
          <p:nvPr/>
        </p:nvSpPr>
        <p:spPr>
          <a:xfrm>
            <a:off x="1005840" y="5742432"/>
            <a:ext cx="10241280" cy="411480"/>
          </a:xfrm>
          <a:prstGeom prst="rect">
            <a:avLst/>
          </a:prstGeom>
          <a:noFill/>
        </p:spPr>
        <p:txBody>
          <a:bodyPr wrap="square" anchor="ctr">
            <a:spAutoFit/>
          </a:bodyPr>
          <a:lstStyle/>
          <a:p>
            <a:pPr algn="l">
              <a:spcAft>
                <a:spcPts val="400"/>
              </a:spcAft>
            </a:pPr>
            <a:r>
              <a:rPr sz="1300" b="1">
                <a:solidFill>
                  <a:srgbClr val="1F6FEB"/>
                </a:solidFill>
                <a:latin typeface="Arial"/>
              </a:rPr>
              <a:t>▶  </a:t>
            </a:r>
            <a:r>
              <a:rPr sz="1300" b="0">
                <a:solidFill>
                  <a:srgbClr val="161B26"/>
                </a:solidFill>
                <a:latin typeface="Arial"/>
              </a:rPr>
              <a:t>CodePipeline orchestrates the top row; IaC, monitoring and security wrap the whole lifecycle.</a:t>
            </a:r>
          </a:p>
        </p:txBody>
      </p:sp>
      <p:sp>
        <p:nvSpPr>
          <p:cNvPr id="40" name="TextBox 39"/>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DevOps Engineering on AWS  ·  TGS-2023040474</a:t>
            </a:r>
          </a:p>
        </p:txBody>
      </p:sp>
      <p:sp>
        <p:nvSpPr>
          <p:cNvPr id="41" name="TextBox 40"/>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42" name="TextBox 41"/>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20</a:t>
            </a:r>
          </a:p>
        </p:txBody>
      </p:sp>
    </p:spTree>
  </p:cSld>
  <p:clrMapOvr>
    <a:masterClrMapping/>
  </p:clrMapOvr>
  <p:transition xmlns:p14="http://schemas.microsoft.com/office/powerpoint/2010/main" p14:dur="380">
    <p:fade/>
  </p:transition>
</p:sld>
</file>

<file path=ppt/slides/slide2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EC711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38912"/>
            <a:ext cx="10607040" cy="365760"/>
          </a:xfrm>
          <a:prstGeom prst="rect">
            <a:avLst/>
          </a:prstGeom>
          <a:noFill/>
        </p:spPr>
        <p:txBody>
          <a:bodyPr wrap="square" anchor="t">
            <a:spAutoFit/>
          </a:bodyPr>
          <a:lstStyle/>
          <a:p>
            <a:pPr algn="l">
              <a:spcAft>
                <a:spcPts val="400"/>
              </a:spcAft>
            </a:pPr>
            <a:r>
              <a:rPr sz="1400" b="1">
                <a:solidFill>
                  <a:srgbClr val="EC711E"/>
                </a:solidFill>
                <a:latin typeface="Arial"/>
              </a:rPr>
              <a:t>SIX PILLARS</a:t>
            </a:r>
          </a:p>
        </p:txBody>
      </p:sp>
      <p:sp>
        <p:nvSpPr>
          <p:cNvPr id="5" name="TextBox 4"/>
          <p:cNvSpPr txBox="1"/>
          <p:nvPr/>
        </p:nvSpPr>
        <p:spPr>
          <a:xfrm>
            <a:off x="777240" y="804672"/>
            <a:ext cx="10927080" cy="731520"/>
          </a:xfrm>
          <a:prstGeom prst="rect">
            <a:avLst/>
          </a:prstGeom>
          <a:noFill/>
        </p:spPr>
        <p:txBody>
          <a:bodyPr wrap="square" anchor="t">
            <a:spAutoFit/>
          </a:bodyPr>
          <a:lstStyle/>
          <a:p>
            <a:pPr algn="l">
              <a:spcAft>
                <a:spcPts val="400"/>
              </a:spcAft>
            </a:pPr>
            <a:r>
              <a:rPr sz="2900" b="1">
                <a:solidFill>
                  <a:srgbClr val="161B26"/>
                </a:solidFill>
                <a:latin typeface="Arial"/>
              </a:rPr>
              <a:t>AWS Well-Architected Framework</a:t>
            </a:r>
          </a:p>
        </p:txBody>
      </p:sp>
      <p:sp>
        <p:nvSpPr>
          <p:cNvPr id="6" name="Rectangle 5"/>
          <p:cNvSpPr/>
          <p:nvPr/>
        </p:nvSpPr>
        <p:spPr>
          <a:xfrm>
            <a:off x="777240" y="1572768"/>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783080"/>
            <a:ext cx="5180076" cy="131064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1783080"/>
            <a:ext cx="91440" cy="131064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1033272" y="2164080"/>
            <a:ext cx="548640" cy="548640"/>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033272" y="2164080"/>
            <a:ext cx="548640" cy="548640"/>
          </a:xfrm>
          <a:prstGeom prst="rect">
            <a:avLst/>
          </a:prstGeom>
          <a:noFill/>
        </p:spPr>
        <p:txBody>
          <a:bodyPr wrap="square" anchor="ctr">
            <a:spAutoFit/>
          </a:bodyPr>
          <a:lstStyle/>
          <a:p>
            <a:pPr algn="ctr">
              <a:spcAft>
                <a:spcPts val="400"/>
              </a:spcAft>
            </a:pPr>
            <a:r>
              <a:rPr sz="1800" b="1">
                <a:solidFill>
                  <a:srgbClr val="FFFFFF"/>
                </a:solidFill>
                <a:latin typeface="Arial"/>
              </a:rPr>
              <a:t>1</a:t>
            </a:r>
          </a:p>
        </p:txBody>
      </p:sp>
      <p:sp>
        <p:nvSpPr>
          <p:cNvPr id="11" name="TextBox 10"/>
          <p:cNvSpPr txBox="1"/>
          <p:nvPr/>
        </p:nvSpPr>
        <p:spPr>
          <a:xfrm>
            <a:off x="1764792" y="1892808"/>
            <a:ext cx="3973068" cy="1127760"/>
          </a:xfrm>
          <a:prstGeom prst="rect">
            <a:avLst/>
          </a:prstGeom>
          <a:noFill/>
        </p:spPr>
        <p:txBody>
          <a:bodyPr wrap="square" anchor="ctr">
            <a:spAutoFit/>
          </a:bodyPr>
          <a:lstStyle/>
          <a:p>
            <a:pPr algn="l">
              <a:spcAft>
                <a:spcPts val="300"/>
              </a:spcAft>
            </a:pPr>
            <a:r>
              <a:rPr sz="1550" b="1">
                <a:solidFill>
                  <a:srgbClr val="161B26"/>
                </a:solidFill>
                <a:latin typeface="Arial"/>
              </a:rPr>
              <a:t>Operational Excellence</a:t>
            </a:r>
          </a:p>
          <a:p>
            <a:pPr algn="l">
              <a:spcAft>
                <a:spcPts val="300"/>
              </a:spcAft>
            </a:pPr>
            <a:r>
              <a:rPr sz="1150" b="0">
                <a:solidFill>
                  <a:srgbClr val="5B6372"/>
                </a:solidFill>
                <a:latin typeface="Arial"/>
              </a:rPr>
              <a:t>Run and monitor systems; improve processes continuously.</a:t>
            </a:r>
          </a:p>
        </p:txBody>
      </p:sp>
      <p:sp>
        <p:nvSpPr>
          <p:cNvPr id="12" name="Rectangle 11"/>
          <p:cNvSpPr/>
          <p:nvPr/>
        </p:nvSpPr>
        <p:spPr>
          <a:xfrm>
            <a:off x="6231636" y="1783080"/>
            <a:ext cx="5180076" cy="131064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6231636" y="1783080"/>
            <a:ext cx="91440" cy="131064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Oval 13"/>
          <p:cNvSpPr/>
          <p:nvPr/>
        </p:nvSpPr>
        <p:spPr>
          <a:xfrm>
            <a:off x="6487668" y="2164080"/>
            <a:ext cx="548640" cy="54864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6487668" y="2164080"/>
            <a:ext cx="548640" cy="548640"/>
          </a:xfrm>
          <a:prstGeom prst="rect">
            <a:avLst/>
          </a:prstGeom>
          <a:noFill/>
        </p:spPr>
        <p:txBody>
          <a:bodyPr wrap="square" anchor="ctr">
            <a:spAutoFit/>
          </a:bodyPr>
          <a:lstStyle/>
          <a:p>
            <a:pPr algn="ctr">
              <a:spcAft>
                <a:spcPts val="400"/>
              </a:spcAft>
            </a:pPr>
            <a:r>
              <a:rPr sz="1800" b="1">
                <a:solidFill>
                  <a:srgbClr val="FFFFFF"/>
                </a:solidFill>
                <a:latin typeface="Arial"/>
              </a:rPr>
              <a:t>2</a:t>
            </a:r>
          </a:p>
        </p:txBody>
      </p:sp>
      <p:sp>
        <p:nvSpPr>
          <p:cNvPr id="16" name="TextBox 15"/>
          <p:cNvSpPr txBox="1"/>
          <p:nvPr/>
        </p:nvSpPr>
        <p:spPr>
          <a:xfrm>
            <a:off x="7219188" y="1892808"/>
            <a:ext cx="3973068" cy="1127760"/>
          </a:xfrm>
          <a:prstGeom prst="rect">
            <a:avLst/>
          </a:prstGeom>
          <a:noFill/>
        </p:spPr>
        <p:txBody>
          <a:bodyPr wrap="square" anchor="ctr">
            <a:spAutoFit/>
          </a:bodyPr>
          <a:lstStyle/>
          <a:p>
            <a:pPr algn="l">
              <a:spcAft>
                <a:spcPts val="300"/>
              </a:spcAft>
            </a:pPr>
            <a:r>
              <a:rPr sz="1550" b="1">
                <a:solidFill>
                  <a:srgbClr val="161B26"/>
                </a:solidFill>
                <a:latin typeface="Arial"/>
              </a:rPr>
              <a:t>Security</a:t>
            </a:r>
          </a:p>
          <a:p>
            <a:pPr algn="l">
              <a:spcAft>
                <a:spcPts val="300"/>
              </a:spcAft>
            </a:pPr>
            <a:r>
              <a:rPr sz="1150" b="0">
                <a:solidFill>
                  <a:srgbClr val="5B6372"/>
                </a:solidFill>
                <a:latin typeface="Arial"/>
              </a:rPr>
              <a:t>Protect data, systems and assets with least-privilege and audit.</a:t>
            </a:r>
          </a:p>
        </p:txBody>
      </p:sp>
      <p:sp>
        <p:nvSpPr>
          <p:cNvPr id="17" name="Rectangle 16"/>
          <p:cNvSpPr/>
          <p:nvPr/>
        </p:nvSpPr>
        <p:spPr>
          <a:xfrm>
            <a:off x="777240" y="3313176"/>
            <a:ext cx="5180076" cy="131064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777240" y="3313176"/>
            <a:ext cx="91440" cy="1310640"/>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Oval 18"/>
          <p:cNvSpPr/>
          <p:nvPr/>
        </p:nvSpPr>
        <p:spPr>
          <a:xfrm>
            <a:off x="1033272" y="3694176"/>
            <a:ext cx="548640" cy="548640"/>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1033272" y="3694176"/>
            <a:ext cx="548640" cy="548640"/>
          </a:xfrm>
          <a:prstGeom prst="rect">
            <a:avLst/>
          </a:prstGeom>
          <a:noFill/>
        </p:spPr>
        <p:txBody>
          <a:bodyPr wrap="square" anchor="ctr">
            <a:spAutoFit/>
          </a:bodyPr>
          <a:lstStyle/>
          <a:p>
            <a:pPr algn="ctr">
              <a:spcAft>
                <a:spcPts val="400"/>
              </a:spcAft>
            </a:pPr>
            <a:r>
              <a:rPr sz="1800" b="1">
                <a:solidFill>
                  <a:srgbClr val="FFFFFF"/>
                </a:solidFill>
                <a:latin typeface="Arial"/>
              </a:rPr>
              <a:t>3</a:t>
            </a:r>
          </a:p>
        </p:txBody>
      </p:sp>
      <p:sp>
        <p:nvSpPr>
          <p:cNvPr id="21" name="TextBox 20"/>
          <p:cNvSpPr txBox="1"/>
          <p:nvPr/>
        </p:nvSpPr>
        <p:spPr>
          <a:xfrm>
            <a:off x="1764792" y="3422904"/>
            <a:ext cx="3973068" cy="1127760"/>
          </a:xfrm>
          <a:prstGeom prst="rect">
            <a:avLst/>
          </a:prstGeom>
          <a:noFill/>
        </p:spPr>
        <p:txBody>
          <a:bodyPr wrap="square" anchor="ctr">
            <a:spAutoFit/>
          </a:bodyPr>
          <a:lstStyle/>
          <a:p>
            <a:pPr algn="l">
              <a:spcAft>
                <a:spcPts val="300"/>
              </a:spcAft>
            </a:pPr>
            <a:r>
              <a:rPr sz="1550" b="1">
                <a:solidFill>
                  <a:srgbClr val="161B26"/>
                </a:solidFill>
                <a:latin typeface="Arial"/>
              </a:rPr>
              <a:t>Reliability</a:t>
            </a:r>
          </a:p>
          <a:p>
            <a:pPr algn="l">
              <a:spcAft>
                <a:spcPts val="300"/>
              </a:spcAft>
            </a:pPr>
            <a:r>
              <a:rPr sz="1150" b="0">
                <a:solidFill>
                  <a:srgbClr val="5B6372"/>
                </a:solidFill>
                <a:latin typeface="Arial"/>
              </a:rPr>
              <a:t>Recover from failure automatically; meet availability targets.</a:t>
            </a:r>
          </a:p>
        </p:txBody>
      </p:sp>
      <p:sp>
        <p:nvSpPr>
          <p:cNvPr id="22" name="Rectangle 21"/>
          <p:cNvSpPr/>
          <p:nvPr/>
        </p:nvSpPr>
        <p:spPr>
          <a:xfrm>
            <a:off x="6231636" y="3313176"/>
            <a:ext cx="5180076" cy="131064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ectangle 22"/>
          <p:cNvSpPr/>
          <p:nvPr/>
        </p:nvSpPr>
        <p:spPr>
          <a:xfrm>
            <a:off x="6231636" y="3313176"/>
            <a:ext cx="91440" cy="1310640"/>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Oval 23"/>
          <p:cNvSpPr/>
          <p:nvPr/>
        </p:nvSpPr>
        <p:spPr>
          <a:xfrm>
            <a:off x="6487668" y="3694176"/>
            <a:ext cx="548640" cy="548640"/>
          </a:xfrm>
          <a:prstGeom prst="ellipse">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6487668" y="3694176"/>
            <a:ext cx="548640" cy="548640"/>
          </a:xfrm>
          <a:prstGeom prst="rect">
            <a:avLst/>
          </a:prstGeom>
          <a:noFill/>
        </p:spPr>
        <p:txBody>
          <a:bodyPr wrap="square" anchor="ctr">
            <a:spAutoFit/>
          </a:bodyPr>
          <a:lstStyle/>
          <a:p>
            <a:pPr algn="ctr">
              <a:spcAft>
                <a:spcPts val="400"/>
              </a:spcAft>
            </a:pPr>
            <a:r>
              <a:rPr sz="1800" b="1">
                <a:solidFill>
                  <a:srgbClr val="FFFFFF"/>
                </a:solidFill>
                <a:latin typeface="Arial"/>
              </a:rPr>
              <a:t>4</a:t>
            </a:r>
          </a:p>
        </p:txBody>
      </p:sp>
      <p:sp>
        <p:nvSpPr>
          <p:cNvPr id="26" name="TextBox 25"/>
          <p:cNvSpPr txBox="1"/>
          <p:nvPr/>
        </p:nvSpPr>
        <p:spPr>
          <a:xfrm>
            <a:off x="7219188" y="3422904"/>
            <a:ext cx="3973068" cy="1127760"/>
          </a:xfrm>
          <a:prstGeom prst="rect">
            <a:avLst/>
          </a:prstGeom>
          <a:noFill/>
        </p:spPr>
        <p:txBody>
          <a:bodyPr wrap="square" anchor="ctr">
            <a:spAutoFit/>
          </a:bodyPr>
          <a:lstStyle/>
          <a:p>
            <a:pPr algn="l">
              <a:spcAft>
                <a:spcPts val="300"/>
              </a:spcAft>
            </a:pPr>
            <a:r>
              <a:rPr sz="1550" b="1">
                <a:solidFill>
                  <a:srgbClr val="161B26"/>
                </a:solidFill>
                <a:latin typeface="Arial"/>
              </a:rPr>
              <a:t>Performance Efficiency</a:t>
            </a:r>
          </a:p>
          <a:p>
            <a:pPr algn="l">
              <a:spcAft>
                <a:spcPts val="300"/>
              </a:spcAft>
            </a:pPr>
            <a:r>
              <a:rPr sz="1150" b="0">
                <a:solidFill>
                  <a:srgbClr val="5B6372"/>
                </a:solidFill>
                <a:latin typeface="Arial"/>
              </a:rPr>
              <a:t>Use resources efficiently as demand and technology change.</a:t>
            </a:r>
          </a:p>
        </p:txBody>
      </p:sp>
      <p:sp>
        <p:nvSpPr>
          <p:cNvPr id="27" name="Rectangle 26"/>
          <p:cNvSpPr/>
          <p:nvPr/>
        </p:nvSpPr>
        <p:spPr>
          <a:xfrm>
            <a:off x="777240" y="4843272"/>
            <a:ext cx="5180076" cy="131064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Rectangle 27"/>
          <p:cNvSpPr/>
          <p:nvPr/>
        </p:nvSpPr>
        <p:spPr>
          <a:xfrm>
            <a:off x="777240" y="4843272"/>
            <a:ext cx="91440" cy="1310640"/>
          </a:xfrm>
          <a:prstGeom prst="rect">
            <a:avLst/>
          </a:prstGeom>
          <a:solidFill>
            <a:srgbClr val="EC711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Oval 28"/>
          <p:cNvSpPr/>
          <p:nvPr/>
        </p:nvSpPr>
        <p:spPr>
          <a:xfrm>
            <a:off x="1033272" y="5224272"/>
            <a:ext cx="548640" cy="548640"/>
          </a:xfrm>
          <a:prstGeom prst="ellipse">
            <a:avLst/>
          </a:prstGeom>
          <a:solidFill>
            <a:srgbClr val="EC711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1033272" y="5224272"/>
            <a:ext cx="548640" cy="548640"/>
          </a:xfrm>
          <a:prstGeom prst="rect">
            <a:avLst/>
          </a:prstGeom>
          <a:noFill/>
        </p:spPr>
        <p:txBody>
          <a:bodyPr wrap="square" anchor="ctr">
            <a:spAutoFit/>
          </a:bodyPr>
          <a:lstStyle/>
          <a:p>
            <a:pPr algn="ctr">
              <a:spcAft>
                <a:spcPts val="400"/>
              </a:spcAft>
            </a:pPr>
            <a:r>
              <a:rPr sz="1800" b="1">
                <a:solidFill>
                  <a:srgbClr val="FFFFFF"/>
                </a:solidFill>
                <a:latin typeface="Arial"/>
              </a:rPr>
              <a:t>5</a:t>
            </a:r>
          </a:p>
        </p:txBody>
      </p:sp>
      <p:sp>
        <p:nvSpPr>
          <p:cNvPr id="31" name="TextBox 30"/>
          <p:cNvSpPr txBox="1"/>
          <p:nvPr/>
        </p:nvSpPr>
        <p:spPr>
          <a:xfrm>
            <a:off x="1764792" y="4953000"/>
            <a:ext cx="3973068" cy="1127760"/>
          </a:xfrm>
          <a:prstGeom prst="rect">
            <a:avLst/>
          </a:prstGeom>
          <a:noFill/>
        </p:spPr>
        <p:txBody>
          <a:bodyPr wrap="square" anchor="ctr">
            <a:spAutoFit/>
          </a:bodyPr>
          <a:lstStyle/>
          <a:p>
            <a:pPr algn="l">
              <a:spcAft>
                <a:spcPts val="300"/>
              </a:spcAft>
            </a:pPr>
            <a:r>
              <a:rPr sz="1550" b="1">
                <a:solidFill>
                  <a:srgbClr val="161B26"/>
                </a:solidFill>
                <a:latin typeface="Arial"/>
              </a:rPr>
              <a:t>Cost Optimisation</a:t>
            </a:r>
          </a:p>
          <a:p>
            <a:pPr algn="l">
              <a:spcAft>
                <a:spcPts val="300"/>
              </a:spcAft>
            </a:pPr>
            <a:r>
              <a:rPr sz="1150" b="0">
                <a:solidFill>
                  <a:srgbClr val="5B6372"/>
                </a:solidFill>
                <a:latin typeface="Arial"/>
              </a:rPr>
              <a:t>Deliver business value at the lowest price point.</a:t>
            </a:r>
          </a:p>
        </p:txBody>
      </p:sp>
      <p:sp>
        <p:nvSpPr>
          <p:cNvPr id="32" name="Rectangle 31"/>
          <p:cNvSpPr/>
          <p:nvPr/>
        </p:nvSpPr>
        <p:spPr>
          <a:xfrm>
            <a:off x="6231636" y="4843272"/>
            <a:ext cx="5180076" cy="131064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Rectangle 32"/>
          <p:cNvSpPr/>
          <p:nvPr/>
        </p:nvSpPr>
        <p:spPr>
          <a:xfrm>
            <a:off x="6231636" y="4843272"/>
            <a:ext cx="91440" cy="1310640"/>
          </a:xfrm>
          <a:prstGeom prst="rect">
            <a:avLst/>
          </a:prstGeom>
          <a:solidFill>
            <a:srgbClr val="0E9EC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Oval 33"/>
          <p:cNvSpPr/>
          <p:nvPr/>
        </p:nvSpPr>
        <p:spPr>
          <a:xfrm>
            <a:off x="6487668" y="5224272"/>
            <a:ext cx="548640" cy="548640"/>
          </a:xfrm>
          <a:prstGeom prst="ellipse">
            <a:avLst/>
          </a:prstGeom>
          <a:solidFill>
            <a:srgbClr val="0E9EC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TextBox 34"/>
          <p:cNvSpPr txBox="1"/>
          <p:nvPr/>
        </p:nvSpPr>
        <p:spPr>
          <a:xfrm>
            <a:off x="6487668" y="5224272"/>
            <a:ext cx="548640" cy="548640"/>
          </a:xfrm>
          <a:prstGeom prst="rect">
            <a:avLst/>
          </a:prstGeom>
          <a:noFill/>
        </p:spPr>
        <p:txBody>
          <a:bodyPr wrap="square" anchor="ctr">
            <a:spAutoFit/>
          </a:bodyPr>
          <a:lstStyle/>
          <a:p>
            <a:pPr algn="ctr">
              <a:spcAft>
                <a:spcPts val="400"/>
              </a:spcAft>
            </a:pPr>
            <a:r>
              <a:rPr sz="1800" b="1">
                <a:solidFill>
                  <a:srgbClr val="FFFFFF"/>
                </a:solidFill>
                <a:latin typeface="Arial"/>
              </a:rPr>
              <a:t>6</a:t>
            </a:r>
          </a:p>
        </p:txBody>
      </p:sp>
      <p:sp>
        <p:nvSpPr>
          <p:cNvPr id="36" name="TextBox 35"/>
          <p:cNvSpPr txBox="1"/>
          <p:nvPr/>
        </p:nvSpPr>
        <p:spPr>
          <a:xfrm>
            <a:off x="7219188" y="4953000"/>
            <a:ext cx="3973068" cy="1127760"/>
          </a:xfrm>
          <a:prstGeom prst="rect">
            <a:avLst/>
          </a:prstGeom>
          <a:noFill/>
        </p:spPr>
        <p:txBody>
          <a:bodyPr wrap="square" anchor="ctr">
            <a:spAutoFit/>
          </a:bodyPr>
          <a:lstStyle/>
          <a:p>
            <a:pPr algn="l">
              <a:spcAft>
                <a:spcPts val="300"/>
              </a:spcAft>
            </a:pPr>
            <a:r>
              <a:rPr sz="1550" b="1">
                <a:solidFill>
                  <a:srgbClr val="161B26"/>
                </a:solidFill>
                <a:latin typeface="Arial"/>
              </a:rPr>
              <a:t>Sustainability</a:t>
            </a:r>
          </a:p>
          <a:p>
            <a:pPr algn="l">
              <a:spcAft>
                <a:spcPts val="300"/>
              </a:spcAft>
            </a:pPr>
            <a:r>
              <a:rPr sz="1150" b="0">
                <a:solidFill>
                  <a:srgbClr val="5B6372"/>
                </a:solidFill>
                <a:latin typeface="Arial"/>
              </a:rPr>
              <a:t>Minimise the environmental impact of running workloads.</a:t>
            </a:r>
          </a:p>
        </p:txBody>
      </p:sp>
      <p:sp>
        <p:nvSpPr>
          <p:cNvPr id="37" name="TextBox 36"/>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DevOps Engineering on AWS  ·  TGS-2023040474</a:t>
            </a:r>
          </a:p>
        </p:txBody>
      </p:sp>
      <p:sp>
        <p:nvSpPr>
          <p:cNvPr id="38" name="TextBox 37"/>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39" name="TextBox 38"/>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21</a:t>
            </a:r>
          </a:p>
        </p:txBody>
      </p:sp>
    </p:spTree>
  </p:cSld>
  <p:clrMapOvr>
    <a:masterClrMapping/>
  </p:clrMapOvr>
  <p:transition xmlns:p14="http://schemas.microsoft.com/office/powerpoint/2010/main" p14:dur="380">
    <p:fade/>
  </p:transition>
</p:sld>
</file>

<file path=ppt/slides/slide2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38912"/>
            <a:ext cx="10607040" cy="365760"/>
          </a:xfrm>
          <a:prstGeom prst="rect">
            <a:avLst/>
          </a:prstGeom>
          <a:noFill/>
        </p:spPr>
        <p:txBody>
          <a:bodyPr wrap="square" anchor="t">
            <a:spAutoFit/>
          </a:bodyPr>
          <a:lstStyle/>
          <a:p>
            <a:pPr algn="l">
              <a:spcAft>
                <a:spcPts val="400"/>
              </a:spcAft>
            </a:pPr>
            <a:r>
              <a:rPr sz="1400" b="1">
                <a:solidFill>
                  <a:srgbClr val="1F6FEB"/>
                </a:solidFill>
                <a:latin typeface="Arial"/>
              </a:rPr>
              <a:t>HOW THE COURSE IS WEIGHTED</a:t>
            </a:r>
          </a:p>
        </p:txBody>
      </p:sp>
      <p:sp>
        <p:nvSpPr>
          <p:cNvPr id="5" name="TextBox 4"/>
          <p:cNvSpPr txBox="1"/>
          <p:nvPr/>
        </p:nvSpPr>
        <p:spPr>
          <a:xfrm>
            <a:off x="777240" y="804672"/>
            <a:ext cx="10927080" cy="731520"/>
          </a:xfrm>
          <a:prstGeom prst="rect">
            <a:avLst/>
          </a:prstGeom>
          <a:noFill/>
        </p:spPr>
        <p:txBody>
          <a:bodyPr wrap="square" anchor="t">
            <a:spAutoFit/>
          </a:bodyPr>
          <a:lstStyle/>
          <a:p>
            <a:pPr algn="l">
              <a:spcAft>
                <a:spcPts val="400"/>
              </a:spcAft>
            </a:pPr>
            <a:r>
              <a:rPr sz="2900" b="1">
                <a:solidFill>
                  <a:srgbClr val="161B26"/>
                </a:solidFill>
                <a:latin typeface="Arial"/>
              </a:rPr>
              <a:t>Exam / Skills Domain Weightings</a:t>
            </a:r>
          </a:p>
        </p:txBody>
      </p:sp>
      <p:sp>
        <p:nvSpPr>
          <p:cNvPr id="6" name="Rectangle 5"/>
          <p:cNvSpPr/>
          <p:nvPr/>
        </p:nvSpPr>
        <p:spPr>
          <a:xfrm>
            <a:off x="777240" y="1572768"/>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graphicFrame>
        <p:nvGraphicFramePr>
          <p:cNvPr id="7" name="Chart 6"/>
          <p:cNvGraphicFramePr>
            <a:graphicFrameLocks noGrp="1"/>
          </p:cNvGraphicFramePr>
          <p:nvPr/>
        </p:nvGraphicFramePr>
        <p:xfrm>
          <a:off x="777240" y="1828800"/>
          <a:ext cx="10634472" cy="3291840"/>
        </p:xfrm>
        <a:graphic>
          <a:graphicData uri="http://schemas.openxmlformats.org/drawingml/2006/chart">
            <c:chart xmlns:c="http://schemas.openxmlformats.org/drawingml/2006/chart" r:id="rId2"/>
          </a:graphicData>
        </a:graphic>
      </p:graphicFrame>
      <p:sp>
        <p:nvSpPr>
          <p:cNvPr id="8" name="Rectangle 7"/>
          <p:cNvSpPr/>
          <p:nvPr/>
        </p:nvSpPr>
        <p:spPr>
          <a:xfrm>
            <a:off x="777240" y="5349240"/>
            <a:ext cx="10634472" cy="86868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777240" y="5349240"/>
            <a:ext cx="91440" cy="86868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005840" y="5440680"/>
            <a:ext cx="10241280" cy="320040"/>
          </a:xfrm>
          <a:prstGeom prst="rect">
            <a:avLst/>
          </a:prstGeom>
          <a:noFill/>
        </p:spPr>
        <p:txBody>
          <a:bodyPr wrap="square" anchor="t">
            <a:spAutoFit/>
          </a:bodyPr>
          <a:lstStyle/>
          <a:p>
            <a:pPr algn="l">
              <a:spcAft>
                <a:spcPts val="400"/>
              </a:spcAft>
            </a:pPr>
            <a:r>
              <a:rPr sz="1100" b="1">
                <a:solidFill>
                  <a:srgbClr val="1F6FEB"/>
                </a:solidFill>
                <a:latin typeface="Arial"/>
              </a:rPr>
              <a:t>WHAT THE DATA SHOWS</a:t>
            </a:r>
          </a:p>
        </p:txBody>
      </p:sp>
      <p:sp>
        <p:nvSpPr>
          <p:cNvPr id="11" name="TextBox 10"/>
          <p:cNvSpPr txBox="1"/>
          <p:nvPr/>
        </p:nvSpPr>
        <p:spPr>
          <a:xfrm>
            <a:off x="1005840" y="5742432"/>
            <a:ext cx="10241280" cy="457200"/>
          </a:xfrm>
          <a:prstGeom prst="rect">
            <a:avLst/>
          </a:prstGeom>
          <a:noFill/>
        </p:spPr>
        <p:txBody>
          <a:bodyPr wrap="square" anchor="t">
            <a:spAutoFit/>
          </a:bodyPr>
          <a:lstStyle/>
          <a:p>
            <a:pPr algn="l">
              <a:spcAft>
                <a:spcPts val="400"/>
              </a:spcAft>
            </a:pPr>
            <a:r>
              <a:rPr sz="1350" b="0">
                <a:solidFill>
                  <a:srgbClr val="161B26"/>
                </a:solidFill>
                <a:latin typeface="Arial"/>
              </a:rPr>
              <a:t>SDLC Automation (22%) and the two 17% domains — IaC and Security &amp; Compliance — carry the most weight; plan revision time accordingly.</a:t>
            </a:r>
          </a:p>
        </p:txBody>
      </p:sp>
      <p:sp>
        <p:nvSpPr>
          <p:cNvPr id="12" name="TextBox 11"/>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DevOps Engineering on AWS  ·  TGS-2023040474</a:t>
            </a:r>
          </a:p>
        </p:txBody>
      </p:sp>
      <p:sp>
        <p:nvSpPr>
          <p:cNvPr id="13" name="TextBox 12"/>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4" name="TextBox 13"/>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22</a:t>
            </a:r>
          </a:p>
        </p:txBody>
      </p:sp>
    </p:spTree>
  </p:cSld>
  <p:clrMapOvr>
    <a:masterClrMapping/>
  </p:clrMapOvr>
  <p:transition xmlns:p14="http://schemas.microsoft.com/office/powerpoint/2010/main" p14:dur="380">
    <p:fade/>
  </p:transition>
</p:sld>
</file>

<file path=ppt/slides/slide2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38912"/>
            <a:ext cx="10607040" cy="365760"/>
          </a:xfrm>
          <a:prstGeom prst="rect">
            <a:avLst/>
          </a:prstGeom>
          <a:noFill/>
        </p:spPr>
        <p:txBody>
          <a:bodyPr wrap="square" anchor="t">
            <a:spAutoFit/>
          </a:bodyPr>
          <a:lstStyle/>
          <a:p>
            <a:pPr algn="l">
              <a:spcAft>
                <a:spcPts val="400"/>
              </a:spcAft>
            </a:pPr>
            <a:r>
              <a:rPr sz="1400" b="1">
                <a:solidFill>
                  <a:srgbClr val="1F6FEB"/>
                </a:solidFill>
                <a:latin typeface="Arial"/>
              </a:rPr>
              <a:t>WHO SECURES WHAT</a:t>
            </a:r>
          </a:p>
        </p:txBody>
      </p:sp>
      <p:sp>
        <p:nvSpPr>
          <p:cNvPr id="5" name="TextBox 4"/>
          <p:cNvSpPr txBox="1"/>
          <p:nvPr/>
        </p:nvSpPr>
        <p:spPr>
          <a:xfrm>
            <a:off x="777240" y="804672"/>
            <a:ext cx="10927080" cy="731520"/>
          </a:xfrm>
          <a:prstGeom prst="rect">
            <a:avLst/>
          </a:prstGeom>
          <a:noFill/>
        </p:spPr>
        <p:txBody>
          <a:bodyPr wrap="square" anchor="t">
            <a:spAutoFit/>
          </a:bodyPr>
          <a:lstStyle/>
          <a:p>
            <a:pPr algn="l">
              <a:spcAft>
                <a:spcPts val="400"/>
              </a:spcAft>
            </a:pPr>
            <a:r>
              <a:rPr sz="2900" b="1">
                <a:solidFill>
                  <a:srgbClr val="161B26"/>
                </a:solidFill>
                <a:latin typeface="Arial"/>
              </a:rPr>
              <a:t>AWS Shared Responsibility Model</a:t>
            </a:r>
          </a:p>
        </p:txBody>
      </p:sp>
      <p:sp>
        <p:nvSpPr>
          <p:cNvPr id="6" name="Rectangle 5"/>
          <p:cNvSpPr/>
          <p:nvPr/>
        </p:nvSpPr>
        <p:spPr>
          <a:xfrm>
            <a:off x="777240" y="1572768"/>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783080"/>
            <a:ext cx="5212080" cy="429768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6355080" y="1783080"/>
            <a:ext cx="5074920" cy="429768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1005840" y="1965960"/>
            <a:ext cx="4754880" cy="365760"/>
          </a:xfrm>
          <a:prstGeom prst="rect">
            <a:avLst/>
          </a:prstGeom>
          <a:noFill/>
        </p:spPr>
        <p:txBody>
          <a:bodyPr wrap="square" anchor="t">
            <a:spAutoFit/>
          </a:bodyPr>
          <a:lstStyle/>
          <a:p>
            <a:pPr algn="l">
              <a:spcAft>
                <a:spcPts val="400"/>
              </a:spcAft>
            </a:pPr>
            <a:r>
              <a:rPr sz="1600" b="1">
                <a:solidFill>
                  <a:srgbClr val="1F6FEB"/>
                </a:solidFill>
                <a:latin typeface="Arial"/>
              </a:rPr>
              <a:t>AWS responsibility</a:t>
            </a:r>
          </a:p>
        </p:txBody>
      </p:sp>
      <p:sp>
        <p:nvSpPr>
          <p:cNvPr id="10" name="TextBox 9"/>
          <p:cNvSpPr txBox="1"/>
          <p:nvPr/>
        </p:nvSpPr>
        <p:spPr>
          <a:xfrm>
            <a:off x="6583680" y="1965960"/>
            <a:ext cx="4572000" cy="365760"/>
          </a:xfrm>
          <a:prstGeom prst="rect">
            <a:avLst/>
          </a:prstGeom>
          <a:noFill/>
        </p:spPr>
        <p:txBody>
          <a:bodyPr wrap="square" anchor="t">
            <a:spAutoFit/>
          </a:bodyPr>
          <a:lstStyle/>
          <a:p>
            <a:pPr algn="l">
              <a:spcAft>
                <a:spcPts val="400"/>
              </a:spcAft>
            </a:pPr>
            <a:r>
              <a:rPr sz="1600" b="1">
                <a:solidFill>
                  <a:srgbClr val="10B981"/>
                </a:solidFill>
                <a:latin typeface="Arial"/>
              </a:rPr>
              <a:t>Your responsibility</a:t>
            </a:r>
          </a:p>
        </p:txBody>
      </p:sp>
      <p:sp>
        <p:nvSpPr>
          <p:cNvPr id="11" name="TextBox 10"/>
          <p:cNvSpPr txBox="1"/>
          <p:nvPr/>
        </p:nvSpPr>
        <p:spPr>
          <a:xfrm>
            <a:off x="1005840" y="2468880"/>
            <a:ext cx="4754880" cy="3474720"/>
          </a:xfrm>
          <a:prstGeom prst="rect">
            <a:avLst/>
          </a:prstGeom>
          <a:noFill/>
        </p:spPr>
        <p:txBody>
          <a:bodyPr wrap="square">
            <a:spAutoFit/>
          </a:bodyPr>
          <a:lstStyle/>
          <a:p>
            <a:pPr>
              <a:spcAft>
                <a:spcPts val="1000"/>
              </a:spcAft>
            </a:pPr>
            <a:r>
              <a:rPr sz="1500" b="0">
                <a:solidFill>
                  <a:srgbClr val="161B26"/>
                </a:solidFill>
                <a:latin typeface="Arial"/>
              </a:rPr>
              <a:t>•  AWS — security OF the cloud</a:t>
            </a:r>
          </a:p>
          <a:p>
            <a:pPr>
              <a:spcAft>
                <a:spcPts val="1000"/>
              </a:spcAft>
            </a:pPr>
            <a:r>
              <a:rPr sz="1300" b="0">
                <a:solidFill>
                  <a:srgbClr val="5B6372"/>
                </a:solidFill>
                <a:latin typeface="Arial"/>
              </a:rPr>
              <a:t>–  Physical data centres &amp; hardware</a:t>
            </a:r>
          </a:p>
          <a:p>
            <a:pPr>
              <a:spcAft>
                <a:spcPts val="1000"/>
              </a:spcAft>
            </a:pPr>
            <a:r>
              <a:rPr sz="1300" b="0">
                <a:solidFill>
                  <a:srgbClr val="5B6372"/>
                </a:solidFill>
                <a:latin typeface="Arial"/>
              </a:rPr>
              <a:t>–  Global network &amp; virtualisation layer</a:t>
            </a:r>
          </a:p>
          <a:p>
            <a:pPr>
              <a:spcAft>
                <a:spcPts val="1000"/>
              </a:spcAft>
            </a:pPr>
            <a:r>
              <a:rPr sz="1300" b="0">
                <a:solidFill>
                  <a:srgbClr val="5B6372"/>
                </a:solidFill>
                <a:latin typeface="Arial"/>
              </a:rPr>
              <a:t>–  Managed-service infrastructure</a:t>
            </a:r>
          </a:p>
          <a:p>
            <a:pPr>
              <a:spcAft>
                <a:spcPts val="1000"/>
              </a:spcAft>
            </a:pPr>
            <a:r>
              <a:rPr sz="1300" b="0">
                <a:solidFill>
                  <a:srgbClr val="5B6372"/>
                </a:solidFill>
                <a:latin typeface="Arial"/>
              </a:rPr>
              <a:t>–  Availability Zones and Regions</a:t>
            </a:r>
          </a:p>
        </p:txBody>
      </p:sp>
      <p:sp>
        <p:nvSpPr>
          <p:cNvPr id="12" name="TextBox 11"/>
          <p:cNvSpPr txBox="1"/>
          <p:nvPr/>
        </p:nvSpPr>
        <p:spPr>
          <a:xfrm>
            <a:off x="6583680" y="2468880"/>
            <a:ext cx="4617720" cy="3474720"/>
          </a:xfrm>
          <a:prstGeom prst="rect">
            <a:avLst/>
          </a:prstGeom>
          <a:noFill/>
        </p:spPr>
        <p:txBody>
          <a:bodyPr wrap="square">
            <a:spAutoFit/>
          </a:bodyPr>
          <a:lstStyle/>
          <a:p>
            <a:pPr>
              <a:spcAft>
                <a:spcPts val="1000"/>
              </a:spcAft>
            </a:pPr>
            <a:r>
              <a:rPr sz="1500" b="0">
                <a:solidFill>
                  <a:srgbClr val="161B26"/>
                </a:solidFill>
                <a:latin typeface="Arial"/>
              </a:rPr>
              <a:t>•  You — security IN the cloud</a:t>
            </a:r>
          </a:p>
          <a:p>
            <a:pPr>
              <a:spcAft>
                <a:spcPts val="1000"/>
              </a:spcAft>
            </a:pPr>
            <a:r>
              <a:rPr sz="1300" b="0">
                <a:solidFill>
                  <a:srgbClr val="5B6372"/>
                </a:solidFill>
                <a:latin typeface="Arial"/>
              </a:rPr>
              <a:t>–  IAM, identities and permissions</a:t>
            </a:r>
          </a:p>
          <a:p>
            <a:pPr>
              <a:spcAft>
                <a:spcPts val="1000"/>
              </a:spcAft>
            </a:pPr>
            <a:r>
              <a:rPr sz="1300" b="0">
                <a:solidFill>
                  <a:srgbClr val="5B6372"/>
                </a:solidFill>
                <a:latin typeface="Arial"/>
              </a:rPr>
              <a:t>–  OS, network &amp; firewall configuration</a:t>
            </a:r>
          </a:p>
          <a:p>
            <a:pPr>
              <a:spcAft>
                <a:spcPts val="1000"/>
              </a:spcAft>
            </a:pPr>
            <a:r>
              <a:rPr sz="1300" b="0">
                <a:solidFill>
                  <a:srgbClr val="5B6372"/>
                </a:solidFill>
                <a:latin typeface="Arial"/>
              </a:rPr>
              <a:t>–  Application code &amp; data encryption</a:t>
            </a:r>
          </a:p>
          <a:p>
            <a:pPr>
              <a:spcAft>
                <a:spcPts val="1000"/>
              </a:spcAft>
            </a:pPr>
            <a:r>
              <a:rPr sz="1300" b="0">
                <a:solidFill>
                  <a:srgbClr val="5B6372"/>
                </a:solidFill>
                <a:latin typeface="Arial"/>
              </a:rPr>
              <a:t>–  Patching guest OS and dependencies</a:t>
            </a:r>
          </a:p>
        </p:txBody>
      </p:sp>
      <p:sp>
        <p:nvSpPr>
          <p:cNvPr id="13" name="TextBox 12"/>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DevOps Engineering on AWS  ·  TGS-2023040474</a:t>
            </a:r>
          </a:p>
        </p:txBody>
      </p:sp>
      <p:sp>
        <p:nvSpPr>
          <p:cNvPr id="14" name="TextBox 13"/>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5" name="TextBox 14"/>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23</a:t>
            </a:r>
          </a:p>
        </p:txBody>
      </p:sp>
    </p:spTree>
  </p:cSld>
  <p:clrMapOvr>
    <a:masterClrMapping/>
  </p:clrMapOvr>
  <p:transition xmlns:p14="http://schemas.microsoft.com/office/powerpoint/2010/main" p14:dur="380">
    <p:fade/>
  </p:transition>
</p:sld>
</file>

<file path=ppt/slides/slide2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38912"/>
            <a:ext cx="10607040" cy="365760"/>
          </a:xfrm>
          <a:prstGeom prst="rect">
            <a:avLst/>
          </a:prstGeom>
          <a:noFill/>
        </p:spPr>
        <p:txBody>
          <a:bodyPr wrap="square" anchor="t">
            <a:spAutoFit/>
          </a:bodyPr>
          <a:lstStyle/>
          <a:p>
            <a:pPr algn="l">
              <a:spcAft>
                <a:spcPts val="400"/>
              </a:spcAft>
            </a:pPr>
            <a:r>
              <a:rPr sz="1400" b="1">
                <a:solidFill>
                  <a:srgbClr val="7C3AED"/>
                </a:solidFill>
                <a:latin typeface="Arial"/>
              </a:rPr>
              <a:t>THE SERVICES YOU'LL USE</a:t>
            </a:r>
          </a:p>
        </p:txBody>
      </p:sp>
      <p:sp>
        <p:nvSpPr>
          <p:cNvPr id="5" name="TextBox 4"/>
          <p:cNvSpPr txBox="1"/>
          <p:nvPr/>
        </p:nvSpPr>
        <p:spPr>
          <a:xfrm>
            <a:off x="777240" y="804672"/>
            <a:ext cx="10927080" cy="731520"/>
          </a:xfrm>
          <a:prstGeom prst="rect">
            <a:avLst/>
          </a:prstGeom>
          <a:noFill/>
        </p:spPr>
        <p:txBody>
          <a:bodyPr wrap="square" anchor="t">
            <a:spAutoFit/>
          </a:bodyPr>
          <a:lstStyle/>
          <a:p>
            <a:pPr algn="l">
              <a:spcAft>
                <a:spcPts val="400"/>
              </a:spcAft>
            </a:pPr>
            <a:r>
              <a:rPr sz="2900" b="1">
                <a:solidFill>
                  <a:srgbClr val="161B26"/>
                </a:solidFill>
                <a:latin typeface="Arial"/>
              </a:rPr>
              <a:t>Core AWS Building Blocks</a:t>
            </a:r>
          </a:p>
        </p:txBody>
      </p:sp>
      <p:sp>
        <p:nvSpPr>
          <p:cNvPr id="6" name="Rectangle 5"/>
          <p:cNvSpPr/>
          <p:nvPr/>
        </p:nvSpPr>
        <p:spPr>
          <a:xfrm>
            <a:off x="777240" y="1572768"/>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783080"/>
            <a:ext cx="5180076" cy="131064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1783080"/>
            <a:ext cx="91440" cy="131064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1033272" y="2164080"/>
            <a:ext cx="548640" cy="548640"/>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033272" y="2164080"/>
            <a:ext cx="548640" cy="548640"/>
          </a:xfrm>
          <a:prstGeom prst="rect">
            <a:avLst/>
          </a:prstGeom>
          <a:noFill/>
        </p:spPr>
        <p:txBody>
          <a:bodyPr wrap="square" anchor="ctr">
            <a:spAutoFit/>
          </a:bodyPr>
          <a:lstStyle/>
          <a:p>
            <a:pPr algn="ctr">
              <a:spcAft>
                <a:spcPts val="400"/>
              </a:spcAft>
            </a:pPr>
            <a:r>
              <a:rPr sz="1800" b="1">
                <a:solidFill>
                  <a:srgbClr val="FFFFFF"/>
                </a:solidFill>
                <a:latin typeface="Arial"/>
              </a:rPr>
              <a:t>1</a:t>
            </a:r>
          </a:p>
        </p:txBody>
      </p:sp>
      <p:sp>
        <p:nvSpPr>
          <p:cNvPr id="11" name="TextBox 10"/>
          <p:cNvSpPr txBox="1"/>
          <p:nvPr/>
        </p:nvSpPr>
        <p:spPr>
          <a:xfrm>
            <a:off x="1764792" y="1892808"/>
            <a:ext cx="3973068" cy="1127760"/>
          </a:xfrm>
          <a:prstGeom prst="rect">
            <a:avLst/>
          </a:prstGeom>
          <a:noFill/>
        </p:spPr>
        <p:txBody>
          <a:bodyPr wrap="square" anchor="ctr">
            <a:spAutoFit/>
          </a:bodyPr>
          <a:lstStyle/>
          <a:p>
            <a:pPr algn="l">
              <a:spcAft>
                <a:spcPts val="300"/>
              </a:spcAft>
            </a:pPr>
            <a:r>
              <a:rPr sz="1550" b="1">
                <a:solidFill>
                  <a:srgbClr val="161B26"/>
                </a:solidFill>
                <a:latin typeface="Arial"/>
              </a:rPr>
              <a:t>Compute</a:t>
            </a:r>
          </a:p>
          <a:p>
            <a:pPr algn="l">
              <a:spcAft>
                <a:spcPts val="300"/>
              </a:spcAft>
            </a:pPr>
            <a:r>
              <a:rPr sz="1150" b="0">
                <a:solidFill>
                  <a:srgbClr val="5B6372"/>
                </a:solidFill>
                <a:latin typeface="Arial"/>
              </a:rPr>
              <a:t>EC2, ECS/EKS, Lambda, Auto Scaling.</a:t>
            </a:r>
          </a:p>
        </p:txBody>
      </p:sp>
      <p:sp>
        <p:nvSpPr>
          <p:cNvPr id="12" name="Rectangle 11"/>
          <p:cNvSpPr/>
          <p:nvPr/>
        </p:nvSpPr>
        <p:spPr>
          <a:xfrm>
            <a:off x="6231636" y="1783080"/>
            <a:ext cx="5180076" cy="131064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6231636" y="1783080"/>
            <a:ext cx="91440" cy="131064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Oval 13"/>
          <p:cNvSpPr/>
          <p:nvPr/>
        </p:nvSpPr>
        <p:spPr>
          <a:xfrm>
            <a:off x="6487668" y="2164080"/>
            <a:ext cx="548640" cy="54864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6487668" y="2164080"/>
            <a:ext cx="548640" cy="548640"/>
          </a:xfrm>
          <a:prstGeom prst="rect">
            <a:avLst/>
          </a:prstGeom>
          <a:noFill/>
        </p:spPr>
        <p:txBody>
          <a:bodyPr wrap="square" anchor="ctr">
            <a:spAutoFit/>
          </a:bodyPr>
          <a:lstStyle/>
          <a:p>
            <a:pPr algn="ctr">
              <a:spcAft>
                <a:spcPts val="400"/>
              </a:spcAft>
            </a:pPr>
            <a:r>
              <a:rPr sz="1800" b="1">
                <a:solidFill>
                  <a:srgbClr val="FFFFFF"/>
                </a:solidFill>
                <a:latin typeface="Arial"/>
              </a:rPr>
              <a:t>2</a:t>
            </a:r>
          </a:p>
        </p:txBody>
      </p:sp>
      <p:sp>
        <p:nvSpPr>
          <p:cNvPr id="16" name="TextBox 15"/>
          <p:cNvSpPr txBox="1"/>
          <p:nvPr/>
        </p:nvSpPr>
        <p:spPr>
          <a:xfrm>
            <a:off x="7219188" y="1892808"/>
            <a:ext cx="3973068" cy="1127760"/>
          </a:xfrm>
          <a:prstGeom prst="rect">
            <a:avLst/>
          </a:prstGeom>
          <a:noFill/>
        </p:spPr>
        <p:txBody>
          <a:bodyPr wrap="square" anchor="ctr">
            <a:spAutoFit/>
          </a:bodyPr>
          <a:lstStyle/>
          <a:p>
            <a:pPr algn="l">
              <a:spcAft>
                <a:spcPts val="300"/>
              </a:spcAft>
            </a:pPr>
            <a:r>
              <a:rPr sz="1550" b="1">
                <a:solidFill>
                  <a:srgbClr val="161B26"/>
                </a:solidFill>
                <a:latin typeface="Arial"/>
              </a:rPr>
              <a:t>Networking</a:t>
            </a:r>
          </a:p>
          <a:p>
            <a:pPr algn="l">
              <a:spcAft>
                <a:spcPts val="300"/>
              </a:spcAft>
            </a:pPr>
            <a:r>
              <a:rPr sz="1150" b="0">
                <a:solidFill>
                  <a:srgbClr val="5B6372"/>
                </a:solidFill>
                <a:latin typeface="Arial"/>
              </a:rPr>
              <a:t>VPC, subnets, security groups, ELB, Route 53.</a:t>
            </a:r>
          </a:p>
        </p:txBody>
      </p:sp>
      <p:sp>
        <p:nvSpPr>
          <p:cNvPr id="17" name="Rectangle 16"/>
          <p:cNvSpPr/>
          <p:nvPr/>
        </p:nvSpPr>
        <p:spPr>
          <a:xfrm>
            <a:off x="777240" y="3313176"/>
            <a:ext cx="5180076" cy="131064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777240" y="3313176"/>
            <a:ext cx="91440" cy="1310640"/>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Oval 18"/>
          <p:cNvSpPr/>
          <p:nvPr/>
        </p:nvSpPr>
        <p:spPr>
          <a:xfrm>
            <a:off x="1033272" y="3694176"/>
            <a:ext cx="548640" cy="548640"/>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1033272" y="3694176"/>
            <a:ext cx="548640" cy="548640"/>
          </a:xfrm>
          <a:prstGeom prst="rect">
            <a:avLst/>
          </a:prstGeom>
          <a:noFill/>
        </p:spPr>
        <p:txBody>
          <a:bodyPr wrap="square" anchor="ctr">
            <a:spAutoFit/>
          </a:bodyPr>
          <a:lstStyle/>
          <a:p>
            <a:pPr algn="ctr">
              <a:spcAft>
                <a:spcPts val="400"/>
              </a:spcAft>
            </a:pPr>
            <a:r>
              <a:rPr sz="1800" b="1">
                <a:solidFill>
                  <a:srgbClr val="FFFFFF"/>
                </a:solidFill>
                <a:latin typeface="Arial"/>
              </a:rPr>
              <a:t>3</a:t>
            </a:r>
          </a:p>
        </p:txBody>
      </p:sp>
      <p:sp>
        <p:nvSpPr>
          <p:cNvPr id="21" name="TextBox 20"/>
          <p:cNvSpPr txBox="1"/>
          <p:nvPr/>
        </p:nvSpPr>
        <p:spPr>
          <a:xfrm>
            <a:off x="1764792" y="3422904"/>
            <a:ext cx="3973068" cy="1127760"/>
          </a:xfrm>
          <a:prstGeom prst="rect">
            <a:avLst/>
          </a:prstGeom>
          <a:noFill/>
        </p:spPr>
        <p:txBody>
          <a:bodyPr wrap="square" anchor="ctr">
            <a:spAutoFit/>
          </a:bodyPr>
          <a:lstStyle/>
          <a:p>
            <a:pPr algn="l">
              <a:spcAft>
                <a:spcPts val="300"/>
              </a:spcAft>
            </a:pPr>
            <a:r>
              <a:rPr sz="1550" b="1">
                <a:solidFill>
                  <a:srgbClr val="161B26"/>
                </a:solidFill>
                <a:latin typeface="Arial"/>
              </a:rPr>
              <a:t>Storage &amp; data</a:t>
            </a:r>
          </a:p>
          <a:p>
            <a:pPr algn="l">
              <a:spcAft>
                <a:spcPts val="300"/>
              </a:spcAft>
            </a:pPr>
            <a:r>
              <a:rPr sz="1150" b="0">
                <a:solidFill>
                  <a:srgbClr val="5B6372"/>
                </a:solidFill>
                <a:latin typeface="Arial"/>
              </a:rPr>
              <a:t>S3, EBS, RDS, DynamoDB.</a:t>
            </a:r>
          </a:p>
        </p:txBody>
      </p:sp>
      <p:sp>
        <p:nvSpPr>
          <p:cNvPr id="22" name="Rectangle 21"/>
          <p:cNvSpPr/>
          <p:nvPr/>
        </p:nvSpPr>
        <p:spPr>
          <a:xfrm>
            <a:off x="6231636" y="3313176"/>
            <a:ext cx="5180076" cy="131064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ectangle 22"/>
          <p:cNvSpPr/>
          <p:nvPr/>
        </p:nvSpPr>
        <p:spPr>
          <a:xfrm>
            <a:off x="6231636" y="3313176"/>
            <a:ext cx="91440" cy="1310640"/>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Oval 23"/>
          <p:cNvSpPr/>
          <p:nvPr/>
        </p:nvSpPr>
        <p:spPr>
          <a:xfrm>
            <a:off x="6487668" y="3694176"/>
            <a:ext cx="548640" cy="548640"/>
          </a:xfrm>
          <a:prstGeom prst="ellipse">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6487668" y="3694176"/>
            <a:ext cx="548640" cy="548640"/>
          </a:xfrm>
          <a:prstGeom prst="rect">
            <a:avLst/>
          </a:prstGeom>
          <a:noFill/>
        </p:spPr>
        <p:txBody>
          <a:bodyPr wrap="square" anchor="ctr">
            <a:spAutoFit/>
          </a:bodyPr>
          <a:lstStyle/>
          <a:p>
            <a:pPr algn="ctr">
              <a:spcAft>
                <a:spcPts val="400"/>
              </a:spcAft>
            </a:pPr>
            <a:r>
              <a:rPr sz="1800" b="1">
                <a:solidFill>
                  <a:srgbClr val="FFFFFF"/>
                </a:solidFill>
                <a:latin typeface="Arial"/>
              </a:rPr>
              <a:t>4</a:t>
            </a:r>
          </a:p>
        </p:txBody>
      </p:sp>
      <p:sp>
        <p:nvSpPr>
          <p:cNvPr id="26" name="TextBox 25"/>
          <p:cNvSpPr txBox="1"/>
          <p:nvPr/>
        </p:nvSpPr>
        <p:spPr>
          <a:xfrm>
            <a:off x="7219188" y="3422904"/>
            <a:ext cx="3973068" cy="1127760"/>
          </a:xfrm>
          <a:prstGeom prst="rect">
            <a:avLst/>
          </a:prstGeom>
          <a:noFill/>
        </p:spPr>
        <p:txBody>
          <a:bodyPr wrap="square" anchor="ctr">
            <a:spAutoFit/>
          </a:bodyPr>
          <a:lstStyle/>
          <a:p>
            <a:pPr algn="l">
              <a:spcAft>
                <a:spcPts val="300"/>
              </a:spcAft>
            </a:pPr>
            <a:r>
              <a:rPr sz="1550" b="1">
                <a:solidFill>
                  <a:srgbClr val="161B26"/>
                </a:solidFill>
                <a:latin typeface="Arial"/>
              </a:rPr>
              <a:t>Identity &amp; security</a:t>
            </a:r>
          </a:p>
          <a:p>
            <a:pPr algn="l">
              <a:spcAft>
                <a:spcPts val="300"/>
              </a:spcAft>
            </a:pPr>
            <a:r>
              <a:rPr sz="1150" b="0">
                <a:solidFill>
                  <a:srgbClr val="5B6372"/>
                </a:solidFill>
                <a:latin typeface="Arial"/>
              </a:rPr>
              <a:t>IAM, KMS, Secrets Manager, Config.</a:t>
            </a:r>
          </a:p>
        </p:txBody>
      </p:sp>
      <p:sp>
        <p:nvSpPr>
          <p:cNvPr id="27" name="Rectangle 26"/>
          <p:cNvSpPr/>
          <p:nvPr/>
        </p:nvSpPr>
        <p:spPr>
          <a:xfrm>
            <a:off x="777240" y="4843272"/>
            <a:ext cx="5180076" cy="131064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Rectangle 27"/>
          <p:cNvSpPr/>
          <p:nvPr/>
        </p:nvSpPr>
        <p:spPr>
          <a:xfrm>
            <a:off x="777240" y="4843272"/>
            <a:ext cx="91440" cy="1310640"/>
          </a:xfrm>
          <a:prstGeom prst="rect">
            <a:avLst/>
          </a:prstGeom>
          <a:solidFill>
            <a:srgbClr val="EC711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Oval 28"/>
          <p:cNvSpPr/>
          <p:nvPr/>
        </p:nvSpPr>
        <p:spPr>
          <a:xfrm>
            <a:off x="1033272" y="5224272"/>
            <a:ext cx="548640" cy="548640"/>
          </a:xfrm>
          <a:prstGeom prst="ellipse">
            <a:avLst/>
          </a:prstGeom>
          <a:solidFill>
            <a:srgbClr val="EC711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1033272" y="5224272"/>
            <a:ext cx="548640" cy="548640"/>
          </a:xfrm>
          <a:prstGeom prst="rect">
            <a:avLst/>
          </a:prstGeom>
          <a:noFill/>
        </p:spPr>
        <p:txBody>
          <a:bodyPr wrap="square" anchor="ctr">
            <a:spAutoFit/>
          </a:bodyPr>
          <a:lstStyle/>
          <a:p>
            <a:pPr algn="ctr">
              <a:spcAft>
                <a:spcPts val="400"/>
              </a:spcAft>
            </a:pPr>
            <a:r>
              <a:rPr sz="1800" b="1">
                <a:solidFill>
                  <a:srgbClr val="FFFFFF"/>
                </a:solidFill>
                <a:latin typeface="Arial"/>
              </a:rPr>
              <a:t>5</a:t>
            </a:r>
          </a:p>
        </p:txBody>
      </p:sp>
      <p:sp>
        <p:nvSpPr>
          <p:cNvPr id="31" name="TextBox 30"/>
          <p:cNvSpPr txBox="1"/>
          <p:nvPr/>
        </p:nvSpPr>
        <p:spPr>
          <a:xfrm>
            <a:off x="1764792" y="4953000"/>
            <a:ext cx="3973068" cy="1127760"/>
          </a:xfrm>
          <a:prstGeom prst="rect">
            <a:avLst/>
          </a:prstGeom>
          <a:noFill/>
        </p:spPr>
        <p:txBody>
          <a:bodyPr wrap="square" anchor="ctr">
            <a:spAutoFit/>
          </a:bodyPr>
          <a:lstStyle/>
          <a:p>
            <a:pPr algn="l">
              <a:spcAft>
                <a:spcPts val="300"/>
              </a:spcAft>
            </a:pPr>
            <a:r>
              <a:rPr sz="1550" b="1">
                <a:solidFill>
                  <a:srgbClr val="161B26"/>
                </a:solidFill>
                <a:latin typeface="Arial"/>
              </a:rPr>
              <a:t>Developer tools</a:t>
            </a:r>
          </a:p>
          <a:p>
            <a:pPr algn="l">
              <a:spcAft>
                <a:spcPts val="300"/>
              </a:spcAft>
            </a:pPr>
            <a:r>
              <a:rPr sz="1150" b="0">
                <a:solidFill>
                  <a:srgbClr val="5B6372"/>
                </a:solidFill>
                <a:latin typeface="Arial"/>
              </a:rPr>
              <a:t>CodePipeline, CodeBuild, CodeDeploy, CloudFormation.</a:t>
            </a:r>
          </a:p>
        </p:txBody>
      </p:sp>
      <p:sp>
        <p:nvSpPr>
          <p:cNvPr id="32" name="Rectangle 31"/>
          <p:cNvSpPr/>
          <p:nvPr/>
        </p:nvSpPr>
        <p:spPr>
          <a:xfrm>
            <a:off x="6231636" y="4843272"/>
            <a:ext cx="5180076" cy="131064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Rectangle 32"/>
          <p:cNvSpPr/>
          <p:nvPr/>
        </p:nvSpPr>
        <p:spPr>
          <a:xfrm>
            <a:off x="6231636" y="4843272"/>
            <a:ext cx="91440" cy="1310640"/>
          </a:xfrm>
          <a:prstGeom prst="rect">
            <a:avLst/>
          </a:prstGeom>
          <a:solidFill>
            <a:srgbClr val="0E9EC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Oval 33"/>
          <p:cNvSpPr/>
          <p:nvPr/>
        </p:nvSpPr>
        <p:spPr>
          <a:xfrm>
            <a:off x="6487668" y="5224272"/>
            <a:ext cx="548640" cy="548640"/>
          </a:xfrm>
          <a:prstGeom prst="ellipse">
            <a:avLst/>
          </a:prstGeom>
          <a:solidFill>
            <a:srgbClr val="0E9EC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TextBox 34"/>
          <p:cNvSpPr txBox="1"/>
          <p:nvPr/>
        </p:nvSpPr>
        <p:spPr>
          <a:xfrm>
            <a:off x="6487668" y="5224272"/>
            <a:ext cx="548640" cy="548640"/>
          </a:xfrm>
          <a:prstGeom prst="rect">
            <a:avLst/>
          </a:prstGeom>
          <a:noFill/>
        </p:spPr>
        <p:txBody>
          <a:bodyPr wrap="square" anchor="ctr">
            <a:spAutoFit/>
          </a:bodyPr>
          <a:lstStyle/>
          <a:p>
            <a:pPr algn="ctr">
              <a:spcAft>
                <a:spcPts val="400"/>
              </a:spcAft>
            </a:pPr>
            <a:r>
              <a:rPr sz="1800" b="1">
                <a:solidFill>
                  <a:srgbClr val="FFFFFF"/>
                </a:solidFill>
                <a:latin typeface="Arial"/>
              </a:rPr>
              <a:t>6</a:t>
            </a:r>
          </a:p>
        </p:txBody>
      </p:sp>
      <p:sp>
        <p:nvSpPr>
          <p:cNvPr id="36" name="TextBox 35"/>
          <p:cNvSpPr txBox="1"/>
          <p:nvPr/>
        </p:nvSpPr>
        <p:spPr>
          <a:xfrm>
            <a:off x="7219188" y="4953000"/>
            <a:ext cx="3973068" cy="1127760"/>
          </a:xfrm>
          <a:prstGeom prst="rect">
            <a:avLst/>
          </a:prstGeom>
          <a:noFill/>
        </p:spPr>
        <p:txBody>
          <a:bodyPr wrap="square" anchor="ctr">
            <a:spAutoFit/>
          </a:bodyPr>
          <a:lstStyle/>
          <a:p>
            <a:pPr algn="l">
              <a:spcAft>
                <a:spcPts val="300"/>
              </a:spcAft>
            </a:pPr>
            <a:r>
              <a:rPr sz="1550" b="1">
                <a:solidFill>
                  <a:srgbClr val="161B26"/>
                </a:solidFill>
                <a:latin typeface="Arial"/>
              </a:rPr>
              <a:t>Observability</a:t>
            </a:r>
          </a:p>
          <a:p>
            <a:pPr algn="l">
              <a:spcAft>
                <a:spcPts val="300"/>
              </a:spcAft>
            </a:pPr>
            <a:r>
              <a:rPr sz="1150" b="0">
                <a:solidFill>
                  <a:srgbClr val="5B6372"/>
                </a:solidFill>
                <a:latin typeface="Arial"/>
              </a:rPr>
              <a:t>CloudWatch, X-Ray, CloudTrail, EventBridge.</a:t>
            </a:r>
          </a:p>
        </p:txBody>
      </p:sp>
      <p:sp>
        <p:nvSpPr>
          <p:cNvPr id="37" name="TextBox 36"/>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DevOps Engineering on AWS  ·  TGS-2023040474</a:t>
            </a:r>
          </a:p>
        </p:txBody>
      </p:sp>
      <p:sp>
        <p:nvSpPr>
          <p:cNvPr id="38" name="TextBox 37"/>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39" name="TextBox 38"/>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24</a:t>
            </a:r>
          </a:p>
        </p:txBody>
      </p:sp>
    </p:spTree>
  </p:cSld>
  <p:clrMapOvr>
    <a:masterClrMapping/>
  </p:clrMapOvr>
  <p:transition xmlns:p14="http://schemas.microsoft.com/office/powerpoint/2010/main" p14:dur="380">
    <p:fade/>
  </p:transition>
</p:sld>
</file>

<file path=ppt/slides/slide2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38912"/>
            <a:ext cx="10607040" cy="365760"/>
          </a:xfrm>
          <a:prstGeom prst="rect">
            <a:avLst/>
          </a:prstGeom>
          <a:noFill/>
        </p:spPr>
        <p:txBody>
          <a:bodyPr wrap="square" anchor="t">
            <a:spAutoFit/>
          </a:bodyPr>
          <a:lstStyle/>
          <a:p>
            <a:pPr algn="l">
              <a:spcAft>
                <a:spcPts val="400"/>
              </a:spcAft>
            </a:pPr>
            <a:r>
              <a:rPr sz="1400" b="1">
                <a:solidFill>
                  <a:srgbClr val="10B981"/>
                </a:solidFill>
                <a:latin typeface="Arial"/>
              </a:rPr>
              <a:t>THE BUSINESS CASE</a:t>
            </a:r>
          </a:p>
        </p:txBody>
      </p:sp>
      <p:sp>
        <p:nvSpPr>
          <p:cNvPr id="5" name="TextBox 4"/>
          <p:cNvSpPr txBox="1"/>
          <p:nvPr/>
        </p:nvSpPr>
        <p:spPr>
          <a:xfrm>
            <a:off x="777240" y="896112"/>
            <a:ext cx="10927080" cy="731520"/>
          </a:xfrm>
          <a:prstGeom prst="rect">
            <a:avLst/>
          </a:prstGeom>
          <a:noFill/>
        </p:spPr>
        <p:txBody>
          <a:bodyPr wrap="square" anchor="t">
            <a:spAutoFit/>
          </a:bodyPr>
          <a:lstStyle/>
          <a:p>
            <a:pPr algn="l">
              <a:spcAft>
                <a:spcPts val="400"/>
              </a:spcAft>
            </a:pPr>
            <a:r>
              <a:rPr sz="2500" b="1">
                <a:solidFill>
                  <a:srgbClr val="161B26"/>
                </a:solidFill>
                <a:latin typeface="Arial"/>
              </a:rPr>
              <a:t>Why CI/CD — Release Frequency &amp; Lead Time</a:t>
            </a:r>
          </a:p>
        </p:txBody>
      </p:sp>
      <p:sp>
        <p:nvSpPr>
          <p:cNvPr id="6" name="Rectangle 5"/>
          <p:cNvSpPr/>
          <p:nvPr/>
        </p:nvSpPr>
        <p:spPr>
          <a:xfrm>
            <a:off x="777240" y="1572768"/>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graphicFrame>
        <p:nvGraphicFramePr>
          <p:cNvPr id="7" name="Chart 6"/>
          <p:cNvGraphicFramePr>
            <a:graphicFrameLocks noGrp="1"/>
          </p:cNvGraphicFramePr>
          <p:nvPr/>
        </p:nvGraphicFramePr>
        <p:xfrm>
          <a:off x="777240" y="1828800"/>
          <a:ext cx="10634472" cy="3291840"/>
        </p:xfrm>
        <a:graphic>
          <a:graphicData uri="http://schemas.openxmlformats.org/drawingml/2006/chart">
            <c:chart xmlns:c="http://schemas.openxmlformats.org/drawingml/2006/chart" r:id="rId2"/>
          </a:graphicData>
        </a:graphic>
      </p:graphicFrame>
      <p:sp>
        <p:nvSpPr>
          <p:cNvPr id="8" name="Rectangle 7"/>
          <p:cNvSpPr/>
          <p:nvPr/>
        </p:nvSpPr>
        <p:spPr>
          <a:xfrm>
            <a:off x="777240" y="5349240"/>
            <a:ext cx="10634472" cy="86868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777240" y="5349240"/>
            <a:ext cx="91440" cy="86868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005840" y="5440680"/>
            <a:ext cx="10241280" cy="320040"/>
          </a:xfrm>
          <a:prstGeom prst="rect">
            <a:avLst/>
          </a:prstGeom>
          <a:noFill/>
        </p:spPr>
        <p:txBody>
          <a:bodyPr wrap="square" anchor="t">
            <a:spAutoFit/>
          </a:bodyPr>
          <a:lstStyle/>
          <a:p>
            <a:pPr algn="l">
              <a:spcAft>
                <a:spcPts val="400"/>
              </a:spcAft>
            </a:pPr>
            <a:r>
              <a:rPr sz="1100" b="1">
                <a:solidFill>
                  <a:srgbClr val="10B981"/>
                </a:solidFill>
                <a:latin typeface="Arial"/>
              </a:rPr>
              <a:t>WHAT THE DATA SHOWS</a:t>
            </a:r>
          </a:p>
        </p:txBody>
      </p:sp>
      <p:sp>
        <p:nvSpPr>
          <p:cNvPr id="11" name="TextBox 10"/>
          <p:cNvSpPr txBox="1"/>
          <p:nvPr/>
        </p:nvSpPr>
        <p:spPr>
          <a:xfrm>
            <a:off x="1005840" y="5742432"/>
            <a:ext cx="10241280" cy="457200"/>
          </a:xfrm>
          <a:prstGeom prst="rect">
            <a:avLst/>
          </a:prstGeom>
          <a:noFill/>
        </p:spPr>
        <p:txBody>
          <a:bodyPr wrap="square" anchor="t">
            <a:spAutoFit/>
          </a:bodyPr>
          <a:lstStyle/>
          <a:p>
            <a:pPr algn="l">
              <a:spcAft>
                <a:spcPts val="400"/>
              </a:spcAft>
            </a:pPr>
            <a:r>
              <a:rPr sz="1350" b="0">
                <a:solidFill>
                  <a:srgbClr val="161B26"/>
                </a:solidFill>
                <a:latin typeface="Arial"/>
              </a:rPr>
              <a:t>Automating the pipeline turns a few risky monthly releases into many small, low-risk ones that recover in hours, not days.</a:t>
            </a:r>
          </a:p>
        </p:txBody>
      </p:sp>
      <p:sp>
        <p:nvSpPr>
          <p:cNvPr id="12" name="TextBox 11"/>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DevOps Engineering on AWS  ·  TGS-2023040474</a:t>
            </a:r>
          </a:p>
        </p:txBody>
      </p:sp>
      <p:sp>
        <p:nvSpPr>
          <p:cNvPr id="13" name="TextBox 12"/>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4" name="TextBox 13"/>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25</a:t>
            </a:r>
          </a:p>
        </p:txBody>
      </p:sp>
    </p:spTree>
  </p:cSld>
  <p:clrMapOvr>
    <a:masterClrMapping/>
  </p:clrMapOvr>
  <p:transition xmlns:p14="http://schemas.microsoft.com/office/powerpoint/2010/main" p14:dur="380">
    <p:fade/>
  </p:transition>
</p:sld>
</file>

<file path=ppt/slides/slide2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685800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1005840" y="2011680"/>
            <a:ext cx="10058400" cy="457200"/>
          </a:xfrm>
          <a:prstGeom prst="rect">
            <a:avLst/>
          </a:prstGeom>
          <a:noFill/>
        </p:spPr>
        <p:txBody>
          <a:bodyPr wrap="square" anchor="t">
            <a:spAutoFit/>
          </a:bodyPr>
          <a:lstStyle/>
          <a:p>
            <a:pPr algn="l">
              <a:spcAft>
                <a:spcPts val="400"/>
              </a:spcAft>
            </a:pPr>
            <a:r>
              <a:rPr sz="1600" b="1">
                <a:solidFill>
                  <a:srgbClr val="1F6FEB"/>
                </a:solidFill>
                <a:latin typeface="Arial"/>
              </a:rPr>
              <a:t>WHY IT MATTERS</a:t>
            </a:r>
          </a:p>
        </p:txBody>
      </p:sp>
      <p:sp>
        <p:nvSpPr>
          <p:cNvPr id="5" name="TextBox 4"/>
          <p:cNvSpPr txBox="1"/>
          <p:nvPr/>
        </p:nvSpPr>
        <p:spPr>
          <a:xfrm>
            <a:off x="1005840" y="2560320"/>
            <a:ext cx="10332720" cy="2194560"/>
          </a:xfrm>
          <a:prstGeom prst="rect">
            <a:avLst/>
          </a:prstGeom>
          <a:noFill/>
        </p:spPr>
        <p:txBody>
          <a:bodyPr wrap="square" anchor="t">
            <a:spAutoFit/>
          </a:bodyPr>
          <a:lstStyle/>
          <a:p>
            <a:pPr algn="l">
              <a:spcAft>
                <a:spcPts val="400"/>
              </a:spcAft>
            </a:pPr>
            <a:r>
              <a:rPr sz="3800" b="1">
                <a:solidFill>
                  <a:srgbClr val="161B26"/>
                </a:solidFill>
                <a:latin typeface="Arial"/>
              </a:rPr>
              <a:t>Build, test, deploy — automatically and safely.</a:t>
            </a:r>
          </a:p>
        </p:txBody>
      </p:sp>
      <p:sp>
        <p:nvSpPr>
          <p:cNvPr id="6" name="TextBox 5"/>
          <p:cNvSpPr txBox="1"/>
          <p:nvPr/>
        </p:nvSpPr>
        <p:spPr>
          <a:xfrm>
            <a:off x="1024128" y="4480560"/>
            <a:ext cx="10058400" cy="1097280"/>
          </a:xfrm>
          <a:prstGeom prst="rect">
            <a:avLst/>
          </a:prstGeom>
          <a:noFill/>
        </p:spPr>
        <p:txBody>
          <a:bodyPr wrap="square" anchor="t">
            <a:spAutoFit/>
          </a:bodyPr>
          <a:lstStyle/>
          <a:p>
            <a:pPr algn="l">
              <a:spcAft>
                <a:spcPts val="400"/>
              </a:spcAft>
            </a:pPr>
            <a:r>
              <a:rPr sz="2000" b="0">
                <a:solidFill>
                  <a:srgbClr val="5B6372"/>
                </a:solidFill>
                <a:latin typeface="Arial"/>
              </a:rPr>
              <a:t>The six AWS DevOps domains follow the delivery lifecycle: automate the SDLC, codify infrastructure, make it resilient, observe it, respond to events, and secure it.</a:t>
            </a:r>
          </a:p>
        </p:txBody>
      </p:sp>
      <p:sp>
        <p:nvSpPr>
          <p:cNvPr id="7" name="TextBox 6"/>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DevOps Engineering on AWS  ·  TGS-2023040474</a:t>
            </a:r>
          </a:p>
        </p:txBody>
      </p:sp>
      <p:sp>
        <p:nvSpPr>
          <p:cNvPr id="8" name="TextBox 7"/>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9" name="TextBox 8"/>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26</a:t>
            </a:r>
          </a:p>
        </p:txBody>
      </p:sp>
    </p:spTree>
  </p:cSld>
  <p:clrMapOvr>
    <a:masterClrMapping/>
  </p:clrMapOvr>
  <p:transition xmlns:p14="http://schemas.microsoft.com/office/powerpoint/2010/main" p14:dur="380">
    <p:fade/>
  </p:transition>
</p:sld>
</file>

<file path=ppt/slides/slide2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38912"/>
            <a:ext cx="10607040" cy="365760"/>
          </a:xfrm>
          <a:prstGeom prst="rect">
            <a:avLst/>
          </a:prstGeom>
          <a:noFill/>
        </p:spPr>
        <p:txBody>
          <a:bodyPr wrap="square" anchor="t">
            <a:spAutoFit/>
          </a:bodyPr>
          <a:lstStyle/>
          <a:p>
            <a:pPr algn="l">
              <a:spcAft>
                <a:spcPts val="400"/>
              </a:spcAft>
            </a:pPr>
            <a:r>
              <a:rPr sz="1400" b="1">
                <a:solidFill>
                  <a:srgbClr val="1F6FEB"/>
                </a:solidFill>
                <a:latin typeface="Arial"/>
              </a:rPr>
              <a:t>MEASURING DEVOPS OUTCOMES</a:t>
            </a:r>
          </a:p>
        </p:txBody>
      </p:sp>
      <p:sp>
        <p:nvSpPr>
          <p:cNvPr id="5" name="TextBox 4"/>
          <p:cNvSpPr txBox="1"/>
          <p:nvPr/>
        </p:nvSpPr>
        <p:spPr>
          <a:xfrm>
            <a:off x="777240" y="896112"/>
            <a:ext cx="10927080" cy="731520"/>
          </a:xfrm>
          <a:prstGeom prst="rect">
            <a:avLst/>
          </a:prstGeom>
          <a:noFill/>
        </p:spPr>
        <p:txBody>
          <a:bodyPr wrap="square" anchor="t">
            <a:spAutoFit/>
          </a:bodyPr>
          <a:lstStyle/>
          <a:p>
            <a:pPr algn="l">
              <a:spcAft>
                <a:spcPts val="400"/>
              </a:spcAft>
            </a:pPr>
            <a:r>
              <a:rPr sz="2500" b="1">
                <a:solidFill>
                  <a:srgbClr val="161B26"/>
                </a:solidFill>
                <a:latin typeface="Arial"/>
              </a:rPr>
              <a:t>DORA Metrics — The Delivery/Stability Balance</a:t>
            </a:r>
          </a:p>
        </p:txBody>
      </p:sp>
      <p:sp>
        <p:nvSpPr>
          <p:cNvPr id="6" name="Rectangle 5"/>
          <p:cNvSpPr/>
          <p:nvPr/>
        </p:nvSpPr>
        <p:spPr>
          <a:xfrm>
            <a:off x="777240" y="1572768"/>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783080"/>
            <a:ext cx="5212080" cy="429768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6355080" y="1783080"/>
            <a:ext cx="5074920" cy="429768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1005840" y="1965960"/>
            <a:ext cx="4754880" cy="365760"/>
          </a:xfrm>
          <a:prstGeom prst="rect">
            <a:avLst/>
          </a:prstGeom>
          <a:noFill/>
        </p:spPr>
        <p:txBody>
          <a:bodyPr wrap="square" anchor="t">
            <a:spAutoFit/>
          </a:bodyPr>
          <a:lstStyle/>
          <a:p>
            <a:pPr algn="l">
              <a:spcAft>
                <a:spcPts val="400"/>
              </a:spcAft>
            </a:pPr>
            <a:r>
              <a:rPr sz="1600" b="1">
                <a:solidFill>
                  <a:srgbClr val="1F6FEB"/>
                </a:solidFill>
                <a:latin typeface="Arial"/>
              </a:rPr>
              <a:t>Move faster</a:t>
            </a:r>
          </a:p>
        </p:txBody>
      </p:sp>
      <p:sp>
        <p:nvSpPr>
          <p:cNvPr id="10" name="TextBox 9"/>
          <p:cNvSpPr txBox="1"/>
          <p:nvPr/>
        </p:nvSpPr>
        <p:spPr>
          <a:xfrm>
            <a:off x="6583680" y="1965960"/>
            <a:ext cx="4572000" cy="365760"/>
          </a:xfrm>
          <a:prstGeom prst="rect">
            <a:avLst/>
          </a:prstGeom>
          <a:noFill/>
        </p:spPr>
        <p:txBody>
          <a:bodyPr wrap="square" anchor="t">
            <a:spAutoFit/>
          </a:bodyPr>
          <a:lstStyle/>
          <a:p>
            <a:pPr algn="l">
              <a:spcAft>
                <a:spcPts val="400"/>
              </a:spcAft>
            </a:pPr>
            <a:r>
              <a:rPr sz="1600" b="1">
                <a:solidFill>
                  <a:srgbClr val="10B981"/>
                </a:solidFill>
                <a:latin typeface="Arial"/>
              </a:rPr>
              <a:t>Stay stable</a:t>
            </a:r>
          </a:p>
        </p:txBody>
      </p:sp>
      <p:sp>
        <p:nvSpPr>
          <p:cNvPr id="11" name="TextBox 10"/>
          <p:cNvSpPr txBox="1"/>
          <p:nvPr/>
        </p:nvSpPr>
        <p:spPr>
          <a:xfrm>
            <a:off x="1005840" y="2468880"/>
            <a:ext cx="4754880" cy="3474720"/>
          </a:xfrm>
          <a:prstGeom prst="rect">
            <a:avLst/>
          </a:prstGeom>
          <a:noFill/>
        </p:spPr>
        <p:txBody>
          <a:bodyPr wrap="square">
            <a:spAutoFit/>
          </a:bodyPr>
          <a:lstStyle/>
          <a:p>
            <a:pPr>
              <a:spcAft>
                <a:spcPts val="1000"/>
              </a:spcAft>
            </a:pPr>
            <a:r>
              <a:rPr sz="1500" b="0">
                <a:solidFill>
                  <a:srgbClr val="161B26"/>
                </a:solidFill>
                <a:latin typeface="Arial"/>
              </a:rPr>
              <a:t>•  Throughput</a:t>
            </a:r>
          </a:p>
          <a:p>
            <a:pPr>
              <a:spcAft>
                <a:spcPts val="1000"/>
              </a:spcAft>
            </a:pPr>
            <a:r>
              <a:rPr sz="1300" b="0">
                <a:solidFill>
                  <a:srgbClr val="5B6372"/>
                </a:solidFill>
                <a:latin typeface="Arial"/>
              </a:rPr>
              <a:t>–  Deployment frequency — how often you ship</a:t>
            </a:r>
          </a:p>
          <a:p>
            <a:pPr>
              <a:spcAft>
                <a:spcPts val="1000"/>
              </a:spcAft>
            </a:pPr>
            <a:r>
              <a:rPr sz="1300" b="0">
                <a:solidFill>
                  <a:srgbClr val="5B6372"/>
                </a:solidFill>
                <a:latin typeface="Arial"/>
              </a:rPr>
              <a:t>–  Lead time for changes — commit to production</a:t>
            </a:r>
          </a:p>
          <a:p>
            <a:pPr>
              <a:spcAft>
                <a:spcPts val="1000"/>
              </a:spcAft>
            </a:pPr>
            <a:r>
              <a:rPr sz="1300" b="0">
                <a:solidFill>
                  <a:srgbClr val="5B6372"/>
                </a:solidFill>
                <a:latin typeface="Arial"/>
              </a:rPr>
              <a:t>–  Elite: on-demand deploys, &lt;1 day lead time</a:t>
            </a:r>
          </a:p>
        </p:txBody>
      </p:sp>
      <p:sp>
        <p:nvSpPr>
          <p:cNvPr id="12" name="TextBox 11"/>
          <p:cNvSpPr txBox="1"/>
          <p:nvPr/>
        </p:nvSpPr>
        <p:spPr>
          <a:xfrm>
            <a:off x="6583680" y="2468880"/>
            <a:ext cx="4617720" cy="3474720"/>
          </a:xfrm>
          <a:prstGeom prst="rect">
            <a:avLst/>
          </a:prstGeom>
          <a:noFill/>
        </p:spPr>
        <p:txBody>
          <a:bodyPr wrap="square">
            <a:spAutoFit/>
          </a:bodyPr>
          <a:lstStyle/>
          <a:p>
            <a:pPr>
              <a:spcAft>
                <a:spcPts val="1000"/>
              </a:spcAft>
            </a:pPr>
            <a:r>
              <a:rPr sz="1500" b="0">
                <a:solidFill>
                  <a:srgbClr val="161B26"/>
                </a:solidFill>
                <a:latin typeface="Arial"/>
              </a:rPr>
              <a:t>•  Stability</a:t>
            </a:r>
          </a:p>
          <a:p>
            <a:pPr>
              <a:spcAft>
                <a:spcPts val="1000"/>
              </a:spcAft>
            </a:pPr>
            <a:r>
              <a:rPr sz="1300" b="0">
                <a:solidFill>
                  <a:srgbClr val="5B6372"/>
                </a:solidFill>
                <a:latin typeface="Arial"/>
              </a:rPr>
              <a:t>–  Change failure rate — % of deploys that hurt</a:t>
            </a:r>
          </a:p>
          <a:p>
            <a:pPr>
              <a:spcAft>
                <a:spcPts val="1000"/>
              </a:spcAft>
            </a:pPr>
            <a:r>
              <a:rPr sz="1300" b="0">
                <a:solidFill>
                  <a:srgbClr val="5B6372"/>
                </a:solidFill>
                <a:latin typeface="Arial"/>
              </a:rPr>
              <a:t>–  Time to restore service — MTTR after failure</a:t>
            </a:r>
          </a:p>
          <a:p>
            <a:pPr>
              <a:spcAft>
                <a:spcPts val="1000"/>
              </a:spcAft>
            </a:pPr>
            <a:r>
              <a:rPr sz="1300" b="0">
                <a:solidFill>
                  <a:srgbClr val="5B6372"/>
                </a:solidFill>
                <a:latin typeface="Arial"/>
              </a:rPr>
              <a:t>–  Elite: &lt;15% CFR, restore in &lt;1 hour</a:t>
            </a:r>
          </a:p>
        </p:txBody>
      </p:sp>
      <p:sp>
        <p:nvSpPr>
          <p:cNvPr id="13" name="TextBox 12"/>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DevOps Engineering on AWS  ·  TGS-2023040474</a:t>
            </a:r>
          </a:p>
        </p:txBody>
      </p:sp>
      <p:sp>
        <p:nvSpPr>
          <p:cNvPr id="14" name="TextBox 13"/>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5" name="TextBox 14"/>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27</a:t>
            </a:r>
          </a:p>
        </p:txBody>
      </p:sp>
    </p:spTree>
  </p:cSld>
  <p:clrMapOvr>
    <a:masterClrMapping/>
  </p:clrMapOvr>
  <p:transition xmlns:p14="http://schemas.microsoft.com/office/powerpoint/2010/main" p14:dur="380">
    <p:fade/>
  </p:transition>
</p:sld>
</file>

<file path=ppt/slides/slide2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38912"/>
            <a:ext cx="10607040" cy="365760"/>
          </a:xfrm>
          <a:prstGeom prst="rect">
            <a:avLst/>
          </a:prstGeom>
          <a:noFill/>
        </p:spPr>
        <p:txBody>
          <a:bodyPr wrap="square" anchor="t">
            <a:spAutoFit/>
          </a:bodyPr>
          <a:lstStyle/>
          <a:p>
            <a:pPr algn="l">
              <a:spcAft>
                <a:spcPts val="400"/>
              </a:spcAft>
            </a:pPr>
            <a:r>
              <a:rPr sz="1400" b="1">
                <a:solidFill>
                  <a:srgbClr val="1F6FEB"/>
                </a:solidFill>
                <a:latin typeface="Arial"/>
              </a:rPr>
              <a:t>HOW TEAMS BRANCH</a:t>
            </a:r>
          </a:p>
        </p:txBody>
      </p:sp>
      <p:sp>
        <p:nvSpPr>
          <p:cNvPr id="5" name="TextBox 4"/>
          <p:cNvSpPr txBox="1"/>
          <p:nvPr/>
        </p:nvSpPr>
        <p:spPr>
          <a:xfrm>
            <a:off x="777240" y="896112"/>
            <a:ext cx="10927080" cy="731520"/>
          </a:xfrm>
          <a:prstGeom prst="rect">
            <a:avLst/>
          </a:prstGeom>
          <a:noFill/>
        </p:spPr>
        <p:txBody>
          <a:bodyPr wrap="square" anchor="t">
            <a:spAutoFit/>
          </a:bodyPr>
          <a:lstStyle/>
          <a:p>
            <a:pPr algn="l">
              <a:spcAft>
                <a:spcPts val="400"/>
              </a:spcAft>
            </a:pPr>
            <a:r>
              <a:rPr sz="2100" b="1">
                <a:solidFill>
                  <a:srgbClr val="161B26"/>
                </a:solidFill>
                <a:latin typeface="Arial"/>
              </a:rPr>
              <a:t>Version Control Strategy — Trunk-Based vs Long-Lived Branches</a:t>
            </a:r>
          </a:p>
        </p:txBody>
      </p:sp>
      <p:sp>
        <p:nvSpPr>
          <p:cNvPr id="6" name="Rectangle 5"/>
          <p:cNvSpPr/>
          <p:nvPr/>
        </p:nvSpPr>
        <p:spPr>
          <a:xfrm>
            <a:off x="777240" y="1572768"/>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783080"/>
            <a:ext cx="5180076" cy="207568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1783080"/>
            <a:ext cx="91440" cy="2075688"/>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1033272" y="2546604"/>
            <a:ext cx="548640" cy="548640"/>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033272" y="2546604"/>
            <a:ext cx="548640" cy="548640"/>
          </a:xfrm>
          <a:prstGeom prst="rect">
            <a:avLst/>
          </a:prstGeom>
          <a:noFill/>
        </p:spPr>
        <p:txBody>
          <a:bodyPr wrap="square" anchor="ctr">
            <a:spAutoFit/>
          </a:bodyPr>
          <a:lstStyle/>
          <a:p>
            <a:pPr algn="ctr">
              <a:spcAft>
                <a:spcPts val="400"/>
              </a:spcAft>
            </a:pPr>
            <a:r>
              <a:rPr sz="1800" b="1">
                <a:solidFill>
                  <a:srgbClr val="FFFFFF"/>
                </a:solidFill>
                <a:latin typeface="Arial"/>
              </a:rPr>
              <a:t>1</a:t>
            </a:r>
          </a:p>
        </p:txBody>
      </p:sp>
      <p:sp>
        <p:nvSpPr>
          <p:cNvPr id="11" name="TextBox 10"/>
          <p:cNvSpPr txBox="1"/>
          <p:nvPr/>
        </p:nvSpPr>
        <p:spPr>
          <a:xfrm>
            <a:off x="1764792" y="1892808"/>
            <a:ext cx="3973068" cy="1892808"/>
          </a:xfrm>
          <a:prstGeom prst="rect">
            <a:avLst/>
          </a:prstGeom>
          <a:noFill/>
        </p:spPr>
        <p:txBody>
          <a:bodyPr wrap="square" anchor="ctr">
            <a:spAutoFit/>
          </a:bodyPr>
          <a:lstStyle/>
          <a:p>
            <a:pPr algn="l">
              <a:spcAft>
                <a:spcPts val="300"/>
              </a:spcAft>
            </a:pPr>
            <a:r>
              <a:rPr sz="1600" b="1">
                <a:solidFill>
                  <a:srgbClr val="161B26"/>
                </a:solidFill>
                <a:latin typeface="Arial"/>
              </a:rPr>
              <a:t>Trunk-based</a:t>
            </a:r>
          </a:p>
          <a:p>
            <a:pPr algn="l">
              <a:spcAft>
                <a:spcPts val="300"/>
              </a:spcAft>
            </a:pPr>
            <a:r>
              <a:rPr sz="1200" b="0">
                <a:solidFill>
                  <a:srgbClr val="5B6372"/>
                </a:solidFill>
                <a:latin typeface="Arial"/>
              </a:rPr>
              <a:t>Short-lived branches merged to trunk daily — keeps integration continuous.</a:t>
            </a:r>
          </a:p>
        </p:txBody>
      </p:sp>
      <p:sp>
        <p:nvSpPr>
          <p:cNvPr id="12" name="Rectangle 11"/>
          <p:cNvSpPr/>
          <p:nvPr/>
        </p:nvSpPr>
        <p:spPr>
          <a:xfrm>
            <a:off x="6231636" y="1783080"/>
            <a:ext cx="5180076" cy="207568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6231636" y="1783080"/>
            <a:ext cx="91440" cy="2075688"/>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Oval 13"/>
          <p:cNvSpPr/>
          <p:nvPr/>
        </p:nvSpPr>
        <p:spPr>
          <a:xfrm>
            <a:off x="6487668" y="2546604"/>
            <a:ext cx="548640" cy="54864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6487668" y="2546604"/>
            <a:ext cx="548640" cy="548640"/>
          </a:xfrm>
          <a:prstGeom prst="rect">
            <a:avLst/>
          </a:prstGeom>
          <a:noFill/>
        </p:spPr>
        <p:txBody>
          <a:bodyPr wrap="square" anchor="ctr">
            <a:spAutoFit/>
          </a:bodyPr>
          <a:lstStyle/>
          <a:p>
            <a:pPr algn="ctr">
              <a:spcAft>
                <a:spcPts val="400"/>
              </a:spcAft>
            </a:pPr>
            <a:r>
              <a:rPr sz="1800" b="1">
                <a:solidFill>
                  <a:srgbClr val="FFFFFF"/>
                </a:solidFill>
                <a:latin typeface="Arial"/>
              </a:rPr>
              <a:t>2</a:t>
            </a:r>
          </a:p>
        </p:txBody>
      </p:sp>
      <p:sp>
        <p:nvSpPr>
          <p:cNvPr id="16" name="TextBox 15"/>
          <p:cNvSpPr txBox="1"/>
          <p:nvPr/>
        </p:nvSpPr>
        <p:spPr>
          <a:xfrm>
            <a:off x="7219188" y="1892808"/>
            <a:ext cx="3973068" cy="1892808"/>
          </a:xfrm>
          <a:prstGeom prst="rect">
            <a:avLst/>
          </a:prstGeom>
          <a:noFill/>
        </p:spPr>
        <p:txBody>
          <a:bodyPr wrap="square" anchor="ctr">
            <a:spAutoFit/>
          </a:bodyPr>
          <a:lstStyle/>
          <a:p>
            <a:pPr algn="l">
              <a:spcAft>
                <a:spcPts val="300"/>
              </a:spcAft>
            </a:pPr>
            <a:r>
              <a:rPr sz="1600" b="1">
                <a:solidFill>
                  <a:srgbClr val="161B26"/>
                </a:solidFill>
                <a:latin typeface="Arial"/>
              </a:rPr>
              <a:t>Feature flags</a:t>
            </a:r>
          </a:p>
          <a:p>
            <a:pPr algn="l">
              <a:spcAft>
                <a:spcPts val="300"/>
              </a:spcAft>
            </a:pPr>
            <a:r>
              <a:rPr sz="1200" b="0">
                <a:solidFill>
                  <a:srgbClr val="5B6372"/>
                </a:solidFill>
                <a:latin typeface="Arial"/>
              </a:rPr>
              <a:t>Ship unfinished work dark; decouple deploy from release.</a:t>
            </a:r>
          </a:p>
        </p:txBody>
      </p:sp>
      <p:sp>
        <p:nvSpPr>
          <p:cNvPr id="17" name="Rectangle 16"/>
          <p:cNvSpPr/>
          <p:nvPr/>
        </p:nvSpPr>
        <p:spPr>
          <a:xfrm>
            <a:off x="777240" y="4078224"/>
            <a:ext cx="5180076" cy="207568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777240" y="4078224"/>
            <a:ext cx="91440" cy="2075688"/>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Oval 18"/>
          <p:cNvSpPr/>
          <p:nvPr/>
        </p:nvSpPr>
        <p:spPr>
          <a:xfrm>
            <a:off x="1033272" y="4841748"/>
            <a:ext cx="548640" cy="548640"/>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1033272" y="4841748"/>
            <a:ext cx="548640" cy="548640"/>
          </a:xfrm>
          <a:prstGeom prst="rect">
            <a:avLst/>
          </a:prstGeom>
          <a:noFill/>
        </p:spPr>
        <p:txBody>
          <a:bodyPr wrap="square" anchor="ctr">
            <a:spAutoFit/>
          </a:bodyPr>
          <a:lstStyle/>
          <a:p>
            <a:pPr algn="ctr">
              <a:spcAft>
                <a:spcPts val="400"/>
              </a:spcAft>
            </a:pPr>
            <a:r>
              <a:rPr sz="1800" b="1">
                <a:solidFill>
                  <a:srgbClr val="FFFFFF"/>
                </a:solidFill>
                <a:latin typeface="Arial"/>
              </a:rPr>
              <a:t>3</a:t>
            </a:r>
          </a:p>
        </p:txBody>
      </p:sp>
      <p:sp>
        <p:nvSpPr>
          <p:cNvPr id="21" name="TextBox 20"/>
          <p:cNvSpPr txBox="1"/>
          <p:nvPr/>
        </p:nvSpPr>
        <p:spPr>
          <a:xfrm>
            <a:off x="1764792" y="4187952"/>
            <a:ext cx="3973068" cy="1892808"/>
          </a:xfrm>
          <a:prstGeom prst="rect">
            <a:avLst/>
          </a:prstGeom>
          <a:noFill/>
        </p:spPr>
        <p:txBody>
          <a:bodyPr wrap="square" anchor="ctr">
            <a:spAutoFit/>
          </a:bodyPr>
          <a:lstStyle/>
          <a:p>
            <a:pPr algn="l">
              <a:spcAft>
                <a:spcPts val="300"/>
              </a:spcAft>
            </a:pPr>
            <a:r>
              <a:rPr sz="1600" b="1">
                <a:solidFill>
                  <a:srgbClr val="161B26"/>
                </a:solidFill>
                <a:latin typeface="Arial"/>
              </a:rPr>
              <a:t>Gitflow (heavier)</a:t>
            </a:r>
          </a:p>
          <a:p>
            <a:pPr algn="l">
              <a:spcAft>
                <a:spcPts val="300"/>
              </a:spcAft>
            </a:pPr>
            <a:r>
              <a:rPr sz="1200" b="0">
                <a:solidFill>
                  <a:srgbClr val="5B6372"/>
                </a:solidFill>
                <a:latin typeface="Arial"/>
              </a:rPr>
              <a:t>Release/develop branches — more ceremony, slower integration.</a:t>
            </a:r>
          </a:p>
        </p:txBody>
      </p:sp>
      <p:sp>
        <p:nvSpPr>
          <p:cNvPr id="22" name="Rectangle 21"/>
          <p:cNvSpPr/>
          <p:nvPr/>
        </p:nvSpPr>
        <p:spPr>
          <a:xfrm>
            <a:off x="6231636" y="4078224"/>
            <a:ext cx="5180076" cy="207568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ectangle 22"/>
          <p:cNvSpPr/>
          <p:nvPr/>
        </p:nvSpPr>
        <p:spPr>
          <a:xfrm>
            <a:off x="6231636" y="4078224"/>
            <a:ext cx="91440" cy="2075688"/>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Oval 23"/>
          <p:cNvSpPr/>
          <p:nvPr/>
        </p:nvSpPr>
        <p:spPr>
          <a:xfrm>
            <a:off x="6487668" y="4841748"/>
            <a:ext cx="548640" cy="548640"/>
          </a:xfrm>
          <a:prstGeom prst="ellipse">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6487668" y="4841748"/>
            <a:ext cx="548640" cy="548640"/>
          </a:xfrm>
          <a:prstGeom prst="rect">
            <a:avLst/>
          </a:prstGeom>
          <a:noFill/>
        </p:spPr>
        <p:txBody>
          <a:bodyPr wrap="square" anchor="ctr">
            <a:spAutoFit/>
          </a:bodyPr>
          <a:lstStyle/>
          <a:p>
            <a:pPr algn="ctr">
              <a:spcAft>
                <a:spcPts val="400"/>
              </a:spcAft>
            </a:pPr>
            <a:r>
              <a:rPr sz="1800" b="1">
                <a:solidFill>
                  <a:srgbClr val="FFFFFF"/>
                </a:solidFill>
                <a:latin typeface="Arial"/>
              </a:rPr>
              <a:t>4</a:t>
            </a:r>
          </a:p>
        </p:txBody>
      </p:sp>
      <p:sp>
        <p:nvSpPr>
          <p:cNvPr id="26" name="TextBox 25"/>
          <p:cNvSpPr txBox="1"/>
          <p:nvPr/>
        </p:nvSpPr>
        <p:spPr>
          <a:xfrm>
            <a:off x="7219188" y="4187952"/>
            <a:ext cx="3973068" cy="1892808"/>
          </a:xfrm>
          <a:prstGeom prst="rect">
            <a:avLst/>
          </a:prstGeom>
          <a:noFill/>
        </p:spPr>
        <p:txBody>
          <a:bodyPr wrap="square" anchor="ctr">
            <a:spAutoFit/>
          </a:bodyPr>
          <a:lstStyle/>
          <a:p>
            <a:pPr algn="l">
              <a:spcAft>
                <a:spcPts val="300"/>
              </a:spcAft>
            </a:pPr>
            <a:r>
              <a:rPr sz="1600" b="1">
                <a:solidFill>
                  <a:srgbClr val="161B26"/>
                </a:solidFill>
                <a:latin typeface="Arial"/>
              </a:rPr>
              <a:t>Branch protection</a:t>
            </a:r>
          </a:p>
          <a:p>
            <a:pPr algn="l">
              <a:spcAft>
                <a:spcPts val="300"/>
              </a:spcAft>
            </a:pPr>
            <a:r>
              <a:rPr sz="1200" b="0">
                <a:solidFill>
                  <a:srgbClr val="5B6372"/>
                </a:solidFill>
                <a:latin typeface="Arial"/>
              </a:rPr>
              <a:t>Required reviews and green checks before merge, enforced in GitHub.</a:t>
            </a:r>
          </a:p>
        </p:txBody>
      </p:sp>
      <p:sp>
        <p:nvSpPr>
          <p:cNvPr id="27" name="TextBox 26"/>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DevOps Engineering on AWS  ·  TGS-2023040474</a:t>
            </a:r>
          </a:p>
        </p:txBody>
      </p:sp>
      <p:sp>
        <p:nvSpPr>
          <p:cNvPr id="28" name="TextBox 27"/>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29" name="TextBox 28"/>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28</a:t>
            </a:r>
          </a:p>
        </p:txBody>
      </p:sp>
    </p:spTree>
  </p:cSld>
  <p:clrMapOvr>
    <a:masterClrMapping/>
  </p:clrMapOvr>
  <p:transition xmlns:p14="http://schemas.microsoft.com/office/powerpoint/2010/main" p14:dur="380">
    <p:fade/>
  </p:transition>
</p:sld>
</file>

<file path=ppt/slides/slide3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38912"/>
            <a:ext cx="10607040" cy="365760"/>
          </a:xfrm>
          <a:prstGeom prst="rect">
            <a:avLst/>
          </a:prstGeom>
          <a:noFill/>
        </p:spPr>
        <p:txBody>
          <a:bodyPr wrap="square" anchor="t">
            <a:spAutoFit/>
          </a:bodyPr>
          <a:lstStyle/>
          <a:p>
            <a:pPr algn="l">
              <a:spcAft>
                <a:spcPts val="400"/>
              </a:spcAft>
            </a:pPr>
            <a:r>
              <a:rPr sz="1400" b="1">
                <a:solidFill>
                  <a:srgbClr val="1F6FEB"/>
                </a:solidFill>
                <a:latin typeface="Arial"/>
              </a:rPr>
              <a:t>ONE ARTIFACT, MANY ENVIRONMENTS</a:t>
            </a:r>
          </a:p>
        </p:txBody>
      </p:sp>
      <p:sp>
        <p:nvSpPr>
          <p:cNvPr id="5" name="TextBox 4"/>
          <p:cNvSpPr txBox="1"/>
          <p:nvPr/>
        </p:nvSpPr>
        <p:spPr>
          <a:xfrm>
            <a:off x="777240" y="804672"/>
            <a:ext cx="10927080" cy="731520"/>
          </a:xfrm>
          <a:prstGeom prst="rect">
            <a:avLst/>
          </a:prstGeom>
          <a:noFill/>
        </p:spPr>
        <p:txBody>
          <a:bodyPr wrap="square" anchor="t">
            <a:spAutoFit/>
          </a:bodyPr>
          <a:lstStyle/>
          <a:p>
            <a:pPr algn="l">
              <a:spcAft>
                <a:spcPts val="400"/>
              </a:spcAft>
            </a:pPr>
            <a:r>
              <a:rPr sz="2900" b="1">
                <a:solidFill>
                  <a:srgbClr val="161B26"/>
                </a:solidFill>
                <a:latin typeface="Arial"/>
              </a:rPr>
              <a:t>Promotion Across Environments</a:t>
            </a:r>
          </a:p>
        </p:txBody>
      </p:sp>
      <p:sp>
        <p:nvSpPr>
          <p:cNvPr id="6" name="Rectangle 5"/>
          <p:cNvSpPr/>
          <p:nvPr/>
        </p:nvSpPr>
        <p:spPr>
          <a:xfrm>
            <a:off x="777240" y="1572768"/>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2331720"/>
            <a:ext cx="1878177" cy="288036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2331720"/>
            <a:ext cx="1878177" cy="9144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1341424" y="2715768"/>
            <a:ext cx="749808" cy="749808"/>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341424" y="2715768"/>
            <a:ext cx="749808" cy="749808"/>
          </a:xfrm>
          <a:prstGeom prst="rect">
            <a:avLst/>
          </a:prstGeom>
          <a:noFill/>
        </p:spPr>
        <p:txBody>
          <a:bodyPr wrap="square" anchor="ctr">
            <a:spAutoFit/>
          </a:bodyPr>
          <a:lstStyle/>
          <a:p>
            <a:pPr algn="ctr">
              <a:spcAft>
                <a:spcPts val="400"/>
              </a:spcAft>
            </a:pPr>
            <a:r>
              <a:rPr sz="3000" b="1">
                <a:solidFill>
                  <a:srgbClr val="FFFFFF"/>
                </a:solidFill>
                <a:latin typeface="Arial"/>
              </a:rPr>
              <a:t>1</a:t>
            </a:r>
          </a:p>
        </p:txBody>
      </p:sp>
      <p:sp>
        <p:nvSpPr>
          <p:cNvPr id="11" name="TextBox 10"/>
          <p:cNvSpPr txBox="1"/>
          <p:nvPr/>
        </p:nvSpPr>
        <p:spPr>
          <a:xfrm>
            <a:off x="923544" y="3749040"/>
            <a:ext cx="1585569" cy="1325880"/>
          </a:xfrm>
          <a:prstGeom prst="rect">
            <a:avLst/>
          </a:prstGeom>
          <a:noFill/>
        </p:spPr>
        <p:txBody>
          <a:bodyPr wrap="square" anchor="t">
            <a:spAutoFit/>
          </a:bodyPr>
          <a:lstStyle/>
          <a:p>
            <a:pPr algn="ctr">
              <a:spcAft>
                <a:spcPts val="400"/>
              </a:spcAft>
            </a:pPr>
            <a:r>
              <a:rPr sz="1300" b="0">
                <a:solidFill>
                  <a:srgbClr val="161B26"/>
                </a:solidFill>
                <a:latin typeface="Arial"/>
              </a:rPr>
              <a:t>Build once
immutable artifact</a:t>
            </a:r>
          </a:p>
        </p:txBody>
      </p:sp>
      <p:sp>
        <p:nvSpPr>
          <p:cNvPr id="12" name="TextBox 11"/>
          <p:cNvSpPr txBox="1"/>
          <p:nvPr/>
        </p:nvSpPr>
        <p:spPr>
          <a:xfrm>
            <a:off x="2618841" y="3497580"/>
            <a:ext cx="384048" cy="548640"/>
          </a:xfrm>
          <a:prstGeom prst="rect">
            <a:avLst/>
          </a:prstGeom>
          <a:noFill/>
        </p:spPr>
        <p:txBody>
          <a:bodyPr wrap="square" anchor="ctr">
            <a:spAutoFit/>
          </a:bodyPr>
          <a:lstStyle/>
          <a:p>
            <a:pPr algn="ctr">
              <a:spcAft>
                <a:spcPts val="400"/>
              </a:spcAft>
            </a:pPr>
            <a:r>
              <a:rPr sz="1500" b="1">
                <a:solidFill>
                  <a:srgbClr val="1F6FEB"/>
                </a:solidFill>
                <a:latin typeface="Arial"/>
              </a:rPr>
              <a:t>▶</a:t>
            </a:r>
          </a:p>
        </p:txBody>
      </p:sp>
      <p:sp>
        <p:nvSpPr>
          <p:cNvPr id="13" name="Rectangle 12"/>
          <p:cNvSpPr/>
          <p:nvPr/>
        </p:nvSpPr>
        <p:spPr>
          <a:xfrm>
            <a:off x="2966313" y="2331720"/>
            <a:ext cx="1878177" cy="288036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ectangle 13"/>
          <p:cNvSpPr/>
          <p:nvPr/>
        </p:nvSpPr>
        <p:spPr>
          <a:xfrm>
            <a:off x="2966313" y="2331720"/>
            <a:ext cx="1878177" cy="9144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Oval 14"/>
          <p:cNvSpPr/>
          <p:nvPr/>
        </p:nvSpPr>
        <p:spPr>
          <a:xfrm>
            <a:off x="3530497" y="2715768"/>
            <a:ext cx="749808" cy="749808"/>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3530497" y="2715768"/>
            <a:ext cx="749808" cy="749808"/>
          </a:xfrm>
          <a:prstGeom prst="rect">
            <a:avLst/>
          </a:prstGeom>
          <a:noFill/>
        </p:spPr>
        <p:txBody>
          <a:bodyPr wrap="square" anchor="ctr">
            <a:spAutoFit/>
          </a:bodyPr>
          <a:lstStyle/>
          <a:p>
            <a:pPr algn="ctr">
              <a:spcAft>
                <a:spcPts val="400"/>
              </a:spcAft>
            </a:pPr>
            <a:r>
              <a:rPr sz="3000" b="1">
                <a:solidFill>
                  <a:srgbClr val="FFFFFF"/>
                </a:solidFill>
                <a:latin typeface="Arial"/>
              </a:rPr>
              <a:t>2</a:t>
            </a:r>
          </a:p>
        </p:txBody>
      </p:sp>
      <p:sp>
        <p:nvSpPr>
          <p:cNvPr id="17" name="TextBox 16"/>
          <p:cNvSpPr txBox="1"/>
          <p:nvPr/>
        </p:nvSpPr>
        <p:spPr>
          <a:xfrm>
            <a:off x="3112617" y="3749040"/>
            <a:ext cx="1585569" cy="1325880"/>
          </a:xfrm>
          <a:prstGeom prst="rect">
            <a:avLst/>
          </a:prstGeom>
          <a:noFill/>
        </p:spPr>
        <p:txBody>
          <a:bodyPr wrap="square" anchor="t">
            <a:spAutoFit/>
          </a:bodyPr>
          <a:lstStyle/>
          <a:p>
            <a:pPr algn="ctr">
              <a:spcAft>
                <a:spcPts val="400"/>
              </a:spcAft>
            </a:pPr>
            <a:r>
              <a:rPr sz="1300" b="0">
                <a:solidFill>
                  <a:srgbClr val="161B26"/>
                </a:solidFill>
                <a:latin typeface="Arial"/>
              </a:rPr>
              <a:t>Deploy to Dev
smoke tests</a:t>
            </a:r>
          </a:p>
        </p:txBody>
      </p:sp>
      <p:sp>
        <p:nvSpPr>
          <p:cNvPr id="18" name="TextBox 17"/>
          <p:cNvSpPr txBox="1"/>
          <p:nvPr/>
        </p:nvSpPr>
        <p:spPr>
          <a:xfrm>
            <a:off x="4807914" y="3497580"/>
            <a:ext cx="384048" cy="548640"/>
          </a:xfrm>
          <a:prstGeom prst="rect">
            <a:avLst/>
          </a:prstGeom>
          <a:noFill/>
        </p:spPr>
        <p:txBody>
          <a:bodyPr wrap="square" anchor="ctr">
            <a:spAutoFit/>
          </a:bodyPr>
          <a:lstStyle/>
          <a:p>
            <a:pPr algn="ctr">
              <a:spcAft>
                <a:spcPts val="400"/>
              </a:spcAft>
            </a:pPr>
            <a:r>
              <a:rPr sz="1500" b="1">
                <a:solidFill>
                  <a:srgbClr val="1F6FEB"/>
                </a:solidFill>
                <a:latin typeface="Arial"/>
              </a:rPr>
              <a:t>▶</a:t>
            </a:r>
          </a:p>
        </p:txBody>
      </p:sp>
      <p:sp>
        <p:nvSpPr>
          <p:cNvPr id="19" name="Rectangle 18"/>
          <p:cNvSpPr/>
          <p:nvPr/>
        </p:nvSpPr>
        <p:spPr>
          <a:xfrm>
            <a:off x="5155386" y="2331720"/>
            <a:ext cx="1878177" cy="288036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Rectangle 19"/>
          <p:cNvSpPr/>
          <p:nvPr/>
        </p:nvSpPr>
        <p:spPr>
          <a:xfrm>
            <a:off x="5155386" y="2331720"/>
            <a:ext cx="1878177" cy="9144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Oval 20"/>
          <p:cNvSpPr/>
          <p:nvPr/>
        </p:nvSpPr>
        <p:spPr>
          <a:xfrm>
            <a:off x="5719570" y="2715768"/>
            <a:ext cx="749808" cy="749808"/>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5719570" y="2715768"/>
            <a:ext cx="749808" cy="749808"/>
          </a:xfrm>
          <a:prstGeom prst="rect">
            <a:avLst/>
          </a:prstGeom>
          <a:noFill/>
        </p:spPr>
        <p:txBody>
          <a:bodyPr wrap="square" anchor="ctr">
            <a:spAutoFit/>
          </a:bodyPr>
          <a:lstStyle/>
          <a:p>
            <a:pPr algn="ctr">
              <a:spcAft>
                <a:spcPts val="400"/>
              </a:spcAft>
            </a:pPr>
            <a:r>
              <a:rPr sz="3000" b="1">
                <a:solidFill>
                  <a:srgbClr val="FFFFFF"/>
                </a:solidFill>
                <a:latin typeface="Arial"/>
              </a:rPr>
              <a:t>3</a:t>
            </a:r>
          </a:p>
        </p:txBody>
      </p:sp>
      <p:sp>
        <p:nvSpPr>
          <p:cNvPr id="23" name="TextBox 22"/>
          <p:cNvSpPr txBox="1"/>
          <p:nvPr/>
        </p:nvSpPr>
        <p:spPr>
          <a:xfrm>
            <a:off x="5301690" y="3749040"/>
            <a:ext cx="1585569" cy="1325880"/>
          </a:xfrm>
          <a:prstGeom prst="rect">
            <a:avLst/>
          </a:prstGeom>
          <a:noFill/>
        </p:spPr>
        <p:txBody>
          <a:bodyPr wrap="square" anchor="t">
            <a:spAutoFit/>
          </a:bodyPr>
          <a:lstStyle/>
          <a:p>
            <a:pPr algn="ctr">
              <a:spcAft>
                <a:spcPts val="400"/>
              </a:spcAft>
            </a:pPr>
            <a:r>
              <a:rPr sz="1300" b="0">
                <a:solidFill>
                  <a:srgbClr val="161B26"/>
                </a:solidFill>
                <a:latin typeface="Arial"/>
              </a:rPr>
              <a:t>Deploy to Staging
production-like</a:t>
            </a:r>
          </a:p>
        </p:txBody>
      </p:sp>
      <p:sp>
        <p:nvSpPr>
          <p:cNvPr id="24" name="TextBox 23"/>
          <p:cNvSpPr txBox="1"/>
          <p:nvPr/>
        </p:nvSpPr>
        <p:spPr>
          <a:xfrm>
            <a:off x="6996987" y="3497580"/>
            <a:ext cx="384048" cy="548640"/>
          </a:xfrm>
          <a:prstGeom prst="rect">
            <a:avLst/>
          </a:prstGeom>
          <a:noFill/>
        </p:spPr>
        <p:txBody>
          <a:bodyPr wrap="square" anchor="ctr">
            <a:spAutoFit/>
          </a:bodyPr>
          <a:lstStyle/>
          <a:p>
            <a:pPr algn="ctr">
              <a:spcAft>
                <a:spcPts val="400"/>
              </a:spcAft>
            </a:pPr>
            <a:r>
              <a:rPr sz="1500" b="1">
                <a:solidFill>
                  <a:srgbClr val="1F6FEB"/>
                </a:solidFill>
                <a:latin typeface="Arial"/>
              </a:rPr>
              <a:t>▶</a:t>
            </a:r>
          </a:p>
        </p:txBody>
      </p:sp>
      <p:sp>
        <p:nvSpPr>
          <p:cNvPr id="25" name="Rectangle 24"/>
          <p:cNvSpPr/>
          <p:nvPr/>
        </p:nvSpPr>
        <p:spPr>
          <a:xfrm>
            <a:off x="7344459" y="2331720"/>
            <a:ext cx="1878177" cy="288036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Rectangle 25"/>
          <p:cNvSpPr/>
          <p:nvPr/>
        </p:nvSpPr>
        <p:spPr>
          <a:xfrm>
            <a:off x="7344459" y="2331720"/>
            <a:ext cx="1878177" cy="9144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Oval 26"/>
          <p:cNvSpPr/>
          <p:nvPr/>
        </p:nvSpPr>
        <p:spPr>
          <a:xfrm>
            <a:off x="7908643" y="2715768"/>
            <a:ext cx="749808" cy="749808"/>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7908643" y="2715768"/>
            <a:ext cx="749808" cy="749808"/>
          </a:xfrm>
          <a:prstGeom prst="rect">
            <a:avLst/>
          </a:prstGeom>
          <a:noFill/>
        </p:spPr>
        <p:txBody>
          <a:bodyPr wrap="square" anchor="ctr">
            <a:spAutoFit/>
          </a:bodyPr>
          <a:lstStyle/>
          <a:p>
            <a:pPr algn="ctr">
              <a:spcAft>
                <a:spcPts val="400"/>
              </a:spcAft>
            </a:pPr>
            <a:r>
              <a:rPr sz="3000" b="1">
                <a:solidFill>
                  <a:srgbClr val="FFFFFF"/>
                </a:solidFill>
                <a:latin typeface="Arial"/>
              </a:rPr>
              <a:t>4</a:t>
            </a:r>
          </a:p>
        </p:txBody>
      </p:sp>
      <p:sp>
        <p:nvSpPr>
          <p:cNvPr id="29" name="TextBox 28"/>
          <p:cNvSpPr txBox="1"/>
          <p:nvPr/>
        </p:nvSpPr>
        <p:spPr>
          <a:xfrm>
            <a:off x="7490763" y="3749040"/>
            <a:ext cx="1585569" cy="1325880"/>
          </a:xfrm>
          <a:prstGeom prst="rect">
            <a:avLst/>
          </a:prstGeom>
          <a:noFill/>
        </p:spPr>
        <p:txBody>
          <a:bodyPr wrap="square" anchor="t">
            <a:spAutoFit/>
          </a:bodyPr>
          <a:lstStyle/>
          <a:p>
            <a:pPr algn="ctr">
              <a:spcAft>
                <a:spcPts val="400"/>
              </a:spcAft>
            </a:pPr>
            <a:r>
              <a:rPr sz="1300" b="0">
                <a:solidFill>
                  <a:srgbClr val="161B26"/>
                </a:solidFill>
                <a:latin typeface="Arial"/>
              </a:rPr>
              <a:t>Approve
(if gated)</a:t>
            </a:r>
          </a:p>
        </p:txBody>
      </p:sp>
      <p:sp>
        <p:nvSpPr>
          <p:cNvPr id="30" name="TextBox 29"/>
          <p:cNvSpPr txBox="1"/>
          <p:nvPr/>
        </p:nvSpPr>
        <p:spPr>
          <a:xfrm>
            <a:off x="9186060" y="3497580"/>
            <a:ext cx="384048" cy="548640"/>
          </a:xfrm>
          <a:prstGeom prst="rect">
            <a:avLst/>
          </a:prstGeom>
          <a:noFill/>
        </p:spPr>
        <p:txBody>
          <a:bodyPr wrap="square" anchor="ctr">
            <a:spAutoFit/>
          </a:bodyPr>
          <a:lstStyle/>
          <a:p>
            <a:pPr algn="ctr">
              <a:spcAft>
                <a:spcPts val="400"/>
              </a:spcAft>
            </a:pPr>
            <a:r>
              <a:rPr sz="1500" b="1">
                <a:solidFill>
                  <a:srgbClr val="1F6FEB"/>
                </a:solidFill>
                <a:latin typeface="Arial"/>
              </a:rPr>
              <a:t>▶</a:t>
            </a:r>
          </a:p>
        </p:txBody>
      </p:sp>
      <p:sp>
        <p:nvSpPr>
          <p:cNvPr id="31" name="Rectangle 30"/>
          <p:cNvSpPr/>
          <p:nvPr/>
        </p:nvSpPr>
        <p:spPr>
          <a:xfrm>
            <a:off x="9533532" y="2331720"/>
            <a:ext cx="1878177" cy="288036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Rectangle 31"/>
          <p:cNvSpPr/>
          <p:nvPr/>
        </p:nvSpPr>
        <p:spPr>
          <a:xfrm>
            <a:off x="9533532" y="2331720"/>
            <a:ext cx="1878177" cy="9144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Oval 32"/>
          <p:cNvSpPr/>
          <p:nvPr/>
        </p:nvSpPr>
        <p:spPr>
          <a:xfrm>
            <a:off x="10097716" y="2715768"/>
            <a:ext cx="749808" cy="749808"/>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TextBox 33"/>
          <p:cNvSpPr txBox="1"/>
          <p:nvPr/>
        </p:nvSpPr>
        <p:spPr>
          <a:xfrm>
            <a:off x="10097716" y="2715768"/>
            <a:ext cx="749808" cy="749808"/>
          </a:xfrm>
          <a:prstGeom prst="rect">
            <a:avLst/>
          </a:prstGeom>
          <a:noFill/>
        </p:spPr>
        <p:txBody>
          <a:bodyPr wrap="square" anchor="ctr">
            <a:spAutoFit/>
          </a:bodyPr>
          <a:lstStyle/>
          <a:p>
            <a:pPr algn="ctr">
              <a:spcAft>
                <a:spcPts val="400"/>
              </a:spcAft>
            </a:pPr>
            <a:r>
              <a:rPr sz="3000" b="1">
                <a:solidFill>
                  <a:srgbClr val="FFFFFF"/>
                </a:solidFill>
                <a:latin typeface="Arial"/>
              </a:rPr>
              <a:t>5</a:t>
            </a:r>
          </a:p>
        </p:txBody>
      </p:sp>
      <p:sp>
        <p:nvSpPr>
          <p:cNvPr id="35" name="TextBox 34"/>
          <p:cNvSpPr txBox="1"/>
          <p:nvPr/>
        </p:nvSpPr>
        <p:spPr>
          <a:xfrm>
            <a:off x="9679836" y="3749040"/>
            <a:ext cx="1585569" cy="1325880"/>
          </a:xfrm>
          <a:prstGeom prst="rect">
            <a:avLst/>
          </a:prstGeom>
          <a:noFill/>
        </p:spPr>
        <p:txBody>
          <a:bodyPr wrap="square" anchor="t">
            <a:spAutoFit/>
          </a:bodyPr>
          <a:lstStyle/>
          <a:p>
            <a:pPr algn="ctr">
              <a:spcAft>
                <a:spcPts val="400"/>
              </a:spcAft>
            </a:pPr>
            <a:r>
              <a:rPr sz="1300" b="0">
                <a:solidFill>
                  <a:srgbClr val="161B26"/>
                </a:solidFill>
                <a:latin typeface="Arial"/>
              </a:rPr>
              <a:t>Deploy to Prod
progressive rollout</a:t>
            </a:r>
          </a:p>
        </p:txBody>
      </p:sp>
      <p:sp>
        <p:nvSpPr>
          <p:cNvPr id="36" name="TextBox 35"/>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DevOps Engineering on AWS  ·  TGS-2023040474</a:t>
            </a:r>
          </a:p>
        </p:txBody>
      </p:sp>
      <p:sp>
        <p:nvSpPr>
          <p:cNvPr id="37" name="TextBox 36"/>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38" name="TextBox 37"/>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29</a:t>
            </a:r>
          </a:p>
        </p:txBody>
      </p:sp>
    </p:spTree>
  </p:cSld>
  <p:clrMapOvr>
    <a:masterClrMapping/>
  </p:clrMapOvr>
  <p:transition xmlns:p14="http://schemas.microsoft.com/office/powerpoint/2010/main" p14:dur="380">
    <p:fade/>
  </p:transition>
</p:sld>
</file>

<file path=ppt/slides/slide3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38912"/>
            <a:ext cx="10607040" cy="365760"/>
          </a:xfrm>
          <a:prstGeom prst="rect">
            <a:avLst/>
          </a:prstGeom>
          <a:noFill/>
        </p:spPr>
        <p:txBody>
          <a:bodyPr wrap="square" anchor="t">
            <a:spAutoFit/>
          </a:bodyPr>
          <a:lstStyle/>
          <a:p>
            <a:pPr algn="l">
              <a:spcAft>
                <a:spcPts val="400"/>
              </a:spcAft>
            </a:pPr>
            <a:r>
              <a:rPr sz="1400" b="1">
                <a:solidFill>
                  <a:srgbClr val="1F6FEB"/>
                </a:solidFill>
                <a:latin typeface="Arial"/>
              </a:rPr>
              <a:t>SOURCE INTEGRATION</a:t>
            </a:r>
          </a:p>
        </p:txBody>
      </p:sp>
      <p:sp>
        <p:nvSpPr>
          <p:cNvPr id="5" name="TextBox 4"/>
          <p:cNvSpPr txBox="1"/>
          <p:nvPr/>
        </p:nvSpPr>
        <p:spPr>
          <a:xfrm>
            <a:off x="777240" y="896112"/>
            <a:ext cx="10927080" cy="731520"/>
          </a:xfrm>
          <a:prstGeom prst="rect">
            <a:avLst/>
          </a:prstGeom>
          <a:noFill/>
        </p:spPr>
        <p:txBody>
          <a:bodyPr wrap="square" anchor="t">
            <a:spAutoFit/>
          </a:bodyPr>
          <a:lstStyle/>
          <a:p>
            <a:pPr algn="l">
              <a:spcAft>
                <a:spcPts val="400"/>
              </a:spcAft>
            </a:pPr>
            <a:r>
              <a:rPr sz="2100" b="1">
                <a:solidFill>
                  <a:srgbClr val="161B26"/>
                </a:solidFill>
                <a:latin typeface="Arial"/>
              </a:rPr>
              <a:t>GitHub via AWS CodeConnections — The Modern Source Path</a:t>
            </a:r>
          </a:p>
        </p:txBody>
      </p:sp>
      <p:sp>
        <p:nvSpPr>
          <p:cNvPr id="6" name="Rectangle 5"/>
          <p:cNvSpPr/>
          <p:nvPr/>
        </p:nvSpPr>
        <p:spPr>
          <a:xfrm>
            <a:off x="777240" y="1572768"/>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783080"/>
            <a:ext cx="5180076" cy="207568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1783080"/>
            <a:ext cx="91440" cy="2075688"/>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1033272" y="2546604"/>
            <a:ext cx="548640" cy="548640"/>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033272" y="2546604"/>
            <a:ext cx="548640" cy="548640"/>
          </a:xfrm>
          <a:prstGeom prst="rect">
            <a:avLst/>
          </a:prstGeom>
          <a:noFill/>
        </p:spPr>
        <p:txBody>
          <a:bodyPr wrap="square" anchor="ctr">
            <a:spAutoFit/>
          </a:bodyPr>
          <a:lstStyle/>
          <a:p>
            <a:pPr algn="ctr">
              <a:spcAft>
                <a:spcPts val="400"/>
              </a:spcAft>
            </a:pPr>
            <a:r>
              <a:rPr sz="1800" b="1">
                <a:solidFill>
                  <a:srgbClr val="FFFFFF"/>
                </a:solidFill>
                <a:latin typeface="Arial"/>
              </a:rPr>
              <a:t>1</a:t>
            </a:r>
          </a:p>
        </p:txBody>
      </p:sp>
      <p:sp>
        <p:nvSpPr>
          <p:cNvPr id="11" name="TextBox 10"/>
          <p:cNvSpPr txBox="1"/>
          <p:nvPr/>
        </p:nvSpPr>
        <p:spPr>
          <a:xfrm>
            <a:off x="1764792" y="1892808"/>
            <a:ext cx="3973068" cy="1892808"/>
          </a:xfrm>
          <a:prstGeom prst="rect">
            <a:avLst/>
          </a:prstGeom>
          <a:noFill/>
        </p:spPr>
        <p:txBody>
          <a:bodyPr wrap="square" anchor="ctr">
            <a:spAutoFit/>
          </a:bodyPr>
          <a:lstStyle/>
          <a:p>
            <a:pPr algn="l">
              <a:spcAft>
                <a:spcPts val="300"/>
              </a:spcAft>
            </a:pPr>
            <a:r>
              <a:rPr sz="1600" b="1">
                <a:solidFill>
                  <a:srgbClr val="161B26"/>
                </a:solidFill>
                <a:latin typeface="Arial"/>
              </a:rPr>
              <a:t>Managed connection</a:t>
            </a:r>
          </a:p>
          <a:p>
            <a:pPr algn="l">
              <a:spcAft>
                <a:spcPts val="300"/>
              </a:spcAft>
            </a:pPr>
            <a:r>
              <a:rPr sz="1200" b="0">
                <a:solidFill>
                  <a:srgbClr val="5B6372"/>
                </a:solidFill>
                <a:latin typeface="Arial"/>
              </a:rPr>
              <a:t>Connect GitHub/GitHub Enterprise/Bitbucket/GitLab without long-lived Git credentials.</a:t>
            </a:r>
          </a:p>
        </p:txBody>
      </p:sp>
      <p:sp>
        <p:nvSpPr>
          <p:cNvPr id="12" name="Rectangle 11"/>
          <p:cNvSpPr/>
          <p:nvPr/>
        </p:nvSpPr>
        <p:spPr>
          <a:xfrm>
            <a:off x="6231636" y="1783080"/>
            <a:ext cx="5180076" cy="207568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6231636" y="1783080"/>
            <a:ext cx="91440" cy="2075688"/>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Oval 13"/>
          <p:cNvSpPr/>
          <p:nvPr/>
        </p:nvSpPr>
        <p:spPr>
          <a:xfrm>
            <a:off x="6487668" y="2546604"/>
            <a:ext cx="548640" cy="54864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6487668" y="2546604"/>
            <a:ext cx="548640" cy="548640"/>
          </a:xfrm>
          <a:prstGeom prst="rect">
            <a:avLst/>
          </a:prstGeom>
          <a:noFill/>
        </p:spPr>
        <p:txBody>
          <a:bodyPr wrap="square" anchor="ctr">
            <a:spAutoFit/>
          </a:bodyPr>
          <a:lstStyle/>
          <a:p>
            <a:pPr algn="ctr">
              <a:spcAft>
                <a:spcPts val="400"/>
              </a:spcAft>
            </a:pPr>
            <a:r>
              <a:rPr sz="1800" b="1">
                <a:solidFill>
                  <a:srgbClr val="FFFFFF"/>
                </a:solidFill>
                <a:latin typeface="Arial"/>
              </a:rPr>
              <a:t>2</a:t>
            </a:r>
          </a:p>
        </p:txBody>
      </p:sp>
      <p:sp>
        <p:nvSpPr>
          <p:cNvPr id="16" name="TextBox 15"/>
          <p:cNvSpPr txBox="1"/>
          <p:nvPr/>
        </p:nvSpPr>
        <p:spPr>
          <a:xfrm>
            <a:off x="7219188" y="1892808"/>
            <a:ext cx="3973068" cy="1892808"/>
          </a:xfrm>
          <a:prstGeom prst="rect">
            <a:avLst/>
          </a:prstGeom>
          <a:noFill/>
        </p:spPr>
        <p:txBody>
          <a:bodyPr wrap="square" anchor="ctr">
            <a:spAutoFit/>
          </a:bodyPr>
          <a:lstStyle/>
          <a:p>
            <a:pPr algn="l">
              <a:spcAft>
                <a:spcPts val="300"/>
              </a:spcAft>
            </a:pPr>
            <a:r>
              <a:rPr sz="1600" b="1">
                <a:solidFill>
                  <a:srgbClr val="161B26"/>
                </a:solidFill>
                <a:latin typeface="Arial"/>
              </a:rPr>
              <a:t>Webhook triggers</a:t>
            </a:r>
          </a:p>
          <a:p>
            <a:pPr algn="l">
              <a:spcAft>
                <a:spcPts val="300"/>
              </a:spcAft>
            </a:pPr>
            <a:r>
              <a:rPr sz="1200" b="0">
                <a:solidFill>
                  <a:srgbClr val="5B6372"/>
                </a:solidFill>
                <a:latin typeface="Arial"/>
              </a:rPr>
              <a:t>A push starts the pipeline instantly — no polling latency.</a:t>
            </a:r>
          </a:p>
        </p:txBody>
      </p:sp>
      <p:sp>
        <p:nvSpPr>
          <p:cNvPr id="17" name="Rectangle 16"/>
          <p:cNvSpPr/>
          <p:nvPr/>
        </p:nvSpPr>
        <p:spPr>
          <a:xfrm>
            <a:off x="777240" y="4078224"/>
            <a:ext cx="5180076" cy="207568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777240" y="4078224"/>
            <a:ext cx="91440" cy="2075688"/>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Oval 18"/>
          <p:cNvSpPr/>
          <p:nvPr/>
        </p:nvSpPr>
        <p:spPr>
          <a:xfrm>
            <a:off x="1033272" y="4841748"/>
            <a:ext cx="548640" cy="548640"/>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1033272" y="4841748"/>
            <a:ext cx="548640" cy="548640"/>
          </a:xfrm>
          <a:prstGeom prst="rect">
            <a:avLst/>
          </a:prstGeom>
          <a:noFill/>
        </p:spPr>
        <p:txBody>
          <a:bodyPr wrap="square" anchor="ctr">
            <a:spAutoFit/>
          </a:bodyPr>
          <a:lstStyle/>
          <a:p>
            <a:pPr algn="ctr">
              <a:spcAft>
                <a:spcPts val="400"/>
              </a:spcAft>
            </a:pPr>
            <a:r>
              <a:rPr sz="1800" b="1">
                <a:solidFill>
                  <a:srgbClr val="FFFFFF"/>
                </a:solidFill>
                <a:latin typeface="Arial"/>
              </a:rPr>
              <a:t>3</a:t>
            </a:r>
          </a:p>
        </p:txBody>
      </p:sp>
      <p:sp>
        <p:nvSpPr>
          <p:cNvPr id="21" name="TextBox 20"/>
          <p:cNvSpPr txBox="1"/>
          <p:nvPr/>
        </p:nvSpPr>
        <p:spPr>
          <a:xfrm>
            <a:off x="1764792" y="4187952"/>
            <a:ext cx="3973068" cy="1892808"/>
          </a:xfrm>
          <a:prstGeom prst="rect">
            <a:avLst/>
          </a:prstGeom>
          <a:noFill/>
        </p:spPr>
        <p:txBody>
          <a:bodyPr wrap="square" anchor="ctr">
            <a:spAutoFit/>
          </a:bodyPr>
          <a:lstStyle/>
          <a:p>
            <a:pPr algn="l">
              <a:spcAft>
                <a:spcPts val="300"/>
              </a:spcAft>
            </a:pPr>
            <a:r>
              <a:rPr sz="1600" b="1">
                <a:solidFill>
                  <a:srgbClr val="161B26"/>
                </a:solidFill>
                <a:latin typeface="Arial"/>
              </a:rPr>
              <a:t>Keep your workflow</a:t>
            </a:r>
          </a:p>
          <a:p>
            <a:pPr algn="l">
              <a:spcAft>
                <a:spcPts val="300"/>
              </a:spcAft>
            </a:pPr>
            <a:r>
              <a:rPr sz="1200" b="0">
                <a:solidFill>
                  <a:srgbClr val="5B6372"/>
                </a:solidFill>
                <a:latin typeface="Arial"/>
              </a:rPr>
              <a:t>Existing pull requests, reviews and branch protection still apply.</a:t>
            </a:r>
          </a:p>
        </p:txBody>
      </p:sp>
      <p:sp>
        <p:nvSpPr>
          <p:cNvPr id="22" name="Rectangle 21"/>
          <p:cNvSpPr/>
          <p:nvPr/>
        </p:nvSpPr>
        <p:spPr>
          <a:xfrm>
            <a:off x="6231636" y="4078224"/>
            <a:ext cx="5180076" cy="207568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ectangle 22"/>
          <p:cNvSpPr/>
          <p:nvPr/>
        </p:nvSpPr>
        <p:spPr>
          <a:xfrm>
            <a:off x="6231636" y="4078224"/>
            <a:ext cx="91440" cy="2075688"/>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Oval 23"/>
          <p:cNvSpPr/>
          <p:nvPr/>
        </p:nvSpPr>
        <p:spPr>
          <a:xfrm>
            <a:off x="6487668" y="4841748"/>
            <a:ext cx="548640" cy="548640"/>
          </a:xfrm>
          <a:prstGeom prst="ellipse">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6487668" y="4841748"/>
            <a:ext cx="548640" cy="548640"/>
          </a:xfrm>
          <a:prstGeom prst="rect">
            <a:avLst/>
          </a:prstGeom>
          <a:noFill/>
        </p:spPr>
        <p:txBody>
          <a:bodyPr wrap="square" anchor="ctr">
            <a:spAutoFit/>
          </a:bodyPr>
          <a:lstStyle/>
          <a:p>
            <a:pPr algn="ctr">
              <a:spcAft>
                <a:spcPts val="400"/>
              </a:spcAft>
            </a:pPr>
            <a:r>
              <a:rPr sz="1800" b="1">
                <a:solidFill>
                  <a:srgbClr val="FFFFFF"/>
                </a:solidFill>
                <a:latin typeface="Arial"/>
              </a:rPr>
              <a:t>4</a:t>
            </a:r>
          </a:p>
        </p:txBody>
      </p:sp>
      <p:sp>
        <p:nvSpPr>
          <p:cNvPr id="26" name="TextBox 25"/>
          <p:cNvSpPr txBox="1"/>
          <p:nvPr/>
        </p:nvSpPr>
        <p:spPr>
          <a:xfrm>
            <a:off x="7219188" y="4187952"/>
            <a:ext cx="3973068" cy="1892808"/>
          </a:xfrm>
          <a:prstGeom prst="rect">
            <a:avLst/>
          </a:prstGeom>
          <a:noFill/>
        </p:spPr>
        <p:txBody>
          <a:bodyPr wrap="square" anchor="ctr">
            <a:spAutoFit/>
          </a:bodyPr>
          <a:lstStyle/>
          <a:p>
            <a:pPr algn="l">
              <a:spcAft>
                <a:spcPts val="300"/>
              </a:spcAft>
            </a:pPr>
            <a:r>
              <a:rPr sz="1600" b="1">
                <a:solidFill>
                  <a:srgbClr val="161B26"/>
                </a:solidFill>
                <a:latin typeface="Arial"/>
              </a:rPr>
              <a:t>CodeCommit optional</a:t>
            </a:r>
          </a:p>
          <a:p>
            <a:pPr algn="l">
              <a:spcAft>
                <a:spcPts val="300"/>
              </a:spcAft>
            </a:pPr>
            <a:r>
              <a:rPr sz="1200" b="0">
                <a:solidFill>
                  <a:srgbClr val="5B6372"/>
                </a:solidFill>
                <a:latin typeface="Arial"/>
              </a:rPr>
              <a:t>AWS-native Git remains available, but is not required for new work.</a:t>
            </a:r>
          </a:p>
        </p:txBody>
      </p:sp>
      <p:sp>
        <p:nvSpPr>
          <p:cNvPr id="27" name="TextBox 26"/>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DevOps Engineering on AWS  ·  TGS-2023040474</a:t>
            </a:r>
          </a:p>
        </p:txBody>
      </p:sp>
      <p:sp>
        <p:nvSpPr>
          <p:cNvPr id="28" name="TextBox 27"/>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29" name="TextBox 28"/>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30</a:t>
            </a:r>
          </a:p>
        </p:txBody>
      </p:sp>
    </p:spTree>
  </p:cSld>
  <p:clrMapOvr>
    <a:masterClrMapping/>
  </p:clrMapOvr>
  <p:transition xmlns:p14="http://schemas.microsoft.com/office/powerpoint/2010/main" p14:dur="380">
    <p:fade/>
  </p:transition>
</p:sld>
</file>

<file path=ppt/slides/slide3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38912"/>
            <a:ext cx="10607040" cy="365760"/>
          </a:xfrm>
          <a:prstGeom prst="rect">
            <a:avLst/>
          </a:prstGeom>
          <a:noFill/>
        </p:spPr>
        <p:txBody>
          <a:bodyPr wrap="square" anchor="t">
            <a:spAutoFit/>
          </a:bodyPr>
          <a:lstStyle/>
          <a:p>
            <a:pPr algn="l">
              <a:spcAft>
                <a:spcPts val="400"/>
              </a:spcAft>
            </a:pPr>
            <a:r>
              <a:rPr sz="1400" b="1">
                <a:solidFill>
                  <a:srgbClr val="7C3AED"/>
                </a:solidFill>
                <a:latin typeface="Arial"/>
              </a:rPr>
              <a:t>A CLOUD-NATIVE MINDSET</a:t>
            </a:r>
          </a:p>
        </p:txBody>
      </p:sp>
      <p:sp>
        <p:nvSpPr>
          <p:cNvPr id="5" name="TextBox 4"/>
          <p:cNvSpPr txBox="1"/>
          <p:nvPr/>
        </p:nvSpPr>
        <p:spPr>
          <a:xfrm>
            <a:off x="777240" y="896112"/>
            <a:ext cx="10927080" cy="731520"/>
          </a:xfrm>
          <a:prstGeom prst="rect">
            <a:avLst/>
          </a:prstGeom>
          <a:noFill/>
        </p:spPr>
        <p:txBody>
          <a:bodyPr wrap="square" anchor="t">
            <a:spAutoFit/>
          </a:bodyPr>
          <a:lstStyle/>
          <a:p>
            <a:pPr algn="l">
              <a:spcAft>
                <a:spcPts val="400"/>
              </a:spcAft>
            </a:pPr>
            <a:r>
              <a:rPr sz="2500" b="1">
                <a:solidFill>
                  <a:srgbClr val="161B26"/>
                </a:solidFill>
                <a:latin typeface="Arial"/>
              </a:rPr>
              <a:t>Immutable Infrastructure — Cattle, Not Pets</a:t>
            </a:r>
          </a:p>
        </p:txBody>
      </p:sp>
      <p:sp>
        <p:nvSpPr>
          <p:cNvPr id="6" name="Rectangle 5"/>
          <p:cNvSpPr/>
          <p:nvPr/>
        </p:nvSpPr>
        <p:spPr>
          <a:xfrm>
            <a:off x="777240" y="1572768"/>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783080"/>
            <a:ext cx="5180076" cy="207568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1783080"/>
            <a:ext cx="91440" cy="2075688"/>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1033272" y="2546604"/>
            <a:ext cx="548640" cy="548640"/>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033272" y="2546604"/>
            <a:ext cx="548640" cy="548640"/>
          </a:xfrm>
          <a:prstGeom prst="rect">
            <a:avLst/>
          </a:prstGeom>
          <a:noFill/>
        </p:spPr>
        <p:txBody>
          <a:bodyPr wrap="square" anchor="ctr">
            <a:spAutoFit/>
          </a:bodyPr>
          <a:lstStyle/>
          <a:p>
            <a:pPr algn="ctr">
              <a:spcAft>
                <a:spcPts val="400"/>
              </a:spcAft>
            </a:pPr>
            <a:r>
              <a:rPr sz="1800" b="1">
                <a:solidFill>
                  <a:srgbClr val="FFFFFF"/>
                </a:solidFill>
                <a:latin typeface="Arial"/>
              </a:rPr>
              <a:t>1</a:t>
            </a:r>
          </a:p>
        </p:txBody>
      </p:sp>
      <p:sp>
        <p:nvSpPr>
          <p:cNvPr id="11" name="TextBox 10"/>
          <p:cNvSpPr txBox="1"/>
          <p:nvPr/>
        </p:nvSpPr>
        <p:spPr>
          <a:xfrm>
            <a:off x="1764792" y="1892808"/>
            <a:ext cx="3973068" cy="1892808"/>
          </a:xfrm>
          <a:prstGeom prst="rect">
            <a:avLst/>
          </a:prstGeom>
          <a:noFill/>
        </p:spPr>
        <p:txBody>
          <a:bodyPr wrap="square" anchor="ctr">
            <a:spAutoFit/>
          </a:bodyPr>
          <a:lstStyle/>
          <a:p>
            <a:pPr algn="l">
              <a:spcAft>
                <a:spcPts val="300"/>
              </a:spcAft>
            </a:pPr>
            <a:r>
              <a:rPr sz="1600" b="1">
                <a:solidFill>
                  <a:srgbClr val="161B26"/>
                </a:solidFill>
                <a:latin typeface="Arial"/>
              </a:rPr>
              <a:t>Replace, don't patch</a:t>
            </a:r>
          </a:p>
          <a:p>
            <a:pPr algn="l">
              <a:spcAft>
                <a:spcPts val="300"/>
              </a:spcAft>
            </a:pPr>
            <a:r>
              <a:rPr sz="1200" b="0">
                <a:solidFill>
                  <a:srgbClr val="5B6372"/>
                </a:solidFill>
                <a:latin typeface="Arial"/>
              </a:rPr>
              <a:t>Deploy a new, tested image instead of mutating running servers.</a:t>
            </a:r>
          </a:p>
        </p:txBody>
      </p:sp>
      <p:sp>
        <p:nvSpPr>
          <p:cNvPr id="12" name="Rectangle 11"/>
          <p:cNvSpPr/>
          <p:nvPr/>
        </p:nvSpPr>
        <p:spPr>
          <a:xfrm>
            <a:off x="6231636" y="1783080"/>
            <a:ext cx="5180076" cy="207568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6231636" y="1783080"/>
            <a:ext cx="91440" cy="2075688"/>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Oval 13"/>
          <p:cNvSpPr/>
          <p:nvPr/>
        </p:nvSpPr>
        <p:spPr>
          <a:xfrm>
            <a:off x="6487668" y="2546604"/>
            <a:ext cx="548640" cy="54864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6487668" y="2546604"/>
            <a:ext cx="548640" cy="548640"/>
          </a:xfrm>
          <a:prstGeom prst="rect">
            <a:avLst/>
          </a:prstGeom>
          <a:noFill/>
        </p:spPr>
        <p:txBody>
          <a:bodyPr wrap="square" anchor="ctr">
            <a:spAutoFit/>
          </a:bodyPr>
          <a:lstStyle/>
          <a:p>
            <a:pPr algn="ctr">
              <a:spcAft>
                <a:spcPts val="400"/>
              </a:spcAft>
            </a:pPr>
            <a:r>
              <a:rPr sz="1800" b="1">
                <a:solidFill>
                  <a:srgbClr val="FFFFFF"/>
                </a:solidFill>
                <a:latin typeface="Arial"/>
              </a:rPr>
              <a:t>2</a:t>
            </a:r>
          </a:p>
        </p:txBody>
      </p:sp>
      <p:sp>
        <p:nvSpPr>
          <p:cNvPr id="16" name="TextBox 15"/>
          <p:cNvSpPr txBox="1"/>
          <p:nvPr/>
        </p:nvSpPr>
        <p:spPr>
          <a:xfrm>
            <a:off x="7219188" y="1892808"/>
            <a:ext cx="3973068" cy="1892808"/>
          </a:xfrm>
          <a:prstGeom prst="rect">
            <a:avLst/>
          </a:prstGeom>
          <a:noFill/>
        </p:spPr>
        <p:txBody>
          <a:bodyPr wrap="square" anchor="ctr">
            <a:spAutoFit/>
          </a:bodyPr>
          <a:lstStyle/>
          <a:p>
            <a:pPr algn="l">
              <a:spcAft>
                <a:spcPts val="300"/>
              </a:spcAft>
            </a:pPr>
            <a:r>
              <a:rPr sz="1600" b="1">
                <a:solidFill>
                  <a:srgbClr val="161B26"/>
                </a:solidFill>
                <a:latin typeface="Arial"/>
              </a:rPr>
              <a:t>No configuration drift</a:t>
            </a:r>
          </a:p>
          <a:p>
            <a:pPr algn="l">
              <a:spcAft>
                <a:spcPts val="300"/>
              </a:spcAft>
            </a:pPr>
            <a:r>
              <a:rPr sz="1200" b="0">
                <a:solidFill>
                  <a:srgbClr val="5B6372"/>
                </a:solidFill>
                <a:latin typeface="Arial"/>
              </a:rPr>
              <a:t>Every instance is built the same way from the same artifact.</a:t>
            </a:r>
          </a:p>
        </p:txBody>
      </p:sp>
      <p:sp>
        <p:nvSpPr>
          <p:cNvPr id="17" name="Rectangle 16"/>
          <p:cNvSpPr/>
          <p:nvPr/>
        </p:nvSpPr>
        <p:spPr>
          <a:xfrm>
            <a:off x="777240" y="4078224"/>
            <a:ext cx="5180076" cy="207568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777240" y="4078224"/>
            <a:ext cx="91440" cy="2075688"/>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Oval 18"/>
          <p:cNvSpPr/>
          <p:nvPr/>
        </p:nvSpPr>
        <p:spPr>
          <a:xfrm>
            <a:off x="1033272" y="4841748"/>
            <a:ext cx="548640" cy="548640"/>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1033272" y="4841748"/>
            <a:ext cx="548640" cy="548640"/>
          </a:xfrm>
          <a:prstGeom prst="rect">
            <a:avLst/>
          </a:prstGeom>
          <a:noFill/>
        </p:spPr>
        <p:txBody>
          <a:bodyPr wrap="square" anchor="ctr">
            <a:spAutoFit/>
          </a:bodyPr>
          <a:lstStyle/>
          <a:p>
            <a:pPr algn="ctr">
              <a:spcAft>
                <a:spcPts val="400"/>
              </a:spcAft>
            </a:pPr>
            <a:r>
              <a:rPr sz="1800" b="1">
                <a:solidFill>
                  <a:srgbClr val="FFFFFF"/>
                </a:solidFill>
                <a:latin typeface="Arial"/>
              </a:rPr>
              <a:t>3</a:t>
            </a:r>
          </a:p>
        </p:txBody>
      </p:sp>
      <p:sp>
        <p:nvSpPr>
          <p:cNvPr id="21" name="TextBox 20"/>
          <p:cNvSpPr txBox="1"/>
          <p:nvPr/>
        </p:nvSpPr>
        <p:spPr>
          <a:xfrm>
            <a:off x="1764792" y="4187952"/>
            <a:ext cx="3973068" cy="1892808"/>
          </a:xfrm>
          <a:prstGeom prst="rect">
            <a:avLst/>
          </a:prstGeom>
          <a:noFill/>
        </p:spPr>
        <p:txBody>
          <a:bodyPr wrap="square" anchor="ctr">
            <a:spAutoFit/>
          </a:bodyPr>
          <a:lstStyle/>
          <a:p>
            <a:pPr algn="l">
              <a:spcAft>
                <a:spcPts val="300"/>
              </a:spcAft>
            </a:pPr>
            <a:r>
              <a:rPr sz="1600" b="1">
                <a:solidFill>
                  <a:srgbClr val="161B26"/>
                </a:solidFill>
                <a:latin typeface="Arial"/>
              </a:rPr>
              <a:t>Fast, safe rollback</a:t>
            </a:r>
          </a:p>
          <a:p>
            <a:pPr algn="l">
              <a:spcAft>
                <a:spcPts val="300"/>
              </a:spcAft>
            </a:pPr>
            <a:r>
              <a:rPr sz="1200" b="0">
                <a:solidFill>
                  <a:srgbClr val="5B6372"/>
                </a:solidFill>
                <a:latin typeface="Arial"/>
              </a:rPr>
              <a:t>Roll back by launching the previous known-good image.</a:t>
            </a:r>
          </a:p>
        </p:txBody>
      </p:sp>
      <p:sp>
        <p:nvSpPr>
          <p:cNvPr id="22" name="Rectangle 21"/>
          <p:cNvSpPr/>
          <p:nvPr/>
        </p:nvSpPr>
        <p:spPr>
          <a:xfrm>
            <a:off x="6231636" y="4078224"/>
            <a:ext cx="5180076" cy="207568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ectangle 22"/>
          <p:cNvSpPr/>
          <p:nvPr/>
        </p:nvSpPr>
        <p:spPr>
          <a:xfrm>
            <a:off x="6231636" y="4078224"/>
            <a:ext cx="91440" cy="2075688"/>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Oval 23"/>
          <p:cNvSpPr/>
          <p:nvPr/>
        </p:nvSpPr>
        <p:spPr>
          <a:xfrm>
            <a:off x="6487668" y="4841748"/>
            <a:ext cx="548640" cy="548640"/>
          </a:xfrm>
          <a:prstGeom prst="ellipse">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6487668" y="4841748"/>
            <a:ext cx="548640" cy="548640"/>
          </a:xfrm>
          <a:prstGeom prst="rect">
            <a:avLst/>
          </a:prstGeom>
          <a:noFill/>
        </p:spPr>
        <p:txBody>
          <a:bodyPr wrap="square" anchor="ctr">
            <a:spAutoFit/>
          </a:bodyPr>
          <a:lstStyle/>
          <a:p>
            <a:pPr algn="ctr">
              <a:spcAft>
                <a:spcPts val="400"/>
              </a:spcAft>
            </a:pPr>
            <a:r>
              <a:rPr sz="1800" b="1">
                <a:solidFill>
                  <a:srgbClr val="FFFFFF"/>
                </a:solidFill>
                <a:latin typeface="Arial"/>
              </a:rPr>
              <a:t>4</a:t>
            </a:r>
          </a:p>
        </p:txBody>
      </p:sp>
      <p:sp>
        <p:nvSpPr>
          <p:cNvPr id="26" name="TextBox 25"/>
          <p:cNvSpPr txBox="1"/>
          <p:nvPr/>
        </p:nvSpPr>
        <p:spPr>
          <a:xfrm>
            <a:off x="7219188" y="4187952"/>
            <a:ext cx="3973068" cy="1892808"/>
          </a:xfrm>
          <a:prstGeom prst="rect">
            <a:avLst/>
          </a:prstGeom>
          <a:noFill/>
        </p:spPr>
        <p:txBody>
          <a:bodyPr wrap="square" anchor="ctr">
            <a:spAutoFit/>
          </a:bodyPr>
          <a:lstStyle/>
          <a:p>
            <a:pPr algn="l">
              <a:spcAft>
                <a:spcPts val="300"/>
              </a:spcAft>
            </a:pPr>
            <a:r>
              <a:rPr sz="1600" b="1">
                <a:solidFill>
                  <a:srgbClr val="161B26"/>
                </a:solidFill>
                <a:latin typeface="Arial"/>
              </a:rPr>
              <a:t>Bake with a pipeline</a:t>
            </a:r>
          </a:p>
          <a:p>
            <a:pPr algn="l">
              <a:spcAft>
                <a:spcPts val="300"/>
              </a:spcAft>
            </a:pPr>
            <a:r>
              <a:rPr sz="1200" b="0">
                <a:solidFill>
                  <a:srgbClr val="5B6372"/>
                </a:solidFill>
                <a:latin typeface="Arial"/>
              </a:rPr>
              <a:t>EC2 Image Builder / golden AMIs produce reproducible images.</a:t>
            </a:r>
          </a:p>
        </p:txBody>
      </p:sp>
      <p:sp>
        <p:nvSpPr>
          <p:cNvPr id="27" name="TextBox 26"/>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DevOps Engineering on AWS  ·  TGS-2023040474</a:t>
            </a:r>
          </a:p>
        </p:txBody>
      </p:sp>
      <p:sp>
        <p:nvSpPr>
          <p:cNvPr id="28" name="TextBox 27"/>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29" name="TextBox 28"/>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31</a:t>
            </a:r>
          </a:p>
        </p:txBody>
      </p:sp>
    </p:spTree>
  </p:cSld>
  <p:clrMapOvr>
    <a:masterClrMapping/>
  </p:clrMapOvr>
  <p:transition xmlns:p14="http://schemas.microsoft.com/office/powerpoint/2010/main" p14:dur="380">
    <p:fade/>
  </p:transition>
</p:sld>
</file>

<file path=ppt/slides/slide3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38912"/>
            <a:ext cx="10607040" cy="365760"/>
          </a:xfrm>
          <a:prstGeom prst="rect">
            <a:avLst/>
          </a:prstGeom>
          <a:noFill/>
        </p:spPr>
        <p:txBody>
          <a:bodyPr wrap="square" anchor="t">
            <a:spAutoFit/>
          </a:bodyPr>
          <a:lstStyle/>
          <a:p>
            <a:pPr algn="l">
              <a:spcAft>
                <a:spcPts val="400"/>
              </a:spcAft>
            </a:pPr>
            <a:r>
              <a:rPr sz="1400" b="1">
                <a:solidFill>
                  <a:srgbClr val="10B981"/>
                </a:solidFill>
                <a:latin typeface="Arial"/>
              </a:rPr>
              <a:t>DEVOPS MEETS FINOPS</a:t>
            </a:r>
          </a:p>
        </p:txBody>
      </p:sp>
      <p:sp>
        <p:nvSpPr>
          <p:cNvPr id="5" name="TextBox 4"/>
          <p:cNvSpPr txBox="1"/>
          <p:nvPr/>
        </p:nvSpPr>
        <p:spPr>
          <a:xfrm>
            <a:off x="777240" y="804672"/>
            <a:ext cx="10927080" cy="731520"/>
          </a:xfrm>
          <a:prstGeom prst="rect">
            <a:avLst/>
          </a:prstGeom>
          <a:noFill/>
        </p:spPr>
        <p:txBody>
          <a:bodyPr wrap="square" anchor="t">
            <a:spAutoFit/>
          </a:bodyPr>
          <a:lstStyle/>
          <a:p>
            <a:pPr algn="l">
              <a:spcAft>
                <a:spcPts val="400"/>
              </a:spcAft>
            </a:pPr>
            <a:r>
              <a:rPr sz="2900" b="1">
                <a:solidFill>
                  <a:srgbClr val="161B26"/>
                </a:solidFill>
                <a:latin typeface="Arial"/>
              </a:rPr>
              <a:t>Cost Awareness in DevOps — Build It In</a:t>
            </a:r>
          </a:p>
        </p:txBody>
      </p:sp>
      <p:sp>
        <p:nvSpPr>
          <p:cNvPr id="6" name="Rectangle 5"/>
          <p:cNvSpPr/>
          <p:nvPr/>
        </p:nvSpPr>
        <p:spPr>
          <a:xfrm>
            <a:off x="777240" y="1572768"/>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783080"/>
            <a:ext cx="5180076" cy="207568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1783080"/>
            <a:ext cx="91440" cy="2075688"/>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1033272" y="2546604"/>
            <a:ext cx="548640" cy="548640"/>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033272" y="2546604"/>
            <a:ext cx="548640" cy="548640"/>
          </a:xfrm>
          <a:prstGeom prst="rect">
            <a:avLst/>
          </a:prstGeom>
          <a:noFill/>
        </p:spPr>
        <p:txBody>
          <a:bodyPr wrap="square" anchor="ctr">
            <a:spAutoFit/>
          </a:bodyPr>
          <a:lstStyle/>
          <a:p>
            <a:pPr algn="ctr">
              <a:spcAft>
                <a:spcPts val="400"/>
              </a:spcAft>
            </a:pPr>
            <a:r>
              <a:rPr sz="1800" b="1">
                <a:solidFill>
                  <a:srgbClr val="FFFFFF"/>
                </a:solidFill>
                <a:latin typeface="Arial"/>
              </a:rPr>
              <a:t>1</a:t>
            </a:r>
          </a:p>
        </p:txBody>
      </p:sp>
      <p:sp>
        <p:nvSpPr>
          <p:cNvPr id="11" name="TextBox 10"/>
          <p:cNvSpPr txBox="1"/>
          <p:nvPr/>
        </p:nvSpPr>
        <p:spPr>
          <a:xfrm>
            <a:off x="1764792" y="1892808"/>
            <a:ext cx="3973068" cy="1892808"/>
          </a:xfrm>
          <a:prstGeom prst="rect">
            <a:avLst/>
          </a:prstGeom>
          <a:noFill/>
        </p:spPr>
        <p:txBody>
          <a:bodyPr wrap="square" anchor="ctr">
            <a:spAutoFit/>
          </a:bodyPr>
          <a:lstStyle/>
          <a:p>
            <a:pPr algn="l">
              <a:spcAft>
                <a:spcPts val="300"/>
              </a:spcAft>
            </a:pPr>
            <a:r>
              <a:rPr sz="1600" b="1">
                <a:solidFill>
                  <a:srgbClr val="161B26"/>
                </a:solidFill>
                <a:latin typeface="Arial"/>
              </a:rPr>
              <a:t>Right-size &amp; auto-scale</a:t>
            </a:r>
          </a:p>
          <a:p>
            <a:pPr algn="l">
              <a:spcAft>
                <a:spcPts val="300"/>
              </a:spcAft>
            </a:pPr>
            <a:r>
              <a:rPr sz="1200" b="0">
                <a:solidFill>
                  <a:srgbClr val="5B6372"/>
                </a:solidFill>
                <a:latin typeface="Arial"/>
              </a:rPr>
              <a:t>Match capacity to demand; scale to zero where you can.</a:t>
            </a:r>
          </a:p>
        </p:txBody>
      </p:sp>
      <p:sp>
        <p:nvSpPr>
          <p:cNvPr id="12" name="Rectangle 11"/>
          <p:cNvSpPr/>
          <p:nvPr/>
        </p:nvSpPr>
        <p:spPr>
          <a:xfrm>
            <a:off x="6231636" y="1783080"/>
            <a:ext cx="5180076" cy="207568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6231636" y="1783080"/>
            <a:ext cx="91440" cy="2075688"/>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Oval 13"/>
          <p:cNvSpPr/>
          <p:nvPr/>
        </p:nvSpPr>
        <p:spPr>
          <a:xfrm>
            <a:off x="6487668" y="2546604"/>
            <a:ext cx="548640" cy="54864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6487668" y="2546604"/>
            <a:ext cx="548640" cy="548640"/>
          </a:xfrm>
          <a:prstGeom prst="rect">
            <a:avLst/>
          </a:prstGeom>
          <a:noFill/>
        </p:spPr>
        <p:txBody>
          <a:bodyPr wrap="square" anchor="ctr">
            <a:spAutoFit/>
          </a:bodyPr>
          <a:lstStyle/>
          <a:p>
            <a:pPr algn="ctr">
              <a:spcAft>
                <a:spcPts val="400"/>
              </a:spcAft>
            </a:pPr>
            <a:r>
              <a:rPr sz="1800" b="1">
                <a:solidFill>
                  <a:srgbClr val="FFFFFF"/>
                </a:solidFill>
                <a:latin typeface="Arial"/>
              </a:rPr>
              <a:t>2</a:t>
            </a:r>
          </a:p>
        </p:txBody>
      </p:sp>
      <p:sp>
        <p:nvSpPr>
          <p:cNvPr id="16" name="TextBox 15"/>
          <p:cNvSpPr txBox="1"/>
          <p:nvPr/>
        </p:nvSpPr>
        <p:spPr>
          <a:xfrm>
            <a:off x="7219188" y="1892808"/>
            <a:ext cx="3973068" cy="1892808"/>
          </a:xfrm>
          <a:prstGeom prst="rect">
            <a:avLst/>
          </a:prstGeom>
          <a:noFill/>
        </p:spPr>
        <p:txBody>
          <a:bodyPr wrap="square" anchor="ctr">
            <a:spAutoFit/>
          </a:bodyPr>
          <a:lstStyle/>
          <a:p>
            <a:pPr algn="l">
              <a:spcAft>
                <a:spcPts val="300"/>
              </a:spcAft>
            </a:pPr>
            <a:r>
              <a:rPr sz="1600" b="1">
                <a:solidFill>
                  <a:srgbClr val="161B26"/>
                </a:solidFill>
                <a:latin typeface="Arial"/>
              </a:rPr>
              <a:t>Tag everything</a:t>
            </a:r>
          </a:p>
          <a:p>
            <a:pPr algn="l">
              <a:spcAft>
                <a:spcPts val="300"/>
              </a:spcAft>
            </a:pPr>
            <a:r>
              <a:rPr sz="1200" b="0">
                <a:solidFill>
                  <a:srgbClr val="5B6372"/>
                </a:solidFill>
                <a:latin typeface="Arial"/>
              </a:rPr>
              <a:t>Cost allocation tags make spend visible per team/service.</a:t>
            </a:r>
          </a:p>
        </p:txBody>
      </p:sp>
      <p:sp>
        <p:nvSpPr>
          <p:cNvPr id="17" name="Rectangle 16"/>
          <p:cNvSpPr/>
          <p:nvPr/>
        </p:nvSpPr>
        <p:spPr>
          <a:xfrm>
            <a:off x="777240" y="4078224"/>
            <a:ext cx="5180076" cy="207568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777240" y="4078224"/>
            <a:ext cx="91440" cy="2075688"/>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Oval 18"/>
          <p:cNvSpPr/>
          <p:nvPr/>
        </p:nvSpPr>
        <p:spPr>
          <a:xfrm>
            <a:off x="1033272" y="4841748"/>
            <a:ext cx="548640" cy="548640"/>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1033272" y="4841748"/>
            <a:ext cx="548640" cy="548640"/>
          </a:xfrm>
          <a:prstGeom prst="rect">
            <a:avLst/>
          </a:prstGeom>
          <a:noFill/>
        </p:spPr>
        <p:txBody>
          <a:bodyPr wrap="square" anchor="ctr">
            <a:spAutoFit/>
          </a:bodyPr>
          <a:lstStyle/>
          <a:p>
            <a:pPr algn="ctr">
              <a:spcAft>
                <a:spcPts val="400"/>
              </a:spcAft>
            </a:pPr>
            <a:r>
              <a:rPr sz="1800" b="1">
                <a:solidFill>
                  <a:srgbClr val="FFFFFF"/>
                </a:solidFill>
                <a:latin typeface="Arial"/>
              </a:rPr>
              <a:t>3</a:t>
            </a:r>
          </a:p>
        </p:txBody>
      </p:sp>
      <p:sp>
        <p:nvSpPr>
          <p:cNvPr id="21" name="TextBox 20"/>
          <p:cNvSpPr txBox="1"/>
          <p:nvPr/>
        </p:nvSpPr>
        <p:spPr>
          <a:xfrm>
            <a:off x="1764792" y="4187952"/>
            <a:ext cx="3973068" cy="1892808"/>
          </a:xfrm>
          <a:prstGeom prst="rect">
            <a:avLst/>
          </a:prstGeom>
          <a:noFill/>
        </p:spPr>
        <p:txBody>
          <a:bodyPr wrap="square" anchor="ctr">
            <a:spAutoFit/>
          </a:bodyPr>
          <a:lstStyle/>
          <a:p>
            <a:pPr algn="l">
              <a:spcAft>
                <a:spcPts val="300"/>
              </a:spcAft>
            </a:pPr>
            <a:r>
              <a:rPr sz="1600" b="1">
                <a:solidFill>
                  <a:srgbClr val="161B26"/>
                </a:solidFill>
                <a:latin typeface="Arial"/>
              </a:rPr>
              <a:t>Clean up as code</a:t>
            </a:r>
          </a:p>
          <a:p>
            <a:pPr algn="l">
              <a:spcAft>
                <a:spcPts val="300"/>
              </a:spcAft>
            </a:pPr>
            <a:r>
              <a:rPr sz="1200" b="0">
                <a:solidFill>
                  <a:srgbClr val="5B6372"/>
                </a:solidFill>
                <a:latin typeface="Arial"/>
              </a:rPr>
              <a:t>Tear-down steps in every lab/pipeline stop orphaned resources.</a:t>
            </a:r>
          </a:p>
        </p:txBody>
      </p:sp>
      <p:sp>
        <p:nvSpPr>
          <p:cNvPr id="22" name="Rectangle 21"/>
          <p:cNvSpPr/>
          <p:nvPr/>
        </p:nvSpPr>
        <p:spPr>
          <a:xfrm>
            <a:off x="6231636" y="4078224"/>
            <a:ext cx="5180076" cy="207568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ectangle 22"/>
          <p:cNvSpPr/>
          <p:nvPr/>
        </p:nvSpPr>
        <p:spPr>
          <a:xfrm>
            <a:off x="6231636" y="4078224"/>
            <a:ext cx="91440" cy="2075688"/>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Oval 23"/>
          <p:cNvSpPr/>
          <p:nvPr/>
        </p:nvSpPr>
        <p:spPr>
          <a:xfrm>
            <a:off x="6487668" y="4841748"/>
            <a:ext cx="548640" cy="548640"/>
          </a:xfrm>
          <a:prstGeom prst="ellipse">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6487668" y="4841748"/>
            <a:ext cx="548640" cy="548640"/>
          </a:xfrm>
          <a:prstGeom prst="rect">
            <a:avLst/>
          </a:prstGeom>
          <a:noFill/>
        </p:spPr>
        <p:txBody>
          <a:bodyPr wrap="square" anchor="ctr">
            <a:spAutoFit/>
          </a:bodyPr>
          <a:lstStyle/>
          <a:p>
            <a:pPr algn="ctr">
              <a:spcAft>
                <a:spcPts val="400"/>
              </a:spcAft>
            </a:pPr>
            <a:r>
              <a:rPr sz="1800" b="1">
                <a:solidFill>
                  <a:srgbClr val="FFFFFF"/>
                </a:solidFill>
                <a:latin typeface="Arial"/>
              </a:rPr>
              <a:t>4</a:t>
            </a:r>
          </a:p>
        </p:txBody>
      </p:sp>
      <p:sp>
        <p:nvSpPr>
          <p:cNvPr id="26" name="TextBox 25"/>
          <p:cNvSpPr txBox="1"/>
          <p:nvPr/>
        </p:nvSpPr>
        <p:spPr>
          <a:xfrm>
            <a:off x="7219188" y="4187952"/>
            <a:ext cx="3973068" cy="1892808"/>
          </a:xfrm>
          <a:prstGeom prst="rect">
            <a:avLst/>
          </a:prstGeom>
          <a:noFill/>
        </p:spPr>
        <p:txBody>
          <a:bodyPr wrap="square" anchor="ctr">
            <a:spAutoFit/>
          </a:bodyPr>
          <a:lstStyle/>
          <a:p>
            <a:pPr algn="l">
              <a:spcAft>
                <a:spcPts val="300"/>
              </a:spcAft>
            </a:pPr>
            <a:r>
              <a:rPr sz="1600" b="1">
                <a:solidFill>
                  <a:srgbClr val="161B26"/>
                </a:solidFill>
                <a:latin typeface="Arial"/>
              </a:rPr>
              <a:t>Budgets &amp; alarms</a:t>
            </a:r>
          </a:p>
          <a:p>
            <a:pPr algn="l">
              <a:spcAft>
                <a:spcPts val="300"/>
              </a:spcAft>
            </a:pPr>
            <a:r>
              <a:rPr sz="1200" b="0">
                <a:solidFill>
                  <a:srgbClr val="5B6372"/>
                </a:solidFill>
                <a:latin typeface="Arial"/>
              </a:rPr>
              <a:t>AWS Budgets alert before spend surprises the finance team.</a:t>
            </a:r>
          </a:p>
        </p:txBody>
      </p:sp>
      <p:sp>
        <p:nvSpPr>
          <p:cNvPr id="27" name="TextBox 26"/>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DevOps Engineering on AWS  ·  TGS-2023040474</a:t>
            </a:r>
          </a:p>
        </p:txBody>
      </p:sp>
      <p:sp>
        <p:nvSpPr>
          <p:cNvPr id="28" name="TextBox 27"/>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29" name="TextBox 28"/>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32</a:t>
            </a:r>
          </a:p>
        </p:txBody>
      </p:sp>
    </p:spTree>
  </p:cSld>
  <p:clrMapOvr>
    <a:masterClrMapping/>
  </p:clrMapOvr>
  <p:transition xmlns:p14="http://schemas.microsoft.com/office/powerpoint/2010/main" p14:dur="380">
    <p:fade/>
  </p:transition>
</p:sld>
</file>

<file path=ppt/slides/slide3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38912"/>
            <a:ext cx="10607040" cy="365760"/>
          </a:xfrm>
          <a:prstGeom prst="rect">
            <a:avLst/>
          </a:prstGeom>
          <a:noFill/>
        </p:spPr>
        <p:txBody>
          <a:bodyPr wrap="square" anchor="t">
            <a:spAutoFit/>
          </a:bodyPr>
          <a:lstStyle/>
          <a:p>
            <a:pPr algn="l">
              <a:spcAft>
                <a:spcPts val="400"/>
              </a:spcAft>
            </a:pPr>
            <a:r>
              <a:rPr sz="1400" b="1">
                <a:solidFill>
                  <a:srgbClr val="C0392B"/>
                </a:solidFill>
                <a:latin typeface="Arial"/>
              </a:rPr>
              <a:t>SECURITY IS EVERYONE'S JOB</a:t>
            </a:r>
          </a:p>
        </p:txBody>
      </p:sp>
      <p:sp>
        <p:nvSpPr>
          <p:cNvPr id="5" name="TextBox 4"/>
          <p:cNvSpPr txBox="1"/>
          <p:nvPr/>
        </p:nvSpPr>
        <p:spPr>
          <a:xfrm>
            <a:off x="777240" y="804672"/>
            <a:ext cx="10927080" cy="731520"/>
          </a:xfrm>
          <a:prstGeom prst="rect">
            <a:avLst/>
          </a:prstGeom>
          <a:noFill/>
        </p:spPr>
        <p:txBody>
          <a:bodyPr wrap="square" anchor="t">
            <a:spAutoFit/>
          </a:bodyPr>
          <a:lstStyle/>
          <a:p>
            <a:pPr algn="l">
              <a:spcAft>
                <a:spcPts val="400"/>
              </a:spcAft>
            </a:pPr>
            <a:r>
              <a:rPr sz="2900" b="1">
                <a:solidFill>
                  <a:srgbClr val="161B26"/>
                </a:solidFill>
                <a:latin typeface="Arial"/>
              </a:rPr>
              <a:t>DevSecOps — Shift Security Left</a:t>
            </a:r>
          </a:p>
        </p:txBody>
      </p:sp>
      <p:sp>
        <p:nvSpPr>
          <p:cNvPr id="6" name="Rectangle 5"/>
          <p:cNvSpPr/>
          <p:nvPr/>
        </p:nvSpPr>
        <p:spPr>
          <a:xfrm>
            <a:off x="777240" y="1572768"/>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783080"/>
            <a:ext cx="5180076" cy="207568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1783080"/>
            <a:ext cx="91440" cy="2075688"/>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1033272" y="2546604"/>
            <a:ext cx="548640" cy="548640"/>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033272" y="2546604"/>
            <a:ext cx="548640" cy="548640"/>
          </a:xfrm>
          <a:prstGeom prst="rect">
            <a:avLst/>
          </a:prstGeom>
          <a:noFill/>
        </p:spPr>
        <p:txBody>
          <a:bodyPr wrap="square" anchor="ctr">
            <a:spAutoFit/>
          </a:bodyPr>
          <a:lstStyle/>
          <a:p>
            <a:pPr algn="ctr">
              <a:spcAft>
                <a:spcPts val="400"/>
              </a:spcAft>
            </a:pPr>
            <a:r>
              <a:rPr sz="1800" b="1">
                <a:solidFill>
                  <a:srgbClr val="FFFFFF"/>
                </a:solidFill>
                <a:latin typeface="Arial"/>
              </a:rPr>
              <a:t>1</a:t>
            </a:r>
          </a:p>
        </p:txBody>
      </p:sp>
      <p:sp>
        <p:nvSpPr>
          <p:cNvPr id="11" name="TextBox 10"/>
          <p:cNvSpPr txBox="1"/>
          <p:nvPr/>
        </p:nvSpPr>
        <p:spPr>
          <a:xfrm>
            <a:off x="1764792" y="1892808"/>
            <a:ext cx="3973068" cy="1892808"/>
          </a:xfrm>
          <a:prstGeom prst="rect">
            <a:avLst/>
          </a:prstGeom>
          <a:noFill/>
        </p:spPr>
        <p:txBody>
          <a:bodyPr wrap="square" anchor="ctr">
            <a:spAutoFit/>
          </a:bodyPr>
          <a:lstStyle/>
          <a:p>
            <a:pPr algn="l">
              <a:spcAft>
                <a:spcPts val="300"/>
              </a:spcAft>
            </a:pPr>
            <a:r>
              <a:rPr sz="1600" b="1">
                <a:solidFill>
                  <a:srgbClr val="161B26"/>
                </a:solidFill>
                <a:latin typeface="Arial"/>
              </a:rPr>
              <a:t>Scan in the pipeline</a:t>
            </a:r>
          </a:p>
          <a:p>
            <a:pPr algn="l">
              <a:spcAft>
                <a:spcPts val="300"/>
              </a:spcAft>
            </a:pPr>
            <a:r>
              <a:rPr sz="1200" b="0">
                <a:solidFill>
                  <a:srgbClr val="5B6372"/>
                </a:solidFill>
                <a:latin typeface="Arial"/>
              </a:rPr>
              <a:t>SAST/SCA on code and dependencies; scan IaC templates.</a:t>
            </a:r>
          </a:p>
        </p:txBody>
      </p:sp>
      <p:sp>
        <p:nvSpPr>
          <p:cNvPr id="12" name="Rectangle 11"/>
          <p:cNvSpPr/>
          <p:nvPr/>
        </p:nvSpPr>
        <p:spPr>
          <a:xfrm>
            <a:off x="6231636" y="1783080"/>
            <a:ext cx="5180076" cy="207568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6231636" y="1783080"/>
            <a:ext cx="91440" cy="2075688"/>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Oval 13"/>
          <p:cNvSpPr/>
          <p:nvPr/>
        </p:nvSpPr>
        <p:spPr>
          <a:xfrm>
            <a:off x="6487668" y="2546604"/>
            <a:ext cx="548640" cy="54864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6487668" y="2546604"/>
            <a:ext cx="548640" cy="548640"/>
          </a:xfrm>
          <a:prstGeom prst="rect">
            <a:avLst/>
          </a:prstGeom>
          <a:noFill/>
        </p:spPr>
        <p:txBody>
          <a:bodyPr wrap="square" anchor="ctr">
            <a:spAutoFit/>
          </a:bodyPr>
          <a:lstStyle/>
          <a:p>
            <a:pPr algn="ctr">
              <a:spcAft>
                <a:spcPts val="400"/>
              </a:spcAft>
            </a:pPr>
            <a:r>
              <a:rPr sz="1800" b="1">
                <a:solidFill>
                  <a:srgbClr val="FFFFFF"/>
                </a:solidFill>
                <a:latin typeface="Arial"/>
              </a:rPr>
              <a:t>2</a:t>
            </a:r>
          </a:p>
        </p:txBody>
      </p:sp>
      <p:sp>
        <p:nvSpPr>
          <p:cNvPr id="16" name="TextBox 15"/>
          <p:cNvSpPr txBox="1"/>
          <p:nvPr/>
        </p:nvSpPr>
        <p:spPr>
          <a:xfrm>
            <a:off x="7219188" y="1892808"/>
            <a:ext cx="3973068" cy="1892808"/>
          </a:xfrm>
          <a:prstGeom prst="rect">
            <a:avLst/>
          </a:prstGeom>
          <a:noFill/>
        </p:spPr>
        <p:txBody>
          <a:bodyPr wrap="square" anchor="ctr">
            <a:spAutoFit/>
          </a:bodyPr>
          <a:lstStyle/>
          <a:p>
            <a:pPr algn="l">
              <a:spcAft>
                <a:spcPts val="300"/>
              </a:spcAft>
            </a:pPr>
            <a:r>
              <a:rPr sz="1600" b="1">
                <a:solidFill>
                  <a:srgbClr val="161B26"/>
                </a:solidFill>
                <a:latin typeface="Arial"/>
              </a:rPr>
              <a:t>Least-privilege pipelines</a:t>
            </a:r>
          </a:p>
          <a:p>
            <a:pPr algn="l">
              <a:spcAft>
                <a:spcPts val="300"/>
              </a:spcAft>
            </a:pPr>
            <a:r>
              <a:rPr sz="1200" b="0">
                <a:solidFill>
                  <a:srgbClr val="5B6372"/>
                </a:solidFill>
                <a:latin typeface="Arial"/>
              </a:rPr>
              <a:t>Scope build and deploy roles; no secrets in source.</a:t>
            </a:r>
          </a:p>
        </p:txBody>
      </p:sp>
      <p:sp>
        <p:nvSpPr>
          <p:cNvPr id="17" name="Rectangle 16"/>
          <p:cNvSpPr/>
          <p:nvPr/>
        </p:nvSpPr>
        <p:spPr>
          <a:xfrm>
            <a:off x="777240" y="4078224"/>
            <a:ext cx="5180076" cy="207568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777240" y="4078224"/>
            <a:ext cx="91440" cy="2075688"/>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Oval 18"/>
          <p:cNvSpPr/>
          <p:nvPr/>
        </p:nvSpPr>
        <p:spPr>
          <a:xfrm>
            <a:off x="1033272" y="4841748"/>
            <a:ext cx="548640" cy="548640"/>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1033272" y="4841748"/>
            <a:ext cx="548640" cy="548640"/>
          </a:xfrm>
          <a:prstGeom prst="rect">
            <a:avLst/>
          </a:prstGeom>
          <a:noFill/>
        </p:spPr>
        <p:txBody>
          <a:bodyPr wrap="square" anchor="ctr">
            <a:spAutoFit/>
          </a:bodyPr>
          <a:lstStyle/>
          <a:p>
            <a:pPr algn="ctr">
              <a:spcAft>
                <a:spcPts val="400"/>
              </a:spcAft>
            </a:pPr>
            <a:r>
              <a:rPr sz="1800" b="1">
                <a:solidFill>
                  <a:srgbClr val="FFFFFF"/>
                </a:solidFill>
                <a:latin typeface="Arial"/>
              </a:rPr>
              <a:t>3</a:t>
            </a:r>
          </a:p>
        </p:txBody>
      </p:sp>
      <p:sp>
        <p:nvSpPr>
          <p:cNvPr id="21" name="TextBox 20"/>
          <p:cNvSpPr txBox="1"/>
          <p:nvPr/>
        </p:nvSpPr>
        <p:spPr>
          <a:xfrm>
            <a:off x="1764792" y="4187952"/>
            <a:ext cx="3973068" cy="1892808"/>
          </a:xfrm>
          <a:prstGeom prst="rect">
            <a:avLst/>
          </a:prstGeom>
          <a:noFill/>
        </p:spPr>
        <p:txBody>
          <a:bodyPr wrap="square" anchor="ctr">
            <a:spAutoFit/>
          </a:bodyPr>
          <a:lstStyle/>
          <a:p>
            <a:pPr algn="l">
              <a:spcAft>
                <a:spcPts val="300"/>
              </a:spcAft>
            </a:pPr>
            <a:r>
              <a:rPr sz="1600" b="1">
                <a:solidFill>
                  <a:srgbClr val="161B26"/>
                </a:solidFill>
                <a:latin typeface="Arial"/>
              </a:rPr>
              <a:t>Policy as code</a:t>
            </a:r>
          </a:p>
          <a:p>
            <a:pPr algn="l">
              <a:spcAft>
                <a:spcPts val="300"/>
              </a:spcAft>
            </a:pPr>
            <a:r>
              <a:rPr sz="1200" b="0">
                <a:solidFill>
                  <a:srgbClr val="5B6372"/>
                </a:solidFill>
                <a:latin typeface="Arial"/>
              </a:rPr>
              <a:t>Guardrails as SCPs and Config rules, versioned like code.</a:t>
            </a:r>
          </a:p>
        </p:txBody>
      </p:sp>
      <p:sp>
        <p:nvSpPr>
          <p:cNvPr id="22" name="Rectangle 21"/>
          <p:cNvSpPr/>
          <p:nvPr/>
        </p:nvSpPr>
        <p:spPr>
          <a:xfrm>
            <a:off x="6231636" y="4078224"/>
            <a:ext cx="5180076" cy="207568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ectangle 22"/>
          <p:cNvSpPr/>
          <p:nvPr/>
        </p:nvSpPr>
        <p:spPr>
          <a:xfrm>
            <a:off x="6231636" y="4078224"/>
            <a:ext cx="91440" cy="2075688"/>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Oval 23"/>
          <p:cNvSpPr/>
          <p:nvPr/>
        </p:nvSpPr>
        <p:spPr>
          <a:xfrm>
            <a:off x="6487668" y="4841748"/>
            <a:ext cx="548640" cy="548640"/>
          </a:xfrm>
          <a:prstGeom prst="ellipse">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6487668" y="4841748"/>
            <a:ext cx="548640" cy="548640"/>
          </a:xfrm>
          <a:prstGeom prst="rect">
            <a:avLst/>
          </a:prstGeom>
          <a:noFill/>
        </p:spPr>
        <p:txBody>
          <a:bodyPr wrap="square" anchor="ctr">
            <a:spAutoFit/>
          </a:bodyPr>
          <a:lstStyle/>
          <a:p>
            <a:pPr algn="ctr">
              <a:spcAft>
                <a:spcPts val="400"/>
              </a:spcAft>
            </a:pPr>
            <a:r>
              <a:rPr sz="1800" b="1">
                <a:solidFill>
                  <a:srgbClr val="FFFFFF"/>
                </a:solidFill>
                <a:latin typeface="Arial"/>
              </a:rPr>
              <a:t>4</a:t>
            </a:r>
          </a:p>
        </p:txBody>
      </p:sp>
      <p:sp>
        <p:nvSpPr>
          <p:cNvPr id="26" name="TextBox 25"/>
          <p:cNvSpPr txBox="1"/>
          <p:nvPr/>
        </p:nvSpPr>
        <p:spPr>
          <a:xfrm>
            <a:off x="7219188" y="4187952"/>
            <a:ext cx="3973068" cy="1892808"/>
          </a:xfrm>
          <a:prstGeom prst="rect">
            <a:avLst/>
          </a:prstGeom>
          <a:noFill/>
        </p:spPr>
        <p:txBody>
          <a:bodyPr wrap="square" anchor="ctr">
            <a:spAutoFit/>
          </a:bodyPr>
          <a:lstStyle/>
          <a:p>
            <a:pPr algn="l">
              <a:spcAft>
                <a:spcPts val="300"/>
              </a:spcAft>
            </a:pPr>
            <a:r>
              <a:rPr sz="1600" b="1">
                <a:solidFill>
                  <a:srgbClr val="161B26"/>
                </a:solidFill>
                <a:latin typeface="Arial"/>
              </a:rPr>
              <a:t>Continuous compliance</a:t>
            </a:r>
          </a:p>
          <a:p>
            <a:pPr algn="l">
              <a:spcAft>
                <a:spcPts val="300"/>
              </a:spcAft>
            </a:pPr>
            <a:r>
              <a:rPr sz="1200" b="0">
                <a:solidFill>
                  <a:srgbClr val="5B6372"/>
                </a:solidFill>
                <a:latin typeface="Arial"/>
              </a:rPr>
              <a:t>Detect and remediate drift automatically, always-on.</a:t>
            </a:r>
          </a:p>
        </p:txBody>
      </p:sp>
      <p:sp>
        <p:nvSpPr>
          <p:cNvPr id="27" name="TextBox 26"/>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DevOps Engineering on AWS  ·  TGS-2023040474</a:t>
            </a:r>
          </a:p>
        </p:txBody>
      </p:sp>
      <p:sp>
        <p:nvSpPr>
          <p:cNvPr id="28" name="TextBox 27"/>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29" name="TextBox 28"/>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33</a:t>
            </a:r>
          </a:p>
        </p:txBody>
      </p:sp>
    </p:spTree>
  </p:cSld>
  <p:clrMapOvr>
    <a:masterClrMapping/>
  </p:clrMapOvr>
  <p:transition xmlns:p14="http://schemas.microsoft.com/office/powerpoint/2010/main" p14:dur="380">
    <p:fade/>
  </p:transition>
</p:sld>
</file>

<file path=ppt/slides/slide3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38912"/>
            <a:ext cx="10607040" cy="365760"/>
          </a:xfrm>
          <a:prstGeom prst="rect">
            <a:avLst/>
          </a:prstGeom>
          <a:noFill/>
        </p:spPr>
        <p:txBody>
          <a:bodyPr wrap="square" anchor="t">
            <a:spAutoFit/>
          </a:bodyPr>
          <a:lstStyle/>
          <a:p>
            <a:pPr algn="l">
              <a:spcAft>
                <a:spcPts val="400"/>
              </a:spcAft>
            </a:pPr>
            <a:r>
              <a:rPr sz="1400" b="1">
                <a:solidFill>
                  <a:srgbClr val="1F6FEB"/>
                </a:solidFill>
                <a:latin typeface="Arial"/>
              </a:rPr>
              <a:t>MATCH THE RUNTIME TO THE WORKLOAD</a:t>
            </a:r>
          </a:p>
        </p:txBody>
      </p:sp>
      <p:sp>
        <p:nvSpPr>
          <p:cNvPr id="5" name="TextBox 4"/>
          <p:cNvSpPr txBox="1"/>
          <p:nvPr/>
        </p:nvSpPr>
        <p:spPr>
          <a:xfrm>
            <a:off x="777240" y="896112"/>
            <a:ext cx="10927080" cy="731520"/>
          </a:xfrm>
          <a:prstGeom prst="rect">
            <a:avLst/>
          </a:prstGeom>
          <a:noFill/>
        </p:spPr>
        <p:txBody>
          <a:bodyPr wrap="square" anchor="t">
            <a:spAutoFit/>
          </a:bodyPr>
          <a:lstStyle/>
          <a:p>
            <a:pPr algn="l">
              <a:spcAft>
                <a:spcPts val="400"/>
              </a:spcAft>
            </a:pPr>
            <a:r>
              <a:rPr sz="2500" b="1">
                <a:solidFill>
                  <a:srgbClr val="161B26"/>
                </a:solidFill>
                <a:latin typeface="Arial"/>
              </a:rPr>
              <a:t>Choosing Compute — EC2 vs ECS/EKS vs Lambda</a:t>
            </a:r>
          </a:p>
        </p:txBody>
      </p:sp>
      <p:sp>
        <p:nvSpPr>
          <p:cNvPr id="6" name="Rectangle 5"/>
          <p:cNvSpPr/>
          <p:nvPr/>
        </p:nvSpPr>
        <p:spPr>
          <a:xfrm>
            <a:off x="777240" y="1572768"/>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783080"/>
            <a:ext cx="2126894" cy="5029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886968" y="1783080"/>
            <a:ext cx="1944014" cy="502920"/>
          </a:xfrm>
          <a:prstGeom prst="rect">
            <a:avLst/>
          </a:prstGeom>
          <a:noFill/>
        </p:spPr>
        <p:txBody>
          <a:bodyPr wrap="square" anchor="ctr">
            <a:spAutoFit/>
          </a:bodyPr>
          <a:lstStyle/>
          <a:p>
            <a:pPr algn="l">
              <a:spcAft>
                <a:spcPts val="400"/>
              </a:spcAft>
            </a:pPr>
            <a:r>
              <a:rPr sz="1400" b="1">
                <a:solidFill>
                  <a:srgbClr val="FFFFFF"/>
                </a:solidFill>
                <a:latin typeface="Arial"/>
              </a:rPr>
              <a:t>Option</a:t>
            </a:r>
          </a:p>
        </p:txBody>
      </p:sp>
      <p:sp>
        <p:nvSpPr>
          <p:cNvPr id="9" name="Rectangle 8"/>
          <p:cNvSpPr/>
          <p:nvPr/>
        </p:nvSpPr>
        <p:spPr>
          <a:xfrm>
            <a:off x="2904134" y="1783080"/>
            <a:ext cx="3615720" cy="5029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3013862" y="1783080"/>
            <a:ext cx="3432840" cy="502920"/>
          </a:xfrm>
          <a:prstGeom prst="rect">
            <a:avLst/>
          </a:prstGeom>
          <a:noFill/>
        </p:spPr>
        <p:txBody>
          <a:bodyPr wrap="square" anchor="ctr">
            <a:spAutoFit/>
          </a:bodyPr>
          <a:lstStyle/>
          <a:p>
            <a:pPr algn="ctr">
              <a:spcAft>
                <a:spcPts val="400"/>
              </a:spcAft>
            </a:pPr>
            <a:r>
              <a:rPr sz="1400" b="1">
                <a:solidFill>
                  <a:srgbClr val="FFFFFF"/>
                </a:solidFill>
                <a:latin typeface="Arial"/>
              </a:rPr>
              <a:t>Best for</a:t>
            </a:r>
          </a:p>
        </p:txBody>
      </p:sp>
      <p:sp>
        <p:nvSpPr>
          <p:cNvPr id="11" name="Rectangle 10"/>
          <p:cNvSpPr/>
          <p:nvPr/>
        </p:nvSpPr>
        <p:spPr>
          <a:xfrm>
            <a:off x="6519854" y="1783080"/>
            <a:ext cx="2552273" cy="5029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6629582" y="1783080"/>
            <a:ext cx="2369393" cy="502920"/>
          </a:xfrm>
          <a:prstGeom prst="rect">
            <a:avLst/>
          </a:prstGeom>
          <a:noFill/>
        </p:spPr>
        <p:txBody>
          <a:bodyPr wrap="square" anchor="ctr">
            <a:spAutoFit/>
          </a:bodyPr>
          <a:lstStyle/>
          <a:p>
            <a:pPr algn="ctr">
              <a:spcAft>
                <a:spcPts val="400"/>
              </a:spcAft>
            </a:pPr>
            <a:r>
              <a:rPr sz="1400" b="1">
                <a:solidFill>
                  <a:srgbClr val="FFFFFF"/>
                </a:solidFill>
                <a:latin typeface="Arial"/>
              </a:rPr>
              <a:t>Ops overhead</a:t>
            </a:r>
          </a:p>
        </p:txBody>
      </p:sp>
      <p:sp>
        <p:nvSpPr>
          <p:cNvPr id="13" name="Rectangle 12"/>
          <p:cNvSpPr/>
          <p:nvPr/>
        </p:nvSpPr>
        <p:spPr>
          <a:xfrm>
            <a:off x="9072127" y="1783080"/>
            <a:ext cx="2339583" cy="5029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9181855" y="1783080"/>
            <a:ext cx="2156703" cy="502920"/>
          </a:xfrm>
          <a:prstGeom prst="rect">
            <a:avLst/>
          </a:prstGeom>
          <a:noFill/>
        </p:spPr>
        <p:txBody>
          <a:bodyPr wrap="square" anchor="ctr">
            <a:spAutoFit/>
          </a:bodyPr>
          <a:lstStyle/>
          <a:p>
            <a:pPr algn="ctr">
              <a:spcAft>
                <a:spcPts val="400"/>
              </a:spcAft>
            </a:pPr>
            <a:r>
              <a:rPr sz="1400" b="1">
                <a:solidFill>
                  <a:srgbClr val="FFFFFF"/>
                </a:solidFill>
                <a:latin typeface="Arial"/>
              </a:rPr>
              <a:t>Scaling</a:t>
            </a:r>
          </a:p>
        </p:txBody>
      </p:sp>
      <p:sp>
        <p:nvSpPr>
          <p:cNvPr id="15" name="Rectangle 14"/>
          <p:cNvSpPr/>
          <p:nvPr/>
        </p:nvSpPr>
        <p:spPr>
          <a:xfrm>
            <a:off x="777240" y="2286000"/>
            <a:ext cx="2126894" cy="822960"/>
          </a:xfrm>
          <a:prstGeom prst="rect">
            <a:avLst/>
          </a:prstGeom>
          <a:solidFill>
            <a:srgbClr val="F5F8FC"/>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886968" y="2286000"/>
            <a:ext cx="1944014" cy="822960"/>
          </a:xfrm>
          <a:prstGeom prst="rect">
            <a:avLst/>
          </a:prstGeom>
          <a:noFill/>
        </p:spPr>
        <p:txBody>
          <a:bodyPr wrap="square" anchor="ctr">
            <a:spAutoFit/>
          </a:bodyPr>
          <a:lstStyle/>
          <a:p>
            <a:pPr algn="l">
              <a:spcAft>
                <a:spcPts val="400"/>
              </a:spcAft>
            </a:pPr>
            <a:r>
              <a:rPr sz="1250" b="1">
                <a:solidFill>
                  <a:srgbClr val="161B26"/>
                </a:solidFill>
                <a:latin typeface="Arial"/>
              </a:rPr>
              <a:t>EC2 + ASG</a:t>
            </a:r>
          </a:p>
        </p:txBody>
      </p:sp>
      <p:sp>
        <p:nvSpPr>
          <p:cNvPr id="17" name="Rectangle 16"/>
          <p:cNvSpPr/>
          <p:nvPr/>
        </p:nvSpPr>
        <p:spPr>
          <a:xfrm>
            <a:off x="2904134" y="2286000"/>
            <a:ext cx="3615720" cy="822960"/>
          </a:xfrm>
          <a:prstGeom prst="rect">
            <a:avLst/>
          </a:prstGeom>
          <a:solidFill>
            <a:srgbClr val="F5F8FC"/>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3013862" y="2286000"/>
            <a:ext cx="3432840" cy="822960"/>
          </a:xfrm>
          <a:prstGeom prst="rect">
            <a:avLst/>
          </a:prstGeom>
          <a:noFill/>
        </p:spPr>
        <p:txBody>
          <a:bodyPr wrap="square" anchor="ctr">
            <a:spAutoFit/>
          </a:bodyPr>
          <a:lstStyle/>
          <a:p>
            <a:pPr algn="ctr">
              <a:spcAft>
                <a:spcPts val="400"/>
              </a:spcAft>
            </a:pPr>
            <a:r>
              <a:rPr sz="1250" b="0">
                <a:solidFill>
                  <a:srgbClr val="5B6372"/>
                </a:solidFill>
                <a:latin typeface="Arial"/>
              </a:rPr>
              <a:t>Lift-and-shift, full OS control</a:t>
            </a:r>
          </a:p>
        </p:txBody>
      </p:sp>
      <p:sp>
        <p:nvSpPr>
          <p:cNvPr id="19" name="Rectangle 18"/>
          <p:cNvSpPr/>
          <p:nvPr/>
        </p:nvSpPr>
        <p:spPr>
          <a:xfrm>
            <a:off x="6519854" y="2286000"/>
            <a:ext cx="2552273" cy="822960"/>
          </a:xfrm>
          <a:prstGeom prst="rect">
            <a:avLst/>
          </a:prstGeom>
          <a:solidFill>
            <a:srgbClr val="F5F8FC"/>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6629582" y="2286000"/>
            <a:ext cx="2369393" cy="822960"/>
          </a:xfrm>
          <a:prstGeom prst="rect">
            <a:avLst/>
          </a:prstGeom>
          <a:noFill/>
        </p:spPr>
        <p:txBody>
          <a:bodyPr wrap="square" anchor="ctr">
            <a:spAutoFit/>
          </a:bodyPr>
          <a:lstStyle/>
          <a:p>
            <a:pPr algn="ctr">
              <a:spcAft>
                <a:spcPts val="400"/>
              </a:spcAft>
            </a:pPr>
            <a:r>
              <a:rPr sz="1250" b="0">
                <a:solidFill>
                  <a:srgbClr val="5B6372"/>
                </a:solidFill>
                <a:latin typeface="Arial"/>
              </a:rPr>
              <a:t>Higher (patching, AMIs)</a:t>
            </a:r>
          </a:p>
        </p:txBody>
      </p:sp>
      <p:sp>
        <p:nvSpPr>
          <p:cNvPr id="21" name="Rectangle 20"/>
          <p:cNvSpPr/>
          <p:nvPr/>
        </p:nvSpPr>
        <p:spPr>
          <a:xfrm>
            <a:off x="9072127" y="2286000"/>
            <a:ext cx="2339583" cy="822960"/>
          </a:xfrm>
          <a:prstGeom prst="rect">
            <a:avLst/>
          </a:prstGeom>
          <a:solidFill>
            <a:srgbClr val="F5F8FC"/>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9181855" y="2286000"/>
            <a:ext cx="2156703" cy="822960"/>
          </a:xfrm>
          <a:prstGeom prst="rect">
            <a:avLst/>
          </a:prstGeom>
          <a:noFill/>
        </p:spPr>
        <p:txBody>
          <a:bodyPr wrap="square" anchor="ctr">
            <a:spAutoFit/>
          </a:bodyPr>
          <a:lstStyle/>
          <a:p>
            <a:pPr algn="ctr">
              <a:spcAft>
                <a:spcPts val="400"/>
              </a:spcAft>
            </a:pPr>
            <a:r>
              <a:rPr sz="1250" b="0">
                <a:solidFill>
                  <a:srgbClr val="5B6372"/>
                </a:solidFill>
                <a:latin typeface="Arial"/>
              </a:rPr>
              <a:t>Instances via ASG</a:t>
            </a:r>
          </a:p>
        </p:txBody>
      </p:sp>
      <p:sp>
        <p:nvSpPr>
          <p:cNvPr id="23" name="Rectangle 22"/>
          <p:cNvSpPr/>
          <p:nvPr/>
        </p:nvSpPr>
        <p:spPr>
          <a:xfrm>
            <a:off x="777240" y="3108960"/>
            <a:ext cx="2126894" cy="822960"/>
          </a:xfrm>
          <a:prstGeom prst="rect">
            <a:avLst/>
          </a:prstGeom>
          <a:solidFill>
            <a:srgbClr val="FFFFFF"/>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886968" y="3108960"/>
            <a:ext cx="1944014" cy="822960"/>
          </a:xfrm>
          <a:prstGeom prst="rect">
            <a:avLst/>
          </a:prstGeom>
          <a:noFill/>
        </p:spPr>
        <p:txBody>
          <a:bodyPr wrap="square" anchor="ctr">
            <a:spAutoFit/>
          </a:bodyPr>
          <a:lstStyle/>
          <a:p>
            <a:pPr algn="l">
              <a:spcAft>
                <a:spcPts val="400"/>
              </a:spcAft>
            </a:pPr>
            <a:r>
              <a:rPr sz="1250" b="1">
                <a:solidFill>
                  <a:srgbClr val="161B26"/>
                </a:solidFill>
                <a:latin typeface="Arial"/>
              </a:rPr>
              <a:t>ECS / Fargate</a:t>
            </a:r>
          </a:p>
        </p:txBody>
      </p:sp>
      <p:sp>
        <p:nvSpPr>
          <p:cNvPr id="25" name="Rectangle 24"/>
          <p:cNvSpPr/>
          <p:nvPr/>
        </p:nvSpPr>
        <p:spPr>
          <a:xfrm>
            <a:off x="2904134" y="3108960"/>
            <a:ext cx="3615720" cy="822960"/>
          </a:xfrm>
          <a:prstGeom prst="rect">
            <a:avLst/>
          </a:prstGeom>
          <a:solidFill>
            <a:srgbClr val="FFFFFF"/>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3013862" y="3108960"/>
            <a:ext cx="3432840" cy="822960"/>
          </a:xfrm>
          <a:prstGeom prst="rect">
            <a:avLst/>
          </a:prstGeom>
          <a:noFill/>
        </p:spPr>
        <p:txBody>
          <a:bodyPr wrap="square" anchor="ctr">
            <a:spAutoFit/>
          </a:bodyPr>
          <a:lstStyle/>
          <a:p>
            <a:pPr algn="ctr">
              <a:spcAft>
                <a:spcPts val="400"/>
              </a:spcAft>
            </a:pPr>
            <a:r>
              <a:rPr sz="1250" b="0">
                <a:solidFill>
                  <a:srgbClr val="5B6372"/>
                </a:solidFill>
                <a:latin typeface="Arial"/>
              </a:rPr>
              <a:t>Containerised services</a:t>
            </a:r>
          </a:p>
        </p:txBody>
      </p:sp>
      <p:sp>
        <p:nvSpPr>
          <p:cNvPr id="27" name="Rectangle 26"/>
          <p:cNvSpPr/>
          <p:nvPr/>
        </p:nvSpPr>
        <p:spPr>
          <a:xfrm>
            <a:off x="6519854" y="3108960"/>
            <a:ext cx="2552273" cy="822960"/>
          </a:xfrm>
          <a:prstGeom prst="rect">
            <a:avLst/>
          </a:prstGeom>
          <a:solidFill>
            <a:srgbClr val="FFFFFF"/>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6629582" y="3108960"/>
            <a:ext cx="2369393" cy="822960"/>
          </a:xfrm>
          <a:prstGeom prst="rect">
            <a:avLst/>
          </a:prstGeom>
          <a:noFill/>
        </p:spPr>
        <p:txBody>
          <a:bodyPr wrap="square" anchor="ctr">
            <a:spAutoFit/>
          </a:bodyPr>
          <a:lstStyle/>
          <a:p>
            <a:pPr algn="ctr">
              <a:spcAft>
                <a:spcPts val="400"/>
              </a:spcAft>
            </a:pPr>
            <a:r>
              <a:rPr sz="1250" b="0">
                <a:solidFill>
                  <a:srgbClr val="5B6372"/>
                </a:solidFill>
                <a:latin typeface="Arial"/>
              </a:rPr>
              <a:t>Medium (Fargate = serverless)</a:t>
            </a:r>
          </a:p>
        </p:txBody>
      </p:sp>
      <p:sp>
        <p:nvSpPr>
          <p:cNvPr id="29" name="Rectangle 28"/>
          <p:cNvSpPr/>
          <p:nvPr/>
        </p:nvSpPr>
        <p:spPr>
          <a:xfrm>
            <a:off x="9072127" y="3108960"/>
            <a:ext cx="2339583" cy="822960"/>
          </a:xfrm>
          <a:prstGeom prst="rect">
            <a:avLst/>
          </a:prstGeom>
          <a:solidFill>
            <a:srgbClr val="FFFFFF"/>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9181855" y="3108960"/>
            <a:ext cx="2156703" cy="822960"/>
          </a:xfrm>
          <a:prstGeom prst="rect">
            <a:avLst/>
          </a:prstGeom>
          <a:noFill/>
        </p:spPr>
        <p:txBody>
          <a:bodyPr wrap="square" anchor="ctr">
            <a:spAutoFit/>
          </a:bodyPr>
          <a:lstStyle/>
          <a:p>
            <a:pPr algn="ctr">
              <a:spcAft>
                <a:spcPts val="400"/>
              </a:spcAft>
            </a:pPr>
            <a:r>
              <a:rPr sz="1250" b="0">
                <a:solidFill>
                  <a:srgbClr val="5B6372"/>
                </a:solidFill>
                <a:latin typeface="Arial"/>
              </a:rPr>
              <a:t>Tasks/services</a:t>
            </a:r>
          </a:p>
        </p:txBody>
      </p:sp>
      <p:sp>
        <p:nvSpPr>
          <p:cNvPr id="31" name="Rectangle 30"/>
          <p:cNvSpPr/>
          <p:nvPr/>
        </p:nvSpPr>
        <p:spPr>
          <a:xfrm>
            <a:off x="777240" y="3931920"/>
            <a:ext cx="2126894" cy="822960"/>
          </a:xfrm>
          <a:prstGeom prst="rect">
            <a:avLst/>
          </a:prstGeom>
          <a:solidFill>
            <a:srgbClr val="F5F8FC"/>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TextBox 31"/>
          <p:cNvSpPr txBox="1"/>
          <p:nvPr/>
        </p:nvSpPr>
        <p:spPr>
          <a:xfrm>
            <a:off x="886968" y="3931920"/>
            <a:ext cx="1944014" cy="822960"/>
          </a:xfrm>
          <a:prstGeom prst="rect">
            <a:avLst/>
          </a:prstGeom>
          <a:noFill/>
        </p:spPr>
        <p:txBody>
          <a:bodyPr wrap="square" anchor="ctr">
            <a:spAutoFit/>
          </a:bodyPr>
          <a:lstStyle/>
          <a:p>
            <a:pPr algn="l">
              <a:spcAft>
                <a:spcPts val="400"/>
              </a:spcAft>
            </a:pPr>
            <a:r>
              <a:rPr sz="1250" b="1">
                <a:solidFill>
                  <a:srgbClr val="161B26"/>
                </a:solidFill>
                <a:latin typeface="Arial"/>
              </a:rPr>
              <a:t>EKS</a:t>
            </a:r>
          </a:p>
        </p:txBody>
      </p:sp>
      <p:sp>
        <p:nvSpPr>
          <p:cNvPr id="33" name="Rectangle 32"/>
          <p:cNvSpPr/>
          <p:nvPr/>
        </p:nvSpPr>
        <p:spPr>
          <a:xfrm>
            <a:off x="2904134" y="3931920"/>
            <a:ext cx="3615720" cy="822960"/>
          </a:xfrm>
          <a:prstGeom prst="rect">
            <a:avLst/>
          </a:prstGeom>
          <a:solidFill>
            <a:srgbClr val="F5F8FC"/>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TextBox 33"/>
          <p:cNvSpPr txBox="1"/>
          <p:nvPr/>
        </p:nvSpPr>
        <p:spPr>
          <a:xfrm>
            <a:off x="3013862" y="3931920"/>
            <a:ext cx="3432840" cy="822960"/>
          </a:xfrm>
          <a:prstGeom prst="rect">
            <a:avLst/>
          </a:prstGeom>
          <a:noFill/>
        </p:spPr>
        <p:txBody>
          <a:bodyPr wrap="square" anchor="ctr">
            <a:spAutoFit/>
          </a:bodyPr>
          <a:lstStyle/>
          <a:p>
            <a:pPr algn="ctr">
              <a:spcAft>
                <a:spcPts val="400"/>
              </a:spcAft>
            </a:pPr>
            <a:r>
              <a:rPr sz="1250" b="0">
                <a:solidFill>
                  <a:srgbClr val="5B6372"/>
                </a:solidFill>
                <a:latin typeface="Arial"/>
              </a:rPr>
              <a:t>Kubernetes-standard workloads</a:t>
            </a:r>
          </a:p>
        </p:txBody>
      </p:sp>
      <p:sp>
        <p:nvSpPr>
          <p:cNvPr id="35" name="Rectangle 34"/>
          <p:cNvSpPr/>
          <p:nvPr/>
        </p:nvSpPr>
        <p:spPr>
          <a:xfrm>
            <a:off x="6519854" y="3931920"/>
            <a:ext cx="2552273" cy="822960"/>
          </a:xfrm>
          <a:prstGeom prst="rect">
            <a:avLst/>
          </a:prstGeom>
          <a:solidFill>
            <a:srgbClr val="F5F8FC"/>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TextBox 35"/>
          <p:cNvSpPr txBox="1"/>
          <p:nvPr/>
        </p:nvSpPr>
        <p:spPr>
          <a:xfrm>
            <a:off x="6629582" y="3931920"/>
            <a:ext cx="2369393" cy="822960"/>
          </a:xfrm>
          <a:prstGeom prst="rect">
            <a:avLst/>
          </a:prstGeom>
          <a:noFill/>
        </p:spPr>
        <p:txBody>
          <a:bodyPr wrap="square" anchor="ctr">
            <a:spAutoFit/>
          </a:bodyPr>
          <a:lstStyle/>
          <a:p>
            <a:pPr algn="ctr">
              <a:spcAft>
                <a:spcPts val="400"/>
              </a:spcAft>
            </a:pPr>
            <a:r>
              <a:rPr sz="1250" b="0">
                <a:solidFill>
                  <a:srgbClr val="5B6372"/>
                </a:solidFill>
                <a:latin typeface="Arial"/>
              </a:rPr>
              <a:t>Higher (cluster ops)</a:t>
            </a:r>
          </a:p>
        </p:txBody>
      </p:sp>
      <p:sp>
        <p:nvSpPr>
          <p:cNvPr id="37" name="Rectangle 36"/>
          <p:cNvSpPr/>
          <p:nvPr/>
        </p:nvSpPr>
        <p:spPr>
          <a:xfrm>
            <a:off x="9072127" y="3931920"/>
            <a:ext cx="2339583" cy="822960"/>
          </a:xfrm>
          <a:prstGeom prst="rect">
            <a:avLst/>
          </a:prstGeom>
          <a:solidFill>
            <a:srgbClr val="F5F8FC"/>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8" name="TextBox 37"/>
          <p:cNvSpPr txBox="1"/>
          <p:nvPr/>
        </p:nvSpPr>
        <p:spPr>
          <a:xfrm>
            <a:off x="9181855" y="3931920"/>
            <a:ext cx="2156703" cy="822960"/>
          </a:xfrm>
          <a:prstGeom prst="rect">
            <a:avLst/>
          </a:prstGeom>
          <a:noFill/>
        </p:spPr>
        <p:txBody>
          <a:bodyPr wrap="square" anchor="ctr">
            <a:spAutoFit/>
          </a:bodyPr>
          <a:lstStyle/>
          <a:p>
            <a:pPr algn="ctr">
              <a:spcAft>
                <a:spcPts val="400"/>
              </a:spcAft>
            </a:pPr>
            <a:r>
              <a:rPr sz="1250" b="0">
                <a:solidFill>
                  <a:srgbClr val="5B6372"/>
                </a:solidFill>
                <a:latin typeface="Arial"/>
              </a:rPr>
              <a:t>Pods via HPA</a:t>
            </a:r>
          </a:p>
        </p:txBody>
      </p:sp>
      <p:sp>
        <p:nvSpPr>
          <p:cNvPr id="39" name="Rectangle 38"/>
          <p:cNvSpPr/>
          <p:nvPr/>
        </p:nvSpPr>
        <p:spPr>
          <a:xfrm>
            <a:off x="777240" y="4754880"/>
            <a:ext cx="2126894" cy="822960"/>
          </a:xfrm>
          <a:prstGeom prst="rect">
            <a:avLst/>
          </a:prstGeom>
          <a:solidFill>
            <a:srgbClr val="FFFFFF"/>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0" name="TextBox 39"/>
          <p:cNvSpPr txBox="1"/>
          <p:nvPr/>
        </p:nvSpPr>
        <p:spPr>
          <a:xfrm>
            <a:off x="886968" y="4754880"/>
            <a:ext cx="1944014" cy="822960"/>
          </a:xfrm>
          <a:prstGeom prst="rect">
            <a:avLst/>
          </a:prstGeom>
          <a:noFill/>
        </p:spPr>
        <p:txBody>
          <a:bodyPr wrap="square" anchor="ctr">
            <a:spAutoFit/>
          </a:bodyPr>
          <a:lstStyle/>
          <a:p>
            <a:pPr algn="l">
              <a:spcAft>
                <a:spcPts val="400"/>
              </a:spcAft>
            </a:pPr>
            <a:r>
              <a:rPr sz="1250" b="1">
                <a:solidFill>
                  <a:srgbClr val="161B26"/>
                </a:solidFill>
                <a:latin typeface="Arial"/>
              </a:rPr>
              <a:t>Lambda</a:t>
            </a:r>
          </a:p>
        </p:txBody>
      </p:sp>
      <p:sp>
        <p:nvSpPr>
          <p:cNvPr id="41" name="Rectangle 40"/>
          <p:cNvSpPr/>
          <p:nvPr/>
        </p:nvSpPr>
        <p:spPr>
          <a:xfrm>
            <a:off x="2904134" y="4754880"/>
            <a:ext cx="3615720" cy="822960"/>
          </a:xfrm>
          <a:prstGeom prst="rect">
            <a:avLst/>
          </a:prstGeom>
          <a:solidFill>
            <a:srgbClr val="FFFFFF"/>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2" name="TextBox 41"/>
          <p:cNvSpPr txBox="1"/>
          <p:nvPr/>
        </p:nvSpPr>
        <p:spPr>
          <a:xfrm>
            <a:off x="3013862" y="4754880"/>
            <a:ext cx="3432840" cy="822960"/>
          </a:xfrm>
          <a:prstGeom prst="rect">
            <a:avLst/>
          </a:prstGeom>
          <a:noFill/>
        </p:spPr>
        <p:txBody>
          <a:bodyPr wrap="square" anchor="ctr">
            <a:spAutoFit/>
          </a:bodyPr>
          <a:lstStyle/>
          <a:p>
            <a:pPr algn="ctr">
              <a:spcAft>
                <a:spcPts val="400"/>
              </a:spcAft>
            </a:pPr>
            <a:r>
              <a:rPr sz="1250" b="0">
                <a:solidFill>
                  <a:srgbClr val="5B6372"/>
                </a:solidFill>
                <a:latin typeface="Arial"/>
              </a:rPr>
              <a:t>Event-driven, spiky, short tasks</a:t>
            </a:r>
          </a:p>
        </p:txBody>
      </p:sp>
      <p:sp>
        <p:nvSpPr>
          <p:cNvPr id="43" name="Rectangle 42"/>
          <p:cNvSpPr/>
          <p:nvPr/>
        </p:nvSpPr>
        <p:spPr>
          <a:xfrm>
            <a:off x="6519854" y="4754880"/>
            <a:ext cx="2552273" cy="822960"/>
          </a:xfrm>
          <a:prstGeom prst="rect">
            <a:avLst/>
          </a:prstGeom>
          <a:solidFill>
            <a:srgbClr val="FFFFFF"/>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4" name="TextBox 43"/>
          <p:cNvSpPr txBox="1"/>
          <p:nvPr/>
        </p:nvSpPr>
        <p:spPr>
          <a:xfrm>
            <a:off x="6629582" y="4754880"/>
            <a:ext cx="2369393" cy="822960"/>
          </a:xfrm>
          <a:prstGeom prst="rect">
            <a:avLst/>
          </a:prstGeom>
          <a:noFill/>
        </p:spPr>
        <p:txBody>
          <a:bodyPr wrap="square" anchor="ctr">
            <a:spAutoFit/>
          </a:bodyPr>
          <a:lstStyle/>
          <a:p>
            <a:pPr algn="ctr">
              <a:spcAft>
                <a:spcPts val="400"/>
              </a:spcAft>
            </a:pPr>
            <a:r>
              <a:rPr sz="1250" b="0">
                <a:solidFill>
                  <a:srgbClr val="5B6372"/>
                </a:solidFill>
                <a:latin typeface="Arial"/>
              </a:rPr>
              <a:t>Lowest</a:t>
            </a:r>
          </a:p>
        </p:txBody>
      </p:sp>
      <p:sp>
        <p:nvSpPr>
          <p:cNvPr id="45" name="Rectangle 44"/>
          <p:cNvSpPr/>
          <p:nvPr/>
        </p:nvSpPr>
        <p:spPr>
          <a:xfrm>
            <a:off x="9072127" y="4754880"/>
            <a:ext cx="2339583" cy="822960"/>
          </a:xfrm>
          <a:prstGeom prst="rect">
            <a:avLst/>
          </a:prstGeom>
          <a:solidFill>
            <a:srgbClr val="FFFFFF"/>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6" name="TextBox 45"/>
          <p:cNvSpPr txBox="1"/>
          <p:nvPr/>
        </p:nvSpPr>
        <p:spPr>
          <a:xfrm>
            <a:off x="9181855" y="4754880"/>
            <a:ext cx="2156703" cy="822960"/>
          </a:xfrm>
          <a:prstGeom prst="rect">
            <a:avLst/>
          </a:prstGeom>
          <a:noFill/>
        </p:spPr>
        <p:txBody>
          <a:bodyPr wrap="square" anchor="ctr">
            <a:spAutoFit/>
          </a:bodyPr>
          <a:lstStyle/>
          <a:p>
            <a:pPr algn="ctr">
              <a:spcAft>
                <a:spcPts val="400"/>
              </a:spcAft>
            </a:pPr>
            <a:r>
              <a:rPr sz="1250" b="0">
                <a:solidFill>
                  <a:srgbClr val="5B6372"/>
                </a:solidFill>
                <a:latin typeface="Arial"/>
              </a:rPr>
              <a:t>Automatic per request</a:t>
            </a:r>
          </a:p>
        </p:txBody>
      </p:sp>
      <p:sp>
        <p:nvSpPr>
          <p:cNvPr id="47" name="TextBox 46"/>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DevOps Engineering on AWS  ·  TGS-2023040474</a:t>
            </a:r>
          </a:p>
        </p:txBody>
      </p:sp>
      <p:sp>
        <p:nvSpPr>
          <p:cNvPr id="48" name="TextBox 47"/>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49" name="TextBox 48"/>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34</a:t>
            </a:r>
          </a:p>
        </p:txBody>
      </p:sp>
    </p:spTree>
  </p:cSld>
  <p:clrMapOvr>
    <a:masterClrMapping/>
  </p:clrMapOvr>
  <p:transition xmlns:p14="http://schemas.microsoft.com/office/powerpoint/2010/main" p14:dur="380">
    <p:fade/>
  </p:transition>
</p:sld>
</file>

<file path=ppt/slides/slide3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685800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777240" y="2286000"/>
            <a:ext cx="128016" cy="182880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1143000" y="2331720"/>
            <a:ext cx="10058400" cy="548640"/>
          </a:xfrm>
          <a:prstGeom prst="rect">
            <a:avLst/>
          </a:prstGeom>
          <a:noFill/>
        </p:spPr>
        <p:txBody>
          <a:bodyPr wrap="square" anchor="t">
            <a:spAutoFit/>
          </a:bodyPr>
          <a:lstStyle/>
          <a:p>
            <a:pPr algn="l">
              <a:spcAft>
                <a:spcPts val="400"/>
              </a:spcAft>
            </a:pPr>
            <a:r>
              <a:rPr sz="1800" b="1">
                <a:solidFill>
                  <a:srgbClr val="1F6FEB"/>
                </a:solidFill>
                <a:latin typeface="Arial"/>
              </a:rPr>
              <a:t>DOMAIN 01</a:t>
            </a:r>
          </a:p>
        </p:txBody>
      </p:sp>
      <p:sp>
        <p:nvSpPr>
          <p:cNvPr id="6" name="TextBox 5"/>
          <p:cNvSpPr txBox="1"/>
          <p:nvPr/>
        </p:nvSpPr>
        <p:spPr>
          <a:xfrm>
            <a:off x="1143000" y="2743200"/>
            <a:ext cx="10424160" cy="1463040"/>
          </a:xfrm>
          <a:prstGeom prst="rect">
            <a:avLst/>
          </a:prstGeom>
          <a:noFill/>
        </p:spPr>
        <p:txBody>
          <a:bodyPr wrap="square" anchor="t">
            <a:spAutoFit/>
          </a:bodyPr>
          <a:lstStyle/>
          <a:p>
            <a:pPr algn="l">
              <a:spcAft>
                <a:spcPts val="400"/>
              </a:spcAft>
            </a:pPr>
            <a:r>
              <a:rPr sz="4000" b="1">
                <a:solidFill>
                  <a:srgbClr val="161B26"/>
                </a:solidFill>
                <a:latin typeface="Arial"/>
              </a:rPr>
              <a:t>SDLC Automation</a:t>
            </a:r>
          </a:p>
        </p:txBody>
      </p:sp>
      <p:sp>
        <p:nvSpPr>
          <p:cNvPr id="7" name="TextBox 6"/>
          <p:cNvSpPr txBox="1"/>
          <p:nvPr/>
        </p:nvSpPr>
        <p:spPr>
          <a:xfrm>
            <a:off x="1161288" y="4160520"/>
            <a:ext cx="10058400" cy="731520"/>
          </a:xfrm>
          <a:prstGeom prst="rect">
            <a:avLst/>
          </a:prstGeom>
          <a:noFill/>
        </p:spPr>
        <p:txBody>
          <a:bodyPr wrap="square" anchor="t">
            <a:spAutoFit/>
          </a:bodyPr>
          <a:lstStyle/>
          <a:p>
            <a:pPr algn="l">
              <a:spcAft>
                <a:spcPts val="400"/>
              </a:spcAft>
            </a:pPr>
            <a:r>
              <a:rPr sz="1600" b="0">
                <a:solidFill>
                  <a:srgbClr val="5B6372"/>
                </a:solidFill>
                <a:latin typeface="Arial"/>
              </a:rPr>
              <a:t>Exam weighting 22%  ·  CI/CD pipelines · automated testing · artifacts · deployment strategies</a:t>
            </a:r>
          </a:p>
        </p:txBody>
      </p:sp>
      <p:sp>
        <p:nvSpPr>
          <p:cNvPr id="8" name="TextBox 7"/>
          <p:cNvSpPr txBox="1"/>
          <p:nvPr/>
        </p:nvSpPr>
        <p:spPr>
          <a:xfrm>
            <a:off x="9144000" y="640080"/>
            <a:ext cx="2560320" cy="1463040"/>
          </a:xfrm>
          <a:prstGeom prst="rect">
            <a:avLst/>
          </a:prstGeom>
          <a:noFill/>
        </p:spPr>
        <p:txBody>
          <a:bodyPr wrap="square" anchor="t">
            <a:spAutoFit/>
          </a:bodyPr>
          <a:lstStyle/>
          <a:p>
            <a:pPr algn="r">
              <a:spcAft>
                <a:spcPts val="400"/>
              </a:spcAft>
            </a:pPr>
            <a:r>
              <a:rPr sz="7200" b="1">
                <a:solidFill>
                  <a:srgbClr val="E2E8F0"/>
                </a:solidFill>
                <a:latin typeface="Arial"/>
              </a:rPr>
              <a:t>01</a:t>
            </a:r>
          </a:p>
        </p:txBody>
      </p:sp>
      <p:sp>
        <p:nvSpPr>
          <p:cNvPr id="9" name="TextBox 8"/>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DevOps Engineering on AWS  ·  TGS-2023040474</a:t>
            </a:r>
          </a:p>
        </p:txBody>
      </p:sp>
      <p:sp>
        <p:nvSpPr>
          <p:cNvPr id="10" name="TextBox 9"/>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1" name="TextBox 10"/>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35</a:t>
            </a:r>
          </a:p>
        </p:txBody>
      </p:sp>
    </p:spTree>
  </p:cSld>
  <p:clrMapOvr>
    <a:masterClrMapping/>
  </p:clrMapOvr>
  <p:transition xmlns:p14="http://schemas.microsoft.com/office/powerpoint/2010/main" p14:dur="380">
    <p:fade/>
  </p:transition>
</p:sld>
</file>

<file path=ppt/slides/slide3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38912"/>
            <a:ext cx="10607040" cy="365760"/>
          </a:xfrm>
          <a:prstGeom prst="rect">
            <a:avLst/>
          </a:prstGeom>
          <a:noFill/>
        </p:spPr>
        <p:txBody>
          <a:bodyPr wrap="square" anchor="t">
            <a:spAutoFit/>
          </a:bodyPr>
          <a:lstStyle/>
          <a:p>
            <a:pPr algn="l">
              <a:spcAft>
                <a:spcPts val="400"/>
              </a:spcAft>
            </a:pPr>
            <a:r>
              <a:rPr sz="1400" b="1">
                <a:solidFill>
                  <a:srgbClr val="1F6FEB"/>
                </a:solidFill>
                <a:latin typeface="Arial"/>
              </a:rPr>
              <a:t>DELIVERY AUTOMATION</a:t>
            </a:r>
          </a:p>
        </p:txBody>
      </p:sp>
      <p:sp>
        <p:nvSpPr>
          <p:cNvPr id="5" name="TextBox 4"/>
          <p:cNvSpPr txBox="1"/>
          <p:nvPr/>
        </p:nvSpPr>
        <p:spPr>
          <a:xfrm>
            <a:off x="777240" y="804672"/>
            <a:ext cx="10927080" cy="731520"/>
          </a:xfrm>
          <a:prstGeom prst="rect">
            <a:avLst/>
          </a:prstGeom>
          <a:noFill/>
        </p:spPr>
        <p:txBody>
          <a:bodyPr wrap="square" anchor="t">
            <a:spAutoFit/>
          </a:bodyPr>
          <a:lstStyle/>
          <a:p>
            <a:pPr algn="l">
              <a:spcAft>
                <a:spcPts val="400"/>
              </a:spcAft>
            </a:pPr>
            <a:r>
              <a:rPr sz="2900" b="1">
                <a:solidFill>
                  <a:srgbClr val="161B26"/>
                </a:solidFill>
                <a:latin typeface="Arial"/>
              </a:rPr>
              <a:t>SDLC Automation</a:t>
            </a:r>
          </a:p>
        </p:txBody>
      </p:sp>
      <p:sp>
        <p:nvSpPr>
          <p:cNvPr id="6" name="Rectangle 5"/>
          <p:cNvSpPr/>
          <p:nvPr/>
        </p:nvSpPr>
        <p:spPr>
          <a:xfrm>
            <a:off x="777240" y="1572768"/>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2629037" y="1819655"/>
            <a:ext cx="6933620" cy="3950208"/>
          </a:xfrm>
          <a:prstGeom prst="rect">
            <a:avLst/>
          </a:prstGeom>
          <a:solidFill>
            <a:srgbClr val="F5F8FC"/>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8" name="Picture 7" descr="devops-delivery-automation.png"/>
          <p:cNvPicPr>
            <a:picLocks noChangeAspect="1"/>
          </p:cNvPicPr>
          <p:nvPr/>
        </p:nvPicPr>
        <p:blipFill>
          <a:blip r:embed="rId2"/>
          <a:stretch>
            <a:fillRect/>
          </a:stretch>
        </p:blipFill>
        <p:spPr>
          <a:xfrm>
            <a:off x="2683901" y="1874519"/>
            <a:ext cx="6823892" cy="3840480"/>
          </a:xfrm>
          <a:prstGeom prst="rect">
            <a:avLst/>
          </a:prstGeom>
        </p:spPr>
      </p:pic>
      <p:sp>
        <p:nvSpPr>
          <p:cNvPr id="9" name="Rectangle 8"/>
          <p:cNvSpPr/>
          <p:nvPr/>
        </p:nvSpPr>
        <p:spPr>
          <a:xfrm>
            <a:off x="777240" y="5852159"/>
            <a:ext cx="10634472" cy="64008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777240" y="5852159"/>
            <a:ext cx="91440" cy="64008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1005840" y="5852159"/>
            <a:ext cx="10241280" cy="640080"/>
          </a:xfrm>
          <a:prstGeom prst="rect">
            <a:avLst/>
          </a:prstGeom>
          <a:noFill/>
        </p:spPr>
        <p:txBody>
          <a:bodyPr wrap="square" anchor="ctr">
            <a:spAutoFit/>
          </a:bodyPr>
          <a:lstStyle/>
          <a:p>
            <a:pPr algn="l">
              <a:spcAft>
                <a:spcPts val="400"/>
              </a:spcAft>
            </a:pPr>
            <a:r>
              <a:rPr sz="1300" b="1">
                <a:solidFill>
                  <a:srgbClr val="1F6FEB"/>
                </a:solidFill>
                <a:latin typeface="Arial"/>
              </a:rPr>
              <a:t>▶  </a:t>
            </a:r>
            <a:r>
              <a:rPr sz="1350" b="0">
                <a:solidFill>
                  <a:srgbClr val="161B26"/>
                </a:solidFill>
                <a:latin typeface="Arial"/>
              </a:rPr>
              <a:t>Automating the software-delivery lifecycle on AWS</a:t>
            </a:r>
          </a:p>
        </p:txBody>
      </p:sp>
      <p:sp>
        <p:nvSpPr>
          <p:cNvPr id="12" name="TextBox 11"/>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DevOps Engineering on AWS  ·  TGS-2023040474</a:t>
            </a:r>
          </a:p>
        </p:txBody>
      </p:sp>
      <p:sp>
        <p:nvSpPr>
          <p:cNvPr id="13" name="TextBox 12"/>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4" name="TextBox 13"/>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36</a:t>
            </a:r>
          </a:p>
        </p:txBody>
      </p:sp>
    </p:spTree>
  </p:cSld>
  <p:clrMapOvr>
    <a:masterClrMapping/>
  </p:clrMapOvr>
  <p:transition xmlns:p14="http://schemas.microsoft.com/office/powerpoint/2010/main" p14:dur="380">
    <p:fade/>
  </p:transition>
</p:sld>
</file>

<file path=ppt/slides/slide3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38912"/>
            <a:ext cx="10607040" cy="365760"/>
          </a:xfrm>
          <a:prstGeom prst="rect">
            <a:avLst/>
          </a:prstGeom>
          <a:noFill/>
        </p:spPr>
        <p:txBody>
          <a:bodyPr wrap="square" anchor="t">
            <a:spAutoFit/>
          </a:bodyPr>
          <a:lstStyle/>
          <a:p>
            <a:pPr algn="l">
              <a:spcAft>
                <a:spcPts val="400"/>
              </a:spcAft>
            </a:pPr>
            <a:r>
              <a:rPr sz="1400" b="1">
                <a:solidFill>
                  <a:srgbClr val="1F6FEB"/>
                </a:solidFill>
                <a:latin typeface="Arial"/>
              </a:rPr>
              <a:t>DOMAIN 01 · WEIGHTING 22%</a:t>
            </a:r>
          </a:p>
        </p:txBody>
      </p:sp>
      <p:sp>
        <p:nvSpPr>
          <p:cNvPr id="5" name="TextBox 4"/>
          <p:cNvSpPr txBox="1"/>
          <p:nvPr/>
        </p:nvSpPr>
        <p:spPr>
          <a:xfrm>
            <a:off x="777240" y="804672"/>
            <a:ext cx="10927080" cy="731520"/>
          </a:xfrm>
          <a:prstGeom prst="rect">
            <a:avLst/>
          </a:prstGeom>
          <a:noFill/>
        </p:spPr>
        <p:txBody>
          <a:bodyPr wrap="square" anchor="t">
            <a:spAutoFit/>
          </a:bodyPr>
          <a:lstStyle/>
          <a:p>
            <a:pPr algn="l">
              <a:spcAft>
                <a:spcPts val="400"/>
              </a:spcAft>
            </a:pPr>
            <a:r>
              <a:rPr sz="2900" b="1">
                <a:solidFill>
                  <a:srgbClr val="161B26"/>
                </a:solidFill>
                <a:latin typeface="Arial"/>
              </a:rPr>
              <a:t>Key Concepts — SDLC Automation</a:t>
            </a:r>
          </a:p>
        </p:txBody>
      </p:sp>
      <p:sp>
        <p:nvSpPr>
          <p:cNvPr id="6" name="Rectangle 5"/>
          <p:cNvSpPr/>
          <p:nvPr/>
        </p:nvSpPr>
        <p:spPr>
          <a:xfrm>
            <a:off x="777240" y="1572768"/>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783080"/>
            <a:ext cx="5180076" cy="131064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1783080"/>
            <a:ext cx="91440" cy="131064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1033272" y="2164080"/>
            <a:ext cx="548640" cy="548640"/>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033272" y="2164080"/>
            <a:ext cx="548640" cy="548640"/>
          </a:xfrm>
          <a:prstGeom prst="rect">
            <a:avLst/>
          </a:prstGeom>
          <a:noFill/>
        </p:spPr>
        <p:txBody>
          <a:bodyPr wrap="square" anchor="ctr">
            <a:spAutoFit/>
          </a:bodyPr>
          <a:lstStyle/>
          <a:p>
            <a:pPr algn="ctr">
              <a:spcAft>
                <a:spcPts val="400"/>
              </a:spcAft>
            </a:pPr>
            <a:r>
              <a:rPr sz="1800" b="1">
                <a:solidFill>
                  <a:srgbClr val="FFFFFF"/>
                </a:solidFill>
                <a:latin typeface="Arial"/>
              </a:rPr>
              <a:t>1</a:t>
            </a:r>
          </a:p>
        </p:txBody>
      </p:sp>
      <p:sp>
        <p:nvSpPr>
          <p:cNvPr id="11" name="TextBox 10"/>
          <p:cNvSpPr txBox="1"/>
          <p:nvPr/>
        </p:nvSpPr>
        <p:spPr>
          <a:xfrm>
            <a:off x="1764792" y="1892808"/>
            <a:ext cx="3973068" cy="1127760"/>
          </a:xfrm>
          <a:prstGeom prst="rect">
            <a:avLst/>
          </a:prstGeom>
          <a:noFill/>
        </p:spPr>
        <p:txBody>
          <a:bodyPr wrap="square" anchor="ctr">
            <a:spAutoFit/>
          </a:bodyPr>
          <a:lstStyle/>
          <a:p>
            <a:pPr algn="l">
              <a:spcAft>
                <a:spcPts val="300"/>
              </a:spcAft>
            </a:pPr>
            <a:r>
              <a:rPr sz="1550" b="1">
                <a:solidFill>
                  <a:srgbClr val="161B26"/>
                </a:solidFill>
                <a:latin typeface="Arial"/>
              </a:rPr>
              <a:t>Continuous Integration</a:t>
            </a:r>
          </a:p>
          <a:p>
            <a:pPr algn="l">
              <a:spcAft>
                <a:spcPts val="300"/>
              </a:spcAft>
            </a:pPr>
            <a:r>
              <a:rPr sz="1150" b="0">
                <a:solidFill>
                  <a:srgbClr val="5B6372"/>
                </a:solidFill>
                <a:latin typeface="Arial"/>
              </a:rPr>
              <a:t>Developers push often; CodeBuild runs the build and tests on every commit so bugs are found early, not at release.</a:t>
            </a:r>
          </a:p>
        </p:txBody>
      </p:sp>
      <p:sp>
        <p:nvSpPr>
          <p:cNvPr id="12" name="Rectangle 11"/>
          <p:cNvSpPr/>
          <p:nvPr/>
        </p:nvSpPr>
        <p:spPr>
          <a:xfrm>
            <a:off x="6231636" y="1783080"/>
            <a:ext cx="5180076" cy="131064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6231636" y="1783080"/>
            <a:ext cx="91440" cy="131064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Oval 13"/>
          <p:cNvSpPr/>
          <p:nvPr/>
        </p:nvSpPr>
        <p:spPr>
          <a:xfrm>
            <a:off x="6487668" y="2164080"/>
            <a:ext cx="548640" cy="54864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6487668" y="2164080"/>
            <a:ext cx="548640" cy="548640"/>
          </a:xfrm>
          <a:prstGeom prst="rect">
            <a:avLst/>
          </a:prstGeom>
          <a:noFill/>
        </p:spPr>
        <p:txBody>
          <a:bodyPr wrap="square" anchor="ctr">
            <a:spAutoFit/>
          </a:bodyPr>
          <a:lstStyle/>
          <a:p>
            <a:pPr algn="ctr">
              <a:spcAft>
                <a:spcPts val="400"/>
              </a:spcAft>
            </a:pPr>
            <a:r>
              <a:rPr sz="1800" b="1">
                <a:solidFill>
                  <a:srgbClr val="FFFFFF"/>
                </a:solidFill>
                <a:latin typeface="Arial"/>
              </a:rPr>
              <a:t>2</a:t>
            </a:r>
          </a:p>
        </p:txBody>
      </p:sp>
      <p:sp>
        <p:nvSpPr>
          <p:cNvPr id="16" name="TextBox 15"/>
          <p:cNvSpPr txBox="1"/>
          <p:nvPr/>
        </p:nvSpPr>
        <p:spPr>
          <a:xfrm>
            <a:off x="7219188" y="1892808"/>
            <a:ext cx="3973068" cy="1127760"/>
          </a:xfrm>
          <a:prstGeom prst="rect">
            <a:avLst/>
          </a:prstGeom>
          <a:noFill/>
        </p:spPr>
        <p:txBody>
          <a:bodyPr wrap="square" anchor="ctr">
            <a:spAutoFit/>
          </a:bodyPr>
          <a:lstStyle/>
          <a:p>
            <a:pPr algn="l">
              <a:spcAft>
                <a:spcPts val="300"/>
              </a:spcAft>
            </a:pPr>
            <a:r>
              <a:rPr sz="1550" b="1">
                <a:solidFill>
                  <a:srgbClr val="161B26"/>
                </a:solidFill>
                <a:latin typeface="Arial"/>
              </a:rPr>
              <a:t>Continuous Delivery / Deployment</a:t>
            </a:r>
          </a:p>
          <a:p>
            <a:pPr algn="l">
              <a:spcAft>
                <a:spcPts val="300"/>
              </a:spcAft>
            </a:pPr>
            <a:r>
              <a:rPr sz="1150" b="0">
                <a:solidFill>
                  <a:srgbClr val="5B6372"/>
                </a:solidFill>
                <a:latin typeface="Arial"/>
              </a:rPr>
              <a:t>Every green build is releasable; CodePipeline and CodeDeploy move it through dev → test → prod with approvals.</a:t>
            </a:r>
          </a:p>
        </p:txBody>
      </p:sp>
      <p:sp>
        <p:nvSpPr>
          <p:cNvPr id="17" name="Rectangle 16"/>
          <p:cNvSpPr/>
          <p:nvPr/>
        </p:nvSpPr>
        <p:spPr>
          <a:xfrm>
            <a:off x="777240" y="3313176"/>
            <a:ext cx="5180076" cy="131064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777240" y="3313176"/>
            <a:ext cx="91440" cy="1310640"/>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Oval 18"/>
          <p:cNvSpPr/>
          <p:nvPr/>
        </p:nvSpPr>
        <p:spPr>
          <a:xfrm>
            <a:off x="1033272" y="3694176"/>
            <a:ext cx="548640" cy="548640"/>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1033272" y="3694176"/>
            <a:ext cx="548640" cy="548640"/>
          </a:xfrm>
          <a:prstGeom prst="rect">
            <a:avLst/>
          </a:prstGeom>
          <a:noFill/>
        </p:spPr>
        <p:txBody>
          <a:bodyPr wrap="square" anchor="ctr">
            <a:spAutoFit/>
          </a:bodyPr>
          <a:lstStyle/>
          <a:p>
            <a:pPr algn="ctr">
              <a:spcAft>
                <a:spcPts val="400"/>
              </a:spcAft>
            </a:pPr>
            <a:r>
              <a:rPr sz="1800" b="1">
                <a:solidFill>
                  <a:srgbClr val="FFFFFF"/>
                </a:solidFill>
                <a:latin typeface="Arial"/>
              </a:rPr>
              <a:t>3</a:t>
            </a:r>
          </a:p>
        </p:txBody>
      </p:sp>
      <p:sp>
        <p:nvSpPr>
          <p:cNvPr id="21" name="TextBox 20"/>
          <p:cNvSpPr txBox="1"/>
          <p:nvPr/>
        </p:nvSpPr>
        <p:spPr>
          <a:xfrm>
            <a:off x="1764792" y="3422904"/>
            <a:ext cx="3973068" cy="1127760"/>
          </a:xfrm>
          <a:prstGeom prst="rect">
            <a:avLst/>
          </a:prstGeom>
          <a:noFill/>
        </p:spPr>
        <p:txBody>
          <a:bodyPr wrap="square" anchor="ctr">
            <a:spAutoFit/>
          </a:bodyPr>
          <a:lstStyle/>
          <a:p>
            <a:pPr algn="l">
              <a:spcAft>
                <a:spcPts val="300"/>
              </a:spcAft>
            </a:pPr>
            <a:r>
              <a:rPr sz="1550" b="1">
                <a:solidFill>
                  <a:srgbClr val="161B26"/>
                </a:solidFill>
                <a:latin typeface="Arial"/>
              </a:rPr>
              <a:t>The AWS developer tools</a:t>
            </a:r>
          </a:p>
          <a:p>
            <a:pPr algn="l">
              <a:spcAft>
                <a:spcPts val="300"/>
              </a:spcAft>
            </a:pPr>
            <a:r>
              <a:rPr sz="1150" b="0">
                <a:solidFill>
                  <a:srgbClr val="5B6372"/>
                </a:solidFill>
                <a:latin typeface="Arial"/>
              </a:rPr>
              <a:t>CodeCommit / CodeBuild / CodeDeploy / CodePipeline / CodeArtifact / CodeGuru compose the managed CI/CD toolchain.</a:t>
            </a:r>
          </a:p>
        </p:txBody>
      </p:sp>
      <p:sp>
        <p:nvSpPr>
          <p:cNvPr id="22" name="Rectangle 21"/>
          <p:cNvSpPr/>
          <p:nvPr/>
        </p:nvSpPr>
        <p:spPr>
          <a:xfrm>
            <a:off x="6231636" y="3313176"/>
            <a:ext cx="5180076" cy="131064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ectangle 22"/>
          <p:cNvSpPr/>
          <p:nvPr/>
        </p:nvSpPr>
        <p:spPr>
          <a:xfrm>
            <a:off x="6231636" y="3313176"/>
            <a:ext cx="91440" cy="1310640"/>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Oval 23"/>
          <p:cNvSpPr/>
          <p:nvPr/>
        </p:nvSpPr>
        <p:spPr>
          <a:xfrm>
            <a:off x="6487668" y="3694176"/>
            <a:ext cx="548640" cy="548640"/>
          </a:xfrm>
          <a:prstGeom prst="ellipse">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6487668" y="3694176"/>
            <a:ext cx="548640" cy="548640"/>
          </a:xfrm>
          <a:prstGeom prst="rect">
            <a:avLst/>
          </a:prstGeom>
          <a:noFill/>
        </p:spPr>
        <p:txBody>
          <a:bodyPr wrap="square" anchor="ctr">
            <a:spAutoFit/>
          </a:bodyPr>
          <a:lstStyle/>
          <a:p>
            <a:pPr algn="ctr">
              <a:spcAft>
                <a:spcPts val="400"/>
              </a:spcAft>
            </a:pPr>
            <a:r>
              <a:rPr sz="1800" b="1">
                <a:solidFill>
                  <a:srgbClr val="FFFFFF"/>
                </a:solidFill>
                <a:latin typeface="Arial"/>
              </a:rPr>
              <a:t>4</a:t>
            </a:r>
          </a:p>
        </p:txBody>
      </p:sp>
      <p:sp>
        <p:nvSpPr>
          <p:cNvPr id="26" name="TextBox 25"/>
          <p:cNvSpPr txBox="1"/>
          <p:nvPr/>
        </p:nvSpPr>
        <p:spPr>
          <a:xfrm>
            <a:off x="7219188" y="3422904"/>
            <a:ext cx="3973068" cy="1127760"/>
          </a:xfrm>
          <a:prstGeom prst="rect">
            <a:avLst/>
          </a:prstGeom>
          <a:noFill/>
        </p:spPr>
        <p:txBody>
          <a:bodyPr wrap="square" anchor="ctr">
            <a:spAutoFit/>
          </a:bodyPr>
          <a:lstStyle/>
          <a:p>
            <a:pPr algn="l">
              <a:spcAft>
                <a:spcPts val="300"/>
              </a:spcAft>
            </a:pPr>
            <a:r>
              <a:rPr sz="1550" b="1">
                <a:solidFill>
                  <a:srgbClr val="161B26"/>
                </a:solidFill>
                <a:latin typeface="Arial"/>
              </a:rPr>
              <a:t>buildspec &amp; appspec</a:t>
            </a:r>
          </a:p>
          <a:p>
            <a:pPr algn="l">
              <a:spcAft>
                <a:spcPts val="300"/>
              </a:spcAft>
            </a:pPr>
            <a:r>
              <a:rPr sz="1150" b="0">
                <a:solidFill>
                  <a:srgbClr val="5B6372"/>
                </a:solidFill>
                <a:latin typeface="Arial"/>
              </a:rPr>
              <a:t>buildspec.yml tells CodeBuild what to build and test; appspec.yml tells CodeDeploy what and how to deploy.</a:t>
            </a:r>
          </a:p>
        </p:txBody>
      </p:sp>
      <p:sp>
        <p:nvSpPr>
          <p:cNvPr id="27" name="Rectangle 26"/>
          <p:cNvSpPr/>
          <p:nvPr/>
        </p:nvSpPr>
        <p:spPr>
          <a:xfrm>
            <a:off x="777240" y="4843272"/>
            <a:ext cx="5180076" cy="131064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Rectangle 27"/>
          <p:cNvSpPr/>
          <p:nvPr/>
        </p:nvSpPr>
        <p:spPr>
          <a:xfrm>
            <a:off x="777240" y="4843272"/>
            <a:ext cx="91440" cy="1310640"/>
          </a:xfrm>
          <a:prstGeom prst="rect">
            <a:avLst/>
          </a:prstGeom>
          <a:solidFill>
            <a:srgbClr val="EC711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Oval 28"/>
          <p:cNvSpPr/>
          <p:nvPr/>
        </p:nvSpPr>
        <p:spPr>
          <a:xfrm>
            <a:off x="1033272" y="5224272"/>
            <a:ext cx="548640" cy="548640"/>
          </a:xfrm>
          <a:prstGeom prst="ellipse">
            <a:avLst/>
          </a:prstGeom>
          <a:solidFill>
            <a:srgbClr val="EC711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1033272" y="5224272"/>
            <a:ext cx="548640" cy="548640"/>
          </a:xfrm>
          <a:prstGeom prst="rect">
            <a:avLst/>
          </a:prstGeom>
          <a:noFill/>
        </p:spPr>
        <p:txBody>
          <a:bodyPr wrap="square" anchor="ctr">
            <a:spAutoFit/>
          </a:bodyPr>
          <a:lstStyle/>
          <a:p>
            <a:pPr algn="ctr">
              <a:spcAft>
                <a:spcPts val="400"/>
              </a:spcAft>
            </a:pPr>
            <a:r>
              <a:rPr sz="1800" b="1">
                <a:solidFill>
                  <a:srgbClr val="FFFFFF"/>
                </a:solidFill>
                <a:latin typeface="Arial"/>
              </a:rPr>
              <a:t>5</a:t>
            </a:r>
          </a:p>
        </p:txBody>
      </p:sp>
      <p:sp>
        <p:nvSpPr>
          <p:cNvPr id="31" name="TextBox 30"/>
          <p:cNvSpPr txBox="1"/>
          <p:nvPr/>
        </p:nvSpPr>
        <p:spPr>
          <a:xfrm>
            <a:off x="1764792" y="4953000"/>
            <a:ext cx="3973068" cy="1127760"/>
          </a:xfrm>
          <a:prstGeom prst="rect">
            <a:avLst/>
          </a:prstGeom>
          <a:noFill/>
        </p:spPr>
        <p:txBody>
          <a:bodyPr wrap="square" anchor="ctr">
            <a:spAutoFit/>
          </a:bodyPr>
          <a:lstStyle/>
          <a:p>
            <a:pPr algn="l">
              <a:spcAft>
                <a:spcPts val="300"/>
              </a:spcAft>
            </a:pPr>
            <a:r>
              <a:rPr sz="1550" b="1">
                <a:solidFill>
                  <a:srgbClr val="161B26"/>
                </a:solidFill>
                <a:latin typeface="Arial"/>
              </a:rPr>
              <a:t>Deployment strategies</a:t>
            </a:r>
          </a:p>
          <a:p>
            <a:pPr algn="l">
              <a:spcAft>
                <a:spcPts val="300"/>
              </a:spcAft>
            </a:pPr>
            <a:r>
              <a:rPr sz="1150" b="0">
                <a:solidFill>
                  <a:srgbClr val="5B6372"/>
                </a:solidFill>
                <a:latin typeface="Arial"/>
              </a:rPr>
              <a:t>In-place, rolling, blue/green and canary trade release speed against blast radius and rollback safety.</a:t>
            </a:r>
          </a:p>
        </p:txBody>
      </p:sp>
      <p:sp>
        <p:nvSpPr>
          <p:cNvPr id="32" name="Rectangle 31"/>
          <p:cNvSpPr/>
          <p:nvPr/>
        </p:nvSpPr>
        <p:spPr>
          <a:xfrm>
            <a:off x="6231636" y="4843272"/>
            <a:ext cx="5180076" cy="131064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Rectangle 32"/>
          <p:cNvSpPr/>
          <p:nvPr/>
        </p:nvSpPr>
        <p:spPr>
          <a:xfrm>
            <a:off x="6231636" y="4843272"/>
            <a:ext cx="91440" cy="1310640"/>
          </a:xfrm>
          <a:prstGeom prst="rect">
            <a:avLst/>
          </a:prstGeom>
          <a:solidFill>
            <a:srgbClr val="0E9EC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Oval 33"/>
          <p:cNvSpPr/>
          <p:nvPr/>
        </p:nvSpPr>
        <p:spPr>
          <a:xfrm>
            <a:off x="6487668" y="5224272"/>
            <a:ext cx="548640" cy="548640"/>
          </a:xfrm>
          <a:prstGeom prst="ellipse">
            <a:avLst/>
          </a:prstGeom>
          <a:solidFill>
            <a:srgbClr val="0E9EC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TextBox 34"/>
          <p:cNvSpPr txBox="1"/>
          <p:nvPr/>
        </p:nvSpPr>
        <p:spPr>
          <a:xfrm>
            <a:off x="6487668" y="5224272"/>
            <a:ext cx="548640" cy="548640"/>
          </a:xfrm>
          <a:prstGeom prst="rect">
            <a:avLst/>
          </a:prstGeom>
          <a:noFill/>
        </p:spPr>
        <p:txBody>
          <a:bodyPr wrap="square" anchor="ctr">
            <a:spAutoFit/>
          </a:bodyPr>
          <a:lstStyle/>
          <a:p>
            <a:pPr algn="ctr">
              <a:spcAft>
                <a:spcPts val="400"/>
              </a:spcAft>
            </a:pPr>
            <a:r>
              <a:rPr sz="1800" b="1">
                <a:solidFill>
                  <a:srgbClr val="FFFFFF"/>
                </a:solidFill>
                <a:latin typeface="Arial"/>
              </a:rPr>
              <a:t>6</a:t>
            </a:r>
          </a:p>
        </p:txBody>
      </p:sp>
      <p:sp>
        <p:nvSpPr>
          <p:cNvPr id="36" name="TextBox 35"/>
          <p:cNvSpPr txBox="1"/>
          <p:nvPr/>
        </p:nvSpPr>
        <p:spPr>
          <a:xfrm>
            <a:off x="7219188" y="4953000"/>
            <a:ext cx="3973068" cy="1127760"/>
          </a:xfrm>
          <a:prstGeom prst="rect">
            <a:avLst/>
          </a:prstGeom>
          <a:noFill/>
        </p:spPr>
        <p:txBody>
          <a:bodyPr wrap="square" anchor="ctr">
            <a:spAutoFit/>
          </a:bodyPr>
          <a:lstStyle/>
          <a:p>
            <a:pPr algn="l">
              <a:spcAft>
                <a:spcPts val="300"/>
              </a:spcAft>
            </a:pPr>
            <a:r>
              <a:rPr sz="1550" b="1">
                <a:solidFill>
                  <a:srgbClr val="161B26"/>
                </a:solidFill>
                <a:latin typeface="Arial"/>
              </a:rPr>
              <a:t>Artifacts</a:t>
            </a:r>
          </a:p>
          <a:p>
            <a:pPr algn="l">
              <a:spcAft>
                <a:spcPts val="300"/>
              </a:spcAft>
            </a:pPr>
            <a:r>
              <a:rPr sz="1150" b="0">
                <a:solidFill>
                  <a:srgbClr val="5B6372"/>
                </a:solidFill>
                <a:latin typeface="Arial"/>
              </a:rPr>
              <a:t>Build outputs are versioned in S3 / CodeArtifact so any release is reproducible and traceable.</a:t>
            </a:r>
          </a:p>
        </p:txBody>
      </p:sp>
      <p:sp>
        <p:nvSpPr>
          <p:cNvPr id="37" name="TextBox 36"/>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DevOps Engineering on AWS  ·  TGS-2023040474</a:t>
            </a:r>
          </a:p>
        </p:txBody>
      </p:sp>
      <p:sp>
        <p:nvSpPr>
          <p:cNvPr id="38" name="TextBox 37"/>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39" name="TextBox 38"/>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37</a:t>
            </a:r>
          </a:p>
        </p:txBody>
      </p:sp>
    </p:spTree>
  </p:cSld>
  <p:clrMapOvr>
    <a:masterClrMapping/>
  </p:clrMapOvr>
  <p:transition xmlns:p14="http://schemas.microsoft.com/office/powerpoint/2010/main" p14:dur="380">
    <p:fade/>
  </p:transition>
</p:sld>
</file>

<file path=ppt/slides/slide3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38912"/>
            <a:ext cx="10607040" cy="365760"/>
          </a:xfrm>
          <a:prstGeom prst="rect">
            <a:avLst/>
          </a:prstGeom>
          <a:noFill/>
        </p:spPr>
        <p:txBody>
          <a:bodyPr wrap="square" anchor="t">
            <a:spAutoFit/>
          </a:bodyPr>
          <a:lstStyle/>
          <a:p>
            <a:pPr algn="l">
              <a:spcAft>
                <a:spcPts val="400"/>
              </a:spcAft>
            </a:pPr>
            <a:r>
              <a:rPr sz="1400" b="1">
                <a:solidFill>
                  <a:srgbClr val="1F6FEB"/>
                </a:solidFill>
                <a:latin typeface="Arial"/>
              </a:rPr>
              <a:t>THE MANAGED CI/CD TOOLCHAIN</a:t>
            </a:r>
          </a:p>
        </p:txBody>
      </p:sp>
      <p:sp>
        <p:nvSpPr>
          <p:cNvPr id="5" name="TextBox 4"/>
          <p:cNvSpPr txBox="1"/>
          <p:nvPr/>
        </p:nvSpPr>
        <p:spPr>
          <a:xfrm>
            <a:off x="777240" y="804672"/>
            <a:ext cx="10927080" cy="731520"/>
          </a:xfrm>
          <a:prstGeom prst="rect">
            <a:avLst/>
          </a:prstGeom>
          <a:noFill/>
        </p:spPr>
        <p:txBody>
          <a:bodyPr wrap="square" anchor="t">
            <a:spAutoFit/>
          </a:bodyPr>
          <a:lstStyle/>
          <a:p>
            <a:pPr algn="l">
              <a:spcAft>
                <a:spcPts val="400"/>
              </a:spcAft>
            </a:pPr>
            <a:r>
              <a:rPr sz="2900" b="1">
                <a:solidFill>
                  <a:srgbClr val="161B26"/>
                </a:solidFill>
                <a:latin typeface="Arial"/>
              </a:rPr>
              <a:t>The AWS Developer Tools</a:t>
            </a:r>
          </a:p>
        </p:txBody>
      </p:sp>
      <p:sp>
        <p:nvSpPr>
          <p:cNvPr id="6" name="Rectangle 5"/>
          <p:cNvSpPr/>
          <p:nvPr/>
        </p:nvSpPr>
        <p:spPr>
          <a:xfrm>
            <a:off x="777240" y="1572768"/>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783080"/>
            <a:ext cx="5180076" cy="131064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1783080"/>
            <a:ext cx="91440" cy="131064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1033272" y="2164080"/>
            <a:ext cx="548640" cy="548640"/>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033272" y="2164080"/>
            <a:ext cx="548640" cy="548640"/>
          </a:xfrm>
          <a:prstGeom prst="rect">
            <a:avLst/>
          </a:prstGeom>
          <a:noFill/>
        </p:spPr>
        <p:txBody>
          <a:bodyPr wrap="square" anchor="ctr">
            <a:spAutoFit/>
          </a:bodyPr>
          <a:lstStyle/>
          <a:p>
            <a:pPr algn="ctr">
              <a:spcAft>
                <a:spcPts val="400"/>
              </a:spcAft>
            </a:pPr>
            <a:r>
              <a:rPr sz="1800" b="1">
                <a:solidFill>
                  <a:srgbClr val="FFFFFF"/>
                </a:solidFill>
                <a:latin typeface="Arial"/>
              </a:rPr>
              <a:t>1</a:t>
            </a:r>
          </a:p>
        </p:txBody>
      </p:sp>
      <p:sp>
        <p:nvSpPr>
          <p:cNvPr id="11" name="TextBox 10"/>
          <p:cNvSpPr txBox="1"/>
          <p:nvPr/>
        </p:nvSpPr>
        <p:spPr>
          <a:xfrm>
            <a:off x="1764792" y="1892808"/>
            <a:ext cx="3973068" cy="1127760"/>
          </a:xfrm>
          <a:prstGeom prst="rect">
            <a:avLst/>
          </a:prstGeom>
          <a:noFill/>
        </p:spPr>
        <p:txBody>
          <a:bodyPr wrap="square" anchor="ctr">
            <a:spAutoFit/>
          </a:bodyPr>
          <a:lstStyle/>
          <a:p>
            <a:pPr algn="l">
              <a:spcAft>
                <a:spcPts val="300"/>
              </a:spcAft>
            </a:pPr>
            <a:r>
              <a:rPr sz="1550" b="1">
                <a:solidFill>
                  <a:srgbClr val="161B26"/>
                </a:solidFill>
                <a:latin typeface="Arial"/>
              </a:rPr>
              <a:t>CodeCommit</a:t>
            </a:r>
          </a:p>
          <a:p>
            <a:pPr algn="l">
              <a:spcAft>
                <a:spcPts val="300"/>
              </a:spcAft>
            </a:pPr>
            <a:r>
              <a:rPr sz="1150" b="0">
                <a:solidFill>
                  <a:srgbClr val="5B6372"/>
                </a:solidFill>
                <a:latin typeface="Arial"/>
              </a:rPr>
              <a:t>Managed, private Git repositories (or bring GitHub).</a:t>
            </a:r>
          </a:p>
        </p:txBody>
      </p:sp>
      <p:sp>
        <p:nvSpPr>
          <p:cNvPr id="12" name="Rectangle 11"/>
          <p:cNvSpPr/>
          <p:nvPr/>
        </p:nvSpPr>
        <p:spPr>
          <a:xfrm>
            <a:off x="6231636" y="1783080"/>
            <a:ext cx="5180076" cy="131064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6231636" y="1783080"/>
            <a:ext cx="91440" cy="131064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Oval 13"/>
          <p:cNvSpPr/>
          <p:nvPr/>
        </p:nvSpPr>
        <p:spPr>
          <a:xfrm>
            <a:off x="6487668" y="2164080"/>
            <a:ext cx="548640" cy="54864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6487668" y="2164080"/>
            <a:ext cx="548640" cy="548640"/>
          </a:xfrm>
          <a:prstGeom prst="rect">
            <a:avLst/>
          </a:prstGeom>
          <a:noFill/>
        </p:spPr>
        <p:txBody>
          <a:bodyPr wrap="square" anchor="ctr">
            <a:spAutoFit/>
          </a:bodyPr>
          <a:lstStyle/>
          <a:p>
            <a:pPr algn="ctr">
              <a:spcAft>
                <a:spcPts val="400"/>
              </a:spcAft>
            </a:pPr>
            <a:r>
              <a:rPr sz="1800" b="1">
                <a:solidFill>
                  <a:srgbClr val="FFFFFF"/>
                </a:solidFill>
                <a:latin typeface="Arial"/>
              </a:rPr>
              <a:t>2</a:t>
            </a:r>
          </a:p>
        </p:txBody>
      </p:sp>
      <p:sp>
        <p:nvSpPr>
          <p:cNvPr id="16" name="TextBox 15"/>
          <p:cNvSpPr txBox="1"/>
          <p:nvPr/>
        </p:nvSpPr>
        <p:spPr>
          <a:xfrm>
            <a:off x="7219188" y="1892808"/>
            <a:ext cx="3973068" cy="1127760"/>
          </a:xfrm>
          <a:prstGeom prst="rect">
            <a:avLst/>
          </a:prstGeom>
          <a:noFill/>
        </p:spPr>
        <p:txBody>
          <a:bodyPr wrap="square" anchor="ctr">
            <a:spAutoFit/>
          </a:bodyPr>
          <a:lstStyle/>
          <a:p>
            <a:pPr algn="l">
              <a:spcAft>
                <a:spcPts val="300"/>
              </a:spcAft>
            </a:pPr>
            <a:r>
              <a:rPr sz="1550" b="1">
                <a:solidFill>
                  <a:srgbClr val="161B26"/>
                </a:solidFill>
                <a:latin typeface="Arial"/>
              </a:rPr>
              <a:t>CodeBuild</a:t>
            </a:r>
          </a:p>
          <a:p>
            <a:pPr algn="l">
              <a:spcAft>
                <a:spcPts val="300"/>
              </a:spcAft>
            </a:pPr>
            <a:r>
              <a:rPr sz="1150" b="0">
                <a:solidFill>
                  <a:srgbClr val="5B6372"/>
                </a:solidFill>
                <a:latin typeface="Arial"/>
              </a:rPr>
              <a:t>Fully managed build &amp; test service driven by buildspec.yml.</a:t>
            </a:r>
          </a:p>
        </p:txBody>
      </p:sp>
      <p:sp>
        <p:nvSpPr>
          <p:cNvPr id="17" name="Rectangle 16"/>
          <p:cNvSpPr/>
          <p:nvPr/>
        </p:nvSpPr>
        <p:spPr>
          <a:xfrm>
            <a:off x="777240" y="3313176"/>
            <a:ext cx="5180076" cy="131064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777240" y="3313176"/>
            <a:ext cx="91440" cy="1310640"/>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Oval 18"/>
          <p:cNvSpPr/>
          <p:nvPr/>
        </p:nvSpPr>
        <p:spPr>
          <a:xfrm>
            <a:off x="1033272" y="3694176"/>
            <a:ext cx="548640" cy="548640"/>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1033272" y="3694176"/>
            <a:ext cx="548640" cy="548640"/>
          </a:xfrm>
          <a:prstGeom prst="rect">
            <a:avLst/>
          </a:prstGeom>
          <a:noFill/>
        </p:spPr>
        <p:txBody>
          <a:bodyPr wrap="square" anchor="ctr">
            <a:spAutoFit/>
          </a:bodyPr>
          <a:lstStyle/>
          <a:p>
            <a:pPr algn="ctr">
              <a:spcAft>
                <a:spcPts val="400"/>
              </a:spcAft>
            </a:pPr>
            <a:r>
              <a:rPr sz="1800" b="1">
                <a:solidFill>
                  <a:srgbClr val="FFFFFF"/>
                </a:solidFill>
                <a:latin typeface="Arial"/>
              </a:rPr>
              <a:t>3</a:t>
            </a:r>
          </a:p>
        </p:txBody>
      </p:sp>
      <p:sp>
        <p:nvSpPr>
          <p:cNvPr id="21" name="TextBox 20"/>
          <p:cNvSpPr txBox="1"/>
          <p:nvPr/>
        </p:nvSpPr>
        <p:spPr>
          <a:xfrm>
            <a:off x="1764792" y="3422904"/>
            <a:ext cx="3973068" cy="1127760"/>
          </a:xfrm>
          <a:prstGeom prst="rect">
            <a:avLst/>
          </a:prstGeom>
          <a:noFill/>
        </p:spPr>
        <p:txBody>
          <a:bodyPr wrap="square" anchor="ctr">
            <a:spAutoFit/>
          </a:bodyPr>
          <a:lstStyle/>
          <a:p>
            <a:pPr algn="l">
              <a:spcAft>
                <a:spcPts val="300"/>
              </a:spcAft>
            </a:pPr>
            <a:r>
              <a:rPr sz="1550" b="1">
                <a:solidFill>
                  <a:srgbClr val="161B26"/>
                </a:solidFill>
                <a:latin typeface="Arial"/>
              </a:rPr>
              <a:t>CodeDeploy</a:t>
            </a:r>
          </a:p>
          <a:p>
            <a:pPr algn="l">
              <a:spcAft>
                <a:spcPts val="300"/>
              </a:spcAft>
            </a:pPr>
            <a:r>
              <a:rPr sz="1150" b="0">
                <a:solidFill>
                  <a:srgbClr val="5B6372"/>
                </a:solidFill>
                <a:latin typeface="Arial"/>
              </a:rPr>
              <a:t>Automated deployment to EC2, on-prem, ECS and Lambda.</a:t>
            </a:r>
          </a:p>
        </p:txBody>
      </p:sp>
      <p:sp>
        <p:nvSpPr>
          <p:cNvPr id="22" name="Rectangle 21"/>
          <p:cNvSpPr/>
          <p:nvPr/>
        </p:nvSpPr>
        <p:spPr>
          <a:xfrm>
            <a:off x="6231636" y="3313176"/>
            <a:ext cx="5180076" cy="131064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ectangle 22"/>
          <p:cNvSpPr/>
          <p:nvPr/>
        </p:nvSpPr>
        <p:spPr>
          <a:xfrm>
            <a:off x="6231636" y="3313176"/>
            <a:ext cx="91440" cy="1310640"/>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Oval 23"/>
          <p:cNvSpPr/>
          <p:nvPr/>
        </p:nvSpPr>
        <p:spPr>
          <a:xfrm>
            <a:off x="6487668" y="3694176"/>
            <a:ext cx="548640" cy="548640"/>
          </a:xfrm>
          <a:prstGeom prst="ellipse">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6487668" y="3694176"/>
            <a:ext cx="548640" cy="548640"/>
          </a:xfrm>
          <a:prstGeom prst="rect">
            <a:avLst/>
          </a:prstGeom>
          <a:noFill/>
        </p:spPr>
        <p:txBody>
          <a:bodyPr wrap="square" anchor="ctr">
            <a:spAutoFit/>
          </a:bodyPr>
          <a:lstStyle/>
          <a:p>
            <a:pPr algn="ctr">
              <a:spcAft>
                <a:spcPts val="400"/>
              </a:spcAft>
            </a:pPr>
            <a:r>
              <a:rPr sz="1800" b="1">
                <a:solidFill>
                  <a:srgbClr val="FFFFFF"/>
                </a:solidFill>
                <a:latin typeface="Arial"/>
              </a:rPr>
              <a:t>4</a:t>
            </a:r>
          </a:p>
        </p:txBody>
      </p:sp>
      <p:sp>
        <p:nvSpPr>
          <p:cNvPr id="26" name="TextBox 25"/>
          <p:cNvSpPr txBox="1"/>
          <p:nvPr/>
        </p:nvSpPr>
        <p:spPr>
          <a:xfrm>
            <a:off x="7219188" y="3422904"/>
            <a:ext cx="3973068" cy="1127760"/>
          </a:xfrm>
          <a:prstGeom prst="rect">
            <a:avLst/>
          </a:prstGeom>
          <a:noFill/>
        </p:spPr>
        <p:txBody>
          <a:bodyPr wrap="square" anchor="ctr">
            <a:spAutoFit/>
          </a:bodyPr>
          <a:lstStyle/>
          <a:p>
            <a:pPr algn="l">
              <a:spcAft>
                <a:spcPts val="300"/>
              </a:spcAft>
            </a:pPr>
            <a:r>
              <a:rPr sz="1550" b="1">
                <a:solidFill>
                  <a:srgbClr val="161B26"/>
                </a:solidFill>
                <a:latin typeface="Arial"/>
              </a:rPr>
              <a:t>CodePipeline</a:t>
            </a:r>
          </a:p>
          <a:p>
            <a:pPr algn="l">
              <a:spcAft>
                <a:spcPts val="300"/>
              </a:spcAft>
            </a:pPr>
            <a:r>
              <a:rPr sz="1150" b="0">
                <a:solidFill>
                  <a:srgbClr val="5B6372"/>
                </a:solidFill>
                <a:latin typeface="Arial"/>
              </a:rPr>
              <a:t>Orchestrates Source → Build → Deploy with approvals.</a:t>
            </a:r>
          </a:p>
        </p:txBody>
      </p:sp>
      <p:sp>
        <p:nvSpPr>
          <p:cNvPr id="27" name="Rectangle 26"/>
          <p:cNvSpPr/>
          <p:nvPr/>
        </p:nvSpPr>
        <p:spPr>
          <a:xfrm>
            <a:off x="777240" y="4843272"/>
            <a:ext cx="5180076" cy="131064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Rectangle 27"/>
          <p:cNvSpPr/>
          <p:nvPr/>
        </p:nvSpPr>
        <p:spPr>
          <a:xfrm>
            <a:off x="777240" y="4843272"/>
            <a:ext cx="91440" cy="1310640"/>
          </a:xfrm>
          <a:prstGeom prst="rect">
            <a:avLst/>
          </a:prstGeom>
          <a:solidFill>
            <a:srgbClr val="EC711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Oval 28"/>
          <p:cNvSpPr/>
          <p:nvPr/>
        </p:nvSpPr>
        <p:spPr>
          <a:xfrm>
            <a:off x="1033272" y="5224272"/>
            <a:ext cx="548640" cy="548640"/>
          </a:xfrm>
          <a:prstGeom prst="ellipse">
            <a:avLst/>
          </a:prstGeom>
          <a:solidFill>
            <a:srgbClr val="EC711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1033272" y="5224272"/>
            <a:ext cx="548640" cy="548640"/>
          </a:xfrm>
          <a:prstGeom prst="rect">
            <a:avLst/>
          </a:prstGeom>
          <a:noFill/>
        </p:spPr>
        <p:txBody>
          <a:bodyPr wrap="square" anchor="ctr">
            <a:spAutoFit/>
          </a:bodyPr>
          <a:lstStyle/>
          <a:p>
            <a:pPr algn="ctr">
              <a:spcAft>
                <a:spcPts val="400"/>
              </a:spcAft>
            </a:pPr>
            <a:r>
              <a:rPr sz="1800" b="1">
                <a:solidFill>
                  <a:srgbClr val="FFFFFF"/>
                </a:solidFill>
                <a:latin typeface="Arial"/>
              </a:rPr>
              <a:t>5</a:t>
            </a:r>
          </a:p>
        </p:txBody>
      </p:sp>
      <p:sp>
        <p:nvSpPr>
          <p:cNvPr id="31" name="TextBox 30"/>
          <p:cNvSpPr txBox="1"/>
          <p:nvPr/>
        </p:nvSpPr>
        <p:spPr>
          <a:xfrm>
            <a:off x="1764792" y="4953000"/>
            <a:ext cx="3973068" cy="1127760"/>
          </a:xfrm>
          <a:prstGeom prst="rect">
            <a:avLst/>
          </a:prstGeom>
          <a:noFill/>
        </p:spPr>
        <p:txBody>
          <a:bodyPr wrap="square" anchor="ctr">
            <a:spAutoFit/>
          </a:bodyPr>
          <a:lstStyle/>
          <a:p>
            <a:pPr algn="l">
              <a:spcAft>
                <a:spcPts val="300"/>
              </a:spcAft>
            </a:pPr>
            <a:r>
              <a:rPr sz="1550" b="1">
                <a:solidFill>
                  <a:srgbClr val="161B26"/>
                </a:solidFill>
                <a:latin typeface="Arial"/>
              </a:rPr>
              <a:t>CodeArtifact</a:t>
            </a:r>
          </a:p>
          <a:p>
            <a:pPr algn="l">
              <a:spcAft>
                <a:spcPts val="300"/>
              </a:spcAft>
            </a:pPr>
            <a:r>
              <a:rPr sz="1150" b="0">
                <a:solidFill>
                  <a:srgbClr val="5B6372"/>
                </a:solidFill>
                <a:latin typeface="Arial"/>
              </a:rPr>
              <a:t>Secure artifact &amp; package repository.</a:t>
            </a:r>
          </a:p>
        </p:txBody>
      </p:sp>
      <p:sp>
        <p:nvSpPr>
          <p:cNvPr id="32" name="Rectangle 31"/>
          <p:cNvSpPr/>
          <p:nvPr/>
        </p:nvSpPr>
        <p:spPr>
          <a:xfrm>
            <a:off x="6231636" y="4843272"/>
            <a:ext cx="5180076" cy="131064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Rectangle 32"/>
          <p:cNvSpPr/>
          <p:nvPr/>
        </p:nvSpPr>
        <p:spPr>
          <a:xfrm>
            <a:off x="6231636" y="4843272"/>
            <a:ext cx="91440" cy="1310640"/>
          </a:xfrm>
          <a:prstGeom prst="rect">
            <a:avLst/>
          </a:prstGeom>
          <a:solidFill>
            <a:srgbClr val="0E9EC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Oval 33"/>
          <p:cNvSpPr/>
          <p:nvPr/>
        </p:nvSpPr>
        <p:spPr>
          <a:xfrm>
            <a:off x="6487668" y="5224272"/>
            <a:ext cx="548640" cy="548640"/>
          </a:xfrm>
          <a:prstGeom prst="ellipse">
            <a:avLst/>
          </a:prstGeom>
          <a:solidFill>
            <a:srgbClr val="0E9EC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TextBox 34"/>
          <p:cNvSpPr txBox="1"/>
          <p:nvPr/>
        </p:nvSpPr>
        <p:spPr>
          <a:xfrm>
            <a:off x="6487668" y="5224272"/>
            <a:ext cx="548640" cy="548640"/>
          </a:xfrm>
          <a:prstGeom prst="rect">
            <a:avLst/>
          </a:prstGeom>
          <a:noFill/>
        </p:spPr>
        <p:txBody>
          <a:bodyPr wrap="square" anchor="ctr">
            <a:spAutoFit/>
          </a:bodyPr>
          <a:lstStyle/>
          <a:p>
            <a:pPr algn="ctr">
              <a:spcAft>
                <a:spcPts val="400"/>
              </a:spcAft>
            </a:pPr>
            <a:r>
              <a:rPr sz="1800" b="1">
                <a:solidFill>
                  <a:srgbClr val="FFFFFF"/>
                </a:solidFill>
                <a:latin typeface="Arial"/>
              </a:rPr>
              <a:t>6</a:t>
            </a:r>
          </a:p>
        </p:txBody>
      </p:sp>
      <p:sp>
        <p:nvSpPr>
          <p:cNvPr id="36" name="TextBox 35"/>
          <p:cNvSpPr txBox="1"/>
          <p:nvPr/>
        </p:nvSpPr>
        <p:spPr>
          <a:xfrm>
            <a:off x="7219188" y="4953000"/>
            <a:ext cx="3973068" cy="1127760"/>
          </a:xfrm>
          <a:prstGeom prst="rect">
            <a:avLst/>
          </a:prstGeom>
          <a:noFill/>
        </p:spPr>
        <p:txBody>
          <a:bodyPr wrap="square" anchor="ctr">
            <a:spAutoFit/>
          </a:bodyPr>
          <a:lstStyle/>
          <a:p>
            <a:pPr algn="l">
              <a:spcAft>
                <a:spcPts val="300"/>
              </a:spcAft>
            </a:pPr>
            <a:r>
              <a:rPr sz="1550" b="1">
                <a:solidFill>
                  <a:srgbClr val="161B26"/>
                </a:solidFill>
                <a:latin typeface="Arial"/>
              </a:rPr>
              <a:t>CodeGuru</a:t>
            </a:r>
          </a:p>
          <a:p>
            <a:pPr algn="l">
              <a:spcAft>
                <a:spcPts val="300"/>
              </a:spcAft>
            </a:pPr>
            <a:r>
              <a:rPr sz="1150" b="0">
                <a:solidFill>
                  <a:srgbClr val="5B6372"/>
                </a:solidFill>
                <a:latin typeface="Arial"/>
              </a:rPr>
              <a:t>ML-powered code reviews and profiler.</a:t>
            </a:r>
          </a:p>
        </p:txBody>
      </p:sp>
      <p:sp>
        <p:nvSpPr>
          <p:cNvPr id="37" name="TextBox 36"/>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DevOps Engineering on AWS  ·  TGS-2023040474</a:t>
            </a:r>
          </a:p>
        </p:txBody>
      </p:sp>
      <p:sp>
        <p:nvSpPr>
          <p:cNvPr id="38" name="TextBox 37"/>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39" name="TextBox 38"/>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38</a:t>
            </a:r>
          </a:p>
        </p:txBody>
      </p:sp>
    </p:spTree>
  </p:cSld>
  <p:clrMapOvr>
    <a:masterClrMapping/>
  </p:clrMapOvr>
  <p:transition xmlns:p14="http://schemas.microsoft.com/office/powerpoint/2010/main" p14:dur="380">
    <p:fade/>
  </p:transition>
</p:sld>
</file>

<file path=ppt/slides/slide4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38912"/>
            <a:ext cx="10607040" cy="365760"/>
          </a:xfrm>
          <a:prstGeom prst="rect">
            <a:avLst/>
          </a:prstGeom>
          <a:noFill/>
        </p:spPr>
        <p:txBody>
          <a:bodyPr wrap="square" anchor="t">
            <a:spAutoFit/>
          </a:bodyPr>
          <a:lstStyle/>
          <a:p>
            <a:pPr algn="l">
              <a:spcAft>
                <a:spcPts val="400"/>
              </a:spcAft>
            </a:pPr>
            <a:r>
              <a:rPr sz="1400" b="1">
                <a:solidFill>
                  <a:srgbClr val="1F6FEB"/>
                </a:solidFill>
                <a:latin typeface="Arial"/>
              </a:rPr>
              <a:t>KNOW THE DIFFERENCE</a:t>
            </a:r>
          </a:p>
        </p:txBody>
      </p:sp>
      <p:sp>
        <p:nvSpPr>
          <p:cNvPr id="5" name="TextBox 4"/>
          <p:cNvSpPr txBox="1"/>
          <p:nvPr/>
        </p:nvSpPr>
        <p:spPr>
          <a:xfrm>
            <a:off x="777240" y="804672"/>
            <a:ext cx="10927080" cy="731520"/>
          </a:xfrm>
          <a:prstGeom prst="rect">
            <a:avLst/>
          </a:prstGeom>
          <a:noFill/>
        </p:spPr>
        <p:txBody>
          <a:bodyPr wrap="square" anchor="t">
            <a:spAutoFit/>
          </a:bodyPr>
          <a:lstStyle/>
          <a:p>
            <a:pPr algn="l">
              <a:spcAft>
                <a:spcPts val="400"/>
              </a:spcAft>
            </a:pPr>
            <a:r>
              <a:rPr sz="2900" b="1">
                <a:solidFill>
                  <a:srgbClr val="161B26"/>
                </a:solidFill>
                <a:latin typeface="Arial"/>
              </a:rPr>
              <a:t>CI vs CD vs Continuous Deployment</a:t>
            </a:r>
          </a:p>
        </p:txBody>
      </p:sp>
      <p:sp>
        <p:nvSpPr>
          <p:cNvPr id="6" name="Rectangle 5"/>
          <p:cNvSpPr/>
          <p:nvPr/>
        </p:nvSpPr>
        <p:spPr>
          <a:xfrm>
            <a:off x="777240" y="1572768"/>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783080"/>
            <a:ext cx="5212080" cy="429768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6355080" y="1783080"/>
            <a:ext cx="5074920" cy="429768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1005840" y="1965960"/>
            <a:ext cx="4754880" cy="365760"/>
          </a:xfrm>
          <a:prstGeom prst="rect">
            <a:avLst/>
          </a:prstGeom>
          <a:noFill/>
        </p:spPr>
        <p:txBody>
          <a:bodyPr wrap="square" anchor="t">
            <a:spAutoFit/>
          </a:bodyPr>
          <a:lstStyle/>
          <a:p>
            <a:pPr algn="l">
              <a:spcAft>
                <a:spcPts val="400"/>
              </a:spcAft>
            </a:pPr>
            <a:r>
              <a:rPr sz="1600" b="1">
                <a:solidFill>
                  <a:srgbClr val="1F6FEB"/>
                </a:solidFill>
                <a:latin typeface="Arial"/>
              </a:rPr>
              <a:t>Integrate</a:t>
            </a:r>
          </a:p>
        </p:txBody>
      </p:sp>
      <p:sp>
        <p:nvSpPr>
          <p:cNvPr id="10" name="TextBox 9"/>
          <p:cNvSpPr txBox="1"/>
          <p:nvPr/>
        </p:nvSpPr>
        <p:spPr>
          <a:xfrm>
            <a:off x="6583680" y="1965960"/>
            <a:ext cx="4572000" cy="365760"/>
          </a:xfrm>
          <a:prstGeom prst="rect">
            <a:avLst/>
          </a:prstGeom>
          <a:noFill/>
        </p:spPr>
        <p:txBody>
          <a:bodyPr wrap="square" anchor="t">
            <a:spAutoFit/>
          </a:bodyPr>
          <a:lstStyle/>
          <a:p>
            <a:pPr algn="l">
              <a:spcAft>
                <a:spcPts val="400"/>
              </a:spcAft>
            </a:pPr>
            <a:r>
              <a:rPr sz="1600" b="1">
                <a:solidFill>
                  <a:srgbClr val="10B981"/>
                </a:solidFill>
                <a:latin typeface="Arial"/>
              </a:rPr>
              <a:t>Deliver / Deploy</a:t>
            </a:r>
          </a:p>
        </p:txBody>
      </p:sp>
      <p:sp>
        <p:nvSpPr>
          <p:cNvPr id="11" name="TextBox 10"/>
          <p:cNvSpPr txBox="1"/>
          <p:nvPr/>
        </p:nvSpPr>
        <p:spPr>
          <a:xfrm>
            <a:off x="1005840" y="2468880"/>
            <a:ext cx="4754880" cy="3474720"/>
          </a:xfrm>
          <a:prstGeom prst="rect">
            <a:avLst/>
          </a:prstGeom>
          <a:noFill/>
        </p:spPr>
        <p:txBody>
          <a:bodyPr wrap="square">
            <a:spAutoFit/>
          </a:bodyPr>
          <a:lstStyle/>
          <a:p>
            <a:pPr>
              <a:spcAft>
                <a:spcPts val="1000"/>
              </a:spcAft>
            </a:pPr>
            <a:r>
              <a:rPr sz="1500" b="0">
                <a:solidFill>
                  <a:srgbClr val="161B26"/>
                </a:solidFill>
                <a:latin typeface="Arial"/>
              </a:rPr>
              <a:t>•  Continuous Integration</a:t>
            </a:r>
          </a:p>
          <a:p>
            <a:pPr>
              <a:spcAft>
                <a:spcPts val="1000"/>
              </a:spcAft>
            </a:pPr>
            <a:r>
              <a:rPr sz="1300" b="0">
                <a:solidFill>
                  <a:srgbClr val="5B6372"/>
                </a:solidFill>
                <a:latin typeface="Arial"/>
              </a:rPr>
              <a:t>–  Merge &amp; test every commit automatically</a:t>
            </a:r>
          </a:p>
          <a:p>
            <a:pPr>
              <a:spcAft>
                <a:spcPts val="1000"/>
              </a:spcAft>
            </a:pPr>
            <a:r>
              <a:rPr sz="1300" b="0">
                <a:solidFill>
                  <a:srgbClr val="5B6372"/>
                </a:solidFill>
                <a:latin typeface="Arial"/>
              </a:rPr>
              <a:t>–  CodeBuild runs unit tests on push</a:t>
            </a:r>
          </a:p>
          <a:p>
            <a:pPr>
              <a:spcAft>
                <a:spcPts val="1000"/>
              </a:spcAft>
            </a:pPr>
            <a:r>
              <a:rPr sz="1300" b="0">
                <a:solidFill>
                  <a:srgbClr val="5B6372"/>
                </a:solidFill>
                <a:latin typeface="Arial"/>
              </a:rPr>
              <a:t>–  Fast feedback, fewer merge conflicts</a:t>
            </a:r>
          </a:p>
        </p:txBody>
      </p:sp>
      <p:sp>
        <p:nvSpPr>
          <p:cNvPr id="12" name="TextBox 11"/>
          <p:cNvSpPr txBox="1"/>
          <p:nvPr/>
        </p:nvSpPr>
        <p:spPr>
          <a:xfrm>
            <a:off x="6583680" y="2468880"/>
            <a:ext cx="4617720" cy="3474720"/>
          </a:xfrm>
          <a:prstGeom prst="rect">
            <a:avLst/>
          </a:prstGeom>
          <a:noFill/>
        </p:spPr>
        <p:txBody>
          <a:bodyPr wrap="square">
            <a:spAutoFit/>
          </a:bodyPr>
          <a:lstStyle/>
          <a:p>
            <a:pPr>
              <a:spcAft>
                <a:spcPts val="1000"/>
              </a:spcAft>
            </a:pPr>
            <a:r>
              <a:rPr sz="1500" b="0">
                <a:solidFill>
                  <a:srgbClr val="161B26"/>
                </a:solidFill>
                <a:latin typeface="Arial"/>
              </a:rPr>
              <a:t>•  Continuous Delivery / Deployment</a:t>
            </a:r>
          </a:p>
          <a:p>
            <a:pPr>
              <a:spcAft>
                <a:spcPts val="1000"/>
              </a:spcAft>
            </a:pPr>
            <a:r>
              <a:rPr sz="1300" b="0">
                <a:solidFill>
                  <a:srgbClr val="5B6372"/>
                </a:solidFill>
                <a:latin typeface="Arial"/>
              </a:rPr>
              <a:t>–  Every green build is releasable</a:t>
            </a:r>
          </a:p>
          <a:p>
            <a:pPr>
              <a:spcAft>
                <a:spcPts val="1000"/>
              </a:spcAft>
            </a:pPr>
            <a:r>
              <a:rPr sz="1300" b="0">
                <a:solidFill>
                  <a:srgbClr val="5B6372"/>
                </a:solidFill>
                <a:latin typeface="Arial"/>
              </a:rPr>
              <a:t>–  Delivery = one approval to promote to prod</a:t>
            </a:r>
          </a:p>
          <a:p>
            <a:pPr>
              <a:spcAft>
                <a:spcPts val="1000"/>
              </a:spcAft>
            </a:pPr>
            <a:r>
              <a:rPr sz="1300" b="0">
                <a:solidFill>
                  <a:srgbClr val="5B6372"/>
                </a:solidFill>
                <a:latin typeface="Arial"/>
              </a:rPr>
              <a:t>–  Deployment = fully automatic to prod</a:t>
            </a:r>
          </a:p>
        </p:txBody>
      </p:sp>
      <p:sp>
        <p:nvSpPr>
          <p:cNvPr id="13" name="TextBox 12"/>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DevOps Engineering on AWS  ·  TGS-2023040474</a:t>
            </a:r>
          </a:p>
        </p:txBody>
      </p:sp>
      <p:sp>
        <p:nvSpPr>
          <p:cNvPr id="14" name="TextBox 13"/>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5" name="TextBox 14"/>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39</a:t>
            </a:r>
          </a:p>
        </p:txBody>
      </p:sp>
    </p:spTree>
  </p:cSld>
  <p:clrMapOvr>
    <a:masterClrMapping/>
  </p:clrMapOvr>
  <p:transition xmlns:p14="http://schemas.microsoft.com/office/powerpoint/2010/main" p14:dur="380">
    <p:fade/>
  </p:transition>
</p:sld>
</file>

<file path=ppt/slides/slide4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38912"/>
            <a:ext cx="10607040" cy="365760"/>
          </a:xfrm>
          <a:prstGeom prst="rect">
            <a:avLst/>
          </a:prstGeom>
          <a:noFill/>
        </p:spPr>
        <p:txBody>
          <a:bodyPr wrap="square" anchor="t">
            <a:spAutoFit/>
          </a:bodyPr>
          <a:lstStyle/>
          <a:p>
            <a:pPr algn="l">
              <a:spcAft>
                <a:spcPts val="400"/>
              </a:spcAft>
            </a:pPr>
            <a:r>
              <a:rPr sz="1400" b="1">
                <a:solidFill>
                  <a:srgbClr val="1F6FEB"/>
                </a:solidFill>
                <a:latin typeface="Arial"/>
              </a:rPr>
              <a:t>DOMAIN 01 · CODEPIPELINE</a:t>
            </a:r>
          </a:p>
        </p:txBody>
      </p:sp>
      <p:sp>
        <p:nvSpPr>
          <p:cNvPr id="5" name="TextBox 4"/>
          <p:cNvSpPr txBox="1"/>
          <p:nvPr/>
        </p:nvSpPr>
        <p:spPr>
          <a:xfrm>
            <a:off x="777240" y="804672"/>
            <a:ext cx="10927080" cy="731520"/>
          </a:xfrm>
          <a:prstGeom prst="rect">
            <a:avLst/>
          </a:prstGeom>
          <a:noFill/>
        </p:spPr>
        <p:txBody>
          <a:bodyPr wrap="square" anchor="t">
            <a:spAutoFit/>
          </a:bodyPr>
          <a:lstStyle/>
          <a:p>
            <a:pPr algn="l">
              <a:spcAft>
                <a:spcPts val="400"/>
              </a:spcAft>
            </a:pPr>
            <a:r>
              <a:rPr sz="2900" b="1">
                <a:solidFill>
                  <a:srgbClr val="161B26"/>
                </a:solidFill>
                <a:latin typeface="Arial"/>
              </a:rPr>
              <a:t>CI/CD Pipeline on AWS</a:t>
            </a:r>
          </a:p>
        </p:txBody>
      </p:sp>
      <p:sp>
        <p:nvSpPr>
          <p:cNvPr id="6" name="Rectangle 5"/>
          <p:cNvSpPr/>
          <p:nvPr/>
        </p:nvSpPr>
        <p:spPr>
          <a:xfrm>
            <a:off x="777240" y="1572768"/>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ounded Rectangle 6"/>
          <p:cNvSpPr/>
          <p:nvPr/>
        </p:nvSpPr>
        <p:spPr>
          <a:xfrm>
            <a:off x="777240" y="1965960"/>
            <a:ext cx="1828800" cy="1051560"/>
          </a:xfrm>
          <a:prstGeom prst="roundRect">
            <a:avLst/>
          </a:prstGeom>
          <a:solidFill>
            <a:srgbClr val="F5F8FC"/>
          </a:solidFill>
          <a:ln w="15875">
            <a:solidFill>
              <a:srgbClr val="5B637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1965960"/>
            <a:ext cx="1828800" cy="82296"/>
          </a:xfrm>
          <a:prstGeom prst="rect">
            <a:avLst/>
          </a:prstGeom>
          <a:solidFill>
            <a:srgbClr val="5B637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868680" y="2075688"/>
            <a:ext cx="1645920" cy="868680"/>
          </a:xfrm>
          <a:prstGeom prst="rect">
            <a:avLst/>
          </a:prstGeom>
          <a:noFill/>
        </p:spPr>
        <p:txBody>
          <a:bodyPr wrap="square" anchor="ctr">
            <a:spAutoFit/>
          </a:bodyPr>
          <a:lstStyle/>
          <a:p>
            <a:pPr algn="ctr">
              <a:spcAft>
                <a:spcPts val="400"/>
              </a:spcAft>
            </a:pPr>
            <a:r>
              <a:rPr sz="1200" b="1">
                <a:solidFill>
                  <a:srgbClr val="161B26"/>
                </a:solidFill>
                <a:latin typeface="Arial"/>
              </a:rPr>
              <a:t>Developer
commit</a:t>
            </a:r>
          </a:p>
        </p:txBody>
      </p:sp>
      <p:sp>
        <p:nvSpPr>
          <p:cNvPr id="10" name="Rounded Rectangle 9"/>
          <p:cNvSpPr/>
          <p:nvPr/>
        </p:nvSpPr>
        <p:spPr>
          <a:xfrm>
            <a:off x="2971800" y="1965960"/>
            <a:ext cx="1828800" cy="1051560"/>
          </a:xfrm>
          <a:prstGeom prst="roundRect">
            <a:avLst/>
          </a:prstGeom>
          <a:solidFill>
            <a:srgbClr val="F5F8FC"/>
          </a:solidFill>
          <a:ln w="15875">
            <a:solidFill>
              <a:srgbClr val="1F6FE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ectangle 10"/>
          <p:cNvSpPr/>
          <p:nvPr/>
        </p:nvSpPr>
        <p:spPr>
          <a:xfrm>
            <a:off x="2971800" y="1965960"/>
            <a:ext cx="1828800" cy="82296"/>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3063240" y="2075688"/>
            <a:ext cx="1645920" cy="868680"/>
          </a:xfrm>
          <a:prstGeom prst="rect">
            <a:avLst/>
          </a:prstGeom>
          <a:noFill/>
        </p:spPr>
        <p:txBody>
          <a:bodyPr wrap="square" anchor="ctr">
            <a:spAutoFit/>
          </a:bodyPr>
          <a:lstStyle/>
          <a:p>
            <a:pPr algn="ctr">
              <a:spcAft>
                <a:spcPts val="400"/>
              </a:spcAft>
            </a:pPr>
            <a:r>
              <a:rPr sz="1200" b="1">
                <a:solidFill>
                  <a:srgbClr val="161B26"/>
                </a:solidFill>
                <a:latin typeface="Arial"/>
              </a:rPr>
              <a:t>Source
CodeCommit / GitHub</a:t>
            </a:r>
          </a:p>
        </p:txBody>
      </p:sp>
      <p:sp>
        <p:nvSpPr>
          <p:cNvPr id="13" name="Rounded Rectangle 12"/>
          <p:cNvSpPr/>
          <p:nvPr/>
        </p:nvSpPr>
        <p:spPr>
          <a:xfrm>
            <a:off x="5166360" y="1965960"/>
            <a:ext cx="1828800" cy="1051560"/>
          </a:xfrm>
          <a:prstGeom prst="roundRect">
            <a:avLst/>
          </a:prstGeom>
          <a:solidFill>
            <a:srgbClr val="F5F8FC"/>
          </a:solidFill>
          <a:ln w="15875">
            <a:solidFill>
              <a:srgbClr val="1F6FE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ectangle 13"/>
          <p:cNvSpPr/>
          <p:nvPr/>
        </p:nvSpPr>
        <p:spPr>
          <a:xfrm>
            <a:off x="5166360" y="1965960"/>
            <a:ext cx="1828800" cy="82296"/>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5257800" y="2075688"/>
            <a:ext cx="1645920" cy="868680"/>
          </a:xfrm>
          <a:prstGeom prst="rect">
            <a:avLst/>
          </a:prstGeom>
          <a:noFill/>
        </p:spPr>
        <p:txBody>
          <a:bodyPr wrap="square" anchor="ctr">
            <a:spAutoFit/>
          </a:bodyPr>
          <a:lstStyle/>
          <a:p>
            <a:pPr algn="ctr">
              <a:spcAft>
                <a:spcPts val="400"/>
              </a:spcAft>
            </a:pPr>
            <a:r>
              <a:rPr sz="1200" b="1">
                <a:solidFill>
                  <a:srgbClr val="161B26"/>
                </a:solidFill>
                <a:latin typeface="Arial"/>
              </a:rPr>
              <a:t>Build &amp; Test
CodeBuild (buildspec)</a:t>
            </a:r>
          </a:p>
        </p:txBody>
      </p:sp>
      <p:sp>
        <p:nvSpPr>
          <p:cNvPr id="16" name="Rounded Rectangle 15"/>
          <p:cNvSpPr/>
          <p:nvPr/>
        </p:nvSpPr>
        <p:spPr>
          <a:xfrm>
            <a:off x="7360920" y="1965960"/>
            <a:ext cx="1828800" cy="1051560"/>
          </a:xfrm>
          <a:prstGeom prst="roundRect">
            <a:avLst/>
          </a:prstGeom>
          <a:solidFill>
            <a:srgbClr val="F5F8FC"/>
          </a:solidFill>
          <a:ln w="15875">
            <a:solidFill>
              <a:srgbClr val="F59E0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ectangle 16"/>
          <p:cNvSpPr/>
          <p:nvPr/>
        </p:nvSpPr>
        <p:spPr>
          <a:xfrm>
            <a:off x="7360920" y="1965960"/>
            <a:ext cx="1828800" cy="82296"/>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7452360" y="2075688"/>
            <a:ext cx="1645920" cy="868680"/>
          </a:xfrm>
          <a:prstGeom prst="rect">
            <a:avLst/>
          </a:prstGeom>
          <a:noFill/>
        </p:spPr>
        <p:txBody>
          <a:bodyPr wrap="square" anchor="ctr">
            <a:spAutoFit/>
          </a:bodyPr>
          <a:lstStyle/>
          <a:p>
            <a:pPr algn="ctr">
              <a:spcAft>
                <a:spcPts val="400"/>
              </a:spcAft>
            </a:pPr>
            <a:r>
              <a:rPr sz="1200" b="1">
                <a:solidFill>
                  <a:srgbClr val="161B26"/>
                </a:solidFill>
                <a:latin typeface="Arial"/>
              </a:rPr>
              <a:t>Manual Approval</a:t>
            </a:r>
          </a:p>
        </p:txBody>
      </p:sp>
      <p:sp>
        <p:nvSpPr>
          <p:cNvPr id="19" name="Rounded Rectangle 18"/>
          <p:cNvSpPr/>
          <p:nvPr/>
        </p:nvSpPr>
        <p:spPr>
          <a:xfrm>
            <a:off x="9555480" y="1965960"/>
            <a:ext cx="1828800" cy="1051560"/>
          </a:xfrm>
          <a:prstGeom prst="roundRect">
            <a:avLst/>
          </a:prstGeom>
          <a:solidFill>
            <a:srgbClr val="F5F8FC"/>
          </a:solidFill>
          <a:ln w="15875">
            <a:solidFill>
              <a:srgbClr val="10B98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Rectangle 19"/>
          <p:cNvSpPr/>
          <p:nvPr/>
        </p:nvSpPr>
        <p:spPr>
          <a:xfrm>
            <a:off x="9555480" y="1965960"/>
            <a:ext cx="1828800" cy="82296"/>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9646920" y="2075688"/>
            <a:ext cx="1645920" cy="868680"/>
          </a:xfrm>
          <a:prstGeom prst="rect">
            <a:avLst/>
          </a:prstGeom>
          <a:noFill/>
        </p:spPr>
        <p:txBody>
          <a:bodyPr wrap="square" anchor="ctr">
            <a:spAutoFit/>
          </a:bodyPr>
          <a:lstStyle/>
          <a:p>
            <a:pPr algn="ctr">
              <a:spcAft>
                <a:spcPts val="400"/>
              </a:spcAft>
            </a:pPr>
            <a:r>
              <a:rPr sz="1200" b="1">
                <a:solidFill>
                  <a:srgbClr val="161B26"/>
                </a:solidFill>
                <a:latin typeface="Arial"/>
              </a:rPr>
              <a:t>Deploy
CodeDeploy (appspec)</a:t>
            </a:r>
          </a:p>
        </p:txBody>
      </p:sp>
      <p:sp>
        <p:nvSpPr>
          <p:cNvPr id="22" name="Rounded Rectangle 21"/>
          <p:cNvSpPr/>
          <p:nvPr/>
        </p:nvSpPr>
        <p:spPr>
          <a:xfrm>
            <a:off x="5166360" y="3657600"/>
            <a:ext cx="1828800" cy="1051560"/>
          </a:xfrm>
          <a:prstGeom prst="roundRect">
            <a:avLst/>
          </a:prstGeom>
          <a:solidFill>
            <a:srgbClr val="F5F8FC"/>
          </a:solidFill>
          <a:ln w="15875">
            <a:solidFill>
              <a:srgbClr val="7C3AED"/>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ectangle 22"/>
          <p:cNvSpPr/>
          <p:nvPr/>
        </p:nvSpPr>
        <p:spPr>
          <a:xfrm>
            <a:off x="5166360" y="3657600"/>
            <a:ext cx="1828800" cy="82296"/>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5257800" y="3767328"/>
            <a:ext cx="1645920" cy="868680"/>
          </a:xfrm>
          <a:prstGeom prst="rect">
            <a:avLst/>
          </a:prstGeom>
          <a:noFill/>
        </p:spPr>
        <p:txBody>
          <a:bodyPr wrap="square" anchor="ctr">
            <a:spAutoFit/>
          </a:bodyPr>
          <a:lstStyle/>
          <a:p>
            <a:pPr algn="ctr">
              <a:spcAft>
                <a:spcPts val="400"/>
              </a:spcAft>
            </a:pPr>
            <a:r>
              <a:rPr sz="1200" b="1">
                <a:solidFill>
                  <a:srgbClr val="161B26"/>
                </a:solidFill>
                <a:latin typeface="Arial"/>
              </a:rPr>
              <a:t>Artifacts
S3</a:t>
            </a:r>
          </a:p>
        </p:txBody>
      </p:sp>
      <p:sp>
        <p:nvSpPr>
          <p:cNvPr id="25" name="Rounded Rectangle 24"/>
          <p:cNvSpPr/>
          <p:nvPr/>
        </p:nvSpPr>
        <p:spPr>
          <a:xfrm>
            <a:off x="9555480" y="3657600"/>
            <a:ext cx="1828800" cy="1051560"/>
          </a:xfrm>
          <a:prstGeom prst="roundRect">
            <a:avLst/>
          </a:prstGeom>
          <a:solidFill>
            <a:srgbClr val="F5F8FC"/>
          </a:solidFill>
          <a:ln w="15875">
            <a:solidFill>
              <a:srgbClr val="10B98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Rectangle 25"/>
          <p:cNvSpPr/>
          <p:nvPr/>
        </p:nvSpPr>
        <p:spPr>
          <a:xfrm>
            <a:off x="9555480" y="3657600"/>
            <a:ext cx="1828800" cy="82296"/>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TextBox 26"/>
          <p:cNvSpPr txBox="1"/>
          <p:nvPr/>
        </p:nvSpPr>
        <p:spPr>
          <a:xfrm>
            <a:off x="9646920" y="3767328"/>
            <a:ext cx="1645920" cy="868680"/>
          </a:xfrm>
          <a:prstGeom prst="rect">
            <a:avLst/>
          </a:prstGeom>
          <a:noFill/>
        </p:spPr>
        <p:txBody>
          <a:bodyPr wrap="square" anchor="ctr">
            <a:spAutoFit/>
          </a:bodyPr>
          <a:lstStyle/>
          <a:p>
            <a:pPr algn="ctr">
              <a:spcAft>
                <a:spcPts val="400"/>
              </a:spcAft>
            </a:pPr>
            <a:r>
              <a:rPr sz="1200" b="1">
                <a:solidFill>
                  <a:srgbClr val="161B26"/>
                </a:solidFill>
                <a:latin typeface="Arial"/>
              </a:rPr>
              <a:t>Targets
EC2 / ECS / Lambda</a:t>
            </a:r>
          </a:p>
        </p:txBody>
      </p:sp>
      <p:cxnSp>
        <p:nvCxnSpPr>
          <p:cNvPr id="28" name="Connector 27"/>
          <p:cNvCxnSpPr/>
          <p:nvPr/>
        </p:nvCxnSpPr>
        <p:spPr>
          <a:xfrm>
            <a:off x="2606040" y="2491740"/>
            <a:ext cx="365760" cy="0"/>
          </a:xfrm>
          <a:prstGeom prst="line">
            <a:avLst/>
          </a:prstGeom>
          <a:ln w="22225">
            <a:solidFill>
              <a:srgbClr val="5B6372"/>
            </a:solidFill>
            <a:tailEnd type="triangle" w="med" len="med"/>
          </a:ln>
          <a:effectLst/>
        </p:spPr>
        <p:style>
          <a:lnRef idx="2">
            <a:schemeClr val="accent1"/>
          </a:lnRef>
          <a:fillRef idx="0">
            <a:schemeClr val="accent1"/>
          </a:fillRef>
          <a:effectRef idx="1">
            <a:schemeClr val="accent1"/>
          </a:effectRef>
          <a:fontRef idx="minor">
            <a:schemeClr val="tx1"/>
          </a:fontRef>
        </p:style>
      </p:cxnSp>
      <p:cxnSp>
        <p:nvCxnSpPr>
          <p:cNvPr id="29" name="Connector 28"/>
          <p:cNvCxnSpPr/>
          <p:nvPr/>
        </p:nvCxnSpPr>
        <p:spPr>
          <a:xfrm>
            <a:off x="4800600" y="2491740"/>
            <a:ext cx="365760" cy="0"/>
          </a:xfrm>
          <a:prstGeom prst="line">
            <a:avLst/>
          </a:prstGeom>
          <a:ln w="22225">
            <a:solidFill>
              <a:srgbClr val="5B6372"/>
            </a:solidFill>
            <a:tailEnd type="triangle" w="med" len="med"/>
          </a:ln>
          <a:effectLst/>
        </p:spPr>
        <p:style>
          <a:lnRef idx="2">
            <a:schemeClr val="accent1"/>
          </a:lnRef>
          <a:fillRef idx="0">
            <a:schemeClr val="accent1"/>
          </a:fillRef>
          <a:effectRef idx="1">
            <a:schemeClr val="accent1"/>
          </a:effectRef>
          <a:fontRef idx="minor">
            <a:schemeClr val="tx1"/>
          </a:fontRef>
        </p:style>
      </p:cxnSp>
      <p:cxnSp>
        <p:nvCxnSpPr>
          <p:cNvPr id="30" name="Connector 29"/>
          <p:cNvCxnSpPr/>
          <p:nvPr/>
        </p:nvCxnSpPr>
        <p:spPr>
          <a:xfrm>
            <a:off x="6995160" y="2491740"/>
            <a:ext cx="365760" cy="0"/>
          </a:xfrm>
          <a:prstGeom prst="line">
            <a:avLst/>
          </a:prstGeom>
          <a:ln w="22225">
            <a:solidFill>
              <a:srgbClr val="5B6372"/>
            </a:solidFill>
            <a:tailEnd type="triangle" w="med" len="med"/>
          </a:ln>
          <a:effectLst/>
        </p:spPr>
        <p:style>
          <a:lnRef idx="2">
            <a:schemeClr val="accent1"/>
          </a:lnRef>
          <a:fillRef idx="0">
            <a:schemeClr val="accent1"/>
          </a:fillRef>
          <a:effectRef idx="1">
            <a:schemeClr val="accent1"/>
          </a:effectRef>
          <a:fontRef idx="minor">
            <a:schemeClr val="tx1"/>
          </a:fontRef>
        </p:style>
      </p:cxnSp>
      <p:cxnSp>
        <p:nvCxnSpPr>
          <p:cNvPr id="31" name="Connector 30"/>
          <p:cNvCxnSpPr/>
          <p:nvPr/>
        </p:nvCxnSpPr>
        <p:spPr>
          <a:xfrm>
            <a:off x="9189720" y="2491740"/>
            <a:ext cx="365760" cy="0"/>
          </a:xfrm>
          <a:prstGeom prst="line">
            <a:avLst/>
          </a:prstGeom>
          <a:ln w="22225">
            <a:solidFill>
              <a:srgbClr val="5B6372"/>
            </a:solidFill>
            <a:tailEnd type="triangle" w="med" len="med"/>
          </a:ln>
          <a:effectLst/>
        </p:spPr>
        <p:style>
          <a:lnRef idx="2">
            <a:schemeClr val="accent1"/>
          </a:lnRef>
          <a:fillRef idx="0">
            <a:schemeClr val="accent1"/>
          </a:fillRef>
          <a:effectRef idx="1">
            <a:schemeClr val="accent1"/>
          </a:effectRef>
          <a:fontRef idx="minor">
            <a:schemeClr val="tx1"/>
          </a:fontRef>
        </p:style>
      </p:cxnSp>
      <p:cxnSp>
        <p:nvCxnSpPr>
          <p:cNvPr id="32" name="Connector 31"/>
          <p:cNvCxnSpPr/>
          <p:nvPr/>
        </p:nvCxnSpPr>
        <p:spPr>
          <a:xfrm>
            <a:off x="6080760" y="3017520"/>
            <a:ext cx="0" cy="640080"/>
          </a:xfrm>
          <a:prstGeom prst="line">
            <a:avLst/>
          </a:prstGeom>
          <a:ln w="22225">
            <a:solidFill>
              <a:srgbClr val="5B6372"/>
            </a:solidFill>
            <a:tailEnd type="triangle" w="med" len="med"/>
          </a:ln>
          <a:effectLst/>
        </p:spPr>
        <p:style>
          <a:lnRef idx="2">
            <a:schemeClr val="accent1"/>
          </a:lnRef>
          <a:fillRef idx="0">
            <a:schemeClr val="accent1"/>
          </a:fillRef>
          <a:effectRef idx="1">
            <a:schemeClr val="accent1"/>
          </a:effectRef>
          <a:fontRef idx="minor">
            <a:schemeClr val="tx1"/>
          </a:fontRef>
        </p:style>
      </p:cxnSp>
      <p:cxnSp>
        <p:nvCxnSpPr>
          <p:cNvPr id="33" name="Connector 32"/>
          <p:cNvCxnSpPr/>
          <p:nvPr/>
        </p:nvCxnSpPr>
        <p:spPr>
          <a:xfrm>
            <a:off x="10469880" y="3017520"/>
            <a:ext cx="0" cy="640080"/>
          </a:xfrm>
          <a:prstGeom prst="line">
            <a:avLst/>
          </a:prstGeom>
          <a:ln w="22225">
            <a:solidFill>
              <a:srgbClr val="5B6372"/>
            </a:solidFill>
            <a:tailEnd type="triangle" w="med" len="med"/>
          </a:ln>
          <a:effectLst/>
        </p:spPr>
        <p:style>
          <a:lnRef idx="2">
            <a:schemeClr val="accent1"/>
          </a:lnRef>
          <a:fillRef idx="0">
            <a:schemeClr val="accent1"/>
          </a:fillRef>
          <a:effectRef idx="1">
            <a:schemeClr val="accent1"/>
          </a:effectRef>
          <a:fontRef idx="minor">
            <a:schemeClr val="tx1"/>
          </a:fontRef>
        </p:style>
      </p:cxnSp>
      <p:sp>
        <p:nvSpPr>
          <p:cNvPr id="34" name="Rectangle 33"/>
          <p:cNvSpPr/>
          <p:nvPr/>
        </p:nvSpPr>
        <p:spPr>
          <a:xfrm>
            <a:off x="777240" y="5669280"/>
            <a:ext cx="10634472" cy="54864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TextBox 34"/>
          <p:cNvSpPr txBox="1"/>
          <p:nvPr/>
        </p:nvSpPr>
        <p:spPr>
          <a:xfrm>
            <a:off x="1005840" y="5742432"/>
            <a:ext cx="10241280" cy="411480"/>
          </a:xfrm>
          <a:prstGeom prst="rect">
            <a:avLst/>
          </a:prstGeom>
          <a:noFill/>
        </p:spPr>
        <p:txBody>
          <a:bodyPr wrap="square" anchor="ctr">
            <a:spAutoFit/>
          </a:bodyPr>
          <a:lstStyle/>
          <a:p>
            <a:pPr algn="l">
              <a:spcAft>
                <a:spcPts val="400"/>
              </a:spcAft>
            </a:pPr>
            <a:r>
              <a:rPr sz="1300" b="1">
                <a:solidFill>
                  <a:srgbClr val="1F6FEB"/>
                </a:solidFill>
                <a:latin typeface="Arial"/>
              </a:rPr>
              <a:t>▶  </a:t>
            </a:r>
            <a:r>
              <a:rPr sz="1300" b="0">
                <a:solidFill>
                  <a:srgbClr val="161B26"/>
                </a:solidFill>
                <a:latin typeface="Arial"/>
              </a:rPr>
              <a:t>A commit flows Source → Build → Approve → Deploy; a failed test stops the pipeline before production.</a:t>
            </a:r>
          </a:p>
        </p:txBody>
      </p:sp>
      <p:sp>
        <p:nvSpPr>
          <p:cNvPr id="36" name="TextBox 35"/>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DevOps Engineering on AWS  ·  TGS-2023040474</a:t>
            </a:r>
          </a:p>
        </p:txBody>
      </p:sp>
      <p:sp>
        <p:nvSpPr>
          <p:cNvPr id="37" name="TextBox 36"/>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38" name="TextBox 37"/>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40</a:t>
            </a:r>
          </a:p>
        </p:txBody>
      </p:sp>
    </p:spTree>
  </p:cSld>
  <p:clrMapOvr>
    <a:masterClrMapping/>
  </p:clrMapOvr>
  <p:transition xmlns:p14="http://schemas.microsoft.com/office/powerpoint/2010/main" p14:dur="380">
    <p:fade/>
  </p:transition>
</p:sld>
</file>

<file path=ppt/slides/slide4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38912"/>
            <a:ext cx="10607040" cy="365760"/>
          </a:xfrm>
          <a:prstGeom prst="rect">
            <a:avLst/>
          </a:prstGeom>
          <a:noFill/>
        </p:spPr>
        <p:txBody>
          <a:bodyPr wrap="square" anchor="t">
            <a:spAutoFit/>
          </a:bodyPr>
          <a:lstStyle/>
          <a:p>
            <a:pPr algn="l">
              <a:spcAft>
                <a:spcPts val="400"/>
              </a:spcAft>
            </a:pPr>
            <a:r>
              <a:rPr sz="1400" b="1">
                <a:solidFill>
                  <a:srgbClr val="1F6FEB"/>
                </a:solidFill>
                <a:latin typeface="Arial"/>
              </a:rPr>
              <a:t>CHOOSING A RELEASE PATTERN</a:t>
            </a:r>
          </a:p>
        </p:txBody>
      </p:sp>
      <p:sp>
        <p:nvSpPr>
          <p:cNvPr id="5" name="TextBox 4"/>
          <p:cNvSpPr txBox="1"/>
          <p:nvPr/>
        </p:nvSpPr>
        <p:spPr>
          <a:xfrm>
            <a:off x="777240" y="804672"/>
            <a:ext cx="10927080" cy="731520"/>
          </a:xfrm>
          <a:prstGeom prst="rect">
            <a:avLst/>
          </a:prstGeom>
          <a:noFill/>
        </p:spPr>
        <p:txBody>
          <a:bodyPr wrap="square" anchor="t">
            <a:spAutoFit/>
          </a:bodyPr>
          <a:lstStyle/>
          <a:p>
            <a:pPr algn="l">
              <a:spcAft>
                <a:spcPts val="400"/>
              </a:spcAft>
            </a:pPr>
            <a:r>
              <a:rPr sz="2900" b="1">
                <a:solidFill>
                  <a:srgbClr val="161B26"/>
                </a:solidFill>
                <a:latin typeface="Arial"/>
              </a:rPr>
              <a:t>Deployment Strategies Compared</a:t>
            </a:r>
          </a:p>
        </p:txBody>
      </p:sp>
      <p:sp>
        <p:nvSpPr>
          <p:cNvPr id="6" name="Rectangle 5"/>
          <p:cNvSpPr/>
          <p:nvPr/>
        </p:nvSpPr>
        <p:spPr>
          <a:xfrm>
            <a:off x="777240" y="1572768"/>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783080"/>
            <a:ext cx="1914204" cy="5029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886968" y="1783080"/>
            <a:ext cx="1731324" cy="502920"/>
          </a:xfrm>
          <a:prstGeom prst="rect">
            <a:avLst/>
          </a:prstGeom>
          <a:noFill/>
        </p:spPr>
        <p:txBody>
          <a:bodyPr wrap="square" anchor="ctr">
            <a:spAutoFit/>
          </a:bodyPr>
          <a:lstStyle/>
          <a:p>
            <a:pPr algn="l">
              <a:spcAft>
                <a:spcPts val="400"/>
              </a:spcAft>
            </a:pPr>
            <a:r>
              <a:rPr sz="1400" b="1">
                <a:solidFill>
                  <a:srgbClr val="FFFFFF"/>
                </a:solidFill>
                <a:latin typeface="Arial"/>
              </a:rPr>
              <a:t>Strategy</a:t>
            </a:r>
          </a:p>
        </p:txBody>
      </p:sp>
      <p:sp>
        <p:nvSpPr>
          <p:cNvPr id="9" name="Rectangle 8"/>
          <p:cNvSpPr/>
          <p:nvPr/>
        </p:nvSpPr>
        <p:spPr>
          <a:xfrm>
            <a:off x="2691444" y="1783080"/>
            <a:ext cx="3615720" cy="5029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2801172" y="1783080"/>
            <a:ext cx="3432840" cy="502920"/>
          </a:xfrm>
          <a:prstGeom prst="rect">
            <a:avLst/>
          </a:prstGeom>
          <a:noFill/>
        </p:spPr>
        <p:txBody>
          <a:bodyPr wrap="square" anchor="ctr">
            <a:spAutoFit/>
          </a:bodyPr>
          <a:lstStyle/>
          <a:p>
            <a:pPr algn="ctr">
              <a:spcAft>
                <a:spcPts val="400"/>
              </a:spcAft>
            </a:pPr>
            <a:r>
              <a:rPr sz="1400" b="1">
                <a:solidFill>
                  <a:srgbClr val="FFFFFF"/>
                </a:solidFill>
                <a:latin typeface="Arial"/>
              </a:rPr>
              <a:t>How it works</a:t>
            </a:r>
          </a:p>
        </p:txBody>
      </p:sp>
      <p:sp>
        <p:nvSpPr>
          <p:cNvPr id="11" name="Rectangle 10"/>
          <p:cNvSpPr/>
          <p:nvPr/>
        </p:nvSpPr>
        <p:spPr>
          <a:xfrm>
            <a:off x="6307164" y="1783080"/>
            <a:ext cx="2552273" cy="5029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6416892" y="1783080"/>
            <a:ext cx="2369393" cy="502920"/>
          </a:xfrm>
          <a:prstGeom prst="rect">
            <a:avLst/>
          </a:prstGeom>
          <a:noFill/>
        </p:spPr>
        <p:txBody>
          <a:bodyPr wrap="square" anchor="ctr">
            <a:spAutoFit/>
          </a:bodyPr>
          <a:lstStyle/>
          <a:p>
            <a:pPr algn="ctr">
              <a:spcAft>
                <a:spcPts val="400"/>
              </a:spcAft>
            </a:pPr>
            <a:r>
              <a:rPr sz="1400" b="1">
                <a:solidFill>
                  <a:srgbClr val="FFFFFF"/>
                </a:solidFill>
                <a:latin typeface="Arial"/>
              </a:rPr>
              <a:t>Rollback</a:t>
            </a:r>
          </a:p>
        </p:txBody>
      </p:sp>
      <p:sp>
        <p:nvSpPr>
          <p:cNvPr id="13" name="Rectangle 12"/>
          <p:cNvSpPr/>
          <p:nvPr/>
        </p:nvSpPr>
        <p:spPr>
          <a:xfrm>
            <a:off x="8859437" y="1783080"/>
            <a:ext cx="2552273" cy="5029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8969165" y="1783080"/>
            <a:ext cx="2369393" cy="502920"/>
          </a:xfrm>
          <a:prstGeom prst="rect">
            <a:avLst/>
          </a:prstGeom>
          <a:noFill/>
        </p:spPr>
        <p:txBody>
          <a:bodyPr wrap="square" anchor="ctr">
            <a:spAutoFit/>
          </a:bodyPr>
          <a:lstStyle/>
          <a:p>
            <a:pPr algn="ctr">
              <a:spcAft>
                <a:spcPts val="400"/>
              </a:spcAft>
            </a:pPr>
            <a:r>
              <a:rPr sz="1400" b="1">
                <a:solidFill>
                  <a:srgbClr val="FFFFFF"/>
                </a:solidFill>
                <a:latin typeface="Arial"/>
              </a:rPr>
              <a:t>Best for</a:t>
            </a:r>
          </a:p>
        </p:txBody>
      </p:sp>
      <p:sp>
        <p:nvSpPr>
          <p:cNvPr id="15" name="Rectangle 14"/>
          <p:cNvSpPr/>
          <p:nvPr/>
        </p:nvSpPr>
        <p:spPr>
          <a:xfrm>
            <a:off x="777240" y="2286000"/>
            <a:ext cx="1914204" cy="822960"/>
          </a:xfrm>
          <a:prstGeom prst="rect">
            <a:avLst/>
          </a:prstGeom>
          <a:solidFill>
            <a:srgbClr val="F5F8FC"/>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886968" y="2286000"/>
            <a:ext cx="1731324" cy="822960"/>
          </a:xfrm>
          <a:prstGeom prst="rect">
            <a:avLst/>
          </a:prstGeom>
          <a:noFill/>
        </p:spPr>
        <p:txBody>
          <a:bodyPr wrap="square" anchor="ctr">
            <a:spAutoFit/>
          </a:bodyPr>
          <a:lstStyle/>
          <a:p>
            <a:pPr algn="l">
              <a:spcAft>
                <a:spcPts val="400"/>
              </a:spcAft>
            </a:pPr>
            <a:r>
              <a:rPr sz="1250" b="1">
                <a:solidFill>
                  <a:srgbClr val="161B26"/>
                </a:solidFill>
                <a:latin typeface="Arial"/>
              </a:rPr>
              <a:t>In-place</a:t>
            </a:r>
          </a:p>
        </p:txBody>
      </p:sp>
      <p:sp>
        <p:nvSpPr>
          <p:cNvPr id="17" name="Rectangle 16"/>
          <p:cNvSpPr/>
          <p:nvPr/>
        </p:nvSpPr>
        <p:spPr>
          <a:xfrm>
            <a:off x="2691444" y="2286000"/>
            <a:ext cx="3615720" cy="822960"/>
          </a:xfrm>
          <a:prstGeom prst="rect">
            <a:avLst/>
          </a:prstGeom>
          <a:solidFill>
            <a:srgbClr val="F5F8FC"/>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2801172" y="2286000"/>
            <a:ext cx="3432840" cy="822960"/>
          </a:xfrm>
          <a:prstGeom prst="rect">
            <a:avLst/>
          </a:prstGeom>
          <a:noFill/>
        </p:spPr>
        <p:txBody>
          <a:bodyPr wrap="square" anchor="ctr">
            <a:spAutoFit/>
          </a:bodyPr>
          <a:lstStyle/>
          <a:p>
            <a:pPr algn="ctr">
              <a:spcAft>
                <a:spcPts val="400"/>
              </a:spcAft>
            </a:pPr>
            <a:r>
              <a:rPr sz="1250" b="0">
                <a:solidFill>
                  <a:srgbClr val="5B6372"/>
                </a:solidFill>
                <a:latin typeface="Arial"/>
              </a:rPr>
              <a:t>Update the same instances</a:t>
            </a:r>
          </a:p>
        </p:txBody>
      </p:sp>
      <p:sp>
        <p:nvSpPr>
          <p:cNvPr id="19" name="Rectangle 18"/>
          <p:cNvSpPr/>
          <p:nvPr/>
        </p:nvSpPr>
        <p:spPr>
          <a:xfrm>
            <a:off x="6307164" y="2286000"/>
            <a:ext cx="2552273" cy="822960"/>
          </a:xfrm>
          <a:prstGeom prst="rect">
            <a:avLst/>
          </a:prstGeom>
          <a:solidFill>
            <a:srgbClr val="F5F8FC"/>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6416892" y="2286000"/>
            <a:ext cx="2369393" cy="822960"/>
          </a:xfrm>
          <a:prstGeom prst="rect">
            <a:avLst/>
          </a:prstGeom>
          <a:noFill/>
        </p:spPr>
        <p:txBody>
          <a:bodyPr wrap="square" anchor="ctr">
            <a:spAutoFit/>
          </a:bodyPr>
          <a:lstStyle/>
          <a:p>
            <a:pPr algn="ctr">
              <a:spcAft>
                <a:spcPts val="400"/>
              </a:spcAft>
            </a:pPr>
            <a:r>
              <a:rPr sz="1250" b="0">
                <a:solidFill>
                  <a:srgbClr val="5B6372"/>
                </a:solidFill>
                <a:latin typeface="Arial"/>
              </a:rPr>
              <a:t>Redeploy previous</a:t>
            </a:r>
          </a:p>
        </p:txBody>
      </p:sp>
      <p:sp>
        <p:nvSpPr>
          <p:cNvPr id="21" name="Rectangle 20"/>
          <p:cNvSpPr/>
          <p:nvPr/>
        </p:nvSpPr>
        <p:spPr>
          <a:xfrm>
            <a:off x="8859437" y="2286000"/>
            <a:ext cx="2552273" cy="822960"/>
          </a:xfrm>
          <a:prstGeom prst="rect">
            <a:avLst/>
          </a:prstGeom>
          <a:solidFill>
            <a:srgbClr val="F5F8FC"/>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8969165" y="2286000"/>
            <a:ext cx="2369393" cy="822960"/>
          </a:xfrm>
          <a:prstGeom prst="rect">
            <a:avLst/>
          </a:prstGeom>
          <a:noFill/>
        </p:spPr>
        <p:txBody>
          <a:bodyPr wrap="square" anchor="ctr">
            <a:spAutoFit/>
          </a:bodyPr>
          <a:lstStyle/>
          <a:p>
            <a:pPr algn="ctr">
              <a:spcAft>
                <a:spcPts val="400"/>
              </a:spcAft>
            </a:pPr>
            <a:r>
              <a:rPr sz="1250" b="0">
                <a:solidFill>
                  <a:srgbClr val="5B6372"/>
                </a:solidFill>
                <a:latin typeface="Arial"/>
              </a:rPr>
              <a:t>Dev / simple apps</a:t>
            </a:r>
          </a:p>
        </p:txBody>
      </p:sp>
      <p:sp>
        <p:nvSpPr>
          <p:cNvPr id="23" name="Rectangle 22"/>
          <p:cNvSpPr/>
          <p:nvPr/>
        </p:nvSpPr>
        <p:spPr>
          <a:xfrm>
            <a:off x="777240" y="3108960"/>
            <a:ext cx="1914204" cy="822960"/>
          </a:xfrm>
          <a:prstGeom prst="rect">
            <a:avLst/>
          </a:prstGeom>
          <a:solidFill>
            <a:srgbClr val="FFFFFF"/>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886968" y="3108960"/>
            <a:ext cx="1731324" cy="822960"/>
          </a:xfrm>
          <a:prstGeom prst="rect">
            <a:avLst/>
          </a:prstGeom>
          <a:noFill/>
        </p:spPr>
        <p:txBody>
          <a:bodyPr wrap="square" anchor="ctr">
            <a:spAutoFit/>
          </a:bodyPr>
          <a:lstStyle/>
          <a:p>
            <a:pPr algn="l">
              <a:spcAft>
                <a:spcPts val="400"/>
              </a:spcAft>
            </a:pPr>
            <a:r>
              <a:rPr sz="1250" b="1">
                <a:solidFill>
                  <a:srgbClr val="161B26"/>
                </a:solidFill>
                <a:latin typeface="Arial"/>
              </a:rPr>
              <a:t>Rolling</a:t>
            </a:r>
          </a:p>
        </p:txBody>
      </p:sp>
      <p:sp>
        <p:nvSpPr>
          <p:cNvPr id="25" name="Rectangle 24"/>
          <p:cNvSpPr/>
          <p:nvPr/>
        </p:nvSpPr>
        <p:spPr>
          <a:xfrm>
            <a:off x="2691444" y="3108960"/>
            <a:ext cx="3615720" cy="822960"/>
          </a:xfrm>
          <a:prstGeom prst="rect">
            <a:avLst/>
          </a:prstGeom>
          <a:solidFill>
            <a:srgbClr val="FFFFFF"/>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2801172" y="3108960"/>
            <a:ext cx="3432840" cy="822960"/>
          </a:xfrm>
          <a:prstGeom prst="rect">
            <a:avLst/>
          </a:prstGeom>
          <a:noFill/>
        </p:spPr>
        <p:txBody>
          <a:bodyPr wrap="square" anchor="ctr">
            <a:spAutoFit/>
          </a:bodyPr>
          <a:lstStyle/>
          <a:p>
            <a:pPr algn="ctr">
              <a:spcAft>
                <a:spcPts val="400"/>
              </a:spcAft>
            </a:pPr>
            <a:r>
              <a:rPr sz="1250" b="0">
                <a:solidFill>
                  <a:srgbClr val="5B6372"/>
                </a:solidFill>
                <a:latin typeface="Arial"/>
              </a:rPr>
              <a:t>Update in batches</a:t>
            </a:r>
          </a:p>
        </p:txBody>
      </p:sp>
      <p:sp>
        <p:nvSpPr>
          <p:cNvPr id="27" name="Rectangle 26"/>
          <p:cNvSpPr/>
          <p:nvPr/>
        </p:nvSpPr>
        <p:spPr>
          <a:xfrm>
            <a:off x="6307164" y="3108960"/>
            <a:ext cx="2552273" cy="822960"/>
          </a:xfrm>
          <a:prstGeom prst="rect">
            <a:avLst/>
          </a:prstGeom>
          <a:solidFill>
            <a:srgbClr val="FFFFFF"/>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6416892" y="3108960"/>
            <a:ext cx="2369393" cy="822960"/>
          </a:xfrm>
          <a:prstGeom prst="rect">
            <a:avLst/>
          </a:prstGeom>
          <a:noFill/>
        </p:spPr>
        <p:txBody>
          <a:bodyPr wrap="square" anchor="ctr">
            <a:spAutoFit/>
          </a:bodyPr>
          <a:lstStyle/>
          <a:p>
            <a:pPr algn="ctr">
              <a:spcAft>
                <a:spcPts val="400"/>
              </a:spcAft>
            </a:pPr>
            <a:r>
              <a:rPr sz="1250" b="0">
                <a:solidFill>
                  <a:srgbClr val="5B6372"/>
                </a:solidFill>
                <a:latin typeface="Arial"/>
              </a:rPr>
              <a:t>Batch by batch</a:t>
            </a:r>
          </a:p>
        </p:txBody>
      </p:sp>
      <p:sp>
        <p:nvSpPr>
          <p:cNvPr id="29" name="Rectangle 28"/>
          <p:cNvSpPr/>
          <p:nvPr/>
        </p:nvSpPr>
        <p:spPr>
          <a:xfrm>
            <a:off x="8859437" y="3108960"/>
            <a:ext cx="2552273" cy="822960"/>
          </a:xfrm>
          <a:prstGeom prst="rect">
            <a:avLst/>
          </a:prstGeom>
          <a:solidFill>
            <a:srgbClr val="FFFFFF"/>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8969165" y="3108960"/>
            <a:ext cx="2369393" cy="822960"/>
          </a:xfrm>
          <a:prstGeom prst="rect">
            <a:avLst/>
          </a:prstGeom>
          <a:noFill/>
        </p:spPr>
        <p:txBody>
          <a:bodyPr wrap="square" anchor="ctr">
            <a:spAutoFit/>
          </a:bodyPr>
          <a:lstStyle/>
          <a:p>
            <a:pPr algn="ctr">
              <a:spcAft>
                <a:spcPts val="400"/>
              </a:spcAft>
            </a:pPr>
            <a:r>
              <a:rPr sz="1250" b="0">
                <a:solidFill>
                  <a:srgbClr val="5B6372"/>
                </a:solidFill>
                <a:latin typeface="Arial"/>
              </a:rPr>
              <a:t>Steady, low-risk updates</a:t>
            </a:r>
          </a:p>
        </p:txBody>
      </p:sp>
      <p:sp>
        <p:nvSpPr>
          <p:cNvPr id="31" name="Rectangle 30"/>
          <p:cNvSpPr/>
          <p:nvPr/>
        </p:nvSpPr>
        <p:spPr>
          <a:xfrm>
            <a:off x="777240" y="3931920"/>
            <a:ext cx="1914204" cy="822960"/>
          </a:xfrm>
          <a:prstGeom prst="rect">
            <a:avLst/>
          </a:prstGeom>
          <a:solidFill>
            <a:srgbClr val="F5F8FC"/>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TextBox 31"/>
          <p:cNvSpPr txBox="1"/>
          <p:nvPr/>
        </p:nvSpPr>
        <p:spPr>
          <a:xfrm>
            <a:off x="886968" y="3931920"/>
            <a:ext cx="1731324" cy="822960"/>
          </a:xfrm>
          <a:prstGeom prst="rect">
            <a:avLst/>
          </a:prstGeom>
          <a:noFill/>
        </p:spPr>
        <p:txBody>
          <a:bodyPr wrap="square" anchor="ctr">
            <a:spAutoFit/>
          </a:bodyPr>
          <a:lstStyle/>
          <a:p>
            <a:pPr algn="l">
              <a:spcAft>
                <a:spcPts val="400"/>
              </a:spcAft>
            </a:pPr>
            <a:r>
              <a:rPr sz="1250" b="1">
                <a:solidFill>
                  <a:srgbClr val="161B26"/>
                </a:solidFill>
                <a:latin typeface="Arial"/>
              </a:rPr>
              <a:t>Blue/Green</a:t>
            </a:r>
          </a:p>
        </p:txBody>
      </p:sp>
      <p:sp>
        <p:nvSpPr>
          <p:cNvPr id="33" name="Rectangle 32"/>
          <p:cNvSpPr/>
          <p:nvPr/>
        </p:nvSpPr>
        <p:spPr>
          <a:xfrm>
            <a:off x="2691444" y="3931920"/>
            <a:ext cx="3615720" cy="822960"/>
          </a:xfrm>
          <a:prstGeom prst="rect">
            <a:avLst/>
          </a:prstGeom>
          <a:solidFill>
            <a:srgbClr val="F5F8FC"/>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TextBox 33"/>
          <p:cNvSpPr txBox="1"/>
          <p:nvPr/>
        </p:nvSpPr>
        <p:spPr>
          <a:xfrm>
            <a:off x="2801172" y="3931920"/>
            <a:ext cx="3432840" cy="822960"/>
          </a:xfrm>
          <a:prstGeom prst="rect">
            <a:avLst/>
          </a:prstGeom>
          <a:noFill/>
        </p:spPr>
        <p:txBody>
          <a:bodyPr wrap="square" anchor="ctr">
            <a:spAutoFit/>
          </a:bodyPr>
          <a:lstStyle/>
          <a:p>
            <a:pPr algn="ctr">
              <a:spcAft>
                <a:spcPts val="400"/>
              </a:spcAft>
            </a:pPr>
            <a:r>
              <a:rPr sz="1250" b="0">
                <a:solidFill>
                  <a:srgbClr val="5B6372"/>
                </a:solidFill>
                <a:latin typeface="Arial"/>
              </a:rPr>
              <a:t>Shift traffic to a new fleet</a:t>
            </a:r>
          </a:p>
        </p:txBody>
      </p:sp>
      <p:sp>
        <p:nvSpPr>
          <p:cNvPr id="35" name="Rectangle 34"/>
          <p:cNvSpPr/>
          <p:nvPr/>
        </p:nvSpPr>
        <p:spPr>
          <a:xfrm>
            <a:off x="6307164" y="3931920"/>
            <a:ext cx="2552273" cy="822960"/>
          </a:xfrm>
          <a:prstGeom prst="rect">
            <a:avLst/>
          </a:prstGeom>
          <a:solidFill>
            <a:srgbClr val="F5F8FC"/>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TextBox 35"/>
          <p:cNvSpPr txBox="1"/>
          <p:nvPr/>
        </p:nvSpPr>
        <p:spPr>
          <a:xfrm>
            <a:off x="6416892" y="3931920"/>
            <a:ext cx="2369393" cy="822960"/>
          </a:xfrm>
          <a:prstGeom prst="rect">
            <a:avLst/>
          </a:prstGeom>
          <a:noFill/>
        </p:spPr>
        <p:txBody>
          <a:bodyPr wrap="square" anchor="ctr">
            <a:spAutoFit/>
          </a:bodyPr>
          <a:lstStyle/>
          <a:p>
            <a:pPr algn="ctr">
              <a:spcAft>
                <a:spcPts val="400"/>
              </a:spcAft>
            </a:pPr>
            <a:r>
              <a:rPr sz="1250" b="0">
                <a:solidFill>
                  <a:srgbClr val="5B6372"/>
                </a:solidFill>
                <a:latin typeface="Arial"/>
              </a:rPr>
              <a:t>Instant switch-back</a:t>
            </a:r>
          </a:p>
        </p:txBody>
      </p:sp>
      <p:sp>
        <p:nvSpPr>
          <p:cNvPr id="37" name="Rectangle 36"/>
          <p:cNvSpPr/>
          <p:nvPr/>
        </p:nvSpPr>
        <p:spPr>
          <a:xfrm>
            <a:off x="8859437" y="3931920"/>
            <a:ext cx="2552273" cy="822960"/>
          </a:xfrm>
          <a:prstGeom prst="rect">
            <a:avLst/>
          </a:prstGeom>
          <a:solidFill>
            <a:srgbClr val="F5F8FC"/>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8" name="TextBox 37"/>
          <p:cNvSpPr txBox="1"/>
          <p:nvPr/>
        </p:nvSpPr>
        <p:spPr>
          <a:xfrm>
            <a:off x="8969165" y="3931920"/>
            <a:ext cx="2369393" cy="822960"/>
          </a:xfrm>
          <a:prstGeom prst="rect">
            <a:avLst/>
          </a:prstGeom>
          <a:noFill/>
        </p:spPr>
        <p:txBody>
          <a:bodyPr wrap="square" anchor="ctr">
            <a:spAutoFit/>
          </a:bodyPr>
          <a:lstStyle/>
          <a:p>
            <a:pPr algn="ctr">
              <a:spcAft>
                <a:spcPts val="400"/>
              </a:spcAft>
            </a:pPr>
            <a:r>
              <a:rPr sz="1250" b="0">
                <a:solidFill>
                  <a:srgbClr val="5B6372"/>
                </a:solidFill>
                <a:latin typeface="Arial"/>
              </a:rPr>
              <a:t>Zero-downtime prod</a:t>
            </a:r>
          </a:p>
        </p:txBody>
      </p:sp>
      <p:sp>
        <p:nvSpPr>
          <p:cNvPr id="39" name="Rectangle 38"/>
          <p:cNvSpPr/>
          <p:nvPr/>
        </p:nvSpPr>
        <p:spPr>
          <a:xfrm>
            <a:off x="777240" y="4754880"/>
            <a:ext cx="1914204" cy="822960"/>
          </a:xfrm>
          <a:prstGeom prst="rect">
            <a:avLst/>
          </a:prstGeom>
          <a:solidFill>
            <a:srgbClr val="FFFFFF"/>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0" name="TextBox 39"/>
          <p:cNvSpPr txBox="1"/>
          <p:nvPr/>
        </p:nvSpPr>
        <p:spPr>
          <a:xfrm>
            <a:off x="886968" y="4754880"/>
            <a:ext cx="1731324" cy="822960"/>
          </a:xfrm>
          <a:prstGeom prst="rect">
            <a:avLst/>
          </a:prstGeom>
          <a:noFill/>
        </p:spPr>
        <p:txBody>
          <a:bodyPr wrap="square" anchor="ctr">
            <a:spAutoFit/>
          </a:bodyPr>
          <a:lstStyle/>
          <a:p>
            <a:pPr algn="l">
              <a:spcAft>
                <a:spcPts val="400"/>
              </a:spcAft>
            </a:pPr>
            <a:r>
              <a:rPr sz="1250" b="1">
                <a:solidFill>
                  <a:srgbClr val="161B26"/>
                </a:solidFill>
                <a:latin typeface="Arial"/>
              </a:rPr>
              <a:t>Canary</a:t>
            </a:r>
          </a:p>
        </p:txBody>
      </p:sp>
      <p:sp>
        <p:nvSpPr>
          <p:cNvPr id="41" name="Rectangle 40"/>
          <p:cNvSpPr/>
          <p:nvPr/>
        </p:nvSpPr>
        <p:spPr>
          <a:xfrm>
            <a:off x="2691444" y="4754880"/>
            <a:ext cx="3615720" cy="822960"/>
          </a:xfrm>
          <a:prstGeom prst="rect">
            <a:avLst/>
          </a:prstGeom>
          <a:solidFill>
            <a:srgbClr val="FFFFFF"/>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2" name="TextBox 41"/>
          <p:cNvSpPr txBox="1"/>
          <p:nvPr/>
        </p:nvSpPr>
        <p:spPr>
          <a:xfrm>
            <a:off x="2801172" y="4754880"/>
            <a:ext cx="3432840" cy="822960"/>
          </a:xfrm>
          <a:prstGeom prst="rect">
            <a:avLst/>
          </a:prstGeom>
          <a:noFill/>
        </p:spPr>
        <p:txBody>
          <a:bodyPr wrap="square" anchor="ctr">
            <a:spAutoFit/>
          </a:bodyPr>
          <a:lstStyle/>
          <a:p>
            <a:pPr algn="ctr">
              <a:spcAft>
                <a:spcPts val="400"/>
              </a:spcAft>
            </a:pPr>
            <a:r>
              <a:rPr sz="1250" b="0">
                <a:solidFill>
                  <a:srgbClr val="5B6372"/>
                </a:solidFill>
                <a:latin typeface="Arial"/>
              </a:rPr>
              <a:t>Shift a small % first</a:t>
            </a:r>
          </a:p>
        </p:txBody>
      </p:sp>
      <p:sp>
        <p:nvSpPr>
          <p:cNvPr id="43" name="Rectangle 42"/>
          <p:cNvSpPr/>
          <p:nvPr/>
        </p:nvSpPr>
        <p:spPr>
          <a:xfrm>
            <a:off x="6307164" y="4754880"/>
            <a:ext cx="2552273" cy="822960"/>
          </a:xfrm>
          <a:prstGeom prst="rect">
            <a:avLst/>
          </a:prstGeom>
          <a:solidFill>
            <a:srgbClr val="FFFFFF"/>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4" name="TextBox 43"/>
          <p:cNvSpPr txBox="1"/>
          <p:nvPr/>
        </p:nvSpPr>
        <p:spPr>
          <a:xfrm>
            <a:off x="6416892" y="4754880"/>
            <a:ext cx="2369393" cy="822960"/>
          </a:xfrm>
          <a:prstGeom prst="rect">
            <a:avLst/>
          </a:prstGeom>
          <a:noFill/>
        </p:spPr>
        <p:txBody>
          <a:bodyPr wrap="square" anchor="ctr">
            <a:spAutoFit/>
          </a:bodyPr>
          <a:lstStyle/>
          <a:p>
            <a:pPr algn="ctr">
              <a:spcAft>
                <a:spcPts val="400"/>
              </a:spcAft>
            </a:pPr>
            <a:r>
              <a:rPr sz="1250" b="0">
                <a:solidFill>
                  <a:srgbClr val="5B6372"/>
                </a:solidFill>
                <a:latin typeface="Arial"/>
              </a:rPr>
              <a:t>Stop &amp; revert</a:t>
            </a:r>
          </a:p>
        </p:txBody>
      </p:sp>
      <p:sp>
        <p:nvSpPr>
          <p:cNvPr id="45" name="Rectangle 44"/>
          <p:cNvSpPr/>
          <p:nvPr/>
        </p:nvSpPr>
        <p:spPr>
          <a:xfrm>
            <a:off x="8859437" y="4754880"/>
            <a:ext cx="2552273" cy="822960"/>
          </a:xfrm>
          <a:prstGeom prst="rect">
            <a:avLst/>
          </a:prstGeom>
          <a:solidFill>
            <a:srgbClr val="FFFFFF"/>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6" name="TextBox 45"/>
          <p:cNvSpPr txBox="1"/>
          <p:nvPr/>
        </p:nvSpPr>
        <p:spPr>
          <a:xfrm>
            <a:off x="8969165" y="4754880"/>
            <a:ext cx="2369393" cy="822960"/>
          </a:xfrm>
          <a:prstGeom prst="rect">
            <a:avLst/>
          </a:prstGeom>
          <a:noFill/>
        </p:spPr>
        <p:txBody>
          <a:bodyPr wrap="square" anchor="ctr">
            <a:spAutoFit/>
          </a:bodyPr>
          <a:lstStyle/>
          <a:p>
            <a:pPr algn="ctr">
              <a:spcAft>
                <a:spcPts val="400"/>
              </a:spcAft>
            </a:pPr>
            <a:r>
              <a:rPr sz="1250" b="0">
                <a:solidFill>
                  <a:srgbClr val="5B6372"/>
                </a:solidFill>
                <a:latin typeface="Arial"/>
              </a:rPr>
              <a:t>High-risk changes</a:t>
            </a:r>
          </a:p>
        </p:txBody>
      </p:sp>
      <p:sp>
        <p:nvSpPr>
          <p:cNvPr id="47" name="TextBox 46"/>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DevOps Engineering on AWS  ·  TGS-2023040474</a:t>
            </a:r>
          </a:p>
        </p:txBody>
      </p:sp>
      <p:sp>
        <p:nvSpPr>
          <p:cNvPr id="48" name="TextBox 47"/>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49" name="TextBox 48"/>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41</a:t>
            </a:r>
          </a:p>
        </p:txBody>
      </p:sp>
    </p:spTree>
  </p:cSld>
  <p:clrMapOvr>
    <a:masterClrMapping/>
  </p:clrMapOvr>
  <p:transition xmlns:p14="http://schemas.microsoft.com/office/powerpoint/2010/main" p14:dur="380">
    <p:fade/>
  </p:transition>
</p:sld>
</file>

<file path=ppt/slides/slide4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38912"/>
            <a:ext cx="10607040" cy="365760"/>
          </a:xfrm>
          <a:prstGeom prst="rect">
            <a:avLst/>
          </a:prstGeom>
          <a:noFill/>
        </p:spPr>
        <p:txBody>
          <a:bodyPr wrap="square" anchor="t">
            <a:spAutoFit/>
          </a:bodyPr>
          <a:lstStyle/>
          <a:p>
            <a:pPr algn="l">
              <a:spcAft>
                <a:spcPts val="400"/>
              </a:spcAft>
            </a:pPr>
            <a:r>
              <a:rPr sz="1400" b="1">
                <a:solidFill>
                  <a:srgbClr val="1F6FEB"/>
                </a:solidFill>
                <a:latin typeface="Arial"/>
              </a:rPr>
              <a:t>TRADE-OFFS</a:t>
            </a:r>
          </a:p>
        </p:txBody>
      </p:sp>
      <p:sp>
        <p:nvSpPr>
          <p:cNvPr id="5" name="TextBox 4"/>
          <p:cNvSpPr txBox="1"/>
          <p:nvPr/>
        </p:nvSpPr>
        <p:spPr>
          <a:xfrm>
            <a:off x="777240" y="896112"/>
            <a:ext cx="10927080" cy="731520"/>
          </a:xfrm>
          <a:prstGeom prst="rect">
            <a:avLst/>
          </a:prstGeom>
          <a:noFill/>
        </p:spPr>
        <p:txBody>
          <a:bodyPr wrap="square" anchor="t">
            <a:spAutoFit/>
          </a:bodyPr>
          <a:lstStyle/>
          <a:p>
            <a:pPr algn="l">
              <a:spcAft>
                <a:spcPts val="400"/>
              </a:spcAft>
            </a:pPr>
            <a:r>
              <a:rPr sz="2500" b="1">
                <a:solidFill>
                  <a:srgbClr val="161B26"/>
                </a:solidFill>
                <a:latin typeface="Arial"/>
              </a:rPr>
              <a:t>Deployment Strategy — Blast Radius vs Rollback Speed</a:t>
            </a:r>
          </a:p>
        </p:txBody>
      </p:sp>
      <p:sp>
        <p:nvSpPr>
          <p:cNvPr id="6" name="Rectangle 5"/>
          <p:cNvSpPr/>
          <p:nvPr/>
        </p:nvSpPr>
        <p:spPr>
          <a:xfrm>
            <a:off x="777240" y="1572768"/>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graphicFrame>
        <p:nvGraphicFramePr>
          <p:cNvPr id="7" name="Chart 6"/>
          <p:cNvGraphicFramePr>
            <a:graphicFrameLocks noGrp="1"/>
          </p:cNvGraphicFramePr>
          <p:nvPr/>
        </p:nvGraphicFramePr>
        <p:xfrm>
          <a:off x="777240" y="1828800"/>
          <a:ext cx="10634472" cy="3291840"/>
        </p:xfrm>
        <a:graphic>
          <a:graphicData uri="http://schemas.openxmlformats.org/drawingml/2006/chart">
            <c:chart xmlns:c="http://schemas.openxmlformats.org/drawingml/2006/chart" r:id="rId2"/>
          </a:graphicData>
        </a:graphic>
      </p:graphicFrame>
      <p:sp>
        <p:nvSpPr>
          <p:cNvPr id="8" name="Rectangle 7"/>
          <p:cNvSpPr/>
          <p:nvPr/>
        </p:nvSpPr>
        <p:spPr>
          <a:xfrm>
            <a:off x="777240" y="5349240"/>
            <a:ext cx="10634472" cy="86868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777240" y="5349240"/>
            <a:ext cx="91440" cy="86868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005840" y="5440680"/>
            <a:ext cx="10241280" cy="320040"/>
          </a:xfrm>
          <a:prstGeom prst="rect">
            <a:avLst/>
          </a:prstGeom>
          <a:noFill/>
        </p:spPr>
        <p:txBody>
          <a:bodyPr wrap="square" anchor="t">
            <a:spAutoFit/>
          </a:bodyPr>
          <a:lstStyle/>
          <a:p>
            <a:pPr algn="l">
              <a:spcAft>
                <a:spcPts val="400"/>
              </a:spcAft>
            </a:pPr>
            <a:r>
              <a:rPr sz="1100" b="1">
                <a:solidFill>
                  <a:srgbClr val="1F6FEB"/>
                </a:solidFill>
                <a:latin typeface="Arial"/>
              </a:rPr>
              <a:t>WHAT THE DATA SHOWS</a:t>
            </a:r>
          </a:p>
        </p:txBody>
      </p:sp>
      <p:sp>
        <p:nvSpPr>
          <p:cNvPr id="11" name="TextBox 10"/>
          <p:cNvSpPr txBox="1"/>
          <p:nvPr/>
        </p:nvSpPr>
        <p:spPr>
          <a:xfrm>
            <a:off x="1005840" y="5742432"/>
            <a:ext cx="10241280" cy="457200"/>
          </a:xfrm>
          <a:prstGeom prst="rect">
            <a:avLst/>
          </a:prstGeom>
          <a:noFill/>
        </p:spPr>
        <p:txBody>
          <a:bodyPr wrap="square" anchor="t">
            <a:spAutoFit/>
          </a:bodyPr>
          <a:lstStyle/>
          <a:p>
            <a:pPr algn="l">
              <a:spcAft>
                <a:spcPts val="400"/>
              </a:spcAft>
            </a:pPr>
            <a:r>
              <a:rPr sz="1350" b="0">
                <a:solidFill>
                  <a:srgbClr val="161B26"/>
                </a:solidFill>
                <a:latin typeface="Arial"/>
              </a:rPr>
              <a:t>Blue/green and canary minimise how many users a bad release can affect and let you roll back fastest.</a:t>
            </a:r>
          </a:p>
        </p:txBody>
      </p:sp>
      <p:sp>
        <p:nvSpPr>
          <p:cNvPr id="12" name="TextBox 11"/>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DevOps Engineering on AWS  ·  TGS-2023040474</a:t>
            </a:r>
          </a:p>
        </p:txBody>
      </p:sp>
      <p:sp>
        <p:nvSpPr>
          <p:cNvPr id="13" name="TextBox 12"/>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4" name="TextBox 13"/>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42</a:t>
            </a:r>
          </a:p>
        </p:txBody>
      </p:sp>
    </p:spTree>
  </p:cSld>
  <p:clrMapOvr>
    <a:masterClrMapping/>
  </p:clrMapOvr>
  <p:transition xmlns:p14="http://schemas.microsoft.com/office/powerpoint/2010/main" p14:dur="380">
    <p:fade/>
  </p:transition>
</p:sld>
</file>

<file path=ppt/slides/slide4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38912"/>
            <a:ext cx="10607040" cy="365760"/>
          </a:xfrm>
          <a:prstGeom prst="rect">
            <a:avLst/>
          </a:prstGeom>
          <a:noFill/>
        </p:spPr>
        <p:txBody>
          <a:bodyPr wrap="square" anchor="t">
            <a:spAutoFit/>
          </a:bodyPr>
          <a:lstStyle/>
          <a:p>
            <a:pPr algn="l">
              <a:spcAft>
                <a:spcPts val="400"/>
              </a:spcAft>
            </a:pPr>
            <a:r>
              <a:rPr sz="1400" b="1">
                <a:solidFill>
                  <a:srgbClr val="1F6FEB"/>
                </a:solidFill>
                <a:latin typeface="Arial"/>
              </a:rPr>
              <a:t>SHIFT LEFT</a:t>
            </a:r>
          </a:p>
        </p:txBody>
      </p:sp>
      <p:sp>
        <p:nvSpPr>
          <p:cNvPr id="5" name="TextBox 4"/>
          <p:cNvSpPr txBox="1"/>
          <p:nvPr/>
        </p:nvSpPr>
        <p:spPr>
          <a:xfrm>
            <a:off x="777240" y="804672"/>
            <a:ext cx="10927080" cy="731520"/>
          </a:xfrm>
          <a:prstGeom prst="rect">
            <a:avLst/>
          </a:prstGeom>
          <a:noFill/>
        </p:spPr>
        <p:txBody>
          <a:bodyPr wrap="square" anchor="t">
            <a:spAutoFit/>
          </a:bodyPr>
          <a:lstStyle/>
          <a:p>
            <a:pPr algn="l">
              <a:spcAft>
                <a:spcPts val="400"/>
              </a:spcAft>
            </a:pPr>
            <a:r>
              <a:rPr sz="2900" b="1">
                <a:solidFill>
                  <a:srgbClr val="161B26"/>
                </a:solidFill>
                <a:latin typeface="Arial"/>
              </a:rPr>
              <a:t>Automated Testing in the Pipeline</a:t>
            </a:r>
          </a:p>
        </p:txBody>
      </p:sp>
      <p:sp>
        <p:nvSpPr>
          <p:cNvPr id="6" name="Rectangle 5"/>
          <p:cNvSpPr/>
          <p:nvPr/>
        </p:nvSpPr>
        <p:spPr>
          <a:xfrm>
            <a:off x="777240" y="1572768"/>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783080"/>
            <a:ext cx="5180076" cy="207568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1783080"/>
            <a:ext cx="91440" cy="2075688"/>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1033272" y="2546604"/>
            <a:ext cx="548640" cy="548640"/>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033272" y="2546604"/>
            <a:ext cx="548640" cy="548640"/>
          </a:xfrm>
          <a:prstGeom prst="rect">
            <a:avLst/>
          </a:prstGeom>
          <a:noFill/>
        </p:spPr>
        <p:txBody>
          <a:bodyPr wrap="square" anchor="ctr">
            <a:spAutoFit/>
          </a:bodyPr>
          <a:lstStyle/>
          <a:p>
            <a:pPr algn="ctr">
              <a:spcAft>
                <a:spcPts val="400"/>
              </a:spcAft>
            </a:pPr>
            <a:r>
              <a:rPr sz="1800" b="1">
                <a:solidFill>
                  <a:srgbClr val="FFFFFF"/>
                </a:solidFill>
                <a:latin typeface="Arial"/>
              </a:rPr>
              <a:t>1</a:t>
            </a:r>
          </a:p>
        </p:txBody>
      </p:sp>
      <p:sp>
        <p:nvSpPr>
          <p:cNvPr id="11" name="TextBox 10"/>
          <p:cNvSpPr txBox="1"/>
          <p:nvPr/>
        </p:nvSpPr>
        <p:spPr>
          <a:xfrm>
            <a:off x="1764792" y="1892808"/>
            <a:ext cx="3973068" cy="1892808"/>
          </a:xfrm>
          <a:prstGeom prst="rect">
            <a:avLst/>
          </a:prstGeom>
          <a:noFill/>
        </p:spPr>
        <p:txBody>
          <a:bodyPr wrap="square" anchor="ctr">
            <a:spAutoFit/>
          </a:bodyPr>
          <a:lstStyle/>
          <a:p>
            <a:pPr algn="l">
              <a:spcAft>
                <a:spcPts val="300"/>
              </a:spcAft>
            </a:pPr>
            <a:r>
              <a:rPr sz="1600" b="1">
                <a:solidFill>
                  <a:srgbClr val="161B26"/>
                </a:solidFill>
                <a:latin typeface="Arial"/>
              </a:rPr>
              <a:t>Unit tests</a:t>
            </a:r>
          </a:p>
          <a:p>
            <a:pPr algn="l">
              <a:spcAft>
                <a:spcPts val="300"/>
              </a:spcAft>
            </a:pPr>
            <a:r>
              <a:rPr sz="1200" b="0">
                <a:solidFill>
                  <a:srgbClr val="5B6372"/>
                </a:solidFill>
                <a:latin typeface="Arial"/>
              </a:rPr>
              <a:t>Run in CodeBuild on every commit — fail fast, block the merge.</a:t>
            </a:r>
          </a:p>
        </p:txBody>
      </p:sp>
      <p:sp>
        <p:nvSpPr>
          <p:cNvPr id="12" name="Rectangle 11"/>
          <p:cNvSpPr/>
          <p:nvPr/>
        </p:nvSpPr>
        <p:spPr>
          <a:xfrm>
            <a:off x="6231636" y="1783080"/>
            <a:ext cx="5180076" cy="207568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6231636" y="1783080"/>
            <a:ext cx="91440" cy="2075688"/>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Oval 13"/>
          <p:cNvSpPr/>
          <p:nvPr/>
        </p:nvSpPr>
        <p:spPr>
          <a:xfrm>
            <a:off x="6487668" y="2546604"/>
            <a:ext cx="548640" cy="54864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6487668" y="2546604"/>
            <a:ext cx="548640" cy="548640"/>
          </a:xfrm>
          <a:prstGeom prst="rect">
            <a:avLst/>
          </a:prstGeom>
          <a:noFill/>
        </p:spPr>
        <p:txBody>
          <a:bodyPr wrap="square" anchor="ctr">
            <a:spAutoFit/>
          </a:bodyPr>
          <a:lstStyle/>
          <a:p>
            <a:pPr algn="ctr">
              <a:spcAft>
                <a:spcPts val="400"/>
              </a:spcAft>
            </a:pPr>
            <a:r>
              <a:rPr sz="1800" b="1">
                <a:solidFill>
                  <a:srgbClr val="FFFFFF"/>
                </a:solidFill>
                <a:latin typeface="Arial"/>
              </a:rPr>
              <a:t>2</a:t>
            </a:r>
          </a:p>
        </p:txBody>
      </p:sp>
      <p:sp>
        <p:nvSpPr>
          <p:cNvPr id="16" name="TextBox 15"/>
          <p:cNvSpPr txBox="1"/>
          <p:nvPr/>
        </p:nvSpPr>
        <p:spPr>
          <a:xfrm>
            <a:off x="7219188" y="1892808"/>
            <a:ext cx="3973068" cy="1892808"/>
          </a:xfrm>
          <a:prstGeom prst="rect">
            <a:avLst/>
          </a:prstGeom>
          <a:noFill/>
        </p:spPr>
        <p:txBody>
          <a:bodyPr wrap="square" anchor="ctr">
            <a:spAutoFit/>
          </a:bodyPr>
          <a:lstStyle/>
          <a:p>
            <a:pPr algn="l">
              <a:spcAft>
                <a:spcPts val="300"/>
              </a:spcAft>
            </a:pPr>
            <a:r>
              <a:rPr sz="1600" b="1">
                <a:solidFill>
                  <a:srgbClr val="161B26"/>
                </a:solidFill>
                <a:latin typeface="Arial"/>
              </a:rPr>
              <a:t>Integration tests</a:t>
            </a:r>
          </a:p>
          <a:p>
            <a:pPr algn="l">
              <a:spcAft>
                <a:spcPts val="300"/>
              </a:spcAft>
            </a:pPr>
            <a:r>
              <a:rPr sz="1200" b="0">
                <a:solidFill>
                  <a:srgbClr val="5B6372"/>
                </a:solidFill>
                <a:latin typeface="Arial"/>
              </a:rPr>
              <a:t>Verify services work together before promotion to staging.</a:t>
            </a:r>
          </a:p>
        </p:txBody>
      </p:sp>
      <p:sp>
        <p:nvSpPr>
          <p:cNvPr id="17" name="Rectangle 16"/>
          <p:cNvSpPr/>
          <p:nvPr/>
        </p:nvSpPr>
        <p:spPr>
          <a:xfrm>
            <a:off x="777240" y="4078224"/>
            <a:ext cx="5180076" cy="207568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777240" y="4078224"/>
            <a:ext cx="91440" cy="2075688"/>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Oval 18"/>
          <p:cNvSpPr/>
          <p:nvPr/>
        </p:nvSpPr>
        <p:spPr>
          <a:xfrm>
            <a:off x="1033272" y="4841748"/>
            <a:ext cx="548640" cy="548640"/>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1033272" y="4841748"/>
            <a:ext cx="548640" cy="548640"/>
          </a:xfrm>
          <a:prstGeom prst="rect">
            <a:avLst/>
          </a:prstGeom>
          <a:noFill/>
        </p:spPr>
        <p:txBody>
          <a:bodyPr wrap="square" anchor="ctr">
            <a:spAutoFit/>
          </a:bodyPr>
          <a:lstStyle/>
          <a:p>
            <a:pPr algn="ctr">
              <a:spcAft>
                <a:spcPts val="400"/>
              </a:spcAft>
            </a:pPr>
            <a:r>
              <a:rPr sz="1800" b="1">
                <a:solidFill>
                  <a:srgbClr val="FFFFFF"/>
                </a:solidFill>
                <a:latin typeface="Arial"/>
              </a:rPr>
              <a:t>3</a:t>
            </a:r>
          </a:p>
        </p:txBody>
      </p:sp>
      <p:sp>
        <p:nvSpPr>
          <p:cNvPr id="21" name="TextBox 20"/>
          <p:cNvSpPr txBox="1"/>
          <p:nvPr/>
        </p:nvSpPr>
        <p:spPr>
          <a:xfrm>
            <a:off x="1764792" y="4187952"/>
            <a:ext cx="3973068" cy="1892808"/>
          </a:xfrm>
          <a:prstGeom prst="rect">
            <a:avLst/>
          </a:prstGeom>
          <a:noFill/>
        </p:spPr>
        <p:txBody>
          <a:bodyPr wrap="square" anchor="ctr">
            <a:spAutoFit/>
          </a:bodyPr>
          <a:lstStyle/>
          <a:p>
            <a:pPr algn="l">
              <a:spcAft>
                <a:spcPts val="300"/>
              </a:spcAft>
            </a:pPr>
            <a:r>
              <a:rPr sz="1600" b="1">
                <a:solidFill>
                  <a:srgbClr val="161B26"/>
                </a:solidFill>
                <a:latin typeface="Arial"/>
              </a:rPr>
              <a:t>Security scans</a:t>
            </a:r>
          </a:p>
          <a:p>
            <a:pPr algn="l">
              <a:spcAft>
                <a:spcPts val="300"/>
              </a:spcAft>
            </a:pPr>
            <a:r>
              <a:rPr sz="1200" b="0">
                <a:solidFill>
                  <a:srgbClr val="5B6372"/>
                </a:solidFill>
                <a:latin typeface="Arial"/>
              </a:rPr>
              <a:t>SAST/SCA on code and dependencies inside the build phase.</a:t>
            </a:r>
          </a:p>
        </p:txBody>
      </p:sp>
      <p:sp>
        <p:nvSpPr>
          <p:cNvPr id="22" name="Rectangle 21"/>
          <p:cNvSpPr/>
          <p:nvPr/>
        </p:nvSpPr>
        <p:spPr>
          <a:xfrm>
            <a:off x="6231636" y="4078224"/>
            <a:ext cx="5180076" cy="207568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ectangle 22"/>
          <p:cNvSpPr/>
          <p:nvPr/>
        </p:nvSpPr>
        <p:spPr>
          <a:xfrm>
            <a:off x="6231636" y="4078224"/>
            <a:ext cx="91440" cy="2075688"/>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Oval 23"/>
          <p:cNvSpPr/>
          <p:nvPr/>
        </p:nvSpPr>
        <p:spPr>
          <a:xfrm>
            <a:off x="6487668" y="4841748"/>
            <a:ext cx="548640" cy="548640"/>
          </a:xfrm>
          <a:prstGeom prst="ellipse">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6487668" y="4841748"/>
            <a:ext cx="548640" cy="548640"/>
          </a:xfrm>
          <a:prstGeom prst="rect">
            <a:avLst/>
          </a:prstGeom>
          <a:noFill/>
        </p:spPr>
        <p:txBody>
          <a:bodyPr wrap="square" anchor="ctr">
            <a:spAutoFit/>
          </a:bodyPr>
          <a:lstStyle/>
          <a:p>
            <a:pPr algn="ctr">
              <a:spcAft>
                <a:spcPts val="400"/>
              </a:spcAft>
            </a:pPr>
            <a:r>
              <a:rPr sz="1800" b="1">
                <a:solidFill>
                  <a:srgbClr val="FFFFFF"/>
                </a:solidFill>
                <a:latin typeface="Arial"/>
              </a:rPr>
              <a:t>4</a:t>
            </a:r>
          </a:p>
        </p:txBody>
      </p:sp>
      <p:sp>
        <p:nvSpPr>
          <p:cNvPr id="26" name="TextBox 25"/>
          <p:cNvSpPr txBox="1"/>
          <p:nvPr/>
        </p:nvSpPr>
        <p:spPr>
          <a:xfrm>
            <a:off x="7219188" y="4187952"/>
            <a:ext cx="3973068" cy="1892808"/>
          </a:xfrm>
          <a:prstGeom prst="rect">
            <a:avLst/>
          </a:prstGeom>
          <a:noFill/>
        </p:spPr>
        <p:txBody>
          <a:bodyPr wrap="square" anchor="ctr">
            <a:spAutoFit/>
          </a:bodyPr>
          <a:lstStyle/>
          <a:p>
            <a:pPr algn="l">
              <a:spcAft>
                <a:spcPts val="300"/>
              </a:spcAft>
            </a:pPr>
            <a:r>
              <a:rPr sz="1600" b="1">
                <a:solidFill>
                  <a:srgbClr val="161B26"/>
                </a:solidFill>
                <a:latin typeface="Arial"/>
              </a:rPr>
              <a:t>Quality gates</a:t>
            </a:r>
          </a:p>
          <a:p>
            <a:pPr algn="l">
              <a:spcAft>
                <a:spcPts val="300"/>
              </a:spcAft>
            </a:pPr>
            <a:r>
              <a:rPr sz="1200" b="0">
                <a:solidFill>
                  <a:srgbClr val="5B6372"/>
                </a:solidFill>
                <a:latin typeface="Arial"/>
              </a:rPr>
              <a:t>CodeGuru / linters and coverage thresholds gate the release.</a:t>
            </a:r>
          </a:p>
        </p:txBody>
      </p:sp>
      <p:sp>
        <p:nvSpPr>
          <p:cNvPr id="27" name="TextBox 26"/>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DevOps Engineering on AWS  ·  TGS-2023040474</a:t>
            </a:r>
          </a:p>
        </p:txBody>
      </p:sp>
      <p:sp>
        <p:nvSpPr>
          <p:cNvPr id="28" name="TextBox 27"/>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29" name="TextBox 28"/>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43</a:t>
            </a:r>
          </a:p>
        </p:txBody>
      </p:sp>
    </p:spTree>
  </p:cSld>
  <p:clrMapOvr>
    <a:masterClrMapping/>
  </p:clrMapOvr>
  <p:transition xmlns:p14="http://schemas.microsoft.com/office/powerpoint/2010/main" p14:dur="380">
    <p:fade/>
  </p:transition>
</p:sld>
</file>

<file path=ppt/slides/slide4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38912"/>
            <a:ext cx="10607040" cy="365760"/>
          </a:xfrm>
          <a:prstGeom prst="rect">
            <a:avLst/>
          </a:prstGeom>
          <a:noFill/>
        </p:spPr>
        <p:txBody>
          <a:bodyPr wrap="square" anchor="t">
            <a:spAutoFit/>
          </a:bodyPr>
          <a:lstStyle/>
          <a:p>
            <a:pPr algn="l">
              <a:spcAft>
                <a:spcPts val="400"/>
              </a:spcAft>
            </a:pPr>
            <a:r>
              <a:rPr sz="1400" b="1">
                <a:solidFill>
                  <a:srgbClr val="1F6FEB"/>
                </a:solidFill>
                <a:latin typeface="Arial"/>
              </a:rPr>
              <a:t>HOW CODEBUILD KNOWS WHAT TO DO</a:t>
            </a:r>
          </a:p>
        </p:txBody>
      </p:sp>
      <p:sp>
        <p:nvSpPr>
          <p:cNvPr id="5" name="TextBox 4"/>
          <p:cNvSpPr txBox="1"/>
          <p:nvPr/>
        </p:nvSpPr>
        <p:spPr>
          <a:xfrm>
            <a:off x="777240" y="804672"/>
            <a:ext cx="10927080" cy="731520"/>
          </a:xfrm>
          <a:prstGeom prst="rect">
            <a:avLst/>
          </a:prstGeom>
          <a:noFill/>
        </p:spPr>
        <p:txBody>
          <a:bodyPr wrap="square" anchor="t">
            <a:spAutoFit/>
          </a:bodyPr>
          <a:lstStyle/>
          <a:p>
            <a:pPr algn="l">
              <a:spcAft>
                <a:spcPts val="400"/>
              </a:spcAft>
            </a:pPr>
            <a:r>
              <a:rPr sz="2900" b="1">
                <a:solidFill>
                  <a:srgbClr val="161B26"/>
                </a:solidFill>
                <a:latin typeface="Arial"/>
              </a:rPr>
              <a:t>Anatomy of buildspec.yml</a:t>
            </a:r>
          </a:p>
        </p:txBody>
      </p:sp>
      <p:sp>
        <p:nvSpPr>
          <p:cNvPr id="6" name="Rectangle 5"/>
          <p:cNvSpPr/>
          <p:nvPr/>
        </p:nvSpPr>
        <p:spPr>
          <a:xfrm>
            <a:off x="777240" y="1572768"/>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783080"/>
            <a:ext cx="5180076" cy="131064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1783080"/>
            <a:ext cx="91440" cy="131064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1033272" y="2164080"/>
            <a:ext cx="548640" cy="548640"/>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033272" y="2164080"/>
            <a:ext cx="548640" cy="548640"/>
          </a:xfrm>
          <a:prstGeom prst="rect">
            <a:avLst/>
          </a:prstGeom>
          <a:noFill/>
        </p:spPr>
        <p:txBody>
          <a:bodyPr wrap="square" anchor="ctr">
            <a:spAutoFit/>
          </a:bodyPr>
          <a:lstStyle/>
          <a:p>
            <a:pPr algn="ctr">
              <a:spcAft>
                <a:spcPts val="400"/>
              </a:spcAft>
            </a:pPr>
            <a:r>
              <a:rPr sz="1800" b="1">
                <a:solidFill>
                  <a:srgbClr val="FFFFFF"/>
                </a:solidFill>
                <a:latin typeface="Arial"/>
              </a:rPr>
              <a:t>1</a:t>
            </a:r>
          </a:p>
        </p:txBody>
      </p:sp>
      <p:sp>
        <p:nvSpPr>
          <p:cNvPr id="11" name="TextBox 10"/>
          <p:cNvSpPr txBox="1"/>
          <p:nvPr/>
        </p:nvSpPr>
        <p:spPr>
          <a:xfrm>
            <a:off x="1764792" y="1892808"/>
            <a:ext cx="3973068" cy="1127760"/>
          </a:xfrm>
          <a:prstGeom prst="rect">
            <a:avLst/>
          </a:prstGeom>
          <a:noFill/>
        </p:spPr>
        <p:txBody>
          <a:bodyPr wrap="square" anchor="ctr">
            <a:spAutoFit/>
          </a:bodyPr>
          <a:lstStyle/>
          <a:p>
            <a:pPr algn="l">
              <a:spcAft>
                <a:spcPts val="300"/>
              </a:spcAft>
            </a:pPr>
            <a:r>
              <a:rPr sz="1500" b="1">
                <a:solidFill>
                  <a:srgbClr val="161B26"/>
                </a:solidFill>
                <a:latin typeface="Arial"/>
              </a:rPr>
              <a:t>version / env</a:t>
            </a:r>
          </a:p>
          <a:p>
            <a:pPr algn="l">
              <a:spcAft>
                <a:spcPts val="300"/>
              </a:spcAft>
            </a:pPr>
            <a:r>
              <a:rPr sz="1100" b="0">
                <a:solidFill>
                  <a:srgbClr val="5B6372"/>
                </a:solidFill>
                <a:latin typeface="Arial"/>
              </a:rPr>
              <a:t>Declare the buildspec version and environment variables / secrets.</a:t>
            </a:r>
          </a:p>
        </p:txBody>
      </p:sp>
      <p:sp>
        <p:nvSpPr>
          <p:cNvPr id="12" name="Rectangle 11"/>
          <p:cNvSpPr/>
          <p:nvPr/>
        </p:nvSpPr>
        <p:spPr>
          <a:xfrm>
            <a:off x="6231636" y="1783080"/>
            <a:ext cx="5180076" cy="131064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6231636" y="1783080"/>
            <a:ext cx="91440" cy="131064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Oval 13"/>
          <p:cNvSpPr/>
          <p:nvPr/>
        </p:nvSpPr>
        <p:spPr>
          <a:xfrm>
            <a:off x="6487668" y="2164080"/>
            <a:ext cx="548640" cy="54864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6487668" y="2164080"/>
            <a:ext cx="548640" cy="548640"/>
          </a:xfrm>
          <a:prstGeom prst="rect">
            <a:avLst/>
          </a:prstGeom>
          <a:noFill/>
        </p:spPr>
        <p:txBody>
          <a:bodyPr wrap="square" anchor="ctr">
            <a:spAutoFit/>
          </a:bodyPr>
          <a:lstStyle/>
          <a:p>
            <a:pPr algn="ctr">
              <a:spcAft>
                <a:spcPts val="400"/>
              </a:spcAft>
            </a:pPr>
            <a:r>
              <a:rPr sz="1800" b="1">
                <a:solidFill>
                  <a:srgbClr val="FFFFFF"/>
                </a:solidFill>
                <a:latin typeface="Arial"/>
              </a:rPr>
              <a:t>2</a:t>
            </a:r>
          </a:p>
        </p:txBody>
      </p:sp>
      <p:sp>
        <p:nvSpPr>
          <p:cNvPr id="16" name="TextBox 15"/>
          <p:cNvSpPr txBox="1"/>
          <p:nvPr/>
        </p:nvSpPr>
        <p:spPr>
          <a:xfrm>
            <a:off x="7219188" y="1892808"/>
            <a:ext cx="3973068" cy="1127760"/>
          </a:xfrm>
          <a:prstGeom prst="rect">
            <a:avLst/>
          </a:prstGeom>
          <a:noFill/>
        </p:spPr>
        <p:txBody>
          <a:bodyPr wrap="square" anchor="ctr">
            <a:spAutoFit/>
          </a:bodyPr>
          <a:lstStyle/>
          <a:p>
            <a:pPr algn="l">
              <a:spcAft>
                <a:spcPts val="300"/>
              </a:spcAft>
            </a:pPr>
            <a:r>
              <a:rPr sz="1500" b="1">
                <a:solidFill>
                  <a:srgbClr val="161B26"/>
                </a:solidFill>
                <a:latin typeface="Arial"/>
              </a:rPr>
              <a:t>phases: install</a:t>
            </a:r>
          </a:p>
          <a:p>
            <a:pPr algn="l">
              <a:spcAft>
                <a:spcPts val="300"/>
              </a:spcAft>
            </a:pPr>
            <a:r>
              <a:rPr sz="1100" b="0">
                <a:solidFill>
                  <a:srgbClr val="5B6372"/>
                </a:solidFill>
                <a:latin typeface="Arial"/>
              </a:rPr>
              <a:t>Set up the runtime and install dependencies.</a:t>
            </a:r>
          </a:p>
        </p:txBody>
      </p:sp>
      <p:sp>
        <p:nvSpPr>
          <p:cNvPr id="17" name="Rectangle 16"/>
          <p:cNvSpPr/>
          <p:nvPr/>
        </p:nvSpPr>
        <p:spPr>
          <a:xfrm>
            <a:off x="777240" y="3313176"/>
            <a:ext cx="5180076" cy="131064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777240" y="3313176"/>
            <a:ext cx="91440" cy="1310640"/>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Oval 18"/>
          <p:cNvSpPr/>
          <p:nvPr/>
        </p:nvSpPr>
        <p:spPr>
          <a:xfrm>
            <a:off x="1033272" y="3694176"/>
            <a:ext cx="548640" cy="548640"/>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1033272" y="3694176"/>
            <a:ext cx="548640" cy="548640"/>
          </a:xfrm>
          <a:prstGeom prst="rect">
            <a:avLst/>
          </a:prstGeom>
          <a:noFill/>
        </p:spPr>
        <p:txBody>
          <a:bodyPr wrap="square" anchor="ctr">
            <a:spAutoFit/>
          </a:bodyPr>
          <a:lstStyle/>
          <a:p>
            <a:pPr algn="ctr">
              <a:spcAft>
                <a:spcPts val="400"/>
              </a:spcAft>
            </a:pPr>
            <a:r>
              <a:rPr sz="1800" b="1">
                <a:solidFill>
                  <a:srgbClr val="FFFFFF"/>
                </a:solidFill>
                <a:latin typeface="Arial"/>
              </a:rPr>
              <a:t>3</a:t>
            </a:r>
          </a:p>
        </p:txBody>
      </p:sp>
      <p:sp>
        <p:nvSpPr>
          <p:cNvPr id="21" name="TextBox 20"/>
          <p:cNvSpPr txBox="1"/>
          <p:nvPr/>
        </p:nvSpPr>
        <p:spPr>
          <a:xfrm>
            <a:off x="1764792" y="3422904"/>
            <a:ext cx="3973068" cy="1127760"/>
          </a:xfrm>
          <a:prstGeom prst="rect">
            <a:avLst/>
          </a:prstGeom>
          <a:noFill/>
        </p:spPr>
        <p:txBody>
          <a:bodyPr wrap="square" anchor="ctr">
            <a:spAutoFit/>
          </a:bodyPr>
          <a:lstStyle/>
          <a:p>
            <a:pPr algn="l">
              <a:spcAft>
                <a:spcPts val="300"/>
              </a:spcAft>
            </a:pPr>
            <a:r>
              <a:rPr sz="1500" b="1">
                <a:solidFill>
                  <a:srgbClr val="161B26"/>
                </a:solidFill>
                <a:latin typeface="Arial"/>
              </a:rPr>
              <a:t>phases: pre_build</a:t>
            </a:r>
          </a:p>
          <a:p>
            <a:pPr algn="l">
              <a:spcAft>
                <a:spcPts val="300"/>
              </a:spcAft>
            </a:pPr>
            <a:r>
              <a:rPr sz="1100" b="0">
                <a:solidFill>
                  <a:srgbClr val="5B6372"/>
                </a:solidFill>
                <a:latin typeface="Arial"/>
              </a:rPr>
              <a:t>Log in to registries, run linters.</a:t>
            </a:r>
          </a:p>
        </p:txBody>
      </p:sp>
      <p:sp>
        <p:nvSpPr>
          <p:cNvPr id="22" name="Rectangle 21"/>
          <p:cNvSpPr/>
          <p:nvPr/>
        </p:nvSpPr>
        <p:spPr>
          <a:xfrm>
            <a:off x="6231636" y="3313176"/>
            <a:ext cx="5180076" cy="131064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ectangle 22"/>
          <p:cNvSpPr/>
          <p:nvPr/>
        </p:nvSpPr>
        <p:spPr>
          <a:xfrm>
            <a:off x="6231636" y="3313176"/>
            <a:ext cx="91440" cy="1310640"/>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Oval 23"/>
          <p:cNvSpPr/>
          <p:nvPr/>
        </p:nvSpPr>
        <p:spPr>
          <a:xfrm>
            <a:off x="6487668" y="3694176"/>
            <a:ext cx="548640" cy="548640"/>
          </a:xfrm>
          <a:prstGeom prst="ellipse">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6487668" y="3694176"/>
            <a:ext cx="548640" cy="548640"/>
          </a:xfrm>
          <a:prstGeom prst="rect">
            <a:avLst/>
          </a:prstGeom>
          <a:noFill/>
        </p:spPr>
        <p:txBody>
          <a:bodyPr wrap="square" anchor="ctr">
            <a:spAutoFit/>
          </a:bodyPr>
          <a:lstStyle/>
          <a:p>
            <a:pPr algn="ctr">
              <a:spcAft>
                <a:spcPts val="400"/>
              </a:spcAft>
            </a:pPr>
            <a:r>
              <a:rPr sz="1800" b="1">
                <a:solidFill>
                  <a:srgbClr val="FFFFFF"/>
                </a:solidFill>
                <a:latin typeface="Arial"/>
              </a:rPr>
              <a:t>4</a:t>
            </a:r>
          </a:p>
        </p:txBody>
      </p:sp>
      <p:sp>
        <p:nvSpPr>
          <p:cNvPr id="26" name="TextBox 25"/>
          <p:cNvSpPr txBox="1"/>
          <p:nvPr/>
        </p:nvSpPr>
        <p:spPr>
          <a:xfrm>
            <a:off x="7219188" y="3422904"/>
            <a:ext cx="3973068" cy="1127760"/>
          </a:xfrm>
          <a:prstGeom prst="rect">
            <a:avLst/>
          </a:prstGeom>
          <a:noFill/>
        </p:spPr>
        <p:txBody>
          <a:bodyPr wrap="square" anchor="ctr">
            <a:spAutoFit/>
          </a:bodyPr>
          <a:lstStyle/>
          <a:p>
            <a:pPr algn="l">
              <a:spcAft>
                <a:spcPts val="300"/>
              </a:spcAft>
            </a:pPr>
            <a:r>
              <a:rPr sz="1500" b="1">
                <a:solidFill>
                  <a:srgbClr val="161B26"/>
                </a:solidFill>
                <a:latin typeface="Arial"/>
              </a:rPr>
              <a:t>phases: build</a:t>
            </a:r>
          </a:p>
          <a:p>
            <a:pPr algn="l">
              <a:spcAft>
                <a:spcPts val="300"/>
              </a:spcAft>
            </a:pPr>
            <a:r>
              <a:rPr sz="1100" b="0">
                <a:solidFill>
                  <a:srgbClr val="5B6372"/>
                </a:solidFill>
                <a:latin typeface="Arial"/>
              </a:rPr>
              <a:t>Compile, run unit tests, package the app.</a:t>
            </a:r>
          </a:p>
        </p:txBody>
      </p:sp>
      <p:sp>
        <p:nvSpPr>
          <p:cNvPr id="27" name="Rectangle 26"/>
          <p:cNvSpPr/>
          <p:nvPr/>
        </p:nvSpPr>
        <p:spPr>
          <a:xfrm>
            <a:off x="777240" y="4843272"/>
            <a:ext cx="5180076" cy="131064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Rectangle 27"/>
          <p:cNvSpPr/>
          <p:nvPr/>
        </p:nvSpPr>
        <p:spPr>
          <a:xfrm>
            <a:off x="777240" y="4843272"/>
            <a:ext cx="91440" cy="1310640"/>
          </a:xfrm>
          <a:prstGeom prst="rect">
            <a:avLst/>
          </a:prstGeom>
          <a:solidFill>
            <a:srgbClr val="EC711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Oval 28"/>
          <p:cNvSpPr/>
          <p:nvPr/>
        </p:nvSpPr>
        <p:spPr>
          <a:xfrm>
            <a:off x="1033272" y="5224272"/>
            <a:ext cx="548640" cy="548640"/>
          </a:xfrm>
          <a:prstGeom prst="ellipse">
            <a:avLst/>
          </a:prstGeom>
          <a:solidFill>
            <a:srgbClr val="EC711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1033272" y="5224272"/>
            <a:ext cx="548640" cy="548640"/>
          </a:xfrm>
          <a:prstGeom prst="rect">
            <a:avLst/>
          </a:prstGeom>
          <a:noFill/>
        </p:spPr>
        <p:txBody>
          <a:bodyPr wrap="square" anchor="ctr">
            <a:spAutoFit/>
          </a:bodyPr>
          <a:lstStyle/>
          <a:p>
            <a:pPr algn="ctr">
              <a:spcAft>
                <a:spcPts val="400"/>
              </a:spcAft>
            </a:pPr>
            <a:r>
              <a:rPr sz="1800" b="1">
                <a:solidFill>
                  <a:srgbClr val="FFFFFF"/>
                </a:solidFill>
                <a:latin typeface="Arial"/>
              </a:rPr>
              <a:t>5</a:t>
            </a:r>
          </a:p>
        </p:txBody>
      </p:sp>
      <p:sp>
        <p:nvSpPr>
          <p:cNvPr id="31" name="TextBox 30"/>
          <p:cNvSpPr txBox="1"/>
          <p:nvPr/>
        </p:nvSpPr>
        <p:spPr>
          <a:xfrm>
            <a:off x="1764792" y="4953000"/>
            <a:ext cx="3973068" cy="1127760"/>
          </a:xfrm>
          <a:prstGeom prst="rect">
            <a:avLst/>
          </a:prstGeom>
          <a:noFill/>
        </p:spPr>
        <p:txBody>
          <a:bodyPr wrap="square" anchor="ctr">
            <a:spAutoFit/>
          </a:bodyPr>
          <a:lstStyle/>
          <a:p>
            <a:pPr algn="l">
              <a:spcAft>
                <a:spcPts val="300"/>
              </a:spcAft>
            </a:pPr>
            <a:r>
              <a:rPr sz="1500" b="1">
                <a:solidFill>
                  <a:srgbClr val="161B26"/>
                </a:solidFill>
                <a:latin typeface="Arial"/>
              </a:rPr>
              <a:t>phases: post_build</a:t>
            </a:r>
          </a:p>
          <a:p>
            <a:pPr algn="l">
              <a:spcAft>
                <a:spcPts val="300"/>
              </a:spcAft>
            </a:pPr>
            <a:r>
              <a:rPr sz="1100" b="0">
                <a:solidFill>
                  <a:srgbClr val="5B6372"/>
                </a:solidFill>
                <a:latin typeface="Arial"/>
              </a:rPr>
              <a:t>Push images, generate reports.</a:t>
            </a:r>
          </a:p>
        </p:txBody>
      </p:sp>
      <p:sp>
        <p:nvSpPr>
          <p:cNvPr id="32" name="Rectangle 31"/>
          <p:cNvSpPr/>
          <p:nvPr/>
        </p:nvSpPr>
        <p:spPr>
          <a:xfrm>
            <a:off x="6231636" y="4843272"/>
            <a:ext cx="5180076" cy="131064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Rectangle 32"/>
          <p:cNvSpPr/>
          <p:nvPr/>
        </p:nvSpPr>
        <p:spPr>
          <a:xfrm>
            <a:off x="6231636" y="4843272"/>
            <a:ext cx="91440" cy="1310640"/>
          </a:xfrm>
          <a:prstGeom prst="rect">
            <a:avLst/>
          </a:prstGeom>
          <a:solidFill>
            <a:srgbClr val="0E9EC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Oval 33"/>
          <p:cNvSpPr/>
          <p:nvPr/>
        </p:nvSpPr>
        <p:spPr>
          <a:xfrm>
            <a:off x="6487668" y="5224272"/>
            <a:ext cx="548640" cy="548640"/>
          </a:xfrm>
          <a:prstGeom prst="ellipse">
            <a:avLst/>
          </a:prstGeom>
          <a:solidFill>
            <a:srgbClr val="0E9EC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TextBox 34"/>
          <p:cNvSpPr txBox="1"/>
          <p:nvPr/>
        </p:nvSpPr>
        <p:spPr>
          <a:xfrm>
            <a:off x="6487668" y="5224272"/>
            <a:ext cx="548640" cy="548640"/>
          </a:xfrm>
          <a:prstGeom prst="rect">
            <a:avLst/>
          </a:prstGeom>
          <a:noFill/>
        </p:spPr>
        <p:txBody>
          <a:bodyPr wrap="square" anchor="ctr">
            <a:spAutoFit/>
          </a:bodyPr>
          <a:lstStyle/>
          <a:p>
            <a:pPr algn="ctr">
              <a:spcAft>
                <a:spcPts val="400"/>
              </a:spcAft>
            </a:pPr>
            <a:r>
              <a:rPr sz="1800" b="1">
                <a:solidFill>
                  <a:srgbClr val="FFFFFF"/>
                </a:solidFill>
                <a:latin typeface="Arial"/>
              </a:rPr>
              <a:t>6</a:t>
            </a:r>
          </a:p>
        </p:txBody>
      </p:sp>
      <p:sp>
        <p:nvSpPr>
          <p:cNvPr id="36" name="TextBox 35"/>
          <p:cNvSpPr txBox="1"/>
          <p:nvPr/>
        </p:nvSpPr>
        <p:spPr>
          <a:xfrm>
            <a:off x="7219188" y="4953000"/>
            <a:ext cx="3973068" cy="1127760"/>
          </a:xfrm>
          <a:prstGeom prst="rect">
            <a:avLst/>
          </a:prstGeom>
          <a:noFill/>
        </p:spPr>
        <p:txBody>
          <a:bodyPr wrap="square" anchor="ctr">
            <a:spAutoFit/>
          </a:bodyPr>
          <a:lstStyle/>
          <a:p>
            <a:pPr algn="l">
              <a:spcAft>
                <a:spcPts val="300"/>
              </a:spcAft>
            </a:pPr>
            <a:r>
              <a:rPr sz="1500" b="1">
                <a:solidFill>
                  <a:srgbClr val="161B26"/>
                </a:solidFill>
                <a:latin typeface="Arial"/>
              </a:rPr>
              <a:t>artifacts</a:t>
            </a:r>
          </a:p>
          <a:p>
            <a:pPr algn="l">
              <a:spcAft>
                <a:spcPts val="300"/>
              </a:spcAft>
            </a:pPr>
            <a:r>
              <a:rPr sz="1100" b="0">
                <a:solidFill>
                  <a:srgbClr val="5B6372"/>
                </a:solidFill>
                <a:latin typeface="Arial"/>
              </a:rPr>
              <a:t>Declare the versioned output CodePipeline carries forward.</a:t>
            </a:r>
          </a:p>
        </p:txBody>
      </p:sp>
      <p:sp>
        <p:nvSpPr>
          <p:cNvPr id="37" name="TextBox 36"/>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DevOps Engineering on AWS  ·  TGS-2023040474</a:t>
            </a:r>
          </a:p>
        </p:txBody>
      </p:sp>
      <p:sp>
        <p:nvSpPr>
          <p:cNvPr id="38" name="TextBox 37"/>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39" name="TextBox 38"/>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44</a:t>
            </a:r>
          </a:p>
        </p:txBody>
      </p:sp>
    </p:spTree>
  </p:cSld>
  <p:clrMapOvr>
    <a:masterClrMapping/>
  </p:clrMapOvr>
  <p:transition xmlns:p14="http://schemas.microsoft.com/office/powerpoint/2010/main" p14:dur="380">
    <p:fade/>
  </p:transition>
</p:sld>
</file>

<file path=ppt/slides/slide4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38912"/>
            <a:ext cx="10607040" cy="365760"/>
          </a:xfrm>
          <a:prstGeom prst="rect">
            <a:avLst/>
          </a:prstGeom>
          <a:noFill/>
        </p:spPr>
        <p:txBody>
          <a:bodyPr wrap="square" anchor="t">
            <a:spAutoFit/>
          </a:bodyPr>
          <a:lstStyle/>
          <a:p>
            <a:pPr algn="l">
              <a:spcAft>
                <a:spcPts val="400"/>
              </a:spcAft>
            </a:pPr>
            <a:r>
              <a:rPr sz="1400" b="1">
                <a:solidFill>
                  <a:srgbClr val="1F6FEB"/>
                </a:solidFill>
                <a:latin typeface="Arial"/>
              </a:rPr>
              <a:t>IN DEPTH</a:t>
            </a:r>
          </a:p>
        </p:txBody>
      </p:sp>
      <p:sp>
        <p:nvSpPr>
          <p:cNvPr id="5" name="TextBox 4"/>
          <p:cNvSpPr txBox="1"/>
          <p:nvPr/>
        </p:nvSpPr>
        <p:spPr>
          <a:xfrm>
            <a:off x="777240" y="896112"/>
            <a:ext cx="10927080" cy="731520"/>
          </a:xfrm>
          <a:prstGeom prst="rect">
            <a:avLst/>
          </a:prstGeom>
          <a:noFill/>
        </p:spPr>
        <p:txBody>
          <a:bodyPr wrap="square" anchor="t">
            <a:spAutoFit/>
          </a:bodyPr>
          <a:lstStyle/>
          <a:p>
            <a:pPr algn="l">
              <a:spcAft>
                <a:spcPts val="400"/>
              </a:spcAft>
            </a:pPr>
            <a:r>
              <a:rPr sz="2500" b="1">
                <a:solidFill>
                  <a:srgbClr val="161B26"/>
                </a:solidFill>
                <a:latin typeface="Arial"/>
              </a:rPr>
              <a:t>Continuous Integration — mechanics, not just merging</a:t>
            </a:r>
          </a:p>
        </p:txBody>
      </p:sp>
      <p:sp>
        <p:nvSpPr>
          <p:cNvPr id="6" name="Rectangle 5"/>
          <p:cNvSpPr/>
          <p:nvPr/>
        </p:nvSpPr>
        <p:spPr>
          <a:xfrm>
            <a:off x="777240" y="1572768"/>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783080"/>
            <a:ext cx="5212080" cy="425196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1783080"/>
            <a:ext cx="5212080" cy="9144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1005840" y="1938528"/>
            <a:ext cx="4754880" cy="365760"/>
          </a:xfrm>
          <a:prstGeom prst="rect">
            <a:avLst/>
          </a:prstGeom>
          <a:noFill/>
        </p:spPr>
        <p:txBody>
          <a:bodyPr wrap="square" anchor="t">
            <a:spAutoFit/>
          </a:bodyPr>
          <a:lstStyle/>
          <a:p>
            <a:pPr algn="l">
              <a:spcAft>
                <a:spcPts val="400"/>
              </a:spcAft>
            </a:pPr>
            <a:r>
              <a:rPr sz="1200" b="1">
                <a:solidFill>
                  <a:srgbClr val="1F6FEB"/>
                </a:solidFill>
                <a:latin typeface="Arial"/>
              </a:rPr>
              <a:t>IN DEPTH</a:t>
            </a:r>
          </a:p>
        </p:txBody>
      </p:sp>
      <p:sp>
        <p:nvSpPr>
          <p:cNvPr id="10" name="TextBox 9"/>
          <p:cNvSpPr txBox="1"/>
          <p:nvPr/>
        </p:nvSpPr>
        <p:spPr>
          <a:xfrm>
            <a:off x="1005840" y="2377440"/>
            <a:ext cx="4754880" cy="3566160"/>
          </a:xfrm>
          <a:prstGeom prst="rect">
            <a:avLst/>
          </a:prstGeom>
          <a:noFill/>
        </p:spPr>
        <p:txBody>
          <a:bodyPr wrap="square">
            <a:spAutoFit/>
          </a:bodyPr>
          <a:lstStyle/>
          <a:p>
            <a:pPr>
              <a:spcAft>
                <a:spcPts val="800"/>
              </a:spcAft>
            </a:pPr>
            <a:r>
              <a:rPr sz="1350" b="0">
                <a:solidFill>
                  <a:srgbClr val="161B26"/>
                </a:solidFill>
                <a:latin typeface="Arial"/>
              </a:rPr>
              <a:t>•  Every commit to the mainline triggers an automated build and test run, so integration problems surface within minutes of the change that caused them.</a:t>
            </a:r>
          </a:p>
          <a:p>
            <a:pPr>
              <a:spcAft>
                <a:spcPts val="800"/>
              </a:spcAft>
            </a:pPr>
            <a:r>
              <a:rPr sz="1350" b="0">
                <a:solidFill>
                  <a:srgbClr val="161B26"/>
                </a:solidFill>
                <a:latin typeface="Arial"/>
              </a:rPr>
              <a:t>•  CodeBuild runs the build in an ephemeral, reproducible container defined by buildspec.yml — the same steps run for every developer.</a:t>
            </a:r>
          </a:p>
          <a:p>
            <a:pPr>
              <a:spcAft>
                <a:spcPts val="800"/>
              </a:spcAft>
            </a:pPr>
            <a:r>
              <a:rPr sz="1350" b="0">
                <a:solidFill>
                  <a:srgbClr val="161B26"/>
                </a:solidFill>
                <a:latin typeface="Arial"/>
              </a:rPr>
              <a:t>•  A red build blocks the merge; the team's working agreement is that a broken mainline is fixed before any new work continues.</a:t>
            </a:r>
          </a:p>
        </p:txBody>
      </p:sp>
      <p:sp>
        <p:nvSpPr>
          <p:cNvPr id="11" name="Rectangle 10"/>
          <p:cNvSpPr/>
          <p:nvPr/>
        </p:nvSpPr>
        <p:spPr>
          <a:xfrm>
            <a:off x="6172200" y="1783080"/>
            <a:ext cx="5239512" cy="1325880"/>
          </a:xfrm>
          <a:prstGeom prst="rect">
            <a:avLst/>
          </a:prstGeom>
          <a:solidFill>
            <a:srgbClr val="FFFFFF"/>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ectangle 11"/>
          <p:cNvSpPr/>
          <p:nvPr/>
        </p:nvSpPr>
        <p:spPr>
          <a:xfrm>
            <a:off x="6172200" y="1783080"/>
            <a:ext cx="91440" cy="132588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6428232" y="1892808"/>
            <a:ext cx="4782312" cy="320040"/>
          </a:xfrm>
          <a:prstGeom prst="rect">
            <a:avLst/>
          </a:prstGeom>
          <a:noFill/>
        </p:spPr>
        <p:txBody>
          <a:bodyPr wrap="square" anchor="t">
            <a:spAutoFit/>
          </a:bodyPr>
          <a:lstStyle/>
          <a:p>
            <a:pPr algn="l">
              <a:spcAft>
                <a:spcPts val="400"/>
              </a:spcAft>
            </a:pPr>
            <a:r>
              <a:rPr sz="1150" b="1">
                <a:solidFill>
                  <a:srgbClr val="1F6FEB"/>
                </a:solidFill>
                <a:latin typeface="Arial"/>
              </a:rPr>
              <a:t>WHY IT MATTERS</a:t>
            </a:r>
          </a:p>
        </p:txBody>
      </p:sp>
      <p:sp>
        <p:nvSpPr>
          <p:cNvPr id="14" name="TextBox 13"/>
          <p:cNvSpPr txBox="1"/>
          <p:nvPr/>
        </p:nvSpPr>
        <p:spPr>
          <a:xfrm>
            <a:off x="6428232" y="2221992"/>
            <a:ext cx="4782312" cy="822960"/>
          </a:xfrm>
          <a:prstGeom prst="rect">
            <a:avLst/>
          </a:prstGeom>
          <a:noFill/>
        </p:spPr>
        <p:txBody>
          <a:bodyPr wrap="square" anchor="t">
            <a:spAutoFit/>
          </a:bodyPr>
          <a:lstStyle/>
          <a:p>
            <a:pPr algn="l">
              <a:spcAft>
                <a:spcPts val="400"/>
              </a:spcAft>
            </a:pPr>
            <a:r>
              <a:rPr sz="1250" b="0">
                <a:solidFill>
                  <a:srgbClr val="161B26"/>
                </a:solidFill>
                <a:latin typeface="Arial"/>
              </a:rPr>
              <a:t>Small, frequent integrations keep the merge delta tiny, so defects are cheap to locate and revert — the opposite of a painful 'big-bang' integration before release.</a:t>
            </a:r>
          </a:p>
        </p:txBody>
      </p:sp>
      <p:sp>
        <p:nvSpPr>
          <p:cNvPr id="15" name="Rectangle 14"/>
          <p:cNvSpPr/>
          <p:nvPr/>
        </p:nvSpPr>
        <p:spPr>
          <a:xfrm>
            <a:off x="6172200" y="3246120"/>
            <a:ext cx="5239512" cy="1325880"/>
          </a:xfrm>
          <a:prstGeom prst="rect">
            <a:avLst/>
          </a:prstGeom>
          <a:solidFill>
            <a:srgbClr val="FFFFFF"/>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ectangle 15"/>
          <p:cNvSpPr/>
          <p:nvPr/>
        </p:nvSpPr>
        <p:spPr>
          <a:xfrm>
            <a:off x="6172200" y="3246120"/>
            <a:ext cx="91440" cy="1325880"/>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6428232" y="3355848"/>
            <a:ext cx="4782312" cy="320040"/>
          </a:xfrm>
          <a:prstGeom prst="rect">
            <a:avLst/>
          </a:prstGeom>
          <a:noFill/>
        </p:spPr>
        <p:txBody>
          <a:bodyPr wrap="square" anchor="t">
            <a:spAutoFit/>
          </a:bodyPr>
          <a:lstStyle/>
          <a:p>
            <a:pPr algn="l">
              <a:spcAft>
                <a:spcPts val="400"/>
              </a:spcAft>
            </a:pPr>
            <a:r>
              <a:rPr sz="1150" b="1">
                <a:solidFill>
                  <a:srgbClr val="C0392B"/>
                </a:solidFill>
                <a:latin typeface="Arial"/>
              </a:rPr>
              <a:t>FAILURE MODE</a:t>
            </a:r>
          </a:p>
        </p:txBody>
      </p:sp>
      <p:sp>
        <p:nvSpPr>
          <p:cNvPr id="18" name="TextBox 17"/>
          <p:cNvSpPr txBox="1"/>
          <p:nvPr/>
        </p:nvSpPr>
        <p:spPr>
          <a:xfrm>
            <a:off x="6428232" y="3685032"/>
            <a:ext cx="4782312" cy="822960"/>
          </a:xfrm>
          <a:prstGeom prst="rect">
            <a:avLst/>
          </a:prstGeom>
          <a:noFill/>
        </p:spPr>
        <p:txBody>
          <a:bodyPr wrap="square" anchor="t">
            <a:spAutoFit/>
          </a:bodyPr>
          <a:lstStyle/>
          <a:p>
            <a:pPr algn="l">
              <a:spcAft>
                <a:spcPts val="400"/>
              </a:spcAft>
            </a:pPr>
            <a:r>
              <a:rPr sz="1250" b="0">
                <a:solidFill>
                  <a:srgbClr val="161B26"/>
                </a:solidFill>
                <a:latin typeface="Arial"/>
              </a:rPr>
              <a:t>Long-lived feature branches that integrate weekly recreate the very merge-hell CI exists to prevent; the build stays green only because nothing is really being integrated.</a:t>
            </a:r>
          </a:p>
        </p:txBody>
      </p:sp>
      <p:sp>
        <p:nvSpPr>
          <p:cNvPr id="19" name="Rectangle 18"/>
          <p:cNvSpPr/>
          <p:nvPr/>
        </p:nvSpPr>
        <p:spPr>
          <a:xfrm>
            <a:off x="6172200" y="4709160"/>
            <a:ext cx="5239512" cy="1325880"/>
          </a:xfrm>
          <a:prstGeom prst="rect">
            <a:avLst/>
          </a:prstGeom>
          <a:solidFill>
            <a:srgbClr val="FFFFFF"/>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Rectangle 19"/>
          <p:cNvSpPr/>
          <p:nvPr/>
        </p:nvSpPr>
        <p:spPr>
          <a:xfrm>
            <a:off x="6172200" y="4709160"/>
            <a:ext cx="91440" cy="1325880"/>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6428232" y="4818888"/>
            <a:ext cx="4782312" cy="320040"/>
          </a:xfrm>
          <a:prstGeom prst="rect">
            <a:avLst/>
          </a:prstGeom>
          <a:noFill/>
        </p:spPr>
        <p:txBody>
          <a:bodyPr wrap="square" anchor="t">
            <a:spAutoFit/>
          </a:bodyPr>
          <a:lstStyle/>
          <a:p>
            <a:pPr algn="l">
              <a:spcAft>
                <a:spcPts val="400"/>
              </a:spcAft>
            </a:pPr>
            <a:r>
              <a:rPr sz="1150" b="1">
                <a:solidFill>
                  <a:srgbClr val="F59E0B"/>
                </a:solidFill>
                <a:latin typeface="Arial"/>
              </a:rPr>
              <a:t>TRADE-OFF / DECISION</a:t>
            </a:r>
          </a:p>
        </p:txBody>
      </p:sp>
      <p:sp>
        <p:nvSpPr>
          <p:cNvPr id="22" name="TextBox 21"/>
          <p:cNvSpPr txBox="1"/>
          <p:nvPr/>
        </p:nvSpPr>
        <p:spPr>
          <a:xfrm>
            <a:off x="6428232" y="5148072"/>
            <a:ext cx="4782312" cy="822960"/>
          </a:xfrm>
          <a:prstGeom prst="rect">
            <a:avLst/>
          </a:prstGeom>
          <a:noFill/>
        </p:spPr>
        <p:txBody>
          <a:bodyPr wrap="square" anchor="t">
            <a:spAutoFit/>
          </a:bodyPr>
          <a:lstStyle/>
          <a:p>
            <a:pPr algn="l">
              <a:spcAft>
                <a:spcPts val="400"/>
              </a:spcAft>
            </a:pPr>
            <a:r>
              <a:rPr sz="1250" b="0">
                <a:solidFill>
                  <a:srgbClr val="161B26"/>
                </a:solidFill>
                <a:latin typeface="Arial"/>
              </a:rPr>
              <a:t>Faster feedback needs fast builds — split slow suites into parallel CodeBuild batches or later pipeline stages so the commit-stage stays under ~10 minutes.</a:t>
            </a:r>
          </a:p>
        </p:txBody>
      </p:sp>
      <p:sp>
        <p:nvSpPr>
          <p:cNvPr id="23" name="TextBox 22"/>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DevOps Engineering on AWS  ·  TGS-2023040474</a:t>
            </a:r>
          </a:p>
        </p:txBody>
      </p:sp>
      <p:sp>
        <p:nvSpPr>
          <p:cNvPr id="24" name="TextBox 23"/>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25" name="TextBox 24"/>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45</a:t>
            </a:r>
          </a:p>
        </p:txBody>
      </p:sp>
    </p:spTree>
  </p:cSld>
  <p:clrMapOvr>
    <a:masterClrMapping/>
  </p:clrMapOvr>
  <p:transition xmlns:p14="http://schemas.microsoft.com/office/powerpoint/2010/main" p14:dur="380">
    <p:fade/>
  </p:transition>
</p:sld>
</file>

<file path=ppt/slides/slide4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38912"/>
            <a:ext cx="10607040" cy="365760"/>
          </a:xfrm>
          <a:prstGeom prst="rect">
            <a:avLst/>
          </a:prstGeom>
          <a:noFill/>
        </p:spPr>
        <p:txBody>
          <a:bodyPr wrap="square" anchor="t">
            <a:spAutoFit/>
          </a:bodyPr>
          <a:lstStyle/>
          <a:p>
            <a:pPr algn="l">
              <a:spcAft>
                <a:spcPts val="400"/>
              </a:spcAft>
            </a:pPr>
            <a:r>
              <a:rPr sz="1400" b="1">
                <a:solidFill>
                  <a:srgbClr val="1F6FEB"/>
                </a:solidFill>
                <a:latin typeface="Arial"/>
              </a:rPr>
              <a:t>IN DEPTH</a:t>
            </a:r>
          </a:p>
        </p:txBody>
      </p:sp>
      <p:sp>
        <p:nvSpPr>
          <p:cNvPr id="5" name="TextBox 4"/>
          <p:cNvSpPr txBox="1"/>
          <p:nvPr/>
        </p:nvSpPr>
        <p:spPr>
          <a:xfrm>
            <a:off x="777240" y="896112"/>
            <a:ext cx="10927080" cy="731520"/>
          </a:xfrm>
          <a:prstGeom prst="rect">
            <a:avLst/>
          </a:prstGeom>
          <a:noFill/>
        </p:spPr>
        <p:txBody>
          <a:bodyPr wrap="square" anchor="t">
            <a:spAutoFit/>
          </a:bodyPr>
          <a:lstStyle/>
          <a:p>
            <a:pPr algn="l">
              <a:spcAft>
                <a:spcPts val="400"/>
              </a:spcAft>
            </a:pPr>
            <a:r>
              <a:rPr sz="2500" b="1">
                <a:solidFill>
                  <a:srgbClr val="161B26"/>
                </a:solidFill>
                <a:latin typeface="Arial"/>
              </a:rPr>
              <a:t>Continuous Delivery vs Continuous Deployment</a:t>
            </a:r>
          </a:p>
        </p:txBody>
      </p:sp>
      <p:sp>
        <p:nvSpPr>
          <p:cNvPr id="6" name="Rectangle 5"/>
          <p:cNvSpPr/>
          <p:nvPr/>
        </p:nvSpPr>
        <p:spPr>
          <a:xfrm>
            <a:off x="777240" y="1572768"/>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783080"/>
            <a:ext cx="5212080" cy="425196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1783080"/>
            <a:ext cx="5212080" cy="9144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1005840" y="1938528"/>
            <a:ext cx="4754880" cy="365760"/>
          </a:xfrm>
          <a:prstGeom prst="rect">
            <a:avLst/>
          </a:prstGeom>
          <a:noFill/>
        </p:spPr>
        <p:txBody>
          <a:bodyPr wrap="square" anchor="t">
            <a:spAutoFit/>
          </a:bodyPr>
          <a:lstStyle/>
          <a:p>
            <a:pPr algn="l">
              <a:spcAft>
                <a:spcPts val="400"/>
              </a:spcAft>
            </a:pPr>
            <a:r>
              <a:rPr sz="1200" b="1">
                <a:solidFill>
                  <a:srgbClr val="1F6FEB"/>
                </a:solidFill>
                <a:latin typeface="Arial"/>
              </a:rPr>
              <a:t>IN DEPTH</a:t>
            </a:r>
          </a:p>
        </p:txBody>
      </p:sp>
      <p:sp>
        <p:nvSpPr>
          <p:cNvPr id="10" name="TextBox 9"/>
          <p:cNvSpPr txBox="1"/>
          <p:nvPr/>
        </p:nvSpPr>
        <p:spPr>
          <a:xfrm>
            <a:off x="1005840" y="2377440"/>
            <a:ext cx="4754880" cy="3566160"/>
          </a:xfrm>
          <a:prstGeom prst="rect">
            <a:avLst/>
          </a:prstGeom>
          <a:noFill/>
        </p:spPr>
        <p:txBody>
          <a:bodyPr wrap="square">
            <a:spAutoFit/>
          </a:bodyPr>
          <a:lstStyle/>
          <a:p>
            <a:pPr>
              <a:spcAft>
                <a:spcPts val="800"/>
              </a:spcAft>
            </a:pPr>
            <a:r>
              <a:rPr sz="1350" b="0">
                <a:solidFill>
                  <a:srgbClr val="161B26"/>
                </a:solidFill>
                <a:latin typeface="Arial"/>
              </a:rPr>
              <a:t>•  Continuous Delivery keeps every green build in a releasable state; a human approval action gates the final promotion to production.</a:t>
            </a:r>
          </a:p>
          <a:p>
            <a:pPr>
              <a:spcAft>
                <a:spcPts val="800"/>
              </a:spcAft>
            </a:pPr>
            <a:r>
              <a:rPr sz="1350" b="0">
                <a:solidFill>
                  <a:srgbClr val="161B26"/>
                </a:solidFill>
                <a:latin typeface="Arial"/>
              </a:rPr>
              <a:t>•  Continuous Deployment removes that gate — every change that passes the pipeline goes to production automatically.</a:t>
            </a:r>
          </a:p>
          <a:p>
            <a:pPr>
              <a:spcAft>
                <a:spcPts val="800"/>
              </a:spcAft>
            </a:pPr>
            <a:r>
              <a:rPr sz="1350" b="0">
                <a:solidFill>
                  <a:srgbClr val="161B26"/>
                </a:solidFill>
                <a:latin typeface="Arial"/>
              </a:rPr>
              <a:t>•  Both rely on the same pipeline; the only difference is whether a person presses the button.</a:t>
            </a:r>
          </a:p>
        </p:txBody>
      </p:sp>
      <p:sp>
        <p:nvSpPr>
          <p:cNvPr id="11" name="Rectangle 10"/>
          <p:cNvSpPr/>
          <p:nvPr/>
        </p:nvSpPr>
        <p:spPr>
          <a:xfrm>
            <a:off x="6172200" y="1783080"/>
            <a:ext cx="5239512" cy="1325880"/>
          </a:xfrm>
          <a:prstGeom prst="rect">
            <a:avLst/>
          </a:prstGeom>
          <a:solidFill>
            <a:srgbClr val="FFFFFF"/>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ectangle 11"/>
          <p:cNvSpPr/>
          <p:nvPr/>
        </p:nvSpPr>
        <p:spPr>
          <a:xfrm>
            <a:off x="6172200" y="1783080"/>
            <a:ext cx="91440" cy="132588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6428232" y="1892808"/>
            <a:ext cx="4782312" cy="320040"/>
          </a:xfrm>
          <a:prstGeom prst="rect">
            <a:avLst/>
          </a:prstGeom>
          <a:noFill/>
        </p:spPr>
        <p:txBody>
          <a:bodyPr wrap="square" anchor="t">
            <a:spAutoFit/>
          </a:bodyPr>
          <a:lstStyle/>
          <a:p>
            <a:pPr algn="l">
              <a:spcAft>
                <a:spcPts val="400"/>
              </a:spcAft>
            </a:pPr>
            <a:r>
              <a:rPr sz="1150" b="1">
                <a:solidFill>
                  <a:srgbClr val="1F6FEB"/>
                </a:solidFill>
                <a:latin typeface="Arial"/>
              </a:rPr>
              <a:t>WHY IT MATTERS</a:t>
            </a:r>
          </a:p>
        </p:txBody>
      </p:sp>
      <p:sp>
        <p:nvSpPr>
          <p:cNvPr id="14" name="TextBox 13"/>
          <p:cNvSpPr txBox="1"/>
          <p:nvPr/>
        </p:nvSpPr>
        <p:spPr>
          <a:xfrm>
            <a:off x="6428232" y="2221992"/>
            <a:ext cx="4782312" cy="822960"/>
          </a:xfrm>
          <a:prstGeom prst="rect">
            <a:avLst/>
          </a:prstGeom>
          <a:noFill/>
        </p:spPr>
        <p:txBody>
          <a:bodyPr wrap="square" anchor="t">
            <a:spAutoFit/>
          </a:bodyPr>
          <a:lstStyle/>
          <a:p>
            <a:pPr algn="l">
              <a:spcAft>
                <a:spcPts val="400"/>
              </a:spcAft>
            </a:pPr>
            <a:r>
              <a:rPr sz="1250" b="0">
                <a:solidFill>
                  <a:srgbClr val="161B26"/>
                </a:solidFill>
                <a:latin typeface="Arial"/>
              </a:rPr>
              <a:t>Delivery gives regulated or high-blast-radius teams a control point; Deployment gives high-trust teams maximum flow once automated tests and progressive rollout make failures cheap.</a:t>
            </a:r>
          </a:p>
        </p:txBody>
      </p:sp>
      <p:sp>
        <p:nvSpPr>
          <p:cNvPr id="15" name="Rectangle 14"/>
          <p:cNvSpPr/>
          <p:nvPr/>
        </p:nvSpPr>
        <p:spPr>
          <a:xfrm>
            <a:off x="6172200" y="3246120"/>
            <a:ext cx="5239512" cy="1325880"/>
          </a:xfrm>
          <a:prstGeom prst="rect">
            <a:avLst/>
          </a:prstGeom>
          <a:solidFill>
            <a:srgbClr val="FFFFFF"/>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ectangle 15"/>
          <p:cNvSpPr/>
          <p:nvPr/>
        </p:nvSpPr>
        <p:spPr>
          <a:xfrm>
            <a:off x="6172200" y="3246120"/>
            <a:ext cx="91440" cy="1325880"/>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6428232" y="3355848"/>
            <a:ext cx="4782312" cy="320040"/>
          </a:xfrm>
          <a:prstGeom prst="rect">
            <a:avLst/>
          </a:prstGeom>
          <a:noFill/>
        </p:spPr>
        <p:txBody>
          <a:bodyPr wrap="square" anchor="t">
            <a:spAutoFit/>
          </a:bodyPr>
          <a:lstStyle/>
          <a:p>
            <a:pPr algn="l">
              <a:spcAft>
                <a:spcPts val="400"/>
              </a:spcAft>
            </a:pPr>
            <a:r>
              <a:rPr sz="1150" b="1">
                <a:solidFill>
                  <a:srgbClr val="C0392B"/>
                </a:solidFill>
                <a:latin typeface="Arial"/>
              </a:rPr>
              <a:t>FAILURE MODE</a:t>
            </a:r>
          </a:p>
        </p:txBody>
      </p:sp>
      <p:sp>
        <p:nvSpPr>
          <p:cNvPr id="18" name="TextBox 17"/>
          <p:cNvSpPr txBox="1"/>
          <p:nvPr/>
        </p:nvSpPr>
        <p:spPr>
          <a:xfrm>
            <a:off x="6428232" y="3685032"/>
            <a:ext cx="4782312" cy="822960"/>
          </a:xfrm>
          <a:prstGeom prst="rect">
            <a:avLst/>
          </a:prstGeom>
          <a:noFill/>
        </p:spPr>
        <p:txBody>
          <a:bodyPr wrap="square" anchor="t">
            <a:spAutoFit/>
          </a:bodyPr>
          <a:lstStyle/>
          <a:p>
            <a:pPr algn="l">
              <a:spcAft>
                <a:spcPts val="400"/>
              </a:spcAft>
            </a:pPr>
            <a:r>
              <a:rPr sz="1250" b="0">
                <a:solidFill>
                  <a:srgbClr val="161B26"/>
                </a:solidFill>
                <a:latin typeface="Arial"/>
              </a:rPr>
              <a:t>Adopting Continuous Deployment before you have strong automated tests and fast rollback turns the pipeline into an automated way to ship bugs to customers.</a:t>
            </a:r>
          </a:p>
        </p:txBody>
      </p:sp>
      <p:sp>
        <p:nvSpPr>
          <p:cNvPr id="19" name="Rectangle 18"/>
          <p:cNvSpPr/>
          <p:nvPr/>
        </p:nvSpPr>
        <p:spPr>
          <a:xfrm>
            <a:off x="6172200" y="4709160"/>
            <a:ext cx="5239512" cy="1325880"/>
          </a:xfrm>
          <a:prstGeom prst="rect">
            <a:avLst/>
          </a:prstGeom>
          <a:solidFill>
            <a:srgbClr val="FFFFFF"/>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Rectangle 19"/>
          <p:cNvSpPr/>
          <p:nvPr/>
        </p:nvSpPr>
        <p:spPr>
          <a:xfrm>
            <a:off x="6172200" y="4709160"/>
            <a:ext cx="91440" cy="1325880"/>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6428232" y="4818888"/>
            <a:ext cx="4782312" cy="320040"/>
          </a:xfrm>
          <a:prstGeom prst="rect">
            <a:avLst/>
          </a:prstGeom>
          <a:noFill/>
        </p:spPr>
        <p:txBody>
          <a:bodyPr wrap="square" anchor="t">
            <a:spAutoFit/>
          </a:bodyPr>
          <a:lstStyle/>
          <a:p>
            <a:pPr algn="l">
              <a:spcAft>
                <a:spcPts val="400"/>
              </a:spcAft>
            </a:pPr>
            <a:r>
              <a:rPr sz="1150" b="1">
                <a:solidFill>
                  <a:srgbClr val="F59E0B"/>
                </a:solidFill>
                <a:latin typeface="Arial"/>
              </a:rPr>
              <a:t>TRADE-OFF / DECISION</a:t>
            </a:r>
          </a:p>
        </p:txBody>
      </p:sp>
      <p:sp>
        <p:nvSpPr>
          <p:cNvPr id="22" name="TextBox 21"/>
          <p:cNvSpPr txBox="1"/>
          <p:nvPr/>
        </p:nvSpPr>
        <p:spPr>
          <a:xfrm>
            <a:off x="6428232" y="5148072"/>
            <a:ext cx="4782312" cy="822960"/>
          </a:xfrm>
          <a:prstGeom prst="rect">
            <a:avLst/>
          </a:prstGeom>
          <a:noFill/>
        </p:spPr>
        <p:txBody>
          <a:bodyPr wrap="square" anchor="t">
            <a:spAutoFit/>
          </a:bodyPr>
          <a:lstStyle/>
          <a:p>
            <a:pPr algn="l">
              <a:spcAft>
                <a:spcPts val="400"/>
              </a:spcAft>
            </a:pPr>
            <a:r>
              <a:rPr sz="1250" b="0">
                <a:solidFill>
                  <a:srgbClr val="161B26"/>
                </a:solidFill>
                <a:latin typeface="Arial"/>
              </a:rPr>
              <a:t>An approval gate adds safety but also queueing delay and 'rubber-stamp' risk — reserve manual approval for genuinely irreversible or compliance-driven steps.</a:t>
            </a:r>
          </a:p>
        </p:txBody>
      </p:sp>
      <p:sp>
        <p:nvSpPr>
          <p:cNvPr id="23" name="TextBox 22"/>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DevOps Engineering on AWS  ·  TGS-2023040474</a:t>
            </a:r>
          </a:p>
        </p:txBody>
      </p:sp>
      <p:sp>
        <p:nvSpPr>
          <p:cNvPr id="24" name="TextBox 23"/>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25" name="TextBox 24"/>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46</a:t>
            </a:r>
          </a:p>
        </p:txBody>
      </p:sp>
    </p:spTree>
  </p:cSld>
  <p:clrMapOvr>
    <a:masterClrMapping/>
  </p:clrMapOvr>
  <p:transition xmlns:p14="http://schemas.microsoft.com/office/powerpoint/2010/main" p14:dur="380">
    <p:fade/>
  </p:transition>
</p:sld>
</file>

<file path=ppt/slides/slide4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38912"/>
            <a:ext cx="10607040" cy="365760"/>
          </a:xfrm>
          <a:prstGeom prst="rect">
            <a:avLst/>
          </a:prstGeom>
          <a:noFill/>
        </p:spPr>
        <p:txBody>
          <a:bodyPr wrap="square" anchor="t">
            <a:spAutoFit/>
          </a:bodyPr>
          <a:lstStyle/>
          <a:p>
            <a:pPr algn="l">
              <a:spcAft>
                <a:spcPts val="400"/>
              </a:spcAft>
            </a:pPr>
            <a:r>
              <a:rPr sz="1400" b="1">
                <a:solidFill>
                  <a:srgbClr val="1F6FEB"/>
                </a:solidFill>
                <a:latin typeface="Arial"/>
              </a:rPr>
              <a:t>IN DEPTH</a:t>
            </a:r>
          </a:p>
        </p:txBody>
      </p:sp>
      <p:sp>
        <p:nvSpPr>
          <p:cNvPr id="5" name="TextBox 4"/>
          <p:cNvSpPr txBox="1"/>
          <p:nvPr/>
        </p:nvSpPr>
        <p:spPr>
          <a:xfrm>
            <a:off x="777240" y="896112"/>
            <a:ext cx="10927080" cy="731520"/>
          </a:xfrm>
          <a:prstGeom prst="rect">
            <a:avLst/>
          </a:prstGeom>
          <a:noFill/>
        </p:spPr>
        <p:txBody>
          <a:bodyPr wrap="square" anchor="t">
            <a:spAutoFit/>
          </a:bodyPr>
          <a:lstStyle/>
          <a:p>
            <a:pPr algn="l">
              <a:spcAft>
                <a:spcPts val="400"/>
              </a:spcAft>
            </a:pPr>
            <a:r>
              <a:rPr sz="2100" b="1">
                <a:solidFill>
                  <a:srgbClr val="161B26"/>
                </a:solidFill>
                <a:latin typeface="Arial"/>
              </a:rPr>
              <a:t>Source control as the pipeline trigger — GitHub via CodeConnections</a:t>
            </a:r>
          </a:p>
        </p:txBody>
      </p:sp>
      <p:sp>
        <p:nvSpPr>
          <p:cNvPr id="6" name="Rectangle 5"/>
          <p:cNvSpPr/>
          <p:nvPr/>
        </p:nvSpPr>
        <p:spPr>
          <a:xfrm>
            <a:off x="777240" y="1572768"/>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783080"/>
            <a:ext cx="5212080" cy="425196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1783080"/>
            <a:ext cx="5212080" cy="9144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1005840" y="1938528"/>
            <a:ext cx="4754880" cy="365760"/>
          </a:xfrm>
          <a:prstGeom prst="rect">
            <a:avLst/>
          </a:prstGeom>
          <a:noFill/>
        </p:spPr>
        <p:txBody>
          <a:bodyPr wrap="square" anchor="t">
            <a:spAutoFit/>
          </a:bodyPr>
          <a:lstStyle/>
          <a:p>
            <a:pPr algn="l">
              <a:spcAft>
                <a:spcPts val="400"/>
              </a:spcAft>
            </a:pPr>
            <a:r>
              <a:rPr sz="1200" b="1">
                <a:solidFill>
                  <a:srgbClr val="1F6FEB"/>
                </a:solidFill>
                <a:latin typeface="Arial"/>
              </a:rPr>
              <a:t>IN DEPTH</a:t>
            </a:r>
          </a:p>
        </p:txBody>
      </p:sp>
      <p:sp>
        <p:nvSpPr>
          <p:cNvPr id="10" name="TextBox 9"/>
          <p:cNvSpPr txBox="1"/>
          <p:nvPr/>
        </p:nvSpPr>
        <p:spPr>
          <a:xfrm>
            <a:off x="1005840" y="2377440"/>
            <a:ext cx="4754880" cy="3566160"/>
          </a:xfrm>
          <a:prstGeom prst="rect">
            <a:avLst/>
          </a:prstGeom>
          <a:noFill/>
        </p:spPr>
        <p:txBody>
          <a:bodyPr wrap="square">
            <a:spAutoFit/>
          </a:bodyPr>
          <a:lstStyle/>
          <a:p>
            <a:pPr>
              <a:spcAft>
                <a:spcPts val="800"/>
              </a:spcAft>
            </a:pPr>
            <a:r>
              <a:rPr sz="1350" b="0">
                <a:solidFill>
                  <a:srgbClr val="161B26"/>
                </a:solidFill>
                <a:latin typeface="Arial"/>
              </a:rPr>
              <a:t>•  The modern AWS path connects a GitHub (or GitHub Enterprise / Bitbucket / GitLab) repository through AWS CodeConnections, so a push starts the pipeline over a managed, OAuth/app-based connection.</a:t>
            </a:r>
          </a:p>
          <a:p>
            <a:pPr>
              <a:spcAft>
                <a:spcPts val="800"/>
              </a:spcAft>
            </a:pPr>
            <a:r>
              <a:rPr sz="1350" b="0">
                <a:solidFill>
                  <a:srgbClr val="161B26"/>
                </a:solidFill>
                <a:latin typeface="Arial"/>
              </a:rPr>
              <a:t>•  CodeCommit remains an AWS-native Git option, but new work standardises on external Git providers via CodeConnections.</a:t>
            </a:r>
          </a:p>
          <a:p>
            <a:pPr>
              <a:spcAft>
                <a:spcPts val="800"/>
              </a:spcAft>
            </a:pPr>
            <a:r>
              <a:rPr sz="1350" b="0">
                <a:solidFill>
                  <a:srgbClr val="161B26"/>
                </a:solidFill>
                <a:latin typeface="Arial"/>
              </a:rPr>
              <a:t>•  The Source stage stores the commit as an artifact in an encrypted S3 bucket that later stages consume.</a:t>
            </a:r>
          </a:p>
        </p:txBody>
      </p:sp>
      <p:sp>
        <p:nvSpPr>
          <p:cNvPr id="11" name="Rectangle 10"/>
          <p:cNvSpPr/>
          <p:nvPr/>
        </p:nvSpPr>
        <p:spPr>
          <a:xfrm>
            <a:off x="6172200" y="1783080"/>
            <a:ext cx="5239512" cy="1325880"/>
          </a:xfrm>
          <a:prstGeom prst="rect">
            <a:avLst/>
          </a:prstGeom>
          <a:solidFill>
            <a:srgbClr val="FFFFFF"/>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ectangle 11"/>
          <p:cNvSpPr/>
          <p:nvPr/>
        </p:nvSpPr>
        <p:spPr>
          <a:xfrm>
            <a:off x="6172200" y="1783080"/>
            <a:ext cx="91440" cy="132588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6428232" y="1892808"/>
            <a:ext cx="4782312" cy="320040"/>
          </a:xfrm>
          <a:prstGeom prst="rect">
            <a:avLst/>
          </a:prstGeom>
          <a:noFill/>
        </p:spPr>
        <p:txBody>
          <a:bodyPr wrap="square" anchor="t">
            <a:spAutoFit/>
          </a:bodyPr>
          <a:lstStyle/>
          <a:p>
            <a:pPr algn="l">
              <a:spcAft>
                <a:spcPts val="400"/>
              </a:spcAft>
            </a:pPr>
            <a:r>
              <a:rPr sz="1150" b="1">
                <a:solidFill>
                  <a:srgbClr val="1F6FEB"/>
                </a:solidFill>
                <a:latin typeface="Arial"/>
              </a:rPr>
              <a:t>WHY IT MATTERS</a:t>
            </a:r>
          </a:p>
        </p:txBody>
      </p:sp>
      <p:sp>
        <p:nvSpPr>
          <p:cNvPr id="14" name="TextBox 13"/>
          <p:cNvSpPr txBox="1"/>
          <p:nvPr/>
        </p:nvSpPr>
        <p:spPr>
          <a:xfrm>
            <a:off x="6428232" y="2221992"/>
            <a:ext cx="4782312" cy="822960"/>
          </a:xfrm>
          <a:prstGeom prst="rect">
            <a:avLst/>
          </a:prstGeom>
          <a:noFill/>
        </p:spPr>
        <p:txBody>
          <a:bodyPr wrap="square" anchor="t">
            <a:spAutoFit/>
          </a:bodyPr>
          <a:lstStyle/>
          <a:p>
            <a:pPr algn="l">
              <a:spcAft>
                <a:spcPts val="400"/>
              </a:spcAft>
            </a:pPr>
            <a:r>
              <a:rPr sz="1250" b="0">
                <a:solidFill>
                  <a:srgbClr val="161B26"/>
                </a:solidFill>
                <a:latin typeface="Arial"/>
              </a:rPr>
              <a:t>CodeConnections removes long-lived Git credentials from the pipeline and lets teams keep their existing GitHub workflow, reviews and branch protection.</a:t>
            </a:r>
          </a:p>
        </p:txBody>
      </p:sp>
      <p:sp>
        <p:nvSpPr>
          <p:cNvPr id="15" name="Rectangle 14"/>
          <p:cNvSpPr/>
          <p:nvPr/>
        </p:nvSpPr>
        <p:spPr>
          <a:xfrm>
            <a:off x="6172200" y="3246120"/>
            <a:ext cx="5239512" cy="1325880"/>
          </a:xfrm>
          <a:prstGeom prst="rect">
            <a:avLst/>
          </a:prstGeom>
          <a:solidFill>
            <a:srgbClr val="FFFFFF"/>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ectangle 15"/>
          <p:cNvSpPr/>
          <p:nvPr/>
        </p:nvSpPr>
        <p:spPr>
          <a:xfrm>
            <a:off x="6172200" y="3246120"/>
            <a:ext cx="91440" cy="1325880"/>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6428232" y="3355848"/>
            <a:ext cx="4782312" cy="320040"/>
          </a:xfrm>
          <a:prstGeom prst="rect">
            <a:avLst/>
          </a:prstGeom>
          <a:noFill/>
        </p:spPr>
        <p:txBody>
          <a:bodyPr wrap="square" anchor="t">
            <a:spAutoFit/>
          </a:bodyPr>
          <a:lstStyle/>
          <a:p>
            <a:pPr algn="l">
              <a:spcAft>
                <a:spcPts val="400"/>
              </a:spcAft>
            </a:pPr>
            <a:r>
              <a:rPr sz="1150" b="1">
                <a:solidFill>
                  <a:srgbClr val="C0392B"/>
                </a:solidFill>
                <a:latin typeface="Arial"/>
              </a:rPr>
              <a:t>FAILURE MODE</a:t>
            </a:r>
          </a:p>
        </p:txBody>
      </p:sp>
      <p:sp>
        <p:nvSpPr>
          <p:cNvPr id="18" name="TextBox 17"/>
          <p:cNvSpPr txBox="1"/>
          <p:nvPr/>
        </p:nvSpPr>
        <p:spPr>
          <a:xfrm>
            <a:off x="6428232" y="3685032"/>
            <a:ext cx="4782312" cy="822960"/>
          </a:xfrm>
          <a:prstGeom prst="rect">
            <a:avLst/>
          </a:prstGeom>
          <a:noFill/>
        </p:spPr>
        <p:txBody>
          <a:bodyPr wrap="square" anchor="t">
            <a:spAutoFit/>
          </a:bodyPr>
          <a:lstStyle/>
          <a:p>
            <a:pPr algn="l">
              <a:spcAft>
                <a:spcPts val="400"/>
              </a:spcAft>
            </a:pPr>
            <a:r>
              <a:rPr sz="1250" b="0">
                <a:solidFill>
                  <a:srgbClr val="161B26"/>
                </a:solidFill>
                <a:latin typeface="Arial"/>
              </a:rPr>
              <a:t>Polling a repository instead of using the connection's webhook adds minutes of latency and can miss rapid successive commits.</a:t>
            </a:r>
          </a:p>
        </p:txBody>
      </p:sp>
      <p:sp>
        <p:nvSpPr>
          <p:cNvPr id="19" name="Rectangle 18"/>
          <p:cNvSpPr/>
          <p:nvPr/>
        </p:nvSpPr>
        <p:spPr>
          <a:xfrm>
            <a:off x="6172200" y="4709160"/>
            <a:ext cx="5239512" cy="1325880"/>
          </a:xfrm>
          <a:prstGeom prst="rect">
            <a:avLst/>
          </a:prstGeom>
          <a:solidFill>
            <a:srgbClr val="FFFFFF"/>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Rectangle 19"/>
          <p:cNvSpPr/>
          <p:nvPr/>
        </p:nvSpPr>
        <p:spPr>
          <a:xfrm>
            <a:off x="6172200" y="4709160"/>
            <a:ext cx="91440" cy="1325880"/>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6428232" y="4818888"/>
            <a:ext cx="4782312" cy="320040"/>
          </a:xfrm>
          <a:prstGeom prst="rect">
            <a:avLst/>
          </a:prstGeom>
          <a:noFill/>
        </p:spPr>
        <p:txBody>
          <a:bodyPr wrap="square" anchor="t">
            <a:spAutoFit/>
          </a:bodyPr>
          <a:lstStyle/>
          <a:p>
            <a:pPr algn="l">
              <a:spcAft>
                <a:spcPts val="400"/>
              </a:spcAft>
            </a:pPr>
            <a:r>
              <a:rPr sz="1150" b="1">
                <a:solidFill>
                  <a:srgbClr val="F59E0B"/>
                </a:solidFill>
                <a:latin typeface="Arial"/>
              </a:rPr>
              <a:t>TRADE-OFF / DECISION</a:t>
            </a:r>
          </a:p>
        </p:txBody>
      </p:sp>
      <p:sp>
        <p:nvSpPr>
          <p:cNvPr id="22" name="TextBox 21"/>
          <p:cNvSpPr txBox="1"/>
          <p:nvPr/>
        </p:nvSpPr>
        <p:spPr>
          <a:xfrm>
            <a:off x="6428232" y="5148072"/>
            <a:ext cx="4782312" cy="822960"/>
          </a:xfrm>
          <a:prstGeom prst="rect">
            <a:avLst/>
          </a:prstGeom>
          <a:noFill/>
        </p:spPr>
        <p:txBody>
          <a:bodyPr wrap="square" anchor="t">
            <a:spAutoFit/>
          </a:bodyPr>
          <a:lstStyle/>
          <a:p>
            <a:pPr algn="l">
              <a:spcAft>
                <a:spcPts val="400"/>
              </a:spcAft>
            </a:pPr>
            <a:r>
              <a:rPr sz="1250" b="0">
                <a:solidFill>
                  <a:srgbClr val="161B26"/>
                </a:solidFill>
                <a:latin typeface="Arial"/>
              </a:rPr>
              <a:t>Managed connections centralise trust in one integration — scope its permissions and monitor CodeConnections access as part of your security posture.</a:t>
            </a:r>
          </a:p>
        </p:txBody>
      </p:sp>
      <p:sp>
        <p:nvSpPr>
          <p:cNvPr id="23" name="TextBox 22"/>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DevOps Engineering on AWS  ·  TGS-2023040474</a:t>
            </a:r>
          </a:p>
        </p:txBody>
      </p:sp>
      <p:sp>
        <p:nvSpPr>
          <p:cNvPr id="24" name="TextBox 23"/>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25" name="TextBox 24"/>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47</a:t>
            </a:r>
          </a:p>
        </p:txBody>
      </p:sp>
    </p:spTree>
  </p:cSld>
  <p:clrMapOvr>
    <a:masterClrMapping/>
  </p:clrMapOvr>
  <p:transition xmlns:p14="http://schemas.microsoft.com/office/powerpoint/2010/main" p14:dur="380">
    <p:fade/>
  </p:transition>
</p:sld>
</file>

<file path=ppt/slides/slide4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38912"/>
            <a:ext cx="10607040" cy="365760"/>
          </a:xfrm>
          <a:prstGeom prst="rect">
            <a:avLst/>
          </a:prstGeom>
          <a:noFill/>
        </p:spPr>
        <p:txBody>
          <a:bodyPr wrap="square" anchor="t">
            <a:spAutoFit/>
          </a:bodyPr>
          <a:lstStyle/>
          <a:p>
            <a:pPr algn="l">
              <a:spcAft>
                <a:spcPts val="400"/>
              </a:spcAft>
            </a:pPr>
            <a:r>
              <a:rPr sz="1400" b="1">
                <a:solidFill>
                  <a:srgbClr val="1F6FEB"/>
                </a:solidFill>
                <a:latin typeface="Arial"/>
              </a:rPr>
              <a:t>IN DEPTH</a:t>
            </a:r>
          </a:p>
        </p:txBody>
      </p:sp>
      <p:sp>
        <p:nvSpPr>
          <p:cNvPr id="5" name="TextBox 4"/>
          <p:cNvSpPr txBox="1"/>
          <p:nvPr/>
        </p:nvSpPr>
        <p:spPr>
          <a:xfrm>
            <a:off x="777240" y="896112"/>
            <a:ext cx="10927080" cy="731520"/>
          </a:xfrm>
          <a:prstGeom prst="rect">
            <a:avLst/>
          </a:prstGeom>
          <a:noFill/>
        </p:spPr>
        <p:txBody>
          <a:bodyPr wrap="square" anchor="t">
            <a:spAutoFit/>
          </a:bodyPr>
          <a:lstStyle/>
          <a:p>
            <a:pPr algn="l">
              <a:spcAft>
                <a:spcPts val="400"/>
              </a:spcAft>
            </a:pPr>
            <a:r>
              <a:rPr sz="2500" b="1">
                <a:solidFill>
                  <a:srgbClr val="161B26"/>
                </a:solidFill>
                <a:latin typeface="Arial"/>
              </a:rPr>
              <a:t>buildspec.yml — teaching CodeBuild your build</a:t>
            </a:r>
          </a:p>
        </p:txBody>
      </p:sp>
      <p:sp>
        <p:nvSpPr>
          <p:cNvPr id="6" name="Rectangle 5"/>
          <p:cNvSpPr/>
          <p:nvPr/>
        </p:nvSpPr>
        <p:spPr>
          <a:xfrm>
            <a:off x="777240" y="1572768"/>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783080"/>
            <a:ext cx="5212080" cy="425196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1783080"/>
            <a:ext cx="5212080" cy="9144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1005840" y="1938528"/>
            <a:ext cx="4754880" cy="365760"/>
          </a:xfrm>
          <a:prstGeom prst="rect">
            <a:avLst/>
          </a:prstGeom>
          <a:noFill/>
        </p:spPr>
        <p:txBody>
          <a:bodyPr wrap="square" anchor="t">
            <a:spAutoFit/>
          </a:bodyPr>
          <a:lstStyle/>
          <a:p>
            <a:pPr algn="l">
              <a:spcAft>
                <a:spcPts val="400"/>
              </a:spcAft>
            </a:pPr>
            <a:r>
              <a:rPr sz="1200" b="1">
                <a:solidFill>
                  <a:srgbClr val="1F6FEB"/>
                </a:solidFill>
                <a:latin typeface="Arial"/>
              </a:rPr>
              <a:t>IN DEPTH</a:t>
            </a:r>
          </a:p>
        </p:txBody>
      </p:sp>
      <p:sp>
        <p:nvSpPr>
          <p:cNvPr id="10" name="TextBox 9"/>
          <p:cNvSpPr txBox="1"/>
          <p:nvPr/>
        </p:nvSpPr>
        <p:spPr>
          <a:xfrm>
            <a:off x="1005840" y="2377440"/>
            <a:ext cx="4754880" cy="3566160"/>
          </a:xfrm>
          <a:prstGeom prst="rect">
            <a:avLst/>
          </a:prstGeom>
          <a:noFill/>
        </p:spPr>
        <p:txBody>
          <a:bodyPr wrap="square">
            <a:spAutoFit/>
          </a:bodyPr>
          <a:lstStyle/>
          <a:p>
            <a:pPr>
              <a:spcAft>
                <a:spcPts val="800"/>
              </a:spcAft>
            </a:pPr>
            <a:r>
              <a:rPr sz="1350" b="0">
                <a:solidFill>
                  <a:srgbClr val="161B26"/>
                </a:solidFill>
                <a:latin typeface="Arial"/>
              </a:rPr>
              <a:t>•  buildspec.yml declares phases (install, pre_build, build, post_build), the runtime versions, environment variables and the artifacts to export.</a:t>
            </a:r>
          </a:p>
          <a:p>
            <a:pPr>
              <a:spcAft>
                <a:spcPts val="800"/>
              </a:spcAft>
            </a:pPr>
            <a:r>
              <a:rPr sz="1350" b="0">
                <a:solidFill>
                  <a:srgbClr val="161B26"/>
                </a:solidFill>
                <a:latin typeface="Arial"/>
              </a:rPr>
              <a:t>•  Secrets are pulled at build time from Secrets Manager or SSM Parameter Store, never hard-coded in the file.</a:t>
            </a:r>
          </a:p>
          <a:p>
            <a:pPr>
              <a:spcAft>
                <a:spcPts val="800"/>
              </a:spcAft>
            </a:pPr>
            <a:r>
              <a:rPr sz="1350" b="0">
                <a:solidFill>
                  <a:srgbClr val="161B26"/>
                </a:solidFill>
                <a:latin typeface="Arial"/>
              </a:rPr>
              <a:t>•  The build produces a single versioned artifact that every downstream stage reuses — build once, deploy many times.</a:t>
            </a:r>
          </a:p>
        </p:txBody>
      </p:sp>
      <p:sp>
        <p:nvSpPr>
          <p:cNvPr id="11" name="Rectangle 10"/>
          <p:cNvSpPr/>
          <p:nvPr/>
        </p:nvSpPr>
        <p:spPr>
          <a:xfrm>
            <a:off x="6172200" y="1783080"/>
            <a:ext cx="5239512" cy="1325880"/>
          </a:xfrm>
          <a:prstGeom prst="rect">
            <a:avLst/>
          </a:prstGeom>
          <a:solidFill>
            <a:srgbClr val="FFFFFF"/>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ectangle 11"/>
          <p:cNvSpPr/>
          <p:nvPr/>
        </p:nvSpPr>
        <p:spPr>
          <a:xfrm>
            <a:off x="6172200" y="1783080"/>
            <a:ext cx="91440" cy="132588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6428232" y="1892808"/>
            <a:ext cx="4782312" cy="320040"/>
          </a:xfrm>
          <a:prstGeom prst="rect">
            <a:avLst/>
          </a:prstGeom>
          <a:noFill/>
        </p:spPr>
        <p:txBody>
          <a:bodyPr wrap="square" anchor="t">
            <a:spAutoFit/>
          </a:bodyPr>
          <a:lstStyle/>
          <a:p>
            <a:pPr algn="l">
              <a:spcAft>
                <a:spcPts val="400"/>
              </a:spcAft>
            </a:pPr>
            <a:r>
              <a:rPr sz="1150" b="1">
                <a:solidFill>
                  <a:srgbClr val="1F6FEB"/>
                </a:solidFill>
                <a:latin typeface="Arial"/>
              </a:rPr>
              <a:t>WHY IT MATTERS</a:t>
            </a:r>
          </a:p>
        </p:txBody>
      </p:sp>
      <p:sp>
        <p:nvSpPr>
          <p:cNvPr id="14" name="TextBox 13"/>
          <p:cNvSpPr txBox="1"/>
          <p:nvPr/>
        </p:nvSpPr>
        <p:spPr>
          <a:xfrm>
            <a:off x="6428232" y="2221992"/>
            <a:ext cx="4782312" cy="822960"/>
          </a:xfrm>
          <a:prstGeom prst="rect">
            <a:avLst/>
          </a:prstGeom>
          <a:noFill/>
        </p:spPr>
        <p:txBody>
          <a:bodyPr wrap="square" anchor="t">
            <a:spAutoFit/>
          </a:bodyPr>
          <a:lstStyle/>
          <a:p>
            <a:pPr algn="l">
              <a:spcAft>
                <a:spcPts val="400"/>
              </a:spcAft>
            </a:pPr>
            <a:r>
              <a:rPr sz="1250" b="0">
                <a:solidFill>
                  <a:srgbClr val="161B26"/>
                </a:solidFill>
                <a:latin typeface="Arial"/>
              </a:rPr>
              <a:t>A declarative build spec makes the build reproducible and reviewable in code review, and identical across every developer and the pipeline.</a:t>
            </a:r>
          </a:p>
        </p:txBody>
      </p:sp>
      <p:sp>
        <p:nvSpPr>
          <p:cNvPr id="15" name="Rectangle 14"/>
          <p:cNvSpPr/>
          <p:nvPr/>
        </p:nvSpPr>
        <p:spPr>
          <a:xfrm>
            <a:off x="6172200" y="3246120"/>
            <a:ext cx="5239512" cy="1325880"/>
          </a:xfrm>
          <a:prstGeom prst="rect">
            <a:avLst/>
          </a:prstGeom>
          <a:solidFill>
            <a:srgbClr val="FFFFFF"/>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ectangle 15"/>
          <p:cNvSpPr/>
          <p:nvPr/>
        </p:nvSpPr>
        <p:spPr>
          <a:xfrm>
            <a:off x="6172200" y="3246120"/>
            <a:ext cx="91440" cy="1325880"/>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6428232" y="3355848"/>
            <a:ext cx="4782312" cy="320040"/>
          </a:xfrm>
          <a:prstGeom prst="rect">
            <a:avLst/>
          </a:prstGeom>
          <a:noFill/>
        </p:spPr>
        <p:txBody>
          <a:bodyPr wrap="square" anchor="t">
            <a:spAutoFit/>
          </a:bodyPr>
          <a:lstStyle/>
          <a:p>
            <a:pPr algn="l">
              <a:spcAft>
                <a:spcPts val="400"/>
              </a:spcAft>
            </a:pPr>
            <a:r>
              <a:rPr sz="1150" b="1">
                <a:solidFill>
                  <a:srgbClr val="C0392B"/>
                </a:solidFill>
                <a:latin typeface="Arial"/>
              </a:rPr>
              <a:t>FAILURE MODE</a:t>
            </a:r>
          </a:p>
        </p:txBody>
      </p:sp>
      <p:sp>
        <p:nvSpPr>
          <p:cNvPr id="18" name="TextBox 17"/>
          <p:cNvSpPr txBox="1"/>
          <p:nvPr/>
        </p:nvSpPr>
        <p:spPr>
          <a:xfrm>
            <a:off x="6428232" y="3685032"/>
            <a:ext cx="4782312" cy="822960"/>
          </a:xfrm>
          <a:prstGeom prst="rect">
            <a:avLst/>
          </a:prstGeom>
          <a:noFill/>
        </p:spPr>
        <p:txBody>
          <a:bodyPr wrap="square" anchor="t">
            <a:spAutoFit/>
          </a:bodyPr>
          <a:lstStyle/>
          <a:p>
            <a:pPr algn="l">
              <a:spcAft>
                <a:spcPts val="400"/>
              </a:spcAft>
            </a:pPr>
            <a:r>
              <a:rPr sz="1250" b="0">
                <a:solidFill>
                  <a:srgbClr val="161B26"/>
                </a:solidFill>
                <a:latin typeface="Arial"/>
              </a:rPr>
              <a:t>Baking credentials or environment-specific values into buildspec.yml couples the artifact to one environment and leaks secrets into logs.</a:t>
            </a:r>
          </a:p>
        </p:txBody>
      </p:sp>
      <p:sp>
        <p:nvSpPr>
          <p:cNvPr id="19" name="Rectangle 18"/>
          <p:cNvSpPr/>
          <p:nvPr/>
        </p:nvSpPr>
        <p:spPr>
          <a:xfrm>
            <a:off x="6172200" y="4709160"/>
            <a:ext cx="5239512" cy="1325880"/>
          </a:xfrm>
          <a:prstGeom prst="rect">
            <a:avLst/>
          </a:prstGeom>
          <a:solidFill>
            <a:srgbClr val="FFFFFF"/>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Rectangle 19"/>
          <p:cNvSpPr/>
          <p:nvPr/>
        </p:nvSpPr>
        <p:spPr>
          <a:xfrm>
            <a:off x="6172200" y="4709160"/>
            <a:ext cx="91440" cy="1325880"/>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6428232" y="4818888"/>
            <a:ext cx="4782312" cy="320040"/>
          </a:xfrm>
          <a:prstGeom prst="rect">
            <a:avLst/>
          </a:prstGeom>
          <a:noFill/>
        </p:spPr>
        <p:txBody>
          <a:bodyPr wrap="square" anchor="t">
            <a:spAutoFit/>
          </a:bodyPr>
          <a:lstStyle/>
          <a:p>
            <a:pPr algn="l">
              <a:spcAft>
                <a:spcPts val="400"/>
              </a:spcAft>
            </a:pPr>
            <a:r>
              <a:rPr sz="1150" b="1">
                <a:solidFill>
                  <a:srgbClr val="F59E0B"/>
                </a:solidFill>
                <a:latin typeface="Arial"/>
              </a:rPr>
              <a:t>TRADE-OFF / DECISION</a:t>
            </a:r>
          </a:p>
        </p:txBody>
      </p:sp>
      <p:sp>
        <p:nvSpPr>
          <p:cNvPr id="22" name="TextBox 21"/>
          <p:cNvSpPr txBox="1"/>
          <p:nvPr/>
        </p:nvSpPr>
        <p:spPr>
          <a:xfrm>
            <a:off x="6428232" y="5148072"/>
            <a:ext cx="4782312" cy="822960"/>
          </a:xfrm>
          <a:prstGeom prst="rect">
            <a:avLst/>
          </a:prstGeom>
          <a:noFill/>
        </p:spPr>
        <p:txBody>
          <a:bodyPr wrap="square" anchor="t">
            <a:spAutoFit/>
          </a:bodyPr>
          <a:lstStyle/>
          <a:p>
            <a:pPr algn="l">
              <a:spcAft>
                <a:spcPts val="400"/>
              </a:spcAft>
            </a:pPr>
            <a:r>
              <a:rPr sz="1250" b="0">
                <a:solidFill>
                  <a:srgbClr val="161B26"/>
                </a:solidFill>
                <a:latin typeface="Arial"/>
              </a:rPr>
              <a:t>Rich caching (dependencies, layers) speeds builds but can hide dependency drift — pin versions and periodically build clean.</a:t>
            </a:r>
          </a:p>
        </p:txBody>
      </p:sp>
      <p:sp>
        <p:nvSpPr>
          <p:cNvPr id="23" name="TextBox 22"/>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DevOps Engineering on AWS  ·  TGS-2023040474</a:t>
            </a:r>
          </a:p>
        </p:txBody>
      </p:sp>
      <p:sp>
        <p:nvSpPr>
          <p:cNvPr id="24" name="TextBox 23"/>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25" name="TextBox 24"/>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48</a:t>
            </a:r>
          </a:p>
        </p:txBody>
      </p:sp>
    </p:spTree>
  </p:cSld>
  <p:clrMapOvr>
    <a:masterClrMapping/>
  </p:clrMapOvr>
  <p:transition xmlns:p14="http://schemas.microsoft.com/office/powerpoint/2010/main" p14:dur="380">
    <p:fade/>
  </p:transition>
</p:sld>
</file>

<file path=ppt/slides/slide5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38912"/>
            <a:ext cx="10607040" cy="365760"/>
          </a:xfrm>
          <a:prstGeom prst="rect">
            <a:avLst/>
          </a:prstGeom>
          <a:noFill/>
        </p:spPr>
        <p:txBody>
          <a:bodyPr wrap="square" anchor="t">
            <a:spAutoFit/>
          </a:bodyPr>
          <a:lstStyle/>
          <a:p>
            <a:pPr algn="l">
              <a:spcAft>
                <a:spcPts val="400"/>
              </a:spcAft>
            </a:pPr>
            <a:r>
              <a:rPr sz="1400" b="1">
                <a:solidFill>
                  <a:srgbClr val="1F6FEB"/>
                </a:solidFill>
                <a:latin typeface="Arial"/>
              </a:rPr>
              <a:t>IN DEPTH</a:t>
            </a:r>
          </a:p>
        </p:txBody>
      </p:sp>
      <p:sp>
        <p:nvSpPr>
          <p:cNvPr id="5" name="TextBox 4"/>
          <p:cNvSpPr txBox="1"/>
          <p:nvPr/>
        </p:nvSpPr>
        <p:spPr>
          <a:xfrm>
            <a:off x="777240" y="804672"/>
            <a:ext cx="10927080" cy="731520"/>
          </a:xfrm>
          <a:prstGeom prst="rect">
            <a:avLst/>
          </a:prstGeom>
          <a:noFill/>
        </p:spPr>
        <p:txBody>
          <a:bodyPr wrap="square" anchor="t">
            <a:spAutoFit/>
          </a:bodyPr>
          <a:lstStyle/>
          <a:p>
            <a:pPr algn="l">
              <a:spcAft>
                <a:spcPts val="400"/>
              </a:spcAft>
            </a:pPr>
            <a:r>
              <a:rPr sz="2900" b="1">
                <a:solidFill>
                  <a:srgbClr val="161B26"/>
                </a:solidFill>
                <a:latin typeface="Arial"/>
              </a:rPr>
              <a:t>appspec + deployment lifecycle hooks</a:t>
            </a:r>
          </a:p>
        </p:txBody>
      </p:sp>
      <p:sp>
        <p:nvSpPr>
          <p:cNvPr id="6" name="Rectangle 5"/>
          <p:cNvSpPr/>
          <p:nvPr/>
        </p:nvSpPr>
        <p:spPr>
          <a:xfrm>
            <a:off x="777240" y="1572768"/>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783080"/>
            <a:ext cx="5212080" cy="425196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1783080"/>
            <a:ext cx="5212080" cy="9144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1005840" y="1938528"/>
            <a:ext cx="4754880" cy="365760"/>
          </a:xfrm>
          <a:prstGeom prst="rect">
            <a:avLst/>
          </a:prstGeom>
          <a:noFill/>
        </p:spPr>
        <p:txBody>
          <a:bodyPr wrap="square" anchor="t">
            <a:spAutoFit/>
          </a:bodyPr>
          <a:lstStyle/>
          <a:p>
            <a:pPr algn="l">
              <a:spcAft>
                <a:spcPts val="400"/>
              </a:spcAft>
            </a:pPr>
            <a:r>
              <a:rPr sz="1200" b="1">
                <a:solidFill>
                  <a:srgbClr val="1F6FEB"/>
                </a:solidFill>
                <a:latin typeface="Arial"/>
              </a:rPr>
              <a:t>IN DEPTH</a:t>
            </a:r>
          </a:p>
        </p:txBody>
      </p:sp>
      <p:sp>
        <p:nvSpPr>
          <p:cNvPr id="10" name="TextBox 9"/>
          <p:cNvSpPr txBox="1"/>
          <p:nvPr/>
        </p:nvSpPr>
        <p:spPr>
          <a:xfrm>
            <a:off x="1005840" y="2377440"/>
            <a:ext cx="4754880" cy="3566160"/>
          </a:xfrm>
          <a:prstGeom prst="rect">
            <a:avLst/>
          </a:prstGeom>
          <a:noFill/>
        </p:spPr>
        <p:txBody>
          <a:bodyPr wrap="square">
            <a:spAutoFit/>
          </a:bodyPr>
          <a:lstStyle/>
          <a:p>
            <a:pPr>
              <a:spcAft>
                <a:spcPts val="800"/>
              </a:spcAft>
            </a:pPr>
            <a:r>
              <a:rPr sz="1350" b="0">
                <a:solidFill>
                  <a:srgbClr val="161B26"/>
                </a:solidFill>
                <a:latin typeface="Arial"/>
              </a:rPr>
              <a:t>•  appspec.yml tells CodeDeploy what to copy and which lifecycle-hook scripts to run (BeforeInstall, AfterInstall, ApplicationStart, ValidateService).</a:t>
            </a:r>
          </a:p>
          <a:p>
            <a:pPr>
              <a:spcAft>
                <a:spcPts val="800"/>
              </a:spcAft>
            </a:pPr>
            <a:r>
              <a:rPr sz="1350" b="0">
                <a:solidFill>
                  <a:srgbClr val="161B26"/>
                </a:solidFill>
                <a:latin typeface="Arial"/>
              </a:rPr>
              <a:t>•  The ValidateService hook is where a health check decides whether the new version is actually serving traffic.</a:t>
            </a:r>
          </a:p>
          <a:p>
            <a:pPr>
              <a:spcAft>
                <a:spcPts val="800"/>
              </a:spcAft>
            </a:pPr>
            <a:r>
              <a:rPr sz="1350" b="0">
                <a:solidFill>
                  <a:srgbClr val="161B26"/>
                </a:solidFill>
                <a:latin typeface="Arial"/>
              </a:rPr>
              <a:t>•  For blue/green, CodeDeploy shifts traffic between target groups instead of updating files in place.</a:t>
            </a:r>
          </a:p>
        </p:txBody>
      </p:sp>
      <p:sp>
        <p:nvSpPr>
          <p:cNvPr id="11" name="Rectangle 10"/>
          <p:cNvSpPr/>
          <p:nvPr/>
        </p:nvSpPr>
        <p:spPr>
          <a:xfrm>
            <a:off x="6172200" y="1783080"/>
            <a:ext cx="5239512" cy="1325880"/>
          </a:xfrm>
          <a:prstGeom prst="rect">
            <a:avLst/>
          </a:prstGeom>
          <a:solidFill>
            <a:srgbClr val="FFFFFF"/>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ectangle 11"/>
          <p:cNvSpPr/>
          <p:nvPr/>
        </p:nvSpPr>
        <p:spPr>
          <a:xfrm>
            <a:off x="6172200" y="1783080"/>
            <a:ext cx="91440" cy="132588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6428232" y="1892808"/>
            <a:ext cx="4782312" cy="320040"/>
          </a:xfrm>
          <a:prstGeom prst="rect">
            <a:avLst/>
          </a:prstGeom>
          <a:noFill/>
        </p:spPr>
        <p:txBody>
          <a:bodyPr wrap="square" anchor="t">
            <a:spAutoFit/>
          </a:bodyPr>
          <a:lstStyle/>
          <a:p>
            <a:pPr algn="l">
              <a:spcAft>
                <a:spcPts val="400"/>
              </a:spcAft>
            </a:pPr>
            <a:r>
              <a:rPr sz="1150" b="1">
                <a:solidFill>
                  <a:srgbClr val="1F6FEB"/>
                </a:solidFill>
                <a:latin typeface="Arial"/>
              </a:rPr>
              <a:t>WHY IT MATTERS</a:t>
            </a:r>
          </a:p>
        </p:txBody>
      </p:sp>
      <p:sp>
        <p:nvSpPr>
          <p:cNvPr id="14" name="TextBox 13"/>
          <p:cNvSpPr txBox="1"/>
          <p:nvPr/>
        </p:nvSpPr>
        <p:spPr>
          <a:xfrm>
            <a:off x="6428232" y="2221992"/>
            <a:ext cx="4782312" cy="822960"/>
          </a:xfrm>
          <a:prstGeom prst="rect">
            <a:avLst/>
          </a:prstGeom>
          <a:noFill/>
        </p:spPr>
        <p:txBody>
          <a:bodyPr wrap="square" anchor="t">
            <a:spAutoFit/>
          </a:bodyPr>
          <a:lstStyle/>
          <a:p>
            <a:pPr algn="l">
              <a:spcAft>
                <a:spcPts val="400"/>
              </a:spcAft>
            </a:pPr>
            <a:r>
              <a:rPr sz="1250" b="0">
                <a:solidFill>
                  <a:srgbClr val="161B26"/>
                </a:solidFill>
                <a:latin typeface="Arial"/>
              </a:rPr>
              <a:t>Lifecycle hooks turn 'copy files' into a safe, verifiable release with an explicit go/no-go check before the deployment is declared successful.</a:t>
            </a:r>
          </a:p>
        </p:txBody>
      </p:sp>
      <p:sp>
        <p:nvSpPr>
          <p:cNvPr id="15" name="Rectangle 14"/>
          <p:cNvSpPr/>
          <p:nvPr/>
        </p:nvSpPr>
        <p:spPr>
          <a:xfrm>
            <a:off x="6172200" y="3246120"/>
            <a:ext cx="5239512" cy="1325880"/>
          </a:xfrm>
          <a:prstGeom prst="rect">
            <a:avLst/>
          </a:prstGeom>
          <a:solidFill>
            <a:srgbClr val="FFFFFF"/>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ectangle 15"/>
          <p:cNvSpPr/>
          <p:nvPr/>
        </p:nvSpPr>
        <p:spPr>
          <a:xfrm>
            <a:off x="6172200" y="3246120"/>
            <a:ext cx="91440" cy="1325880"/>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6428232" y="3355848"/>
            <a:ext cx="4782312" cy="320040"/>
          </a:xfrm>
          <a:prstGeom prst="rect">
            <a:avLst/>
          </a:prstGeom>
          <a:noFill/>
        </p:spPr>
        <p:txBody>
          <a:bodyPr wrap="square" anchor="t">
            <a:spAutoFit/>
          </a:bodyPr>
          <a:lstStyle/>
          <a:p>
            <a:pPr algn="l">
              <a:spcAft>
                <a:spcPts val="400"/>
              </a:spcAft>
            </a:pPr>
            <a:r>
              <a:rPr sz="1150" b="1">
                <a:solidFill>
                  <a:srgbClr val="C0392B"/>
                </a:solidFill>
                <a:latin typeface="Arial"/>
              </a:rPr>
              <a:t>FAILURE MODE</a:t>
            </a:r>
          </a:p>
        </p:txBody>
      </p:sp>
      <p:sp>
        <p:nvSpPr>
          <p:cNvPr id="18" name="TextBox 17"/>
          <p:cNvSpPr txBox="1"/>
          <p:nvPr/>
        </p:nvSpPr>
        <p:spPr>
          <a:xfrm>
            <a:off x="6428232" y="3685032"/>
            <a:ext cx="4782312" cy="822960"/>
          </a:xfrm>
          <a:prstGeom prst="rect">
            <a:avLst/>
          </a:prstGeom>
          <a:noFill/>
        </p:spPr>
        <p:txBody>
          <a:bodyPr wrap="square" anchor="t">
            <a:spAutoFit/>
          </a:bodyPr>
          <a:lstStyle/>
          <a:p>
            <a:pPr algn="l">
              <a:spcAft>
                <a:spcPts val="400"/>
              </a:spcAft>
            </a:pPr>
            <a:r>
              <a:rPr sz="1250" b="0">
                <a:solidFill>
                  <a:srgbClr val="161B26"/>
                </a:solidFill>
                <a:latin typeface="Arial"/>
              </a:rPr>
              <a:t>A ValidateService hook that always exits 0 defeats automated rollback — a broken release is reported as healthy.</a:t>
            </a:r>
          </a:p>
        </p:txBody>
      </p:sp>
      <p:sp>
        <p:nvSpPr>
          <p:cNvPr id="19" name="Rectangle 18"/>
          <p:cNvSpPr/>
          <p:nvPr/>
        </p:nvSpPr>
        <p:spPr>
          <a:xfrm>
            <a:off x="6172200" y="4709160"/>
            <a:ext cx="5239512" cy="1325880"/>
          </a:xfrm>
          <a:prstGeom prst="rect">
            <a:avLst/>
          </a:prstGeom>
          <a:solidFill>
            <a:srgbClr val="FFFFFF"/>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Rectangle 19"/>
          <p:cNvSpPr/>
          <p:nvPr/>
        </p:nvSpPr>
        <p:spPr>
          <a:xfrm>
            <a:off x="6172200" y="4709160"/>
            <a:ext cx="91440" cy="1325880"/>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6428232" y="4818888"/>
            <a:ext cx="4782312" cy="320040"/>
          </a:xfrm>
          <a:prstGeom prst="rect">
            <a:avLst/>
          </a:prstGeom>
          <a:noFill/>
        </p:spPr>
        <p:txBody>
          <a:bodyPr wrap="square" anchor="t">
            <a:spAutoFit/>
          </a:bodyPr>
          <a:lstStyle/>
          <a:p>
            <a:pPr algn="l">
              <a:spcAft>
                <a:spcPts val="400"/>
              </a:spcAft>
            </a:pPr>
            <a:r>
              <a:rPr sz="1150" b="1">
                <a:solidFill>
                  <a:srgbClr val="F59E0B"/>
                </a:solidFill>
                <a:latin typeface="Arial"/>
              </a:rPr>
              <a:t>TRADE-OFF / DECISION</a:t>
            </a:r>
          </a:p>
        </p:txBody>
      </p:sp>
      <p:sp>
        <p:nvSpPr>
          <p:cNvPr id="22" name="TextBox 21"/>
          <p:cNvSpPr txBox="1"/>
          <p:nvPr/>
        </p:nvSpPr>
        <p:spPr>
          <a:xfrm>
            <a:off x="6428232" y="5148072"/>
            <a:ext cx="4782312" cy="822960"/>
          </a:xfrm>
          <a:prstGeom prst="rect">
            <a:avLst/>
          </a:prstGeom>
          <a:noFill/>
        </p:spPr>
        <p:txBody>
          <a:bodyPr wrap="square" anchor="t">
            <a:spAutoFit/>
          </a:bodyPr>
          <a:lstStyle/>
          <a:p>
            <a:pPr algn="l">
              <a:spcAft>
                <a:spcPts val="400"/>
              </a:spcAft>
            </a:pPr>
            <a:r>
              <a:rPr sz="1250" b="0">
                <a:solidFill>
                  <a:srgbClr val="161B26"/>
                </a:solidFill>
                <a:latin typeface="Arial"/>
              </a:rPr>
              <a:t>Longer validation windows catch more problems but slow each deployment and hold the fleet in a mixed-version state.</a:t>
            </a:r>
          </a:p>
        </p:txBody>
      </p:sp>
      <p:sp>
        <p:nvSpPr>
          <p:cNvPr id="23" name="TextBox 22"/>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DevOps Engineering on AWS  ·  TGS-2023040474</a:t>
            </a:r>
          </a:p>
        </p:txBody>
      </p:sp>
      <p:sp>
        <p:nvSpPr>
          <p:cNvPr id="24" name="TextBox 23"/>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25" name="TextBox 24"/>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49</a:t>
            </a:r>
          </a:p>
        </p:txBody>
      </p:sp>
    </p:spTree>
  </p:cSld>
  <p:clrMapOvr>
    <a:masterClrMapping/>
  </p:clrMapOvr>
  <p:transition xmlns:p14="http://schemas.microsoft.com/office/powerpoint/2010/main" p14:dur="380">
    <p:fade/>
  </p:transition>
</p:sld>
</file>

<file path=ppt/slides/slide5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38912"/>
            <a:ext cx="10607040" cy="365760"/>
          </a:xfrm>
          <a:prstGeom prst="rect">
            <a:avLst/>
          </a:prstGeom>
          <a:noFill/>
        </p:spPr>
        <p:txBody>
          <a:bodyPr wrap="square" anchor="t">
            <a:spAutoFit/>
          </a:bodyPr>
          <a:lstStyle/>
          <a:p>
            <a:pPr algn="l">
              <a:spcAft>
                <a:spcPts val="400"/>
              </a:spcAft>
            </a:pPr>
            <a:r>
              <a:rPr sz="1400" b="1">
                <a:solidFill>
                  <a:srgbClr val="1F6FEB"/>
                </a:solidFill>
                <a:latin typeface="Arial"/>
              </a:rPr>
              <a:t>IN DEPTH</a:t>
            </a:r>
          </a:p>
        </p:txBody>
      </p:sp>
      <p:sp>
        <p:nvSpPr>
          <p:cNvPr id="5" name="TextBox 4"/>
          <p:cNvSpPr txBox="1"/>
          <p:nvPr/>
        </p:nvSpPr>
        <p:spPr>
          <a:xfrm>
            <a:off x="777240" y="804672"/>
            <a:ext cx="10927080" cy="731520"/>
          </a:xfrm>
          <a:prstGeom prst="rect">
            <a:avLst/>
          </a:prstGeom>
          <a:noFill/>
        </p:spPr>
        <p:txBody>
          <a:bodyPr wrap="square" anchor="t">
            <a:spAutoFit/>
          </a:bodyPr>
          <a:lstStyle/>
          <a:p>
            <a:pPr algn="l">
              <a:spcAft>
                <a:spcPts val="400"/>
              </a:spcAft>
            </a:pPr>
            <a:r>
              <a:rPr sz="2900" b="1">
                <a:solidFill>
                  <a:srgbClr val="161B26"/>
                </a:solidFill>
                <a:latin typeface="Arial"/>
              </a:rPr>
              <a:t>Artifacts, versioning and traceability</a:t>
            </a:r>
          </a:p>
        </p:txBody>
      </p:sp>
      <p:sp>
        <p:nvSpPr>
          <p:cNvPr id="6" name="Rectangle 5"/>
          <p:cNvSpPr/>
          <p:nvPr/>
        </p:nvSpPr>
        <p:spPr>
          <a:xfrm>
            <a:off x="777240" y="1572768"/>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783080"/>
            <a:ext cx="5212080" cy="425196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1783080"/>
            <a:ext cx="5212080" cy="9144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1005840" y="1938528"/>
            <a:ext cx="4754880" cy="365760"/>
          </a:xfrm>
          <a:prstGeom prst="rect">
            <a:avLst/>
          </a:prstGeom>
          <a:noFill/>
        </p:spPr>
        <p:txBody>
          <a:bodyPr wrap="square" anchor="t">
            <a:spAutoFit/>
          </a:bodyPr>
          <a:lstStyle/>
          <a:p>
            <a:pPr algn="l">
              <a:spcAft>
                <a:spcPts val="400"/>
              </a:spcAft>
            </a:pPr>
            <a:r>
              <a:rPr sz="1200" b="1">
                <a:solidFill>
                  <a:srgbClr val="1F6FEB"/>
                </a:solidFill>
                <a:latin typeface="Arial"/>
              </a:rPr>
              <a:t>IN DEPTH</a:t>
            </a:r>
          </a:p>
        </p:txBody>
      </p:sp>
      <p:sp>
        <p:nvSpPr>
          <p:cNvPr id="10" name="TextBox 9"/>
          <p:cNvSpPr txBox="1"/>
          <p:nvPr/>
        </p:nvSpPr>
        <p:spPr>
          <a:xfrm>
            <a:off x="1005840" y="2377440"/>
            <a:ext cx="4754880" cy="3566160"/>
          </a:xfrm>
          <a:prstGeom prst="rect">
            <a:avLst/>
          </a:prstGeom>
          <a:noFill/>
        </p:spPr>
        <p:txBody>
          <a:bodyPr wrap="square">
            <a:spAutoFit/>
          </a:bodyPr>
          <a:lstStyle/>
          <a:p>
            <a:pPr>
              <a:spcAft>
                <a:spcPts val="800"/>
              </a:spcAft>
            </a:pPr>
            <a:r>
              <a:rPr sz="1350" b="0">
                <a:solidFill>
                  <a:srgbClr val="161B26"/>
                </a:solidFill>
                <a:latin typeface="Arial"/>
              </a:rPr>
              <a:t>•  Build outputs are versioned in S3 and packages in CodeArtifact, each tied to the source commit that produced it.</a:t>
            </a:r>
          </a:p>
          <a:p>
            <a:pPr>
              <a:spcAft>
                <a:spcPts val="800"/>
              </a:spcAft>
            </a:pPr>
            <a:r>
              <a:rPr sz="1350" b="0">
                <a:solidFill>
                  <a:srgbClr val="161B26"/>
                </a:solidFill>
                <a:latin typeface="Arial"/>
              </a:rPr>
              <a:t>•  Any production release can be traced back to an exact commit, build log and test result.</a:t>
            </a:r>
          </a:p>
          <a:p>
            <a:pPr>
              <a:spcAft>
                <a:spcPts val="800"/>
              </a:spcAft>
            </a:pPr>
            <a:r>
              <a:rPr sz="1350" b="0">
                <a:solidFill>
                  <a:srgbClr val="161B26"/>
                </a:solidFill>
                <a:latin typeface="Arial"/>
              </a:rPr>
              <a:t>•  Rollback becomes 'redeploy the previous known-good artifact', not 'rebuild and hope'.</a:t>
            </a:r>
          </a:p>
        </p:txBody>
      </p:sp>
      <p:sp>
        <p:nvSpPr>
          <p:cNvPr id="11" name="Rectangle 10"/>
          <p:cNvSpPr/>
          <p:nvPr/>
        </p:nvSpPr>
        <p:spPr>
          <a:xfrm>
            <a:off x="6172200" y="1783080"/>
            <a:ext cx="5239512" cy="1325880"/>
          </a:xfrm>
          <a:prstGeom prst="rect">
            <a:avLst/>
          </a:prstGeom>
          <a:solidFill>
            <a:srgbClr val="FFFFFF"/>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ectangle 11"/>
          <p:cNvSpPr/>
          <p:nvPr/>
        </p:nvSpPr>
        <p:spPr>
          <a:xfrm>
            <a:off x="6172200" y="1783080"/>
            <a:ext cx="91440" cy="132588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6428232" y="1892808"/>
            <a:ext cx="4782312" cy="320040"/>
          </a:xfrm>
          <a:prstGeom prst="rect">
            <a:avLst/>
          </a:prstGeom>
          <a:noFill/>
        </p:spPr>
        <p:txBody>
          <a:bodyPr wrap="square" anchor="t">
            <a:spAutoFit/>
          </a:bodyPr>
          <a:lstStyle/>
          <a:p>
            <a:pPr algn="l">
              <a:spcAft>
                <a:spcPts val="400"/>
              </a:spcAft>
            </a:pPr>
            <a:r>
              <a:rPr sz="1150" b="1">
                <a:solidFill>
                  <a:srgbClr val="1F6FEB"/>
                </a:solidFill>
                <a:latin typeface="Arial"/>
              </a:rPr>
              <a:t>WHY IT MATTERS</a:t>
            </a:r>
          </a:p>
        </p:txBody>
      </p:sp>
      <p:sp>
        <p:nvSpPr>
          <p:cNvPr id="14" name="TextBox 13"/>
          <p:cNvSpPr txBox="1"/>
          <p:nvPr/>
        </p:nvSpPr>
        <p:spPr>
          <a:xfrm>
            <a:off x="6428232" y="2221992"/>
            <a:ext cx="4782312" cy="822960"/>
          </a:xfrm>
          <a:prstGeom prst="rect">
            <a:avLst/>
          </a:prstGeom>
          <a:noFill/>
        </p:spPr>
        <p:txBody>
          <a:bodyPr wrap="square" anchor="t">
            <a:spAutoFit/>
          </a:bodyPr>
          <a:lstStyle/>
          <a:p>
            <a:pPr algn="l">
              <a:spcAft>
                <a:spcPts val="400"/>
              </a:spcAft>
            </a:pPr>
            <a:r>
              <a:rPr sz="1250" b="0">
                <a:solidFill>
                  <a:srgbClr val="161B26"/>
                </a:solidFill>
                <a:latin typeface="Arial"/>
              </a:rPr>
              <a:t>Immutable, versioned artifacts make releases reproducible and auditable — essential for incident forensics and compliance evidence.</a:t>
            </a:r>
          </a:p>
        </p:txBody>
      </p:sp>
      <p:sp>
        <p:nvSpPr>
          <p:cNvPr id="15" name="Rectangle 14"/>
          <p:cNvSpPr/>
          <p:nvPr/>
        </p:nvSpPr>
        <p:spPr>
          <a:xfrm>
            <a:off x="6172200" y="3246120"/>
            <a:ext cx="5239512" cy="1325880"/>
          </a:xfrm>
          <a:prstGeom prst="rect">
            <a:avLst/>
          </a:prstGeom>
          <a:solidFill>
            <a:srgbClr val="FFFFFF"/>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ectangle 15"/>
          <p:cNvSpPr/>
          <p:nvPr/>
        </p:nvSpPr>
        <p:spPr>
          <a:xfrm>
            <a:off x="6172200" y="3246120"/>
            <a:ext cx="91440" cy="1325880"/>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6428232" y="3355848"/>
            <a:ext cx="4782312" cy="320040"/>
          </a:xfrm>
          <a:prstGeom prst="rect">
            <a:avLst/>
          </a:prstGeom>
          <a:noFill/>
        </p:spPr>
        <p:txBody>
          <a:bodyPr wrap="square" anchor="t">
            <a:spAutoFit/>
          </a:bodyPr>
          <a:lstStyle/>
          <a:p>
            <a:pPr algn="l">
              <a:spcAft>
                <a:spcPts val="400"/>
              </a:spcAft>
            </a:pPr>
            <a:r>
              <a:rPr sz="1150" b="1">
                <a:solidFill>
                  <a:srgbClr val="C0392B"/>
                </a:solidFill>
                <a:latin typeface="Arial"/>
              </a:rPr>
              <a:t>FAILURE MODE</a:t>
            </a:r>
          </a:p>
        </p:txBody>
      </p:sp>
      <p:sp>
        <p:nvSpPr>
          <p:cNvPr id="18" name="TextBox 17"/>
          <p:cNvSpPr txBox="1"/>
          <p:nvPr/>
        </p:nvSpPr>
        <p:spPr>
          <a:xfrm>
            <a:off x="6428232" y="3685032"/>
            <a:ext cx="4782312" cy="822960"/>
          </a:xfrm>
          <a:prstGeom prst="rect">
            <a:avLst/>
          </a:prstGeom>
          <a:noFill/>
        </p:spPr>
        <p:txBody>
          <a:bodyPr wrap="square" anchor="t">
            <a:spAutoFit/>
          </a:bodyPr>
          <a:lstStyle/>
          <a:p>
            <a:pPr algn="l">
              <a:spcAft>
                <a:spcPts val="400"/>
              </a:spcAft>
            </a:pPr>
            <a:r>
              <a:rPr sz="1250" b="0">
                <a:solidFill>
                  <a:srgbClr val="161B26"/>
                </a:solidFill>
                <a:latin typeface="Arial"/>
              </a:rPr>
              <a:t>Rebuilding from source on rollback can pull newer dependencies and reintroduce or mask the very fault you are rolling back from.</a:t>
            </a:r>
          </a:p>
        </p:txBody>
      </p:sp>
      <p:sp>
        <p:nvSpPr>
          <p:cNvPr id="19" name="Rectangle 18"/>
          <p:cNvSpPr/>
          <p:nvPr/>
        </p:nvSpPr>
        <p:spPr>
          <a:xfrm>
            <a:off x="6172200" y="4709160"/>
            <a:ext cx="5239512" cy="1325880"/>
          </a:xfrm>
          <a:prstGeom prst="rect">
            <a:avLst/>
          </a:prstGeom>
          <a:solidFill>
            <a:srgbClr val="FFFFFF"/>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Rectangle 19"/>
          <p:cNvSpPr/>
          <p:nvPr/>
        </p:nvSpPr>
        <p:spPr>
          <a:xfrm>
            <a:off x="6172200" y="4709160"/>
            <a:ext cx="91440" cy="1325880"/>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6428232" y="4818888"/>
            <a:ext cx="4782312" cy="320040"/>
          </a:xfrm>
          <a:prstGeom prst="rect">
            <a:avLst/>
          </a:prstGeom>
          <a:noFill/>
        </p:spPr>
        <p:txBody>
          <a:bodyPr wrap="square" anchor="t">
            <a:spAutoFit/>
          </a:bodyPr>
          <a:lstStyle/>
          <a:p>
            <a:pPr algn="l">
              <a:spcAft>
                <a:spcPts val="400"/>
              </a:spcAft>
            </a:pPr>
            <a:r>
              <a:rPr sz="1150" b="1">
                <a:solidFill>
                  <a:srgbClr val="F59E0B"/>
                </a:solidFill>
                <a:latin typeface="Arial"/>
              </a:rPr>
              <a:t>TRADE-OFF / DECISION</a:t>
            </a:r>
          </a:p>
        </p:txBody>
      </p:sp>
      <p:sp>
        <p:nvSpPr>
          <p:cNvPr id="22" name="TextBox 21"/>
          <p:cNvSpPr txBox="1"/>
          <p:nvPr/>
        </p:nvSpPr>
        <p:spPr>
          <a:xfrm>
            <a:off x="6428232" y="5148072"/>
            <a:ext cx="4782312" cy="822960"/>
          </a:xfrm>
          <a:prstGeom prst="rect">
            <a:avLst/>
          </a:prstGeom>
          <a:noFill/>
        </p:spPr>
        <p:txBody>
          <a:bodyPr wrap="square" anchor="t">
            <a:spAutoFit/>
          </a:bodyPr>
          <a:lstStyle/>
          <a:p>
            <a:pPr algn="l">
              <a:spcAft>
                <a:spcPts val="400"/>
              </a:spcAft>
            </a:pPr>
            <a:r>
              <a:rPr sz="1250" b="0">
                <a:solidFill>
                  <a:srgbClr val="161B26"/>
                </a:solidFill>
                <a:latin typeface="Arial"/>
              </a:rPr>
              <a:t>Retaining every artifact aids traceability but grows storage cost — apply S3 lifecycle rules to age out old, unreferenced builds.</a:t>
            </a:r>
          </a:p>
        </p:txBody>
      </p:sp>
      <p:sp>
        <p:nvSpPr>
          <p:cNvPr id="23" name="TextBox 22"/>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DevOps Engineering on AWS  ·  TGS-2023040474</a:t>
            </a:r>
          </a:p>
        </p:txBody>
      </p:sp>
      <p:sp>
        <p:nvSpPr>
          <p:cNvPr id="24" name="TextBox 23"/>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25" name="TextBox 24"/>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50</a:t>
            </a:r>
          </a:p>
        </p:txBody>
      </p:sp>
    </p:spTree>
  </p:cSld>
  <p:clrMapOvr>
    <a:masterClrMapping/>
  </p:clrMapOvr>
  <p:transition xmlns:p14="http://schemas.microsoft.com/office/powerpoint/2010/main" p14:dur="380">
    <p:fade/>
  </p:transition>
</p:sld>
</file>

<file path=ppt/slides/slide5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38912"/>
            <a:ext cx="10607040" cy="365760"/>
          </a:xfrm>
          <a:prstGeom prst="rect">
            <a:avLst/>
          </a:prstGeom>
          <a:noFill/>
        </p:spPr>
        <p:txBody>
          <a:bodyPr wrap="square" anchor="t">
            <a:spAutoFit/>
          </a:bodyPr>
          <a:lstStyle/>
          <a:p>
            <a:pPr algn="l">
              <a:spcAft>
                <a:spcPts val="400"/>
              </a:spcAft>
            </a:pPr>
            <a:r>
              <a:rPr sz="1400" b="1">
                <a:solidFill>
                  <a:srgbClr val="1F6FEB"/>
                </a:solidFill>
                <a:latin typeface="Arial"/>
              </a:rPr>
              <a:t>IN DEPTH</a:t>
            </a:r>
          </a:p>
        </p:txBody>
      </p:sp>
      <p:sp>
        <p:nvSpPr>
          <p:cNvPr id="5" name="TextBox 4"/>
          <p:cNvSpPr txBox="1"/>
          <p:nvPr/>
        </p:nvSpPr>
        <p:spPr>
          <a:xfrm>
            <a:off x="777240" y="896112"/>
            <a:ext cx="10927080" cy="731520"/>
          </a:xfrm>
          <a:prstGeom prst="rect">
            <a:avLst/>
          </a:prstGeom>
          <a:noFill/>
        </p:spPr>
        <p:txBody>
          <a:bodyPr wrap="square" anchor="t">
            <a:spAutoFit/>
          </a:bodyPr>
          <a:lstStyle/>
          <a:p>
            <a:pPr algn="l">
              <a:spcAft>
                <a:spcPts val="400"/>
              </a:spcAft>
            </a:pPr>
            <a:r>
              <a:rPr sz="2500" b="1">
                <a:solidFill>
                  <a:srgbClr val="161B26"/>
                </a:solidFill>
                <a:latin typeface="Arial"/>
              </a:rPr>
              <a:t>Automated testing and quality gates in the pipeline</a:t>
            </a:r>
          </a:p>
        </p:txBody>
      </p:sp>
      <p:sp>
        <p:nvSpPr>
          <p:cNvPr id="6" name="Rectangle 5"/>
          <p:cNvSpPr/>
          <p:nvPr/>
        </p:nvSpPr>
        <p:spPr>
          <a:xfrm>
            <a:off x="777240" y="1572768"/>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783080"/>
            <a:ext cx="5212080" cy="425196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1783080"/>
            <a:ext cx="5212080" cy="9144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1005840" y="1938528"/>
            <a:ext cx="4754880" cy="365760"/>
          </a:xfrm>
          <a:prstGeom prst="rect">
            <a:avLst/>
          </a:prstGeom>
          <a:noFill/>
        </p:spPr>
        <p:txBody>
          <a:bodyPr wrap="square" anchor="t">
            <a:spAutoFit/>
          </a:bodyPr>
          <a:lstStyle/>
          <a:p>
            <a:pPr algn="l">
              <a:spcAft>
                <a:spcPts val="400"/>
              </a:spcAft>
            </a:pPr>
            <a:r>
              <a:rPr sz="1200" b="1">
                <a:solidFill>
                  <a:srgbClr val="1F6FEB"/>
                </a:solidFill>
                <a:latin typeface="Arial"/>
              </a:rPr>
              <a:t>IN DEPTH</a:t>
            </a:r>
          </a:p>
        </p:txBody>
      </p:sp>
      <p:sp>
        <p:nvSpPr>
          <p:cNvPr id="10" name="TextBox 9"/>
          <p:cNvSpPr txBox="1"/>
          <p:nvPr/>
        </p:nvSpPr>
        <p:spPr>
          <a:xfrm>
            <a:off x="1005840" y="2377440"/>
            <a:ext cx="4754880" cy="3566160"/>
          </a:xfrm>
          <a:prstGeom prst="rect">
            <a:avLst/>
          </a:prstGeom>
          <a:noFill/>
        </p:spPr>
        <p:txBody>
          <a:bodyPr wrap="square">
            <a:spAutoFit/>
          </a:bodyPr>
          <a:lstStyle/>
          <a:p>
            <a:pPr>
              <a:spcAft>
                <a:spcPts val="800"/>
              </a:spcAft>
            </a:pPr>
            <a:r>
              <a:rPr sz="1350" b="0">
                <a:solidFill>
                  <a:srgbClr val="161B26"/>
                </a:solidFill>
                <a:latin typeface="Arial"/>
              </a:rPr>
              <a:t>•  Unit tests run in the commit stage; integration, security (SAST/SCA) and performance checks run in later stages before promotion.</a:t>
            </a:r>
          </a:p>
          <a:p>
            <a:pPr>
              <a:spcAft>
                <a:spcPts val="800"/>
              </a:spcAft>
            </a:pPr>
            <a:r>
              <a:rPr sz="1350" b="0">
                <a:solidFill>
                  <a:srgbClr val="161B26"/>
                </a:solidFill>
                <a:latin typeface="Arial"/>
              </a:rPr>
              <a:t>•  Quality gates — coverage thresholds, CodeGuru findings, linters — can fail the build automatically.</a:t>
            </a:r>
          </a:p>
          <a:p>
            <a:pPr>
              <a:spcAft>
                <a:spcPts val="800"/>
              </a:spcAft>
            </a:pPr>
            <a:r>
              <a:rPr sz="1350" b="0">
                <a:solidFill>
                  <a:srgbClr val="161B26"/>
                </a:solidFill>
                <a:latin typeface="Arial"/>
              </a:rPr>
              <a:t>•  Test data and environments are provisioned as code so tests are repeatable.</a:t>
            </a:r>
          </a:p>
        </p:txBody>
      </p:sp>
      <p:sp>
        <p:nvSpPr>
          <p:cNvPr id="11" name="Rectangle 10"/>
          <p:cNvSpPr/>
          <p:nvPr/>
        </p:nvSpPr>
        <p:spPr>
          <a:xfrm>
            <a:off x="6172200" y="1783080"/>
            <a:ext cx="5239512" cy="1325880"/>
          </a:xfrm>
          <a:prstGeom prst="rect">
            <a:avLst/>
          </a:prstGeom>
          <a:solidFill>
            <a:srgbClr val="FFFFFF"/>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ectangle 11"/>
          <p:cNvSpPr/>
          <p:nvPr/>
        </p:nvSpPr>
        <p:spPr>
          <a:xfrm>
            <a:off x="6172200" y="1783080"/>
            <a:ext cx="91440" cy="132588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6428232" y="1892808"/>
            <a:ext cx="4782312" cy="320040"/>
          </a:xfrm>
          <a:prstGeom prst="rect">
            <a:avLst/>
          </a:prstGeom>
          <a:noFill/>
        </p:spPr>
        <p:txBody>
          <a:bodyPr wrap="square" anchor="t">
            <a:spAutoFit/>
          </a:bodyPr>
          <a:lstStyle/>
          <a:p>
            <a:pPr algn="l">
              <a:spcAft>
                <a:spcPts val="400"/>
              </a:spcAft>
            </a:pPr>
            <a:r>
              <a:rPr sz="1150" b="1">
                <a:solidFill>
                  <a:srgbClr val="1F6FEB"/>
                </a:solidFill>
                <a:latin typeface="Arial"/>
              </a:rPr>
              <a:t>WHY IT MATTERS</a:t>
            </a:r>
          </a:p>
        </p:txBody>
      </p:sp>
      <p:sp>
        <p:nvSpPr>
          <p:cNvPr id="14" name="TextBox 13"/>
          <p:cNvSpPr txBox="1"/>
          <p:nvPr/>
        </p:nvSpPr>
        <p:spPr>
          <a:xfrm>
            <a:off x="6428232" y="2221992"/>
            <a:ext cx="4782312" cy="822960"/>
          </a:xfrm>
          <a:prstGeom prst="rect">
            <a:avLst/>
          </a:prstGeom>
          <a:noFill/>
        </p:spPr>
        <p:txBody>
          <a:bodyPr wrap="square" anchor="t">
            <a:spAutoFit/>
          </a:bodyPr>
          <a:lstStyle/>
          <a:p>
            <a:pPr algn="l">
              <a:spcAft>
                <a:spcPts val="400"/>
              </a:spcAft>
            </a:pPr>
            <a:r>
              <a:rPr sz="1250" b="0">
                <a:solidFill>
                  <a:srgbClr val="161B26"/>
                </a:solidFill>
                <a:latin typeface="Arial"/>
              </a:rPr>
              <a:t>Shifting testing left catches defects when they are cheapest to fix and keeps the mainline releasable at all times.</a:t>
            </a:r>
          </a:p>
        </p:txBody>
      </p:sp>
      <p:sp>
        <p:nvSpPr>
          <p:cNvPr id="15" name="Rectangle 14"/>
          <p:cNvSpPr/>
          <p:nvPr/>
        </p:nvSpPr>
        <p:spPr>
          <a:xfrm>
            <a:off x="6172200" y="3246120"/>
            <a:ext cx="5239512" cy="1325880"/>
          </a:xfrm>
          <a:prstGeom prst="rect">
            <a:avLst/>
          </a:prstGeom>
          <a:solidFill>
            <a:srgbClr val="FFFFFF"/>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ectangle 15"/>
          <p:cNvSpPr/>
          <p:nvPr/>
        </p:nvSpPr>
        <p:spPr>
          <a:xfrm>
            <a:off x="6172200" y="3246120"/>
            <a:ext cx="91440" cy="1325880"/>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6428232" y="3355848"/>
            <a:ext cx="4782312" cy="320040"/>
          </a:xfrm>
          <a:prstGeom prst="rect">
            <a:avLst/>
          </a:prstGeom>
          <a:noFill/>
        </p:spPr>
        <p:txBody>
          <a:bodyPr wrap="square" anchor="t">
            <a:spAutoFit/>
          </a:bodyPr>
          <a:lstStyle/>
          <a:p>
            <a:pPr algn="l">
              <a:spcAft>
                <a:spcPts val="400"/>
              </a:spcAft>
            </a:pPr>
            <a:r>
              <a:rPr sz="1150" b="1">
                <a:solidFill>
                  <a:srgbClr val="C0392B"/>
                </a:solidFill>
                <a:latin typeface="Arial"/>
              </a:rPr>
              <a:t>FAILURE MODE</a:t>
            </a:r>
          </a:p>
        </p:txBody>
      </p:sp>
      <p:sp>
        <p:nvSpPr>
          <p:cNvPr id="18" name="TextBox 17"/>
          <p:cNvSpPr txBox="1"/>
          <p:nvPr/>
        </p:nvSpPr>
        <p:spPr>
          <a:xfrm>
            <a:off x="6428232" y="3685032"/>
            <a:ext cx="4782312" cy="822960"/>
          </a:xfrm>
          <a:prstGeom prst="rect">
            <a:avLst/>
          </a:prstGeom>
          <a:noFill/>
        </p:spPr>
        <p:txBody>
          <a:bodyPr wrap="square" anchor="t">
            <a:spAutoFit/>
          </a:bodyPr>
          <a:lstStyle/>
          <a:p>
            <a:pPr algn="l">
              <a:spcAft>
                <a:spcPts val="400"/>
              </a:spcAft>
            </a:pPr>
            <a:r>
              <a:rPr sz="1250" b="0">
                <a:solidFill>
                  <a:srgbClr val="161B26"/>
                </a:solidFill>
                <a:latin typeface="Arial"/>
              </a:rPr>
              <a:t>Flaky tests train the team to ignore red builds; a pipeline everyone overrides provides no protection at all.</a:t>
            </a:r>
          </a:p>
        </p:txBody>
      </p:sp>
      <p:sp>
        <p:nvSpPr>
          <p:cNvPr id="19" name="Rectangle 18"/>
          <p:cNvSpPr/>
          <p:nvPr/>
        </p:nvSpPr>
        <p:spPr>
          <a:xfrm>
            <a:off x="6172200" y="4709160"/>
            <a:ext cx="5239512" cy="1325880"/>
          </a:xfrm>
          <a:prstGeom prst="rect">
            <a:avLst/>
          </a:prstGeom>
          <a:solidFill>
            <a:srgbClr val="FFFFFF"/>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Rectangle 19"/>
          <p:cNvSpPr/>
          <p:nvPr/>
        </p:nvSpPr>
        <p:spPr>
          <a:xfrm>
            <a:off x="6172200" y="4709160"/>
            <a:ext cx="91440" cy="1325880"/>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6428232" y="4818888"/>
            <a:ext cx="4782312" cy="320040"/>
          </a:xfrm>
          <a:prstGeom prst="rect">
            <a:avLst/>
          </a:prstGeom>
          <a:noFill/>
        </p:spPr>
        <p:txBody>
          <a:bodyPr wrap="square" anchor="t">
            <a:spAutoFit/>
          </a:bodyPr>
          <a:lstStyle/>
          <a:p>
            <a:pPr algn="l">
              <a:spcAft>
                <a:spcPts val="400"/>
              </a:spcAft>
            </a:pPr>
            <a:r>
              <a:rPr sz="1150" b="1">
                <a:solidFill>
                  <a:srgbClr val="F59E0B"/>
                </a:solidFill>
                <a:latin typeface="Arial"/>
              </a:rPr>
              <a:t>TRADE-OFF / DECISION</a:t>
            </a:r>
          </a:p>
        </p:txBody>
      </p:sp>
      <p:sp>
        <p:nvSpPr>
          <p:cNvPr id="22" name="TextBox 21"/>
          <p:cNvSpPr txBox="1"/>
          <p:nvPr/>
        </p:nvSpPr>
        <p:spPr>
          <a:xfrm>
            <a:off x="6428232" y="5148072"/>
            <a:ext cx="4782312" cy="822960"/>
          </a:xfrm>
          <a:prstGeom prst="rect">
            <a:avLst/>
          </a:prstGeom>
          <a:noFill/>
        </p:spPr>
        <p:txBody>
          <a:bodyPr wrap="square" anchor="t">
            <a:spAutoFit/>
          </a:bodyPr>
          <a:lstStyle/>
          <a:p>
            <a:pPr algn="l">
              <a:spcAft>
                <a:spcPts val="400"/>
              </a:spcAft>
            </a:pPr>
            <a:r>
              <a:rPr sz="1250" b="0">
                <a:solidFill>
                  <a:srgbClr val="161B26"/>
                </a:solidFill>
                <a:latin typeface="Arial"/>
              </a:rPr>
              <a:t>More gates raise confidence but lengthen lead time — order them fast-to-slow and fail fast on the cheapest checks.</a:t>
            </a:r>
          </a:p>
        </p:txBody>
      </p:sp>
      <p:sp>
        <p:nvSpPr>
          <p:cNvPr id="23" name="TextBox 22"/>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DevOps Engineering on AWS  ·  TGS-2023040474</a:t>
            </a:r>
          </a:p>
        </p:txBody>
      </p:sp>
      <p:sp>
        <p:nvSpPr>
          <p:cNvPr id="24" name="TextBox 23"/>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25" name="TextBox 24"/>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51</a:t>
            </a:r>
          </a:p>
        </p:txBody>
      </p:sp>
    </p:spTree>
  </p:cSld>
  <p:clrMapOvr>
    <a:masterClrMapping/>
  </p:clrMapOvr>
  <p:transition xmlns:p14="http://schemas.microsoft.com/office/powerpoint/2010/main" p14:dur="380">
    <p:fade/>
  </p:transition>
</p:sld>
</file>

<file path=ppt/slides/slide5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38912"/>
            <a:ext cx="10607040" cy="365760"/>
          </a:xfrm>
          <a:prstGeom prst="rect">
            <a:avLst/>
          </a:prstGeom>
          <a:noFill/>
        </p:spPr>
        <p:txBody>
          <a:bodyPr wrap="square" anchor="t">
            <a:spAutoFit/>
          </a:bodyPr>
          <a:lstStyle/>
          <a:p>
            <a:pPr algn="l">
              <a:spcAft>
                <a:spcPts val="400"/>
              </a:spcAft>
            </a:pPr>
            <a:r>
              <a:rPr sz="1400" b="1">
                <a:solidFill>
                  <a:srgbClr val="1F6FEB"/>
                </a:solidFill>
                <a:latin typeface="Arial"/>
              </a:rPr>
              <a:t>IN DEPTH</a:t>
            </a:r>
          </a:p>
        </p:txBody>
      </p:sp>
      <p:sp>
        <p:nvSpPr>
          <p:cNvPr id="5" name="TextBox 4"/>
          <p:cNvSpPr txBox="1"/>
          <p:nvPr/>
        </p:nvSpPr>
        <p:spPr>
          <a:xfrm>
            <a:off x="777240" y="896112"/>
            <a:ext cx="10927080" cy="731520"/>
          </a:xfrm>
          <a:prstGeom prst="rect">
            <a:avLst/>
          </a:prstGeom>
          <a:noFill/>
        </p:spPr>
        <p:txBody>
          <a:bodyPr wrap="square" anchor="t">
            <a:spAutoFit/>
          </a:bodyPr>
          <a:lstStyle/>
          <a:p>
            <a:pPr algn="l">
              <a:spcAft>
                <a:spcPts val="400"/>
              </a:spcAft>
            </a:pPr>
            <a:r>
              <a:rPr sz="2500" b="1">
                <a:solidFill>
                  <a:srgbClr val="161B26"/>
                </a:solidFill>
                <a:latin typeface="Arial"/>
              </a:rPr>
              <a:t>Choosing a deployment strategy by blast radius</a:t>
            </a:r>
          </a:p>
        </p:txBody>
      </p:sp>
      <p:sp>
        <p:nvSpPr>
          <p:cNvPr id="6" name="Rectangle 5"/>
          <p:cNvSpPr/>
          <p:nvPr/>
        </p:nvSpPr>
        <p:spPr>
          <a:xfrm>
            <a:off x="777240" y="1572768"/>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783080"/>
            <a:ext cx="5212080" cy="425196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1783080"/>
            <a:ext cx="5212080" cy="9144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1005840" y="1938528"/>
            <a:ext cx="4754880" cy="365760"/>
          </a:xfrm>
          <a:prstGeom prst="rect">
            <a:avLst/>
          </a:prstGeom>
          <a:noFill/>
        </p:spPr>
        <p:txBody>
          <a:bodyPr wrap="square" anchor="t">
            <a:spAutoFit/>
          </a:bodyPr>
          <a:lstStyle/>
          <a:p>
            <a:pPr algn="l">
              <a:spcAft>
                <a:spcPts val="400"/>
              </a:spcAft>
            </a:pPr>
            <a:r>
              <a:rPr sz="1200" b="1">
                <a:solidFill>
                  <a:srgbClr val="1F6FEB"/>
                </a:solidFill>
                <a:latin typeface="Arial"/>
              </a:rPr>
              <a:t>IN DEPTH</a:t>
            </a:r>
          </a:p>
        </p:txBody>
      </p:sp>
      <p:sp>
        <p:nvSpPr>
          <p:cNvPr id="10" name="TextBox 9"/>
          <p:cNvSpPr txBox="1"/>
          <p:nvPr/>
        </p:nvSpPr>
        <p:spPr>
          <a:xfrm>
            <a:off x="1005840" y="2377440"/>
            <a:ext cx="4754880" cy="3566160"/>
          </a:xfrm>
          <a:prstGeom prst="rect">
            <a:avLst/>
          </a:prstGeom>
          <a:noFill/>
        </p:spPr>
        <p:txBody>
          <a:bodyPr wrap="square">
            <a:spAutoFit/>
          </a:bodyPr>
          <a:lstStyle/>
          <a:p>
            <a:pPr>
              <a:spcAft>
                <a:spcPts val="800"/>
              </a:spcAft>
            </a:pPr>
            <a:r>
              <a:rPr sz="1350" b="0">
                <a:solidFill>
                  <a:srgbClr val="161B26"/>
                </a:solidFill>
                <a:latin typeface="Arial"/>
              </a:rPr>
              <a:t>•  In-place is simplest but updates live instances and risks downtime; rolling limits impact to a batch at a time.</a:t>
            </a:r>
          </a:p>
          <a:p>
            <a:pPr>
              <a:spcAft>
                <a:spcPts val="800"/>
              </a:spcAft>
            </a:pPr>
            <a:r>
              <a:rPr sz="1350" b="0">
                <a:solidFill>
                  <a:srgbClr val="161B26"/>
                </a:solidFill>
                <a:latin typeface="Arial"/>
              </a:rPr>
              <a:t>•  Blue/green stands up a parallel fleet and switches traffic — instant rollback by switching back.</a:t>
            </a:r>
          </a:p>
          <a:p>
            <a:pPr>
              <a:spcAft>
                <a:spcPts val="800"/>
              </a:spcAft>
            </a:pPr>
            <a:r>
              <a:rPr sz="1350" b="0">
                <a:solidFill>
                  <a:srgbClr val="161B26"/>
                </a:solidFill>
                <a:latin typeface="Arial"/>
              </a:rPr>
              <a:t>•  Canary shifts a small percentage first, watches metrics, then completes or aborts the rollout.</a:t>
            </a:r>
          </a:p>
        </p:txBody>
      </p:sp>
      <p:sp>
        <p:nvSpPr>
          <p:cNvPr id="11" name="Rectangle 10"/>
          <p:cNvSpPr/>
          <p:nvPr/>
        </p:nvSpPr>
        <p:spPr>
          <a:xfrm>
            <a:off x="6172200" y="1783080"/>
            <a:ext cx="5239512" cy="1325880"/>
          </a:xfrm>
          <a:prstGeom prst="rect">
            <a:avLst/>
          </a:prstGeom>
          <a:solidFill>
            <a:srgbClr val="FFFFFF"/>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ectangle 11"/>
          <p:cNvSpPr/>
          <p:nvPr/>
        </p:nvSpPr>
        <p:spPr>
          <a:xfrm>
            <a:off x="6172200" y="1783080"/>
            <a:ext cx="91440" cy="132588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6428232" y="1892808"/>
            <a:ext cx="4782312" cy="320040"/>
          </a:xfrm>
          <a:prstGeom prst="rect">
            <a:avLst/>
          </a:prstGeom>
          <a:noFill/>
        </p:spPr>
        <p:txBody>
          <a:bodyPr wrap="square" anchor="t">
            <a:spAutoFit/>
          </a:bodyPr>
          <a:lstStyle/>
          <a:p>
            <a:pPr algn="l">
              <a:spcAft>
                <a:spcPts val="400"/>
              </a:spcAft>
            </a:pPr>
            <a:r>
              <a:rPr sz="1150" b="1">
                <a:solidFill>
                  <a:srgbClr val="1F6FEB"/>
                </a:solidFill>
                <a:latin typeface="Arial"/>
              </a:rPr>
              <a:t>WHY IT MATTERS</a:t>
            </a:r>
          </a:p>
        </p:txBody>
      </p:sp>
      <p:sp>
        <p:nvSpPr>
          <p:cNvPr id="14" name="TextBox 13"/>
          <p:cNvSpPr txBox="1"/>
          <p:nvPr/>
        </p:nvSpPr>
        <p:spPr>
          <a:xfrm>
            <a:off x="6428232" y="2221992"/>
            <a:ext cx="4782312" cy="822960"/>
          </a:xfrm>
          <a:prstGeom prst="rect">
            <a:avLst/>
          </a:prstGeom>
          <a:noFill/>
        </p:spPr>
        <p:txBody>
          <a:bodyPr wrap="square" anchor="t">
            <a:spAutoFit/>
          </a:bodyPr>
          <a:lstStyle/>
          <a:p>
            <a:pPr algn="l">
              <a:spcAft>
                <a:spcPts val="400"/>
              </a:spcAft>
            </a:pPr>
            <a:r>
              <a:rPr sz="1250" b="0">
                <a:solidFill>
                  <a:srgbClr val="161B26"/>
                </a:solidFill>
                <a:latin typeface="Arial"/>
              </a:rPr>
              <a:t>Matching the strategy to the change's risk lets you trade release speed against how many users a bad release can touch.</a:t>
            </a:r>
          </a:p>
        </p:txBody>
      </p:sp>
      <p:sp>
        <p:nvSpPr>
          <p:cNvPr id="15" name="Rectangle 14"/>
          <p:cNvSpPr/>
          <p:nvPr/>
        </p:nvSpPr>
        <p:spPr>
          <a:xfrm>
            <a:off x="6172200" y="3246120"/>
            <a:ext cx="5239512" cy="1325880"/>
          </a:xfrm>
          <a:prstGeom prst="rect">
            <a:avLst/>
          </a:prstGeom>
          <a:solidFill>
            <a:srgbClr val="FFFFFF"/>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ectangle 15"/>
          <p:cNvSpPr/>
          <p:nvPr/>
        </p:nvSpPr>
        <p:spPr>
          <a:xfrm>
            <a:off x="6172200" y="3246120"/>
            <a:ext cx="91440" cy="1325880"/>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6428232" y="3355848"/>
            <a:ext cx="4782312" cy="320040"/>
          </a:xfrm>
          <a:prstGeom prst="rect">
            <a:avLst/>
          </a:prstGeom>
          <a:noFill/>
        </p:spPr>
        <p:txBody>
          <a:bodyPr wrap="square" anchor="t">
            <a:spAutoFit/>
          </a:bodyPr>
          <a:lstStyle/>
          <a:p>
            <a:pPr algn="l">
              <a:spcAft>
                <a:spcPts val="400"/>
              </a:spcAft>
            </a:pPr>
            <a:r>
              <a:rPr sz="1150" b="1">
                <a:solidFill>
                  <a:srgbClr val="C0392B"/>
                </a:solidFill>
                <a:latin typeface="Arial"/>
              </a:rPr>
              <a:t>FAILURE MODE</a:t>
            </a:r>
          </a:p>
        </p:txBody>
      </p:sp>
      <p:sp>
        <p:nvSpPr>
          <p:cNvPr id="18" name="TextBox 17"/>
          <p:cNvSpPr txBox="1"/>
          <p:nvPr/>
        </p:nvSpPr>
        <p:spPr>
          <a:xfrm>
            <a:off x="6428232" y="3685032"/>
            <a:ext cx="4782312" cy="822960"/>
          </a:xfrm>
          <a:prstGeom prst="rect">
            <a:avLst/>
          </a:prstGeom>
          <a:noFill/>
        </p:spPr>
        <p:txBody>
          <a:bodyPr wrap="square" anchor="t">
            <a:spAutoFit/>
          </a:bodyPr>
          <a:lstStyle/>
          <a:p>
            <a:pPr algn="l">
              <a:spcAft>
                <a:spcPts val="400"/>
              </a:spcAft>
            </a:pPr>
            <a:r>
              <a:rPr sz="1250" b="0">
                <a:solidFill>
                  <a:srgbClr val="161B26"/>
                </a:solidFill>
                <a:latin typeface="Arial"/>
              </a:rPr>
              <a:t>Blue/green without draining connections or warming caches can still cause a visible blip at cut-over.</a:t>
            </a:r>
          </a:p>
        </p:txBody>
      </p:sp>
      <p:sp>
        <p:nvSpPr>
          <p:cNvPr id="19" name="Rectangle 18"/>
          <p:cNvSpPr/>
          <p:nvPr/>
        </p:nvSpPr>
        <p:spPr>
          <a:xfrm>
            <a:off x="6172200" y="4709160"/>
            <a:ext cx="5239512" cy="1325880"/>
          </a:xfrm>
          <a:prstGeom prst="rect">
            <a:avLst/>
          </a:prstGeom>
          <a:solidFill>
            <a:srgbClr val="FFFFFF"/>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Rectangle 19"/>
          <p:cNvSpPr/>
          <p:nvPr/>
        </p:nvSpPr>
        <p:spPr>
          <a:xfrm>
            <a:off x="6172200" y="4709160"/>
            <a:ext cx="91440" cy="1325880"/>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6428232" y="4818888"/>
            <a:ext cx="4782312" cy="320040"/>
          </a:xfrm>
          <a:prstGeom prst="rect">
            <a:avLst/>
          </a:prstGeom>
          <a:noFill/>
        </p:spPr>
        <p:txBody>
          <a:bodyPr wrap="square" anchor="t">
            <a:spAutoFit/>
          </a:bodyPr>
          <a:lstStyle/>
          <a:p>
            <a:pPr algn="l">
              <a:spcAft>
                <a:spcPts val="400"/>
              </a:spcAft>
            </a:pPr>
            <a:r>
              <a:rPr sz="1150" b="1">
                <a:solidFill>
                  <a:srgbClr val="F59E0B"/>
                </a:solidFill>
                <a:latin typeface="Arial"/>
              </a:rPr>
              <a:t>TRADE-OFF / DECISION</a:t>
            </a:r>
          </a:p>
        </p:txBody>
      </p:sp>
      <p:sp>
        <p:nvSpPr>
          <p:cNvPr id="22" name="TextBox 21"/>
          <p:cNvSpPr txBox="1"/>
          <p:nvPr/>
        </p:nvSpPr>
        <p:spPr>
          <a:xfrm>
            <a:off x="6428232" y="5148072"/>
            <a:ext cx="4782312" cy="822960"/>
          </a:xfrm>
          <a:prstGeom prst="rect">
            <a:avLst/>
          </a:prstGeom>
          <a:noFill/>
        </p:spPr>
        <p:txBody>
          <a:bodyPr wrap="square" anchor="t">
            <a:spAutoFit/>
          </a:bodyPr>
          <a:lstStyle/>
          <a:p>
            <a:pPr algn="l">
              <a:spcAft>
                <a:spcPts val="400"/>
              </a:spcAft>
            </a:pPr>
            <a:r>
              <a:rPr sz="1250" b="0">
                <a:solidFill>
                  <a:srgbClr val="161B26"/>
                </a:solidFill>
                <a:latin typeface="Arial"/>
              </a:rPr>
              <a:t>Blue/green needs roughly double capacity during the shift; canary needs good metrics and automated alarms to be safe.</a:t>
            </a:r>
          </a:p>
        </p:txBody>
      </p:sp>
      <p:sp>
        <p:nvSpPr>
          <p:cNvPr id="23" name="TextBox 22"/>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DevOps Engineering on AWS  ·  TGS-2023040474</a:t>
            </a:r>
          </a:p>
        </p:txBody>
      </p:sp>
      <p:sp>
        <p:nvSpPr>
          <p:cNvPr id="24" name="TextBox 23"/>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25" name="TextBox 24"/>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52</a:t>
            </a:r>
          </a:p>
        </p:txBody>
      </p:sp>
    </p:spTree>
  </p:cSld>
  <p:clrMapOvr>
    <a:masterClrMapping/>
  </p:clrMapOvr>
  <p:transition xmlns:p14="http://schemas.microsoft.com/office/powerpoint/2010/main" p14:dur="380">
    <p:fade/>
  </p:transition>
</p:sld>
</file>

<file path=ppt/slides/slide5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38912"/>
            <a:ext cx="10607040" cy="365760"/>
          </a:xfrm>
          <a:prstGeom prst="rect">
            <a:avLst/>
          </a:prstGeom>
          <a:noFill/>
        </p:spPr>
        <p:txBody>
          <a:bodyPr wrap="square" anchor="t">
            <a:spAutoFit/>
          </a:bodyPr>
          <a:lstStyle/>
          <a:p>
            <a:pPr algn="l">
              <a:spcAft>
                <a:spcPts val="400"/>
              </a:spcAft>
            </a:pPr>
            <a:r>
              <a:rPr sz="1400" b="1">
                <a:solidFill>
                  <a:srgbClr val="1F6FEB"/>
                </a:solidFill>
                <a:latin typeface="Arial"/>
              </a:rPr>
              <a:t>IN DEPTH</a:t>
            </a:r>
          </a:p>
        </p:txBody>
      </p:sp>
      <p:sp>
        <p:nvSpPr>
          <p:cNvPr id="5" name="TextBox 4"/>
          <p:cNvSpPr txBox="1"/>
          <p:nvPr/>
        </p:nvSpPr>
        <p:spPr>
          <a:xfrm>
            <a:off x="777240" y="896112"/>
            <a:ext cx="10927080" cy="731520"/>
          </a:xfrm>
          <a:prstGeom prst="rect">
            <a:avLst/>
          </a:prstGeom>
          <a:noFill/>
        </p:spPr>
        <p:txBody>
          <a:bodyPr wrap="square" anchor="t">
            <a:spAutoFit/>
          </a:bodyPr>
          <a:lstStyle/>
          <a:p>
            <a:pPr algn="l">
              <a:spcAft>
                <a:spcPts val="400"/>
              </a:spcAft>
            </a:pPr>
            <a:r>
              <a:rPr sz="2500" b="1">
                <a:solidFill>
                  <a:srgbClr val="161B26"/>
                </a:solidFill>
                <a:latin typeface="Arial"/>
              </a:rPr>
              <a:t>Pipeline structure — stages, actions and promotion</a:t>
            </a:r>
          </a:p>
        </p:txBody>
      </p:sp>
      <p:sp>
        <p:nvSpPr>
          <p:cNvPr id="6" name="Rectangle 5"/>
          <p:cNvSpPr/>
          <p:nvPr/>
        </p:nvSpPr>
        <p:spPr>
          <a:xfrm>
            <a:off x="777240" y="1572768"/>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783080"/>
            <a:ext cx="5212080" cy="425196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1783080"/>
            <a:ext cx="5212080" cy="9144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1005840" y="1938528"/>
            <a:ext cx="4754880" cy="365760"/>
          </a:xfrm>
          <a:prstGeom prst="rect">
            <a:avLst/>
          </a:prstGeom>
          <a:noFill/>
        </p:spPr>
        <p:txBody>
          <a:bodyPr wrap="square" anchor="t">
            <a:spAutoFit/>
          </a:bodyPr>
          <a:lstStyle/>
          <a:p>
            <a:pPr algn="l">
              <a:spcAft>
                <a:spcPts val="400"/>
              </a:spcAft>
            </a:pPr>
            <a:r>
              <a:rPr sz="1200" b="1">
                <a:solidFill>
                  <a:srgbClr val="1F6FEB"/>
                </a:solidFill>
                <a:latin typeface="Arial"/>
              </a:rPr>
              <a:t>IN DEPTH</a:t>
            </a:r>
          </a:p>
        </p:txBody>
      </p:sp>
      <p:sp>
        <p:nvSpPr>
          <p:cNvPr id="10" name="TextBox 9"/>
          <p:cNvSpPr txBox="1"/>
          <p:nvPr/>
        </p:nvSpPr>
        <p:spPr>
          <a:xfrm>
            <a:off x="1005840" y="2377440"/>
            <a:ext cx="4754880" cy="3566160"/>
          </a:xfrm>
          <a:prstGeom prst="rect">
            <a:avLst/>
          </a:prstGeom>
          <a:noFill/>
        </p:spPr>
        <p:txBody>
          <a:bodyPr wrap="square">
            <a:spAutoFit/>
          </a:bodyPr>
          <a:lstStyle/>
          <a:p>
            <a:pPr>
              <a:spcAft>
                <a:spcPts val="800"/>
              </a:spcAft>
            </a:pPr>
            <a:r>
              <a:rPr sz="1350" b="0">
                <a:solidFill>
                  <a:srgbClr val="161B26"/>
                </a:solidFill>
                <a:latin typeface="Arial"/>
              </a:rPr>
              <a:t>•  A pipeline is stages (Source → Build → Test → Deploy-to-Staging → Approve → Deploy-to-Prod), each containing actions that can run in parallel.</a:t>
            </a:r>
          </a:p>
          <a:p>
            <a:pPr>
              <a:spcAft>
                <a:spcPts val="800"/>
              </a:spcAft>
            </a:pPr>
            <a:r>
              <a:rPr sz="1350" b="0">
                <a:solidFill>
                  <a:srgbClr val="161B26"/>
                </a:solidFill>
                <a:latin typeface="Arial"/>
              </a:rPr>
              <a:t>•  The same immutable artifact is promoted across environments; only configuration changes between them.</a:t>
            </a:r>
          </a:p>
          <a:p>
            <a:pPr>
              <a:spcAft>
                <a:spcPts val="800"/>
              </a:spcAft>
            </a:pPr>
            <a:r>
              <a:rPr sz="1350" b="0">
                <a:solidFill>
                  <a:srgbClr val="161B26"/>
                </a:solidFill>
                <a:latin typeface="Arial"/>
              </a:rPr>
              <a:t>•  Cross-account deployment uses assumed roles so the production account trusts the pipeline without sharing credentials.</a:t>
            </a:r>
          </a:p>
        </p:txBody>
      </p:sp>
      <p:sp>
        <p:nvSpPr>
          <p:cNvPr id="11" name="Rectangle 10"/>
          <p:cNvSpPr/>
          <p:nvPr/>
        </p:nvSpPr>
        <p:spPr>
          <a:xfrm>
            <a:off x="6172200" y="1783080"/>
            <a:ext cx="5239512" cy="1325880"/>
          </a:xfrm>
          <a:prstGeom prst="rect">
            <a:avLst/>
          </a:prstGeom>
          <a:solidFill>
            <a:srgbClr val="FFFFFF"/>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ectangle 11"/>
          <p:cNvSpPr/>
          <p:nvPr/>
        </p:nvSpPr>
        <p:spPr>
          <a:xfrm>
            <a:off x="6172200" y="1783080"/>
            <a:ext cx="91440" cy="132588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6428232" y="1892808"/>
            <a:ext cx="4782312" cy="320040"/>
          </a:xfrm>
          <a:prstGeom prst="rect">
            <a:avLst/>
          </a:prstGeom>
          <a:noFill/>
        </p:spPr>
        <p:txBody>
          <a:bodyPr wrap="square" anchor="t">
            <a:spAutoFit/>
          </a:bodyPr>
          <a:lstStyle/>
          <a:p>
            <a:pPr algn="l">
              <a:spcAft>
                <a:spcPts val="400"/>
              </a:spcAft>
            </a:pPr>
            <a:r>
              <a:rPr sz="1150" b="1">
                <a:solidFill>
                  <a:srgbClr val="1F6FEB"/>
                </a:solidFill>
                <a:latin typeface="Arial"/>
              </a:rPr>
              <a:t>WHY IT MATTERS</a:t>
            </a:r>
          </a:p>
        </p:txBody>
      </p:sp>
      <p:sp>
        <p:nvSpPr>
          <p:cNvPr id="14" name="TextBox 13"/>
          <p:cNvSpPr txBox="1"/>
          <p:nvPr/>
        </p:nvSpPr>
        <p:spPr>
          <a:xfrm>
            <a:off x="6428232" y="2221992"/>
            <a:ext cx="4782312" cy="822960"/>
          </a:xfrm>
          <a:prstGeom prst="rect">
            <a:avLst/>
          </a:prstGeom>
          <a:noFill/>
        </p:spPr>
        <p:txBody>
          <a:bodyPr wrap="square" anchor="t">
            <a:spAutoFit/>
          </a:bodyPr>
          <a:lstStyle/>
          <a:p>
            <a:pPr algn="l">
              <a:spcAft>
                <a:spcPts val="400"/>
              </a:spcAft>
            </a:pPr>
            <a:r>
              <a:rPr sz="1250" b="0">
                <a:solidFill>
                  <a:srgbClr val="161B26"/>
                </a:solidFill>
                <a:latin typeface="Arial"/>
              </a:rPr>
              <a:t>Modelling promotion explicitly gives a single, auditable path to production and prevents 'works in staging, different build in prod' drift.</a:t>
            </a:r>
          </a:p>
        </p:txBody>
      </p:sp>
      <p:sp>
        <p:nvSpPr>
          <p:cNvPr id="15" name="Rectangle 14"/>
          <p:cNvSpPr/>
          <p:nvPr/>
        </p:nvSpPr>
        <p:spPr>
          <a:xfrm>
            <a:off x="6172200" y="3246120"/>
            <a:ext cx="5239512" cy="1325880"/>
          </a:xfrm>
          <a:prstGeom prst="rect">
            <a:avLst/>
          </a:prstGeom>
          <a:solidFill>
            <a:srgbClr val="FFFFFF"/>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ectangle 15"/>
          <p:cNvSpPr/>
          <p:nvPr/>
        </p:nvSpPr>
        <p:spPr>
          <a:xfrm>
            <a:off x="6172200" y="3246120"/>
            <a:ext cx="91440" cy="1325880"/>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6428232" y="3355848"/>
            <a:ext cx="4782312" cy="320040"/>
          </a:xfrm>
          <a:prstGeom prst="rect">
            <a:avLst/>
          </a:prstGeom>
          <a:noFill/>
        </p:spPr>
        <p:txBody>
          <a:bodyPr wrap="square" anchor="t">
            <a:spAutoFit/>
          </a:bodyPr>
          <a:lstStyle/>
          <a:p>
            <a:pPr algn="l">
              <a:spcAft>
                <a:spcPts val="400"/>
              </a:spcAft>
            </a:pPr>
            <a:r>
              <a:rPr sz="1150" b="1">
                <a:solidFill>
                  <a:srgbClr val="C0392B"/>
                </a:solidFill>
                <a:latin typeface="Arial"/>
              </a:rPr>
              <a:t>FAILURE MODE</a:t>
            </a:r>
          </a:p>
        </p:txBody>
      </p:sp>
      <p:sp>
        <p:nvSpPr>
          <p:cNvPr id="18" name="TextBox 17"/>
          <p:cNvSpPr txBox="1"/>
          <p:nvPr/>
        </p:nvSpPr>
        <p:spPr>
          <a:xfrm>
            <a:off x="6428232" y="3685032"/>
            <a:ext cx="4782312" cy="822960"/>
          </a:xfrm>
          <a:prstGeom prst="rect">
            <a:avLst/>
          </a:prstGeom>
          <a:noFill/>
        </p:spPr>
        <p:txBody>
          <a:bodyPr wrap="square" anchor="t">
            <a:spAutoFit/>
          </a:bodyPr>
          <a:lstStyle/>
          <a:p>
            <a:pPr algn="l">
              <a:spcAft>
                <a:spcPts val="400"/>
              </a:spcAft>
            </a:pPr>
            <a:r>
              <a:rPr sz="1250" b="0">
                <a:solidFill>
                  <a:srgbClr val="161B26"/>
                </a:solidFill>
                <a:latin typeface="Arial"/>
              </a:rPr>
              <a:t>Rebuilding per environment breaks the guarantee that what you tested is what you shipped.</a:t>
            </a:r>
          </a:p>
        </p:txBody>
      </p:sp>
      <p:sp>
        <p:nvSpPr>
          <p:cNvPr id="19" name="Rectangle 18"/>
          <p:cNvSpPr/>
          <p:nvPr/>
        </p:nvSpPr>
        <p:spPr>
          <a:xfrm>
            <a:off x="6172200" y="4709160"/>
            <a:ext cx="5239512" cy="1325880"/>
          </a:xfrm>
          <a:prstGeom prst="rect">
            <a:avLst/>
          </a:prstGeom>
          <a:solidFill>
            <a:srgbClr val="FFFFFF"/>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Rectangle 19"/>
          <p:cNvSpPr/>
          <p:nvPr/>
        </p:nvSpPr>
        <p:spPr>
          <a:xfrm>
            <a:off x="6172200" y="4709160"/>
            <a:ext cx="91440" cy="1325880"/>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6428232" y="4818888"/>
            <a:ext cx="4782312" cy="320040"/>
          </a:xfrm>
          <a:prstGeom prst="rect">
            <a:avLst/>
          </a:prstGeom>
          <a:noFill/>
        </p:spPr>
        <p:txBody>
          <a:bodyPr wrap="square" anchor="t">
            <a:spAutoFit/>
          </a:bodyPr>
          <a:lstStyle/>
          <a:p>
            <a:pPr algn="l">
              <a:spcAft>
                <a:spcPts val="400"/>
              </a:spcAft>
            </a:pPr>
            <a:r>
              <a:rPr sz="1150" b="1">
                <a:solidFill>
                  <a:srgbClr val="F59E0B"/>
                </a:solidFill>
                <a:latin typeface="Arial"/>
              </a:rPr>
              <a:t>TRADE-OFF / DECISION</a:t>
            </a:r>
          </a:p>
        </p:txBody>
      </p:sp>
      <p:sp>
        <p:nvSpPr>
          <p:cNvPr id="22" name="TextBox 21"/>
          <p:cNvSpPr txBox="1"/>
          <p:nvPr/>
        </p:nvSpPr>
        <p:spPr>
          <a:xfrm>
            <a:off x="6428232" y="5148072"/>
            <a:ext cx="4782312" cy="822960"/>
          </a:xfrm>
          <a:prstGeom prst="rect">
            <a:avLst/>
          </a:prstGeom>
          <a:noFill/>
        </p:spPr>
        <p:txBody>
          <a:bodyPr wrap="square" anchor="t">
            <a:spAutoFit/>
          </a:bodyPr>
          <a:lstStyle/>
          <a:p>
            <a:pPr algn="l">
              <a:spcAft>
                <a:spcPts val="400"/>
              </a:spcAft>
            </a:pPr>
            <a:r>
              <a:rPr sz="1250" b="0">
                <a:solidFill>
                  <a:srgbClr val="161B26"/>
                </a:solidFill>
                <a:latin typeface="Arial"/>
              </a:rPr>
              <a:t>More environments raise confidence but add cost and lead time — keep pre-prod as production-like as budget allows.</a:t>
            </a:r>
          </a:p>
        </p:txBody>
      </p:sp>
      <p:sp>
        <p:nvSpPr>
          <p:cNvPr id="23" name="TextBox 22"/>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DevOps Engineering on AWS  ·  TGS-2023040474</a:t>
            </a:r>
          </a:p>
        </p:txBody>
      </p:sp>
      <p:sp>
        <p:nvSpPr>
          <p:cNvPr id="24" name="TextBox 23"/>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25" name="TextBox 24"/>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53</a:t>
            </a:r>
          </a:p>
        </p:txBody>
      </p:sp>
    </p:spTree>
  </p:cSld>
  <p:clrMapOvr>
    <a:masterClrMapping/>
  </p:clrMapOvr>
  <p:transition xmlns:p14="http://schemas.microsoft.com/office/powerpoint/2010/main" p14:dur="380">
    <p:fade/>
  </p:transition>
</p:sld>
</file>

<file path=ppt/slides/slide5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38912"/>
            <a:ext cx="10607040" cy="365760"/>
          </a:xfrm>
          <a:prstGeom prst="rect">
            <a:avLst/>
          </a:prstGeom>
          <a:noFill/>
        </p:spPr>
        <p:txBody>
          <a:bodyPr wrap="square" anchor="t">
            <a:spAutoFit/>
          </a:bodyPr>
          <a:lstStyle/>
          <a:p>
            <a:pPr algn="l">
              <a:spcAft>
                <a:spcPts val="400"/>
              </a:spcAft>
            </a:pPr>
            <a:r>
              <a:rPr sz="1400" b="1">
                <a:solidFill>
                  <a:srgbClr val="1F6FEB"/>
                </a:solidFill>
                <a:latin typeface="Arial"/>
              </a:rPr>
              <a:t>CHOOSING THE SOURCE PATH</a:t>
            </a:r>
          </a:p>
        </p:txBody>
      </p:sp>
      <p:sp>
        <p:nvSpPr>
          <p:cNvPr id="5" name="TextBox 4"/>
          <p:cNvSpPr txBox="1"/>
          <p:nvPr/>
        </p:nvSpPr>
        <p:spPr>
          <a:xfrm>
            <a:off x="777240" y="804672"/>
            <a:ext cx="10927080" cy="731520"/>
          </a:xfrm>
          <a:prstGeom prst="rect">
            <a:avLst/>
          </a:prstGeom>
          <a:noFill/>
        </p:spPr>
        <p:txBody>
          <a:bodyPr wrap="square" anchor="t">
            <a:spAutoFit/>
          </a:bodyPr>
          <a:lstStyle/>
          <a:p>
            <a:pPr algn="l">
              <a:spcAft>
                <a:spcPts val="400"/>
              </a:spcAft>
            </a:pPr>
            <a:r>
              <a:rPr sz="2900" b="1">
                <a:solidFill>
                  <a:srgbClr val="161B26"/>
                </a:solidFill>
                <a:latin typeface="Arial"/>
              </a:rPr>
              <a:t>CI/CD Toolchain — AWS-native vs external</a:t>
            </a:r>
          </a:p>
        </p:txBody>
      </p:sp>
      <p:sp>
        <p:nvSpPr>
          <p:cNvPr id="6" name="Rectangle 5"/>
          <p:cNvSpPr/>
          <p:nvPr/>
        </p:nvSpPr>
        <p:spPr>
          <a:xfrm>
            <a:off x="777240" y="1572768"/>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783080"/>
            <a:ext cx="2339583" cy="5029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886968" y="1783080"/>
            <a:ext cx="2156703" cy="502920"/>
          </a:xfrm>
          <a:prstGeom prst="rect">
            <a:avLst/>
          </a:prstGeom>
          <a:noFill/>
        </p:spPr>
        <p:txBody>
          <a:bodyPr wrap="square" anchor="ctr">
            <a:spAutoFit/>
          </a:bodyPr>
          <a:lstStyle/>
          <a:p>
            <a:pPr algn="l">
              <a:spcAft>
                <a:spcPts val="400"/>
              </a:spcAft>
            </a:pPr>
            <a:r>
              <a:rPr sz="1400" b="1">
                <a:solidFill>
                  <a:srgbClr val="FFFFFF"/>
                </a:solidFill>
                <a:latin typeface="Arial"/>
              </a:rPr>
              <a:t>Concern</a:t>
            </a:r>
          </a:p>
        </p:txBody>
      </p:sp>
      <p:sp>
        <p:nvSpPr>
          <p:cNvPr id="9" name="Rectangle 8"/>
          <p:cNvSpPr/>
          <p:nvPr/>
        </p:nvSpPr>
        <p:spPr>
          <a:xfrm>
            <a:off x="3116823" y="1783080"/>
            <a:ext cx="4253788" cy="5029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3226551" y="1783080"/>
            <a:ext cx="4070908" cy="502920"/>
          </a:xfrm>
          <a:prstGeom prst="rect">
            <a:avLst/>
          </a:prstGeom>
          <a:noFill/>
        </p:spPr>
        <p:txBody>
          <a:bodyPr wrap="square" anchor="ctr">
            <a:spAutoFit/>
          </a:bodyPr>
          <a:lstStyle/>
          <a:p>
            <a:pPr algn="ctr">
              <a:spcAft>
                <a:spcPts val="400"/>
              </a:spcAft>
            </a:pPr>
            <a:r>
              <a:rPr sz="1400" b="1">
                <a:solidFill>
                  <a:srgbClr val="FFFFFF"/>
                </a:solidFill>
                <a:latin typeface="Arial"/>
              </a:rPr>
              <a:t>GitHub via CodeConnections</a:t>
            </a:r>
          </a:p>
        </p:txBody>
      </p:sp>
      <p:sp>
        <p:nvSpPr>
          <p:cNvPr id="11" name="Rectangle 10"/>
          <p:cNvSpPr/>
          <p:nvPr/>
        </p:nvSpPr>
        <p:spPr>
          <a:xfrm>
            <a:off x="7370611" y="1783080"/>
            <a:ext cx="4041099" cy="5029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7480339" y="1783080"/>
            <a:ext cx="3858219" cy="502920"/>
          </a:xfrm>
          <a:prstGeom prst="rect">
            <a:avLst/>
          </a:prstGeom>
          <a:noFill/>
        </p:spPr>
        <p:txBody>
          <a:bodyPr wrap="square" anchor="ctr">
            <a:spAutoFit/>
          </a:bodyPr>
          <a:lstStyle/>
          <a:p>
            <a:pPr algn="ctr">
              <a:spcAft>
                <a:spcPts val="400"/>
              </a:spcAft>
            </a:pPr>
            <a:r>
              <a:rPr sz="1400" b="1">
                <a:solidFill>
                  <a:srgbClr val="FFFFFF"/>
                </a:solidFill>
                <a:latin typeface="Arial"/>
              </a:rPr>
              <a:t>AWS CodeCommit</a:t>
            </a:r>
          </a:p>
        </p:txBody>
      </p:sp>
      <p:sp>
        <p:nvSpPr>
          <p:cNvPr id="13" name="Rectangle 12"/>
          <p:cNvSpPr/>
          <p:nvPr/>
        </p:nvSpPr>
        <p:spPr>
          <a:xfrm>
            <a:off x="777240" y="2286000"/>
            <a:ext cx="2339583" cy="822960"/>
          </a:xfrm>
          <a:prstGeom prst="rect">
            <a:avLst/>
          </a:prstGeom>
          <a:solidFill>
            <a:srgbClr val="F5F8FC"/>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886968" y="2286000"/>
            <a:ext cx="2156703" cy="822960"/>
          </a:xfrm>
          <a:prstGeom prst="rect">
            <a:avLst/>
          </a:prstGeom>
          <a:noFill/>
        </p:spPr>
        <p:txBody>
          <a:bodyPr wrap="square" anchor="ctr">
            <a:spAutoFit/>
          </a:bodyPr>
          <a:lstStyle/>
          <a:p>
            <a:pPr algn="l">
              <a:spcAft>
                <a:spcPts val="400"/>
              </a:spcAft>
            </a:pPr>
            <a:r>
              <a:rPr sz="1250" b="1">
                <a:solidFill>
                  <a:srgbClr val="161B26"/>
                </a:solidFill>
                <a:latin typeface="Arial"/>
              </a:rPr>
              <a:t>Where new work goes</a:t>
            </a:r>
          </a:p>
        </p:txBody>
      </p:sp>
      <p:sp>
        <p:nvSpPr>
          <p:cNvPr id="15" name="Rectangle 14"/>
          <p:cNvSpPr/>
          <p:nvPr/>
        </p:nvSpPr>
        <p:spPr>
          <a:xfrm>
            <a:off x="3116823" y="2286000"/>
            <a:ext cx="4253788" cy="822960"/>
          </a:xfrm>
          <a:prstGeom prst="rect">
            <a:avLst/>
          </a:prstGeom>
          <a:solidFill>
            <a:srgbClr val="F5F8FC"/>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3226551" y="2286000"/>
            <a:ext cx="4070908" cy="822960"/>
          </a:xfrm>
          <a:prstGeom prst="rect">
            <a:avLst/>
          </a:prstGeom>
          <a:noFill/>
        </p:spPr>
        <p:txBody>
          <a:bodyPr wrap="square" anchor="ctr">
            <a:spAutoFit/>
          </a:bodyPr>
          <a:lstStyle/>
          <a:p>
            <a:pPr algn="ctr">
              <a:spcAft>
                <a:spcPts val="400"/>
              </a:spcAft>
            </a:pPr>
            <a:r>
              <a:rPr sz="1250" b="0">
                <a:solidFill>
                  <a:srgbClr val="5B6372"/>
                </a:solidFill>
                <a:latin typeface="Arial"/>
              </a:rPr>
              <a:t>Primary, modern path</a:t>
            </a:r>
          </a:p>
        </p:txBody>
      </p:sp>
      <p:sp>
        <p:nvSpPr>
          <p:cNvPr id="17" name="Rectangle 16"/>
          <p:cNvSpPr/>
          <p:nvPr/>
        </p:nvSpPr>
        <p:spPr>
          <a:xfrm>
            <a:off x="7370611" y="2286000"/>
            <a:ext cx="4041099" cy="822960"/>
          </a:xfrm>
          <a:prstGeom prst="rect">
            <a:avLst/>
          </a:prstGeom>
          <a:solidFill>
            <a:srgbClr val="F5F8FC"/>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7480339" y="2286000"/>
            <a:ext cx="3858219" cy="822960"/>
          </a:xfrm>
          <a:prstGeom prst="rect">
            <a:avLst/>
          </a:prstGeom>
          <a:noFill/>
        </p:spPr>
        <p:txBody>
          <a:bodyPr wrap="square" anchor="ctr">
            <a:spAutoFit/>
          </a:bodyPr>
          <a:lstStyle/>
          <a:p>
            <a:pPr algn="ctr">
              <a:spcAft>
                <a:spcPts val="400"/>
              </a:spcAft>
            </a:pPr>
            <a:r>
              <a:rPr sz="1250" b="0">
                <a:solidFill>
                  <a:srgbClr val="5B6372"/>
                </a:solidFill>
                <a:latin typeface="Arial"/>
              </a:rPr>
              <a:t>AWS-native option; not required</a:t>
            </a:r>
          </a:p>
        </p:txBody>
      </p:sp>
      <p:sp>
        <p:nvSpPr>
          <p:cNvPr id="19" name="Rectangle 18"/>
          <p:cNvSpPr/>
          <p:nvPr/>
        </p:nvSpPr>
        <p:spPr>
          <a:xfrm>
            <a:off x="777240" y="3108960"/>
            <a:ext cx="2339583" cy="822960"/>
          </a:xfrm>
          <a:prstGeom prst="rect">
            <a:avLst/>
          </a:prstGeom>
          <a:solidFill>
            <a:srgbClr val="FFFFFF"/>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886968" y="3108960"/>
            <a:ext cx="2156703" cy="822960"/>
          </a:xfrm>
          <a:prstGeom prst="rect">
            <a:avLst/>
          </a:prstGeom>
          <a:noFill/>
        </p:spPr>
        <p:txBody>
          <a:bodyPr wrap="square" anchor="ctr">
            <a:spAutoFit/>
          </a:bodyPr>
          <a:lstStyle/>
          <a:p>
            <a:pPr algn="l">
              <a:spcAft>
                <a:spcPts val="400"/>
              </a:spcAft>
            </a:pPr>
            <a:r>
              <a:rPr sz="1250" b="1">
                <a:solidFill>
                  <a:srgbClr val="161B26"/>
                </a:solidFill>
                <a:latin typeface="Arial"/>
              </a:rPr>
              <a:t>Credentials</a:t>
            </a:r>
          </a:p>
        </p:txBody>
      </p:sp>
      <p:sp>
        <p:nvSpPr>
          <p:cNvPr id="21" name="Rectangle 20"/>
          <p:cNvSpPr/>
          <p:nvPr/>
        </p:nvSpPr>
        <p:spPr>
          <a:xfrm>
            <a:off x="3116823" y="3108960"/>
            <a:ext cx="4253788" cy="822960"/>
          </a:xfrm>
          <a:prstGeom prst="rect">
            <a:avLst/>
          </a:prstGeom>
          <a:solidFill>
            <a:srgbClr val="FFFFFF"/>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3226551" y="3108960"/>
            <a:ext cx="4070908" cy="822960"/>
          </a:xfrm>
          <a:prstGeom prst="rect">
            <a:avLst/>
          </a:prstGeom>
          <a:noFill/>
        </p:spPr>
        <p:txBody>
          <a:bodyPr wrap="square" anchor="ctr">
            <a:spAutoFit/>
          </a:bodyPr>
          <a:lstStyle/>
          <a:p>
            <a:pPr algn="ctr">
              <a:spcAft>
                <a:spcPts val="400"/>
              </a:spcAft>
            </a:pPr>
            <a:r>
              <a:rPr sz="1250" b="0">
                <a:solidFill>
                  <a:srgbClr val="5B6372"/>
                </a:solidFill>
                <a:latin typeface="Arial"/>
              </a:rPr>
              <a:t>Managed connection (no static keys)</a:t>
            </a:r>
          </a:p>
        </p:txBody>
      </p:sp>
      <p:sp>
        <p:nvSpPr>
          <p:cNvPr id="23" name="Rectangle 22"/>
          <p:cNvSpPr/>
          <p:nvPr/>
        </p:nvSpPr>
        <p:spPr>
          <a:xfrm>
            <a:off x="7370611" y="3108960"/>
            <a:ext cx="4041099" cy="822960"/>
          </a:xfrm>
          <a:prstGeom prst="rect">
            <a:avLst/>
          </a:prstGeom>
          <a:solidFill>
            <a:srgbClr val="FFFFFF"/>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7480339" y="3108960"/>
            <a:ext cx="3858219" cy="822960"/>
          </a:xfrm>
          <a:prstGeom prst="rect">
            <a:avLst/>
          </a:prstGeom>
          <a:noFill/>
        </p:spPr>
        <p:txBody>
          <a:bodyPr wrap="square" anchor="ctr">
            <a:spAutoFit/>
          </a:bodyPr>
          <a:lstStyle/>
          <a:p>
            <a:pPr algn="ctr">
              <a:spcAft>
                <a:spcPts val="400"/>
              </a:spcAft>
            </a:pPr>
            <a:r>
              <a:rPr sz="1250" b="0">
                <a:solidFill>
                  <a:srgbClr val="5B6372"/>
                </a:solidFill>
                <a:latin typeface="Arial"/>
              </a:rPr>
              <a:t>IAM / Git credentials</a:t>
            </a:r>
          </a:p>
        </p:txBody>
      </p:sp>
      <p:sp>
        <p:nvSpPr>
          <p:cNvPr id="25" name="Rectangle 24"/>
          <p:cNvSpPr/>
          <p:nvPr/>
        </p:nvSpPr>
        <p:spPr>
          <a:xfrm>
            <a:off x="777240" y="3931920"/>
            <a:ext cx="2339583" cy="822960"/>
          </a:xfrm>
          <a:prstGeom prst="rect">
            <a:avLst/>
          </a:prstGeom>
          <a:solidFill>
            <a:srgbClr val="F5F8FC"/>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886968" y="3931920"/>
            <a:ext cx="2156703" cy="822960"/>
          </a:xfrm>
          <a:prstGeom prst="rect">
            <a:avLst/>
          </a:prstGeom>
          <a:noFill/>
        </p:spPr>
        <p:txBody>
          <a:bodyPr wrap="square" anchor="ctr">
            <a:spAutoFit/>
          </a:bodyPr>
          <a:lstStyle/>
          <a:p>
            <a:pPr algn="l">
              <a:spcAft>
                <a:spcPts val="400"/>
              </a:spcAft>
            </a:pPr>
            <a:r>
              <a:rPr sz="1250" b="1">
                <a:solidFill>
                  <a:srgbClr val="161B26"/>
                </a:solidFill>
                <a:latin typeface="Arial"/>
              </a:rPr>
              <a:t>Team workflow</a:t>
            </a:r>
          </a:p>
        </p:txBody>
      </p:sp>
      <p:sp>
        <p:nvSpPr>
          <p:cNvPr id="27" name="Rectangle 26"/>
          <p:cNvSpPr/>
          <p:nvPr/>
        </p:nvSpPr>
        <p:spPr>
          <a:xfrm>
            <a:off x="3116823" y="3931920"/>
            <a:ext cx="4253788" cy="822960"/>
          </a:xfrm>
          <a:prstGeom prst="rect">
            <a:avLst/>
          </a:prstGeom>
          <a:solidFill>
            <a:srgbClr val="F5F8FC"/>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3226551" y="3931920"/>
            <a:ext cx="4070908" cy="822960"/>
          </a:xfrm>
          <a:prstGeom prst="rect">
            <a:avLst/>
          </a:prstGeom>
          <a:noFill/>
        </p:spPr>
        <p:txBody>
          <a:bodyPr wrap="square" anchor="ctr">
            <a:spAutoFit/>
          </a:bodyPr>
          <a:lstStyle/>
          <a:p>
            <a:pPr algn="ctr">
              <a:spcAft>
                <a:spcPts val="400"/>
              </a:spcAft>
            </a:pPr>
            <a:r>
              <a:rPr sz="1250" b="0">
                <a:solidFill>
                  <a:srgbClr val="5B6372"/>
                </a:solidFill>
                <a:latin typeface="Arial"/>
              </a:rPr>
              <a:t>Existing GitHub PRs &amp; branch rules</a:t>
            </a:r>
          </a:p>
        </p:txBody>
      </p:sp>
      <p:sp>
        <p:nvSpPr>
          <p:cNvPr id="29" name="Rectangle 28"/>
          <p:cNvSpPr/>
          <p:nvPr/>
        </p:nvSpPr>
        <p:spPr>
          <a:xfrm>
            <a:off x="7370611" y="3931920"/>
            <a:ext cx="4041099" cy="822960"/>
          </a:xfrm>
          <a:prstGeom prst="rect">
            <a:avLst/>
          </a:prstGeom>
          <a:solidFill>
            <a:srgbClr val="F5F8FC"/>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7480339" y="3931920"/>
            <a:ext cx="3858219" cy="822960"/>
          </a:xfrm>
          <a:prstGeom prst="rect">
            <a:avLst/>
          </a:prstGeom>
          <a:noFill/>
        </p:spPr>
        <p:txBody>
          <a:bodyPr wrap="square" anchor="ctr">
            <a:spAutoFit/>
          </a:bodyPr>
          <a:lstStyle/>
          <a:p>
            <a:pPr algn="ctr">
              <a:spcAft>
                <a:spcPts val="400"/>
              </a:spcAft>
            </a:pPr>
            <a:r>
              <a:rPr sz="1250" b="0">
                <a:solidFill>
                  <a:srgbClr val="5B6372"/>
                </a:solidFill>
                <a:latin typeface="Arial"/>
              </a:rPr>
              <a:t>Native Git, AWS console/IAM</a:t>
            </a:r>
          </a:p>
        </p:txBody>
      </p:sp>
      <p:sp>
        <p:nvSpPr>
          <p:cNvPr id="31" name="Rectangle 30"/>
          <p:cNvSpPr/>
          <p:nvPr/>
        </p:nvSpPr>
        <p:spPr>
          <a:xfrm>
            <a:off x="777240" y="4754880"/>
            <a:ext cx="2339583" cy="822960"/>
          </a:xfrm>
          <a:prstGeom prst="rect">
            <a:avLst/>
          </a:prstGeom>
          <a:solidFill>
            <a:srgbClr val="FFFFFF"/>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TextBox 31"/>
          <p:cNvSpPr txBox="1"/>
          <p:nvPr/>
        </p:nvSpPr>
        <p:spPr>
          <a:xfrm>
            <a:off x="886968" y="4754880"/>
            <a:ext cx="2156703" cy="822960"/>
          </a:xfrm>
          <a:prstGeom prst="rect">
            <a:avLst/>
          </a:prstGeom>
          <a:noFill/>
        </p:spPr>
        <p:txBody>
          <a:bodyPr wrap="square" anchor="ctr">
            <a:spAutoFit/>
          </a:bodyPr>
          <a:lstStyle/>
          <a:p>
            <a:pPr algn="l">
              <a:spcAft>
                <a:spcPts val="400"/>
              </a:spcAft>
            </a:pPr>
            <a:r>
              <a:rPr sz="1250" b="1">
                <a:solidFill>
                  <a:srgbClr val="161B26"/>
                </a:solidFill>
                <a:latin typeface="Arial"/>
              </a:rPr>
              <a:t>Trigger</a:t>
            </a:r>
          </a:p>
        </p:txBody>
      </p:sp>
      <p:sp>
        <p:nvSpPr>
          <p:cNvPr id="33" name="Rectangle 32"/>
          <p:cNvSpPr/>
          <p:nvPr/>
        </p:nvSpPr>
        <p:spPr>
          <a:xfrm>
            <a:off x="3116823" y="4754880"/>
            <a:ext cx="4253788" cy="822960"/>
          </a:xfrm>
          <a:prstGeom prst="rect">
            <a:avLst/>
          </a:prstGeom>
          <a:solidFill>
            <a:srgbClr val="FFFFFF"/>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TextBox 33"/>
          <p:cNvSpPr txBox="1"/>
          <p:nvPr/>
        </p:nvSpPr>
        <p:spPr>
          <a:xfrm>
            <a:off x="3226551" y="4754880"/>
            <a:ext cx="4070908" cy="822960"/>
          </a:xfrm>
          <a:prstGeom prst="rect">
            <a:avLst/>
          </a:prstGeom>
          <a:noFill/>
        </p:spPr>
        <p:txBody>
          <a:bodyPr wrap="square" anchor="ctr">
            <a:spAutoFit/>
          </a:bodyPr>
          <a:lstStyle/>
          <a:p>
            <a:pPr algn="ctr">
              <a:spcAft>
                <a:spcPts val="400"/>
              </a:spcAft>
            </a:pPr>
            <a:r>
              <a:rPr sz="1250" b="0">
                <a:solidFill>
                  <a:srgbClr val="5B6372"/>
                </a:solidFill>
                <a:latin typeface="Arial"/>
              </a:rPr>
              <a:t>Connection webhook</a:t>
            </a:r>
          </a:p>
        </p:txBody>
      </p:sp>
      <p:sp>
        <p:nvSpPr>
          <p:cNvPr id="35" name="Rectangle 34"/>
          <p:cNvSpPr/>
          <p:nvPr/>
        </p:nvSpPr>
        <p:spPr>
          <a:xfrm>
            <a:off x="7370611" y="4754880"/>
            <a:ext cx="4041099" cy="822960"/>
          </a:xfrm>
          <a:prstGeom prst="rect">
            <a:avLst/>
          </a:prstGeom>
          <a:solidFill>
            <a:srgbClr val="FFFFFF"/>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TextBox 35"/>
          <p:cNvSpPr txBox="1"/>
          <p:nvPr/>
        </p:nvSpPr>
        <p:spPr>
          <a:xfrm>
            <a:off x="7480339" y="4754880"/>
            <a:ext cx="3858219" cy="822960"/>
          </a:xfrm>
          <a:prstGeom prst="rect">
            <a:avLst/>
          </a:prstGeom>
          <a:noFill/>
        </p:spPr>
        <p:txBody>
          <a:bodyPr wrap="square" anchor="ctr">
            <a:spAutoFit/>
          </a:bodyPr>
          <a:lstStyle/>
          <a:p>
            <a:pPr algn="ctr">
              <a:spcAft>
                <a:spcPts val="400"/>
              </a:spcAft>
            </a:pPr>
            <a:r>
              <a:rPr sz="1250" b="0">
                <a:solidFill>
                  <a:srgbClr val="5B6372"/>
                </a:solidFill>
                <a:latin typeface="Arial"/>
              </a:rPr>
              <a:t>CloudWatch Events / EventBridge</a:t>
            </a:r>
          </a:p>
        </p:txBody>
      </p:sp>
      <p:sp>
        <p:nvSpPr>
          <p:cNvPr id="37" name="TextBox 36"/>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DevOps Engineering on AWS  ·  TGS-2023040474</a:t>
            </a:r>
          </a:p>
        </p:txBody>
      </p:sp>
      <p:sp>
        <p:nvSpPr>
          <p:cNvPr id="38" name="TextBox 37"/>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39" name="TextBox 38"/>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54</a:t>
            </a:r>
          </a:p>
        </p:txBody>
      </p:sp>
    </p:spTree>
  </p:cSld>
  <p:clrMapOvr>
    <a:masterClrMapping/>
  </p:clrMapOvr>
  <p:transition xmlns:p14="http://schemas.microsoft.com/office/powerpoint/2010/main" p14:dur="380">
    <p:fade/>
  </p:transition>
</p:sld>
</file>

<file path=ppt/slides/slide5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38912"/>
            <a:ext cx="10607040" cy="365760"/>
          </a:xfrm>
          <a:prstGeom prst="rect">
            <a:avLst/>
          </a:prstGeom>
          <a:noFill/>
        </p:spPr>
        <p:txBody>
          <a:bodyPr wrap="square" anchor="t">
            <a:spAutoFit/>
          </a:bodyPr>
          <a:lstStyle/>
          <a:p>
            <a:pPr algn="l">
              <a:spcAft>
                <a:spcPts val="400"/>
              </a:spcAft>
            </a:pPr>
            <a:r>
              <a:rPr sz="1400" b="1">
                <a:solidFill>
                  <a:srgbClr val="1F6FEB"/>
                </a:solidFill>
                <a:latin typeface="Arial"/>
              </a:rPr>
              <a:t>OPTIMISE THE BOTTLENECK</a:t>
            </a:r>
          </a:p>
        </p:txBody>
      </p:sp>
      <p:sp>
        <p:nvSpPr>
          <p:cNvPr id="5" name="TextBox 4"/>
          <p:cNvSpPr txBox="1"/>
          <p:nvPr/>
        </p:nvSpPr>
        <p:spPr>
          <a:xfrm>
            <a:off x="777240" y="896112"/>
            <a:ext cx="10927080" cy="731520"/>
          </a:xfrm>
          <a:prstGeom prst="rect">
            <a:avLst/>
          </a:prstGeom>
          <a:noFill/>
        </p:spPr>
        <p:txBody>
          <a:bodyPr wrap="square" anchor="t">
            <a:spAutoFit/>
          </a:bodyPr>
          <a:lstStyle/>
          <a:p>
            <a:pPr algn="l">
              <a:spcAft>
                <a:spcPts val="400"/>
              </a:spcAft>
            </a:pPr>
            <a:r>
              <a:rPr sz="2500" b="1">
                <a:solidFill>
                  <a:srgbClr val="161B26"/>
                </a:solidFill>
                <a:latin typeface="Arial"/>
              </a:rPr>
              <a:t>Pipeline Lead Time by Stage — Where the Minutes Go</a:t>
            </a:r>
          </a:p>
        </p:txBody>
      </p:sp>
      <p:sp>
        <p:nvSpPr>
          <p:cNvPr id="6" name="Rectangle 5"/>
          <p:cNvSpPr/>
          <p:nvPr/>
        </p:nvSpPr>
        <p:spPr>
          <a:xfrm>
            <a:off x="777240" y="1572768"/>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graphicFrame>
        <p:nvGraphicFramePr>
          <p:cNvPr id="7" name="Chart 6"/>
          <p:cNvGraphicFramePr>
            <a:graphicFrameLocks noGrp="1"/>
          </p:cNvGraphicFramePr>
          <p:nvPr/>
        </p:nvGraphicFramePr>
        <p:xfrm>
          <a:off x="777240" y="1828800"/>
          <a:ext cx="10634472" cy="3291840"/>
        </p:xfrm>
        <a:graphic>
          <a:graphicData uri="http://schemas.openxmlformats.org/drawingml/2006/chart">
            <c:chart xmlns:c="http://schemas.openxmlformats.org/drawingml/2006/chart" r:id="rId2"/>
          </a:graphicData>
        </a:graphic>
      </p:graphicFrame>
      <p:sp>
        <p:nvSpPr>
          <p:cNvPr id="8" name="Rectangle 7"/>
          <p:cNvSpPr/>
          <p:nvPr/>
        </p:nvSpPr>
        <p:spPr>
          <a:xfrm>
            <a:off x="777240" y="5349240"/>
            <a:ext cx="10634472" cy="86868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777240" y="5349240"/>
            <a:ext cx="91440" cy="86868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005840" y="5440680"/>
            <a:ext cx="10241280" cy="320040"/>
          </a:xfrm>
          <a:prstGeom prst="rect">
            <a:avLst/>
          </a:prstGeom>
          <a:noFill/>
        </p:spPr>
        <p:txBody>
          <a:bodyPr wrap="square" anchor="t">
            <a:spAutoFit/>
          </a:bodyPr>
          <a:lstStyle/>
          <a:p>
            <a:pPr algn="l">
              <a:spcAft>
                <a:spcPts val="400"/>
              </a:spcAft>
            </a:pPr>
            <a:r>
              <a:rPr sz="1100" b="1">
                <a:solidFill>
                  <a:srgbClr val="1F6FEB"/>
                </a:solidFill>
                <a:latin typeface="Arial"/>
              </a:rPr>
              <a:t>WHAT THE DATA SHOWS</a:t>
            </a:r>
          </a:p>
        </p:txBody>
      </p:sp>
      <p:sp>
        <p:nvSpPr>
          <p:cNvPr id="11" name="TextBox 10"/>
          <p:cNvSpPr txBox="1"/>
          <p:nvPr/>
        </p:nvSpPr>
        <p:spPr>
          <a:xfrm>
            <a:off x="1005840" y="5742432"/>
            <a:ext cx="10241280" cy="457200"/>
          </a:xfrm>
          <a:prstGeom prst="rect">
            <a:avLst/>
          </a:prstGeom>
          <a:noFill/>
        </p:spPr>
        <p:txBody>
          <a:bodyPr wrap="square" anchor="t">
            <a:spAutoFit/>
          </a:bodyPr>
          <a:lstStyle/>
          <a:p>
            <a:pPr algn="l">
              <a:spcAft>
                <a:spcPts val="400"/>
              </a:spcAft>
            </a:pPr>
            <a:r>
              <a:rPr sz="1350" b="0">
                <a:solidFill>
                  <a:srgbClr val="161B26"/>
                </a:solidFill>
                <a:latin typeface="Arial"/>
              </a:rPr>
              <a:t>Manual approval dominates lead time here — automate the checks it waits on so approval is a formality, not a bottleneck.</a:t>
            </a:r>
          </a:p>
        </p:txBody>
      </p:sp>
      <p:sp>
        <p:nvSpPr>
          <p:cNvPr id="12" name="TextBox 11"/>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DevOps Engineering on AWS  ·  TGS-2023040474</a:t>
            </a:r>
          </a:p>
        </p:txBody>
      </p:sp>
      <p:sp>
        <p:nvSpPr>
          <p:cNvPr id="13" name="TextBox 12"/>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4" name="TextBox 13"/>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55</a:t>
            </a:r>
          </a:p>
        </p:txBody>
      </p:sp>
    </p:spTree>
  </p:cSld>
  <p:clrMapOvr>
    <a:masterClrMapping/>
  </p:clrMapOvr>
  <p:transition xmlns:p14="http://schemas.microsoft.com/office/powerpoint/2010/main" p14:dur="380">
    <p:fade/>
  </p:transition>
</p:sld>
</file>

<file path=ppt/slides/slide5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38912"/>
            <a:ext cx="10607040" cy="365760"/>
          </a:xfrm>
          <a:prstGeom prst="rect">
            <a:avLst/>
          </a:prstGeom>
          <a:noFill/>
        </p:spPr>
        <p:txBody>
          <a:bodyPr wrap="square" anchor="t">
            <a:spAutoFit/>
          </a:bodyPr>
          <a:lstStyle/>
          <a:p>
            <a:pPr algn="l">
              <a:spcAft>
                <a:spcPts val="400"/>
              </a:spcAft>
            </a:pPr>
            <a:r>
              <a:rPr sz="1400" b="1">
                <a:solidFill>
                  <a:srgbClr val="1F6FEB"/>
                </a:solidFill>
                <a:latin typeface="Arial"/>
              </a:rPr>
              <a:t>WHAT BREAKS PIPELINES</a:t>
            </a:r>
          </a:p>
        </p:txBody>
      </p:sp>
      <p:sp>
        <p:nvSpPr>
          <p:cNvPr id="5" name="TextBox 4"/>
          <p:cNvSpPr txBox="1"/>
          <p:nvPr/>
        </p:nvSpPr>
        <p:spPr>
          <a:xfrm>
            <a:off x="777240" y="804672"/>
            <a:ext cx="10927080" cy="731520"/>
          </a:xfrm>
          <a:prstGeom prst="rect">
            <a:avLst/>
          </a:prstGeom>
          <a:noFill/>
        </p:spPr>
        <p:txBody>
          <a:bodyPr wrap="square" anchor="t">
            <a:spAutoFit/>
          </a:bodyPr>
          <a:lstStyle/>
          <a:p>
            <a:pPr algn="l">
              <a:spcAft>
                <a:spcPts val="400"/>
              </a:spcAft>
            </a:pPr>
            <a:r>
              <a:rPr sz="2900" b="1">
                <a:solidFill>
                  <a:srgbClr val="161B26"/>
                </a:solidFill>
                <a:latin typeface="Arial"/>
              </a:rPr>
              <a:t>CI/CD Failure Modes &amp; Anti-Patterns</a:t>
            </a:r>
          </a:p>
        </p:txBody>
      </p:sp>
      <p:sp>
        <p:nvSpPr>
          <p:cNvPr id="6" name="Rectangle 5"/>
          <p:cNvSpPr/>
          <p:nvPr/>
        </p:nvSpPr>
        <p:spPr>
          <a:xfrm>
            <a:off x="777240" y="1572768"/>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783080"/>
            <a:ext cx="5180076" cy="131064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1783080"/>
            <a:ext cx="91440" cy="131064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1033272" y="2164080"/>
            <a:ext cx="548640" cy="548640"/>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033272" y="2164080"/>
            <a:ext cx="548640" cy="548640"/>
          </a:xfrm>
          <a:prstGeom prst="rect">
            <a:avLst/>
          </a:prstGeom>
          <a:noFill/>
        </p:spPr>
        <p:txBody>
          <a:bodyPr wrap="square" anchor="ctr">
            <a:spAutoFit/>
          </a:bodyPr>
          <a:lstStyle/>
          <a:p>
            <a:pPr algn="ctr">
              <a:spcAft>
                <a:spcPts val="400"/>
              </a:spcAft>
            </a:pPr>
            <a:r>
              <a:rPr sz="1800" b="1">
                <a:solidFill>
                  <a:srgbClr val="FFFFFF"/>
                </a:solidFill>
                <a:latin typeface="Arial"/>
              </a:rPr>
              <a:t>1</a:t>
            </a:r>
          </a:p>
        </p:txBody>
      </p:sp>
      <p:sp>
        <p:nvSpPr>
          <p:cNvPr id="11" name="TextBox 10"/>
          <p:cNvSpPr txBox="1"/>
          <p:nvPr/>
        </p:nvSpPr>
        <p:spPr>
          <a:xfrm>
            <a:off x="1764792" y="1892808"/>
            <a:ext cx="3973068" cy="1127760"/>
          </a:xfrm>
          <a:prstGeom prst="rect">
            <a:avLst/>
          </a:prstGeom>
          <a:noFill/>
        </p:spPr>
        <p:txBody>
          <a:bodyPr wrap="square" anchor="ctr">
            <a:spAutoFit/>
          </a:bodyPr>
          <a:lstStyle/>
          <a:p>
            <a:pPr algn="l">
              <a:spcAft>
                <a:spcPts val="300"/>
              </a:spcAft>
            </a:pPr>
            <a:r>
              <a:rPr sz="1500" b="1">
                <a:solidFill>
                  <a:srgbClr val="161B26"/>
                </a:solidFill>
                <a:latin typeface="Arial"/>
              </a:rPr>
              <a:t>Snowflake build agents</a:t>
            </a:r>
          </a:p>
          <a:p>
            <a:pPr algn="l">
              <a:spcAft>
                <a:spcPts val="300"/>
              </a:spcAft>
            </a:pPr>
            <a:r>
              <a:rPr sz="1100" b="0">
                <a:solidFill>
                  <a:srgbClr val="5B6372"/>
                </a:solidFill>
                <a:latin typeface="Arial"/>
              </a:rPr>
              <a:t>Builds pass locally, fail in CodeBuild → pin runtime-versions and build in clean containers.</a:t>
            </a:r>
          </a:p>
        </p:txBody>
      </p:sp>
      <p:sp>
        <p:nvSpPr>
          <p:cNvPr id="12" name="Rectangle 11"/>
          <p:cNvSpPr/>
          <p:nvPr/>
        </p:nvSpPr>
        <p:spPr>
          <a:xfrm>
            <a:off x="6231636" y="1783080"/>
            <a:ext cx="5180076" cy="131064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6231636" y="1783080"/>
            <a:ext cx="91440" cy="131064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Oval 13"/>
          <p:cNvSpPr/>
          <p:nvPr/>
        </p:nvSpPr>
        <p:spPr>
          <a:xfrm>
            <a:off x="6487668" y="2164080"/>
            <a:ext cx="548640" cy="54864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6487668" y="2164080"/>
            <a:ext cx="548640" cy="548640"/>
          </a:xfrm>
          <a:prstGeom prst="rect">
            <a:avLst/>
          </a:prstGeom>
          <a:noFill/>
        </p:spPr>
        <p:txBody>
          <a:bodyPr wrap="square" anchor="ctr">
            <a:spAutoFit/>
          </a:bodyPr>
          <a:lstStyle/>
          <a:p>
            <a:pPr algn="ctr">
              <a:spcAft>
                <a:spcPts val="400"/>
              </a:spcAft>
            </a:pPr>
            <a:r>
              <a:rPr sz="1800" b="1">
                <a:solidFill>
                  <a:srgbClr val="FFFFFF"/>
                </a:solidFill>
                <a:latin typeface="Arial"/>
              </a:rPr>
              <a:t>2</a:t>
            </a:r>
          </a:p>
        </p:txBody>
      </p:sp>
      <p:sp>
        <p:nvSpPr>
          <p:cNvPr id="16" name="TextBox 15"/>
          <p:cNvSpPr txBox="1"/>
          <p:nvPr/>
        </p:nvSpPr>
        <p:spPr>
          <a:xfrm>
            <a:off x="7219188" y="1892808"/>
            <a:ext cx="3973068" cy="1127760"/>
          </a:xfrm>
          <a:prstGeom prst="rect">
            <a:avLst/>
          </a:prstGeom>
          <a:noFill/>
        </p:spPr>
        <p:txBody>
          <a:bodyPr wrap="square" anchor="ctr">
            <a:spAutoFit/>
          </a:bodyPr>
          <a:lstStyle/>
          <a:p>
            <a:pPr algn="l">
              <a:spcAft>
                <a:spcPts val="300"/>
              </a:spcAft>
            </a:pPr>
            <a:r>
              <a:rPr sz="1500" b="1">
                <a:solidFill>
                  <a:srgbClr val="161B26"/>
                </a:solidFill>
                <a:latin typeface="Arial"/>
              </a:rPr>
              <a:t>Secrets in source/logs</a:t>
            </a:r>
          </a:p>
          <a:p>
            <a:pPr algn="l">
              <a:spcAft>
                <a:spcPts val="300"/>
              </a:spcAft>
            </a:pPr>
            <a:r>
              <a:rPr sz="1100" b="0">
                <a:solidFill>
                  <a:srgbClr val="5B6372"/>
                </a:solidFill>
                <a:latin typeface="Arial"/>
              </a:rPr>
              <a:t>Keys committed or echoed → pull from Secrets Manager/SSM at build time; mask in logs.</a:t>
            </a:r>
          </a:p>
        </p:txBody>
      </p:sp>
      <p:sp>
        <p:nvSpPr>
          <p:cNvPr id="17" name="Rectangle 16"/>
          <p:cNvSpPr/>
          <p:nvPr/>
        </p:nvSpPr>
        <p:spPr>
          <a:xfrm>
            <a:off x="777240" y="3313176"/>
            <a:ext cx="5180076" cy="131064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777240" y="3313176"/>
            <a:ext cx="91440" cy="1310640"/>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Oval 18"/>
          <p:cNvSpPr/>
          <p:nvPr/>
        </p:nvSpPr>
        <p:spPr>
          <a:xfrm>
            <a:off x="1033272" y="3694176"/>
            <a:ext cx="548640" cy="548640"/>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1033272" y="3694176"/>
            <a:ext cx="548640" cy="548640"/>
          </a:xfrm>
          <a:prstGeom prst="rect">
            <a:avLst/>
          </a:prstGeom>
          <a:noFill/>
        </p:spPr>
        <p:txBody>
          <a:bodyPr wrap="square" anchor="ctr">
            <a:spAutoFit/>
          </a:bodyPr>
          <a:lstStyle/>
          <a:p>
            <a:pPr algn="ctr">
              <a:spcAft>
                <a:spcPts val="400"/>
              </a:spcAft>
            </a:pPr>
            <a:r>
              <a:rPr sz="1800" b="1">
                <a:solidFill>
                  <a:srgbClr val="FFFFFF"/>
                </a:solidFill>
                <a:latin typeface="Arial"/>
              </a:rPr>
              <a:t>3</a:t>
            </a:r>
          </a:p>
        </p:txBody>
      </p:sp>
      <p:sp>
        <p:nvSpPr>
          <p:cNvPr id="21" name="TextBox 20"/>
          <p:cNvSpPr txBox="1"/>
          <p:nvPr/>
        </p:nvSpPr>
        <p:spPr>
          <a:xfrm>
            <a:off x="1764792" y="3422904"/>
            <a:ext cx="3973068" cy="1127760"/>
          </a:xfrm>
          <a:prstGeom prst="rect">
            <a:avLst/>
          </a:prstGeom>
          <a:noFill/>
        </p:spPr>
        <p:txBody>
          <a:bodyPr wrap="square" anchor="ctr">
            <a:spAutoFit/>
          </a:bodyPr>
          <a:lstStyle/>
          <a:p>
            <a:pPr algn="l">
              <a:spcAft>
                <a:spcPts val="300"/>
              </a:spcAft>
            </a:pPr>
            <a:r>
              <a:rPr sz="1500" b="1">
                <a:solidFill>
                  <a:srgbClr val="161B26"/>
                </a:solidFill>
                <a:latin typeface="Arial"/>
              </a:rPr>
              <a:t>Flaky tests ignored</a:t>
            </a:r>
          </a:p>
          <a:p>
            <a:pPr algn="l">
              <a:spcAft>
                <a:spcPts val="300"/>
              </a:spcAft>
            </a:pPr>
            <a:r>
              <a:rPr sz="1100" b="0">
                <a:solidFill>
                  <a:srgbClr val="5B6372"/>
                </a:solidFill>
                <a:latin typeface="Arial"/>
              </a:rPr>
              <a:t>Red builds routinely overridden → quarantine and fix flaky tests; a gate you bypass is no gate.</a:t>
            </a:r>
          </a:p>
        </p:txBody>
      </p:sp>
      <p:sp>
        <p:nvSpPr>
          <p:cNvPr id="22" name="Rectangle 21"/>
          <p:cNvSpPr/>
          <p:nvPr/>
        </p:nvSpPr>
        <p:spPr>
          <a:xfrm>
            <a:off x="6231636" y="3313176"/>
            <a:ext cx="5180076" cy="131064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ectangle 22"/>
          <p:cNvSpPr/>
          <p:nvPr/>
        </p:nvSpPr>
        <p:spPr>
          <a:xfrm>
            <a:off x="6231636" y="3313176"/>
            <a:ext cx="91440" cy="1310640"/>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Oval 23"/>
          <p:cNvSpPr/>
          <p:nvPr/>
        </p:nvSpPr>
        <p:spPr>
          <a:xfrm>
            <a:off x="6487668" y="3694176"/>
            <a:ext cx="548640" cy="548640"/>
          </a:xfrm>
          <a:prstGeom prst="ellipse">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6487668" y="3694176"/>
            <a:ext cx="548640" cy="548640"/>
          </a:xfrm>
          <a:prstGeom prst="rect">
            <a:avLst/>
          </a:prstGeom>
          <a:noFill/>
        </p:spPr>
        <p:txBody>
          <a:bodyPr wrap="square" anchor="ctr">
            <a:spAutoFit/>
          </a:bodyPr>
          <a:lstStyle/>
          <a:p>
            <a:pPr algn="ctr">
              <a:spcAft>
                <a:spcPts val="400"/>
              </a:spcAft>
            </a:pPr>
            <a:r>
              <a:rPr sz="1800" b="1">
                <a:solidFill>
                  <a:srgbClr val="FFFFFF"/>
                </a:solidFill>
                <a:latin typeface="Arial"/>
              </a:rPr>
              <a:t>4</a:t>
            </a:r>
          </a:p>
        </p:txBody>
      </p:sp>
      <p:sp>
        <p:nvSpPr>
          <p:cNvPr id="26" name="TextBox 25"/>
          <p:cNvSpPr txBox="1"/>
          <p:nvPr/>
        </p:nvSpPr>
        <p:spPr>
          <a:xfrm>
            <a:off x="7219188" y="3422904"/>
            <a:ext cx="3973068" cy="1127760"/>
          </a:xfrm>
          <a:prstGeom prst="rect">
            <a:avLst/>
          </a:prstGeom>
          <a:noFill/>
        </p:spPr>
        <p:txBody>
          <a:bodyPr wrap="square" anchor="ctr">
            <a:spAutoFit/>
          </a:bodyPr>
          <a:lstStyle/>
          <a:p>
            <a:pPr algn="l">
              <a:spcAft>
                <a:spcPts val="300"/>
              </a:spcAft>
            </a:pPr>
            <a:r>
              <a:rPr sz="1500" b="1">
                <a:solidFill>
                  <a:srgbClr val="161B26"/>
                </a:solidFill>
                <a:latin typeface="Arial"/>
              </a:rPr>
              <a:t>Rebuild on promotion</a:t>
            </a:r>
          </a:p>
          <a:p>
            <a:pPr algn="l">
              <a:spcAft>
                <a:spcPts val="300"/>
              </a:spcAft>
            </a:pPr>
            <a:r>
              <a:rPr sz="1100" b="0">
                <a:solidFill>
                  <a:srgbClr val="5B6372"/>
                </a:solidFill>
                <a:latin typeface="Arial"/>
              </a:rPr>
              <a:t>Different artifact per environment → build once, promote the same artifact.</a:t>
            </a:r>
          </a:p>
        </p:txBody>
      </p:sp>
      <p:sp>
        <p:nvSpPr>
          <p:cNvPr id="27" name="Rectangle 26"/>
          <p:cNvSpPr/>
          <p:nvPr/>
        </p:nvSpPr>
        <p:spPr>
          <a:xfrm>
            <a:off x="777240" y="4843272"/>
            <a:ext cx="5180076" cy="131064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Rectangle 27"/>
          <p:cNvSpPr/>
          <p:nvPr/>
        </p:nvSpPr>
        <p:spPr>
          <a:xfrm>
            <a:off x="777240" y="4843272"/>
            <a:ext cx="91440" cy="1310640"/>
          </a:xfrm>
          <a:prstGeom prst="rect">
            <a:avLst/>
          </a:prstGeom>
          <a:solidFill>
            <a:srgbClr val="EC711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Oval 28"/>
          <p:cNvSpPr/>
          <p:nvPr/>
        </p:nvSpPr>
        <p:spPr>
          <a:xfrm>
            <a:off x="1033272" y="5224272"/>
            <a:ext cx="548640" cy="548640"/>
          </a:xfrm>
          <a:prstGeom prst="ellipse">
            <a:avLst/>
          </a:prstGeom>
          <a:solidFill>
            <a:srgbClr val="EC711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1033272" y="5224272"/>
            <a:ext cx="548640" cy="548640"/>
          </a:xfrm>
          <a:prstGeom prst="rect">
            <a:avLst/>
          </a:prstGeom>
          <a:noFill/>
        </p:spPr>
        <p:txBody>
          <a:bodyPr wrap="square" anchor="ctr">
            <a:spAutoFit/>
          </a:bodyPr>
          <a:lstStyle/>
          <a:p>
            <a:pPr algn="ctr">
              <a:spcAft>
                <a:spcPts val="400"/>
              </a:spcAft>
            </a:pPr>
            <a:r>
              <a:rPr sz="1800" b="1">
                <a:solidFill>
                  <a:srgbClr val="FFFFFF"/>
                </a:solidFill>
                <a:latin typeface="Arial"/>
              </a:rPr>
              <a:t>5</a:t>
            </a:r>
          </a:p>
        </p:txBody>
      </p:sp>
      <p:sp>
        <p:nvSpPr>
          <p:cNvPr id="31" name="TextBox 30"/>
          <p:cNvSpPr txBox="1"/>
          <p:nvPr/>
        </p:nvSpPr>
        <p:spPr>
          <a:xfrm>
            <a:off x="1764792" y="4953000"/>
            <a:ext cx="3973068" cy="1127760"/>
          </a:xfrm>
          <a:prstGeom prst="rect">
            <a:avLst/>
          </a:prstGeom>
          <a:noFill/>
        </p:spPr>
        <p:txBody>
          <a:bodyPr wrap="square" anchor="ctr">
            <a:spAutoFit/>
          </a:bodyPr>
          <a:lstStyle/>
          <a:p>
            <a:pPr algn="l">
              <a:spcAft>
                <a:spcPts val="300"/>
              </a:spcAft>
            </a:pPr>
            <a:r>
              <a:rPr sz="1500" b="1">
                <a:solidFill>
                  <a:srgbClr val="161B26"/>
                </a:solidFill>
                <a:latin typeface="Arial"/>
              </a:rPr>
              <a:t>No automated rollback</a:t>
            </a:r>
          </a:p>
          <a:p>
            <a:pPr algn="l">
              <a:spcAft>
                <a:spcPts val="300"/>
              </a:spcAft>
            </a:pPr>
            <a:r>
              <a:rPr sz="1100" b="0">
                <a:solidFill>
                  <a:srgbClr val="5B6372"/>
                </a:solidFill>
                <a:latin typeface="Arial"/>
              </a:rPr>
              <a:t>Bad deploy needs a human at 2am → alarm-based rollback on CodeDeploy.</a:t>
            </a:r>
          </a:p>
        </p:txBody>
      </p:sp>
      <p:sp>
        <p:nvSpPr>
          <p:cNvPr id="32" name="Rectangle 31"/>
          <p:cNvSpPr/>
          <p:nvPr/>
        </p:nvSpPr>
        <p:spPr>
          <a:xfrm>
            <a:off x="6231636" y="4843272"/>
            <a:ext cx="5180076" cy="131064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Rectangle 32"/>
          <p:cNvSpPr/>
          <p:nvPr/>
        </p:nvSpPr>
        <p:spPr>
          <a:xfrm>
            <a:off x="6231636" y="4843272"/>
            <a:ext cx="91440" cy="1310640"/>
          </a:xfrm>
          <a:prstGeom prst="rect">
            <a:avLst/>
          </a:prstGeom>
          <a:solidFill>
            <a:srgbClr val="0E9EC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Oval 33"/>
          <p:cNvSpPr/>
          <p:nvPr/>
        </p:nvSpPr>
        <p:spPr>
          <a:xfrm>
            <a:off x="6487668" y="5224272"/>
            <a:ext cx="548640" cy="548640"/>
          </a:xfrm>
          <a:prstGeom prst="ellipse">
            <a:avLst/>
          </a:prstGeom>
          <a:solidFill>
            <a:srgbClr val="0E9EC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TextBox 34"/>
          <p:cNvSpPr txBox="1"/>
          <p:nvPr/>
        </p:nvSpPr>
        <p:spPr>
          <a:xfrm>
            <a:off x="6487668" y="5224272"/>
            <a:ext cx="548640" cy="548640"/>
          </a:xfrm>
          <a:prstGeom prst="rect">
            <a:avLst/>
          </a:prstGeom>
          <a:noFill/>
        </p:spPr>
        <p:txBody>
          <a:bodyPr wrap="square" anchor="ctr">
            <a:spAutoFit/>
          </a:bodyPr>
          <a:lstStyle/>
          <a:p>
            <a:pPr algn="ctr">
              <a:spcAft>
                <a:spcPts val="400"/>
              </a:spcAft>
            </a:pPr>
            <a:r>
              <a:rPr sz="1800" b="1">
                <a:solidFill>
                  <a:srgbClr val="FFFFFF"/>
                </a:solidFill>
                <a:latin typeface="Arial"/>
              </a:rPr>
              <a:t>6</a:t>
            </a:r>
          </a:p>
        </p:txBody>
      </p:sp>
      <p:sp>
        <p:nvSpPr>
          <p:cNvPr id="36" name="TextBox 35"/>
          <p:cNvSpPr txBox="1"/>
          <p:nvPr/>
        </p:nvSpPr>
        <p:spPr>
          <a:xfrm>
            <a:off x="7219188" y="4953000"/>
            <a:ext cx="3973068" cy="1127760"/>
          </a:xfrm>
          <a:prstGeom prst="rect">
            <a:avLst/>
          </a:prstGeom>
          <a:noFill/>
        </p:spPr>
        <p:txBody>
          <a:bodyPr wrap="square" anchor="ctr">
            <a:spAutoFit/>
          </a:bodyPr>
          <a:lstStyle/>
          <a:p>
            <a:pPr algn="l">
              <a:spcAft>
                <a:spcPts val="300"/>
              </a:spcAft>
            </a:pPr>
            <a:r>
              <a:rPr sz="1500" b="1">
                <a:solidFill>
                  <a:srgbClr val="161B26"/>
                </a:solidFill>
                <a:latin typeface="Arial"/>
              </a:rPr>
              <a:t>Polling instead of webhooks</a:t>
            </a:r>
          </a:p>
          <a:p>
            <a:pPr algn="l">
              <a:spcAft>
                <a:spcPts val="300"/>
              </a:spcAft>
            </a:pPr>
            <a:r>
              <a:rPr sz="1100" b="0">
                <a:solidFill>
                  <a:srgbClr val="5B6372"/>
                </a:solidFill>
                <a:latin typeface="Arial"/>
              </a:rPr>
              <a:t>Slow, missed triggers → use the CodeConnections webhook.</a:t>
            </a:r>
          </a:p>
        </p:txBody>
      </p:sp>
      <p:sp>
        <p:nvSpPr>
          <p:cNvPr id="37" name="TextBox 36"/>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DevOps Engineering on AWS  ·  TGS-2023040474</a:t>
            </a:r>
          </a:p>
        </p:txBody>
      </p:sp>
      <p:sp>
        <p:nvSpPr>
          <p:cNvPr id="38" name="TextBox 37"/>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39" name="TextBox 38"/>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56</a:t>
            </a:r>
          </a:p>
        </p:txBody>
      </p:sp>
    </p:spTree>
  </p:cSld>
  <p:clrMapOvr>
    <a:masterClrMapping/>
  </p:clrMapOvr>
  <p:transition xmlns:p14="http://schemas.microsoft.com/office/powerpoint/2010/main" p14:dur="380">
    <p:fade/>
  </p:transition>
</p:sld>
</file>

<file path=ppt/slides/slide5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38912"/>
            <a:ext cx="10607040" cy="365760"/>
          </a:xfrm>
          <a:prstGeom prst="rect">
            <a:avLst/>
          </a:prstGeom>
          <a:noFill/>
        </p:spPr>
        <p:txBody>
          <a:bodyPr wrap="square" anchor="t">
            <a:spAutoFit/>
          </a:bodyPr>
          <a:lstStyle/>
          <a:p>
            <a:pPr algn="l">
              <a:spcAft>
                <a:spcPts val="400"/>
              </a:spcAft>
            </a:pPr>
            <a:r>
              <a:rPr sz="1400" b="1">
                <a:solidFill>
                  <a:srgbClr val="1F6FEB"/>
                </a:solidFill>
                <a:latin typeface="Arial"/>
              </a:rPr>
              <a:t>PROVEN PRACTICES</a:t>
            </a:r>
          </a:p>
        </p:txBody>
      </p:sp>
      <p:sp>
        <p:nvSpPr>
          <p:cNvPr id="5" name="TextBox 4"/>
          <p:cNvSpPr txBox="1"/>
          <p:nvPr/>
        </p:nvSpPr>
        <p:spPr>
          <a:xfrm>
            <a:off x="777240" y="804672"/>
            <a:ext cx="10927080" cy="731520"/>
          </a:xfrm>
          <a:prstGeom prst="rect">
            <a:avLst/>
          </a:prstGeom>
          <a:noFill/>
        </p:spPr>
        <p:txBody>
          <a:bodyPr wrap="square" anchor="t">
            <a:spAutoFit/>
          </a:bodyPr>
          <a:lstStyle/>
          <a:p>
            <a:pPr algn="l">
              <a:spcAft>
                <a:spcPts val="400"/>
              </a:spcAft>
            </a:pPr>
            <a:r>
              <a:rPr sz="2900" b="1">
                <a:solidFill>
                  <a:srgbClr val="161B26"/>
                </a:solidFill>
                <a:latin typeface="Arial"/>
              </a:rPr>
              <a:t>Delivery Patterns Worth Adopting</a:t>
            </a:r>
          </a:p>
        </p:txBody>
      </p:sp>
      <p:sp>
        <p:nvSpPr>
          <p:cNvPr id="6" name="Rectangle 5"/>
          <p:cNvSpPr/>
          <p:nvPr/>
        </p:nvSpPr>
        <p:spPr>
          <a:xfrm>
            <a:off x="777240" y="1572768"/>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783080"/>
            <a:ext cx="5180076" cy="131064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1783080"/>
            <a:ext cx="91440" cy="131064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1033272" y="2164080"/>
            <a:ext cx="548640" cy="548640"/>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033272" y="2164080"/>
            <a:ext cx="548640" cy="548640"/>
          </a:xfrm>
          <a:prstGeom prst="rect">
            <a:avLst/>
          </a:prstGeom>
          <a:noFill/>
        </p:spPr>
        <p:txBody>
          <a:bodyPr wrap="square" anchor="ctr">
            <a:spAutoFit/>
          </a:bodyPr>
          <a:lstStyle/>
          <a:p>
            <a:pPr algn="ctr">
              <a:spcAft>
                <a:spcPts val="400"/>
              </a:spcAft>
            </a:pPr>
            <a:r>
              <a:rPr sz="1800" b="1">
                <a:solidFill>
                  <a:srgbClr val="FFFFFF"/>
                </a:solidFill>
                <a:latin typeface="Arial"/>
              </a:rPr>
              <a:t>1</a:t>
            </a:r>
          </a:p>
        </p:txBody>
      </p:sp>
      <p:sp>
        <p:nvSpPr>
          <p:cNvPr id="11" name="TextBox 10"/>
          <p:cNvSpPr txBox="1"/>
          <p:nvPr/>
        </p:nvSpPr>
        <p:spPr>
          <a:xfrm>
            <a:off x="1764792" y="1892808"/>
            <a:ext cx="3973068" cy="1127760"/>
          </a:xfrm>
          <a:prstGeom prst="rect">
            <a:avLst/>
          </a:prstGeom>
          <a:noFill/>
        </p:spPr>
        <p:txBody>
          <a:bodyPr wrap="square" anchor="ctr">
            <a:spAutoFit/>
          </a:bodyPr>
          <a:lstStyle/>
          <a:p>
            <a:pPr algn="l">
              <a:spcAft>
                <a:spcPts val="300"/>
              </a:spcAft>
            </a:pPr>
            <a:r>
              <a:rPr sz="1500" b="1">
                <a:solidFill>
                  <a:srgbClr val="161B26"/>
                </a:solidFill>
                <a:latin typeface="Arial"/>
              </a:rPr>
              <a:t>Trunk-based development</a:t>
            </a:r>
          </a:p>
          <a:p>
            <a:pPr algn="l">
              <a:spcAft>
                <a:spcPts val="300"/>
              </a:spcAft>
            </a:pPr>
            <a:r>
              <a:rPr sz="1100" b="0">
                <a:solidFill>
                  <a:srgbClr val="5B6372"/>
                </a:solidFill>
                <a:latin typeface="Arial"/>
              </a:rPr>
              <a:t>Short-lived branches merged to trunk daily keep integration continuous.</a:t>
            </a:r>
          </a:p>
        </p:txBody>
      </p:sp>
      <p:sp>
        <p:nvSpPr>
          <p:cNvPr id="12" name="Rectangle 11"/>
          <p:cNvSpPr/>
          <p:nvPr/>
        </p:nvSpPr>
        <p:spPr>
          <a:xfrm>
            <a:off x="6231636" y="1783080"/>
            <a:ext cx="5180076" cy="131064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6231636" y="1783080"/>
            <a:ext cx="91440" cy="131064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Oval 13"/>
          <p:cNvSpPr/>
          <p:nvPr/>
        </p:nvSpPr>
        <p:spPr>
          <a:xfrm>
            <a:off x="6487668" y="2164080"/>
            <a:ext cx="548640" cy="54864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6487668" y="2164080"/>
            <a:ext cx="548640" cy="548640"/>
          </a:xfrm>
          <a:prstGeom prst="rect">
            <a:avLst/>
          </a:prstGeom>
          <a:noFill/>
        </p:spPr>
        <p:txBody>
          <a:bodyPr wrap="square" anchor="ctr">
            <a:spAutoFit/>
          </a:bodyPr>
          <a:lstStyle/>
          <a:p>
            <a:pPr algn="ctr">
              <a:spcAft>
                <a:spcPts val="400"/>
              </a:spcAft>
            </a:pPr>
            <a:r>
              <a:rPr sz="1800" b="1">
                <a:solidFill>
                  <a:srgbClr val="FFFFFF"/>
                </a:solidFill>
                <a:latin typeface="Arial"/>
              </a:rPr>
              <a:t>2</a:t>
            </a:r>
          </a:p>
        </p:txBody>
      </p:sp>
      <p:sp>
        <p:nvSpPr>
          <p:cNvPr id="16" name="TextBox 15"/>
          <p:cNvSpPr txBox="1"/>
          <p:nvPr/>
        </p:nvSpPr>
        <p:spPr>
          <a:xfrm>
            <a:off x="7219188" y="1892808"/>
            <a:ext cx="3973068" cy="1127760"/>
          </a:xfrm>
          <a:prstGeom prst="rect">
            <a:avLst/>
          </a:prstGeom>
          <a:noFill/>
        </p:spPr>
        <p:txBody>
          <a:bodyPr wrap="square" anchor="ctr">
            <a:spAutoFit/>
          </a:bodyPr>
          <a:lstStyle/>
          <a:p>
            <a:pPr algn="l">
              <a:spcAft>
                <a:spcPts val="300"/>
              </a:spcAft>
            </a:pPr>
            <a:r>
              <a:rPr sz="1500" b="1">
                <a:solidFill>
                  <a:srgbClr val="161B26"/>
                </a:solidFill>
                <a:latin typeface="Arial"/>
              </a:rPr>
              <a:t>Build once, deploy many</a:t>
            </a:r>
          </a:p>
          <a:p>
            <a:pPr algn="l">
              <a:spcAft>
                <a:spcPts val="300"/>
              </a:spcAft>
            </a:pPr>
            <a:r>
              <a:rPr sz="1100" b="0">
                <a:solidFill>
                  <a:srgbClr val="5B6372"/>
                </a:solidFill>
                <a:latin typeface="Arial"/>
              </a:rPr>
              <a:t>One immutable artifact promoted across environments.</a:t>
            </a:r>
          </a:p>
        </p:txBody>
      </p:sp>
      <p:sp>
        <p:nvSpPr>
          <p:cNvPr id="17" name="Rectangle 16"/>
          <p:cNvSpPr/>
          <p:nvPr/>
        </p:nvSpPr>
        <p:spPr>
          <a:xfrm>
            <a:off x="777240" y="3313176"/>
            <a:ext cx="5180076" cy="131064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777240" y="3313176"/>
            <a:ext cx="91440" cy="1310640"/>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Oval 18"/>
          <p:cNvSpPr/>
          <p:nvPr/>
        </p:nvSpPr>
        <p:spPr>
          <a:xfrm>
            <a:off x="1033272" y="3694176"/>
            <a:ext cx="548640" cy="548640"/>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1033272" y="3694176"/>
            <a:ext cx="548640" cy="548640"/>
          </a:xfrm>
          <a:prstGeom prst="rect">
            <a:avLst/>
          </a:prstGeom>
          <a:noFill/>
        </p:spPr>
        <p:txBody>
          <a:bodyPr wrap="square" anchor="ctr">
            <a:spAutoFit/>
          </a:bodyPr>
          <a:lstStyle/>
          <a:p>
            <a:pPr algn="ctr">
              <a:spcAft>
                <a:spcPts val="400"/>
              </a:spcAft>
            </a:pPr>
            <a:r>
              <a:rPr sz="1800" b="1">
                <a:solidFill>
                  <a:srgbClr val="FFFFFF"/>
                </a:solidFill>
                <a:latin typeface="Arial"/>
              </a:rPr>
              <a:t>3</a:t>
            </a:r>
          </a:p>
        </p:txBody>
      </p:sp>
      <p:sp>
        <p:nvSpPr>
          <p:cNvPr id="21" name="TextBox 20"/>
          <p:cNvSpPr txBox="1"/>
          <p:nvPr/>
        </p:nvSpPr>
        <p:spPr>
          <a:xfrm>
            <a:off x="1764792" y="3422904"/>
            <a:ext cx="3973068" cy="1127760"/>
          </a:xfrm>
          <a:prstGeom prst="rect">
            <a:avLst/>
          </a:prstGeom>
          <a:noFill/>
        </p:spPr>
        <p:txBody>
          <a:bodyPr wrap="square" anchor="ctr">
            <a:spAutoFit/>
          </a:bodyPr>
          <a:lstStyle/>
          <a:p>
            <a:pPr algn="l">
              <a:spcAft>
                <a:spcPts val="300"/>
              </a:spcAft>
            </a:pPr>
            <a:r>
              <a:rPr sz="1500" b="1">
                <a:solidFill>
                  <a:srgbClr val="161B26"/>
                </a:solidFill>
                <a:latin typeface="Arial"/>
              </a:rPr>
              <a:t>Progressive delivery</a:t>
            </a:r>
          </a:p>
          <a:p>
            <a:pPr algn="l">
              <a:spcAft>
                <a:spcPts val="300"/>
              </a:spcAft>
            </a:pPr>
            <a:r>
              <a:rPr sz="1100" b="0">
                <a:solidFill>
                  <a:srgbClr val="5B6372"/>
                </a:solidFill>
                <a:latin typeface="Arial"/>
              </a:rPr>
              <a:t>Canary/blue-green with automated metric analysis before full rollout.</a:t>
            </a:r>
          </a:p>
        </p:txBody>
      </p:sp>
      <p:sp>
        <p:nvSpPr>
          <p:cNvPr id="22" name="Rectangle 21"/>
          <p:cNvSpPr/>
          <p:nvPr/>
        </p:nvSpPr>
        <p:spPr>
          <a:xfrm>
            <a:off x="6231636" y="3313176"/>
            <a:ext cx="5180076" cy="131064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ectangle 22"/>
          <p:cNvSpPr/>
          <p:nvPr/>
        </p:nvSpPr>
        <p:spPr>
          <a:xfrm>
            <a:off x="6231636" y="3313176"/>
            <a:ext cx="91440" cy="1310640"/>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Oval 23"/>
          <p:cNvSpPr/>
          <p:nvPr/>
        </p:nvSpPr>
        <p:spPr>
          <a:xfrm>
            <a:off x="6487668" y="3694176"/>
            <a:ext cx="548640" cy="548640"/>
          </a:xfrm>
          <a:prstGeom prst="ellipse">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6487668" y="3694176"/>
            <a:ext cx="548640" cy="548640"/>
          </a:xfrm>
          <a:prstGeom prst="rect">
            <a:avLst/>
          </a:prstGeom>
          <a:noFill/>
        </p:spPr>
        <p:txBody>
          <a:bodyPr wrap="square" anchor="ctr">
            <a:spAutoFit/>
          </a:bodyPr>
          <a:lstStyle/>
          <a:p>
            <a:pPr algn="ctr">
              <a:spcAft>
                <a:spcPts val="400"/>
              </a:spcAft>
            </a:pPr>
            <a:r>
              <a:rPr sz="1800" b="1">
                <a:solidFill>
                  <a:srgbClr val="FFFFFF"/>
                </a:solidFill>
                <a:latin typeface="Arial"/>
              </a:rPr>
              <a:t>4</a:t>
            </a:r>
          </a:p>
        </p:txBody>
      </p:sp>
      <p:sp>
        <p:nvSpPr>
          <p:cNvPr id="26" name="TextBox 25"/>
          <p:cNvSpPr txBox="1"/>
          <p:nvPr/>
        </p:nvSpPr>
        <p:spPr>
          <a:xfrm>
            <a:off x="7219188" y="3422904"/>
            <a:ext cx="3973068" cy="1127760"/>
          </a:xfrm>
          <a:prstGeom prst="rect">
            <a:avLst/>
          </a:prstGeom>
          <a:noFill/>
        </p:spPr>
        <p:txBody>
          <a:bodyPr wrap="square" anchor="ctr">
            <a:spAutoFit/>
          </a:bodyPr>
          <a:lstStyle/>
          <a:p>
            <a:pPr algn="l">
              <a:spcAft>
                <a:spcPts val="300"/>
              </a:spcAft>
            </a:pPr>
            <a:r>
              <a:rPr sz="1500" b="1">
                <a:solidFill>
                  <a:srgbClr val="161B26"/>
                </a:solidFill>
                <a:latin typeface="Arial"/>
              </a:rPr>
              <a:t>Pipeline as code</a:t>
            </a:r>
          </a:p>
          <a:p>
            <a:pPr algn="l">
              <a:spcAft>
                <a:spcPts val="300"/>
              </a:spcAft>
            </a:pPr>
            <a:r>
              <a:rPr sz="1100" b="0">
                <a:solidFill>
                  <a:srgbClr val="5B6372"/>
                </a:solidFill>
                <a:latin typeface="Arial"/>
              </a:rPr>
              <a:t>Define the pipeline in CloudFormation/CDK so it is versioned and reviewable.</a:t>
            </a:r>
          </a:p>
        </p:txBody>
      </p:sp>
      <p:sp>
        <p:nvSpPr>
          <p:cNvPr id="27" name="Rectangle 26"/>
          <p:cNvSpPr/>
          <p:nvPr/>
        </p:nvSpPr>
        <p:spPr>
          <a:xfrm>
            <a:off x="777240" y="4843272"/>
            <a:ext cx="5180076" cy="131064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Rectangle 27"/>
          <p:cNvSpPr/>
          <p:nvPr/>
        </p:nvSpPr>
        <p:spPr>
          <a:xfrm>
            <a:off x="777240" y="4843272"/>
            <a:ext cx="91440" cy="1310640"/>
          </a:xfrm>
          <a:prstGeom prst="rect">
            <a:avLst/>
          </a:prstGeom>
          <a:solidFill>
            <a:srgbClr val="EC711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Oval 28"/>
          <p:cNvSpPr/>
          <p:nvPr/>
        </p:nvSpPr>
        <p:spPr>
          <a:xfrm>
            <a:off x="1033272" y="5224272"/>
            <a:ext cx="548640" cy="548640"/>
          </a:xfrm>
          <a:prstGeom prst="ellipse">
            <a:avLst/>
          </a:prstGeom>
          <a:solidFill>
            <a:srgbClr val="EC711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1033272" y="5224272"/>
            <a:ext cx="548640" cy="548640"/>
          </a:xfrm>
          <a:prstGeom prst="rect">
            <a:avLst/>
          </a:prstGeom>
          <a:noFill/>
        </p:spPr>
        <p:txBody>
          <a:bodyPr wrap="square" anchor="ctr">
            <a:spAutoFit/>
          </a:bodyPr>
          <a:lstStyle/>
          <a:p>
            <a:pPr algn="ctr">
              <a:spcAft>
                <a:spcPts val="400"/>
              </a:spcAft>
            </a:pPr>
            <a:r>
              <a:rPr sz="1800" b="1">
                <a:solidFill>
                  <a:srgbClr val="FFFFFF"/>
                </a:solidFill>
                <a:latin typeface="Arial"/>
              </a:rPr>
              <a:t>5</a:t>
            </a:r>
          </a:p>
        </p:txBody>
      </p:sp>
      <p:sp>
        <p:nvSpPr>
          <p:cNvPr id="31" name="TextBox 30"/>
          <p:cNvSpPr txBox="1"/>
          <p:nvPr/>
        </p:nvSpPr>
        <p:spPr>
          <a:xfrm>
            <a:off x="1764792" y="4953000"/>
            <a:ext cx="3973068" cy="1127760"/>
          </a:xfrm>
          <a:prstGeom prst="rect">
            <a:avLst/>
          </a:prstGeom>
          <a:noFill/>
        </p:spPr>
        <p:txBody>
          <a:bodyPr wrap="square" anchor="ctr">
            <a:spAutoFit/>
          </a:bodyPr>
          <a:lstStyle/>
          <a:p>
            <a:pPr algn="l">
              <a:spcAft>
                <a:spcPts val="300"/>
              </a:spcAft>
            </a:pPr>
            <a:r>
              <a:rPr sz="1500" b="1">
                <a:solidFill>
                  <a:srgbClr val="161B26"/>
                </a:solidFill>
                <a:latin typeface="Arial"/>
              </a:rPr>
              <a:t>Fail fast</a:t>
            </a:r>
          </a:p>
          <a:p>
            <a:pPr algn="l">
              <a:spcAft>
                <a:spcPts val="300"/>
              </a:spcAft>
            </a:pPr>
            <a:r>
              <a:rPr sz="1100" b="0">
                <a:solidFill>
                  <a:srgbClr val="5B6372"/>
                </a:solidFill>
                <a:latin typeface="Arial"/>
              </a:rPr>
              <a:t>Cheapest, fastest checks first; stop the line on first failure.</a:t>
            </a:r>
          </a:p>
        </p:txBody>
      </p:sp>
      <p:sp>
        <p:nvSpPr>
          <p:cNvPr id="32" name="Rectangle 31"/>
          <p:cNvSpPr/>
          <p:nvPr/>
        </p:nvSpPr>
        <p:spPr>
          <a:xfrm>
            <a:off x="6231636" y="4843272"/>
            <a:ext cx="5180076" cy="131064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Rectangle 32"/>
          <p:cNvSpPr/>
          <p:nvPr/>
        </p:nvSpPr>
        <p:spPr>
          <a:xfrm>
            <a:off x="6231636" y="4843272"/>
            <a:ext cx="91440" cy="1310640"/>
          </a:xfrm>
          <a:prstGeom prst="rect">
            <a:avLst/>
          </a:prstGeom>
          <a:solidFill>
            <a:srgbClr val="0E9EC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Oval 33"/>
          <p:cNvSpPr/>
          <p:nvPr/>
        </p:nvSpPr>
        <p:spPr>
          <a:xfrm>
            <a:off x="6487668" y="5224272"/>
            <a:ext cx="548640" cy="548640"/>
          </a:xfrm>
          <a:prstGeom prst="ellipse">
            <a:avLst/>
          </a:prstGeom>
          <a:solidFill>
            <a:srgbClr val="0E9EC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TextBox 34"/>
          <p:cNvSpPr txBox="1"/>
          <p:nvPr/>
        </p:nvSpPr>
        <p:spPr>
          <a:xfrm>
            <a:off x="6487668" y="5224272"/>
            <a:ext cx="548640" cy="548640"/>
          </a:xfrm>
          <a:prstGeom prst="rect">
            <a:avLst/>
          </a:prstGeom>
          <a:noFill/>
        </p:spPr>
        <p:txBody>
          <a:bodyPr wrap="square" anchor="ctr">
            <a:spAutoFit/>
          </a:bodyPr>
          <a:lstStyle/>
          <a:p>
            <a:pPr algn="ctr">
              <a:spcAft>
                <a:spcPts val="400"/>
              </a:spcAft>
            </a:pPr>
            <a:r>
              <a:rPr sz="1800" b="1">
                <a:solidFill>
                  <a:srgbClr val="FFFFFF"/>
                </a:solidFill>
                <a:latin typeface="Arial"/>
              </a:rPr>
              <a:t>6</a:t>
            </a:r>
          </a:p>
        </p:txBody>
      </p:sp>
      <p:sp>
        <p:nvSpPr>
          <p:cNvPr id="36" name="TextBox 35"/>
          <p:cNvSpPr txBox="1"/>
          <p:nvPr/>
        </p:nvSpPr>
        <p:spPr>
          <a:xfrm>
            <a:off x="7219188" y="4953000"/>
            <a:ext cx="3973068" cy="1127760"/>
          </a:xfrm>
          <a:prstGeom prst="rect">
            <a:avLst/>
          </a:prstGeom>
          <a:noFill/>
        </p:spPr>
        <p:txBody>
          <a:bodyPr wrap="square" anchor="ctr">
            <a:spAutoFit/>
          </a:bodyPr>
          <a:lstStyle/>
          <a:p>
            <a:pPr algn="l">
              <a:spcAft>
                <a:spcPts val="300"/>
              </a:spcAft>
            </a:pPr>
            <a:r>
              <a:rPr sz="1500" b="1">
                <a:solidFill>
                  <a:srgbClr val="161B26"/>
                </a:solidFill>
                <a:latin typeface="Arial"/>
              </a:rPr>
              <a:t>Immutable infrastructure</a:t>
            </a:r>
          </a:p>
          <a:p>
            <a:pPr algn="l">
              <a:spcAft>
                <a:spcPts val="300"/>
              </a:spcAft>
            </a:pPr>
            <a:r>
              <a:rPr sz="1100" b="0">
                <a:solidFill>
                  <a:srgbClr val="5B6372"/>
                </a:solidFill>
                <a:latin typeface="Arial"/>
              </a:rPr>
              <a:t>Replace, don't patch, running servers.</a:t>
            </a:r>
          </a:p>
        </p:txBody>
      </p:sp>
      <p:sp>
        <p:nvSpPr>
          <p:cNvPr id="37" name="TextBox 36"/>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DevOps Engineering on AWS  ·  TGS-2023040474</a:t>
            </a:r>
          </a:p>
        </p:txBody>
      </p:sp>
      <p:sp>
        <p:nvSpPr>
          <p:cNvPr id="38" name="TextBox 37"/>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39" name="TextBox 38"/>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57</a:t>
            </a:r>
          </a:p>
        </p:txBody>
      </p:sp>
    </p:spTree>
  </p:cSld>
  <p:clrMapOvr>
    <a:masterClrMapping/>
  </p:clrMapOvr>
  <p:transition xmlns:p14="http://schemas.microsoft.com/office/powerpoint/2010/main" p14:dur="380">
    <p:fade/>
  </p:transition>
</p:sld>
</file>

<file path=ppt/slides/slide5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38912"/>
            <a:ext cx="10607040" cy="365760"/>
          </a:xfrm>
          <a:prstGeom prst="rect">
            <a:avLst/>
          </a:prstGeom>
          <a:noFill/>
        </p:spPr>
        <p:txBody>
          <a:bodyPr wrap="square" anchor="t">
            <a:spAutoFit/>
          </a:bodyPr>
          <a:lstStyle/>
          <a:p>
            <a:pPr algn="l">
              <a:spcAft>
                <a:spcPts val="400"/>
              </a:spcAft>
            </a:pPr>
            <a:r>
              <a:rPr sz="1400" b="1">
                <a:solidFill>
                  <a:srgbClr val="1F6FEB"/>
                </a:solidFill>
                <a:latin typeface="Arial"/>
              </a:rPr>
              <a:t>CONTINUOUS DELIVERY vs DEPLOYMENT</a:t>
            </a:r>
          </a:p>
        </p:txBody>
      </p:sp>
      <p:sp>
        <p:nvSpPr>
          <p:cNvPr id="5" name="TextBox 4"/>
          <p:cNvSpPr txBox="1"/>
          <p:nvPr/>
        </p:nvSpPr>
        <p:spPr>
          <a:xfrm>
            <a:off x="777240" y="896112"/>
            <a:ext cx="10927080" cy="731520"/>
          </a:xfrm>
          <a:prstGeom prst="rect">
            <a:avLst/>
          </a:prstGeom>
          <a:noFill/>
        </p:spPr>
        <p:txBody>
          <a:bodyPr wrap="square" anchor="t">
            <a:spAutoFit/>
          </a:bodyPr>
          <a:lstStyle/>
          <a:p>
            <a:pPr algn="l">
              <a:spcAft>
                <a:spcPts val="400"/>
              </a:spcAft>
            </a:pPr>
            <a:r>
              <a:rPr sz="2500" b="1">
                <a:solidFill>
                  <a:srgbClr val="161B26"/>
                </a:solidFill>
                <a:latin typeface="Arial"/>
              </a:rPr>
              <a:t>Architecture Decision — Approval Gate or Not?</a:t>
            </a:r>
          </a:p>
        </p:txBody>
      </p:sp>
      <p:sp>
        <p:nvSpPr>
          <p:cNvPr id="6" name="Rectangle 5"/>
          <p:cNvSpPr/>
          <p:nvPr/>
        </p:nvSpPr>
        <p:spPr>
          <a:xfrm>
            <a:off x="777240" y="1572768"/>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783080"/>
            <a:ext cx="3337560" cy="429768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1783080"/>
            <a:ext cx="3337560" cy="109728"/>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1033272" y="2057400"/>
            <a:ext cx="457200" cy="457200"/>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033272" y="2057400"/>
            <a:ext cx="457200" cy="457200"/>
          </a:xfrm>
          <a:prstGeom prst="rect">
            <a:avLst/>
          </a:prstGeom>
          <a:noFill/>
        </p:spPr>
        <p:txBody>
          <a:bodyPr wrap="square" anchor="ctr">
            <a:spAutoFit/>
          </a:bodyPr>
          <a:lstStyle/>
          <a:p>
            <a:pPr algn="ctr">
              <a:spcAft>
                <a:spcPts val="400"/>
              </a:spcAft>
            </a:pPr>
            <a:r>
              <a:rPr sz="2000" b="1">
                <a:solidFill>
                  <a:srgbClr val="FFFFFF"/>
                </a:solidFill>
                <a:latin typeface="Arial"/>
              </a:rPr>
              <a:t>A</a:t>
            </a:r>
          </a:p>
        </p:txBody>
      </p:sp>
      <p:sp>
        <p:nvSpPr>
          <p:cNvPr id="11" name="TextBox 10"/>
          <p:cNvSpPr txBox="1"/>
          <p:nvPr/>
        </p:nvSpPr>
        <p:spPr>
          <a:xfrm>
            <a:off x="1645920" y="2084831"/>
            <a:ext cx="2286000" cy="640080"/>
          </a:xfrm>
          <a:prstGeom prst="rect">
            <a:avLst/>
          </a:prstGeom>
          <a:noFill/>
        </p:spPr>
        <p:txBody>
          <a:bodyPr wrap="square" anchor="ctr">
            <a:spAutoFit/>
          </a:bodyPr>
          <a:lstStyle/>
          <a:p>
            <a:pPr algn="l">
              <a:spcAft>
                <a:spcPts val="400"/>
              </a:spcAft>
            </a:pPr>
            <a:r>
              <a:rPr sz="1450" b="1">
                <a:solidFill>
                  <a:srgbClr val="1F6FEB"/>
                </a:solidFill>
                <a:latin typeface="Arial"/>
              </a:rPr>
              <a:t>Manual approval before prod</a:t>
            </a:r>
          </a:p>
        </p:txBody>
      </p:sp>
      <p:sp>
        <p:nvSpPr>
          <p:cNvPr id="12" name="TextBox 11"/>
          <p:cNvSpPr txBox="1"/>
          <p:nvPr/>
        </p:nvSpPr>
        <p:spPr>
          <a:xfrm>
            <a:off x="1033272" y="2788920"/>
            <a:ext cx="2880360" cy="3108960"/>
          </a:xfrm>
          <a:prstGeom prst="rect">
            <a:avLst/>
          </a:prstGeom>
          <a:noFill/>
        </p:spPr>
        <p:txBody>
          <a:bodyPr wrap="square" anchor="t">
            <a:spAutoFit/>
          </a:bodyPr>
          <a:lstStyle/>
          <a:p>
            <a:pPr algn="l">
              <a:spcAft>
                <a:spcPts val="400"/>
              </a:spcAft>
            </a:pPr>
            <a:r>
              <a:rPr sz="1250" b="0">
                <a:solidFill>
                  <a:srgbClr val="161B26"/>
                </a:solidFill>
                <a:latin typeface="Arial"/>
              </a:rPr>
              <a:t>Regulated change, irreversible action, or immature test suite. Adds a control point and audit record — at the cost of queueing delay.</a:t>
            </a:r>
          </a:p>
        </p:txBody>
      </p:sp>
      <p:sp>
        <p:nvSpPr>
          <p:cNvPr id="13" name="Rectangle 12"/>
          <p:cNvSpPr/>
          <p:nvPr/>
        </p:nvSpPr>
        <p:spPr>
          <a:xfrm>
            <a:off x="4572000" y="1783080"/>
            <a:ext cx="3337560" cy="429768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ectangle 13"/>
          <p:cNvSpPr/>
          <p:nvPr/>
        </p:nvSpPr>
        <p:spPr>
          <a:xfrm>
            <a:off x="4572000" y="1783080"/>
            <a:ext cx="3337560" cy="109728"/>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Oval 14"/>
          <p:cNvSpPr/>
          <p:nvPr/>
        </p:nvSpPr>
        <p:spPr>
          <a:xfrm>
            <a:off x="4828032" y="2057400"/>
            <a:ext cx="457200" cy="457200"/>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4828032" y="2057400"/>
            <a:ext cx="457200" cy="457200"/>
          </a:xfrm>
          <a:prstGeom prst="rect">
            <a:avLst/>
          </a:prstGeom>
          <a:noFill/>
        </p:spPr>
        <p:txBody>
          <a:bodyPr wrap="square" anchor="ctr">
            <a:spAutoFit/>
          </a:bodyPr>
          <a:lstStyle/>
          <a:p>
            <a:pPr algn="ctr">
              <a:spcAft>
                <a:spcPts val="400"/>
              </a:spcAft>
            </a:pPr>
            <a:r>
              <a:rPr sz="2000" b="1">
                <a:solidFill>
                  <a:srgbClr val="FFFFFF"/>
                </a:solidFill>
                <a:latin typeface="Arial"/>
              </a:rPr>
              <a:t>B</a:t>
            </a:r>
          </a:p>
        </p:txBody>
      </p:sp>
      <p:sp>
        <p:nvSpPr>
          <p:cNvPr id="17" name="TextBox 16"/>
          <p:cNvSpPr txBox="1"/>
          <p:nvPr/>
        </p:nvSpPr>
        <p:spPr>
          <a:xfrm>
            <a:off x="5440680" y="2084831"/>
            <a:ext cx="2286000" cy="640080"/>
          </a:xfrm>
          <a:prstGeom prst="rect">
            <a:avLst/>
          </a:prstGeom>
          <a:noFill/>
        </p:spPr>
        <p:txBody>
          <a:bodyPr wrap="square" anchor="ctr">
            <a:spAutoFit/>
          </a:bodyPr>
          <a:lstStyle/>
          <a:p>
            <a:pPr algn="l">
              <a:spcAft>
                <a:spcPts val="400"/>
              </a:spcAft>
            </a:pPr>
            <a:r>
              <a:rPr sz="1450" b="1">
                <a:solidFill>
                  <a:srgbClr val="7C3AED"/>
                </a:solidFill>
                <a:latin typeface="Arial"/>
              </a:rPr>
              <a:t>Automated to prod</a:t>
            </a:r>
          </a:p>
        </p:txBody>
      </p:sp>
      <p:sp>
        <p:nvSpPr>
          <p:cNvPr id="18" name="TextBox 17"/>
          <p:cNvSpPr txBox="1"/>
          <p:nvPr/>
        </p:nvSpPr>
        <p:spPr>
          <a:xfrm>
            <a:off x="4828032" y="2788920"/>
            <a:ext cx="2880360" cy="3108960"/>
          </a:xfrm>
          <a:prstGeom prst="rect">
            <a:avLst/>
          </a:prstGeom>
          <a:noFill/>
        </p:spPr>
        <p:txBody>
          <a:bodyPr wrap="square" anchor="t">
            <a:spAutoFit/>
          </a:bodyPr>
          <a:lstStyle/>
          <a:p>
            <a:pPr algn="l">
              <a:spcAft>
                <a:spcPts val="400"/>
              </a:spcAft>
            </a:pPr>
            <a:r>
              <a:rPr sz="1250" b="0">
                <a:solidFill>
                  <a:srgbClr val="161B26"/>
                </a:solidFill>
                <a:latin typeface="Arial"/>
              </a:rPr>
              <a:t>High test coverage, fast rollback and progressive rollout in place. Maximises flow — requires strong alarms and canary analysis.</a:t>
            </a:r>
          </a:p>
        </p:txBody>
      </p:sp>
      <p:sp>
        <p:nvSpPr>
          <p:cNvPr id="19" name="Rectangle 18"/>
          <p:cNvSpPr/>
          <p:nvPr/>
        </p:nvSpPr>
        <p:spPr>
          <a:xfrm>
            <a:off x="8366760" y="1783080"/>
            <a:ext cx="3337560" cy="429768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Rectangle 19"/>
          <p:cNvSpPr/>
          <p:nvPr/>
        </p:nvSpPr>
        <p:spPr>
          <a:xfrm>
            <a:off x="8366760" y="1783080"/>
            <a:ext cx="3337560" cy="109728"/>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Oval 20"/>
          <p:cNvSpPr/>
          <p:nvPr/>
        </p:nvSpPr>
        <p:spPr>
          <a:xfrm>
            <a:off x="8622792" y="2057400"/>
            <a:ext cx="457200" cy="45720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8622792" y="2057400"/>
            <a:ext cx="457200" cy="457200"/>
          </a:xfrm>
          <a:prstGeom prst="rect">
            <a:avLst/>
          </a:prstGeom>
          <a:noFill/>
        </p:spPr>
        <p:txBody>
          <a:bodyPr wrap="square" anchor="ctr">
            <a:spAutoFit/>
          </a:bodyPr>
          <a:lstStyle/>
          <a:p>
            <a:pPr algn="ctr">
              <a:spcAft>
                <a:spcPts val="400"/>
              </a:spcAft>
            </a:pPr>
            <a:r>
              <a:rPr sz="2000" b="1">
                <a:solidFill>
                  <a:srgbClr val="FFFFFF"/>
                </a:solidFill>
                <a:latin typeface="Arial"/>
              </a:rPr>
              <a:t>C</a:t>
            </a:r>
          </a:p>
        </p:txBody>
      </p:sp>
      <p:sp>
        <p:nvSpPr>
          <p:cNvPr id="23" name="TextBox 22"/>
          <p:cNvSpPr txBox="1"/>
          <p:nvPr/>
        </p:nvSpPr>
        <p:spPr>
          <a:xfrm>
            <a:off x="9235440" y="2084831"/>
            <a:ext cx="2286000" cy="640080"/>
          </a:xfrm>
          <a:prstGeom prst="rect">
            <a:avLst/>
          </a:prstGeom>
          <a:noFill/>
        </p:spPr>
        <p:txBody>
          <a:bodyPr wrap="square" anchor="ctr">
            <a:spAutoFit/>
          </a:bodyPr>
          <a:lstStyle/>
          <a:p>
            <a:pPr algn="l">
              <a:spcAft>
                <a:spcPts val="400"/>
              </a:spcAft>
            </a:pPr>
            <a:r>
              <a:rPr sz="1450" b="1">
                <a:solidFill>
                  <a:srgbClr val="10B981"/>
                </a:solidFill>
                <a:latin typeface="Arial"/>
              </a:rPr>
              <a:t>Hybrid</a:t>
            </a:r>
          </a:p>
        </p:txBody>
      </p:sp>
      <p:sp>
        <p:nvSpPr>
          <p:cNvPr id="24" name="TextBox 23"/>
          <p:cNvSpPr txBox="1"/>
          <p:nvPr/>
        </p:nvSpPr>
        <p:spPr>
          <a:xfrm>
            <a:off x="8622792" y="2788920"/>
            <a:ext cx="2880360" cy="3108960"/>
          </a:xfrm>
          <a:prstGeom prst="rect">
            <a:avLst/>
          </a:prstGeom>
          <a:noFill/>
        </p:spPr>
        <p:txBody>
          <a:bodyPr wrap="square" anchor="t">
            <a:spAutoFit/>
          </a:bodyPr>
          <a:lstStyle/>
          <a:p>
            <a:pPr algn="l">
              <a:spcAft>
                <a:spcPts val="400"/>
              </a:spcAft>
            </a:pPr>
            <a:r>
              <a:rPr sz="1250" b="0">
                <a:solidFill>
                  <a:srgbClr val="161B26"/>
                </a:solidFill>
                <a:latin typeface="Arial"/>
              </a:rPr>
              <a:t>Auto-deploy low-risk services; gate high-blast-radius or data-migration changes. The common enterprise middle ground.</a:t>
            </a:r>
          </a:p>
        </p:txBody>
      </p:sp>
      <p:sp>
        <p:nvSpPr>
          <p:cNvPr id="25" name="TextBox 24"/>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DevOps Engineering on AWS  ·  TGS-2023040474</a:t>
            </a:r>
          </a:p>
        </p:txBody>
      </p:sp>
      <p:sp>
        <p:nvSpPr>
          <p:cNvPr id="26" name="TextBox 25"/>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27" name="TextBox 26"/>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58</a:t>
            </a:r>
          </a:p>
        </p:txBody>
      </p:sp>
    </p:spTree>
  </p:cSld>
  <p:clrMapOvr>
    <a:masterClrMapping/>
  </p:clrMapOvr>
  <p:transition xmlns:p14="http://schemas.microsoft.com/office/powerpoint/2010/main" p14:dur="380">
    <p:fade/>
  </p:transition>
</p:sld>
</file>

<file path=ppt/slides/slide6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38912"/>
            <a:ext cx="10607040" cy="365760"/>
          </a:xfrm>
          <a:prstGeom prst="rect">
            <a:avLst/>
          </a:prstGeom>
          <a:noFill/>
        </p:spPr>
        <p:txBody>
          <a:bodyPr wrap="square" anchor="t">
            <a:spAutoFit/>
          </a:bodyPr>
          <a:lstStyle/>
          <a:p>
            <a:pPr algn="l">
              <a:spcAft>
                <a:spcPts val="400"/>
              </a:spcAft>
            </a:pPr>
            <a:r>
              <a:rPr sz="1400" b="1">
                <a:solidFill>
                  <a:srgbClr val="1F6FEB"/>
                </a:solidFill>
                <a:latin typeface="Arial"/>
              </a:rPr>
              <a:t>REASONING THROUGH THE RESPONSE</a:t>
            </a:r>
          </a:p>
        </p:txBody>
      </p:sp>
      <p:sp>
        <p:nvSpPr>
          <p:cNvPr id="5" name="TextBox 4"/>
          <p:cNvSpPr txBox="1"/>
          <p:nvPr/>
        </p:nvSpPr>
        <p:spPr>
          <a:xfrm>
            <a:off x="777240" y="896112"/>
            <a:ext cx="10927080" cy="731520"/>
          </a:xfrm>
          <a:prstGeom prst="rect">
            <a:avLst/>
          </a:prstGeom>
          <a:noFill/>
        </p:spPr>
        <p:txBody>
          <a:bodyPr wrap="square" anchor="t">
            <a:spAutoFit/>
          </a:bodyPr>
          <a:lstStyle/>
          <a:p>
            <a:pPr algn="l">
              <a:spcAft>
                <a:spcPts val="400"/>
              </a:spcAft>
            </a:pPr>
            <a:r>
              <a:rPr sz="2500" b="1">
                <a:solidFill>
                  <a:srgbClr val="161B26"/>
                </a:solidFill>
                <a:latin typeface="Arial"/>
              </a:rPr>
              <a:t>Scenario — A bad release reaches production</a:t>
            </a:r>
          </a:p>
        </p:txBody>
      </p:sp>
      <p:sp>
        <p:nvSpPr>
          <p:cNvPr id="6" name="Rectangle 5"/>
          <p:cNvSpPr/>
          <p:nvPr/>
        </p:nvSpPr>
        <p:spPr>
          <a:xfrm>
            <a:off x="777240" y="1572768"/>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755648"/>
            <a:ext cx="10634472" cy="91440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1755648"/>
            <a:ext cx="91440" cy="914400"/>
          </a:xfrm>
          <a:prstGeom prst="rect">
            <a:avLst/>
          </a:prstGeom>
          <a:solidFill>
            <a:srgbClr val="5B637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1033272" y="1847088"/>
            <a:ext cx="2194560" cy="320040"/>
          </a:xfrm>
          <a:prstGeom prst="rect">
            <a:avLst/>
          </a:prstGeom>
          <a:noFill/>
        </p:spPr>
        <p:txBody>
          <a:bodyPr wrap="square" anchor="t">
            <a:spAutoFit/>
          </a:bodyPr>
          <a:lstStyle/>
          <a:p>
            <a:pPr algn="l">
              <a:spcAft>
                <a:spcPts val="400"/>
              </a:spcAft>
            </a:pPr>
            <a:r>
              <a:rPr sz="1150" b="1">
                <a:solidFill>
                  <a:srgbClr val="5B6372"/>
                </a:solidFill>
                <a:latin typeface="Arial"/>
              </a:rPr>
              <a:t>SITUATION</a:t>
            </a:r>
          </a:p>
        </p:txBody>
      </p:sp>
      <p:sp>
        <p:nvSpPr>
          <p:cNvPr id="10" name="TextBox 9"/>
          <p:cNvSpPr txBox="1"/>
          <p:nvPr/>
        </p:nvSpPr>
        <p:spPr>
          <a:xfrm>
            <a:off x="1033272" y="2157984"/>
            <a:ext cx="10085832" cy="457200"/>
          </a:xfrm>
          <a:prstGeom prst="rect">
            <a:avLst/>
          </a:prstGeom>
          <a:noFill/>
        </p:spPr>
        <p:txBody>
          <a:bodyPr wrap="square" anchor="t">
            <a:spAutoFit/>
          </a:bodyPr>
          <a:lstStyle/>
          <a:p>
            <a:pPr algn="l">
              <a:spcAft>
                <a:spcPts val="400"/>
              </a:spcAft>
            </a:pPr>
            <a:r>
              <a:rPr sz="1300" b="0">
                <a:solidFill>
                  <a:srgbClr val="161B26"/>
                </a:solidFill>
                <a:latin typeface="Arial"/>
              </a:rPr>
              <a:t>A deployment passes all pipeline stages, but error rates climb 3 minutes after it reaches production.</a:t>
            </a:r>
          </a:p>
        </p:txBody>
      </p:sp>
      <p:sp>
        <p:nvSpPr>
          <p:cNvPr id="11" name="Rectangle 10"/>
          <p:cNvSpPr/>
          <p:nvPr/>
        </p:nvSpPr>
        <p:spPr>
          <a:xfrm>
            <a:off x="777240" y="2788920"/>
            <a:ext cx="10634472" cy="2194560"/>
          </a:xfrm>
          <a:prstGeom prst="rect">
            <a:avLst/>
          </a:prstGeom>
          <a:solidFill>
            <a:srgbClr val="FFFFFF"/>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ectangle 11"/>
          <p:cNvSpPr/>
          <p:nvPr/>
        </p:nvSpPr>
        <p:spPr>
          <a:xfrm>
            <a:off x="777240" y="2788920"/>
            <a:ext cx="91440" cy="219456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1033272" y="2880360"/>
            <a:ext cx="2743200" cy="320040"/>
          </a:xfrm>
          <a:prstGeom prst="rect">
            <a:avLst/>
          </a:prstGeom>
          <a:noFill/>
        </p:spPr>
        <p:txBody>
          <a:bodyPr wrap="square" anchor="t">
            <a:spAutoFit/>
          </a:bodyPr>
          <a:lstStyle/>
          <a:p>
            <a:pPr algn="l">
              <a:spcAft>
                <a:spcPts val="400"/>
              </a:spcAft>
            </a:pPr>
            <a:r>
              <a:rPr sz="1150" b="1">
                <a:solidFill>
                  <a:srgbClr val="1F6FEB"/>
                </a:solidFill>
                <a:latin typeface="Arial"/>
              </a:rPr>
              <a:t>ANALYSIS</a:t>
            </a:r>
          </a:p>
        </p:txBody>
      </p:sp>
      <p:sp>
        <p:nvSpPr>
          <p:cNvPr id="14" name="TextBox 13"/>
          <p:cNvSpPr txBox="1"/>
          <p:nvPr/>
        </p:nvSpPr>
        <p:spPr>
          <a:xfrm>
            <a:off x="1033272" y="3246120"/>
            <a:ext cx="9994392" cy="1645920"/>
          </a:xfrm>
          <a:prstGeom prst="rect">
            <a:avLst/>
          </a:prstGeom>
          <a:noFill/>
        </p:spPr>
        <p:txBody>
          <a:bodyPr wrap="square">
            <a:spAutoFit/>
          </a:bodyPr>
          <a:lstStyle/>
          <a:p>
            <a:pPr>
              <a:spcAft>
                <a:spcPts val="700"/>
              </a:spcAft>
            </a:pPr>
            <a:r>
              <a:rPr sz="1300" b="0">
                <a:solidFill>
                  <a:srgbClr val="161B26"/>
                </a:solidFill>
                <a:latin typeface="Arial"/>
              </a:rPr>
              <a:t>•  The build and unit tests were green, so the fault is environment- or scale-specific — exactly what canary analysis is designed to catch.</a:t>
            </a:r>
          </a:p>
          <a:p>
            <a:pPr>
              <a:spcAft>
                <a:spcPts val="700"/>
              </a:spcAft>
            </a:pPr>
            <a:r>
              <a:rPr sz="1300" b="0">
                <a:solidFill>
                  <a:srgbClr val="161B26"/>
                </a:solidFill>
                <a:latin typeface="Arial"/>
              </a:rPr>
              <a:t>•  Because releases use immutable, versioned artifacts, the last known-good build is one redeploy away.</a:t>
            </a:r>
          </a:p>
          <a:p>
            <a:pPr>
              <a:spcAft>
                <a:spcPts val="700"/>
              </a:spcAft>
            </a:pPr>
            <a:r>
              <a:rPr sz="1300" b="0">
                <a:solidFill>
                  <a:srgbClr val="161B26"/>
                </a:solidFill>
                <a:latin typeface="Arial"/>
              </a:rPr>
              <a:t>•  A CloudWatch alarm on error rate can trigger CodeDeploy's automatic rollback without waiting for a human.</a:t>
            </a:r>
          </a:p>
        </p:txBody>
      </p:sp>
      <p:sp>
        <p:nvSpPr>
          <p:cNvPr id="15" name="Rectangle 14"/>
          <p:cNvSpPr/>
          <p:nvPr/>
        </p:nvSpPr>
        <p:spPr>
          <a:xfrm>
            <a:off x="777240" y="5102352"/>
            <a:ext cx="10634472" cy="96012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ectangle 15"/>
          <p:cNvSpPr/>
          <p:nvPr/>
        </p:nvSpPr>
        <p:spPr>
          <a:xfrm>
            <a:off x="777240" y="5102352"/>
            <a:ext cx="91440" cy="9601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1033272" y="5193792"/>
            <a:ext cx="2743200" cy="320040"/>
          </a:xfrm>
          <a:prstGeom prst="rect">
            <a:avLst/>
          </a:prstGeom>
          <a:noFill/>
        </p:spPr>
        <p:txBody>
          <a:bodyPr wrap="square" anchor="t">
            <a:spAutoFit/>
          </a:bodyPr>
          <a:lstStyle/>
          <a:p>
            <a:pPr algn="l">
              <a:spcAft>
                <a:spcPts val="400"/>
              </a:spcAft>
            </a:pPr>
            <a:r>
              <a:rPr sz="1150" b="1">
                <a:solidFill>
                  <a:srgbClr val="10B981"/>
                </a:solidFill>
                <a:latin typeface="Arial"/>
              </a:rPr>
              <a:t>DECISION</a:t>
            </a:r>
          </a:p>
        </p:txBody>
      </p:sp>
      <p:sp>
        <p:nvSpPr>
          <p:cNvPr id="18" name="TextBox 17"/>
          <p:cNvSpPr txBox="1"/>
          <p:nvPr/>
        </p:nvSpPr>
        <p:spPr>
          <a:xfrm>
            <a:off x="1033272" y="5486400"/>
            <a:ext cx="10085832" cy="548640"/>
          </a:xfrm>
          <a:prstGeom prst="rect">
            <a:avLst/>
          </a:prstGeom>
          <a:noFill/>
        </p:spPr>
        <p:txBody>
          <a:bodyPr wrap="square" anchor="t">
            <a:spAutoFit/>
          </a:bodyPr>
          <a:lstStyle/>
          <a:p>
            <a:pPr algn="l">
              <a:spcAft>
                <a:spcPts val="400"/>
              </a:spcAft>
            </a:pPr>
            <a:r>
              <a:rPr sz="1300" b="1">
                <a:solidFill>
                  <a:srgbClr val="161B26"/>
                </a:solidFill>
                <a:latin typeface="Arial"/>
              </a:rPr>
              <a:t>Wire an error-rate alarm to CodeDeploy auto-rollback and move this service to a canary configuration so the next bad change is caught at 5% of traffic, not 100%.</a:t>
            </a:r>
          </a:p>
        </p:txBody>
      </p:sp>
      <p:sp>
        <p:nvSpPr>
          <p:cNvPr id="19" name="TextBox 18"/>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DevOps Engineering on AWS  ·  TGS-2023040474</a:t>
            </a:r>
          </a:p>
        </p:txBody>
      </p:sp>
      <p:sp>
        <p:nvSpPr>
          <p:cNvPr id="20" name="TextBox 19"/>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21" name="TextBox 20"/>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59</a:t>
            </a:r>
          </a:p>
        </p:txBody>
      </p:sp>
    </p:spTree>
  </p:cSld>
  <p:clrMapOvr>
    <a:masterClrMapping/>
  </p:clrMapOvr>
  <p:transition xmlns:p14="http://schemas.microsoft.com/office/powerpoint/2010/main" p14:dur="380">
    <p:fade/>
  </p:transition>
</p:sld>
</file>

<file path=ppt/slides/slide6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38912"/>
            <a:ext cx="10607040" cy="365760"/>
          </a:xfrm>
          <a:prstGeom prst="rect">
            <a:avLst/>
          </a:prstGeom>
          <a:noFill/>
        </p:spPr>
        <p:txBody>
          <a:bodyPr wrap="square" anchor="t">
            <a:spAutoFit/>
          </a:bodyPr>
          <a:lstStyle/>
          <a:p>
            <a:pPr algn="l">
              <a:spcAft>
                <a:spcPts val="400"/>
              </a:spcAft>
            </a:pPr>
            <a:r>
              <a:rPr sz="1400" b="1">
                <a:solidFill>
                  <a:srgbClr val="1F6FEB"/>
                </a:solidFill>
                <a:latin typeface="Arial"/>
              </a:rPr>
              <a:t>OPTIMISING FEEDBACK TIME</a:t>
            </a:r>
          </a:p>
        </p:txBody>
      </p:sp>
      <p:sp>
        <p:nvSpPr>
          <p:cNvPr id="5" name="TextBox 4"/>
          <p:cNvSpPr txBox="1"/>
          <p:nvPr/>
        </p:nvSpPr>
        <p:spPr>
          <a:xfrm>
            <a:off x="777240" y="896112"/>
            <a:ext cx="10927080" cy="731520"/>
          </a:xfrm>
          <a:prstGeom prst="rect">
            <a:avLst/>
          </a:prstGeom>
          <a:noFill/>
        </p:spPr>
        <p:txBody>
          <a:bodyPr wrap="square" anchor="t">
            <a:spAutoFit/>
          </a:bodyPr>
          <a:lstStyle/>
          <a:p>
            <a:pPr algn="l">
              <a:spcAft>
                <a:spcPts val="400"/>
              </a:spcAft>
            </a:pPr>
            <a:r>
              <a:rPr sz="2500" b="1">
                <a:solidFill>
                  <a:srgbClr val="161B26"/>
                </a:solidFill>
                <a:latin typeface="Arial"/>
              </a:rPr>
              <a:t>Scenario — Builds are too slow, developers merge less</a:t>
            </a:r>
          </a:p>
        </p:txBody>
      </p:sp>
      <p:sp>
        <p:nvSpPr>
          <p:cNvPr id="6" name="Rectangle 5"/>
          <p:cNvSpPr/>
          <p:nvPr/>
        </p:nvSpPr>
        <p:spPr>
          <a:xfrm>
            <a:off x="777240" y="1572768"/>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755648"/>
            <a:ext cx="10634472" cy="91440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1755648"/>
            <a:ext cx="91440" cy="914400"/>
          </a:xfrm>
          <a:prstGeom prst="rect">
            <a:avLst/>
          </a:prstGeom>
          <a:solidFill>
            <a:srgbClr val="5B637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1033272" y="1847088"/>
            <a:ext cx="2194560" cy="320040"/>
          </a:xfrm>
          <a:prstGeom prst="rect">
            <a:avLst/>
          </a:prstGeom>
          <a:noFill/>
        </p:spPr>
        <p:txBody>
          <a:bodyPr wrap="square" anchor="t">
            <a:spAutoFit/>
          </a:bodyPr>
          <a:lstStyle/>
          <a:p>
            <a:pPr algn="l">
              <a:spcAft>
                <a:spcPts val="400"/>
              </a:spcAft>
            </a:pPr>
            <a:r>
              <a:rPr sz="1150" b="1">
                <a:solidFill>
                  <a:srgbClr val="5B6372"/>
                </a:solidFill>
                <a:latin typeface="Arial"/>
              </a:rPr>
              <a:t>SITUATION</a:t>
            </a:r>
          </a:p>
        </p:txBody>
      </p:sp>
      <p:sp>
        <p:nvSpPr>
          <p:cNvPr id="10" name="TextBox 9"/>
          <p:cNvSpPr txBox="1"/>
          <p:nvPr/>
        </p:nvSpPr>
        <p:spPr>
          <a:xfrm>
            <a:off x="1033272" y="2157984"/>
            <a:ext cx="10085832" cy="457200"/>
          </a:xfrm>
          <a:prstGeom prst="rect">
            <a:avLst/>
          </a:prstGeom>
          <a:noFill/>
        </p:spPr>
        <p:txBody>
          <a:bodyPr wrap="square" anchor="t">
            <a:spAutoFit/>
          </a:bodyPr>
          <a:lstStyle/>
          <a:p>
            <a:pPr algn="l">
              <a:spcAft>
                <a:spcPts val="400"/>
              </a:spcAft>
            </a:pPr>
            <a:r>
              <a:rPr sz="1300" b="0">
                <a:solidFill>
                  <a:srgbClr val="161B26"/>
                </a:solidFill>
                <a:latin typeface="Arial"/>
              </a:rPr>
              <a:t>The commit-stage build takes 25 minutes; developers batch changes to avoid the wait, so integrations get large and risky.</a:t>
            </a:r>
          </a:p>
        </p:txBody>
      </p:sp>
      <p:sp>
        <p:nvSpPr>
          <p:cNvPr id="11" name="Rectangle 10"/>
          <p:cNvSpPr/>
          <p:nvPr/>
        </p:nvSpPr>
        <p:spPr>
          <a:xfrm>
            <a:off x="777240" y="2788920"/>
            <a:ext cx="10634472" cy="2194560"/>
          </a:xfrm>
          <a:prstGeom prst="rect">
            <a:avLst/>
          </a:prstGeom>
          <a:solidFill>
            <a:srgbClr val="FFFFFF"/>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ectangle 11"/>
          <p:cNvSpPr/>
          <p:nvPr/>
        </p:nvSpPr>
        <p:spPr>
          <a:xfrm>
            <a:off x="777240" y="2788920"/>
            <a:ext cx="91440" cy="219456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1033272" y="2880360"/>
            <a:ext cx="2743200" cy="320040"/>
          </a:xfrm>
          <a:prstGeom prst="rect">
            <a:avLst/>
          </a:prstGeom>
          <a:noFill/>
        </p:spPr>
        <p:txBody>
          <a:bodyPr wrap="square" anchor="t">
            <a:spAutoFit/>
          </a:bodyPr>
          <a:lstStyle/>
          <a:p>
            <a:pPr algn="l">
              <a:spcAft>
                <a:spcPts val="400"/>
              </a:spcAft>
            </a:pPr>
            <a:r>
              <a:rPr sz="1150" b="1">
                <a:solidFill>
                  <a:srgbClr val="1F6FEB"/>
                </a:solidFill>
                <a:latin typeface="Arial"/>
              </a:rPr>
              <a:t>ANALYSIS</a:t>
            </a:r>
          </a:p>
        </p:txBody>
      </p:sp>
      <p:sp>
        <p:nvSpPr>
          <p:cNvPr id="14" name="TextBox 13"/>
          <p:cNvSpPr txBox="1"/>
          <p:nvPr/>
        </p:nvSpPr>
        <p:spPr>
          <a:xfrm>
            <a:off x="1033272" y="3246120"/>
            <a:ext cx="9994392" cy="1645920"/>
          </a:xfrm>
          <a:prstGeom prst="rect">
            <a:avLst/>
          </a:prstGeom>
          <a:noFill/>
        </p:spPr>
        <p:txBody>
          <a:bodyPr wrap="square">
            <a:spAutoFit/>
          </a:bodyPr>
          <a:lstStyle/>
          <a:p>
            <a:pPr>
              <a:spcAft>
                <a:spcPts val="700"/>
              </a:spcAft>
            </a:pPr>
            <a:r>
              <a:rPr sz="1300" b="0">
                <a:solidFill>
                  <a:srgbClr val="161B26"/>
                </a:solidFill>
                <a:latin typeface="Arial"/>
              </a:rPr>
              <a:t>•  Slow feedback is pushing the team back towards big-bang integration — the DORA lead-time and batch-size signals both degrade.</a:t>
            </a:r>
          </a:p>
          <a:p>
            <a:pPr>
              <a:spcAft>
                <a:spcPts val="700"/>
              </a:spcAft>
            </a:pPr>
            <a:r>
              <a:rPr sz="1300" b="0">
                <a:solidFill>
                  <a:srgbClr val="161B26"/>
                </a:solidFill>
                <a:latin typeface="Arial"/>
              </a:rPr>
              <a:t>•  Test suites can be split and run in parallel CodeBuild projects; dependency caching removes repeated downloads.</a:t>
            </a:r>
          </a:p>
          <a:p>
            <a:pPr>
              <a:spcAft>
                <a:spcPts val="700"/>
              </a:spcAft>
            </a:pPr>
            <a:r>
              <a:rPr sz="1300" b="0">
                <a:solidFill>
                  <a:srgbClr val="161B26"/>
                </a:solidFill>
                <a:latin typeface="Arial"/>
              </a:rPr>
              <a:t>•  Slow end-to-end tests can move to a later stage so the commit stage stays fast.</a:t>
            </a:r>
          </a:p>
        </p:txBody>
      </p:sp>
      <p:sp>
        <p:nvSpPr>
          <p:cNvPr id="15" name="Rectangle 14"/>
          <p:cNvSpPr/>
          <p:nvPr/>
        </p:nvSpPr>
        <p:spPr>
          <a:xfrm>
            <a:off x="777240" y="5102352"/>
            <a:ext cx="10634472" cy="96012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ectangle 15"/>
          <p:cNvSpPr/>
          <p:nvPr/>
        </p:nvSpPr>
        <p:spPr>
          <a:xfrm>
            <a:off x="777240" y="5102352"/>
            <a:ext cx="91440" cy="9601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1033272" y="5193792"/>
            <a:ext cx="2743200" cy="320040"/>
          </a:xfrm>
          <a:prstGeom prst="rect">
            <a:avLst/>
          </a:prstGeom>
          <a:noFill/>
        </p:spPr>
        <p:txBody>
          <a:bodyPr wrap="square" anchor="t">
            <a:spAutoFit/>
          </a:bodyPr>
          <a:lstStyle/>
          <a:p>
            <a:pPr algn="l">
              <a:spcAft>
                <a:spcPts val="400"/>
              </a:spcAft>
            </a:pPr>
            <a:r>
              <a:rPr sz="1150" b="1">
                <a:solidFill>
                  <a:srgbClr val="10B981"/>
                </a:solidFill>
                <a:latin typeface="Arial"/>
              </a:rPr>
              <a:t>DECISION</a:t>
            </a:r>
          </a:p>
        </p:txBody>
      </p:sp>
      <p:sp>
        <p:nvSpPr>
          <p:cNvPr id="18" name="TextBox 17"/>
          <p:cNvSpPr txBox="1"/>
          <p:nvPr/>
        </p:nvSpPr>
        <p:spPr>
          <a:xfrm>
            <a:off x="1033272" y="5486400"/>
            <a:ext cx="10085832" cy="548640"/>
          </a:xfrm>
          <a:prstGeom prst="rect">
            <a:avLst/>
          </a:prstGeom>
          <a:noFill/>
        </p:spPr>
        <p:txBody>
          <a:bodyPr wrap="square" anchor="t">
            <a:spAutoFit/>
          </a:bodyPr>
          <a:lstStyle/>
          <a:p>
            <a:pPr algn="l">
              <a:spcAft>
                <a:spcPts val="400"/>
              </a:spcAft>
            </a:pPr>
            <a:r>
              <a:rPr sz="1300" b="1">
                <a:solidFill>
                  <a:srgbClr val="161B26"/>
                </a:solidFill>
                <a:latin typeface="Arial"/>
              </a:rPr>
              <a:t>Target a sub-10-minute commit stage: parallelise tests, cache dependencies, and defer slow suites downstream so small, frequent merges become painless again.</a:t>
            </a:r>
          </a:p>
        </p:txBody>
      </p:sp>
      <p:sp>
        <p:nvSpPr>
          <p:cNvPr id="19" name="TextBox 18"/>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DevOps Engineering on AWS  ·  TGS-2023040474</a:t>
            </a:r>
          </a:p>
        </p:txBody>
      </p:sp>
      <p:sp>
        <p:nvSpPr>
          <p:cNvPr id="20" name="TextBox 19"/>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21" name="TextBox 20"/>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60</a:t>
            </a:r>
          </a:p>
        </p:txBody>
      </p:sp>
    </p:spTree>
  </p:cSld>
  <p:clrMapOvr>
    <a:masterClrMapping/>
  </p:clrMapOvr>
  <p:transition xmlns:p14="http://schemas.microsoft.com/office/powerpoint/2010/main" p14:dur="380">
    <p:fade/>
  </p:transition>
</p:sld>
</file>

<file path=ppt/slides/slide6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38912"/>
            <a:ext cx="10607040" cy="365760"/>
          </a:xfrm>
          <a:prstGeom prst="rect">
            <a:avLst/>
          </a:prstGeom>
          <a:noFill/>
        </p:spPr>
        <p:txBody>
          <a:bodyPr wrap="square" anchor="t">
            <a:spAutoFit/>
          </a:bodyPr>
          <a:lstStyle/>
          <a:p>
            <a:pPr algn="l">
              <a:spcAft>
                <a:spcPts val="400"/>
              </a:spcAft>
            </a:pPr>
            <a:r>
              <a:rPr sz="1400" b="1">
                <a:solidFill>
                  <a:srgbClr val="1F6FEB"/>
                </a:solidFill>
                <a:latin typeface="Arial"/>
              </a:rPr>
              <a:t>FROM PRACTICE TO NUMBERS</a:t>
            </a:r>
          </a:p>
        </p:txBody>
      </p:sp>
      <p:sp>
        <p:nvSpPr>
          <p:cNvPr id="5" name="TextBox 4"/>
          <p:cNvSpPr txBox="1"/>
          <p:nvPr/>
        </p:nvSpPr>
        <p:spPr>
          <a:xfrm>
            <a:off x="777240" y="896112"/>
            <a:ext cx="10927080" cy="731520"/>
          </a:xfrm>
          <a:prstGeom prst="rect">
            <a:avLst/>
          </a:prstGeom>
          <a:noFill/>
        </p:spPr>
        <p:txBody>
          <a:bodyPr wrap="square" anchor="t">
            <a:spAutoFit/>
          </a:bodyPr>
          <a:lstStyle/>
          <a:p>
            <a:pPr algn="l">
              <a:spcAft>
                <a:spcPts val="400"/>
              </a:spcAft>
            </a:pPr>
            <a:r>
              <a:rPr sz="2500" b="1">
                <a:solidFill>
                  <a:srgbClr val="161B26"/>
                </a:solidFill>
                <a:latin typeface="Arial"/>
              </a:rPr>
              <a:t>Worked Analysis — Sizing the Impact of CI/CD</a:t>
            </a:r>
          </a:p>
        </p:txBody>
      </p:sp>
      <p:sp>
        <p:nvSpPr>
          <p:cNvPr id="6" name="Rectangle 5"/>
          <p:cNvSpPr/>
          <p:nvPr/>
        </p:nvSpPr>
        <p:spPr>
          <a:xfrm>
            <a:off x="777240" y="1572768"/>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783080"/>
            <a:ext cx="4253788" cy="765810"/>
          </a:xfrm>
          <a:prstGeom prst="rect">
            <a:avLst/>
          </a:prstGeom>
          <a:solidFill>
            <a:srgbClr val="F5F8FC"/>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1783080"/>
            <a:ext cx="73152" cy="76581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5031028" y="1783080"/>
            <a:ext cx="6380684" cy="765810"/>
          </a:xfrm>
          <a:prstGeom prst="rect">
            <a:avLst/>
          </a:prstGeom>
          <a:solidFill>
            <a:srgbClr val="F5F8FC"/>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978408" y="1783080"/>
            <a:ext cx="3933748" cy="765810"/>
          </a:xfrm>
          <a:prstGeom prst="rect">
            <a:avLst/>
          </a:prstGeom>
          <a:noFill/>
        </p:spPr>
        <p:txBody>
          <a:bodyPr wrap="square" anchor="ctr">
            <a:spAutoFit/>
          </a:bodyPr>
          <a:lstStyle/>
          <a:p>
            <a:pPr algn="l">
              <a:spcAft>
                <a:spcPts val="400"/>
              </a:spcAft>
            </a:pPr>
            <a:r>
              <a:rPr sz="1250" b="1">
                <a:solidFill>
                  <a:srgbClr val="161B26"/>
                </a:solidFill>
                <a:latin typeface="Arial"/>
              </a:rPr>
              <a:t>Before: 2 releases/month, 14-day lead time</a:t>
            </a:r>
          </a:p>
        </p:txBody>
      </p:sp>
      <p:sp>
        <p:nvSpPr>
          <p:cNvPr id="11" name="TextBox 10"/>
          <p:cNvSpPr txBox="1"/>
          <p:nvPr/>
        </p:nvSpPr>
        <p:spPr>
          <a:xfrm>
            <a:off x="5213908" y="1783080"/>
            <a:ext cx="6060644" cy="765810"/>
          </a:xfrm>
          <a:prstGeom prst="rect">
            <a:avLst/>
          </a:prstGeom>
          <a:noFill/>
        </p:spPr>
        <p:txBody>
          <a:bodyPr wrap="square" anchor="ctr">
            <a:spAutoFit/>
          </a:bodyPr>
          <a:lstStyle/>
          <a:p>
            <a:pPr algn="l">
              <a:spcAft>
                <a:spcPts val="400"/>
              </a:spcAft>
            </a:pPr>
            <a:r>
              <a:rPr sz="1200" b="0">
                <a:solidFill>
                  <a:srgbClr val="5B6372"/>
                </a:solidFill>
                <a:latin typeface="Arial"/>
              </a:rPr>
              <a:t>Large batches; each release bundles ~150 changes, so failures are hard to isolate.</a:t>
            </a:r>
          </a:p>
        </p:txBody>
      </p:sp>
      <p:sp>
        <p:nvSpPr>
          <p:cNvPr id="12" name="Rectangle 11"/>
          <p:cNvSpPr/>
          <p:nvPr/>
        </p:nvSpPr>
        <p:spPr>
          <a:xfrm>
            <a:off x="777240" y="2548890"/>
            <a:ext cx="4253788" cy="765810"/>
          </a:xfrm>
          <a:prstGeom prst="rect">
            <a:avLst/>
          </a:prstGeom>
          <a:solidFill>
            <a:srgbClr val="FFFFFF"/>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777240" y="2548890"/>
            <a:ext cx="73152" cy="76581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ectangle 13"/>
          <p:cNvSpPr/>
          <p:nvPr/>
        </p:nvSpPr>
        <p:spPr>
          <a:xfrm>
            <a:off x="5031028" y="2548890"/>
            <a:ext cx="6380684" cy="765810"/>
          </a:xfrm>
          <a:prstGeom prst="rect">
            <a:avLst/>
          </a:prstGeom>
          <a:solidFill>
            <a:srgbClr val="FFFFFF"/>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978408" y="2548890"/>
            <a:ext cx="3933748" cy="765810"/>
          </a:xfrm>
          <a:prstGeom prst="rect">
            <a:avLst/>
          </a:prstGeom>
          <a:noFill/>
        </p:spPr>
        <p:txBody>
          <a:bodyPr wrap="square" anchor="ctr">
            <a:spAutoFit/>
          </a:bodyPr>
          <a:lstStyle/>
          <a:p>
            <a:pPr algn="l">
              <a:spcAft>
                <a:spcPts val="400"/>
              </a:spcAft>
            </a:pPr>
            <a:r>
              <a:rPr sz="1250" b="1">
                <a:solidFill>
                  <a:srgbClr val="161B26"/>
                </a:solidFill>
                <a:latin typeface="Arial"/>
              </a:rPr>
              <a:t>After: 40 releases/month, ~1-day lead time</a:t>
            </a:r>
          </a:p>
        </p:txBody>
      </p:sp>
      <p:sp>
        <p:nvSpPr>
          <p:cNvPr id="16" name="TextBox 15"/>
          <p:cNvSpPr txBox="1"/>
          <p:nvPr/>
        </p:nvSpPr>
        <p:spPr>
          <a:xfrm>
            <a:off x="5213908" y="2548890"/>
            <a:ext cx="6060644" cy="765810"/>
          </a:xfrm>
          <a:prstGeom prst="rect">
            <a:avLst/>
          </a:prstGeom>
          <a:noFill/>
        </p:spPr>
        <p:txBody>
          <a:bodyPr wrap="square" anchor="ctr">
            <a:spAutoFit/>
          </a:bodyPr>
          <a:lstStyle/>
          <a:p>
            <a:pPr algn="l">
              <a:spcAft>
                <a:spcPts val="400"/>
              </a:spcAft>
            </a:pPr>
            <a:r>
              <a:rPr sz="1200" b="0">
                <a:solidFill>
                  <a:srgbClr val="5B6372"/>
                </a:solidFill>
                <a:latin typeface="Arial"/>
              </a:rPr>
              <a:t>Small batches; each release is ~7 changes, so a regression is trivially bisected.</a:t>
            </a:r>
          </a:p>
        </p:txBody>
      </p:sp>
      <p:sp>
        <p:nvSpPr>
          <p:cNvPr id="17" name="Rectangle 16"/>
          <p:cNvSpPr/>
          <p:nvPr/>
        </p:nvSpPr>
        <p:spPr>
          <a:xfrm>
            <a:off x="777240" y="3314700"/>
            <a:ext cx="4253788" cy="765810"/>
          </a:xfrm>
          <a:prstGeom prst="rect">
            <a:avLst/>
          </a:prstGeom>
          <a:solidFill>
            <a:srgbClr val="F5F8FC"/>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777240" y="3314700"/>
            <a:ext cx="73152" cy="76581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Rectangle 18"/>
          <p:cNvSpPr/>
          <p:nvPr/>
        </p:nvSpPr>
        <p:spPr>
          <a:xfrm>
            <a:off x="5031028" y="3314700"/>
            <a:ext cx="6380684" cy="765810"/>
          </a:xfrm>
          <a:prstGeom prst="rect">
            <a:avLst/>
          </a:prstGeom>
          <a:solidFill>
            <a:srgbClr val="F5F8FC"/>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978408" y="3314700"/>
            <a:ext cx="3933748" cy="765810"/>
          </a:xfrm>
          <a:prstGeom prst="rect">
            <a:avLst/>
          </a:prstGeom>
          <a:noFill/>
        </p:spPr>
        <p:txBody>
          <a:bodyPr wrap="square" anchor="ctr">
            <a:spAutoFit/>
          </a:bodyPr>
          <a:lstStyle/>
          <a:p>
            <a:pPr algn="l">
              <a:spcAft>
                <a:spcPts val="400"/>
              </a:spcAft>
            </a:pPr>
            <a:r>
              <a:rPr sz="1250" b="1">
                <a:solidFill>
                  <a:srgbClr val="161B26"/>
                </a:solidFill>
                <a:latin typeface="Arial"/>
              </a:rPr>
              <a:t>Change-failure rate 30% → 10%</a:t>
            </a:r>
          </a:p>
        </p:txBody>
      </p:sp>
      <p:sp>
        <p:nvSpPr>
          <p:cNvPr id="21" name="TextBox 20"/>
          <p:cNvSpPr txBox="1"/>
          <p:nvPr/>
        </p:nvSpPr>
        <p:spPr>
          <a:xfrm>
            <a:off x="5213908" y="3314700"/>
            <a:ext cx="6060644" cy="765810"/>
          </a:xfrm>
          <a:prstGeom prst="rect">
            <a:avLst/>
          </a:prstGeom>
          <a:noFill/>
        </p:spPr>
        <p:txBody>
          <a:bodyPr wrap="square" anchor="ctr">
            <a:spAutoFit/>
          </a:bodyPr>
          <a:lstStyle/>
          <a:p>
            <a:pPr algn="l">
              <a:spcAft>
                <a:spcPts val="400"/>
              </a:spcAft>
            </a:pPr>
            <a:r>
              <a:rPr sz="1200" b="0">
                <a:solidFill>
                  <a:srgbClr val="5B6372"/>
                </a:solidFill>
                <a:latin typeface="Arial"/>
              </a:rPr>
              <a:t>Automated gates catch defects pre-prod; progressive rollout limits blast radius.</a:t>
            </a:r>
          </a:p>
        </p:txBody>
      </p:sp>
      <p:sp>
        <p:nvSpPr>
          <p:cNvPr id="22" name="Rectangle 21"/>
          <p:cNvSpPr/>
          <p:nvPr/>
        </p:nvSpPr>
        <p:spPr>
          <a:xfrm>
            <a:off x="777240" y="4080510"/>
            <a:ext cx="4253788" cy="765810"/>
          </a:xfrm>
          <a:prstGeom prst="rect">
            <a:avLst/>
          </a:prstGeom>
          <a:solidFill>
            <a:srgbClr val="FFFFFF"/>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ectangle 22"/>
          <p:cNvSpPr/>
          <p:nvPr/>
        </p:nvSpPr>
        <p:spPr>
          <a:xfrm>
            <a:off x="777240" y="4080510"/>
            <a:ext cx="73152" cy="76581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Rectangle 23"/>
          <p:cNvSpPr/>
          <p:nvPr/>
        </p:nvSpPr>
        <p:spPr>
          <a:xfrm>
            <a:off x="5031028" y="4080510"/>
            <a:ext cx="6380684" cy="765810"/>
          </a:xfrm>
          <a:prstGeom prst="rect">
            <a:avLst/>
          </a:prstGeom>
          <a:solidFill>
            <a:srgbClr val="FFFFFF"/>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978408" y="4080510"/>
            <a:ext cx="3933748" cy="765810"/>
          </a:xfrm>
          <a:prstGeom prst="rect">
            <a:avLst/>
          </a:prstGeom>
          <a:noFill/>
        </p:spPr>
        <p:txBody>
          <a:bodyPr wrap="square" anchor="ctr">
            <a:spAutoFit/>
          </a:bodyPr>
          <a:lstStyle/>
          <a:p>
            <a:pPr algn="l">
              <a:spcAft>
                <a:spcPts val="400"/>
              </a:spcAft>
            </a:pPr>
            <a:r>
              <a:rPr sz="1250" b="1">
                <a:solidFill>
                  <a:srgbClr val="161B26"/>
                </a:solidFill>
                <a:latin typeface="Arial"/>
              </a:rPr>
              <a:t>MTTR 8h → 1h</a:t>
            </a:r>
          </a:p>
        </p:txBody>
      </p:sp>
      <p:sp>
        <p:nvSpPr>
          <p:cNvPr id="26" name="TextBox 25"/>
          <p:cNvSpPr txBox="1"/>
          <p:nvPr/>
        </p:nvSpPr>
        <p:spPr>
          <a:xfrm>
            <a:off x="5213908" y="4080510"/>
            <a:ext cx="6060644" cy="765810"/>
          </a:xfrm>
          <a:prstGeom prst="rect">
            <a:avLst/>
          </a:prstGeom>
          <a:noFill/>
        </p:spPr>
        <p:txBody>
          <a:bodyPr wrap="square" anchor="ctr">
            <a:spAutoFit/>
          </a:bodyPr>
          <a:lstStyle/>
          <a:p>
            <a:pPr algn="l">
              <a:spcAft>
                <a:spcPts val="400"/>
              </a:spcAft>
            </a:pPr>
            <a:r>
              <a:rPr sz="1200" b="0">
                <a:solidFill>
                  <a:srgbClr val="5B6372"/>
                </a:solidFill>
                <a:latin typeface="Arial"/>
              </a:rPr>
              <a:t>Versioned artifacts + alarm-based rollback make recovery a redeploy, not a rebuild.</a:t>
            </a:r>
          </a:p>
        </p:txBody>
      </p:sp>
      <p:sp>
        <p:nvSpPr>
          <p:cNvPr id="27" name="Rectangle 26"/>
          <p:cNvSpPr/>
          <p:nvPr/>
        </p:nvSpPr>
        <p:spPr>
          <a:xfrm>
            <a:off x="777240" y="5010912"/>
            <a:ext cx="10634472" cy="86868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Rectangle 27"/>
          <p:cNvSpPr/>
          <p:nvPr/>
        </p:nvSpPr>
        <p:spPr>
          <a:xfrm>
            <a:off x="777240" y="5010912"/>
            <a:ext cx="91440" cy="86868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TextBox 28"/>
          <p:cNvSpPr txBox="1"/>
          <p:nvPr/>
        </p:nvSpPr>
        <p:spPr>
          <a:xfrm>
            <a:off x="1033272" y="5102352"/>
            <a:ext cx="2743200" cy="320040"/>
          </a:xfrm>
          <a:prstGeom prst="rect">
            <a:avLst/>
          </a:prstGeom>
          <a:noFill/>
        </p:spPr>
        <p:txBody>
          <a:bodyPr wrap="square" anchor="t">
            <a:spAutoFit/>
          </a:bodyPr>
          <a:lstStyle/>
          <a:p>
            <a:pPr algn="l">
              <a:spcAft>
                <a:spcPts val="400"/>
              </a:spcAft>
            </a:pPr>
            <a:r>
              <a:rPr sz="1150" b="1">
                <a:solidFill>
                  <a:srgbClr val="10B981"/>
                </a:solidFill>
                <a:latin typeface="Arial"/>
              </a:rPr>
              <a:t>TAKEAWAY</a:t>
            </a:r>
          </a:p>
        </p:txBody>
      </p:sp>
      <p:sp>
        <p:nvSpPr>
          <p:cNvPr id="30" name="TextBox 29"/>
          <p:cNvSpPr txBox="1"/>
          <p:nvPr/>
        </p:nvSpPr>
        <p:spPr>
          <a:xfrm>
            <a:off x="1033272" y="5394960"/>
            <a:ext cx="10085832" cy="457200"/>
          </a:xfrm>
          <a:prstGeom prst="rect">
            <a:avLst/>
          </a:prstGeom>
          <a:noFill/>
        </p:spPr>
        <p:txBody>
          <a:bodyPr wrap="square" anchor="t">
            <a:spAutoFit/>
          </a:bodyPr>
          <a:lstStyle/>
          <a:p>
            <a:pPr algn="l">
              <a:spcAft>
                <a:spcPts val="400"/>
              </a:spcAft>
            </a:pPr>
            <a:r>
              <a:rPr sz="1300" b="1">
                <a:solidFill>
                  <a:srgbClr val="161B26"/>
                </a:solidFill>
                <a:latin typeface="Arial"/>
              </a:rPr>
              <a:t>The gain is not just speed — smaller batches make every DORA metric move together: deploy more often, recover faster, fail less.</a:t>
            </a:r>
          </a:p>
        </p:txBody>
      </p:sp>
      <p:sp>
        <p:nvSpPr>
          <p:cNvPr id="31" name="TextBox 30"/>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DevOps Engineering on AWS  ·  TGS-2023040474</a:t>
            </a:r>
          </a:p>
        </p:txBody>
      </p:sp>
      <p:sp>
        <p:nvSpPr>
          <p:cNvPr id="32" name="TextBox 31"/>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33" name="TextBox 32"/>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61</a:t>
            </a:r>
          </a:p>
        </p:txBody>
      </p:sp>
    </p:spTree>
  </p:cSld>
  <p:clrMapOvr>
    <a:masterClrMapping/>
  </p:clrMapOvr>
  <p:transition xmlns:p14="http://schemas.microsoft.com/office/powerpoint/2010/main" p14:dur="380">
    <p:fade/>
  </p:transition>
</p:sld>
</file>

<file path=ppt/slides/slide6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38912"/>
            <a:ext cx="10607040" cy="365760"/>
          </a:xfrm>
          <a:prstGeom prst="rect">
            <a:avLst/>
          </a:prstGeom>
          <a:noFill/>
        </p:spPr>
        <p:txBody>
          <a:bodyPr wrap="square" anchor="t">
            <a:spAutoFit/>
          </a:bodyPr>
          <a:lstStyle/>
          <a:p>
            <a:pPr algn="l">
              <a:spcAft>
                <a:spcPts val="400"/>
              </a:spcAft>
            </a:pPr>
            <a:r>
              <a:rPr sz="1400" b="1">
                <a:solidFill>
                  <a:srgbClr val="1F6FEB"/>
                </a:solidFill>
                <a:latin typeface="Arial"/>
              </a:rPr>
              <a:t>LAB 1 · DAY 1 · LO1 · HANDS-ON</a:t>
            </a:r>
          </a:p>
        </p:txBody>
      </p:sp>
      <p:sp>
        <p:nvSpPr>
          <p:cNvPr id="5" name="TextBox 4"/>
          <p:cNvSpPr txBox="1"/>
          <p:nvPr/>
        </p:nvSpPr>
        <p:spPr>
          <a:xfrm>
            <a:off x="777240" y="896112"/>
            <a:ext cx="10927080" cy="731520"/>
          </a:xfrm>
          <a:prstGeom prst="rect">
            <a:avLst/>
          </a:prstGeom>
          <a:noFill/>
        </p:spPr>
        <p:txBody>
          <a:bodyPr wrap="square" anchor="t">
            <a:spAutoFit/>
          </a:bodyPr>
          <a:lstStyle/>
          <a:p>
            <a:pPr algn="l">
              <a:spcAft>
                <a:spcPts val="400"/>
              </a:spcAft>
            </a:pPr>
            <a:r>
              <a:rPr sz="2100" b="1">
                <a:solidFill>
                  <a:srgbClr val="161B26"/>
                </a:solidFill>
                <a:latin typeface="Arial"/>
              </a:rPr>
              <a:t>Set Up a Safe AWS &amp; Git Working Environment and Verify Identity</a:t>
            </a:r>
          </a:p>
        </p:txBody>
      </p:sp>
      <p:sp>
        <p:nvSpPr>
          <p:cNvPr id="6" name="Rectangle 5"/>
          <p:cNvSpPr/>
          <p:nvPr/>
        </p:nvSpPr>
        <p:spPr>
          <a:xfrm>
            <a:off x="777240" y="1572768"/>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737360"/>
            <a:ext cx="1737360" cy="45720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77240" y="1783080"/>
            <a:ext cx="1737360" cy="365760"/>
          </a:xfrm>
          <a:prstGeom prst="rect">
            <a:avLst/>
          </a:prstGeom>
          <a:noFill/>
        </p:spPr>
        <p:txBody>
          <a:bodyPr wrap="square" anchor="t">
            <a:spAutoFit/>
          </a:bodyPr>
          <a:lstStyle/>
          <a:p>
            <a:pPr algn="ctr">
              <a:spcAft>
                <a:spcPts val="400"/>
              </a:spcAft>
            </a:pPr>
            <a:r>
              <a:rPr sz="1600" b="1">
                <a:solidFill>
                  <a:srgbClr val="FFFFFF"/>
                </a:solidFill>
                <a:latin typeface="Arial"/>
              </a:rPr>
              <a:t>LAB 1</a:t>
            </a:r>
          </a:p>
        </p:txBody>
      </p:sp>
      <p:sp>
        <p:nvSpPr>
          <p:cNvPr id="9" name="TextBox 8"/>
          <p:cNvSpPr txBox="1"/>
          <p:nvPr/>
        </p:nvSpPr>
        <p:spPr>
          <a:xfrm>
            <a:off x="2697480" y="1783080"/>
            <a:ext cx="3566160" cy="365760"/>
          </a:xfrm>
          <a:prstGeom prst="rect">
            <a:avLst/>
          </a:prstGeom>
          <a:noFill/>
        </p:spPr>
        <p:txBody>
          <a:bodyPr wrap="square" anchor="t">
            <a:spAutoFit/>
          </a:bodyPr>
          <a:lstStyle/>
          <a:p>
            <a:pPr algn="l">
              <a:spcAft>
                <a:spcPts val="400"/>
              </a:spcAft>
            </a:pPr>
            <a:r>
              <a:rPr sz="1200" b="1">
                <a:solidFill>
                  <a:srgbClr val="5B6372"/>
                </a:solidFill>
                <a:latin typeface="Arial"/>
              </a:rPr>
              <a:t>Day 1 · LO1 · K1, A1</a:t>
            </a:r>
          </a:p>
        </p:txBody>
      </p:sp>
      <p:sp>
        <p:nvSpPr>
          <p:cNvPr id="10" name="TextBox 9"/>
          <p:cNvSpPr txBox="1"/>
          <p:nvPr/>
        </p:nvSpPr>
        <p:spPr>
          <a:xfrm>
            <a:off x="777240" y="2286000"/>
            <a:ext cx="5486400" cy="1339215"/>
          </a:xfrm>
          <a:prstGeom prst="rect">
            <a:avLst/>
          </a:prstGeom>
          <a:noFill/>
        </p:spPr>
        <p:txBody>
          <a:bodyPr wrap="square" anchor="t">
            <a:spAutoFit/>
          </a:bodyPr>
          <a:lstStyle/>
          <a:p>
            <a:pPr algn="l">
              <a:spcAft>
                <a:spcPts val="400"/>
              </a:spcAft>
            </a:pPr>
            <a:r>
              <a:rPr sz="1350" b="0">
                <a:solidFill>
                  <a:srgbClr val="161B26"/>
                </a:solidFill>
                <a:latin typeface="Arial"/>
              </a:rPr>
              <a:t>Before automating anything you need a workspace you can trust. In this lab you install and configure AWS CLI v2 with a named least-privilege 'devops' profile (or an IAM Identity Center session), prove exactly who you are with STS, pin a Region, attach a permission boundary so the profile can never exceed its remit, and lock down your Git repository so plaintext secrets …</a:t>
            </a:r>
          </a:p>
        </p:txBody>
      </p:sp>
      <p:sp>
        <p:nvSpPr>
          <p:cNvPr id="11" name="Rectangle 10"/>
          <p:cNvSpPr/>
          <p:nvPr/>
        </p:nvSpPr>
        <p:spPr>
          <a:xfrm>
            <a:off x="777240" y="3734943"/>
            <a:ext cx="5486400" cy="1377696"/>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ectangle 11"/>
          <p:cNvSpPr/>
          <p:nvPr/>
        </p:nvSpPr>
        <p:spPr>
          <a:xfrm>
            <a:off x="777240" y="3734943"/>
            <a:ext cx="91440" cy="1377696"/>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960120" y="3862959"/>
            <a:ext cx="5120640" cy="274320"/>
          </a:xfrm>
          <a:prstGeom prst="rect">
            <a:avLst/>
          </a:prstGeom>
          <a:noFill/>
        </p:spPr>
        <p:txBody>
          <a:bodyPr wrap="square" anchor="t">
            <a:spAutoFit/>
          </a:bodyPr>
          <a:lstStyle/>
          <a:p>
            <a:pPr algn="l">
              <a:spcAft>
                <a:spcPts val="400"/>
              </a:spcAft>
            </a:pPr>
            <a:r>
              <a:rPr sz="1200" b="1">
                <a:solidFill>
                  <a:srgbClr val="1F6FEB"/>
                </a:solidFill>
                <a:latin typeface="Arial"/>
              </a:rPr>
              <a:t>YOU'LL BUILD</a:t>
            </a:r>
          </a:p>
        </p:txBody>
      </p:sp>
      <p:sp>
        <p:nvSpPr>
          <p:cNvPr id="14" name="TextBox 13"/>
          <p:cNvSpPr txBox="1"/>
          <p:nvPr/>
        </p:nvSpPr>
        <p:spPr>
          <a:xfrm>
            <a:off x="960120" y="4137279"/>
            <a:ext cx="5166360" cy="619125"/>
          </a:xfrm>
          <a:prstGeom prst="rect">
            <a:avLst/>
          </a:prstGeom>
          <a:noFill/>
        </p:spPr>
        <p:txBody>
          <a:bodyPr wrap="square" anchor="t">
            <a:spAutoFit/>
          </a:bodyPr>
          <a:lstStyle/>
          <a:p>
            <a:pPr algn="l">
              <a:spcAft>
                <a:spcPts val="400"/>
              </a:spcAft>
            </a:pPr>
            <a:r>
              <a:rPr sz="1250" b="1">
                <a:solidFill>
                  <a:srgbClr val="161B26"/>
                </a:solidFill>
                <a:latin typeface="Arial"/>
              </a:rPr>
              <a:t>A named, MFA-aware, least-privilege 'devops' CLI profile plus a Git repo with a secrets-safe.gitignore, verified with an AWS caller-identity check and a clean secret scan.</a:t>
            </a:r>
          </a:p>
        </p:txBody>
      </p:sp>
      <p:sp>
        <p:nvSpPr>
          <p:cNvPr id="15" name="TextBox 14"/>
          <p:cNvSpPr txBox="1"/>
          <p:nvPr/>
        </p:nvSpPr>
        <p:spPr>
          <a:xfrm>
            <a:off x="960120" y="4811268"/>
            <a:ext cx="5166360" cy="173355"/>
          </a:xfrm>
          <a:prstGeom prst="rect">
            <a:avLst/>
          </a:prstGeom>
          <a:noFill/>
        </p:spPr>
        <p:txBody>
          <a:bodyPr wrap="square" anchor="t">
            <a:spAutoFit/>
          </a:bodyPr>
          <a:lstStyle/>
          <a:p>
            <a:pPr algn="l">
              <a:spcAft>
                <a:spcPts val="400"/>
              </a:spcAft>
            </a:pPr>
            <a:r>
              <a:rPr sz="1050" b="0">
                <a:solidFill>
                  <a:srgbClr val="5B6372"/>
                </a:solidFill>
                <a:latin typeface="Arial"/>
              </a:rPr>
              <a:t>Tools:  AWS IAM, AWS CLI v2, IAM Identity Center, CloudShell, Git</a:t>
            </a:r>
          </a:p>
        </p:txBody>
      </p:sp>
      <p:sp>
        <p:nvSpPr>
          <p:cNvPr id="16" name="Rectangle 15"/>
          <p:cNvSpPr/>
          <p:nvPr/>
        </p:nvSpPr>
        <p:spPr>
          <a:xfrm>
            <a:off x="777240" y="5222367"/>
            <a:ext cx="5486400" cy="1105281"/>
          </a:xfrm>
          <a:prstGeom prst="rect">
            <a:avLst/>
          </a:prstGeom>
          <a:solidFill>
            <a:srgbClr val="FFFFFF"/>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ectangle 16"/>
          <p:cNvSpPr/>
          <p:nvPr/>
        </p:nvSpPr>
        <p:spPr>
          <a:xfrm>
            <a:off x="777240" y="5222367"/>
            <a:ext cx="91440" cy="1105281"/>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960120" y="5350383"/>
            <a:ext cx="5120640" cy="274320"/>
          </a:xfrm>
          <a:prstGeom prst="rect">
            <a:avLst/>
          </a:prstGeom>
          <a:noFill/>
        </p:spPr>
        <p:txBody>
          <a:bodyPr wrap="square" anchor="t">
            <a:spAutoFit/>
          </a:bodyPr>
          <a:lstStyle/>
          <a:p>
            <a:pPr algn="l">
              <a:spcAft>
                <a:spcPts val="400"/>
              </a:spcAft>
            </a:pPr>
            <a:r>
              <a:rPr sz="1200" b="1">
                <a:solidFill>
                  <a:srgbClr val="10B981"/>
                </a:solidFill>
                <a:latin typeface="Arial"/>
              </a:rPr>
              <a:t>OUTCOME &amp; EVIDENCE</a:t>
            </a:r>
          </a:p>
        </p:txBody>
      </p:sp>
      <p:sp>
        <p:nvSpPr>
          <p:cNvPr id="19" name="TextBox 18"/>
          <p:cNvSpPr txBox="1"/>
          <p:nvPr/>
        </p:nvSpPr>
        <p:spPr>
          <a:xfrm>
            <a:off x="960120" y="5624703"/>
            <a:ext cx="5166360" cy="520065"/>
          </a:xfrm>
          <a:prstGeom prst="rect">
            <a:avLst/>
          </a:prstGeom>
          <a:noFill/>
        </p:spPr>
        <p:txBody>
          <a:bodyPr wrap="square" anchor="t">
            <a:spAutoFit/>
          </a:bodyPr>
          <a:lstStyle/>
          <a:p>
            <a:pPr algn="l">
              <a:spcAft>
                <a:spcPts val="300"/>
              </a:spcAft>
            </a:pPr>
            <a:r>
              <a:rPr sz="1050" b="0">
                <a:solidFill>
                  <a:srgbClr val="5B6372"/>
                </a:solidFill>
                <a:latin typeface="Arial"/>
              </a:rPr>
              <a:t>Outcome: You can run identity-check.sh and get 'PROFILE OK' with the correct ARN and Region, the permission boundary provably blocks …</a:t>
            </a:r>
          </a:p>
          <a:p>
            <a:pPr algn="l">
              <a:spcAft>
                <a:spcPts val="300"/>
              </a:spcAft>
            </a:pPr>
            <a:r>
              <a:rPr sz="1050" b="0">
                <a:solidFill>
                  <a:srgbClr val="5B6372"/>
                </a:solidFill>
                <a:latin typeface="Arial"/>
              </a:rPr>
              <a:t>Evidence:  Screenshot of showing your own Account and ARN.</a:t>
            </a:r>
          </a:p>
        </p:txBody>
      </p:sp>
      <p:sp>
        <p:nvSpPr>
          <p:cNvPr id="20" name="Rectangle 19"/>
          <p:cNvSpPr/>
          <p:nvPr/>
        </p:nvSpPr>
        <p:spPr>
          <a:xfrm>
            <a:off x="6446520" y="1783080"/>
            <a:ext cx="5029200" cy="2901403"/>
          </a:xfrm>
          <a:prstGeom prst="rect">
            <a:avLst/>
          </a:prstGeom>
          <a:solidFill>
            <a:srgbClr val="F5F8FC"/>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21" name="Picture 20" descr="lab-01-safe-env-identity.jpg"/>
          <p:cNvPicPr>
            <a:picLocks noChangeAspect="1"/>
          </p:cNvPicPr>
          <p:nvPr/>
        </p:nvPicPr>
        <p:blipFill>
          <a:blip r:embed="rId2"/>
          <a:stretch>
            <a:fillRect/>
          </a:stretch>
        </p:blipFill>
        <p:spPr>
          <a:xfrm>
            <a:off x="6492240" y="1828800"/>
            <a:ext cx="4937760" cy="2809963"/>
          </a:xfrm>
          <a:prstGeom prst="rect">
            <a:avLst/>
          </a:prstGeom>
        </p:spPr>
      </p:pic>
      <p:sp>
        <p:nvSpPr>
          <p:cNvPr id="22" name="TextBox 21"/>
          <p:cNvSpPr txBox="1"/>
          <p:nvPr/>
        </p:nvSpPr>
        <p:spPr>
          <a:xfrm>
            <a:off x="6492240" y="4730203"/>
            <a:ext cx="4937760" cy="365760"/>
          </a:xfrm>
          <a:prstGeom prst="rect">
            <a:avLst/>
          </a:prstGeom>
          <a:noFill/>
        </p:spPr>
        <p:txBody>
          <a:bodyPr wrap="square" anchor="t">
            <a:spAutoFit/>
          </a:bodyPr>
          <a:lstStyle/>
          <a:p>
            <a:pPr algn="ctr">
              <a:spcAft>
                <a:spcPts val="400"/>
              </a:spcAft>
            </a:pPr>
            <a:r>
              <a:rPr sz="1100" b="1">
                <a:solidFill>
                  <a:srgbClr val="5B6372"/>
                </a:solidFill>
                <a:latin typeface="Arial"/>
              </a:rPr>
              <a:t>Reference architecture</a:t>
            </a:r>
          </a:p>
        </p:txBody>
      </p:sp>
      <p:sp>
        <p:nvSpPr>
          <p:cNvPr id="23" name="TextBox 22"/>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DevOps Engineering on AWS  ·  TGS-2023040474</a:t>
            </a:r>
          </a:p>
        </p:txBody>
      </p:sp>
      <p:sp>
        <p:nvSpPr>
          <p:cNvPr id="24" name="TextBox 23"/>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25" name="TextBox 24"/>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62</a:t>
            </a:r>
          </a:p>
        </p:txBody>
      </p:sp>
    </p:spTree>
  </p:cSld>
  <p:clrMapOvr>
    <a:masterClrMapping/>
  </p:clrMapOvr>
  <p:transition xmlns:p14="http://schemas.microsoft.com/office/powerpoint/2010/main" p14:dur="380">
    <p:fade/>
  </p:transition>
</p:sld>
</file>

<file path=ppt/slides/slide6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38912"/>
            <a:ext cx="10607040" cy="365760"/>
          </a:xfrm>
          <a:prstGeom prst="rect">
            <a:avLst/>
          </a:prstGeom>
          <a:noFill/>
        </p:spPr>
        <p:txBody>
          <a:bodyPr wrap="square" anchor="t">
            <a:spAutoFit/>
          </a:bodyPr>
          <a:lstStyle/>
          <a:p>
            <a:pPr algn="l">
              <a:spcAft>
                <a:spcPts val="400"/>
              </a:spcAft>
            </a:pPr>
            <a:r>
              <a:rPr sz="1400" b="1">
                <a:solidFill>
                  <a:srgbClr val="1F6FEB"/>
                </a:solidFill>
                <a:latin typeface="Arial"/>
              </a:rPr>
              <a:t>LAB 2 · DAY 1 · LO1 · HANDS-ON</a:t>
            </a:r>
          </a:p>
        </p:txBody>
      </p:sp>
      <p:sp>
        <p:nvSpPr>
          <p:cNvPr id="5" name="TextBox 4"/>
          <p:cNvSpPr txBox="1"/>
          <p:nvPr/>
        </p:nvSpPr>
        <p:spPr>
          <a:xfrm>
            <a:off x="777240" y="896112"/>
            <a:ext cx="10927080" cy="731520"/>
          </a:xfrm>
          <a:prstGeom prst="rect">
            <a:avLst/>
          </a:prstGeom>
          <a:noFill/>
        </p:spPr>
        <p:txBody>
          <a:bodyPr wrap="square" anchor="t">
            <a:spAutoFit/>
          </a:bodyPr>
          <a:lstStyle/>
          <a:p>
            <a:pPr algn="l">
              <a:spcAft>
                <a:spcPts val="400"/>
              </a:spcAft>
            </a:pPr>
            <a:r>
              <a:rPr sz="2100" b="1">
                <a:solidFill>
                  <a:srgbClr val="161B26"/>
                </a:solidFill>
                <a:latin typeface="Arial"/>
              </a:rPr>
              <a:t>Establish a Source-Control Workflow and Branching for the Sample App</a:t>
            </a:r>
          </a:p>
        </p:txBody>
      </p:sp>
      <p:sp>
        <p:nvSpPr>
          <p:cNvPr id="6" name="Rectangle 5"/>
          <p:cNvSpPr/>
          <p:nvPr/>
        </p:nvSpPr>
        <p:spPr>
          <a:xfrm>
            <a:off x="777240" y="1572768"/>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737360"/>
            <a:ext cx="1737360" cy="45720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77240" y="1783080"/>
            <a:ext cx="1737360" cy="365760"/>
          </a:xfrm>
          <a:prstGeom prst="rect">
            <a:avLst/>
          </a:prstGeom>
          <a:noFill/>
        </p:spPr>
        <p:txBody>
          <a:bodyPr wrap="square" anchor="t">
            <a:spAutoFit/>
          </a:bodyPr>
          <a:lstStyle/>
          <a:p>
            <a:pPr algn="ctr">
              <a:spcAft>
                <a:spcPts val="400"/>
              </a:spcAft>
            </a:pPr>
            <a:r>
              <a:rPr sz="1600" b="1">
                <a:solidFill>
                  <a:srgbClr val="FFFFFF"/>
                </a:solidFill>
                <a:latin typeface="Arial"/>
              </a:rPr>
              <a:t>LAB 2</a:t>
            </a:r>
          </a:p>
        </p:txBody>
      </p:sp>
      <p:sp>
        <p:nvSpPr>
          <p:cNvPr id="9" name="TextBox 8"/>
          <p:cNvSpPr txBox="1"/>
          <p:nvPr/>
        </p:nvSpPr>
        <p:spPr>
          <a:xfrm>
            <a:off x="2697480" y="1783080"/>
            <a:ext cx="3566160" cy="365760"/>
          </a:xfrm>
          <a:prstGeom prst="rect">
            <a:avLst/>
          </a:prstGeom>
          <a:noFill/>
        </p:spPr>
        <p:txBody>
          <a:bodyPr wrap="square" anchor="t">
            <a:spAutoFit/>
          </a:bodyPr>
          <a:lstStyle/>
          <a:p>
            <a:pPr algn="l">
              <a:spcAft>
                <a:spcPts val="400"/>
              </a:spcAft>
            </a:pPr>
            <a:r>
              <a:rPr sz="1200" b="1">
                <a:solidFill>
                  <a:srgbClr val="5B6372"/>
                </a:solidFill>
                <a:latin typeface="Arial"/>
              </a:rPr>
              <a:t>Day 1 · LO1 · K1, A1</a:t>
            </a:r>
          </a:p>
        </p:txBody>
      </p:sp>
      <p:sp>
        <p:nvSpPr>
          <p:cNvPr id="10" name="TextBox 9"/>
          <p:cNvSpPr txBox="1"/>
          <p:nvPr/>
        </p:nvSpPr>
        <p:spPr>
          <a:xfrm>
            <a:off x="777240" y="2286000"/>
            <a:ext cx="5486400" cy="992505"/>
          </a:xfrm>
          <a:prstGeom prst="rect">
            <a:avLst/>
          </a:prstGeom>
          <a:noFill/>
        </p:spPr>
        <p:txBody>
          <a:bodyPr wrap="square" anchor="t">
            <a:spAutoFit/>
          </a:bodyPr>
          <a:lstStyle/>
          <a:p>
            <a:pPr algn="l">
              <a:spcAft>
                <a:spcPts val="400"/>
              </a:spcAft>
            </a:pPr>
            <a:r>
              <a:rPr sz="1350" b="0">
                <a:solidFill>
                  <a:srgbClr val="161B26"/>
                </a:solidFill>
                <a:latin typeface="Arial"/>
              </a:rPr>
              <a:t>Good delivery starts with disciplined source control. In this lab you fork and clone the sample web app, adopt a trunk-based workflow, cut a short-lived feature branch, commit a change, push it, open a pull request and protect the main branch. You …</a:t>
            </a:r>
          </a:p>
        </p:txBody>
      </p:sp>
      <p:sp>
        <p:nvSpPr>
          <p:cNvPr id="11" name="Rectangle 10"/>
          <p:cNvSpPr/>
          <p:nvPr/>
        </p:nvSpPr>
        <p:spPr>
          <a:xfrm>
            <a:off x="777240" y="3388233"/>
            <a:ext cx="5486400" cy="1551051"/>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ectangle 11"/>
          <p:cNvSpPr/>
          <p:nvPr/>
        </p:nvSpPr>
        <p:spPr>
          <a:xfrm>
            <a:off x="777240" y="3388233"/>
            <a:ext cx="91440" cy="1551051"/>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960120" y="3516249"/>
            <a:ext cx="5120640" cy="274320"/>
          </a:xfrm>
          <a:prstGeom prst="rect">
            <a:avLst/>
          </a:prstGeom>
          <a:noFill/>
        </p:spPr>
        <p:txBody>
          <a:bodyPr wrap="square" anchor="t">
            <a:spAutoFit/>
          </a:bodyPr>
          <a:lstStyle/>
          <a:p>
            <a:pPr algn="l">
              <a:spcAft>
                <a:spcPts val="400"/>
              </a:spcAft>
            </a:pPr>
            <a:r>
              <a:rPr sz="1200" b="1">
                <a:solidFill>
                  <a:srgbClr val="1F6FEB"/>
                </a:solidFill>
                <a:latin typeface="Arial"/>
              </a:rPr>
              <a:t>YOU'LL BUILD</a:t>
            </a:r>
          </a:p>
        </p:txBody>
      </p:sp>
      <p:sp>
        <p:nvSpPr>
          <p:cNvPr id="14" name="TextBox 13"/>
          <p:cNvSpPr txBox="1"/>
          <p:nvPr/>
        </p:nvSpPr>
        <p:spPr>
          <a:xfrm>
            <a:off x="960120" y="3790569"/>
            <a:ext cx="5166360" cy="619125"/>
          </a:xfrm>
          <a:prstGeom prst="rect">
            <a:avLst/>
          </a:prstGeom>
          <a:noFill/>
        </p:spPr>
        <p:txBody>
          <a:bodyPr wrap="square" anchor="t">
            <a:spAutoFit/>
          </a:bodyPr>
          <a:lstStyle/>
          <a:p>
            <a:pPr algn="l">
              <a:spcAft>
                <a:spcPts val="400"/>
              </a:spcAft>
            </a:pPr>
            <a:r>
              <a:rPr sz="1250" b="1">
                <a:solidFill>
                  <a:srgbClr val="161B26"/>
                </a:solidFill>
                <a:latin typeface="Arial"/>
              </a:rPr>
              <a:t>A protected trunk-based GitHub repo with an open/merged PR, plus an AVAILABLE AWS CodeConnections connection to GitHub ready to drive CodeBuild and CodePipeline.</a:t>
            </a:r>
          </a:p>
        </p:txBody>
      </p:sp>
      <p:sp>
        <p:nvSpPr>
          <p:cNvPr id="15" name="TextBox 14"/>
          <p:cNvSpPr txBox="1"/>
          <p:nvPr/>
        </p:nvSpPr>
        <p:spPr>
          <a:xfrm>
            <a:off x="960120" y="4464558"/>
            <a:ext cx="5166360" cy="346710"/>
          </a:xfrm>
          <a:prstGeom prst="rect">
            <a:avLst/>
          </a:prstGeom>
          <a:noFill/>
        </p:spPr>
        <p:txBody>
          <a:bodyPr wrap="square" anchor="t">
            <a:spAutoFit/>
          </a:bodyPr>
          <a:lstStyle/>
          <a:p>
            <a:pPr algn="l">
              <a:spcAft>
                <a:spcPts val="400"/>
              </a:spcAft>
            </a:pPr>
            <a:r>
              <a:rPr sz="1050" b="0">
                <a:solidFill>
                  <a:srgbClr val="5B6372"/>
                </a:solidFill>
                <a:latin typeface="Arial"/>
              </a:rPr>
              <a:t>Tools:  GitHub, AWS CodeConnections, Git, AWS CodePipeline (source stage)</a:t>
            </a:r>
          </a:p>
        </p:txBody>
      </p:sp>
      <p:sp>
        <p:nvSpPr>
          <p:cNvPr id="16" name="Rectangle 15"/>
          <p:cNvSpPr/>
          <p:nvPr/>
        </p:nvSpPr>
        <p:spPr>
          <a:xfrm>
            <a:off x="777240" y="5049012"/>
            <a:ext cx="5486400" cy="1278636"/>
          </a:xfrm>
          <a:prstGeom prst="rect">
            <a:avLst/>
          </a:prstGeom>
          <a:solidFill>
            <a:srgbClr val="FFFFFF"/>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ectangle 16"/>
          <p:cNvSpPr/>
          <p:nvPr/>
        </p:nvSpPr>
        <p:spPr>
          <a:xfrm>
            <a:off x="777240" y="5049012"/>
            <a:ext cx="91440" cy="1278636"/>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960120" y="5177028"/>
            <a:ext cx="5120640" cy="274320"/>
          </a:xfrm>
          <a:prstGeom prst="rect">
            <a:avLst/>
          </a:prstGeom>
          <a:noFill/>
        </p:spPr>
        <p:txBody>
          <a:bodyPr wrap="square" anchor="t">
            <a:spAutoFit/>
          </a:bodyPr>
          <a:lstStyle/>
          <a:p>
            <a:pPr algn="l">
              <a:spcAft>
                <a:spcPts val="400"/>
              </a:spcAft>
            </a:pPr>
            <a:r>
              <a:rPr sz="1200" b="1">
                <a:solidFill>
                  <a:srgbClr val="10B981"/>
                </a:solidFill>
                <a:latin typeface="Arial"/>
              </a:rPr>
              <a:t>OUTCOME &amp; EVIDENCE</a:t>
            </a:r>
          </a:p>
        </p:txBody>
      </p:sp>
      <p:sp>
        <p:nvSpPr>
          <p:cNvPr id="19" name="TextBox 18"/>
          <p:cNvSpPr txBox="1"/>
          <p:nvPr/>
        </p:nvSpPr>
        <p:spPr>
          <a:xfrm>
            <a:off x="960120" y="5451348"/>
            <a:ext cx="5166360" cy="693420"/>
          </a:xfrm>
          <a:prstGeom prst="rect">
            <a:avLst/>
          </a:prstGeom>
          <a:noFill/>
        </p:spPr>
        <p:txBody>
          <a:bodyPr wrap="square" anchor="t">
            <a:spAutoFit/>
          </a:bodyPr>
          <a:lstStyle/>
          <a:p>
            <a:pPr algn="l">
              <a:spcAft>
                <a:spcPts val="300"/>
              </a:spcAft>
            </a:pPr>
            <a:r>
              <a:rPr sz="1050" b="0">
                <a:solidFill>
                  <a:srgbClr val="5B6372"/>
                </a:solidFill>
                <a:latin typeface="Arial"/>
              </a:rPr>
              <a:t>Outcome: You can push a feature branch, open and merge a PR into a protected main, and prove an AWS CodeConnections connection to …</a:t>
            </a:r>
          </a:p>
          <a:p>
            <a:pPr algn="l">
              <a:spcAft>
                <a:spcPts val="300"/>
              </a:spcAft>
            </a:pPr>
            <a:r>
              <a:rPr sz="1050" b="0">
                <a:solidFill>
                  <a:srgbClr val="5B6372"/>
                </a:solidFill>
                <a:latin typeface="Arial"/>
              </a:rPr>
              <a:t>Evidence:  The GitHub PR page for feature/bump-version showing the diff and an approving review.</a:t>
            </a:r>
          </a:p>
        </p:txBody>
      </p:sp>
      <p:sp>
        <p:nvSpPr>
          <p:cNvPr id="20" name="Rectangle 19"/>
          <p:cNvSpPr/>
          <p:nvPr/>
        </p:nvSpPr>
        <p:spPr>
          <a:xfrm>
            <a:off x="6446520" y="1783080"/>
            <a:ext cx="5029200" cy="2901403"/>
          </a:xfrm>
          <a:prstGeom prst="rect">
            <a:avLst/>
          </a:prstGeom>
          <a:solidFill>
            <a:srgbClr val="F5F8FC"/>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21" name="Picture 20" descr="lab-02-source-workflow-branching.jpg"/>
          <p:cNvPicPr>
            <a:picLocks noChangeAspect="1"/>
          </p:cNvPicPr>
          <p:nvPr/>
        </p:nvPicPr>
        <p:blipFill>
          <a:blip r:embed="rId2"/>
          <a:stretch>
            <a:fillRect/>
          </a:stretch>
        </p:blipFill>
        <p:spPr>
          <a:xfrm>
            <a:off x="6492240" y="1828800"/>
            <a:ext cx="4937760" cy="2809963"/>
          </a:xfrm>
          <a:prstGeom prst="rect">
            <a:avLst/>
          </a:prstGeom>
        </p:spPr>
      </p:pic>
      <p:sp>
        <p:nvSpPr>
          <p:cNvPr id="22" name="TextBox 21"/>
          <p:cNvSpPr txBox="1"/>
          <p:nvPr/>
        </p:nvSpPr>
        <p:spPr>
          <a:xfrm>
            <a:off x="6492240" y="4730203"/>
            <a:ext cx="4937760" cy="365760"/>
          </a:xfrm>
          <a:prstGeom prst="rect">
            <a:avLst/>
          </a:prstGeom>
          <a:noFill/>
        </p:spPr>
        <p:txBody>
          <a:bodyPr wrap="square" anchor="t">
            <a:spAutoFit/>
          </a:bodyPr>
          <a:lstStyle/>
          <a:p>
            <a:pPr algn="ctr">
              <a:spcAft>
                <a:spcPts val="400"/>
              </a:spcAft>
            </a:pPr>
            <a:r>
              <a:rPr sz="1100" b="1">
                <a:solidFill>
                  <a:srgbClr val="5B6372"/>
                </a:solidFill>
                <a:latin typeface="Arial"/>
              </a:rPr>
              <a:t>Reference architecture</a:t>
            </a:r>
          </a:p>
        </p:txBody>
      </p:sp>
      <p:sp>
        <p:nvSpPr>
          <p:cNvPr id="23" name="TextBox 22"/>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DevOps Engineering on AWS  ·  TGS-2023040474</a:t>
            </a:r>
          </a:p>
        </p:txBody>
      </p:sp>
      <p:sp>
        <p:nvSpPr>
          <p:cNvPr id="24" name="TextBox 23"/>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25" name="TextBox 24"/>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63</a:t>
            </a:r>
          </a:p>
        </p:txBody>
      </p:sp>
    </p:spTree>
  </p:cSld>
  <p:clrMapOvr>
    <a:masterClrMapping/>
  </p:clrMapOvr>
  <p:transition xmlns:p14="http://schemas.microsoft.com/office/powerpoint/2010/main" p14:dur="380">
    <p:fade/>
  </p:transition>
</p:sld>
</file>

<file path=ppt/slides/slide6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38912"/>
            <a:ext cx="10607040" cy="365760"/>
          </a:xfrm>
          <a:prstGeom prst="rect">
            <a:avLst/>
          </a:prstGeom>
          <a:noFill/>
        </p:spPr>
        <p:txBody>
          <a:bodyPr wrap="square" anchor="t">
            <a:spAutoFit/>
          </a:bodyPr>
          <a:lstStyle/>
          <a:p>
            <a:pPr algn="l">
              <a:spcAft>
                <a:spcPts val="400"/>
              </a:spcAft>
            </a:pPr>
            <a:r>
              <a:rPr sz="1400" b="1">
                <a:solidFill>
                  <a:srgbClr val="1F6FEB"/>
                </a:solidFill>
                <a:latin typeface="Arial"/>
              </a:rPr>
              <a:t>LAB 3 · DAY 1 · LO1 · HANDS-ON</a:t>
            </a:r>
          </a:p>
        </p:txBody>
      </p:sp>
      <p:sp>
        <p:nvSpPr>
          <p:cNvPr id="5" name="TextBox 4"/>
          <p:cNvSpPr txBox="1"/>
          <p:nvPr/>
        </p:nvSpPr>
        <p:spPr>
          <a:xfrm>
            <a:off x="777240" y="896112"/>
            <a:ext cx="10927080" cy="731520"/>
          </a:xfrm>
          <a:prstGeom prst="rect">
            <a:avLst/>
          </a:prstGeom>
          <a:noFill/>
        </p:spPr>
        <p:txBody>
          <a:bodyPr wrap="square" anchor="t">
            <a:spAutoFit/>
          </a:bodyPr>
          <a:lstStyle/>
          <a:p>
            <a:pPr algn="l">
              <a:spcAft>
                <a:spcPts val="400"/>
              </a:spcAft>
            </a:pPr>
            <a:r>
              <a:rPr sz="2500" b="1">
                <a:solidFill>
                  <a:srgbClr val="161B26"/>
                </a:solidFill>
                <a:latin typeface="Arial"/>
              </a:rPr>
              <a:t>Run Automated Tests on Every Commit with AWS CodeBuild</a:t>
            </a:r>
          </a:p>
        </p:txBody>
      </p:sp>
      <p:sp>
        <p:nvSpPr>
          <p:cNvPr id="6" name="Rectangle 5"/>
          <p:cNvSpPr/>
          <p:nvPr/>
        </p:nvSpPr>
        <p:spPr>
          <a:xfrm>
            <a:off x="777240" y="1572768"/>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737360"/>
            <a:ext cx="1737360" cy="45720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77240" y="1783080"/>
            <a:ext cx="1737360" cy="365760"/>
          </a:xfrm>
          <a:prstGeom prst="rect">
            <a:avLst/>
          </a:prstGeom>
          <a:noFill/>
        </p:spPr>
        <p:txBody>
          <a:bodyPr wrap="square" anchor="t">
            <a:spAutoFit/>
          </a:bodyPr>
          <a:lstStyle/>
          <a:p>
            <a:pPr algn="ctr">
              <a:spcAft>
                <a:spcPts val="400"/>
              </a:spcAft>
            </a:pPr>
            <a:r>
              <a:rPr sz="1600" b="1">
                <a:solidFill>
                  <a:srgbClr val="FFFFFF"/>
                </a:solidFill>
                <a:latin typeface="Arial"/>
              </a:rPr>
              <a:t>LAB 3</a:t>
            </a:r>
          </a:p>
        </p:txBody>
      </p:sp>
      <p:sp>
        <p:nvSpPr>
          <p:cNvPr id="9" name="TextBox 8"/>
          <p:cNvSpPr txBox="1"/>
          <p:nvPr/>
        </p:nvSpPr>
        <p:spPr>
          <a:xfrm>
            <a:off x="2697480" y="1783080"/>
            <a:ext cx="3566160" cy="365760"/>
          </a:xfrm>
          <a:prstGeom prst="rect">
            <a:avLst/>
          </a:prstGeom>
          <a:noFill/>
        </p:spPr>
        <p:txBody>
          <a:bodyPr wrap="square" anchor="t">
            <a:spAutoFit/>
          </a:bodyPr>
          <a:lstStyle/>
          <a:p>
            <a:pPr algn="l">
              <a:spcAft>
                <a:spcPts val="400"/>
              </a:spcAft>
            </a:pPr>
            <a:r>
              <a:rPr sz="1200" b="1">
                <a:solidFill>
                  <a:srgbClr val="5B6372"/>
                </a:solidFill>
                <a:latin typeface="Arial"/>
              </a:rPr>
              <a:t>Day 1 · LO1 · K1, A1</a:t>
            </a:r>
          </a:p>
        </p:txBody>
      </p:sp>
      <p:sp>
        <p:nvSpPr>
          <p:cNvPr id="10" name="TextBox 9"/>
          <p:cNvSpPr txBox="1"/>
          <p:nvPr/>
        </p:nvSpPr>
        <p:spPr>
          <a:xfrm>
            <a:off x="777240" y="2286000"/>
            <a:ext cx="5486400" cy="1372235"/>
          </a:xfrm>
          <a:prstGeom prst="rect">
            <a:avLst/>
          </a:prstGeom>
          <a:noFill/>
        </p:spPr>
        <p:txBody>
          <a:bodyPr wrap="square" anchor="t">
            <a:spAutoFit/>
          </a:bodyPr>
          <a:lstStyle/>
          <a:p>
            <a:pPr algn="l">
              <a:spcAft>
                <a:spcPts val="400"/>
              </a:spcAft>
            </a:pPr>
            <a:r>
              <a:rPr sz="1350" b="0">
                <a:solidFill>
                  <a:srgbClr val="161B26"/>
                </a:solidFill>
                <a:latin typeface="Arial"/>
              </a:rPr>
              <a:t>Automated tests are the gate that keeps broken code out of production. In this lab you author a buildspec.yml with install/pre_build/build phases that install dependencies, run a linter and run pytest, then create a CodeBuild project that pulls the source through your CodeConnections link. You start a build, read the phase-by-phase logs in CloudWatch, deliberately …</a:t>
            </a:r>
          </a:p>
        </p:txBody>
      </p:sp>
      <p:sp>
        <p:nvSpPr>
          <p:cNvPr id="11" name="Rectangle 10"/>
          <p:cNvSpPr/>
          <p:nvPr/>
        </p:nvSpPr>
        <p:spPr>
          <a:xfrm>
            <a:off x="777240" y="3767963"/>
            <a:ext cx="5486400" cy="1171321"/>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ectangle 11"/>
          <p:cNvSpPr/>
          <p:nvPr/>
        </p:nvSpPr>
        <p:spPr>
          <a:xfrm>
            <a:off x="777240" y="3767963"/>
            <a:ext cx="91440" cy="1171321"/>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960120" y="3895979"/>
            <a:ext cx="5120640" cy="274320"/>
          </a:xfrm>
          <a:prstGeom prst="rect">
            <a:avLst/>
          </a:prstGeom>
          <a:noFill/>
        </p:spPr>
        <p:txBody>
          <a:bodyPr wrap="square" anchor="t">
            <a:spAutoFit/>
          </a:bodyPr>
          <a:lstStyle/>
          <a:p>
            <a:pPr algn="l">
              <a:spcAft>
                <a:spcPts val="400"/>
              </a:spcAft>
            </a:pPr>
            <a:r>
              <a:rPr sz="1200" b="1">
                <a:solidFill>
                  <a:srgbClr val="1F6FEB"/>
                </a:solidFill>
                <a:latin typeface="Arial"/>
              </a:rPr>
              <a:t>YOU'LL BUILD</a:t>
            </a:r>
          </a:p>
        </p:txBody>
      </p:sp>
      <p:sp>
        <p:nvSpPr>
          <p:cNvPr id="14" name="TextBox 13"/>
          <p:cNvSpPr txBox="1"/>
          <p:nvPr/>
        </p:nvSpPr>
        <p:spPr>
          <a:xfrm>
            <a:off x="960120" y="4170299"/>
            <a:ext cx="5166360" cy="412750"/>
          </a:xfrm>
          <a:prstGeom prst="rect">
            <a:avLst/>
          </a:prstGeom>
          <a:noFill/>
        </p:spPr>
        <p:txBody>
          <a:bodyPr wrap="square" anchor="t">
            <a:spAutoFit/>
          </a:bodyPr>
          <a:lstStyle/>
          <a:p>
            <a:pPr algn="l">
              <a:spcAft>
                <a:spcPts val="400"/>
              </a:spcAft>
            </a:pPr>
            <a:r>
              <a:rPr sz="1250" b="1">
                <a:solidFill>
                  <a:srgbClr val="161B26"/>
                </a:solidFill>
                <a:latin typeface="Arial"/>
              </a:rPr>
              <a:t>A CodeBuild project that runs the linter and, streams phase logs to CloudWatch, and fails loudly when a test is broken.</a:t>
            </a:r>
          </a:p>
        </p:txBody>
      </p:sp>
      <p:sp>
        <p:nvSpPr>
          <p:cNvPr id="15" name="TextBox 14"/>
          <p:cNvSpPr txBox="1"/>
          <p:nvPr/>
        </p:nvSpPr>
        <p:spPr>
          <a:xfrm>
            <a:off x="960120" y="4637913"/>
            <a:ext cx="5166360" cy="173355"/>
          </a:xfrm>
          <a:prstGeom prst="rect">
            <a:avLst/>
          </a:prstGeom>
          <a:noFill/>
        </p:spPr>
        <p:txBody>
          <a:bodyPr wrap="square" anchor="t">
            <a:spAutoFit/>
          </a:bodyPr>
          <a:lstStyle/>
          <a:p>
            <a:pPr algn="l">
              <a:spcAft>
                <a:spcPts val="400"/>
              </a:spcAft>
            </a:pPr>
            <a:r>
              <a:rPr sz="1050" b="0">
                <a:solidFill>
                  <a:srgbClr val="5B6372"/>
                </a:solidFill>
                <a:latin typeface="Arial"/>
              </a:rPr>
              <a:t>Tools:  AWS CodeBuild, Amazon S3, AWS IAM, Amazon CloudWatch Logs</a:t>
            </a:r>
          </a:p>
        </p:txBody>
      </p:sp>
      <p:sp>
        <p:nvSpPr>
          <p:cNvPr id="16" name="Rectangle 15"/>
          <p:cNvSpPr/>
          <p:nvPr/>
        </p:nvSpPr>
        <p:spPr>
          <a:xfrm>
            <a:off x="777240" y="5049012"/>
            <a:ext cx="5486400" cy="1278636"/>
          </a:xfrm>
          <a:prstGeom prst="rect">
            <a:avLst/>
          </a:prstGeom>
          <a:solidFill>
            <a:srgbClr val="FFFFFF"/>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ectangle 16"/>
          <p:cNvSpPr/>
          <p:nvPr/>
        </p:nvSpPr>
        <p:spPr>
          <a:xfrm>
            <a:off x="777240" y="5049012"/>
            <a:ext cx="91440" cy="1278636"/>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960120" y="5177028"/>
            <a:ext cx="5120640" cy="274320"/>
          </a:xfrm>
          <a:prstGeom prst="rect">
            <a:avLst/>
          </a:prstGeom>
          <a:noFill/>
        </p:spPr>
        <p:txBody>
          <a:bodyPr wrap="square" anchor="t">
            <a:spAutoFit/>
          </a:bodyPr>
          <a:lstStyle/>
          <a:p>
            <a:pPr algn="l">
              <a:spcAft>
                <a:spcPts val="400"/>
              </a:spcAft>
            </a:pPr>
            <a:r>
              <a:rPr sz="1200" b="1">
                <a:solidFill>
                  <a:srgbClr val="10B981"/>
                </a:solidFill>
                <a:latin typeface="Arial"/>
              </a:rPr>
              <a:t>OUTCOME &amp; EVIDENCE</a:t>
            </a:r>
          </a:p>
        </p:txBody>
      </p:sp>
      <p:sp>
        <p:nvSpPr>
          <p:cNvPr id="19" name="TextBox 18"/>
          <p:cNvSpPr txBox="1"/>
          <p:nvPr/>
        </p:nvSpPr>
        <p:spPr>
          <a:xfrm>
            <a:off x="960120" y="5451348"/>
            <a:ext cx="5166360" cy="693420"/>
          </a:xfrm>
          <a:prstGeom prst="rect">
            <a:avLst/>
          </a:prstGeom>
          <a:noFill/>
        </p:spPr>
        <p:txBody>
          <a:bodyPr wrap="square" anchor="t">
            <a:spAutoFit/>
          </a:bodyPr>
          <a:lstStyle/>
          <a:p>
            <a:pPr algn="l">
              <a:spcAft>
                <a:spcPts val="300"/>
              </a:spcAft>
            </a:pPr>
            <a:r>
              <a:rPr sz="1050" b="0">
                <a:solidFill>
                  <a:srgbClr val="5B6372"/>
                </a:solidFill>
                <a:latin typeface="Arial"/>
              </a:rPr>
              <a:t>Outcome: You can start a build that runs the linter and, read the phase logs, break a test to see the build FAIL, and fix it to see the build SUCCEED …</a:t>
            </a:r>
          </a:p>
          <a:p>
            <a:pPr algn="l">
              <a:spcAft>
                <a:spcPts val="300"/>
              </a:spcAft>
            </a:pPr>
            <a:r>
              <a:rPr sz="1050" b="0">
                <a:solidFill>
                  <a:srgbClr val="5B6372"/>
                </a:solidFill>
                <a:latin typeface="Arial"/>
              </a:rPr>
              <a:t>Evidence:  The CodeBuild build page showing buildStatus SUCCEEDED with INSTALL/PRE_BUILD/BUILD green.</a:t>
            </a:r>
          </a:p>
        </p:txBody>
      </p:sp>
      <p:sp>
        <p:nvSpPr>
          <p:cNvPr id="20" name="Rectangle 19"/>
          <p:cNvSpPr/>
          <p:nvPr/>
        </p:nvSpPr>
        <p:spPr>
          <a:xfrm>
            <a:off x="6446520" y="1783080"/>
            <a:ext cx="5029200" cy="2901403"/>
          </a:xfrm>
          <a:prstGeom prst="rect">
            <a:avLst/>
          </a:prstGeom>
          <a:solidFill>
            <a:srgbClr val="F5F8FC"/>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21" name="Picture 20" descr="lab-03-codebuild-automated-tests.jpg"/>
          <p:cNvPicPr>
            <a:picLocks noChangeAspect="1"/>
          </p:cNvPicPr>
          <p:nvPr/>
        </p:nvPicPr>
        <p:blipFill>
          <a:blip r:embed="rId2"/>
          <a:stretch>
            <a:fillRect/>
          </a:stretch>
        </p:blipFill>
        <p:spPr>
          <a:xfrm>
            <a:off x="6492240" y="1828800"/>
            <a:ext cx="4937760" cy="2809963"/>
          </a:xfrm>
          <a:prstGeom prst="rect">
            <a:avLst/>
          </a:prstGeom>
        </p:spPr>
      </p:pic>
      <p:sp>
        <p:nvSpPr>
          <p:cNvPr id="22" name="TextBox 21"/>
          <p:cNvSpPr txBox="1"/>
          <p:nvPr/>
        </p:nvSpPr>
        <p:spPr>
          <a:xfrm>
            <a:off x="6492240" y="4730203"/>
            <a:ext cx="4937760" cy="365760"/>
          </a:xfrm>
          <a:prstGeom prst="rect">
            <a:avLst/>
          </a:prstGeom>
          <a:noFill/>
        </p:spPr>
        <p:txBody>
          <a:bodyPr wrap="square" anchor="t">
            <a:spAutoFit/>
          </a:bodyPr>
          <a:lstStyle/>
          <a:p>
            <a:pPr algn="ctr">
              <a:spcAft>
                <a:spcPts val="400"/>
              </a:spcAft>
            </a:pPr>
            <a:r>
              <a:rPr sz="1100" b="1">
                <a:solidFill>
                  <a:srgbClr val="5B6372"/>
                </a:solidFill>
                <a:latin typeface="Arial"/>
              </a:rPr>
              <a:t>Reference architecture</a:t>
            </a:r>
          </a:p>
        </p:txBody>
      </p:sp>
      <p:sp>
        <p:nvSpPr>
          <p:cNvPr id="23" name="TextBox 22"/>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DevOps Engineering on AWS  ·  TGS-2023040474</a:t>
            </a:r>
          </a:p>
        </p:txBody>
      </p:sp>
      <p:sp>
        <p:nvSpPr>
          <p:cNvPr id="24" name="TextBox 23"/>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25" name="TextBox 24"/>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64</a:t>
            </a:r>
          </a:p>
        </p:txBody>
      </p:sp>
    </p:spTree>
  </p:cSld>
  <p:clrMapOvr>
    <a:masterClrMapping/>
  </p:clrMapOvr>
  <p:transition xmlns:p14="http://schemas.microsoft.com/office/powerpoint/2010/main" p14:dur="380">
    <p:fade/>
  </p:transition>
</p:sld>
</file>

<file path=ppt/slides/slide6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38912"/>
            <a:ext cx="10607040" cy="365760"/>
          </a:xfrm>
          <a:prstGeom prst="rect">
            <a:avLst/>
          </a:prstGeom>
          <a:noFill/>
        </p:spPr>
        <p:txBody>
          <a:bodyPr wrap="square" anchor="t">
            <a:spAutoFit/>
          </a:bodyPr>
          <a:lstStyle/>
          <a:p>
            <a:pPr algn="l">
              <a:spcAft>
                <a:spcPts val="400"/>
              </a:spcAft>
            </a:pPr>
            <a:r>
              <a:rPr sz="1400" b="1">
                <a:solidFill>
                  <a:srgbClr val="1F6FEB"/>
                </a:solidFill>
                <a:latin typeface="Arial"/>
              </a:rPr>
              <a:t>LAB 4 · DAY 1 · LO1 · HANDS-ON</a:t>
            </a:r>
          </a:p>
        </p:txBody>
      </p:sp>
      <p:sp>
        <p:nvSpPr>
          <p:cNvPr id="5" name="TextBox 4"/>
          <p:cNvSpPr txBox="1"/>
          <p:nvPr/>
        </p:nvSpPr>
        <p:spPr>
          <a:xfrm>
            <a:off x="777240" y="896112"/>
            <a:ext cx="10927080" cy="731520"/>
          </a:xfrm>
          <a:prstGeom prst="rect">
            <a:avLst/>
          </a:prstGeom>
          <a:noFill/>
        </p:spPr>
        <p:txBody>
          <a:bodyPr wrap="square" anchor="t">
            <a:spAutoFit/>
          </a:bodyPr>
          <a:lstStyle/>
          <a:p>
            <a:pPr algn="l">
              <a:spcAft>
                <a:spcPts val="400"/>
              </a:spcAft>
            </a:pPr>
            <a:r>
              <a:rPr sz="2100" b="1">
                <a:solidFill>
                  <a:srgbClr val="161B26"/>
                </a:solidFill>
                <a:latin typeface="Arial"/>
              </a:rPr>
              <a:t>Produce and Store Versioned Build Artifacts with a Buildspec</a:t>
            </a:r>
          </a:p>
        </p:txBody>
      </p:sp>
      <p:sp>
        <p:nvSpPr>
          <p:cNvPr id="6" name="Rectangle 5"/>
          <p:cNvSpPr/>
          <p:nvPr/>
        </p:nvSpPr>
        <p:spPr>
          <a:xfrm>
            <a:off x="777240" y="1572768"/>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737360"/>
            <a:ext cx="1737360" cy="45720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77240" y="1783080"/>
            <a:ext cx="1737360" cy="365760"/>
          </a:xfrm>
          <a:prstGeom prst="rect">
            <a:avLst/>
          </a:prstGeom>
          <a:noFill/>
        </p:spPr>
        <p:txBody>
          <a:bodyPr wrap="square" anchor="t">
            <a:spAutoFit/>
          </a:bodyPr>
          <a:lstStyle/>
          <a:p>
            <a:pPr algn="ctr">
              <a:spcAft>
                <a:spcPts val="400"/>
              </a:spcAft>
            </a:pPr>
            <a:r>
              <a:rPr sz="1600" b="1">
                <a:solidFill>
                  <a:srgbClr val="FFFFFF"/>
                </a:solidFill>
                <a:latin typeface="Arial"/>
              </a:rPr>
              <a:t>LAB 4</a:t>
            </a:r>
          </a:p>
        </p:txBody>
      </p:sp>
      <p:sp>
        <p:nvSpPr>
          <p:cNvPr id="9" name="TextBox 8"/>
          <p:cNvSpPr txBox="1"/>
          <p:nvPr/>
        </p:nvSpPr>
        <p:spPr>
          <a:xfrm>
            <a:off x="2697480" y="1783080"/>
            <a:ext cx="3566160" cy="365760"/>
          </a:xfrm>
          <a:prstGeom prst="rect">
            <a:avLst/>
          </a:prstGeom>
          <a:noFill/>
        </p:spPr>
        <p:txBody>
          <a:bodyPr wrap="square" anchor="t">
            <a:spAutoFit/>
          </a:bodyPr>
          <a:lstStyle/>
          <a:p>
            <a:pPr algn="l">
              <a:spcAft>
                <a:spcPts val="400"/>
              </a:spcAft>
            </a:pPr>
            <a:r>
              <a:rPr sz="1200" b="1">
                <a:solidFill>
                  <a:srgbClr val="5B6372"/>
                </a:solidFill>
                <a:latin typeface="Arial"/>
              </a:rPr>
              <a:t>Day 1 · LO1 · K1, A1</a:t>
            </a:r>
          </a:p>
        </p:txBody>
      </p:sp>
      <p:sp>
        <p:nvSpPr>
          <p:cNvPr id="10" name="TextBox 9"/>
          <p:cNvSpPr txBox="1"/>
          <p:nvPr/>
        </p:nvSpPr>
        <p:spPr>
          <a:xfrm>
            <a:off x="777240" y="2286000"/>
            <a:ext cx="5486400" cy="1339215"/>
          </a:xfrm>
          <a:prstGeom prst="rect">
            <a:avLst/>
          </a:prstGeom>
          <a:noFill/>
        </p:spPr>
        <p:txBody>
          <a:bodyPr wrap="square" anchor="t">
            <a:spAutoFit/>
          </a:bodyPr>
          <a:lstStyle/>
          <a:p>
            <a:pPr algn="l">
              <a:spcAft>
                <a:spcPts val="400"/>
              </a:spcAft>
            </a:pPr>
            <a:r>
              <a:rPr sz="1350" b="0">
                <a:solidFill>
                  <a:srgbClr val="161B26"/>
                </a:solidFill>
                <a:latin typeface="Arial"/>
              </a:rPr>
              <a:t>A pipeline is only trustworthy if you can identify and reproduce exactly what it built. In this lab you extend the buildspec to package the app into a versioned artifact named by commit and semantic version, then upload it to an encrypted S3 artifact bucket with Block Public Access and object versioning enabled. You verify each object version, and prove you can retrieve …</a:t>
            </a:r>
          </a:p>
        </p:txBody>
      </p:sp>
      <p:sp>
        <p:nvSpPr>
          <p:cNvPr id="11" name="Rectangle 10"/>
          <p:cNvSpPr/>
          <p:nvPr/>
        </p:nvSpPr>
        <p:spPr>
          <a:xfrm>
            <a:off x="777240" y="3734943"/>
            <a:ext cx="5486400" cy="1377696"/>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ectangle 11"/>
          <p:cNvSpPr/>
          <p:nvPr/>
        </p:nvSpPr>
        <p:spPr>
          <a:xfrm>
            <a:off x="777240" y="3734943"/>
            <a:ext cx="91440" cy="1377696"/>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960120" y="3862959"/>
            <a:ext cx="5120640" cy="274320"/>
          </a:xfrm>
          <a:prstGeom prst="rect">
            <a:avLst/>
          </a:prstGeom>
          <a:noFill/>
        </p:spPr>
        <p:txBody>
          <a:bodyPr wrap="square" anchor="t">
            <a:spAutoFit/>
          </a:bodyPr>
          <a:lstStyle/>
          <a:p>
            <a:pPr algn="l">
              <a:spcAft>
                <a:spcPts val="400"/>
              </a:spcAft>
            </a:pPr>
            <a:r>
              <a:rPr sz="1200" b="1">
                <a:solidFill>
                  <a:srgbClr val="1F6FEB"/>
                </a:solidFill>
                <a:latin typeface="Arial"/>
              </a:rPr>
              <a:t>YOU'LL BUILD</a:t>
            </a:r>
          </a:p>
        </p:txBody>
      </p:sp>
      <p:sp>
        <p:nvSpPr>
          <p:cNvPr id="14" name="TextBox 13"/>
          <p:cNvSpPr txBox="1"/>
          <p:nvPr/>
        </p:nvSpPr>
        <p:spPr>
          <a:xfrm>
            <a:off x="960120" y="4137279"/>
            <a:ext cx="5166360" cy="619125"/>
          </a:xfrm>
          <a:prstGeom prst="rect">
            <a:avLst/>
          </a:prstGeom>
          <a:noFill/>
        </p:spPr>
        <p:txBody>
          <a:bodyPr wrap="square" anchor="t">
            <a:spAutoFit/>
          </a:bodyPr>
          <a:lstStyle/>
          <a:p>
            <a:pPr algn="l">
              <a:spcAft>
                <a:spcPts val="400"/>
              </a:spcAft>
            </a:pPr>
            <a:r>
              <a:rPr sz="1250" b="1">
                <a:solidFill>
                  <a:srgbClr val="161B26"/>
                </a:solidFill>
                <a:latin typeface="Arial"/>
              </a:rPr>
              <a:t>An encrypted, version-enabled S3 artifact bucket holding immutable, commit/semver-named build artifacts that you can list, retrieve and reproduce.</a:t>
            </a:r>
          </a:p>
        </p:txBody>
      </p:sp>
      <p:sp>
        <p:nvSpPr>
          <p:cNvPr id="15" name="TextBox 14"/>
          <p:cNvSpPr txBox="1"/>
          <p:nvPr/>
        </p:nvSpPr>
        <p:spPr>
          <a:xfrm>
            <a:off x="960120" y="4811268"/>
            <a:ext cx="5166360" cy="173355"/>
          </a:xfrm>
          <a:prstGeom prst="rect">
            <a:avLst/>
          </a:prstGeom>
          <a:noFill/>
        </p:spPr>
        <p:txBody>
          <a:bodyPr wrap="square" anchor="t">
            <a:spAutoFit/>
          </a:bodyPr>
          <a:lstStyle/>
          <a:p>
            <a:pPr algn="l">
              <a:spcAft>
                <a:spcPts val="400"/>
              </a:spcAft>
            </a:pPr>
            <a:r>
              <a:rPr sz="1050" b="0">
                <a:solidFill>
                  <a:srgbClr val="5B6372"/>
                </a:solidFill>
                <a:latin typeface="Arial"/>
              </a:rPr>
              <a:t>Tools:  AWS CodeBuild, Amazon S3, AWS CodeArtifact, AWS IAM</a:t>
            </a:r>
          </a:p>
        </p:txBody>
      </p:sp>
      <p:sp>
        <p:nvSpPr>
          <p:cNvPr id="16" name="Rectangle 15"/>
          <p:cNvSpPr/>
          <p:nvPr/>
        </p:nvSpPr>
        <p:spPr>
          <a:xfrm>
            <a:off x="777240" y="5222367"/>
            <a:ext cx="5486400" cy="1105281"/>
          </a:xfrm>
          <a:prstGeom prst="rect">
            <a:avLst/>
          </a:prstGeom>
          <a:solidFill>
            <a:srgbClr val="FFFFFF"/>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ectangle 16"/>
          <p:cNvSpPr/>
          <p:nvPr/>
        </p:nvSpPr>
        <p:spPr>
          <a:xfrm>
            <a:off x="777240" y="5222367"/>
            <a:ext cx="91440" cy="1105281"/>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960120" y="5350383"/>
            <a:ext cx="5120640" cy="274320"/>
          </a:xfrm>
          <a:prstGeom prst="rect">
            <a:avLst/>
          </a:prstGeom>
          <a:noFill/>
        </p:spPr>
        <p:txBody>
          <a:bodyPr wrap="square" anchor="t">
            <a:spAutoFit/>
          </a:bodyPr>
          <a:lstStyle/>
          <a:p>
            <a:pPr algn="l">
              <a:spcAft>
                <a:spcPts val="400"/>
              </a:spcAft>
            </a:pPr>
            <a:r>
              <a:rPr sz="1200" b="1">
                <a:solidFill>
                  <a:srgbClr val="10B981"/>
                </a:solidFill>
                <a:latin typeface="Arial"/>
              </a:rPr>
              <a:t>OUTCOME &amp; EVIDENCE</a:t>
            </a:r>
          </a:p>
        </p:txBody>
      </p:sp>
      <p:sp>
        <p:nvSpPr>
          <p:cNvPr id="19" name="TextBox 18"/>
          <p:cNvSpPr txBox="1"/>
          <p:nvPr/>
        </p:nvSpPr>
        <p:spPr>
          <a:xfrm>
            <a:off x="960120" y="5624703"/>
            <a:ext cx="5166360" cy="520065"/>
          </a:xfrm>
          <a:prstGeom prst="rect">
            <a:avLst/>
          </a:prstGeom>
          <a:noFill/>
        </p:spPr>
        <p:txBody>
          <a:bodyPr wrap="square" anchor="t">
            <a:spAutoFit/>
          </a:bodyPr>
          <a:lstStyle/>
          <a:p>
            <a:pPr algn="l">
              <a:spcAft>
                <a:spcPts val="300"/>
              </a:spcAft>
            </a:pPr>
            <a:r>
              <a:rPr sz="1050" b="0">
                <a:solidFill>
                  <a:srgbClr val="5B6372"/>
                </a:solidFill>
                <a:latin typeface="Arial"/>
              </a:rPr>
              <a:t>Outcome: You can produce a commit/semver-named artifact, store it in an encrypted, versioned, private bucket, list its version history, and download …</a:t>
            </a:r>
          </a:p>
          <a:p>
            <a:pPr algn="l">
              <a:spcAft>
                <a:spcPts val="300"/>
              </a:spcAft>
            </a:pPr>
            <a:r>
              <a:rPr sz="1050" b="0">
                <a:solidFill>
                  <a:srgbClr val="5B6372"/>
                </a:solidFill>
                <a:latin typeface="Arial"/>
              </a:rPr>
              <a:t>Evidence:  output showing Status: Enabled.</a:t>
            </a:r>
          </a:p>
        </p:txBody>
      </p:sp>
      <p:sp>
        <p:nvSpPr>
          <p:cNvPr id="20" name="Rectangle 19"/>
          <p:cNvSpPr/>
          <p:nvPr/>
        </p:nvSpPr>
        <p:spPr>
          <a:xfrm>
            <a:off x="6446520" y="1783080"/>
            <a:ext cx="5029200" cy="2901403"/>
          </a:xfrm>
          <a:prstGeom prst="rect">
            <a:avLst/>
          </a:prstGeom>
          <a:solidFill>
            <a:srgbClr val="F5F8FC"/>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21" name="Picture 20" descr="lab-04-versioned-artifacts-buildspec.jpg"/>
          <p:cNvPicPr>
            <a:picLocks noChangeAspect="1"/>
          </p:cNvPicPr>
          <p:nvPr/>
        </p:nvPicPr>
        <p:blipFill>
          <a:blip r:embed="rId2"/>
          <a:stretch>
            <a:fillRect/>
          </a:stretch>
        </p:blipFill>
        <p:spPr>
          <a:xfrm>
            <a:off x="6492240" y="1828800"/>
            <a:ext cx="4937760" cy="2809963"/>
          </a:xfrm>
          <a:prstGeom prst="rect">
            <a:avLst/>
          </a:prstGeom>
        </p:spPr>
      </p:pic>
      <p:sp>
        <p:nvSpPr>
          <p:cNvPr id="22" name="TextBox 21"/>
          <p:cNvSpPr txBox="1"/>
          <p:nvPr/>
        </p:nvSpPr>
        <p:spPr>
          <a:xfrm>
            <a:off x="6492240" y="4730203"/>
            <a:ext cx="4937760" cy="365760"/>
          </a:xfrm>
          <a:prstGeom prst="rect">
            <a:avLst/>
          </a:prstGeom>
          <a:noFill/>
        </p:spPr>
        <p:txBody>
          <a:bodyPr wrap="square" anchor="t">
            <a:spAutoFit/>
          </a:bodyPr>
          <a:lstStyle/>
          <a:p>
            <a:pPr algn="ctr">
              <a:spcAft>
                <a:spcPts val="400"/>
              </a:spcAft>
            </a:pPr>
            <a:r>
              <a:rPr sz="1100" b="1">
                <a:solidFill>
                  <a:srgbClr val="5B6372"/>
                </a:solidFill>
                <a:latin typeface="Arial"/>
              </a:rPr>
              <a:t>Reference architecture</a:t>
            </a:r>
          </a:p>
        </p:txBody>
      </p:sp>
      <p:sp>
        <p:nvSpPr>
          <p:cNvPr id="23" name="TextBox 22"/>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DevOps Engineering on AWS  ·  TGS-2023040474</a:t>
            </a:r>
          </a:p>
        </p:txBody>
      </p:sp>
      <p:sp>
        <p:nvSpPr>
          <p:cNvPr id="24" name="TextBox 23"/>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25" name="TextBox 24"/>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65</a:t>
            </a:r>
          </a:p>
        </p:txBody>
      </p:sp>
    </p:spTree>
  </p:cSld>
  <p:clrMapOvr>
    <a:masterClrMapping/>
  </p:clrMapOvr>
  <p:transition xmlns:p14="http://schemas.microsoft.com/office/powerpoint/2010/main" p14:dur="380">
    <p:fade/>
  </p:transition>
</p:sld>
</file>

<file path=ppt/slides/slide6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38912"/>
            <a:ext cx="10607040" cy="365760"/>
          </a:xfrm>
          <a:prstGeom prst="rect">
            <a:avLst/>
          </a:prstGeom>
          <a:noFill/>
        </p:spPr>
        <p:txBody>
          <a:bodyPr wrap="square" anchor="t">
            <a:spAutoFit/>
          </a:bodyPr>
          <a:lstStyle/>
          <a:p>
            <a:pPr algn="l">
              <a:spcAft>
                <a:spcPts val="400"/>
              </a:spcAft>
            </a:pPr>
            <a:r>
              <a:rPr sz="1400" b="1">
                <a:solidFill>
                  <a:srgbClr val="1F6FEB"/>
                </a:solidFill>
                <a:latin typeface="Arial"/>
              </a:rPr>
              <a:t>LAB 5 · DAY 1 · LO1 · HANDS-ON</a:t>
            </a:r>
          </a:p>
        </p:txBody>
      </p:sp>
      <p:sp>
        <p:nvSpPr>
          <p:cNvPr id="5" name="TextBox 4"/>
          <p:cNvSpPr txBox="1"/>
          <p:nvPr/>
        </p:nvSpPr>
        <p:spPr>
          <a:xfrm>
            <a:off x="777240" y="896112"/>
            <a:ext cx="10927080" cy="731520"/>
          </a:xfrm>
          <a:prstGeom prst="rect">
            <a:avLst/>
          </a:prstGeom>
          <a:noFill/>
        </p:spPr>
        <p:txBody>
          <a:bodyPr wrap="square" anchor="t">
            <a:spAutoFit/>
          </a:bodyPr>
          <a:lstStyle/>
          <a:p>
            <a:pPr algn="l">
              <a:spcAft>
                <a:spcPts val="400"/>
              </a:spcAft>
            </a:pPr>
            <a:r>
              <a:rPr sz="2100" b="1">
                <a:solidFill>
                  <a:srgbClr val="161B26"/>
                </a:solidFill>
                <a:latin typeface="Arial"/>
              </a:rPr>
              <a:t>Assemble a CodePipeline with Manual Approval and a Deployment Strategy</a:t>
            </a:r>
          </a:p>
        </p:txBody>
      </p:sp>
      <p:sp>
        <p:nvSpPr>
          <p:cNvPr id="6" name="Rectangle 5"/>
          <p:cNvSpPr/>
          <p:nvPr/>
        </p:nvSpPr>
        <p:spPr>
          <a:xfrm>
            <a:off x="777240" y="1572768"/>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737360"/>
            <a:ext cx="1737360" cy="45720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77240" y="1783080"/>
            <a:ext cx="1737360" cy="365760"/>
          </a:xfrm>
          <a:prstGeom prst="rect">
            <a:avLst/>
          </a:prstGeom>
          <a:noFill/>
        </p:spPr>
        <p:txBody>
          <a:bodyPr wrap="square" anchor="t">
            <a:spAutoFit/>
          </a:bodyPr>
          <a:lstStyle/>
          <a:p>
            <a:pPr algn="ctr">
              <a:spcAft>
                <a:spcPts val="400"/>
              </a:spcAft>
            </a:pPr>
            <a:r>
              <a:rPr sz="1600" b="1">
                <a:solidFill>
                  <a:srgbClr val="FFFFFF"/>
                </a:solidFill>
                <a:latin typeface="Arial"/>
              </a:rPr>
              <a:t>LAB 5</a:t>
            </a:r>
          </a:p>
        </p:txBody>
      </p:sp>
      <p:sp>
        <p:nvSpPr>
          <p:cNvPr id="9" name="TextBox 8"/>
          <p:cNvSpPr txBox="1"/>
          <p:nvPr/>
        </p:nvSpPr>
        <p:spPr>
          <a:xfrm>
            <a:off x="2697480" y="1783080"/>
            <a:ext cx="3566160" cy="365760"/>
          </a:xfrm>
          <a:prstGeom prst="rect">
            <a:avLst/>
          </a:prstGeom>
          <a:noFill/>
        </p:spPr>
        <p:txBody>
          <a:bodyPr wrap="square" anchor="t">
            <a:spAutoFit/>
          </a:bodyPr>
          <a:lstStyle/>
          <a:p>
            <a:pPr algn="l">
              <a:spcAft>
                <a:spcPts val="400"/>
              </a:spcAft>
            </a:pPr>
            <a:r>
              <a:rPr sz="1200" b="1">
                <a:solidFill>
                  <a:srgbClr val="5B6372"/>
                </a:solidFill>
                <a:latin typeface="Arial"/>
              </a:rPr>
              <a:t>Day 1 · LO1 · K1, A1</a:t>
            </a:r>
          </a:p>
        </p:txBody>
      </p:sp>
      <p:sp>
        <p:nvSpPr>
          <p:cNvPr id="10" name="TextBox 9"/>
          <p:cNvSpPr txBox="1"/>
          <p:nvPr/>
        </p:nvSpPr>
        <p:spPr>
          <a:xfrm>
            <a:off x="777240" y="2286000"/>
            <a:ext cx="5486400" cy="992505"/>
          </a:xfrm>
          <a:prstGeom prst="rect">
            <a:avLst/>
          </a:prstGeom>
          <a:noFill/>
        </p:spPr>
        <p:txBody>
          <a:bodyPr wrap="square" anchor="t">
            <a:spAutoFit/>
          </a:bodyPr>
          <a:lstStyle/>
          <a:p>
            <a:pPr algn="l">
              <a:spcAft>
                <a:spcPts val="400"/>
              </a:spcAft>
            </a:pPr>
            <a:r>
              <a:rPr sz="1350" b="0">
                <a:solidFill>
                  <a:srgbClr val="161B26"/>
                </a:solidFill>
                <a:latin typeface="Arial"/>
              </a:rPr>
              <a:t>Now you connect everything into one governed release path. Using a CloudFormation template plus a pipeline definition, you build Source (CodeConnections) -&gt; Build (CodeBuild) -&gt; Manual Approval -&gt; Deploy (CodeDeploy). You choose between …</a:t>
            </a:r>
          </a:p>
        </p:txBody>
      </p:sp>
      <p:sp>
        <p:nvSpPr>
          <p:cNvPr id="11" name="Rectangle 10"/>
          <p:cNvSpPr/>
          <p:nvPr/>
        </p:nvSpPr>
        <p:spPr>
          <a:xfrm>
            <a:off x="777240" y="3388233"/>
            <a:ext cx="5486400" cy="1551051"/>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ectangle 11"/>
          <p:cNvSpPr/>
          <p:nvPr/>
        </p:nvSpPr>
        <p:spPr>
          <a:xfrm>
            <a:off x="777240" y="3388233"/>
            <a:ext cx="91440" cy="1551051"/>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960120" y="3516249"/>
            <a:ext cx="5120640" cy="274320"/>
          </a:xfrm>
          <a:prstGeom prst="rect">
            <a:avLst/>
          </a:prstGeom>
          <a:noFill/>
        </p:spPr>
        <p:txBody>
          <a:bodyPr wrap="square" anchor="t">
            <a:spAutoFit/>
          </a:bodyPr>
          <a:lstStyle/>
          <a:p>
            <a:pPr algn="l">
              <a:spcAft>
                <a:spcPts val="400"/>
              </a:spcAft>
            </a:pPr>
            <a:r>
              <a:rPr sz="1200" b="1">
                <a:solidFill>
                  <a:srgbClr val="1F6FEB"/>
                </a:solidFill>
                <a:latin typeface="Arial"/>
              </a:rPr>
              <a:t>YOU'LL BUILD</a:t>
            </a:r>
          </a:p>
        </p:txBody>
      </p:sp>
      <p:sp>
        <p:nvSpPr>
          <p:cNvPr id="14" name="TextBox 13"/>
          <p:cNvSpPr txBox="1"/>
          <p:nvPr/>
        </p:nvSpPr>
        <p:spPr>
          <a:xfrm>
            <a:off x="960120" y="3790569"/>
            <a:ext cx="5166360" cy="619125"/>
          </a:xfrm>
          <a:prstGeom prst="rect">
            <a:avLst/>
          </a:prstGeom>
          <a:noFill/>
        </p:spPr>
        <p:txBody>
          <a:bodyPr wrap="square" anchor="t">
            <a:spAutoFit/>
          </a:bodyPr>
          <a:lstStyle/>
          <a:p>
            <a:pPr algn="l">
              <a:spcAft>
                <a:spcPts val="400"/>
              </a:spcAft>
            </a:pPr>
            <a:r>
              <a:rPr sz="1250" b="1">
                <a:solidFill>
                  <a:srgbClr val="161B26"/>
                </a:solidFill>
                <a:latin typeface="Arial"/>
              </a:rPr>
              <a:t>A four-stage CodePipeline (Source -&gt; Build -&gt; Approve -&gt; Deploy) with a manual approval gate, a chosen deployment strategy and alarm-based automatic rollback.</a:t>
            </a:r>
          </a:p>
        </p:txBody>
      </p:sp>
      <p:sp>
        <p:nvSpPr>
          <p:cNvPr id="15" name="TextBox 14"/>
          <p:cNvSpPr txBox="1"/>
          <p:nvPr/>
        </p:nvSpPr>
        <p:spPr>
          <a:xfrm>
            <a:off x="960120" y="4464558"/>
            <a:ext cx="5166360" cy="346710"/>
          </a:xfrm>
          <a:prstGeom prst="rect">
            <a:avLst/>
          </a:prstGeom>
          <a:noFill/>
        </p:spPr>
        <p:txBody>
          <a:bodyPr wrap="square" anchor="t">
            <a:spAutoFit/>
          </a:bodyPr>
          <a:lstStyle/>
          <a:p>
            <a:pPr algn="l">
              <a:spcAft>
                <a:spcPts val="400"/>
              </a:spcAft>
            </a:pPr>
            <a:r>
              <a:rPr sz="1050" b="0">
                <a:solidFill>
                  <a:srgbClr val="5B6372"/>
                </a:solidFill>
                <a:latin typeface="Arial"/>
              </a:rPr>
              <a:t>Tools:  AWS CodePipeline, CodeBuild, CodeDeploy, CodeConnections, Amazon S3, Amazon CloudWatch, AWS CloudFormation</a:t>
            </a:r>
          </a:p>
        </p:txBody>
      </p:sp>
      <p:sp>
        <p:nvSpPr>
          <p:cNvPr id="16" name="Rectangle 15"/>
          <p:cNvSpPr/>
          <p:nvPr/>
        </p:nvSpPr>
        <p:spPr>
          <a:xfrm>
            <a:off x="777240" y="5049012"/>
            <a:ext cx="5486400" cy="1278636"/>
          </a:xfrm>
          <a:prstGeom prst="rect">
            <a:avLst/>
          </a:prstGeom>
          <a:solidFill>
            <a:srgbClr val="FFFFFF"/>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ectangle 16"/>
          <p:cNvSpPr/>
          <p:nvPr/>
        </p:nvSpPr>
        <p:spPr>
          <a:xfrm>
            <a:off x="777240" y="5049012"/>
            <a:ext cx="91440" cy="1278636"/>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960120" y="5177028"/>
            <a:ext cx="5120640" cy="274320"/>
          </a:xfrm>
          <a:prstGeom prst="rect">
            <a:avLst/>
          </a:prstGeom>
          <a:noFill/>
        </p:spPr>
        <p:txBody>
          <a:bodyPr wrap="square" anchor="t">
            <a:spAutoFit/>
          </a:bodyPr>
          <a:lstStyle/>
          <a:p>
            <a:pPr algn="l">
              <a:spcAft>
                <a:spcPts val="400"/>
              </a:spcAft>
            </a:pPr>
            <a:r>
              <a:rPr sz="1200" b="1">
                <a:solidFill>
                  <a:srgbClr val="10B981"/>
                </a:solidFill>
                <a:latin typeface="Arial"/>
              </a:rPr>
              <a:t>OUTCOME &amp; EVIDENCE</a:t>
            </a:r>
          </a:p>
        </p:txBody>
      </p:sp>
      <p:sp>
        <p:nvSpPr>
          <p:cNvPr id="19" name="TextBox 18"/>
          <p:cNvSpPr txBox="1"/>
          <p:nvPr/>
        </p:nvSpPr>
        <p:spPr>
          <a:xfrm>
            <a:off x="960120" y="5451348"/>
            <a:ext cx="5166360" cy="693420"/>
          </a:xfrm>
          <a:prstGeom prst="rect">
            <a:avLst/>
          </a:prstGeom>
          <a:noFill/>
        </p:spPr>
        <p:txBody>
          <a:bodyPr wrap="square" anchor="t">
            <a:spAutoFit/>
          </a:bodyPr>
          <a:lstStyle/>
          <a:p>
            <a:pPr algn="l">
              <a:spcAft>
                <a:spcPts val="300"/>
              </a:spcAft>
            </a:pPr>
            <a:r>
              <a:rPr sz="1050" b="0">
                <a:solidFill>
                  <a:srgbClr val="5B6372"/>
                </a:solidFill>
                <a:latin typeface="Arial"/>
              </a:rPr>
              <a:t>Outcome: You can run the pipeline end to end, be blocked at a manual approval until you approve, see the app deployed and healthy, and watch …</a:t>
            </a:r>
          </a:p>
          <a:p>
            <a:pPr algn="l">
              <a:spcAft>
                <a:spcPts val="300"/>
              </a:spcAft>
            </a:pPr>
            <a:r>
              <a:rPr sz="1050" b="0">
                <a:solidFill>
                  <a:srgbClr val="5B6372"/>
                </a:solidFill>
                <a:latin typeface="Arial"/>
              </a:rPr>
              <a:t>Evidence:  The CodePipeline view showing Source, Build, Approve and Deploy, paused at the Approve gate.</a:t>
            </a:r>
          </a:p>
        </p:txBody>
      </p:sp>
      <p:sp>
        <p:nvSpPr>
          <p:cNvPr id="20" name="Rectangle 19"/>
          <p:cNvSpPr/>
          <p:nvPr/>
        </p:nvSpPr>
        <p:spPr>
          <a:xfrm>
            <a:off x="6446520" y="1783080"/>
            <a:ext cx="5029200" cy="2901403"/>
          </a:xfrm>
          <a:prstGeom prst="rect">
            <a:avLst/>
          </a:prstGeom>
          <a:solidFill>
            <a:srgbClr val="F5F8FC"/>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21" name="Picture 20" descr="lab-05-codepipeline-approval-deploy.jpg"/>
          <p:cNvPicPr>
            <a:picLocks noChangeAspect="1"/>
          </p:cNvPicPr>
          <p:nvPr/>
        </p:nvPicPr>
        <p:blipFill>
          <a:blip r:embed="rId2"/>
          <a:stretch>
            <a:fillRect/>
          </a:stretch>
        </p:blipFill>
        <p:spPr>
          <a:xfrm>
            <a:off x="6492240" y="1828800"/>
            <a:ext cx="4937760" cy="2809963"/>
          </a:xfrm>
          <a:prstGeom prst="rect">
            <a:avLst/>
          </a:prstGeom>
        </p:spPr>
      </p:pic>
      <p:sp>
        <p:nvSpPr>
          <p:cNvPr id="22" name="TextBox 21"/>
          <p:cNvSpPr txBox="1"/>
          <p:nvPr/>
        </p:nvSpPr>
        <p:spPr>
          <a:xfrm>
            <a:off x="6492240" y="4730203"/>
            <a:ext cx="4937760" cy="365760"/>
          </a:xfrm>
          <a:prstGeom prst="rect">
            <a:avLst/>
          </a:prstGeom>
          <a:noFill/>
        </p:spPr>
        <p:txBody>
          <a:bodyPr wrap="square" anchor="t">
            <a:spAutoFit/>
          </a:bodyPr>
          <a:lstStyle/>
          <a:p>
            <a:pPr algn="ctr">
              <a:spcAft>
                <a:spcPts val="400"/>
              </a:spcAft>
            </a:pPr>
            <a:r>
              <a:rPr sz="1100" b="1">
                <a:solidFill>
                  <a:srgbClr val="5B6372"/>
                </a:solidFill>
                <a:latin typeface="Arial"/>
              </a:rPr>
              <a:t>Reference architecture</a:t>
            </a:r>
          </a:p>
        </p:txBody>
      </p:sp>
      <p:sp>
        <p:nvSpPr>
          <p:cNvPr id="23" name="TextBox 22"/>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DevOps Engineering on AWS  ·  TGS-2023040474</a:t>
            </a:r>
          </a:p>
        </p:txBody>
      </p:sp>
      <p:sp>
        <p:nvSpPr>
          <p:cNvPr id="24" name="TextBox 23"/>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25" name="TextBox 24"/>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66</a:t>
            </a:r>
          </a:p>
        </p:txBody>
      </p:sp>
    </p:spTree>
  </p:cSld>
  <p:clrMapOvr>
    <a:masterClrMapping/>
  </p:clrMapOvr>
  <p:transition xmlns:p14="http://schemas.microsoft.com/office/powerpoint/2010/main" p14:dur="380">
    <p:fade/>
  </p:transition>
</p:sld>
</file>

<file path=ppt/slides/slide6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38912"/>
            <a:ext cx="10607040" cy="365760"/>
          </a:xfrm>
          <a:prstGeom prst="rect">
            <a:avLst/>
          </a:prstGeom>
          <a:noFill/>
        </p:spPr>
        <p:txBody>
          <a:bodyPr wrap="square" anchor="t">
            <a:spAutoFit/>
          </a:bodyPr>
          <a:lstStyle/>
          <a:p>
            <a:pPr algn="l">
              <a:spcAft>
                <a:spcPts val="400"/>
              </a:spcAft>
            </a:pPr>
            <a:r>
              <a:rPr sz="1400" b="1">
                <a:solidFill>
                  <a:srgbClr val="1F6FEB"/>
                </a:solidFill>
                <a:latin typeface="Arial"/>
              </a:rPr>
              <a:t>DOMAIN RECAP</a:t>
            </a:r>
          </a:p>
        </p:txBody>
      </p:sp>
      <p:sp>
        <p:nvSpPr>
          <p:cNvPr id="5" name="TextBox 4"/>
          <p:cNvSpPr txBox="1"/>
          <p:nvPr/>
        </p:nvSpPr>
        <p:spPr>
          <a:xfrm>
            <a:off x="777240" y="804672"/>
            <a:ext cx="10927080" cy="731520"/>
          </a:xfrm>
          <a:prstGeom prst="rect">
            <a:avLst/>
          </a:prstGeom>
          <a:noFill/>
        </p:spPr>
        <p:txBody>
          <a:bodyPr wrap="square" anchor="t">
            <a:spAutoFit/>
          </a:bodyPr>
          <a:lstStyle/>
          <a:p>
            <a:pPr algn="l">
              <a:spcAft>
                <a:spcPts val="400"/>
              </a:spcAft>
            </a:pPr>
            <a:r>
              <a:rPr sz="2900" b="1">
                <a:solidFill>
                  <a:srgbClr val="161B26"/>
                </a:solidFill>
                <a:latin typeface="Arial"/>
              </a:rPr>
              <a:t>Recap — SDLC Automation</a:t>
            </a:r>
          </a:p>
        </p:txBody>
      </p:sp>
      <p:sp>
        <p:nvSpPr>
          <p:cNvPr id="6" name="Rectangle 5"/>
          <p:cNvSpPr/>
          <p:nvPr/>
        </p:nvSpPr>
        <p:spPr>
          <a:xfrm>
            <a:off x="777240" y="1572768"/>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777240" y="1783080"/>
            <a:ext cx="10607040" cy="4480560"/>
          </a:xfrm>
          <a:prstGeom prst="rect">
            <a:avLst/>
          </a:prstGeom>
          <a:noFill/>
        </p:spPr>
        <p:txBody>
          <a:bodyPr wrap="square">
            <a:spAutoFit/>
          </a:bodyPr>
          <a:lstStyle/>
          <a:p>
            <a:pPr>
              <a:spcAft>
                <a:spcPts val="1000"/>
              </a:spcAft>
            </a:pPr>
            <a:r>
              <a:rPr sz="1500" b="0">
                <a:solidFill>
                  <a:srgbClr val="161B26"/>
                </a:solidFill>
                <a:latin typeface="Arial"/>
              </a:rPr>
              <a:t>•  You can now: Stand up a least-privilege AWS CLI/Git workspace and confirm your identity</a:t>
            </a:r>
          </a:p>
          <a:p>
            <a:pPr>
              <a:spcAft>
                <a:spcPts val="1000"/>
              </a:spcAft>
            </a:pPr>
            <a:r>
              <a:rPr sz="1500" b="0">
                <a:solidFill>
                  <a:srgbClr val="161B26"/>
                </a:solidFill>
                <a:latin typeface="Arial"/>
              </a:rPr>
              <a:t>•  You can now: Adopt a trunk-based Git workflow and connect the repository to AWS with CodeConnections</a:t>
            </a:r>
          </a:p>
          <a:p>
            <a:pPr>
              <a:spcAft>
                <a:spcPts val="1000"/>
              </a:spcAft>
            </a:pPr>
            <a:r>
              <a:rPr sz="1500" b="0">
                <a:solidFill>
                  <a:srgbClr val="161B26"/>
                </a:solidFill>
                <a:latin typeface="Arial"/>
              </a:rPr>
              <a:t>•  You can now: Author a buildspec and a CodeBuild project that automatically lints and tests the app</a:t>
            </a:r>
          </a:p>
          <a:p>
            <a:pPr>
              <a:spcAft>
                <a:spcPts val="1000"/>
              </a:spcAft>
            </a:pPr>
            <a:r>
              <a:rPr sz="1500" b="0">
                <a:solidFill>
                  <a:srgbClr val="161B26"/>
                </a:solidFill>
                <a:latin typeface="Arial"/>
              </a:rPr>
              <a:t>•  You can now: Extend the buildspec to package versioned artifacts and store them in an encrypted, versioned bucket</a:t>
            </a:r>
          </a:p>
          <a:p>
            <a:pPr>
              <a:spcAft>
                <a:spcPts val="1000"/>
              </a:spcAft>
            </a:pPr>
            <a:r>
              <a:rPr sz="1500" b="0">
                <a:solidFill>
                  <a:srgbClr val="161B26"/>
                </a:solidFill>
                <a:latin typeface="Arial"/>
              </a:rPr>
              <a:t>•  You can now: Wire an end-to-end pipeline with a manual approval gate, a deployment strategy and auto-rollback</a:t>
            </a:r>
          </a:p>
          <a:p>
            <a:pPr>
              <a:spcAft>
                <a:spcPts val="1000"/>
              </a:spcAft>
            </a:pPr>
            <a:r>
              <a:rPr sz="1500" b="0">
                <a:solidFill>
                  <a:srgbClr val="161B26"/>
                </a:solidFill>
                <a:latin typeface="Arial"/>
              </a:rPr>
              <a:t>•  Continuous Integration — Developers push often; CodeBuild runs the build and tests on every commit so bugs are found early, not at release.</a:t>
            </a:r>
          </a:p>
          <a:p>
            <a:pPr>
              <a:spcAft>
                <a:spcPts val="1000"/>
              </a:spcAft>
            </a:pPr>
            <a:r>
              <a:rPr sz="1500" b="0">
                <a:solidFill>
                  <a:srgbClr val="161B26"/>
                </a:solidFill>
                <a:latin typeface="Arial"/>
              </a:rPr>
              <a:t>•  Continuous Delivery / Deployment — Every green build is releasable; CodePipeline and CodeDeploy move it through dev → test → prod with approvals.</a:t>
            </a:r>
          </a:p>
          <a:p>
            <a:pPr>
              <a:spcAft>
                <a:spcPts val="1000"/>
              </a:spcAft>
            </a:pPr>
            <a:r>
              <a:rPr sz="1500" b="0">
                <a:solidFill>
                  <a:srgbClr val="161B26"/>
                </a:solidFill>
                <a:latin typeface="Arial"/>
              </a:rPr>
              <a:t>•  The AWS developer tools — CodeCommit / CodeBuild / CodeDeploy / CodePipeline / CodeArtifact / CodeGuru compose the managed CI/CD toolchain.</a:t>
            </a:r>
          </a:p>
        </p:txBody>
      </p:sp>
      <p:sp>
        <p:nvSpPr>
          <p:cNvPr id="8" name="TextBox 7"/>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DevOps Engineering on AWS  ·  TGS-2023040474</a:t>
            </a:r>
          </a:p>
        </p:txBody>
      </p:sp>
      <p:sp>
        <p:nvSpPr>
          <p:cNvPr id="9" name="TextBox 8"/>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0" name="TextBox 9"/>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67</a:t>
            </a:r>
          </a:p>
        </p:txBody>
      </p:sp>
    </p:spTree>
  </p:cSld>
  <p:clrMapOvr>
    <a:masterClrMapping/>
  </p:clrMapOvr>
  <p:transition xmlns:p14="http://schemas.microsoft.com/office/powerpoint/2010/main" p14:dur="380">
    <p:fade/>
  </p:transition>
</p:sld>
</file>

<file path=ppt/slides/slide6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685800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777240" y="2286000"/>
            <a:ext cx="128016" cy="182880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1143000" y="2331720"/>
            <a:ext cx="10058400" cy="548640"/>
          </a:xfrm>
          <a:prstGeom prst="rect">
            <a:avLst/>
          </a:prstGeom>
          <a:noFill/>
        </p:spPr>
        <p:txBody>
          <a:bodyPr wrap="square" anchor="t">
            <a:spAutoFit/>
          </a:bodyPr>
          <a:lstStyle/>
          <a:p>
            <a:pPr algn="l">
              <a:spcAft>
                <a:spcPts val="400"/>
              </a:spcAft>
            </a:pPr>
            <a:r>
              <a:rPr sz="1800" b="1">
                <a:solidFill>
                  <a:srgbClr val="1F6FEB"/>
                </a:solidFill>
                <a:latin typeface="Arial"/>
              </a:rPr>
              <a:t>DOMAIN 02</a:t>
            </a:r>
          </a:p>
        </p:txBody>
      </p:sp>
      <p:sp>
        <p:nvSpPr>
          <p:cNvPr id="6" name="TextBox 5"/>
          <p:cNvSpPr txBox="1"/>
          <p:nvPr/>
        </p:nvSpPr>
        <p:spPr>
          <a:xfrm>
            <a:off x="1143000" y="2743200"/>
            <a:ext cx="10424160" cy="1463040"/>
          </a:xfrm>
          <a:prstGeom prst="rect">
            <a:avLst/>
          </a:prstGeom>
          <a:noFill/>
        </p:spPr>
        <p:txBody>
          <a:bodyPr wrap="square" anchor="t">
            <a:spAutoFit/>
          </a:bodyPr>
          <a:lstStyle/>
          <a:p>
            <a:pPr algn="l">
              <a:spcAft>
                <a:spcPts val="400"/>
              </a:spcAft>
            </a:pPr>
            <a:r>
              <a:rPr sz="4000" b="1">
                <a:solidFill>
                  <a:srgbClr val="161B26"/>
                </a:solidFill>
                <a:latin typeface="Arial"/>
              </a:rPr>
              <a:t>Configuration Management and IaC</a:t>
            </a:r>
          </a:p>
        </p:txBody>
      </p:sp>
      <p:sp>
        <p:nvSpPr>
          <p:cNvPr id="7" name="TextBox 6"/>
          <p:cNvSpPr txBox="1"/>
          <p:nvPr/>
        </p:nvSpPr>
        <p:spPr>
          <a:xfrm>
            <a:off x="1161288" y="4160520"/>
            <a:ext cx="10058400" cy="731520"/>
          </a:xfrm>
          <a:prstGeom prst="rect">
            <a:avLst/>
          </a:prstGeom>
          <a:noFill/>
        </p:spPr>
        <p:txBody>
          <a:bodyPr wrap="square" anchor="t">
            <a:spAutoFit/>
          </a:bodyPr>
          <a:lstStyle/>
          <a:p>
            <a:pPr algn="l">
              <a:spcAft>
                <a:spcPts val="400"/>
              </a:spcAft>
            </a:pPr>
            <a:r>
              <a:rPr sz="1600" b="0">
                <a:solidFill>
                  <a:srgbClr val="5B6372"/>
                </a:solidFill>
                <a:latin typeface="Arial"/>
              </a:rPr>
              <a:t>Exam weighting 17%  ·  Infrastructure as Code · reusable templates · multi-account &amp; multi-Region</a:t>
            </a:r>
          </a:p>
        </p:txBody>
      </p:sp>
      <p:sp>
        <p:nvSpPr>
          <p:cNvPr id="8" name="TextBox 7"/>
          <p:cNvSpPr txBox="1"/>
          <p:nvPr/>
        </p:nvSpPr>
        <p:spPr>
          <a:xfrm>
            <a:off x="9144000" y="640080"/>
            <a:ext cx="2560320" cy="1463040"/>
          </a:xfrm>
          <a:prstGeom prst="rect">
            <a:avLst/>
          </a:prstGeom>
          <a:noFill/>
        </p:spPr>
        <p:txBody>
          <a:bodyPr wrap="square" anchor="t">
            <a:spAutoFit/>
          </a:bodyPr>
          <a:lstStyle/>
          <a:p>
            <a:pPr algn="r">
              <a:spcAft>
                <a:spcPts val="400"/>
              </a:spcAft>
            </a:pPr>
            <a:r>
              <a:rPr sz="7200" b="1">
                <a:solidFill>
                  <a:srgbClr val="E2E8F0"/>
                </a:solidFill>
                <a:latin typeface="Arial"/>
              </a:rPr>
              <a:t>02</a:t>
            </a:r>
          </a:p>
        </p:txBody>
      </p:sp>
      <p:sp>
        <p:nvSpPr>
          <p:cNvPr id="9" name="TextBox 8"/>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DevOps Engineering on AWS  ·  TGS-2023040474</a:t>
            </a:r>
          </a:p>
        </p:txBody>
      </p:sp>
      <p:sp>
        <p:nvSpPr>
          <p:cNvPr id="10" name="TextBox 9"/>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1" name="TextBox 10"/>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68</a:t>
            </a:r>
          </a:p>
        </p:txBody>
      </p:sp>
    </p:spTree>
  </p:cSld>
  <p:clrMapOvr>
    <a:masterClrMapping/>
  </p:clrMapOvr>
  <p:transition xmlns:p14="http://schemas.microsoft.com/office/powerpoint/2010/main" p14:dur="380">
    <p:fade/>
  </p:transition>
</p:sld>
</file>

<file path=ppt/slides/slide7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38912"/>
            <a:ext cx="10607040" cy="365760"/>
          </a:xfrm>
          <a:prstGeom prst="rect">
            <a:avLst/>
          </a:prstGeom>
          <a:noFill/>
        </p:spPr>
        <p:txBody>
          <a:bodyPr wrap="square" anchor="t">
            <a:spAutoFit/>
          </a:bodyPr>
          <a:lstStyle/>
          <a:p>
            <a:pPr algn="l">
              <a:spcAft>
                <a:spcPts val="400"/>
              </a:spcAft>
            </a:pPr>
            <a:r>
              <a:rPr sz="1400" b="1">
                <a:solidFill>
                  <a:srgbClr val="7C3AED"/>
                </a:solidFill>
                <a:latin typeface="Arial"/>
              </a:rPr>
              <a:t>DOMAIN 02 · WEIGHTING 17%</a:t>
            </a:r>
          </a:p>
        </p:txBody>
      </p:sp>
      <p:sp>
        <p:nvSpPr>
          <p:cNvPr id="5" name="TextBox 4"/>
          <p:cNvSpPr txBox="1"/>
          <p:nvPr/>
        </p:nvSpPr>
        <p:spPr>
          <a:xfrm>
            <a:off x="777240" y="896112"/>
            <a:ext cx="10927080" cy="731520"/>
          </a:xfrm>
          <a:prstGeom prst="rect">
            <a:avLst/>
          </a:prstGeom>
          <a:noFill/>
        </p:spPr>
        <p:txBody>
          <a:bodyPr wrap="square" anchor="t">
            <a:spAutoFit/>
          </a:bodyPr>
          <a:lstStyle/>
          <a:p>
            <a:pPr algn="l">
              <a:spcAft>
                <a:spcPts val="400"/>
              </a:spcAft>
            </a:pPr>
            <a:r>
              <a:rPr sz="2500" b="1">
                <a:solidFill>
                  <a:srgbClr val="161B26"/>
                </a:solidFill>
                <a:latin typeface="Arial"/>
              </a:rPr>
              <a:t>Key Concepts — Configuration Management and IaC</a:t>
            </a:r>
          </a:p>
        </p:txBody>
      </p:sp>
      <p:sp>
        <p:nvSpPr>
          <p:cNvPr id="6" name="Rectangle 5"/>
          <p:cNvSpPr/>
          <p:nvPr/>
        </p:nvSpPr>
        <p:spPr>
          <a:xfrm>
            <a:off x="777240" y="1572768"/>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783080"/>
            <a:ext cx="5180076" cy="131064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1783080"/>
            <a:ext cx="91440" cy="131064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1033272" y="2164080"/>
            <a:ext cx="548640" cy="548640"/>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033272" y="2164080"/>
            <a:ext cx="548640" cy="548640"/>
          </a:xfrm>
          <a:prstGeom prst="rect">
            <a:avLst/>
          </a:prstGeom>
          <a:noFill/>
        </p:spPr>
        <p:txBody>
          <a:bodyPr wrap="square" anchor="ctr">
            <a:spAutoFit/>
          </a:bodyPr>
          <a:lstStyle/>
          <a:p>
            <a:pPr algn="ctr">
              <a:spcAft>
                <a:spcPts val="400"/>
              </a:spcAft>
            </a:pPr>
            <a:r>
              <a:rPr sz="1800" b="1">
                <a:solidFill>
                  <a:srgbClr val="FFFFFF"/>
                </a:solidFill>
                <a:latin typeface="Arial"/>
              </a:rPr>
              <a:t>1</a:t>
            </a:r>
          </a:p>
        </p:txBody>
      </p:sp>
      <p:sp>
        <p:nvSpPr>
          <p:cNvPr id="11" name="TextBox 10"/>
          <p:cNvSpPr txBox="1"/>
          <p:nvPr/>
        </p:nvSpPr>
        <p:spPr>
          <a:xfrm>
            <a:off x="1764792" y="1892808"/>
            <a:ext cx="3973068" cy="1127760"/>
          </a:xfrm>
          <a:prstGeom prst="rect">
            <a:avLst/>
          </a:prstGeom>
          <a:noFill/>
        </p:spPr>
        <p:txBody>
          <a:bodyPr wrap="square" anchor="ctr">
            <a:spAutoFit/>
          </a:bodyPr>
          <a:lstStyle/>
          <a:p>
            <a:pPr algn="l">
              <a:spcAft>
                <a:spcPts val="300"/>
              </a:spcAft>
            </a:pPr>
            <a:r>
              <a:rPr sz="1550" b="1">
                <a:solidFill>
                  <a:srgbClr val="161B26"/>
                </a:solidFill>
                <a:latin typeface="Arial"/>
              </a:rPr>
              <a:t>Infrastructure as Code</a:t>
            </a:r>
          </a:p>
          <a:p>
            <a:pPr algn="l">
              <a:spcAft>
                <a:spcPts val="300"/>
              </a:spcAft>
            </a:pPr>
            <a:r>
              <a:rPr sz="1150" b="0">
                <a:solidFill>
                  <a:srgbClr val="5B6372"/>
                </a:solidFill>
                <a:latin typeface="Arial"/>
              </a:rPr>
              <a:t>Declare infrastructure in version-controlled templates so environments are repeatable, reviewable and disposable.</a:t>
            </a:r>
          </a:p>
        </p:txBody>
      </p:sp>
      <p:sp>
        <p:nvSpPr>
          <p:cNvPr id="12" name="Rectangle 11"/>
          <p:cNvSpPr/>
          <p:nvPr/>
        </p:nvSpPr>
        <p:spPr>
          <a:xfrm>
            <a:off x="6231636" y="1783080"/>
            <a:ext cx="5180076" cy="131064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6231636" y="1783080"/>
            <a:ext cx="91440" cy="131064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Oval 13"/>
          <p:cNvSpPr/>
          <p:nvPr/>
        </p:nvSpPr>
        <p:spPr>
          <a:xfrm>
            <a:off x="6487668" y="2164080"/>
            <a:ext cx="548640" cy="54864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6487668" y="2164080"/>
            <a:ext cx="548640" cy="548640"/>
          </a:xfrm>
          <a:prstGeom prst="rect">
            <a:avLst/>
          </a:prstGeom>
          <a:noFill/>
        </p:spPr>
        <p:txBody>
          <a:bodyPr wrap="square" anchor="ctr">
            <a:spAutoFit/>
          </a:bodyPr>
          <a:lstStyle/>
          <a:p>
            <a:pPr algn="ctr">
              <a:spcAft>
                <a:spcPts val="400"/>
              </a:spcAft>
            </a:pPr>
            <a:r>
              <a:rPr sz="1800" b="1">
                <a:solidFill>
                  <a:srgbClr val="FFFFFF"/>
                </a:solidFill>
                <a:latin typeface="Arial"/>
              </a:rPr>
              <a:t>2</a:t>
            </a:r>
          </a:p>
        </p:txBody>
      </p:sp>
      <p:sp>
        <p:nvSpPr>
          <p:cNvPr id="16" name="TextBox 15"/>
          <p:cNvSpPr txBox="1"/>
          <p:nvPr/>
        </p:nvSpPr>
        <p:spPr>
          <a:xfrm>
            <a:off x="7219188" y="1892808"/>
            <a:ext cx="3973068" cy="1127760"/>
          </a:xfrm>
          <a:prstGeom prst="rect">
            <a:avLst/>
          </a:prstGeom>
          <a:noFill/>
        </p:spPr>
        <p:txBody>
          <a:bodyPr wrap="square" anchor="ctr">
            <a:spAutoFit/>
          </a:bodyPr>
          <a:lstStyle/>
          <a:p>
            <a:pPr algn="l">
              <a:spcAft>
                <a:spcPts val="300"/>
              </a:spcAft>
            </a:pPr>
            <a:r>
              <a:rPr sz="1550" b="1">
                <a:solidFill>
                  <a:srgbClr val="161B26"/>
                </a:solidFill>
                <a:latin typeface="Arial"/>
              </a:rPr>
              <a:t>CloudFormation</a:t>
            </a:r>
          </a:p>
          <a:p>
            <a:pPr algn="l">
              <a:spcAft>
                <a:spcPts val="300"/>
              </a:spcAft>
            </a:pPr>
            <a:r>
              <a:rPr sz="1150" b="0">
                <a:solidFill>
                  <a:srgbClr val="5B6372"/>
                </a:solidFill>
                <a:latin typeface="Arial"/>
              </a:rPr>
              <a:t>Declarative JSON/YAML stacks with parameters, mappings, outputs, change sets, drift detection and automatic rollback.</a:t>
            </a:r>
          </a:p>
        </p:txBody>
      </p:sp>
      <p:sp>
        <p:nvSpPr>
          <p:cNvPr id="17" name="Rectangle 16"/>
          <p:cNvSpPr/>
          <p:nvPr/>
        </p:nvSpPr>
        <p:spPr>
          <a:xfrm>
            <a:off x="777240" y="3313176"/>
            <a:ext cx="5180076" cy="131064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777240" y="3313176"/>
            <a:ext cx="91440" cy="1310640"/>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Oval 18"/>
          <p:cNvSpPr/>
          <p:nvPr/>
        </p:nvSpPr>
        <p:spPr>
          <a:xfrm>
            <a:off x="1033272" y="3694176"/>
            <a:ext cx="548640" cy="548640"/>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1033272" y="3694176"/>
            <a:ext cx="548640" cy="548640"/>
          </a:xfrm>
          <a:prstGeom prst="rect">
            <a:avLst/>
          </a:prstGeom>
          <a:noFill/>
        </p:spPr>
        <p:txBody>
          <a:bodyPr wrap="square" anchor="ctr">
            <a:spAutoFit/>
          </a:bodyPr>
          <a:lstStyle/>
          <a:p>
            <a:pPr algn="ctr">
              <a:spcAft>
                <a:spcPts val="400"/>
              </a:spcAft>
            </a:pPr>
            <a:r>
              <a:rPr sz="1800" b="1">
                <a:solidFill>
                  <a:srgbClr val="FFFFFF"/>
                </a:solidFill>
                <a:latin typeface="Arial"/>
              </a:rPr>
              <a:t>3</a:t>
            </a:r>
          </a:p>
        </p:txBody>
      </p:sp>
      <p:sp>
        <p:nvSpPr>
          <p:cNvPr id="21" name="TextBox 20"/>
          <p:cNvSpPr txBox="1"/>
          <p:nvPr/>
        </p:nvSpPr>
        <p:spPr>
          <a:xfrm>
            <a:off x="1764792" y="3422904"/>
            <a:ext cx="3973068" cy="1127760"/>
          </a:xfrm>
          <a:prstGeom prst="rect">
            <a:avLst/>
          </a:prstGeom>
          <a:noFill/>
        </p:spPr>
        <p:txBody>
          <a:bodyPr wrap="square" anchor="ctr">
            <a:spAutoFit/>
          </a:bodyPr>
          <a:lstStyle/>
          <a:p>
            <a:pPr algn="l">
              <a:spcAft>
                <a:spcPts val="300"/>
              </a:spcAft>
            </a:pPr>
            <a:r>
              <a:rPr sz="1550" b="1">
                <a:solidFill>
                  <a:srgbClr val="161B26"/>
                </a:solidFill>
                <a:latin typeface="Arial"/>
              </a:rPr>
              <a:t>Reusable components</a:t>
            </a:r>
          </a:p>
          <a:p>
            <a:pPr algn="l">
              <a:spcAft>
                <a:spcPts val="300"/>
              </a:spcAft>
            </a:pPr>
            <a:r>
              <a:rPr sz="1150" b="0">
                <a:solidFill>
                  <a:srgbClr val="5B6372"/>
                </a:solidFill>
                <a:latin typeface="Arial"/>
              </a:rPr>
              <a:t>Nested stacks and modules parameterise a pattern once and reuse it across teams and Regions.</a:t>
            </a:r>
          </a:p>
        </p:txBody>
      </p:sp>
      <p:sp>
        <p:nvSpPr>
          <p:cNvPr id="22" name="Rectangle 21"/>
          <p:cNvSpPr/>
          <p:nvPr/>
        </p:nvSpPr>
        <p:spPr>
          <a:xfrm>
            <a:off x="6231636" y="3313176"/>
            <a:ext cx="5180076" cy="131064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ectangle 22"/>
          <p:cNvSpPr/>
          <p:nvPr/>
        </p:nvSpPr>
        <p:spPr>
          <a:xfrm>
            <a:off x="6231636" y="3313176"/>
            <a:ext cx="91440" cy="1310640"/>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Oval 23"/>
          <p:cNvSpPr/>
          <p:nvPr/>
        </p:nvSpPr>
        <p:spPr>
          <a:xfrm>
            <a:off x="6487668" y="3694176"/>
            <a:ext cx="548640" cy="548640"/>
          </a:xfrm>
          <a:prstGeom prst="ellipse">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6487668" y="3694176"/>
            <a:ext cx="548640" cy="548640"/>
          </a:xfrm>
          <a:prstGeom prst="rect">
            <a:avLst/>
          </a:prstGeom>
          <a:noFill/>
        </p:spPr>
        <p:txBody>
          <a:bodyPr wrap="square" anchor="ctr">
            <a:spAutoFit/>
          </a:bodyPr>
          <a:lstStyle/>
          <a:p>
            <a:pPr algn="ctr">
              <a:spcAft>
                <a:spcPts val="400"/>
              </a:spcAft>
            </a:pPr>
            <a:r>
              <a:rPr sz="1800" b="1">
                <a:solidFill>
                  <a:srgbClr val="FFFFFF"/>
                </a:solidFill>
                <a:latin typeface="Arial"/>
              </a:rPr>
              <a:t>4</a:t>
            </a:r>
          </a:p>
        </p:txBody>
      </p:sp>
      <p:sp>
        <p:nvSpPr>
          <p:cNvPr id="26" name="TextBox 25"/>
          <p:cNvSpPr txBox="1"/>
          <p:nvPr/>
        </p:nvSpPr>
        <p:spPr>
          <a:xfrm>
            <a:off x="7219188" y="3422904"/>
            <a:ext cx="3973068" cy="1127760"/>
          </a:xfrm>
          <a:prstGeom prst="rect">
            <a:avLst/>
          </a:prstGeom>
          <a:noFill/>
        </p:spPr>
        <p:txBody>
          <a:bodyPr wrap="square" anchor="ctr">
            <a:spAutoFit/>
          </a:bodyPr>
          <a:lstStyle/>
          <a:p>
            <a:pPr algn="l">
              <a:spcAft>
                <a:spcPts val="300"/>
              </a:spcAft>
            </a:pPr>
            <a:r>
              <a:rPr sz="1550" b="1">
                <a:solidFill>
                  <a:srgbClr val="161B26"/>
                </a:solidFill>
                <a:latin typeface="Arial"/>
              </a:rPr>
              <a:t>CDK vs CloudFormation vs Terraform</a:t>
            </a:r>
          </a:p>
          <a:p>
            <a:pPr algn="l">
              <a:spcAft>
                <a:spcPts val="300"/>
              </a:spcAft>
            </a:pPr>
            <a:r>
              <a:rPr sz="1150" b="0">
                <a:solidFill>
                  <a:srgbClr val="5B6372"/>
                </a:solidFill>
                <a:latin typeface="Arial"/>
              </a:rPr>
              <a:t>CDK generates CloudFormation from real code; Terraform is multi-cloud — all describe desired state.</a:t>
            </a:r>
          </a:p>
        </p:txBody>
      </p:sp>
      <p:sp>
        <p:nvSpPr>
          <p:cNvPr id="27" name="Rectangle 26"/>
          <p:cNvSpPr/>
          <p:nvPr/>
        </p:nvSpPr>
        <p:spPr>
          <a:xfrm>
            <a:off x="777240" y="4843272"/>
            <a:ext cx="5180076" cy="131064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Rectangle 27"/>
          <p:cNvSpPr/>
          <p:nvPr/>
        </p:nvSpPr>
        <p:spPr>
          <a:xfrm>
            <a:off x="777240" y="4843272"/>
            <a:ext cx="91440" cy="1310640"/>
          </a:xfrm>
          <a:prstGeom prst="rect">
            <a:avLst/>
          </a:prstGeom>
          <a:solidFill>
            <a:srgbClr val="EC711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Oval 28"/>
          <p:cNvSpPr/>
          <p:nvPr/>
        </p:nvSpPr>
        <p:spPr>
          <a:xfrm>
            <a:off x="1033272" y="5224272"/>
            <a:ext cx="548640" cy="548640"/>
          </a:xfrm>
          <a:prstGeom prst="ellipse">
            <a:avLst/>
          </a:prstGeom>
          <a:solidFill>
            <a:srgbClr val="EC711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1033272" y="5224272"/>
            <a:ext cx="548640" cy="548640"/>
          </a:xfrm>
          <a:prstGeom prst="rect">
            <a:avLst/>
          </a:prstGeom>
          <a:noFill/>
        </p:spPr>
        <p:txBody>
          <a:bodyPr wrap="square" anchor="ctr">
            <a:spAutoFit/>
          </a:bodyPr>
          <a:lstStyle/>
          <a:p>
            <a:pPr algn="ctr">
              <a:spcAft>
                <a:spcPts val="400"/>
              </a:spcAft>
            </a:pPr>
            <a:r>
              <a:rPr sz="1800" b="1">
                <a:solidFill>
                  <a:srgbClr val="FFFFFF"/>
                </a:solidFill>
                <a:latin typeface="Arial"/>
              </a:rPr>
              <a:t>5</a:t>
            </a:r>
          </a:p>
        </p:txBody>
      </p:sp>
      <p:sp>
        <p:nvSpPr>
          <p:cNvPr id="31" name="TextBox 30"/>
          <p:cNvSpPr txBox="1"/>
          <p:nvPr/>
        </p:nvSpPr>
        <p:spPr>
          <a:xfrm>
            <a:off x="1764792" y="4953000"/>
            <a:ext cx="3973068" cy="1127760"/>
          </a:xfrm>
          <a:prstGeom prst="rect">
            <a:avLst/>
          </a:prstGeom>
          <a:noFill/>
        </p:spPr>
        <p:txBody>
          <a:bodyPr wrap="square" anchor="ctr">
            <a:spAutoFit/>
          </a:bodyPr>
          <a:lstStyle/>
          <a:p>
            <a:pPr algn="l">
              <a:spcAft>
                <a:spcPts val="300"/>
              </a:spcAft>
            </a:pPr>
            <a:r>
              <a:rPr sz="1550" b="1">
                <a:solidFill>
                  <a:srgbClr val="161B26"/>
                </a:solidFill>
                <a:latin typeface="Arial"/>
              </a:rPr>
              <a:t>Configuration management</a:t>
            </a:r>
          </a:p>
          <a:p>
            <a:pPr algn="l">
              <a:spcAft>
                <a:spcPts val="300"/>
              </a:spcAft>
            </a:pPr>
            <a:r>
              <a:rPr sz="1150" b="0">
                <a:solidFill>
                  <a:srgbClr val="5B6372"/>
                </a:solidFill>
                <a:latin typeface="Arial"/>
              </a:rPr>
              <a:t>Systems Manager (State Manager, Automation, Parameter Store) keeps running instances in their desired configuration.</a:t>
            </a:r>
          </a:p>
        </p:txBody>
      </p:sp>
      <p:sp>
        <p:nvSpPr>
          <p:cNvPr id="32" name="Rectangle 31"/>
          <p:cNvSpPr/>
          <p:nvPr/>
        </p:nvSpPr>
        <p:spPr>
          <a:xfrm>
            <a:off x="6231636" y="4843272"/>
            <a:ext cx="5180076" cy="131064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Rectangle 32"/>
          <p:cNvSpPr/>
          <p:nvPr/>
        </p:nvSpPr>
        <p:spPr>
          <a:xfrm>
            <a:off x="6231636" y="4843272"/>
            <a:ext cx="91440" cy="1310640"/>
          </a:xfrm>
          <a:prstGeom prst="rect">
            <a:avLst/>
          </a:prstGeom>
          <a:solidFill>
            <a:srgbClr val="0E9EC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Oval 33"/>
          <p:cNvSpPr/>
          <p:nvPr/>
        </p:nvSpPr>
        <p:spPr>
          <a:xfrm>
            <a:off x="6487668" y="5224272"/>
            <a:ext cx="548640" cy="548640"/>
          </a:xfrm>
          <a:prstGeom prst="ellipse">
            <a:avLst/>
          </a:prstGeom>
          <a:solidFill>
            <a:srgbClr val="0E9EC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TextBox 34"/>
          <p:cNvSpPr txBox="1"/>
          <p:nvPr/>
        </p:nvSpPr>
        <p:spPr>
          <a:xfrm>
            <a:off x="6487668" y="5224272"/>
            <a:ext cx="548640" cy="548640"/>
          </a:xfrm>
          <a:prstGeom prst="rect">
            <a:avLst/>
          </a:prstGeom>
          <a:noFill/>
        </p:spPr>
        <p:txBody>
          <a:bodyPr wrap="square" anchor="ctr">
            <a:spAutoFit/>
          </a:bodyPr>
          <a:lstStyle/>
          <a:p>
            <a:pPr algn="ctr">
              <a:spcAft>
                <a:spcPts val="400"/>
              </a:spcAft>
            </a:pPr>
            <a:r>
              <a:rPr sz="1800" b="1">
                <a:solidFill>
                  <a:srgbClr val="FFFFFF"/>
                </a:solidFill>
                <a:latin typeface="Arial"/>
              </a:rPr>
              <a:t>6</a:t>
            </a:r>
          </a:p>
        </p:txBody>
      </p:sp>
      <p:sp>
        <p:nvSpPr>
          <p:cNvPr id="36" name="TextBox 35"/>
          <p:cNvSpPr txBox="1"/>
          <p:nvPr/>
        </p:nvSpPr>
        <p:spPr>
          <a:xfrm>
            <a:off x="7219188" y="4953000"/>
            <a:ext cx="3973068" cy="1127760"/>
          </a:xfrm>
          <a:prstGeom prst="rect">
            <a:avLst/>
          </a:prstGeom>
          <a:noFill/>
        </p:spPr>
        <p:txBody>
          <a:bodyPr wrap="square" anchor="ctr">
            <a:spAutoFit/>
          </a:bodyPr>
          <a:lstStyle/>
          <a:p>
            <a:pPr algn="l">
              <a:spcAft>
                <a:spcPts val="300"/>
              </a:spcAft>
            </a:pPr>
            <a:r>
              <a:rPr sz="1550" b="1">
                <a:solidFill>
                  <a:srgbClr val="161B26"/>
                </a:solidFill>
                <a:latin typeface="Arial"/>
              </a:rPr>
              <a:t>Multi-account &amp; multi-Region</a:t>
            </a:r>
          </a:p>
          <a:p>
            <a:pPr algn="l">
              <a:spcAft>
                <a:spcPts val="300"/>
              </a:spcAft>
            </a:pPr>
            <a:r>
              <a:rPr sz="1150" b="0">
                <a:solidFill>
                  <a:srgbClr val="5B6372"/>
                </a:solidFill>
                <a:latin typeface="Arial"/>
              </a:rPr>
              <a:t>Organizations, StackSets and Control Tower create, onboard and secure accounts at scale.</a:t>
            </a:r>
          </a:p>
        </p:txBody>
      </p:sp>
      <p:sp>
        <p:nvSpPr>
          <p:cNvPr id="37" name="TextBox 36"/>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DevOps Engineering on AWS  ·  TGS-2023040474</a:t>
            </a:r>
          </a:p>
        </p:txBody>
      </p:sp>
      <p:sp>
        <p:nvSpPr>
          <p:cNvPr id="38" name="TextBox 37"/>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39" name="TextBox 38"/>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69</a:t>
            </a:r>
          </a:p>
        </p:txBody>
      </p:sp>
    </p:spTree>
  </p:cSld>
  <p:clrMapOvr>
    <a:masterClrMapping/>
  </p:clrMapOvr>
  <p:transition xmlns:p14="http://schemas.microsoft.com/office/powerpoint/2010/main" p14:dur="380">
    <p:fade/>
  </p:transition>
</p:sld>
</file>

<file path=ppt/slides/slide7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38912"/>
            <a:ext cx="10607040" cy="365760"/>
          </a:xfrm>
          <a:prstGeom prst="rect">
            <a:avLst/>
          </a:prstGeom>
          <a:noFill/>
        </p:spPr>
        <p:txBody>
          <a:bodyPr wrap="square" anchor="t">
            <a:spAutoFit/>
          </a:bodyPr>
          <a:lstStyle/>
          <a:p>
            <a:pPr algn="l">
              <a:spcAft>
                <a:spcPts val="400"/>
              </a:spcAft>
            </a:pPr>
            <a:r>
              <a:rPr sz="1400" b="1">
                <a:solidFill>
                  <a:srgbClr val="7C3AED"/>
                </a:solidFill>
                <a:latin typeface="Arial"/>
              </a:rPr>
              <a:t>DECLARE DESIRED STATE</a:t>
            </a:r>
          </a:p>
        </p:txBody>
      </p:sp>
      <p:sp>
        <p:nvSpPr>
          <p:cNvPr id="5" name="TextBox 4"/>
          <p:cNvSpPr txBox="1"/>
          <p:nvPr/>
        </p:nvSpPr>
        <p:spPr>
          <a:xfrm>
            <a:off x="777240" y="804672"/>
            <a:ext cx="10927080" cy="731520"/>
          </a:xfrm>
          <a:prstGeom prst="rect">
            <a:avLst/>
          </a:prstGeom>
          <a:noFill/>
        </p:spPr>
        <p:txBody>
          <a:bodyPr wrap="square" anchor="t">
            <a:spAutoFit/>
          </a:bodyPr>
          <a:lstStyle/>
          <a:p>
            <a:pPr algn="l">
              <a:spcAft>
                <a:spcPts val="400"/>
              </a:spcAft>
            </a:pPr>
            <a:r>
              <a:rPr sz="2900" b="1">
                <a:solidFill>
                  <a:srgbClr val="161B26"/>
                </a:solidFill>
                <a:latin typeface="Arial"/>
              </a:rPr>
              <a:t>IaC Options on AWS</a:t>
            </a:r>
          </a:p>
        </p:txBody>
      </p:sp>
      <p:sp>
        <p:nvSpPr>
          <p:cNvPr id="6" name="Rectangle 5"/>
          <p:cNvSpPr/>
          <p:nvPr/>
        </p:nvSpPr>
        <p:spPr>
          <a:xfrm>
            <a:off x="777240" y="1572768"/>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783080"/>
            <a:ext cx="2126894" cy="502920"/>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886968" y="1783080"/>
            <a:ext cx="1944014" cy="502920"/>
          </a:xfrm>
          <a:prstGeom prst="rect">
            <a:avLst/>
          </a:prstGeom>
          <a:noFill/>
        </p:spPr>
        <p:txBody>
          <a:bodyPr wrap="square" anchor="ctr">
            <a:spAutoFit/>
          </a:bodyPr>
          <a:lstStyle/>
          <a:p>
            <a:pPr algn="l">
              <a:spcAft>
                <a:spcPts val="400"/>
              </a:spcAft>
            </a:pPr>
            <a:r>
              <a:rPr sz="1400" b="1">
                <a:solidFill>
                  <a:srgbClr val="FFFFFF"/>
                </a:solidFill>
                <a:latin typeface="Arial"/>
              </a:rPr>
              <a:t>Tool</a:t>
            </a:r>
          </a:p>
        </p:txBody>
      </p:sp>
      <p:sp>
        <p:nvSpPr>
          <p:cNvPr id="9" name="Rectangle 8"/>
          <p:cNvSpPr/>
          <p:nvPr/>
        </p:nvSpPr>
        <p:spPr>
          <a:xfrm>
            <a:off x="2904134" y="1783080"/>
            <a:ext cx="2552273" cy="502920"/>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3013862" y="1783080"/>
            <a:ext cx="2369393" cy="502920"/>
          </a:xfrm>
          <a:prstGeom prst="rect">
            <a:avLst/>
          </a:prstGeom>
          <a:noFill/>
        </p:spPr>
        <p:txBody>
          <a:bodyPr wrap="square" anchor="ctr">
            <a:spAutoFit/>
          </a:bodyPr>
          <a:lstStyle/>
          <a:p>
            <a:pPr algn="ctr">
              <a:spcAft>
                <a:spcPts val="400"/>
              </a:spcAft>
            </a:pPr>
            <a:r>
              <a:rPr sz="1400" b="1">
                <a:solidFill>
                  <a:srgbClr val="FFFFFF"/>
                </a:solidFill>
                <a:latin typeface="Arial"/>
              </a:rPr>
              <a:t>Language</a:t>
            </a:r>
          </a:p>
        </p:txBody>
      </p:sp>
      <p:sp>
        <p:nvSpPr>
          <p:cNvPr id="11" name="Rectangle 10"/>
          <p:cNvSpPr/>
          <p:nvPr/>
        </p:nvSpPr>
        <p:spPr>
          <a:xfrm>
            <a:off x="5456407" y="1783080"/>
            <a:ext cx="2977652" cy="502920"/>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5566135" y="1783080"/>
            <a:ext cx="2794772" cy="502920"/>
          </a:xfrm>
          <a:prstGeom prst="rect">
            <a:avLst/>
          </a:prstGeom>
          <a:noFill/>
        </p:spPr>
        <p:txBody>
          <a:bodyPr wrap="square" anchor="ctr">
            <a:spAutoFit/>
          </a:bodyPr>
          <a:lstStyle/>
          <a:p>
            <a:pPr algn="ctr">
              <a:spcAft>
                <a:spcPts val="400"/>
              </a:spcAft>
            </a:pPr>
            <a:r>
              <a:rPr sz="1400" b="1">
                <a:solidFill>
                  <a:srgbClr val="FFFFFF"/>
                </a:solidFill>
                <a:latin typeface="Arial"/>
              </a:rPr>
              <a:t>Scope</a:t>
            </a:r>
          </a:p>
        </p:txBody>
      </p:sp>
      <p:sp>
        <p:nvSpPr>
          <p:cNvPr id="13" name="Rectangle 12"/>
          <p:cNvSpPr/>
          <p:nvPr/>
        </p:nvSpPr>
        <p:spPr>
          <a:xfrm>
            <a:off x="8434059" y="1783080"/>
            <a:ext cx="2977652" cy="502920"/>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8543787" y="1783080"/>
            <a:ext cx="2794772" cy="502920"/>
          </a:xfrm>
          <a:prstGeom prst="rect">
            <a:avLst/>
          </a:prstGeom>
          <a:noFill/>
        </p:spPr>
        <p:txBody>
          <a:bodyPr wrap="square" anchor="ctr">
            <a:spAutoFit/>
          </a:bodyPr>
          <a:lstStyle/>
          <a:p>
            <a:pPr algn="ctr">
              <a:spcAft>
                <a:spcPts val="400"/>
              </a:spcAft>
            </a:pPr>
            <a:r>
              <a:rPr sz="1400" b="1">
                <a:solidFill>
                  <a:srgbClr val="FFFFFF"/>
                </a:solidFill>
                <a:latin typeface="Arial"/>
              </a:rPr>
              <a:t>When to use</a:t>
            </a:r>
          </a:p>
        </p:txBody>
      </p:sp>
      <p:sp>
        <p:nvSpPr>
          <p:cNvPr id="15" name="Rectangle 14"/>
          <p:cNvSpPr/>
          <p:nvPr/>
        </p:nvSpPr>
        <p:spPr>
          <a:xfrm>
            <a:off x="777240" y="2286000"/>
            <a:ext cx="2126894" cy="822960"/>
          </a:xfrm>
          <a:prstGeom prst="rect">
            <a:avLst/>
          </a:prstGeom>
          <a:solidFill>
            <a:srgbClr val="F5F8FC"/>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886968" y="2286000"/>
            <a:ext cx="1944014" cy="822960"/>
          </a:xfrm>
          <a:prstGeom prst="rect">
            <a:avLst/>
          </a:prstGeom>
          <a:noFill/>
        </p:spPr>
        <p:txBody>
          <a:bodyPr wrap="square" anchor="ctr">
            <a:spAutoFit/>
          </a:bodyPr>
          <a:lstStyle/>
          <a:p>
            <a:pPr algn="l">
              <a:spcAft>
                <a:spcPts val="400"/>
              </a:spcAft>
            </a:pPr>
            <a:r>
              <a:rPr sz="1250" b="1">
                <a:solidFill>
                  <a:srgbClr val="161B26"/>
                </a:solidFill>
                <a:latin typeface="Arial"/>
              </a:rPr>
              <a:t>CloudFormation</a:t>
            </a:r>
          </a:p>
        </p:txBody>
      </p:sp>
      <p:sp>
        <p:nvSpPr>
          <p:cNvPr id="17" name="Rectangle 16"/>
          <p:cNvSpPr/>
          <p:nvPr/>
        </p:nvSpPr>
        <p:spPr>
          <a:xfrm>
            <a:off x="2904134" y="2286000"/>
            <a:ext cx="2552273" cy="822960"/>
          </a:xfrm>
          <a:prstGeom prst="rect">
            <a:avLst/>
          </a:prstGeom>
          <a:solidFill>
            <a:srgbClr val="F5F8FC"/>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3013862" y="2286000"/>
            <a:ext cx="2369393" cy="822960"/>
          </a:xfrm>
          <a:prstGeom prst="rect">
            <a:avLst/>
          </a:prstGeom>
          <a:noFill/>
        </p:spPr>
        <p:txBody>
          <a:bodyPr wrap="square" anchor="ctr">
            <a:spAutoFit/>
          </a:bodyPr>
          <a:lstStyle/>
          <a:p>
            <a:pPr algn="ctr">
              <a:spcAft>
                <a:spcPts val="400"/>
              </a:spcAft>
            </a:pPr>
            <a:r>
              <a:rPr sz="1250" b="0">
                <a:solidFill>
                  <a:srgbClr val="5B6372"/>
                </a:solidFill>
                <a:latin typeface="Arial"/>
              </a:rPr>
              <a:t>YAML / JSON</a:t>
            </a:r>
          </a:p>
        </p:txBody>
      </p:sp>
      <p:sp>
        <p:nvSpPr>
          <p:cNvPr id="19" name="Rectangle 18"/>
          <p:cNvSpPr/>
          <p:nvPr/>
        </p:nvSpPr>
        <p:spPr>
          <a:xfrm>
            <a:off x="5456407" y="2286000"/>
            <a:ext cx="2977652" cy="822960"/>
          </a:xfrm>
          <a:prstGeom prst="rect">
            <a:avLst/>
          </a:prstGeom>
          <a:solidFill>
            <a:srgbClr val="F5F8FC"/>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5566135" y="2286000"/>
            <a:ext cx="2794772" cy="822960"/>
          </a:xfrm>
          <a:prstGeom prst="rect">
            <a:avLst/>
          </a:prstGeom>
          <a:noFill/>
        </p:spPr>
        <p:txBody>
          <a:bodyPr wrap="square" anchor="ctr">
            <a:spAutoFit/>
          </a:bodyPr>
          <a:lstStyle/>
          <a:p>
            <a:pPr algn="ctr">
              <a:spcAft>
                <a:spcPts val="400"/>
              </a:spcAft>
            </a:pPr>
            <a:r>
              <a:rPr sz="1250" b="0">
                <a:solidFill>
                  <a:srgbClr val="5B6372"/>
                </a:solidFill>
                <a:latin typeface="Arial"/>
              </a:rPr>
              <a:t>AWS-native declarative</a:t>
            </a:r>
          </a:p>
        </p:txBody>
      </p:sp>
      <p:sp>
        <p:nvSpPr>
          <p:cNvPr id="21" name="Rectangle 20"/>
          <p:cNvSpPr/>
          <p:nvPr/>
        </p:nvSpPr>
        <p:spPr>
          <a:xfrm>
            <a:off x="8434059" y="2286000"/>
            <a:ext cx="2977652" cy="822960"/>
          </a:xfrm>
          <a:prstGeom prst="rect">
            <a:avLst/>
          </a:prstGeom>
          <a:solidFill>
            <a:srgbClr val="F5F8FC"/>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8543787" y="2286000"/>
            <a:ext cx="2794772" cy="822960"/>
          </a:xfrm>
          <a:prstGeom prst="rect">
            <a:avLst/>
          </a:prstGeom>
          <a:noFill/>
        </p:spPr>
        <p:txBody>
          <a:bodyPr wrap="square" anchor="ctr">
            <a:spAutoFit/>
          </a:bodyPr>
          <a:lstStyle/>
          <a:p>
            <a:pPr algn="ctr">
              <a:spcAft>
                <a:spcPts val="400"/>
              </a:spcAft>
            </a:pPr>
            <a:r>
              <a:rPr sz="1250" b="0">
                <a:solidFill>
                  <a:srgbClr val="5B6372"/>
                </a:solidFill>
                <a:latin typeface="Arial"/>
              </a:rPr>
              <a:t>Standard AWS IaC, StackSets</a:t>
            </a:r>
          </a:p>
        </p:txBody>
      </p:sp>
      <p:sp>
        <p:nvSpPr>
          <p:cNvPr id="23" name="Rectangle 22"/>
          <p:cNvSpPr/>
          <p:nvPr/>
        </p:nvSpPr>
        <p:spPr>
          <a:xfrm>
            <a:off x="777240" y="3108960"/>
            <a:ext cx="2126894" cy="822960"/>
          </a:xfrm>
          <a:prstGeom prst="rect">
            <a:avLst/>
          </a:prstGeom>
          <a:solidFill>
            <a:srgbClr val="FFFFFF"/>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886968" y="3108960"/>
            <a:ext cx="1944014" cy="822960"/>
          </a:xfrm>
          <a:prstGeom prst="rect">
            <a:avLst/>
          </a:prstGeom>
          <a:noFill/>
        </p:spPr>
        <p:txBody>
          <a:bodyPr wrap="square" anchor="ctr">
            <a:spAutoFit/>
          </a:bodyPr>
          <a:lstStyle/>
          <a:p>
            <a:pPr algn="l">
              <a:spcAft>
                <a:spcPts val="400"/>
              </a:spcAft>
            </a:pPr>
            <a:r>
              <a:rPr sz="1250" b="1">
                <a:solidFill>
                  <a:srgbClr val="161B26"/>
                </a:solidFill>
                <a:latin typeface="Arial"/>
              </a:rPr>
              <a:t>AWS CDK</a:t>
            </a:r>
          </a:p>
        </p:txBody>
      </p:sp>
      <p:sp>
        <p:nvSpPr>
          <p:cNvPr id="25" name="Rectangle 24"/>
          <p:cNvSpPr/>
          <p:nvPr/>
        </p:nvSpPr>
        <p:spPr>
          <a:xfrm>
            <a:off x="2904134" y="3108960"/>
            <a:ext cx="2552273" cy="822960"/>
          </a:xfrm>
          <a:prstGeom prst="rect">
            <a:avLst/>
          </a:prstGeom>
          <a:solidFill>
            <a:srgbClr val="FFFFFF"/>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3013862" y="3108960"/>
            <a:ext cx="2369393" cy="822960"/>
          </a:xfrm>
          <a:prstGeom prst="rect">
            <a:avLst/>
          </a:prstGeom>
          <a:noFill/>
        </p:spPr>
        <p:txBody>
          <a:bodyPr wrap="square" anchor="ctr">
            <a:spAutoFit/>
          </a:bodyPr>
          <a:lstStyle/>
          <a:p>
            <a:pPr algn="ctr">
              <a:spcAft>
                <a:spcPts val="400"/>
              </a:spcAft>
            </a:pPr>
            <a:r>
              <a:rPr sz="1250" b="0">
                <a:solidFill>
                  <a:srgbClr val="5B6372"/>
                </a:solidFill>
                <a:latin typeface="Arial"/>
              </a:rPr>
              <a:t>Python / TS / Java</a:t>
            </a:r>
          </a:p>
        </p:txBody>
      </p:sp>
      <p:sp>
        <p:nvSpPr>
          <p:cNvPr id="27" name="Rectangle 26"/>
          <p:cNvSpPr/>
          <p:nvPr/>
        </p:nvSpPr>
        <p:spPr>
          <a:xfrm>
            <a:off x="5456407" y="3108960"/>
            <a:ext cx="2977652" cy="822960"/>
          </a:xfrm>
          <a:prstGeom prst="rect">
            <a:avLst/>
          </a:prstGeom>
          <a:solidFill>
            <a:srgbClr val="FFFFFF"/>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5566135" y="3108960"/>
            <a:ext cx="2794772" cy="822960"/>
          </a:xfrm>
          <a:prstGeom prst="rect">
            <a:avLst/>
          </a:prstGeom>
          <a:noFill/>
        </p:spPr>
        <p:txBody>
          <a:bodyPr wrap="square" anchor="ctr">
            <a:spAutoFit/>
          </a:bodyPr>
          <a:lstStyle/>
          <a:p>
            <a:pPr algn="ctr">
              <a:spcAft>
                <a:spcPts val="400"/>
              </a:spcAft>
            </a:pPr>
            <a:r>
              <a:rPr sz="1250" b="0">
                <a:solidFill>
                  <a:srgbClr val="5B6372"/>
                </a:solidFill>
                <a:latin typeface="Arial"/>
              </a:rPr>
              <a:t>Code → CloudFormation</a:t>
            </a:r>
          </a:p>
        </p:txBody>
      </p:sp>
      <p:sp>
        <p:nvSpPr>
          <p:cNvPr id="29" name="Rectangle 28"/>
          <p:cNvSpPr/>
          <p:nvPr/>
        </p:nvSpPr>
        <p:spPr>
          <a:xfrm>
            <a:off x="8434059" y="3108960"/>
            <a:ext cx="2977652" cy="822960"/>
          </a:xfrm>
          <a:prstGeom prst="rect">
            <a:avLst/>
          </a:prstGeom>
          <a:solidFill>
            <a:srgbClr val="FFFFFF"/>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8543787" y="3108960"/>
            <a:ext cx="2794772" cy="822960"/>
          </a:xfrm>
          <a:prstGeom prst="rect">
            <a:avLst/>
          </a:prstGeom>
          <a:noFill/>
        </p:spPr>
        <p:txBody>
          <a:bodyPr wrap="square" anchor="ctr">
            <a:spAutoFit/>
          </a:bodyPr>
          <a:lstStyle/>
          <a:p>
            <a:pPr algn="ctr">
              <a:spcAft>
                <a:spcPts val="400"/>
              </a:spcAft>
            </a:pPr>
            <a:r>
              <a:rPr sz="1250" b="0">
                <a:solidFill>
                  <a:srgbClr val="5B6372"/>
                </a:solidFill>
                <a:latin typeface="Arial"/>
              </a:rPr>
              <a:t>Reusable, testable constructs</a:t>
            </a:r>
          </a:p>
        </p:txBody>
      </p:sp>
      <p:sp>
        <p:nvSpPr>
          <p:cNvPr id="31" name="Rectangle 30"/>
          <p:cNvSpPr/>
          <p:nvPr/>
        </p:nvSpPr>
        <p:spPr>
          <a:xfrm>
            <a:off x="777240" y="3931920"/>
            <a:ext cx="2126894" cy="822960"/>
          </a:xfrm>
          <a:prstGeom prst="rect">
            <a:avLst/>
          </a:prstGeom>
          <a:solidFill>
            <a:srgbClr val="F5F8FC"/>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TextBox 31"/>
          <p:cNvSpPr txBox="1"/>
          <p:nvPr/>
        </p:nvSpPr>
        <p:spPr>
          <a:xfrm>
            <a:off x="886968" y="3931920"/>
            <a:ext cx="1944014" cy="822960"/>
          </a:xfrm>
          <a:prstGeom prst="rect">
            <a:avLst/>
          </a:prstGeom>
          <a:noFill/>
        </p:spPr>
        <p:txBody>
          <a:bodyPr wrap="square" anchor="ctr">
            <a:spAutoFit/>
          </a:bodyPr>
          <a:lstStyle/>
          <a:p>
            <a:pPr algn="l">
              <a:spcAft>
                <a:spcPts val="400"/>
              </a:spcAft>
            </a:pPr>
            <a:r>
              <a:rPr sz="1250" b="1">
                <a:solidFill>
                  <a:srgbClr val="161B26"/>
                </a:solidFill>
                <a:latin typeface="Arial"/>
              </a:rPr>
              <a:t>Terraform</a:t>
            </a:r>
          </a:p>
        </p:txBody>
      </p:sp>
      <p:sp>
        <p:nvSpPr>
          <p:cNvPr id="33" name="Rectangle 32"/>
          <p:cNvSpPr/>
          <p:nvPr/>
        </p:nvSpPr>
        <p:spPr>
          <a:xfrm>
            <a:off x="2904134" y="3931920"/>
            <a:ext cx="2552273" cy="822960"/>
          </a:xfrm>
          <a:prstGeom prst="rect">
            <a:avLst/>
          </a:prstGeom>
          <a:solidFill>
            <a:srgbClr val="F5F8FC"/>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TextBox 33"/>
          <p:cNvSpPr txBox="1"/>
          <p:nvPr/>
        </p:nvSpPr>
        <p:spPr>
          <a:xfrm>
            <a:off x="3013862" y="3931920"/>
            <a:ext cx="2369393" cy="822960"/>
          </a:xfrm>
          <a:prstGeom prst="rect">
            <a:avLst/>
          </a:prstGeom>
          <a:noFill/>
        </p:spPr>
        <p:txBody>
          <a:bodyPr wrap="square" anchor="ctr">
            <a:spAutoFit/>
          </a:bodyPr>
          <a:lstStyle/>
          <a:p>
            <a:pPr algn="ctr">
              <a:spcAft>
                <a:spcPts val="400"/>
              </a:spcAft>
            </a:pPr>
            <a:r>
              <a:rPr sz="1250" b="0">
                <a:solidFill>
                  <a:srgbClr val="5B6372"/>
                </a:solidFill>
                <a:latin typeface="Arial"/>
              </a:rPr>
              <a:t>HCL</a:t>
            </a:r>
          </a:p>
        </p:txBody>
      </p:sp>
      <p:sp>
        <p:nvSpPr>
          <p:cNvPr id="35" name="Rectangle 34"/>
          <p:cNvSpPr/>
          <p:nvPr/>
        </p:nvSpPr>
        <p:spPr>
          <a:xfrm>
            <a:off x="5456407" y="3931920"/>
            <a:ext cx="2977652" cy="822960"/>
          </a:xfrm>
          <a:prstGeom prst="rect">
            <a:avLst/>
          </a:prstGeom>
          <a:solidFill>
            <a:srgbClr val="F5F8FC"/>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TextBox 35"/>
          <p:cNvSpPr txBox="1"/>
          <p:nvPr/>
        </p:nvSpPr>
        <p:spPr>
          <a:xfrm>
            <a:off x="5566135" y="3931920"/>
            <a:ext cx="2794772" cy="822960"/>
          </a:xfrm>
          <a:prstGeom prst="rect">
            <a:avLst/>
          </a:prstGeom>
          <a:noFill/>
        </p:spPr>
        <p:txBody>
          <a:bodyPr wrap="square" anchor="ctr">
            <a:spAutoFit/>
          </a:bodyPr>
          <a:lstStyle/>
          <a:p>
            <a:pPr algn="ctr">
              <a:spcAft>
                <a:spcPts val="400"/>
              </a:spcAft>
            </a:pPr>
            <a:r>
              <a:rPr sz="1250" b="0">
                <a:solidFill>
                  <a:srgbClr val="5B6372"/>
                </a:solidFill>
                <a:latin typeface="Arial"/>
              </a:rPr>
              <a:t>Multi-cloud</a:t>
            </a:r>
          </a:p>
        </p:txBody>
      </p:sp>
      <p:sp>
        <p:nvSpPr>
          <p:cNvPr id="37" name="Rectangle 36"/>
          <p:cNvSpPr/>
          <p:nvPr/>
        </p:nvSpPr>
        <p:spPr>
          <a:xfrm>
            <a:off x="8434059" y="3931920"/>
            <a:ext cx="2977652" cy="822960"/>
          </a:xfrm>
          <a:prstGeom prst="rect">
            <a:avLst/>
          </a:prstGeom>
          <a:solidFill>
            <a:srgbClr val="F5F8FC"/>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8" name="TextBox 37"/>
          <p:cNvSpPr txBox="1"/>
          <p:nvPr/>
        </p:nvSpPr>
        <p:spPr>
          <a:xfrm>
            <a:off x="8543787" y="3931920"/>
            <a:ext cx="2794772" cy="822960"/>
          </a:xfrm>
          <a:prstGeom prst="rect">
            <a:avLst/>
          </a:prstGeom>
          <a:noFill/>
        </p:spPr>
        <p:txBody>
          <a:bodyPr wrap="square" anchor="ctr">
            <a:spAutoFit/>
          </a:bodyPr>
          <a:lstStyle/>
          <a:p>
            <a:pPr algn="ctr">
              <a:spcAft>
                <a:spcPts val="400"/>
              </a:spcAft>
            </a:pPr>
            <a:r>
              <a:rPr sz="1250" b="0">
                <a:solidFill>
                  <a:srgbClr val="5B6372"/>
                </a:solidFill>
                <a:latin typeface="Arial"/>
              </a:rPr>
              <a:t>Mixed-cloud estates</a:t>
            </a:r>
          </a:p>
        </p:txBody>
      </p:sp>
      <p:sp>
        <p:nvSpPr>
          <p:cNvPr id="39" name="Rectangle 38"/>
          <p:cNvSpPr/>
          <p:nvPr/>
        </p:nvSpPr>
        <p:spPr>
          <a:xfrm>
            <a:off x="777240" y="4754880"/>
            <a:ext cx="2126894" cy="822960"/>
          </a:xfrm>
          <a:prstGeom prst="rect">
            <a:avLst/>
          </a:prstGeom>
          <a:solidFill>
            <a:srgbClr val="FFFFFF"/>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0" name="TextBox 39"/>
          <p:cNvSpPr txBox="1"/>
          <p:nvPr/>
        </p:nvSpPr>
        <p:spPr>
          <a:xfrm>
            <a:off x="886968" y="4754880"/>
            <a:ext cx="1944014" cy="822960"/>
          </a:xfrm>
          <a:prstGeom prst="rect">
            <a:avLst/>
          </a:prstGeom>
          <a:noFill/>
        </p:spPr>
        <p:txBody>
          <a:bodyPr wrap="square" anchor="ctr">
            <a:spAutoFit/>
          </a:bodyPr>
          <a:lstStyle/>
          <a:p>
            <a:pPr algn="l">
              <a:spcAft>
                <a:spcPts val="400"/>
              </a:spcAft>
            </a:pPr>
            <a:r>
              <a:rPr sz="1250" b="1">
                <a:solidFill>
                  <a:srgbClr val="161B26"/>
                </a:solidFill>
                <a:latin typeface="Arial"/>
              </a:rPr>
              <a:t>SAM</a:t>
            </a:r>
          </a:p>
        </p:txBody>
      </p:sp>
      <p:sp>
        <p:nvSpPr>
          <p:cNvPr id="41" name="Rectangle 40"/>
          <p:cNvSpPr/>
          <p:nvPr/>
        </p:nvSpPr>
        <p:spPr>
          <a:xfrm>
            <a:off x="2904134" y="4754880"/>
            <a:ext cx="2552273" cy="822960"/>
          </a:xfrm>
          <a:prstGeom prst="rect">
            <a:avLst/>
          </a:prstGeom>
          <a:solidFill>
            <a:srgbClr val="FFFFFF"/>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2" name="TextBox 41"/>
          <p:cNvSpPr txBox="1"/>
          <p:nvPr/>
        </p:nvSpPr>
        <p:spPr>
          <a:xfrm>
            <a:off x="3013862" y="4754880"/>
            <a:ext cx="2369393" cy="822960"/>
          </a:xfrm>
          <a:prstGeom prst="rect">
            <a:avLst/>
          </a:prstGeom>
          <a:noFill/>
        </p:spPr>
        <p:txBody>
          <a:bodyPr wrap="square" anchor="ctr">
            <a:spAutoFit/>
          </a:bodyPr>
          <a:lstStyle/>
          <a:p>
            <a:pPr algn="ctr">
              <a:spcAft>
                <a:spcPts val="400"/>
              </a:spcAft>
            </a:pPr>
            <a:r>
              <a:rPr sz="1250" b="0">
                <a:solidFill>
                  <a:srgbClr val="5B6372"/>
                </a:solidFill>
                <a:latin typeface="Arial"/>
              </a:rPr>
              <a:t>YAML</a:t>
            </a:r>
          </a:p>
        </p:txBody>
      </p:sp>
      <p:sp>
        <p:nvSpPr>
          <p:cNvPr id="43" name="Rectangle 42"/>
          <p:cNvSpPr/>
          <p:nvPr/>
        </p:nvSpPr>
        <p:spPr>
          <a:xfrm>
            <a:off x="5456407" y="4754880"/>
            <a:ext cx="2977652" cy="822960"/>
          </a:xfrm>
          <a:prstGeom prst="rect">
            <a:avLst/>
          </a:prstGeom>
          <a:solidFill>
            <a:srgbClr val="FFFFFF"/>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4" name="TextBox 43"/>
          <p:cNvSpPr txBox="1"/>
          <p:nvPr/>
        </p:nvSpPr>
        <p:spPr>
          <a:xfrm>
            <a:off x="5566135" y="4754880"/>
            <a:ext cx="2794772" cy="822960"/>
          </a:xfrm>
          <a:prstGeom prst="rect">
            <a:avLst/>
          </a:prstGeom>
          <a:noFill/>
        </p:spPr>
        <p:txBody>
          <a:bodyPr wrap="square" anchor="ctr">
            <a:spAutoFit/>
          </a:bodyPr>
          <a:lstStyle/>
          <a:p>
            <a:pPr algn="ctr">
              <a:spcAft>
                <a:spcPts val="400"/>
              </a:spcAft>
            </a:pPr>
            <a:r>
              <a:rPr sz="1250" b="0">
                <a:solidFill>
                  <a:srgbClr val="5B6372"/>
                </a:solidFill>
                <a:latin typeface="Arial"/>
              </a:rPr>
              <a:t>Serverless-focused</a:t>
            </a:r>
          </a:p>
        </p:txBody>
      </p:sp>
      <p:sp>
        <p:nvSpPr>
          <p:cNvPr id="45" name="Rectangle 44"/>
          <p:cNvSpPr/>
          <p:nvPr/>
        </p:nvSpPr>
        <p:spPr>
          <a:xfrm>
            <a:off x="8434059" y="4754880"/>
            <a:ext cx="2977652" cy="822960"/>
          </a:xfrm>
          <a:prstGeom prst="rect">
            <a:avLst/>
          </a:prstGeom>
          <a:solidFill>
            <a:srgbClr val="FFFFFF"/>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6" name="TextBox 45"/>
          <p:cNvSpPr txBox="1"/>
          <p:nvPr/>
        </p:nvSpPr>
        <p:spPr>
          <a:xfrm>
            <a:off x="8543787" y="4754880"/>
            <a:ext cx="2794772" cy="822960"/>
          </a:xfrm>
          <a:prstGeom prst="rect">
            <a:avLst/>
          </a:prstGeom>
          <a:noFill/>
        </p:spPr>
        <p:txBody>
          <a:bodyPr wrap="square" anchor="ctr">
            <a:spAutoFit/>
          </a:bodyPr>
          <a:lstStyle/>
          <a:p>
            <a:pPr algn="ctr">
              <a:spcAft>
                <a:spcPts val="400"/>
              </a:spcAft>
            </a:pPr>
            <a:r>
              <a:rPr sz="1250" b="0">
                <a:solidFill>
                  <a:srgbClr val="5B6372"/>
                </a:solidFill>
                <a:latin typeface="Arial"/>
              </a:rPr>
              <a:t>Lambda / API / event apps</a:t>
            </a:r>
          </a:p>
        </p:txBody>
      </p:sp>
      <p:sp>
        <p:nvSpPr>
          <p:cNvPr id="47" name="TextBox 46"/>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DevOps Engineering on AWS  ·  TGS-2023040474</a:t>
            </a:r>
          </a:p>
        </p:txBody>
      </p:sp>
      <p:sp>
        <p:nvSpPr>
          <p:cNvPr id="48" name="TextBox 47"/>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49" name="TextBox 48"/>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70</a:t>
            </a:r>
          </a:p>
        </p:txBody>
      </p:sp>
    </p:spTree>
  </p:cSld>
  <p:clrMapOvr>
    <a:masterClrMapping/>
  </p:clrMapOvr>
  <p:transition xmlns:p14="http://schemas.microsoft.com/office/powerpoint/2010/main" p14:dur="380">
    <p:fade/>
  </p:transition>
</p:sld>
</file>

<file path=ppt/slides/slide7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38912"/>
            <a:ext cx="10607040" cy="365760"/>
          </a:xfrm>
          <a:prstGeom prst="rect">
            <a:avLst/>
          </a:prstGeom>
          <a:noFill/>
        </p:spPr>
        <p:txBody>
          <a:bodyPr wrap="square" anchor="t">
            <a:spAutoFit/>
          </a:bodyPr>
          <a:lstStyle/>
          <a:p>
            <a:pPr algn="l">
              <a:spcAft>
                <a:spcPts val="400"/>
              </a:spcAft>
            </a:pPr>
            <a:r>
              <a:rPr sz="1400" b="1">
                <a:solidFill>
                  <a:srgbClr val="7C3AED"/>
                </a:solidFill>
                <a:latin typeface="Arial"/>
              </a:rPr>
              <a:t>DOMAIN 02 · INFRASTRUCTURE AS CODE</a:t>
            </a:r>
          </a:p>
        </p:txBody>
      </p:sp>
      <p:sp>
        <p:nvSpPr>
          <p:cNvPr id="5" name="TextBox 4"/>
          <p:cNvSpPr txBox="1"/>
          <p:nvPr/>
        </p:nvSpPr>
        <p:spPr>
          <a:xfrm>
            <a:off x="777240" y="804672"/>
            <a:ext cx="10927080" cy="731520"/>
          </a:xfrm>
          <a:prstGeom prst="rect">
            <a:avLst/>
          </a:prstGeom>
          <a:noFill/>
        </p:spPr>
        <p:txBody>
          <a:bodyPr wrap="square" anchor="t">
            <a:spAutoFit/>
          </a:bodyPr>
          <a:lstStyle/>
          <a:p>
            <a:pPr algn="l">
              <a:spcAft>
                <a:spcPts val="400"/>
              </a:spcAft>
            </a:pPr>
            <a:r>
              <a:rPr sz="2900" b="1">
                <a:solidFill>
                  <a:srgbClr val="161B26"/>
                </a:solidFill>
                <a:latin typeface="Arial"/>
              </a:rPr>
              <a:t>CloudFormation — Reusable Stacks</a:t>
            </a:r>
          </a:p>
        </p:txBody>
      </p:sp>
      <p:sp>
        <p:nvSpPr>
          <p:cNvPr id="6" name="Rectangle 5"/>
          <p:cNvSpPr/>
          <p:nvPr/>
        </p:nvSpPr>
        <p:spPr>
          <a:xfrm>
            <a:off x="777240" y="1572768"/>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ounded Rectangle 6"/>
          <p:cNvSpPr/>
          <p:nvPr/>
        </p:nvSpPr>
        <p:spPr>
          <a:xfrm>
            <a:off x="777240" y="1965960"/>
            <a:ext cx="2377440" cy="1051560"/>
          </a:xfrm>
          <a:prstGeom prst="roundRect">
            <a:avLst/>
          </a:prstGeom>
          <a:solidFill>
            <a:srgbClr val="F5F8FC"/>
          </a:solidFill>
          <a:ln w="15875">
            <a:solidFill>
              <a:srgbClr val="7C3AED"/>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1965960"/>
            <a:ext cx="2377440" cy="82296"/>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868680" y="2075688"/>
            <a:ext cx="2194560" cy="868680"/>
          </a:xfrm>
          <a:prstGeom prst="rect">
            <a:avLst/>
          </a:prstGeom>
          <a:noFill/>
        </p:spPr>
        <p:txBody>
          <a:bodyPr wrap="square" anchor="ctr">
            <a:spAutoFit/>
          </a:bodyPr>
          <a:lstStyle/>
          <a:p>
            <a:pPr algn="ctr">
              <a:spcAft>
                <a:spcPts val="400"/>
              </a:spcAft>
            </a:pPr>
            <a:r>
              <a:rPr sz="1300" b="1">
                <a:solidFill>
                  <a:srgbClr val="161B26"/>
                </a:solidFill>
                <a:latin typeface="Arial"/>
              </a:rPr>
              <a:t>Template
network.yaml / app.yaml</a:t>
            </a:r>
          </a:p>
        </p:txBody>
      </p:sp>
      <p:sp>
        <p:nvSpPr>
          <p:cNvPr id="10" name="Rounded Rectangle 9"/>
          <p:cNvSpPr/>
          <p:nvPr/>
        </p:nvSpPr>
        <p:spPr>
          <a:xfrm>
            <a:off x="777240" y="3657600"/>
            <a:ext cx="2377440" cy="1051560"/>
          </a:xfrm>
          <a:prstGeom prst="roundRect">
            <a:avLst/>
          </a:prstGeom>
          <a:solidFill>
            <a:srgbClr val="F5F8FC"/>
          </a:solidFill>
          <a:ln w="15875">
            <a:solidFill>
              <a:srgbClr val="5B637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ectangle 10"/>
          <p:cNvSpPr/>
          <p:nvPr/>
        </p:nvSpPr>
        <p:spPr>
          <a:xfrm>
            <a:off x="777240" y="3657600"/>
            <a:ext cx="2377440" cy="82296"/>
          </a:xfrm>
          <a:prstGeom prst="rect">
            <a:avLst/>
          </a:prstGeom>
          <a:solidFill>
            <a:srgbClr val="5B637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868680" y="3767328"/>
            <a:ext cx="2194560" cy="868680"/>
          </a:xfrm>
          <a:prstGeom prst="rect">
            <a:avLst/>
          </a:prstGeom>
          <a:noFill/>
        </p:spPr>
        <p:txBody>
          <a:bodyPr wrap="square" anchor="ctr">
            <a:spAutoFit/>
          </a:bodyPr>
          <a:lstStyle/>
          <a:p>
            <a:pPr algn="ctr">
              <a:spcAft>
                <a:spcPts val="400"/>
              </a:spcAft>
            </a:pPr>
            <a:r>
              <a:rPr sz="1300" b="1">
                <a:solidFill>
                  <a:srgbClr val="161B26"/>
                </a:solidFill>
                <a:latin typeface="Arial"/>
              </a:rPr>
              <a:t>Parameters
per environment</a:t>
            </a:r>
          </a:p>
        </p:txBody>
      </p:sp>
      <p:sp>
        <p:nvSpPr>
          <p:cNvPr id="13" name="Rounded Rectangle 12"/>
          <p:cNvSpPr/>
          <p:nvPr/>
        </p:nvSpPr>
        <p:spPr>
          <a:xfrm>
            <a:off x="3520440" y="1965960"/>
            <a:ext cx="2377440" cy="1051560"/>
          </a:xfrm>
          <a:prstGeom prst="roundRect">
            <a:avLst/>
          </a:prstGeom>
          <a:solidFill>
            <a:srgbClr val="F5F8FC"/>
          </a:solidFill>
          <a:ln w="15875">
            <a:solidFill>
              <a:srgbClr val="F59E0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ectangle 13"/>
          <p:cNvSpPr/>
          <p:nvPr/>
        </p:nvSpPr>
        <p:spPr>
          <a:xfrm>
            <a:off x="3520440" y="1965960"/>
            <a:ext cx="2377440" cy="82296"/>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3611880" y="2075688"/>
            <a:ext cx="2194560" cy="868680"/>
          </a:xfrm>
          <a:prstGeom prst="rect">
            <a:avLst/>
          </a:prstGeom>
          <a:noFill/>
        </p:spPr>
        <p:txBody>
          <a:bodyPr wrap="square" anchor="ctr">
            <a:spAutoFit/>
          </a:bodyPr>
          <a:lstStyle/>
          <a:p>
            <a:pPr algn="ctr">
              <a:spcAft>
                <a:spcPts val="400"/>
              </a:spcAft>
            </a:pPr>
            <a:r>
              <a:rPr sz="1300" b="1">
                <a:solidFill>
                  <a:srgbClr val="161B26"/>
                </a:solidFill>
                <a:latin typeface="Arial"/>
              </a:rPr>
              <a:t>Change Set
preview diff</a:t>
            </a:r>
          </a:p>
        </p:txBody>
      </p:sp>
      <p:sp>
        <p:nvSpPr>
          <p:cNvPr id="16" name="Rounded Rectangle 15"/>
          <p:cNvSpPr/>
          <p:nvPr/>
        </p:nvSpPr>
        <p:spPr>
          <a:xfrm>
            <a:off x="6263640" y="1965960"/>
            <a:ext cx="2377440" cy="1051560"/>
          </a:xfrm>
          <a:prstGeom prst="roundRect">
            <a:avLst/>
          </a:prstGeom>
          <a:solidFill>
            <a:srgbClr val="F5F8FC"/>
          </a:solidFill>
          <a:ln w="15875">
            <a:solidFill>
              <a:srgbClr val="7C3AED"/>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ectangle 16"/>
          <p:cNvSpPr/>
          <p:nvPr/>
        </p:nvSpPr>
        <p:spPr>
          <a:xfrm>
            <a:off x="6263640" y="1965960"/>
            <a:ext cx="2377440" cy="82296"/>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6355080" y="2075688"/>
            <a:ext cx="2194560" cy="868680"/>
          </a:xfrm>
          <a:prstGeom prst="rect">
            <a:avLst/>
          </a:prstGeom>
          <a:noFill/>
        </p:spPr>
        <p:txBody>
          <a:bodyPr wrap="square" anchor="ctr">
            <a:spAutoFit/>
          </a:bodyPr>
          <a:lstStyle/>
          <a:p>
            <a:pPr algn="ctr">
              <a:spcAft>
                <a:spcPts val="400"/>
              </a:spcAft>
            </a:pPr>
            <a:r>
              <a:rPr sz="1300" b="1">
                <a:solidFill>
                  <a:srgbClr val="161B26"/>
                </a:solidFill>
                <a:latin typeface="Arial"/>
              </a:rPr>
              <a:t>Stack
managed resources</a:t>
            </a:r>
          </a:p>
        </p:txBody>
      </p:sp>
      <p:sp>
        <p:nvSpPr>
          <p:cNvPr id="19" name="Rounded Rectangle 18"/>
          <p:cNvSpPr/>
          <p:nvPr/>
        </p:nvSpPr>
        <p:spPr>
          <a:xfrm>
            <a:off x="9006840" y="1965960"/>
            <a:ext cx="2377440" cy="1051560"/>
          </a:xfrm>
          <a:prstGeom prst="roundRect">
            <a:avLst/>
          </a:prstGeom>
          <a:solidFill>
            <a:srgbClr val="F5F8FC"/>
          </a:solidFill>
          <a:ln w="15875">
            <a:solidFill>
              <a:srgbClr val="1F6FE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Rectangle 19"/>
          <p:cNvSpPr/>
          <p:nvPr/>
        </p:nvSpPr>
        <p:spPr>
          <a:xfrm>
            <a:off x="9006840" y="1965960"/>
            <a:ext cx="2377440" cy="82296"/>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9098280" y="2075688"/>
            <a:ext cx="2194560" cy="868680"/>
          </a:xfrm>
          <a:prstGeom prst="rect">
            <a:avLst/>
          </a:prstGeom>
          <a:noFill/>
        </p:spPr>
        <p:txBody>
          <a:bodyPr wrap="square" anchor="ctr">
            <a:spAutoFit/>
          </a:bodyPr>
          <a:lstStyle/>
          <a:p>
            <a:pPr algn="ctr">
              <a:spcAft>
                <a:spcPts val="400"/>
              </a:spcAft>
            </a:pPr>
            <a:r>
              <a:rPr sz="1300" b="1">
                <a:solidFill>
                  <a:srgbClr val="161B26"/>
                </a:solidFill>
                <a:latin typeface="Arial"/>
              </a:rPr>
              <a:t>VPC / Subnets</a:t>
            </a:r>
          </a:p>
        </p:txBody>
      </p:sp>
      <p:sp>
        <p:nvSpPr>
          <p:cNvPr id="22" name="Rounded Rectangle 21"/>
          <p:cNvSpPr/>
          <p:nvPr/>
        </p:nvSpPr>
        <p:spPr>
          <a:xfrm>
            <a:off x="9006840" y="3657600"/>
            <a:ext cx="2377440" cy="1051560"/>
          </a:xfrm>
          <a:prstGeom prst="roundRect">
            <a:avLst/>
          </a:prstGeom>
          <a:solidFill>
            <a:srgbClr val="F5F8FC"/>
          </a:solidFill>
          <a:ln w="15875">
            <a:solidFill>
              <a:srgbClr val="10B98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ectangle 22"/>
          <p:cNvSpPr/>
          <p:nvPr/>
        </p:nvSpPr>
        <p:spPr>
          <a:xfrm>
            <a:off x="9006840" y="3657600"/>
            <a:ext cx="2377440" cy="82296"/>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9098280" y="3767328"/>
            <a:ext cx="2194560" cy="868680"/>
          </a:xfrm>
          <a:prstGeom prst="rect">
            <a:avLst/>
          </a:prstGeom>
          <a:noFill/>
        </p:spPr>
        <p:txBody>
          <a:bodyPr wrap="square" anchor="ctr">
            <a:spAutoFit/>
          </a:bodyPr>
          <a:lstStyle/>
          <a:p>
            <a:pPr algn="ctr">
              <a:spcAft>
                <a:spcPts val="400"/>
              </a:spcAft>
            </a:pPr>
            <a:r>
              <a:rPr sz="1300" b="1">
                <a:solidFill>
                  <a:srgbClr val="161B26"/>
                </a:solidFill>
                <a:latin typeface="Arial"/>
              </a:rPr>
              <a:t>EC2 / App</a:t>
            </a:r>
          </a:p>
        </p:txBody>
      </p:sp>
      <p:sp>
        <p:nvSpPr>
          <p:cNvPr id="25" name="Rounded Rectangle 24"/>
          <p:cNvSpPr/>
          <p:nvPr/>
        </p:nvSpPr>
        <p:spPr>
          <a:xfrm>
            <a:off x="6263640" y="3657600"/>
            <a:ext cx="2377440" cy="1051560"/>
          </a:xfrm>
          <a:prstGeom prst="roundRect">
            <a:avLst/>
          </a:prstGeom>
          <a:solidFill>
            <a:srgbClr val="F5F8FC"/>
          </a:solidFill>
          <a:ln w="15875">
            <a:solidFill>
              <a:srgbClr val="EC711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Rectangle 25"/>
          <p:cNvSpPr/>
          <p:nvPr/>
        </p:nvSpPr>
        <p:spPr>
          <a:xfrm>
            <a:off x="6263640" y="3657600"/>
            <a:ext cx="2377440" cy="82296"/>
          </a:xfrm>
          <a:prstGeom prst="rect">
            <a:avLst/>
          </a:prstGeom>
          <a:solidFill>
            <a:srgbClr val="EC711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TextBox 26"/>
          <p:cNvSpPr txBox="1"/>
          <p:nvPr/>
        </p:nvSpPr>
        <p:spPr>
          <a:xfrm>
            <a:off x="6355080" y="3767328"/>
            <a:ext cx="2194560" cy="868680"/>
          </a:xfrm>
          <a:prstGeom prst="rect">
            <a:avLst/>
          </a:prstGeom>
          <a:noFill/>
        </p:spPr>
        <p:txBody>
          <a:bodyPr wrap="square" anchor="ctr">
            <a:spAutoFit/>
          </a:bodyPr>
          <a:lstStyle/>
          <a:p>
            <a:pPr algn="ctr">
              <a:spcAft>
                <a:spcPts val="400"/>
              </a:spcAft>
            </a:pPr>
            <a:r>
              <a:rPr sz="1300" b="1">
                <a:solidFill>
                  <a:srgbClr val="161B26"/>
                </a:solidFill>
                <a:latin typeface="Arial"/>
              </a:rPr>
              <a:t>Drift Detection</a:t>
            </a:r>
          </a:p>
        </p:txBody>
      </p:sp>
      <p:cxnSp>
        <p:nvCxnSpPr>
          <p:cNvPr id="28" name="Connector 27"/>
          <p:cNvCxnSpPr/>
          <p:nvPr/>
        </p:nvCxnSpPr>
        <p:spPr>
          <a:xfrm>
            <a:off x="3154680" y="2491740"/>
            <a:ext cx="365760" cy="0"/>
          </a:xfrm>
          <a:prstGeom prst="line">
            <a:avLst/>
          </a:prstGeom>
          <a:ln w="22225">
            <a:solidFill>
              <a:srgbClr val="5B6372"/>
            </a:solidFill>
            <a:tailEnd type="triangle" w="med" len="med"/>
          </a:ln>
          <a:effectLst/>
        </p:spPr>
        <p:style>
          <a:lnRef idx="2">
            <a:schemeClr val="accent1"/>
          </a:lnRef>
          <a:fillRef idx="0">
            <a:schemeClr val="accent1"/>
          </a:fillRef>
          <a:effectRef idx="1">
            <a:schemeClr val="accent1"/>
          </a:effectRef>
          <a:fontRef idx="minor">
            <a:schemeClr val="tx1"/>
          </a:fontRef>
        </p:style>
      </p:cxnSp>
      <p:cxnSp>
        <p:nvCxnSpPr>
          <p:cNvPr id="29" name="Connector 28"/>
          <p:cNvCxnSpPr/>
          <p:nvPr/>
        </p:nvCxnSpPr>
        <p:spPr>
          <a:xfrm flipV="1">
            <a:off x="3154680" y="2491740"/>
            <a:ext cx="365760" cy="1691640"/>
          </a:xfrm>
          <a:prstGeom prst="line">
            <a:avLst/>
          </a:prstGeom>
          <a:ln w="22225">
            <a:solidFill>
              <a:srgbClr val="5B6372"/>
            </a:solidFill>
            <a:tailEnd type="triangle" w="med" len="med"/>
          </a:ln>
          <a:effectLst/>
        </p:spPr>
        <p:style>
          <a:lnRef idx="2">
            <a:schemeClr val="accent1"/>
          </a:lnRef>
          <a:fillRef idx="0">
            <a:schemeClr val="accent1"/>
          </a:fillRef>
          <a:effectRef idx="1">
            <a:schemeClr val="accent1"/>
          </a:effectRef>
          <a:fontRef idx="minor">
            <a:schemeClr val="tx1"/>
          </a:fontRef>
        </p:style>
      </p:cxnSp>
      <p:cxnSp>
        <p:nvCxnSpPr>
          <p:cNvPr id="30" name="Connector 29"/>
          <p:cNvCxnSpPr/>
          <p:nvPr/>
        </p:nvCxnSpPr>
        <p:spPr>
          <a:xfrm>
            <a:off x="5897880" y="2491740"/>
            <a:ext cx="365760" cy="0"/>
          </a:xfrm>
          <a:prstGeom prst="line">
            <a:avLst/>
          </a:prstGeom>
          <a:ln w="22225">
            <a:solidFill>
              <a:srgbClr val="5B6372"/>
            </a:solidFill>
            <a:tailEnd type="triangle" w="med" len="med"/>
          </a:ln>
          <a:effectLst/>
        </p:spPr>
        <p:style>
          <a:lnRef idx="2">
            <a:schemeClr val="accent1"/>
          </a:lnRef>
          <a:fillRef idx="0">
            <a:schemeClr val="accent1"/>
          </a:fillRef>
          <a:effectRef idx="1">
            <a:schemeClr val="accent1"/>
          </a:effectRef>
          <a:fontRef idx="minor">
            <a:schemeClr val="tx1"/>
          </a:fontRef>
        </p:style>
      </p:cxnSp>
      <p:cxnSp>
        <p:nvCxnSpPr>
          <p:cNvPr id="31" name="Connector 30"/>
          <p:cNvCxnSpPr/>
          <p:nvPr/>
        </p:nvCxnSpPr>
        <p:spPr>
          <a:xfrm>
            <a:off x="8641080" y="2491740"/>
            <a:ext cx="365760" cy="0"/>
          </a:xfrm>
          <a:prstGeom prst="line">
            <a:avLst/>
          </a:prstGeom>
          <a:ln w="22225">
            <a:solidFill>
              <a:srgbClr val="5B6372"/>
            </a:solidFill>
            <a:tailEnd type="triangle" w="med" len="med"/>
          </a:ln>
          <a:effectLst/>
        </p:spPr>
        <p:style>
          <a:lnRef idx="2">
            <a:schemeClr val="accent1"/>
          </a:lnRef>
          <a:fillRef idx="0">
            <a:schemeClr val="accent1"/>
          </a:fillRef>
          <a:effectRef idx="1">
            <a:schemeClr val="accent1"/>
          </a:effectRef>
          <a:fontRef idx="minor">
            <a:schemeClr val="tx1"/>
          </a:fontRef>
        </p:style>
      </p:cxnSp>
      <p:cxnSp>
        <p:nvCxnSpPr>
          <p:cNvPr id="32" name="Connector 31"/>
          <p:cNvCxnSpPr/>
          <p:nvPr/>
        </p:nvCxnSpPr>
        <p:spPr>
          <a:xfrm>
            <a:off x="8641080" y="2491740"/>
            <a:ext cx="365760" cy="1691640"/>
          </a:xfrm>
          <a:prstGeom prst="line">
            <a:avLst/>
          </a:prstGeom>
          <a:ln w="22225">
            <a:solidFill>
              <a:srgbClr val="5B6372"/>
            </a:solidFill>
            <a:tailEnd type="triangle" w="med" len="med"/>
          </a:ln>
          <a:effectLst/>
        </p:spPr>
        <p:style>
          <a:lnRef idx="2">
            <a:schemeClr val="accent1"/>
          </a:lnRef>
          <a:fillRef idx="0">
            <a:schemeClr val="accent1"/>
          </a:fillRef>
          <a:effectRef idx="1">
            <a:schemeClr val="accent1"/>
          </a:effectRef>
          <a:fontRef idx="minor">
            <a:schemeClr val="tx1"/>
          </a:fontRef>
        </p:style>
      </p:cxnSp>
      <p:cxnSp>
        <p:nvCxnSpPr>
          <p:cNvPr id="33" name="Connector 32"/>
          <p:cNvCxnSpPr/>
          <p:nvPr/>
        </p:nvCxnSpPr>
        <p:spPr>
          <a:xfrm>
            <a:off x="7452360" y="3017520"/>
            <a:ext cx="0" cy="640080"/>
          </a:xfrm>
          <a:prstGeom prst="line">
            <a:avLst/>
          </a:prstGeom>
          <a:ln w="22225">
            <a:solidFill>
              <a:srgbClr val="5B6372"/>
            </a:solidFill>
            <a:tailEnd type="triangle" w="med" len="med"/>
          </a:ln>
          <a:effectLst/>
        </p:spPr>
        <p:style>
          <a:lnRef idx="2">
            <a:schemeClr val="accent1"/>
          </a:lnRef>
          <a:fillRef idx="0">
            <a:schemeClr val="accent1"/>
          </a:fillRef>
          <a:effectRef idx="1">
            <a:schemeClr val="accent1"/>
          </a:effectRef>
          <a:fontRef idx="minor">
            <a:schemeClr val="tx1"/>
          </a:fontRef>
        </p:style>
      </p:cxnSp>
      <p:sp>
        <p:nvSpPr>
          <p:cNvPr id="34" name="Rectangle 33"/>
          <p:cNvSpPr/>
          <p:nvPr/>
        </p:nvSpPr>
        <p:spPr>
          <a:xfrm>
            <a:off x="777240" y="5669280"/>
            <a:ext cx="10634472" cy="54864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TextBox 34"/>
          <p:cNvSpPr txBox="1"/>
          <p:nvPr/>
        </p:nvSpPr>
        <p:spPr>
          <a:xfrm>
            <a:off x="1005840" y="5742432"/>
            <a:ext cx="10241280" cy="411480"/>
          </a:xfrm>
          <a:prstGeom prst="rect">
            <a:avLst/>
          </a:prstGeom>
          <a:noFill/>
        </p:spPr>
        <p:txBody>
          <a:bodyPr wrap="square" anchor="ctr">
            <a:spAutoFit/>
          </a:bodyPr>
          <a:lstStyle/>
          <a:p>
            <a:pPr algn="l">
              <a:spcAft>
                <a:spcPts val="400"/>
              </a:spcAft>
            </a:pPr>
            <a:r>
              <a:rPr sz="1300" b="1">
                <a:solidFill>
                  <a:srgbClr val="7C3AED"/>
                </a:solidFill>
                <a:latin typeface="Arial"/>
              </a:rPr>
              <a:t>▶  </a:t>
            </a:r>
            <a:r>
              <a:rPr sz="1300" b="0">
                <a:solidFill>
                  <a:srgbClr val="161B26"/>
                </a:solidFill>
                <a:latin typeface="Arial"/>
              </a:rPr>
              <a:t>One parameterised template deploys identical dev, test and prod environments; change sets preview, drift detection audits.</a:t>
            </a:r>
          </a:p>
        </p:txBody>
      </p:sp>
      <p:sp>
        <p:nvSpPr>
          <p:cNvPr id="36" name="TextBox 35"/>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DevOps Engineering on AWS  ·  TGS-2023040474</a:t>
            </a:r>
          </a:p>
        </p:txBody>
      </p:sp>
      <p:sp>
        <p:nvSpPr>
          <p:cNvPr id="37" name="TextBox 36"/>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38" name="TextBox 37"/>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71</a:t>
            </a:r>
          </a:p>
        </p:txBody>
      </p:sp>
    </p:spTree>
  </p:cSld>
  <p:clrMapOvr>
    <a:masterClrMapping/>
  </p:clrMapOvr>
  <p:transition xmlns:p14="http://schemas.microsoft.com/office/powerpoint/2010/main" p14:dur="380">
    <p:fade/>
  </p:transition>
</p:sld>
</file>

<file path=ppt/slides/slide7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38912"/>
            <a:ext cx="10607040" cy="365760"/>
          </a:xfrm>
          <a:prstGeom prst="rect">
            <a:avLst/>
          </a:prstGeom>
          <a:noFill/>
        </p:spPr>
        <p:txBody>
          <a:bodyPr wrap="square" anchor="t">
            <a:spAutoFit/>
          </a:bodyPr>
          <a:lstStyle/>
          <a:p>
            <a:pPr algn="l">
              <a:spcAft>
                <a:spcPts val="400"/>
              </a:spcAft>
            </a:pPr>
            <a:r>
              <a:rPr sz="1400" b="1">
                <a:solidFill>
                  <a:srgbClr val="7C3AED"/>
                </a:solidFill>
                <a:latin typeface="Arial"/>
              </a:rPr>
              <a:t>MULTI-ACCOUNT / MULTI-REGION</a:t>
            </a:r>
          </a:p>
        </p:txBody>
      </p:sp>
      <p:sp>
        <p:nvSpPr>
          <p:cNvPr id="5" name="TextBox 4"/>
          <p:cNvSpPr txBox="1"/>
          <p:nvPr/>
        </p:nvSpPr>
        <p:spPr>
          <a:xfrm>
            <a:off x="777240" y="896112"/>
            <a:ext cx="10927080" cy="731520"/>
          </a:xfrm>
          <a:prstGeom prst="rect">
            <a:avLst/>
          </a:prstGeom>
          <a:noFill/>
        </p:spPr>
        <p:txBody>
          <a:bodyPr wrap="square" anchor="t">
            <a:spAutoFit/>
          </a:bodyPr>
          <a:lstStyle/>
          <a:p>
            <a:pPr algn="l">
              <a:spcAft>
                <a:spcPts val="400"/>
              </a:spcAft>
            </a:pPr>
            <a:r>
              <a:rPr sz="2500" b="1">
                <a:solidFill>
                  <a:srgbClr val="161B26"/>
                </a:solidFill>
                <a:latin typeface="Arial"/>
              </a:rPr>
              <a:t>Configuration Management &amp; Governance at Scale</a:t>
            </a:r>
          </a:p>
        </p:txBody>
      </p:sp>
      <p:sp>
        <p:nvSpPr>
          <p:cNvPr id="6" name="Rectangle 5"/>
          <p:cNvSpPr/>
          <p:nvPr/>
        </p:nvSpPr>
        <p:spPr>
          <a:xfrm>
            <a:off x="777240" y="1572768"/>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783080"/>
            <a:ext cx="5180076" cy="207568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1783080"/>
            <a:ext cx="91440" cy="2075688"/>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1033272" y="2546604"/>
            <a:ext cx="548640" cy="548640"/>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033272" y="2546604"/>
            <a:ext cx="548640" cy="548640"/>
          </a:xfrm>
          <a:prstGeom prst="rect">
            <a:avLst/>
          </a:prstGeom>
          <a:noFill/>
        </p:spPr>
        <p:txBody>
          <a:bodyPr wrap="square" anchor="ctr">
            <a:spAutoFit/>
          </a:bodyPr>
          <a:lstStyle/>
          <a:p>
            <a:pPr algn="ctr">
              <a:spcAft>
                <a:spcPts val="400"/>
              </a:spcAft>
            </a:pPr>
            <a:r>
              <a:rPr sz="1800" b="1">
                <a:solidFill>
                  <a:srgbClr val="FFFFFF"/>
                </a:solidFill>
                <a:latin typeface="Arial"/>
              </a:rPr>
              <a:t>1</a:t>
            </a:r>
          </a:p>
        </p:txBody>
      </p:sp>
      <p:sp>
        <p:nvSpPr>
          <p:cNvPr id="11" name="TextBox 10"/>
          <p:cNvSpPr txBox="1"/>
          <p:nvPr/>
        </p:nvSpPr>
        <p:spPr>
          <a:xfrm>
            <a:off x="1764792" y="1892808"/>
            <a:ext cx="3973068" cy="1892808"/>
          </a:xfrm>
          <a:prstGeom prst="rect">
            <a:avLst/>
          </a:prstGeom>
          <a:noFill/>
        </p:spPr>
        <p:txBody>
          <a:bodyPr wrap="square" anchor="ctr">
            <a:spAutoFit/>
          </a:bodyPr>
          <a:lstStyle/>
          <a:p>
            <a:pPr algn="l">
              <a:spcAft>
                <a:spcPts val="300"/>
              </a:spcAft>
            </a:pPr>
            <a:r>
              <a:rPr sz="1600" b="1">
                <a:solidFill>
                  <a:srgbClr val="161B26"/>
                </a:solidFill>
                <a:latin typeface="Arial"/>
              </a:rPr>
              <a:t>Nested stacks / modules</a:t>
            </a:r>
          </a:p>
          <a:p>
            <a:pPr algn="l">
              <a:spcAft>
                <a:spcPts val="300"/>
              </a:spcAft>
            </a:pPr>
            <a:r>
              <a:rPr sz="1200" b="0">
                <a:solidFill>
                  <a:srgbClr val="5B6372"/>
                </a:solidFill>
                <a:latin typeface="Arial"/>
              </a:rPr>
              <a:t>Package a pattern once and reuse it across teams.</a:t>
            </a:r>
          </a:p>
        </p:txBody>
      </p:sp>
      <p:sp>
        <p:nvSpPr>
          <p:cNvPr id="12" name="Rectangle 11"/>
          <p:cNvSpPr/>
          <p:nvPr/>
        </p:nvSpPr>
        <p:spPr>
          <a:xfrm>
            <a:off x="6231636" y="1783080"/>
            <a:ext cx="5180076" cy="207568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6231636" y="1783080"/>
            <a:ext cx="91440" cy="2075688"/>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Oval 13"/>
          <p:cNvSpPr/>
          <p:nvPr/>
        </p:nvSpPr>
        <p:spPr>
          <a:xfrm>
            <a:off x="6487668" y="2546604"/>
            <a:ext cx="548640" cy="54864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6487668" y="2546604"/>
            <a:ext cx="548640" cy="548640"/>
          </a:xfrm>
          <a:prstGeom prst="rect">
            <a:avLst/>
          </a:prstGeom>
          <a:noFill/>
        </p:spPr>
        <p:txBody>
          <a:bodyPr wrap="square" anchor="ctr">
            <a:spAutoFit/>
          </a:bodyPr>
          <a:lstStyle/>
          <a:p>
            <a:pPr algn="ctr">
              <a:spcAft>
                <a:spcPts val="400"/>
              </a:spcAft>
            </a:pPr>
            <a:r>
              <a:rPr sz="1800" b="1">
                <a:solidFill>
                  <a:srgbClr val="FFFFFF"/>
                </a:solidFill>
                <a:latin typeface="Arial"/>
              </a:rPr>
              <a:t>2</a:t>
            </a:r>
          </a:p>
        </p:txBody>
      </p:sp>
      <p:sp>
        <p:nvSpPr>
          <p:cNvPr id="16" name="TextBox 15"/>
          <p:cNvSpPr txBox="1"/>
          <p:nvPr/>
        </p:nvSpPr>
        <p:spPr>
          <a:xfrm>
            <a:off x="7219188" y="1892808"/>
            <a:ext cx="3973068" cy="1892808"/>
          </a:xfrm>
          <a:prstGeom prst="rect">
            <a:avLst/>
          </a:prstGeom>
          <a:noFill/>
        </p:spPr>
        <p:txBody>
          <a:bodyPr wrap="square" anchor="ctr">
            <a:spAutoFit/>
          </a:bodyPr>
          <a:lstStyle/>
          <a:p>
            <a:pPr algn="l">
              <a:spcAft>
                <a:spcPts val="300"/>
              </a:spcAft>
            </a:pPr>
            <a:r>
              <a:rPr sz="1600" b="1">
                <a:solidFill>
                  <a:srgbClr val="161B26"/>
                </a:solidFill>
                <a:latin typeface="Arial"/>
              </a:rPr>
              <a:t>Systems Manager</a:t>
            </a:r>
          </a:p>
          <a:p>
            <a:pPr algn="l">
              <a:spcAft>
                <a:spcPts val="300"/>
              </a:spcAft>
            </a:pPr>
            <a:r>
              <a:rPr sz="1200" b="0">
                <a:solidFill>
                  <a:srgbClr val="5B6372"/>
                </a:solidFill>
                <a:latin typeface="Arial"/>
              </a:rPr>
              <a:t>State Manager, Automation and Parameter Store keep instances in desired state.</a:t>
            </a:r>
          </a:p>
        </p:txBody>
      </p:sp>
      <p:sp>
        <p:nvSpPr>
          <p:cNvPr id="17" name="Rectangle 16"/>
          <p:cNvSpPr/>
          <p:nvPr/>
        </p:nvSpPr>
        <p:spPr>
          <a:xfrm>
            <a:off x="777240" y="4078224"/>
            <a:ext cx="5180076" cy="207568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777240" y="4078224"/>
            <a:ext cx="91440" cy="2075688"/>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Oval 18"/>
          <p:cNvSpPr/>
          <p:nvPr/>
        </p:nvSpPr>
        <p:spPr>
          <a:xfrm>
            <a:off x="1033272" y="4841748"/>
            <a:ext cx="548640" cy="548640"/>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1033272" y="4841748"/>
            <a:ext cx="548640" cy="548640"/>
          </a:xfrm>
          <a:prstGeom prst="rect">
            <a:avLst/>
          </a:prstGeom>
          <a:noFill/>
        </p:spPr>
        <p:txBody>
          <a:bodyPr wrap="square" anchor="ctr">
            <a:spAutoFit/>
          </a:bodyPr>
          <a:lstStyle/>
          <a:p>
            <a:pPr algn="ctr">
              <a:spcAft>
                <a:spcPts val="400"/>
              </a:spcAft>
            </a:pPr>
            <a:r>
              <a:rPr sz="1800" b="1">
                <a:solidFill>
                  <a:srgbClr val="FFFFFF"/>
                </a:solidFill>
                <a:latin typeface="Arial"/>
              </a:rPr>
              <a:t>3</a:t>
            </a:r>
          </a:p>
        </p:txBody>
      </p:sp>
      <p:sp>
        <p:nvSpPr>
          <p:cNvPr id="21" name="TextBox 20"/>
          <p:cNvSpPr txBox="1"/>
          <p:nvPr/>
        </p:nvSpPr>
        <p:spPr>
          <a:xfrm>
            <a:off x="1764792" y="4187952"/>
            <a:ext cx="3973068" cy="1892808"/>
          </a:xfrm>
          <a:prstGeom prst="rect">
            <a:avLst/>
          </a:prstGeom>
          <a:noFill/>
        </p:spPr>
        <p:txBody>
          <a:bodyPr wrap="square" anchor="ctr">
            <a:spAutoFit/>
          </a:bodyPr>
          <a:lstStyle/>
          <a:p>
            <a:pPr algn="l">
              <a:spcAft>
                <a:spcPts val="300"/>
              </a:spcAft>
            </a:pPr>
            <a:r>
              <a:rPr sz="1600" b="1">
                <a:solidFill>
                  <a:srgbClr val="161B26"/>
                </a:solidFill>
                <a:latin typeface="Arial"/>
              </a:rPr>
              <a:t>StackSets</a:t>
            </a:r>
          </a:p>
          <a:p>
            <a:pPr algn="l">
              <a:spcAft>
                <a:spcPts val="300"/>
              </a:spcAft>
            </a:pPr>
            <a:r>
              <a:rPr sz="1200" b="0">
                <a:solidFill>
                  <a:srgbClr val="5B6372"/>
                </a:solidFill>
                <a:latin typeface="Arial"/>
              </a:rPr>
              <a:t>Deploy the same stack across many accounts and Regions.</a:t>
            </a:r>
          </a:p>
        </p:txBody>
      </p:sp>
      <p:sp>
        <p:nvSpPr>
          <p:cNvPr id="22" name="Rectangle 21"/>
          <p:cNvSpPr/>
          <p:nvPr/>
        </p:nvSpPr>
        <p:spPr>
          <a:xfrm>
            <a:off x="6231636" y="4078224"/>
            <a:ext cx="5180076" cy="207568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ectangle 22"/>
          <p:cNvSpPr/>
          <p:nvPr/>
        </p:nvSpPr>
        <p:spPr>
          <a:xfrm>
            <a:off x="6231636" y="4078224"/>
            <a:ext cx="91440" cy="2075688"/>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Oval 23"/>
          <p:cNvSpPr/>
          <p:nvPr/>
        </p:nvSpPr>
        <p:spPr>
          <a:xfrm>
            <a:off x="6487668" y="4841748"/>
            <a:ext cx="548640" cy="548640"/>
          </a:xfrm>
          <a:prstGeom prst="ellipse">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6487668" y="4841748"/>
            <a:ext cx="548640" cy="548640"/>
          </a:xfrm>
          <a:prstGeom prst="rect">
            <a:avLst/>
          </a:prstGeom>
          <a:noFill/>
        </p:spPr>
        <p:txBody>
          <a:bodyPr wrap="square" anchor="ctr">
            <a:spAutoFit/>
          </a:bodyPr>
          <a:lstStyle/>
          <a:p>
            <a:pPr algn="ctr">
              <a:spcAft>
                <a:spcPts val="400"/>
              </a:spcAft>
            </a:pPr>
            <a:r>
              <a:rPr sz="1800" b="1">
                <a:solidFill>
                  <a:srgbClr val="FFFFFF"/>
                </a:solidFill>
                <a:latin typeface="Arial"/>
              </a:rPr>
              <a:t>4</a:t>
            </a:r>
          </a:p>
        </p:txBody>
      </p:sp>
      <p:sp>
        <p:nvSpPr>
          <p:cNvPr id="26" name="TextBox 25"/>
          <p:cNvSpPr txBox="1"/>
          <p:nvPr/>
        </p:nvSpPr>
        <p:spPr>
          <a:xfrm>
            <a:off x="7219188" y="4187952"/>
            <a:ext cx="3973068" cy="1892808"/>
          </a:xfrm>
          <a:prstGeom prst="rect">
            <a:avLst/>
          </a:prstGeom>
          <a:noFill/>
        </p:spPr>
        <p:txBody>
          <a:bodyPr wrap="square" anchor="ctr">
            <a:spAutoFit/>
          </a:bodyPr>
          <a:lstStyle/>
          <a:p>
            <a:pPr algn="l">
              <a:spcAft>
                <a:spcPts val="300"/>
              </a:spcAft>
            </a:pPr>
            <a:r>
              <a:rPr sz="1600" b="1">
                <a:solidFill>
                  <a:srgbClr val="161B26"/>
                </a:solidFill>
                <a:latin typeface="Arial"/>
              </a:rPr>
              <a:t>Organizations &amp; Control Tower</a:t>
            </a:r>
          </a:p>
          <a:p>
            <a:pPr algn="l">
              <a:spcAft>
                <a:spcPts val="300"/>
              </a:spcAft>
            </a:pPr>
            <a:r>
              <a:rPr sz="1200" b="0">
                <a:solidFill>
                  <a:srgbClr val="5B6372"/>
                </a:solidFill>
                <a:latin typeface="Arial"/>
              </a:rPr>
              <a:t>Create, onboard and secure accounts with a landing zone.</a:t>
            </a:r>
          </a:p>
        </p:txBody>
      </p:sp>
      <p:sp>
        <p:nvSpPr>
          <p:cNvPr id="27" name="TextBox 26"/>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DevOps Engineering on AWS  ·  TGS-2023040474</a:t>
            </a:r>
          </a:p>
        </p:txBody>
      </p:sp>
      <p:sp>
        <p:nvSpPr>
          <p:cNvPr id="28" name="TextBox 27"/>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29" name="TextBox 28"/>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72</a:t>
            </a:r>
          </a:p>
        </p:txBody>
      </p:sp>
    </p:spTree>
  </p:cSld>
  <p:clrMapOvr>
    <a:masterClrMapping/>
  </p:clrMapOvr>
  <p:transition xmlns:p14="http://schemas.microsoft.com/office/powerpoint/2010/main" p14:dur="380">
    <p:fade/>
  </p:transition>
</p:sld>
</file>

<file path=ppt/slides/slide7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38912"/>
            <a:ext cx="10607040" cy="365760"/>
          </a:xfrm>
          <a:prstGeom prst="rect">
            <a:avLst/>
          </a:prstGeom>
          <a:noFill/>
        </p:spPr>
        <p:txBody>
          <a:bodyPr wrap="square" anchor="t">
            <a:spAutoFit/>
          </a:bodyPr>
          <a:lstStyle/>
          <a:p>
            <a:pPr algn="l">
              <a:spcAft>
                <a:spcPts val="400"/>
              </a:spcAft>
            </a:pPr>
            <a:r>
              <a:rPr sz="1400" b="1">
                <a:solidFill>
                  <a:srgbClr val="7C3AED"/>
                </a:solidFill>
                <a:latin typeface="Arial"/>
              </a:rPr>
              <a:t>TEMPLATE STRUCTURE</a:t>
            </a:r>
          </a:p>
        </p:txBody>
      </p:sp>
      <p:sp>
        <p:nvSpPr>
          <p:cNvPr id="5" name="TextBox 4"/>
          <p:cNvSpPr txBox="1"/>
          <p:nvPr/>
        </p:nvSpPr>
        <p:spPr>
          <a:xfrm>
            <a:off x="777240" y="804672"/>
            <a:ext cx="10927080" cy="731520"/>
          </a:xfrm>
          <a:prstGeom prst="rect">
            <a:avLst/>
          </a:prstGeom>
          <a:noFill/>
        </p:spPr>
        <p:txBody>
          <a:bodyPr wrap="square" anchor="t">
            <a:spAutoFit/>
          </a:bodyPr>
          <a:lstStyle/>
          <a:p>
            <a:pPr algn="l">
              <a:spcAft>
                <a:spcPts val="400"/>
              </a:spcAft>
            </a:pPr>
            <a:r>
              <a:rPr sz="2900" b="1">
                <a:solidFill>
                  <a:srgbClr val="161B26"/>
                </a:solidFill>
                <a:latin typeface="Arial"/>
              </a:rPr>
              <a:t>Anatomy of a CloudFormation Template</a:t>
            </a:r>
          </a:p>
        </p:txBody>
      </p:sp>
      <p:sp>
        <p:nvSpPr>
          <p:cNvPr id="6" name="Rectangle 5"/>
          <p:cNvSpPr/>
          <p:nvPr/>
        </p:nvSpPr>
        <p:spPr>
          <a:xfrm>
            <a:off x="777240" y="1572768"/>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783080"/>
            <a:ext cx="5180076" cy="131064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1783080"/>
            <a:ext cx="91440" cy="131064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1033272" y="2164080"/>
            <a:ext cx="548640" cy="548640"/>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033272" y="2164080"/>
            <a:ext cx="548640" cy="548640"/>
          </a:xfrm>
          <a:prstGeom prst="rect">
            <a:avLst/>
          </a:prstGeom>
          <a:noFill/>
        </p:spPr>
        <p:txBody>
          <a:bodyPr wrap="square" anchor="ctr">
            <a:spAutoFit/>
          </a:bodyPr>
          <a:lstStyle/>
          <a:p>
            <a:pPr algn="ctr">
              <a:spcAft>
                <a:spcPts val="400"/>
              </a:spcAft>
            </a:pPr>
            <a:r>
              <a:rPr sz="1800" b="1">
                <a:solidFill>
                  <a:srgbClr val="FFFFFF"/>
                </a:solidFill>
                <a:latin typeface="Arial"/>
              </a:rPr>
              <a:t>1</a:t>
            </a:r>
          </a:p>
        </p:txBody>
      </p:sp>
      <p:sp>
        <p:nvSpPr>
          <p:cNvPr id="11" name="TextBox 10"/>
          <p:cNvSpPr txBox="1"/>
          <p:nvPr/>
        </p:nvSpPr>
        <p:spPr>
          <a:xfrm>
            <a:off x="1764792" y="1892808"/>
            <a:ext cx="3973068" cy="1127760"/>
          </a:xfrm>
          <a:prstGeom prst="rect">
            <a:avLst/>
          </a:prstGeom>
          <a:noFill/>
        </p:spPr>
        <p:txBody>
          <a:bodyPr wrap="square" anchor="ctr">
            <a:spAutoFit/>
          </a:bodyPr>
          <a:lstStyle/>
          <a:p>
            <a:pPr algn="l">
              <a:spcAft>
                <a:spcPts val="300"/>
              </a:spcAft>
            </a:pPr>
            <a:r>
              <a:rPr sz="1550" b="1">
                <a:solidFill>
                  <a:srgbClr val="161B26"/>
                </a:solidFill>
                <a:latin typeface="Arial"/>
              </a:rPr>
              <a:t>Parameters</a:t>
            </a:r>
          </a:p>
          <a:p>
            <a:pPr algn="l">
              <a:spcAft>
                <a:spcPts val="300"/>
              </a:spcAft>
            </a:pPr>
            <a:r>
              <a:rPr sz="1150" b="0">
                <a:solidFill>
                  <a:srgbClr val="5B6372"/>
                </a:solidFill>
                <a:latin typeface="Arial"/>
              </a:rPr>
              <a:t>Inputs that make the template reusable across environments.</a:t>
            </a:r>
          </a:p>
        </p:txBody>
      </p:sp>
      <p:sp>
        <p:nvSpPr>
          <p:cNvPr id="12" name="Rectangle 11"/>
          <p:cNvSpPr/>
          <p:nvPr/>
        </p:nvSpPr>
        <p:spPr>
          <a:xfrm>
            <a:off x="6231636" y="1783080"/>
            <a:ext cx="5180076" cy="131064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6231636" y="1783080"/>
            <a:ext cx="91440" cy="131064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Oval 13"/>
          <p:cNvSpPr/>
          <p:nvPr/>
        </p:nvSpPr>
        <p:spPr>
          <a:xfrm>
            <a:off x="6487668" y="2164080"/>
            <a:ext cx="548640" cy="54864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6487668" y="2164080"/>
            <a:ext cx="548640" cy="548640"/>
          </a:xfrm>
          <a:prstGeom prst="rect">
            <a:avLst/>
          </a:prstGeom>
          <a:noFill/>
        </p:spPr>
        <p:txBody>
          <a:bodyPr wrap="square" anchor="ctr">
            <a:spAutoFit/>
          </a:bodyPr>
          <a:lstStyle/>
          <a:p>
            <a:pPr algn="ctr">
              <a:spcAft>
                <a:spcPts val="400"/>
              </a:spcAft>
            </a:pPr>
            <a:r>
              <a:rPr sz="1800" b="1">
                <a:solidFill>
                  <a:srgbClr val="FFFFFF"/>
                </a:solidFill>
                <a:latin typeface="Arial"/>
              </a:rPr>
              <a:t>2</a:t>
            </a:r>
          </a:p>
        </p:txBody>
      </p:sp>
      <p:sp>
        <p:nvSpPr>
          <p:cNvPr id="16" name="TextBox 15"/>
          <p:cNvSpPr txBox="1"/>
          <p:nvPr/>
        </p:nvSpPr>
        <p:spPr>
          <a:xfrm>
            <a:off x="7219188" y="1892808"/>
            <a:ext cx="3973068" cy="1127760"/>
          </a:xfrm>
          <a:prstGeom prst="rect">
            <a:avLst/>
          </a:prstGeom>
          <a:noFill/>
        </p:spPr>
        <p:txBody>
          <a:bodyPr wrap="square" anchor="ctr">
            <a:spAutoFit/>
          </a:bodyPr>
          <a:lstStyle/>
          <a:p>
            <a:pPr algn="l">
              <a:spcAft>
                <a:spcPts val="300"/>
              </a:spcAft>
            </a:pPr>
            <a:r>
              <a:rPr sz="1550" b="1">
                <a:solidFill>
                  <a:srgbClr val="161B26"/>
                </a:solidFill>
                <a:latin typeface="Arial"/>
              </a:rPr>
              <a:t>Mappings</a:t>
            </a:r>
          </a:p>
          <a:p>
            <a:pPr algn="l">
              <a:spcAft>
                <a:spcPts val="300"/>
              </a:spcAft>
            </a:pPr>
            <a:r>
              <a:rPr sz="1150" b="0">
                <a:solidFill>
                  <a:srgbClr val="5B6372"/>
                </a:solidFill>
                <a:latin typeface="Arial"/>
              </a:rPr>
              <a:t>Static lookup tables (e.g. AMI by Region).</a:t>
            </a:r>
          </a:p>
        </p:txBody>
      </p:sp>
      <p:sp>
        <p:nvSpPr>
          <p:cNvPr id="17" name="Rectangle 16"/>
          <p:cNvSpPr/>
          <p:nvPr/>
        </p:nvSpPr>
        <p:spPr>
          <a:xfrm>
            <a:off x="777240" y="3313176"/>
            <a:ext cx="5180076" cy="131064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777240" y="3313176"/>
            <a:ext cx="91440" cy="1310640"/>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Oval 18"/>
          <p:cNvSpPr/>
          <p:nvPr/>
        </p:nvSpPr>
        <p:spPr>
          <a:xfrm>
            <a:off x="1033272" y="3694176"/>
            <a:ext cx="548640" cy="548640"/>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1033272" y="3694176"/>
            <a:ext cx="548640" cy="548640"/>
          </a:xfrm>
          <a:prstGeom prst="rect">
            <a:avLst/>
          </a:prstGeom>
          <a:noFill/>
        </p:spPr>
        <p:txBody>
          <a:bodyPr wrap="square" anchor="ctr">
            <a:spAutoFit/>
          </a:bodyPr>
          <a:lstStyle/>
          <a:p>
            <a:pPr algn="ctr">
              <a:spcAft>
                <a:spcPts val="400"/>
              </a:spcAft>
            </a:pPr>
            <a:r>
              <a:rPr sz="1800" b="1">
                <a:solidFill>
                  <a:srgbClr val="FFFFFF"/>
                </a:solidFill>
                <a:latin typeface="Arial"/>
              </a:rPr>
              <a:t>3</a:t>
            </a:r>
          </a:p>
        </p:txBody>
      </p:sp>
      <p:sp>
        <p:nvSpPr>
          <p:cNvPr id="21" name="TextBox 20"/>
          <p:cNvSpPr txBox="1"/>
          <p:nvPr/>
        </p:nvSpPr>
        <p:spPr>
          <a:xfrm>
            <a:off x="1764792" y="3422904"/>
            <a:ext cx="3973068" cy="1127760"/>
          </a:xfrm>
          <a:prstGeom prst="rect">
            <a:avLst/>
          </a:prstGeom>
          <a:noFill/>
        </p:spPr>
        <p:txBody>
          <a:bodyPr wrap="square" anchor="ctr">
            <a:spAutoFit/>
          </a:bodyPr>
          <a:lstStyle/>
          <a:p>
            <a:pPr algn="l">
              <a:spcAft>
                <a:spcPts val="300"/>
              </a:spcAft>
            </a:pPr>
            <a:r>
              <a:rPr sz="1550" b="1">
                <a:solidFill>
                  <a:srgbClr val="161B26"/>
                </a:solidFill>
                <a:latin typeface="Arial"/>
              </a:rPr>
              <a:t>Conditions</a:t>
            </a:r>
          </a:p>
          <a:p>
            <a:pPr algn="l">
              <a:spcAft>
                <a:spcPts val="300"/>
              </a:spcAft>
            </a:pPr>
            <a:r>
              <a:rPr sz="1150" b="0">
                <a:solidFill>
                  <a:srgbClr val="5B6372"/>
                </a:solidFill>
                <a:latin typeface="Arial"/>
              </a:rPr>
              <a:t>Create resources only when a condition is met.</a:t>
            </a:r>
          </a:p>
        </p:txBody>
      </p:sp>
      <p:sp>
        <p:nvSpPr>
          <p:cNvPr id="22" name="Rectangle 21"/>
          <p:cNvSpPr/>
          <p:nvPr/>
        </p:nvSpPr>
        <p:spPr>
          <a:xfrm>
            <a:off x="6231636" y="3313176"/>
            <a:ext cx="5180076" cy="131064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ectangle 22"/>
          <p:cNvSpPr/>
          <p:nvPr/>
        </p:nvSpPr>
        <p:spPr>
          <a:xfrm>
            <a:off x="6231636" y="3313176"/>
            <a:ext cx="91440" cy="1310640"/>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Oval 23"/>
          <p:cNvSpPr/>
          <p:nvPr/>
        </p:nvSpPr>
        <p:spPr>
          <a:xfrm>
            <a:off x="6487668" y="3694176"/>
            <a:ext cx="548640" cy="548640"/>
          </a:xfrm>
          <a:prstGeom prst="ellipse">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6487668" y="3694176"/>
            <a:ext cx="548640" cy="548640"/>
          </a:xfrm>
          <a:prstGeom prst="rect">
            <a:avLst/>
          </a:prstGeom>
          <a:noFill/>
        </p:spPr>
        <p:txBody>
          <a:bodyPr wrap="square" anchor="ctr">
            <a:spAutoFit/>
          </a:bodyPr>
          <a:lstStyle/>
          <a:p>
            <a:pPr algn="ctr">
              <a:spcAft>
                <a:spcPts val="400"/>
              </a:spcAft>
            </a:pPr>
            <a:r>
              <a:rPr sz="1800" b="1">
                <a:solidFill>
                  <a:srgbClr val="FFFFFF"/>
                </a:solidFill>
                <a:latin typeface="Arial"/>
              </a:rPr>
              <a:t>4</a:t>
            </a:r>
          </a:p>
        </p:txBody>
      </p:sp>
      <p:sp>
        <p:nvSpPr>
          <p:cNvPr id="26" name="TextBox 25"/>
          <p:cNvSpPr txBox="1"/>
          <p:nvPr/>
        </p:nvSpPr>
        <p:spPr>
          <a:xfrm>
            <a:off x="7219188" y="3422904"/>
            <a:ext cx="3973068" cy="1127760"/>
          </a:xfrm>
          <a:prstGeom prst="rect">
            <a:avLst/>
          </a:prstGeom>
          <a:noFill/>
        </p:spPr>
        <p:txBody>
          <a:bodyPr wrap="square" anchor="ctr">
            <a:spAutoFit/>
          </a:bodyPr>
          <a:lstStyle/>
          <a:p>
            <a:pPr algn="l">
              <a:spcAft>
                <a:spcPts val="300"/>
              </a:spcAft>
            </a:pPr>
            <a:r>
              <a:rPr sz="1550" b="1">
                <a:solidFill>
                  <a:srgbClr val="161B26"/>
                </a:solidFill>
                <a:latin typeface="Arial"/>
              </a:rPr>
              <a:t>Resources</a:t>
            </a:r>
          </a:p>
          <a:p>
            <a:pPr algn="l">
              <a:spcAft>
                <a:spcPts val="300"/>
              </a:spcAft>
            </a:pPr>
            <a:r>
              <a:rPr sz="1150" b="0">
                <a:solidFill>
                  <a:srgbClr val="5B6372"/>
                </a:solidFill>
                <a:latin typeface="Arial"/>
              </a:rPr>
              <a:t>The AWS resources to provision (the only required section).</a:t>
            </a:r>
          </a:p>
        </p:txBody>
      </p:sp>
      <p:sp>
        <p:nvSpPr>
          <p:cNvPr id="27" name="Rectangle 26"/>
          <p:cNvSpPr/>
          <p:nvPr/>
        </p:nvSpPr>
        <p:spPr>
          <a:xfrm>
            <a:off x="777240" y="4843272"/>
            <a:ext cx="5180076" cy="131064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Rectangle 27"/>
          <p:cNvSpPr/>
          <p:nvPr/>
        </p:nvSpPr>
        <p:spPr>
          <a:xfrm>
            <a:off x="777240" y="4843272"/>
            <a:ext cx="91440" cy="1310640"/>
          </a:xfrm>
          <a:prstGeom prst="rect">
            <a:avLst/>
          </a:prstGeom>
          <a:solidFill>
            <a:srgbClr val="EC711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Oval 28"/>
          <p:cNvSpPr/>
          <p:nvPr/>
        </p:nvSpPr>
        <p:spPr>
          <a:xfrm>
            <a:off x="1033272" y="5224272"/>
            <a:ext cx="548640" cy="548640"/>
          </a:xfrm>
          <a:prstGeom prst="ellipse">
            <a:avLst/>
          </a:prstGeom>
          <a:solidFill>
            <a:srgbClr val="EC711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1033272" y="5224272"/>
            <a:ext cx="548640" cy="548640"/>
          </a:xfrm>
          <a:prstGeom prst="rect">
            <a:avLst/>
          </a:prstGeom>
          <a:noFill/>
        </p:spPr>
        <p:txBody>
          <a:bodyPr wrap="square" anchor="ctr">
            <a:spAutoFit/>
          </a:bodyPr>
          <a:lstStyle/>
          <a:p>
            <a:pPr algn="ctr">
              <a:spcAft>
                <a:spcPts val="400"/>
              </a:spcAft>
            </a:pPr>
            <a:r>
              <a:rPr sz="1800" b="1">
                <a:solidFill>
                  <a:srgbClr val="FFFFFF"/>
                </a:solidFill>
                <a:latin typeface="Arial"/>
              </a:rPr>
              <a:t>5</a:t>
            </a:r>
          </a:p>
        </p:txBody>
      </p:sp>
      <p:sp>
        <p:nvSpPr>
          <p:cNvPr id="31" name="TextBox 30"/>
          <p:cNvSpPr txBox="1"/>
          <p:nvPr/>
        </p:nvSpPr>
        <p:spPr>
          <a:xfrm>
            <a:off x="1764792" y="4953000"/>
            <a:ext cx="3973068" cy="1127760"/>
          </a:xfrm>
          <a:prstGeom prst="rect">
            <a:avLst/>
          </a:prstGeom>
          <a:noFill/>
        </p:spPr>
        <p:txBody>
          <a:bodyPr wrap="square" anchor="ctr">
            <a:spAutoFit/>
          </a:bodyPr>
          <a:lstStyle/>
          <a:p>
            <a:pPr algn="l">
              <a:spcAft>
                <a:spcPts val="300"/>
              </a:spcAft>
            </a:pPr>
            <a:r>
              <a:rPr sz="1550" b="1">
                <a:solidFill>
                  <a:srgbClr val="161B26"/>
                </a:solidFill>
                <a:latin typeface="Arial"/>
              </a:rPr>
              <a:t>Outputs</a:t>
            </a:r>
          </a:p>
          <a:p>
            <a:pPr algn="l">
              <a:spcAft>
                <a:spcPts val="300"/>
              </a:spcAft>
            </a:pPr>
            <a:r>
              <a:rPr sz="1150" b="0">
                <a:solidFill>
                  <a:srgbClr val="5B6372"/>
                </a:solidFill>
                <a:latin typeface="Arial"/>
              </a:rPr>
              <a:t>Values to export and import into other stacks.</a:t>
            </a:r>
          </a:p>
        </p:txBody>
      </p:sp>
      <p:sp>
        <p:nvSpPr>
          <p:cNvPr id="32" name="Rectangle 31"/>
          <p:cNvSpPr/>
          <p:nvPr/>
        </p:nvSpPr>
        <p:spPr>
          <a:xfrm>
            <a:off x="6231636" y="4843272"/>
            <a:ext cx="5180076" cy="131064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Rectangle 32"/>
          <p:cNvSpPr/>
          <p:nvPr/>
        </p:nvSpPr>
        <p:spPr>
          <a:xfrm>
            <a:off x="6231636" y="4843272"/>
            <a:ext cx="91440" cy="1310640"/>
          </a:xfrm>
          <a:prstGeom prst="rect">
            <a:avLst/>
          </a:prstGeom>
          <a:solidFill>
            <a:srgbClr val="0E9EC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Oval 33"/>
          <p:cNvSpPr/>
          <p:nvPr/>
        </p:nvSpPr>
        <p:spPr>
          <a:xfrm>
            <a:off x="6487668" y="5224272"/>
            <a:ext cx="548640" cy="548640"/>
          </a:xfrm>
          <a:prstGeom prst="ellipse">
            <a:avLst/>
          </a:prstGeom>
          <a:solidFill>
            <a:srgbClr val="0E9EC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TextBox 34"/>
          <p:cNvSpPr txBox="1"/>
          <p:nvPr/>
        </p:nvSpPr>
        <p:spPr>
          <a:xfrm>
            <a:off x="6487668" y="5224272"/>
            <a:ext cx="548640" cy="548640"/>
          </a:xfrm>
          <a:prstGeom prst="rect">
            <a:avLst/>
          </a:prstGeom>
          <a:noFill/>
        </p:spPr>
        <p:txBody>
          <a:bodyPr wrap="square" anchor="ctr">
            <a:spAutoFit/>
          </a:bodyPr>
          <a:lstStyle/>
          <a:p>
            <a:pPr algn="ctr">
              <a:spcAft>
                <a:spcPts val="400"/>
              </a:spcAft>
            </a:pPr>
            <a:r>
              <a:rPr sz="1800" b="1">
                <a:solidFill>
                  <a:srgbClr val="FFFFFF"/>
                </a:solidFill>
                <a:latin typeface="Arial"/>
              </a:rPr>
              <a:t>6</a:t>
            </a:r>
          </a:p>
        </p:txBody>
      </p:sp>
      <p:sp>
        <p:nvSpPr>
          <p:cNvPr id="36" name="TextBox 35"/>
          <p:cNvSpPr txBox="1"/>
          <p:nvPr/>
        </p:nvSpPr>
        <p:spPr>
          <a:xfrm>
            <a:off x="7219188" y="4953000"/>
            <a:ext cx="3973068" cy="1127760"/>
          </a:xfrm>
          <a:prstGeom prst="rect">
            <a:avLst/>
          </a:prstGeom>
          <a:noFill/>
        </p:spPr>
        <p:txBody>
          <a:bodyPr wrap="square" anchor="ctr">
            <a:spAutoFit/>
          </a:bodyPr>
          <a:lstStyle/>
          <a:p>
            <a:pPr algn="l">
              <a:spcAft>
                <a:spcPts val="300"/>
              </a:spcAft>
            </a:pPr>
            <a:r>
              <a:rPr sz="1550" b="1">
                <a:solidFill>
                  <a:srgbClr val="161B26"/>
                </a:solidFill>
                <a:latin typeface="Arial"/>
              </a:rPr>
              <a:t>Metadata</a:t>
            </a:r>
          </a:p>
          <a:p>
            <a:pPr algn="l">
              <a:spcAft>
                <a:spcPts val="300"/>
              </a:spcAft>
            </a:pPr>
            <a:r>
              <a:rPr sz="1150" b="0">
                <a:solidFill>
                  <a:srgbClr val="5B6372"/>
                </a:solidFill>
                <a:latin typeface="Arial"/>
              </a:rPr>
              <a:t>Extra structured information about the template.</a:t>
            </a:r>
          </a:p>
        </p:txBody>
      </p:sp>
      <p:sp>
        <p:nvSpPr>
          <p:cNvPr id="37" name="TextBox 36"/>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DevOps Engineering on AWS  ·  TGS-2023040474</a:t>
            </a:r>
          </a:p>
        </p:txBody>
      </p:sp>
      <p:sp>
        <p:nvSpPr>
          <p:cNvPr id="38" name="TextBox 37"/>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39" name="TextBox 38"/>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73</a:t>
            </a:r>
          </a:p>
        </p:txBody>
      </p:sp>
    </p:spTree>
  </p:cSld>
  <p:clrMapOvr>
    <a:masterClrMapping/>
  </p:clrMapOvr>
  <p:transition xmlns:p14="http://schemas.microsoft.com/office/powerpoint/2010/main" p14:dur="380">
    <p:fade/>
  </p:transition>
</p:sld>
</file>

<file path=ppt/slides/slide7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38912"/>
            <a:ext cx="10607040" cy="365760"/>
          </a:xfrm>
          <a:prstGeom prst="rect">
            <a:avLst/>
          </a:prstGeom>
          <a:noFill/>
        </p:spPr>
        <p:txBody>
          <a:bodyPr wrap="square" anchor="t">
            <a:spAutoFit/>
          </a:bodyPr>
          <a:lstStyle/>
          <a:p>
            <a:pPr algn="l">
              <a:spcAft>
                <a:spcPts val="400"/>
              </a:spcAft>
            </a:pPr>
            <a:r>
              <a:rPr sz="1400" b="1">
                <a:solidFill>
                  <a:srgbClr val="7C3AED"/>
                </a:solidFill>
                <a:latin typeface="Arial"/>
              </a:rPr>
              <a:t>SAFE CHANGE MANAGEMENT</a:t>
            </a:r>
          </a:p>
        </p:txBody>
      </p:sp>
      <p:sp>
        <p:nvSpPr>
          <p:cNvPr id="5" name="TextBox 4"/>
          <p:cNvSpPr txBox="1"/>
          <p:nvPr/>
        </p:nvSpPr>
        <p:spPr>
          <a:xfrm>
            <a:off x="777240" y="804672"/>
            <a:ext cx="10927080" cy="731520"/>
          </a:xfrm>
          <a:prstGeom prst="rect">
            <a:avLst/>
          </a:prstGeom>
          <a:noFill/>
        </p:spPr>
        <p:txBody>
          <a:bodyPr wrap="square" anchor="t">
            <a:spAutoFit/>
          </a:bodyPr>
          <a:lstStyle/>
          <a:p>
            <a:pPr algn="l">
              <a:spcAft>
                <a:spcPts val="400"/>
              </a:spcAft>
            </a:pPr>
            <a:r>
              <a:rPr sz="2900" b="1">
                <a:solidFill>
                  <a:srgbClr val="161B26"/>
                </a:solidFill>
                <a:latin typeface="Arial"/>
              </a:rPr>
              <a:t>The Stack Lifecycle</a:t>
            </a:r>
          </a:p>
        </p:txBody>
      </p:sp>
      <p:sp>
        <p:nvSpPr>
          <p:cNvPr id="6" name="Rectangle 5"/>
          <p:cNvSpPr/>
          <p:nvPr/>
        </p:nvSpPr>
        <p:spPr>
          <a:xfrm>
            <a:off x="777240" y="1572768"/>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2331720"/>
            <a:ext cx="1513332" cy="288036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2331720"/>
            <a:ext cx="1513332" cy="91440"/>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1159002" y="2715768"/>
            <a:ext cx="749808" cy="749808"/>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159002" y="2715768"/>
            <a:ext cx="749808" cy="749808"/>
          </a:xfrm>
          <a:prstGeom prst="rect">
            <a:avLst/>
          </a:prstGeom>
          <a:noFill/>
        </p:spPr>
        <p:txBody>
          <a:bodyPr wrap="square" anchor="ctr">
            <a:spAutoFit/>
          </a:bodyPr>
          <a:lstStyle/>
          <a:p>
            <a:pPr algn="ctr">
              <a:spcAft>
                <a:spcPts val="400"/>
              </a:spcAft>
            </a:pPr>
            <a:r>
              <a:rPr sz="3000" b="1">
                <a:solidFill>
                  <a:srgbClr val="FFFFFF"/>
                </a:solidFill>
                <a:latin typeface="Arial"/>
              </a:rPr>
              <a:t>1</a:t>
            </a:r>
          </a:p>
        </p:txBody>
      </p:sp>
      <p:sp>
        <p:nvSpPr>
          <p:cNvPr id="11" name="TextBox 10"/>
          <p:cNvSpPr txBox="1"/>
          <p:nvPr/>
        </p:nvSpPr>
        <p:spPr>
          <a:xfrm>
            <a:off x="923544" y="3749040"/>
            <a:ext cx="1220724" cy="1325880"/>
          </a:xfrm>
          <a:prstGeom prst="rect">
            <a:avLst/>
          </a:prstGeom>
          <a:noFill/>
        </p:spPr>
        <p:txBody>
          <a:bodyPr wrap="square" anchor="t">
            <a:spAutoFit/>
          </a:bodyPr>
          <a:lstStyle/>
          <a:p>
            <a:pPr algn="ctr">
              <a:spcAft>
                <a:spcPts val="400"/>
              </a:spcAft>
            </a:pPr>
            <a:r>
              <a:rPr sz="1300" b="0">
                <a:solidFill>
                  <a:srgbClr val="161B26"/>
                </a:solidFill>
                <a:latin typeface="Arial"/>
              </a:rPr>
              <a:t>Author
template</a:t>
            </a:r>
          </a:p>
        </p:txBody>
      </p:sp>
      <p:sp>
        <p:nvSpPr>
          <p:cNvPr id="12" name="TextBox 11"/>
          <p:cNvSpPr txBox="1"/>
          <p:nvPr/>
        </p:nvSpPr>
        <p:spPr>
          <a:xfrm>
            <a:off x="2253996" y="3497580"/>
            <a:ext cx="384048" cy="548640"/>
          </a:xfrm>
          <a:prstGeom prst="rect">
            <a:avLst/>
          </a:prstGeom>
          <a:noFill/>
        </p:spPr>
        <p:txBody>
          <a:bodyPr wrap="square" anchor="ctr">
            <a:spAutoFit/>
          </a:bodyPr>
          <a:lstStyle/>
          <a:p>
            <a:pPr algn="ctr">
              <a:spcAft>
                <a:spcPts val="400"/>
              </a:spcAft>
            </a:pPr>
            <a:r>
              <a:rPr sz="1500" b="1">
                <a:solidFill>
                  <a:srgbClr val="7C3AED"/>
                </a:solidFill>
                <a:latin typeface="Arial"/>
              </a:rPr>
              <a:t>▶</a:t>
            </a:r>
          </a:p>
        </p:txBody>
      </p:sp>
      <p:sp>
        <p:nvSpPr>
          <p:cNvPr id="13" name="Rectangle 12"/>
          <p:cNvSpPr/>
          <p:nvPr/>
        </p:nvSpPr>
        <p:spPr>
          <a:xfrm>
            <a:off x="2601468" y="2331720"/>
            <a:ext cx="1513332" cy="288036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ectangle 13"/>
          <p:cNvSpPr/>
          <p:nvPr/>
        </p:nvSpPr>
        <p:spPr>
          <a:xfrm>
            <a:off x="2601468" y="2331720"/>
            <a:ext cx="1513332" cy="91440"/>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Oval 14"/>
          <p:cNvSpPr/>
          <p:nvPr/>
        </p:nvSpPr>
        <p:spPr>
          <a:xfrm>
            <a:off x="2983230" y="2715768"/>
            <a:ext cx="749808" cy="749808"/>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2983230" y="2715768"/>
            <a:ext cx="749808" cy="749808"/>
          </a:xfrm>
          <a:prstGeom prst="rect">
            <a:avLst/>
          </a:prstGeom>
          <a:noFill/>
        </p:spPr>
        <p:txBody>
          <a:bodyPr wrap="square" anchor="ctr">
            <a:spAutoFit/>
          </a:bodyPr>
          <a:lstStyle/>
          <a:p>
            <a:pPr algn="ctr">
              <a:spcAft>
                <a:spcPts val="400"/>
              </a:spcAft>
            </a:pPr>
            <a:r>
              <a:rPr sz="3000" b="1">
                <a:solidFill>
                  <a:srgbClr val="FFFFFF"/>
                </a:solidFill>
                <a:latin typeface="Arial"/>
              </a:rPr>
              <a:t>2</a:t>
            </a:r>
          </a:p>
        </p:txBody>
      </p:sp>
      <p:sp>
        <p:nvSpPr>
          <p:cNvPr id="17" name="TextBox 16"/>
          <p:cNvSpPr txBox="1"/>
          <p:nvPr/>
        </p:nvSpPr>
        <p:spPr>
          <a:xfrm>
            <a:off x="2747772" y="3749040"/>
            <a:ext cx="1220724" cy="1325880"/>
          </a:xfrm>
          <a:prstGeom prst="rect">
            <a:avLst/>
          </a:prstGeom>
          <a:noFill/>
        </p:spPr>
        <p:txBody>
          <a:bodyPr wrap="square" anchor="t">
            <a:spAutoFit/>
          </a:bodyPr>
          <a:lstStyle/>
          <a:p>
            <a:pPr algn="ctr">
              <a:spcAft>
                <a:spcPts val="400"/>
              </a:spcAft>
            </a:pPr>
            <a:r>
              <a:rPr sz="1300" b="0">
                <a:solidFill>
                  <a:srgbClr val="161B26"/>
                </a:solidFill>
                <a:latin typeface="Arial"/>
              </a:rPr>
              <a:t>Validate
&amp; lint</a:t>
            </a:r>
          </a:p>
        </p:txBody>
      </p:sp>
      <p:sp>
        <p:nvSpPr>
          <p:cNvPr id="18" name="TextBox 17"/>
          <p:cNvSpPr txBox="1"/>
          <p:nvPr/>
        </p:nvSpPr>
        <p:spPr>
          <a:xfrm>
            <a:off x="4078224" y="3497580"/>
            <a:ext cx="384048" cy="548640"/>
          </a:xfrm>
          <a:prstGeom prst="rect">
            <a:avLst/>
          </a:prstGeom>
          <a:noFill/>
        </p:spPr>
        <p:txBody>
          <a:bodyPr wrap="square" anchor="ctr">
            <a:spAutoFit/>
          </a:bodyPr>
          <a:lstStyle/>
          <a:p>
            <a:pPr algn="ctr">
              <a:spcAft>
                <a:spcPts val="400"/>
              </a:spcAft>
            </a:pPr>
            <a:r>
              <a:rPr sz="1500" b="1">
                <a:solidFill>
                  <a:srgbClr val="7C3AED"/>
                </a:solidFill>
                <a:latin typeface="Arial"/>
              </a:rPr>
              <a:t>▶</a:t>
            </a:r>
          </a:p>
        </p:txBody>
      </p:sp>
      <p:sp>
        <p:nvSpPr>
          <p:cNvPr id="19" name="Rectangle 18"/>
          <p:cNvSpPr/>
          <p:nvPr/>
        </p:nvSpPr>
        <p:spPr>
          <a:xfrm>
            <a:off x="4425696" y="2331720"/>
            <a:ext cx="1513332" cy="288036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Rectangle 19"/>
          <p:cNvSpPr/>
          <p:nvPr/>
        </p:nvSpPr>
        <p:spPr>
          <a:xfrm>
            <a:off x="4425696" y="2331720"/>
            <a:ext cx="1513332" cy="91440"/>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Oval 20"/>
          <p:cNvSpPr/>
          <p:nvPr/>
        </p:nvSpPr>
        <p:spPr>
          <a:xfrm>
            <a:off x="4807458" y="2715768"/>
            <a:ext cx="749808" cy="749808"/>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4807458" y="2715768"/>
            <a:ext cx="749808" cy="749808"/>
          </a:xfrm>
          <a:prstGeom prst="rect">
            <a:avLst/>
          </a:prstGeom>
          <a:noFill/>
        </p:spPr>
        <p:txBody>
          <a:bodyPr wrap="square" anchor="ctr">
            <a:spAutoFit/>
          </a:bodyPr>
          <a:lstStyle/>
          <a:p>
            <a:pPr algn="ctr">
              <a:spcAft>
                <a:spcPts val="400"/>
              </a:spcAft>
            </a:pPr>
            <a:r>
              <a:rPr sz="3000" b="1">
                <a:solidFill>
                  <a:srgbClr val="FFFFFF"/>
                </a:solidFill>
                <a:latin typeface="Arial"/>
              </a:rPr>
              <a:t>3</a:t>
            </a:r>
          </a:p>
        </p:txBody>
      </p:sp>
      <p:sp>
        <p:nvSpPr>
          <p:cNvPr id="23" name="TextBox 22"/>
          <p:cNvSpPr txBox="1"/>
          <p:nvPr/>
        </p:nvSpPr>
        <p:spPr>
          <a:xfrm>
            <a:off x="4572000" y="3749040"/>
            <a:ext cx="1220724" cy="1325880"/>
          </a:xfrm>
          <a:prstGeom prst="rect">
            <a:avLst/>
          </a:prstGeom>
          <a:noFill/>
        </p:spPr>
        <p:txBody>
          <a:bodyPr wrap="square" anchor="t">
            <a:spAutoFit/>
          </a:bodyPr>
          <a:lstStyle/>
          <a:p>
            <a:pPr algn="ctr">
              <a:spcAft>
                <a:spcPts val="400"/>
              </a:spcAft>
            </a:pPr>
            <a:r>
              <a:rPr sz="1300" b="0">
                <a:solidFill>
                  <a:srgbClr val="161B26"/>
                </a:solidFill>
                <a:latin typeface="Arial"/>
              </a:rPr>
              <a:t>Create Set /
Change Set</a:t>
            </a:r>
          </a:p>
        </p:txBody>
      </p:sp>
      <p:sp>
        <p:nvSpPr>
          <p:cNvPr id="24" name="TextBox 23"/>
          <p:cNvSpPr txBox="1"/>
          <p:nvPr/>
        </p:nvSpPr>
        <p:spPr>
          <a:xfrm>
            <a:off x="5902452" y="3497580"/>
            <a:ext cx="384048" cy="548640"/>
          </a:xfrm>
          <a:prstGeom prst="rect">
            <a:avLst/>
          </a:prstGeom>
          <a:noFill/>
        </p:spPr>
        <p:txBody>
          <a:bodyPr wrap="square" anchor="ctr">
            <a:spAutoFit/>
          </a:bodyPr>
          <a:lstStyle/>
          <a:p>
            <a:pPr algn="ctr">
              <a:spcAft>
                <a:spcPts val="400"/>
              </a:spcAft>
            </a:pPr>
            <a:r>
              <a:rPr sz="1500" b="1">
                <a:solidFill>
                  <a:srgbClr val="7C3AED"/>
                </a:solidFill>
                <a:latin typeface="Arial"/>
              </a:rPr>
              <a:t>▶</a:t>
            </a:r>
          </a:p>
        </p:txBody>
      </p:sp>
      <p:sp>
        <p:nvSpPr>
          <p:cNvPr id="25" name="Rectangle 24"/>
          <p:cNvSpPr/>
          <p:nvPr/>
        </p:nvSpPr>
        <p:spPr>
          <a:xfrm>
            <a:off x="6249924" y="2331720"/>
            <a:ext cx="1513332" cy="288036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Rectangle 25"/>
          <p:cNvSpPr/>
          <p:nvPr/>
        </p:nvSpPr>
        <p:spPr>
          <a:xfrm>
            <a:off x="6249924" y="2331720"/>
            <a:ext cx="1513332" cy="91440"/>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Oval 26"/>
          <p:cNvSpPr/>
          <p:nvPr/>
        </p:nvSpPr>
        <p:spPr>
          <a:xfrm>
            <a:off x="6631686" y="2715768"/>
            <a:ext cx="749808" cy="749808"/>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6631686" y="2715768"/>
            <a:ext cx="749808" cy="749808"/>
          </a:xfrm>
          <a:prstGeom prst="rect">
            <a:avLst/>
          </a:prstGeom>
          <a:noFill/>
        </p:spPr>
        <p:txBody>
          <a:bodyPr wrap="square" anchor="ctr">
            <a:spAutoFit/>
          </a:bodyPr>
          <a:lstStyle/>
          <a:p>
            <a:pPr algn="ctr">
              <a:spcAft>
                <a:spcPts val="400"/>
              </a:spcAft>
            </a:pPr>
            <a:r>
              <a:rPr sz="3000" b="1">
                <a:solidFill>
                  <a:srgbClr val="FFFFFF"/>
                </a:solidFill>
                <a:latin typeface="Arial"/>
              </a:rPr>
              <a:t>4</a:t>
            </a:r>
          </a:p>
        </p:txBody>
      </p:sp>
      <p:sp>
        <p:nvSpPr>
          <p:cNvPr id="29" name="TextBox 28"/>
          <p:cNvSpPr txBox="1"/>
          <p:nvPr/>
        </p:nvSpPr>
        <p:spPr>
          <a:xfrm>
            <a:off x="6396228" y="3749040"/>
            <a:ext cx="1220724" cy="1325880"/>
          </a:xfrm>
          <a:prstGeom prst="rect">
            <a:avLst/>
          </a:prstGeom>
          <a:noFill/>
        </p:spPr>
        <p:txBody>
          <a:bodyPr wrap="square" anchor="t">
            <a:spAutoFit/>
          </a:bodyPr>
          <a:lstStyle/>
          <a:p>
            <a:pPr algn="ctr">
              <a:spcAft>
                <a:spcPts val="400"/>
              </a:spcAft>
            </a:pPr>
            <a:r>
              <a:rPr sz="1300" b="0">
                <a:solidFill>
                  <a:srgbClr val="161B26"/>
                </a:solidFill>
                <a:latin typeface="Arial"/>
              </a:rPr>
              <a:t>Execute
provision</a:t>
            </a:r>
          </a:p>
        </p:txBody>
      </p:sp>
      <p:sp>
        <p:nvSpPr>
          <p:cNvPr id="30" name="TextBox 29"/>
          <p:cNvSpPr txBox="1"/>
          <p:nvPr/>
        </p:nvSpPr>
        <p:spPr>
          <a:xfrm>
            <a:off x="7726680" y="3497580"/>
            <a:ext cx="384048" cy="548640"/>
          </a:xfrm>
          <a:prstGeom prst="rect">
            <a:avLst/>
          </a:prstGeom>
          <a:noFill/>
        </p:spPr>
        <p:txBody>
          <a:bodyPr wrap="square" anchor="ctr">
            <a:spAutoFit/>
          </a:bodyPr>
          <a:lstStyle/>
          <a:p>
            <a:pPr algn="ctr">
              <a:spcAft>
                <a:spcPts val="400"/>
              </a:spcAft>
            </a:pPr>
            <a:r>
              <a:rPr sz="1500" b="1">
                <a:solidFill>
                  <a:srgbClr val="7C3AED"/>
                </a:solidFill>
                <a:latin typeface="Arial"/>
              </a:rPr>
              <a:t>▶</a:t>
            </a:r>
          </a:p>
        </p:txBody>
      </p:sp>
      <p:sp>
        <p:nvSpPr>
          <p:cNvPr id="31" name="Rectangle 30"/>
          <p:cNvSpPr/>
          <p:nvPr/>
        </p:nvSpPr>
        <p:spPr>
          <a:xfrm>
            <a:off x="8074152" y="2331720"/>
            <a:ext cx="1513332" cy="288036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Rectangle 31"/>
          <p:cNvSpPr/>
          <p:nvPr/>
        </p:nvSpPr>
        <p:spPr>
          <a:xfrm>
            <a:off x="8074152" y="2331720"/>
            <a:ext cx="1513332" cy="91440"/>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Oval 32"/>
          <p:cNvSpPr/>
          <p:nvPr/>
        </p:nvSpPr>
        <p:spPr>
          <a:xfrm>
            <a:off x="8455914" y="2715768"/>
            <a:ext cx="749808" cy="749808"/>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TextBox 33"/>
          <p:cNvSpPr txBox="1"/>
          <p:nvPr/>
        </p:nvSpPr>
        <p:spPr>
          <a:xfrm>
            <a:off x="8455914" y="2715768"/>
            <a:ext cx="749808" cy="749808"/>
          </a:xfrm>
          <a:prstGeom prst="rect">
            <a:avLst/>
          </a:prstGeom>
          <a:noFill/>
        </p:spPr>
        <p:txBody>
          <a:bodyPr wrap="square" anchor="ctr">
            <a:spAutoFit/>
          </a:bodyPr>
          <a:lstStyle/>
          <a:p>
            <a:pPr algn="ctr">
              <a:spcAft>
                <a:spcPts val="400"/>
              </a:spcAft>
            </a:pPr>
            <a:r>
              <a:rPr sz="3000" b="1">
                <a:solidFill>
                  <a:srgbClr val="FFFFFF"/>
                </a:solidFill>
                <a:latin typeface="Arial"/>
              </a:rPr>
              <a:t>5</a:t>
            </a:r>
          </a:p>
        </p:txBody>
      </p:sp>
      <p:sp>
        <p:nvSpPr>
          <p:cNvPr id="35" name="TextBox 34"/>
          <p:cNvSpPr txBox="1"/>
          <p:nvPr/>
        </p:nvSpPr>
        <p:spPr>
          <a:xfrm>
            <a:off x="8220456" y="3749040"/>
            <a:ext cx="1220724" cy="1325880"/>
          </a:xfrm>
          <a:prstGeom prst="rect">
            <a:avLst/>
          </a:prstGeom>
          <a:noFill/>
        </p:spPr>
        <p:txBody>
          <a:bodyPr wrap="square" anchor="t">
            <a:spAutoFit/>
          </a:bodyPr>
          <a:lstStyle/>
          <a:p>
            <a:pPr algn="ctr">
              <a:spcAft>
                <a:spcPts val="400"/>
              </a:spcAft>
            </a:pPr>
            <a:r>
              <a:rPr sz="1300" b="0">
                <a:solidFill>
                  <a:srgbClr val="161B26"/>
                </a:solidFill>
                <a:latin typeface="Arial"/>
              </a:rPr>
              <a:t>Detect Drift
audit</a:t>
            </a:r>
          </a:p>
        </p:txBody>
      </p:sp>
      <p:sp>
        <p:nvSpPr>
          <p:cNvPr id="36" name="TextBox 35"/>
          <p:cNvSpPr txBox="1"/>
          <p:nvPr/>
        </p:nvSpPr>
        <p:spPr>
          <a:xfrm>
            <a:off x="9550908" y="3497580"/>
            <a:ext cx="384048" cy="548640"/>
          </a:xfrm>
          <a:prstGeom prst="rect">
            <a:avLst/>
          </a:prstGeom>
          <a:noFill/>
        </p:spPr>
        <p:txBody>
          <a:bodyPr wrap="square" anchor="ctr">
            <a:spAutoFit/>
          </a:bodyPr>
          <a:lstStyle/>
          <a:p>
            <a:pPr algn="ctr">
              <a:spcAft>
                <a:spcPts val="400"/>
              </a:spcAft>
            </a:pPr>
            <a:r>
              <a:rPr sz="1500" b="1">
                <a:solidFill>
                  <a:srgbClr val="7C3AED"/>
                </a:solidFill>
                <a:latin typeface="Arial"/>
              </a:rPr>
              <a:t>▶</a:t>
            </a:r>
          </a:p>
        </p:txBody>
      </p:sp>
      <p:sp>
        <p:nvSpPr>
          <p:cNvPr id="37" name="Rectangle 36"/>
          <p:cNvSpPr/>
          <p:nvPr/>
        </p:nvSpPr>
        <p:spPr>
          <a:xfrm>
            <a:off x="9898380" y="2331720"/>
            <a:ext cx="1513332" cy="288036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8" name="Rectangle 37"/>
          <p:cNvSpPr/>
          <p:nvPr/>
        </p:nvSpPr>
        <p:spPr>
          <a:xfrm>
            <a:off x="9898380" y="2331720"/>
            <a:ext cx="1513332" cy="91440"/>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9" name="Oval 38"/>
          <p:cNvSpPr/>
          <p:nvPr/>
        </p:nvSpPr>
        <p:spPr>
          <a:xfrm>
            <a:off x="10280142" y="2715768"/>
            <a:ext cx="749808" cy="749808"/>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0" name="TextBox 39"/>
          <p:cNvSpPr txBox="1"/>
          <p:nvPr/>
        </p:nvSpPr>
        <p:spPr>
          <a:xfrm>
            <a:off x="10280142" y="2715768"/>
            <a:ext cx="749808" cy="749808"/>
          </a:xfrm>
          <a:prstGeom prst="rect">
            <a:avLst/>
          </a:prstGeom>
          <a:noFill/>
        </p:spPr>
        <p:txBody>
          <a:bodyPr wrap="square" anchor="ctr">
            <a:spAutoFit/>
          </a:bodyPr>
          <a:lstStyle/>
          <a:p>
            <a:pPr algn="ctr">
              <a:spcAft>
                <a:spcPts val="400"/>
              </a:spcAft>
            </a:pPr>
            <a:r>
              <a:rPr sz="3000" b="1">
                <a:solidFill>
                  <a:srgbClr val="FFFFFF"/>
                </a:solidFill>
                <a:latin typeface="Arial"/>
              </a:rPr>
              <a:t>6</a:t>
            </a:r>
          </a:p>
        </p:txBody>
      </p:sp>
      <p:sp>
        <p:nvSpPr>
          <p:cNvPr id="41" name="TextBox 40"/>
          <p:cNvSpPr txBox="1"/>
          <p:nvPr/>
        </p:nvSpPr>
        <p:spPr>
          <a:xfrm>
            <a:off x="10044684" y="3749040"/>
            <a:ext cx="1220724" cy="1325880"/>
          </a:xfrm>
          <a:prstGeom prst="rect">
            <a:avLst/>
          </a:prstGeom>
          <a:noFill/>
        </p:spPr>
        <p:txBody>
          <a:bodyPr wrap="square" anchor="t">
            <a:spAutoFit/>
          </a:bodyPr>
          <a:lstStyle/>
          <a:p>
            <a:pPr algn="ctr">
              <a:spcAft>
                <a:spcPts val="400"/>
              </a:spcAft>
            </a:pPr>
            <a:r>
              <a:rPr sz="1300" b="0">
                <a:solidFill>
                  <a:srgbClr val="161B26"/>
                </a:solidFill>
                <a:latin typeface="Arial"/>
              </a:rPr>
              <a:t>Update or
Delete</a:t>
            </a:r>
          </a:p>
        </p:txBody>
      </p:sp>
      <p:sp>
        <p:nvSpPr>
          <p:cNvPr id="42" name="TextBox 41"/>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DevOps Engineering on AWS  ·  TGS-2023040474</a:t>
            </a:r>
          </a:p>
        </p:txBody>
      </p:sp>
      <p:sp>
        <p:nvSpPr>
          <p:cNvPr id="43" name="TextBox 42"/>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44" name="TextBox 43"/>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74</a:t>
            </a:r>
          </a:p>
        </p:txBody>
      </p:sp>
    </p:spTree>
  </p:cSld>
  <p:clrMapOvr>
    <a:masterClrMapping/>
  </p:clrMapOvr>
  <p:transition xmlns:p14="http://schemas.microsoft.com/office/powerpoint/2010/main" p14:dur="380">
    <p:fade/>
  </p:transition>
</p:sld>
</file>

<file path=ppt/slides/slide7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38912"/>
            <a:ext cx="10607040" cy="365760"/>
          </a:xfrm>
          <a:prstGeom prst="rect">
            <a:avLst/>
          </a:prstGeom>
          <a:noFill/>
        </p:spPr>
        <p:txBody>
          <a:bodyPr wrap="square" anchor="t">
            <a:spAutoFit/>
          </a:bodyPr>
          <a:lstStyle/>
          <a:p>
            <a:pPr algn="l">
              <a:spcAft>
                <a:spcPts val="400"/>
              </a:spcAft>
            </a:pPr>
            <a:r>
              <a:rPr sz="1400" b="1">
                <a:solidFill>
                  <a:srgbClr val="7C3AED"/>
                </a:solidFill>
                <a:latin typeface="Arial"/>
              </a:rPr>
              <a:t>CONFIG &amp; SECRETS</a:t>
            </a:r>
          </a:p>
        </p:txBody>
      </p:sp>
      <p:sp>
        <p:nvSpPr>
          <p:cNvPr id="5" name="TextBox 4"/>
          <p:cNvSpPr txBox="1"/>
          <p:nvPr/>
        </p:nvSpPr>
        <p:spPr>
          <a:xfrm>
            <a:off x="777240" y="804672"/>
            <a:ext cx="10927080" cy="731520"/>
          </a:xfrm>
          <a:prstGeom prst="rect">
            <a:avLst/>
          </a:prstGeom>
          <a:noFill/>
        </p:spPr>
        <p:txBody>
          <a:bodyPr wrap="square" anchor="t">
            <a:spAutoFit/>
          </a:bodyPr>
          <a:lstStyle/>
          <a:p>
            <a:pPr algn="l">
              <a:spcAft>
                <a:spcPts val="400"/>
              </a:spcAft>
            </a:pPr>
            <a:r>
              <a:rPr sz="2900" b="1">
                <a:solidFill>
                  <a:srgbClr val="161B26"/>
                </a:solidFill>
                <a:latin typeface="Arial"/>
              </a:rPr>
              <a:t>Parameter Store vs Secrets Manager</a:t>
            </a:r>
          </a:p>
        </p:txBody>
      </p:sp>
      <p:sp>
        <p:nvSpPr>
          <p:cNvPr id="6" name="Rectangle 5"/>
          <p:cNvSpPr/>
          <p:nvPr/>
        </p:nvSpPr>
        <p:spPr>
          <a:xfrm>
            <a:off x="777240" y="1572768"/>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783080"/>
            <a:ext cx="2552273" cy="502920"/>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886968" y="1783080"/>
            <a:ext cx="2369393" cy="502920"/>
          </a:xfrm>
          <a:prstGeom prst="rect">
            <a:avLst/>
          </a:prstGeom>
          <a:noFill/>
        </p:spPr>
        <p:txBody>
          <a:bodyPr wrap="square" anchor="ctr">
            <a:spAutoFit/>
          </a:bodyPr>
          <a:lstStyle/>
          <a:p>
            <a:pPr algn="l">
              <a:spcAft>
                <a:spcPts val="400"/>
              </a:spcAft>
            </a:pPr>
            <a:r>
              <a:rPr sz="1400" b="1">
                <a:solidFill>
                  <a:srgbClr val="FFFFFF"/>
                </a:solidFill>
                <a:latin typeface="Arial"/>
              </a:rPr>
              <a:t>Store</a:t>
            </a:r>
          </a:p>
        </p:txBody>
      </p:sp>
      <p:sp>
        <p:nvSpPr>
          <p:cNvPr id="9" name="Rectangle 8"/>
          <p:cNvSpPr/>
          <p:nvPr/>
        </p:nvSpPr>
        <p:spPr>
          <a:xfrm>
            <a:off x="3329513" y="1783080"/>
            <a:ext cx="4253788" cy="502920"/>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3439241" y="1783080"/>
            <a:ext cx="4070908" cy="502920"/>
          </a:xfrm>
          <a:prstGeom prst="rect">
            <a:avLst/>
          </a:prstGeom>
          <a:noFill/>
        </p:spPr>
        <p:txBody>
          <a:bodyPr wrap="square" anchor="ctr">
            <a:spAutoFit/>
          </a:bodyPr>
          <a:lstStyle/>
          <a:p>
            <a:pPr algn="ctr">
              <a:spcAft>
                <a:spcPts val="400"/>
              </a:spcAft>
            </a:pPr>
            <a:r>
              <a:rPr sz="1400" b="1">
                <a:solidFill>
                  <a:srgbClr val="FFFFFF"/>
                </a:solidFill>
                <a:latin typeface="Arial"/>
              </a:rPr>
              <a:t>Best for</a:t>
            </a:r>
          </a:p>
        </p:txBody>
      </p:sp>
      <p:sp>
        <p:nvSpPr>
          <p:cNvPr id="11" name="Rectangle 10"/>
          <p:cNvSpPr/>
          <p:nvPr/>
        </p:nvSpPr>
        <p:spPr>
          <a:xfrm>
            <a:off x="7583301" y="1783080"/>
            <a:ext cx="1914204" cy="502920"/>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7693029" y="1783080"/>
            <a:ext cx="1731324" cy="502920"/>
          </a:xfrm>
          <a:prstGeom prst="rect">
            <a:avLst/>
          </a:prstGeom>
          <a:noFill/>
        </p:spPr>
        <p:txBody>
          <a:bodyPr wrap="square" anchor="ctr">
            <a:spAutoFit/>
          </a:bodyPr>
          <a:lstStyle/>
          <a:p>
            <a:pPr algn="ctr">
              <a:spcAft>
                <a:spcPts val="400"/>
              </a:spcAft>
            </a:pPr>
            <a:r>
              <a:rPr sz="1400" b="1">
                <a:solidFill>
                  <a:srgbClr val="FFFFFF"/>
                </a:solidFill>
                <a:latin typeface="Arial"/>
              </a:rPr>
              <a:t>Rotation</a:t>
            </a:r>
          </a:p>
        </p:txBody>
      </p:sp>
      <p:sp>
        <p:nvSpPr>
          <p:cNvPr id="13" name="Rectangle 12"/>
          <p:cNvSpPr/>
          <p:nvPr/>
        </p:nvSpPr>
        <p:spPr>
          <a:xfrm>
            <a:off x="9497505" y="1783080"/>
            <a:ext cx="1914204" cy="502920"/>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9607233" y="1783080"/>
            <a:ext cx="1731324" cy="502920"/>
          </a:xfrm>
          <a:prstGeom prst="rect">
            <a:avLst/>
          </a:prstGeom>
          <a:noFill/>
        </p:spPr>
        <p:txBody>
          <a:bodyPr wrap="square" anchor="ctr">
            <a:spAutoFit/>
          </a:bodyPr>
          <a:lstStyle/>
          <a:p>
            <a:pPr algn="ctr">
              <a:spcAft>
                <a:spcPts val="400"/>
              </a:spcAft>
            </a:pPr>
            <a:r>
              <a:rPr sz="1400" b="1">
                <a:solidFill>
                  <a:srgbClr val="FFFFFF"/>
                </a:solidFill>
                <a:latin typeface="Arial"/>
              </a:rPr>
              <a:t>Cost</a:t>
            </a:r>
          </a:p>
        </p:txBody>
      </p:sp>
      <p:sp>
        <p:nvSpPr>
          <p:cNvPr id="15" name="Rectangle 14"/>
          <p:cNvSpPr/>
          <p:nvPr/>
        </p:nvSpPr>
        <p:spPr>
          <a:xfrm>
            <a:off x="777240" y="2286000"/>
            <a:ext cx="2552273" cy="822960"/>
          </a:xfrm>
          <a:prstGeom prst="rect">
            <a:avLst/>
          </a:prstGeom>
          <a:solidFill>
            <a:srgbClr val="F5F8FC"/>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886968" y="2286000"/>
            <a:ext cx="2369393" cy="822960"/>
          </a:xfrm>
          <a:prstGeom prst="rect">
            <a:avLst/>
          </a:prstGeom>
          <a:noFill/>
        </p:spPr>
        <p:txBody>
          <a:bodyPr wrap="square" anchor="ctr">
            <a:spAutoFit/>
          </a:bodyPr>
          <a:lstStyle/>
          <a:p>
            <a:pPr algn="l">
              <a:spcAft>
                <a:spcPts val="400"/>
              </a:spcAft>
            </a:pPr>
            <a:r>
              <a:rPr sz="1250" b="1">
                <a:solidFill>
                  <a:srgbClr val="161B26"/>
                </a:solidFill>
                <a:latin typeface="Arial"/>
              </a:rPr>
              <a:t>SSM Parameter Store</a:t>
            </a:r>
          </a:p>
        </p:txBody>
      </p:sp>
      <p:sp>
        <p:nvSpPr>
          <p:cNvPr id="17" name="Rectangle 16"/>
          <p:cNvSpPr/>
          <p:nvPr/>
        </p:nvSpPr>
        <p:spPr>
          <a:xfrm>
            <a:off x="3329513" y="2286000"/>
            <a:ext cx="4253788" cy="822960"/>
          </a:xfrm>
          <a:prstGeom prst="rect">
            <a:avLst/>
          </a:prstGeom>
          <a:solidFill>
            <a:srgbClr val="F5F8FC"/>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3439241" y="2286000"/>
            <a:ext cx="4070908" cy="822960"/>
          </a:xfrm>
          <a:prstGeom prst="rect">
            <a:avLst/>
          </a:prstGeom>
          <a:noFill/>
        </p:spPr>
        <p:txBody>
          <a:bodyPr wrap="square" anchor="ctr">
            <a:spAutoFit/>
          </a:bodyPr>
          <a:lstStyle/>
          <a:p>
            <a:pPr algn="ctr">
              <a:spcAft>
                <a:spcPts val="400"/>
              </a:spcAft>
            </a:pPr>
            <a:r>
              <a:rPr sz="1250" b="0">
                <a:solidFill>
                  <a:srgbClr val="5B6372"/>
                </a:solidFill>
                <a:latin typeface="Arial"/>
              </a:rPr>
              <a:t>Config values &amp; non-secret parameters</a:t>
            </a:r>
          </a:p>
        </p:txBody>
      </p:sp>
      <p:sp>
        <p:nvSpPr>
          <p:cNvPr id="19" name="Rectangle 18"/>
          <p:cNvSpPr/>
          <p:nvPr/>
        </p:nvSpPr>
        <p:spPr>
          <a:xfrm>
            <a:off x="7583301" y="2286000"/>
            <a:ext cx="1914204" cy="822960"/>
          </a:xfrm>
          <a:prstGeom prst="rect">
            <a:avLst/>
          </a:prstGeom>
          <a:solidFill>
            <a:srgbClr val="F5F8FC"/>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7693029" y="2286000"/>
            <a:ext cx="1731324" cy="822960"/>
          </a:xfrm>
          <a:prstGeom prst="rect">
            <a:avLst/>
          </a:prstGeom>
          <a:noFill/>
        </p:spPr>
        <p:txBody>
          <a:bodyPr wrap="square" anchor="ctr">
            <a:spAutoFit/>
          </a:bodyPr>
          <a:lstStyle/>
          <a:p>
            <a:pPr algn="ctr">
              <a:spcAft>
                <a:spcPts val="400"/>
              </a:spcAft>
            </a:pPr>
            <a:r>
              <a:rPr sz="1250" b="0">
                <a:solidFill>
                  <a:srgbClr val="5B6372"/>
                </a:solidFill>
                <a:latin typeface="Arial"/>
              </a:rPr>
              <a:t>Manual</a:t>
            </a:r>
          </a:p>
        </p:txBody>
      </p:sp>
      <p:sp>
        <p:nvSpPr>
          <p:cNvPr id="21" name="Rectangle 20"/>
          <p:cNvSpPr/>
          <p:nvPr/>
        </p:nvSpPr>
        <p:spPr>
          <a:xfrm>
            <a:off x="9497505" y="2286000"/>
            <a:ext cx="1914204" cy="822960"/>
          </a:xfrm>
          <a:prstGeom prst="rect">
            <a:avLst/>
          </a:prstGeom>
          <a:solidFill>
            <a:srgbClr val="F5F8FC"/>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9607233" y="2286000"/>
            <a:ext cx="1731324" cy="822960"/>
          </a:xfrm>
          <a:prstGeom prst="rect">
            <a:avLst/>
          </a:prstGeom>
          <a:noFill/>
        </p:spPr>
        <p:txBody>
          <a:bodyPr wrap="square" anchor="ctr">
            <a:spAutoFit/>
          </a:bodyPr>
          <a:lstStyle/>
          <a:p>
            <a:pPr algn="ctr">
              <a:spcAft>
                <a:spcPts val="400"/>
              </a:spcAft>
            </a:pPr>
            <a:r>
              <a:rPr sz="1250" b="0">
                <a:solidFill>
                  <a:srgbClr val="5B6372"/>
                </a:solidFill>
                <a:latin typeface="Arial"/>
              </a:rPr>
              <a:t>Free (standard)</a:t>
            </a:r>
          </a:p>
        </p:txBody>
      </p:sp>
      <p:sp>
        <p:nvSpPr>
          <p:cNvPr id="23" name="Rectangle 22"/>
          <p:cNvSpPr/>
          <p:nvPr/>
        </p:nvSpPr>
        <p:spPr>
          <a:xfrm>
            <a:off x="777240" y="3108960"/>
            <a:ext cx="2552273" cy="822960"/>
          </a:xfrm>
          <a:prstGeom prst="rect">
            <a:avLst/>
          </a:prstGeom>
          <a:solidFill>
            <a:srgbClr val="FFFFFF"/>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886968" y="3108960"/>
            <a:ext cx="2369393" cy="822960"/>
          </a:xfrm>
          <a:prstGeom prst="rect">
            <a:avLst/>
          </a:prstGeom>
          <a:noFill/>
        </p:spPr>
        <p:txBody>
          <a:bodyPr wrap="square" anchor="ctr">
            <a:spAutoFit/>
          </a:bodyPr>
          <a:lstStyle/>
          <a:p>
            <a:pPr algn="l">
              <a:spcAft>
                <a:spcPts val="400"/>
              </a:spcAft>
            </a:pPr>
            <a:r>
              <a:rPr sz="1250" b="1">
                <a:solidFill>
                  <a:srgbClr val="161B26"/>
                </a:solidFill>
                <a:latin typeface="Arial"/>
              </a:rPr>
              <a:t>Secrets Manager</a:t>
            </a:r>
          </a:p>
        </p:txBody>
      </p:sp>
      <p:sp>
        <p:nvSpPr>
          <p:cNvPr id="25" name="Rectangle 24"/>
          <p:cNvSpPr/>
          <p:nvPr/>
        </p:nvSpPr>
        <p:spPr>
          <a:xfrm>
            <a:off x="3329513" y="3108960"/>
            <a:ext cx="4253788" cy="822960"/>
          </a:xfrm>
          <a:prstGeom prst="rect">
            <a:avLst/>
          </a:prstGeom>
          <a:solidFill>
            <a:srgbClr val="FFFFFF"/>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3439241" y="3108960"/>
            <a:ext cx="4070908" cy="822960"/>
          </a:xfrm>
          <a:prstGeom prst="rect">
            <a:avLst/>
          </a:prstGeom>
          <a:noFill/>
        </p:spPr>
        <p:txBody>
          <a:bodyPr wrap="square" anchor="ctr">
            <a:spAutoFit/>
          </a:bodyPr>
          <a:lstStyle/>
          <a:p>
            <a:pPr algn="ctr">
              <a:spcAft>
                <a:spcPts val="400"/>
              </a:spcAft>
            </a:pPr>
            <a:r>
              <a:rPr sz="1250" b="0">
                <a:solidFill>
                  <a:srgbClr val="5B6372"/>
                </a:solidFill>
                <a:latin typeface="Arial"/>
              </a:rPr>
              <a:t>Passwords, API keys, DB credentials</a:t>
            </a:r>
          </a:p>
        </p:txBody>
      </p:sp>
      <p:sp>
        <p:nvSpPr>
          <p:cNvPr id="27" name="Rectangle 26"/>
          <p:cNvSpPr/>
          <p:nvPr/>
        </p:nvSpPr>
        <p:spPr>
          <a:xfrm>
            <a:off x="7583301" y="3108960"/>
            <a:ext cx="1914204" cy="822960"/>
          </a:xfrm>
          <a:prstGeom prst="rect">
            <a:avLst/>
          </a:prstGeom>
          <a:solidFill>
            <a:srgbClr val="FFFFFF"/>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7693029" y="3108960"/>
            <a:ext cx="1731324" cy="822960"/>
          </a:xfrm>
          <a:prstGeom prst="rect">
            <a:avLst/>
          </a:prstGeom>
          <a:noFill/>
        </p:spPr>
        <p:txBody>
          <a:bodyPr wrap="square" anchor="ctr">
            <a:spAutoFit/>
          </a:bodyPr>
          <a:lstStyle/>
          <a:p>
            <a:pPr algn="ctr">
              <a:spcAft>
                <a:spcPts val="400"/>
              </a:spcAft>
            </a:pPr>
            <a:r>
              <a:rPr sz="1250" b="0">
                <a:solidFill>
                  <a:srgbClr val="5B6372"/>
                </a:solidFill>
                <a:latin typeface="Arial"/>
              </a:rPr>
              <a:t>Automatic</a:t>
            </a:r>
          </a:p>
        </p:txBody>
      </p:sp>
      <p:sp>
        <p:nvSpPr>
          <p:cNvPr id="29" name="Rectangle 28"/>
          <p:cNvSpPr/>
          <p:nvPr/>
        </p:nvSpPr>
        <p:spPr>
          <a:xfrm>
            <a:off x="9497505" y="3108960"/>
            <a:ext cx="1914204" cy="822960"/>
          </a:xfrm>
          <a:prstGeom prst="rect">
            <a:avLst/>
          </a:prstGeom>
          <a:solidFill>
            <a:srgbClr val="FFFFFF"/>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9607233" y="3108960"/>
            <a:ext cx="1731324" cy="822960"/>
          </a:xfrm>
          <a:prstGeom prst="rect">
            <a:avLst/>
          </a:prstGeom>
          <a:noFill/>
        </p:spPr>
        <p:txBody>
          <a:bodyPr wrap="square" anchor="ctr">
            <a:spAutoFit/>
          </a:bodyPr>
          <a:lstStyle/>
          <a:p>
            <a:pPr algn="ctr">
              <a:spcAft>
                <a:spcPts val="400"/>
              </a:spcAft>
            </a:pPr>
            <a:r>
              <a:rPr sz="1250" b="0">
                <a:solidFill>
                  <a:srgbClr val="5B6372"/>
                </a:solidFill>
                <a:latin typeface="Arial"/>
              </a:rPr>
              <a:t>Per-secret</a:t>
            </a:r>
          </a:p>
        </p:txBody>
      </p:sp>
      <p:sp>
        <p:nvSpPr>
          <p:cNvPr id="31" name="TextBox 30"/>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DevOps Engineering on AWS  ·  TGS-2023040474</a:t>
            </a:r>
          </a:p>
        </p:txBody>
      </p:sp>
      <p:sp>
        <p:nvSpPr>
          <p:cNvPr id="32" name="TextBox 31"/>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33" name="TextBox 32"/>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75</a:t>
            </a:r>
          </a:p>
        </p:txBody>
      </p:sp>
    </p:spTree>
  </p:cSld>
  <p:clrMapOvr>
    <a:masterClrMapping/>
  </p:clrMapOvr>
  <p:transition xmlns:p14="http://schemas.microsoft.com/office/powerpoint/2010/main" p14:dur="380">
    <p:fade/>
  </p:transition>
</p:sld>
</file>

<file path=ppt/slides/slide7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38912"/>
            <a:ext cx="10607040" cy="365760"/>
          </a:xfrm>
          <a:prstGeom prst="rect">
            <a:avLst/>
          </a:prstGeom>
          <a:noFill/>
        </p:spPr>
        <p:txBody>
          <a:bodyPr wrap="square" anchor="t">
            <a:spAutoFit/>
          </a:bodyPr>
          <a:lstStyle/>
          <a:p>
            <a:pPr algn="l">
              <a:spcAft>
                <a:spcPts val="400"/>
              </a:spcAft>
            </a:pPr>
            <a:r>
              <a:rPr sz="1400" b="1">
                <a:solidFill>
                  <a:srgbClr val="7C3AED"/>
                </a:solidFill>
                <a:latin typeface="Arial"/>
              </a:rPr>
              <a:t>IN DEPTH</a:t>
            </a:r>
          </a:p>
        </p:txBody>
      </p:sp>
      <p:sp>
        <p:nvSpPr>
          <p:cNvPr id="5" name="TextBox 4"/>
          <p:cNvSpPr txBox="1"/>
          <p:nvPr/>
        </p:nvSpPr>
        <p:spPr>
          <a:xfrm>
            <a:off x="777240" y="896112"/>
            <a:ext cx="10927080" cy="731520"/>
          </a:xfrm>
          <a:prstGeom prst="rect">
            <a:avLst/>
          </a:prstGeom>
          <a:noFill/>
        </p:spPr>
        <p:txBody>
          <a:bodyPr wrap="square" anchor="t">
            <a:spAutoFit/>
          </a:bodyPr>
          <a:lstStyle/>
          <a:p>
            <a:pPr algn="l">
              <a:spcAft>
                <a:spcPts val="400"/>
              </a:spcAft>
            </a:pPr>
            <a:r>
              <a:rPr sz="2500" b="1">
                <a:solidFill>
                  <a:srgbClr val="161B26"/>
                </a:solidFill>
                <a:latin typeface="Arial"/>
              </a:rPr>
              <a:t>Infrastructure as Code — declarative desired state</a:t>
            </a:r>
          </a:p>
        </p:txBody>
      </p:sp>
      <p:sp>
        <p:nvSpPr>
          <p:cNvPr id="6" name="Rectangle 5"/>
          <p:cNvSpPr/>
          <p:nvPr/>
        </p:nvSpPr>
        <p:spPr>
          <a:xfrm>
            <a:off x="777240" y="1572768"/>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783080"/>
            <a:ext cx="5212080" cy="425196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1783080"/>
            <a:ext cx="5212080" cy="91440"/>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1005840" y="1938528"/>
            <a:ext cx="4754880" cy="365760"/>
          </a:xfrm>
          <a:prstGeom prst="rect">
            <a:avLst/>
          </a:prstGeom>
          <a:noFill/>
        </p:spPr>
        <p:txBody>
          <a:bodyPr wrap="square" anchor="t">
            <a:spAutoFit/>
          </a:bodyPr>
          <a:lstStyle/>
          <a:p>
            <a:pPr algn="l">
              <a:spcAft>
                <a:spcPts val="400"/>
              </a:spcAft>
            </a:pPr>
            <a:r>
              <a:rPr sz="1200" b="1">
                <a:solidFill>
                  <a:srgbClr val="7C3AED"/>
                </a:solidFill>
                <a:latin typeface="Arial"/>
              </a:rPr>
              <a:t>IN DEPTH</a:t>
            </a:r>
          </a:p>
        </p:txBody>
      </p:sp>
      <p:sp>
        <p:nvSpPr>
          <p:cNvPr id="10" name="TextBox 9"/>
          <p:cNvSpPr txBox="1"/>
          <p:nvPr/>
        </p:nvSpPr>
        <p:spPr>
          <a:xfrm>
            <a:off x="1005840" y="2377440"/>
            <a:ext cx="4754880" cy="3566160"/>
          </a:xfrm>
          <a:prstGeom prst="rect">
            <a:avLst/>
          </a:prstGeom>
          <a:noFill/>
        </p:spPr>
        <p:txBody>
          <a:bodyPr wrap="square">
            <a:spAutoFit/>
          </a:bodyPr>
          <a:lstStyle/>
          <a:p>
            <a:pPr>
              <a:spcAft>
                <a:spcPts val="800"/>
              </a:spcAft>
            </a:pPr>
            <a:r>
              <a:rPr sz="1350" b="0">
                <a:solidFill>
                  <a:srgbClr val="161B26"/>
                </a:solidFill>
                <a:latin typeface="Arial"/>
              </a:rPr>
              <a:t>•  You describe the target state of infrastructure in version-controlled templates; the service computes and applies the difference.</a:t>
            </a:r>
          </a:p>
          <a:p>
            <a:pPr>
              <a:spcAft>
                <a:spcPts val="800"/>
              </a:spcAft>
            </a:pPr>
            <a:r>
              <a:rPr sz="1350" b="0">
                <a:solidFill>
                  <a:srgbClr val="161B26"/>
                </a:solidFill>
                <a:latin typeface="Arial"/>
              </a:rPr>
              <a:t>•  The same template deploys identical dev, test and prod environments — parameters, not copy-paste, capture the differences.</a:t>
            </a:r>
          </a:p>
          <a:p>
            <a:pPr>
              <a:spcAft>
                <a:spcPts val="800"/>
              </a:spcAft>
            </a:pPr>
            <a:r>
              <a:rPr sz="1350" b="0">
                <a:solidFill>
                  <a:srgbClr val="161B26"/>
                </a:solidFill>
                <a:latin typeface="Arial"/>
              </a:rPr>
              <a:t>•  Infrastructure changes go through code review and the pipeline, just like application code.</a:t>
            </a:r>
          </a:p>
        </p:txBody>
      </p:sp>
      <p:sp>
        <p:nvSpPr>
          <p:cNvPr id="11" name="Rectangle 10"/>
          <p:cNvSpPr/>
          <p:nvPr/>
        </p:nvSpPr>
        <p:spPr>
          <a:xfrm>
            <a:off x="6172200" y="1783080"/>
            <a:ext cx="5239512" cy="1325880"/>
          </a:xfrm>
          <a:prstGeom prst="rect">
            <a:avLst/>
          </a:prstGeom>
          <a:solidFill>
            <a:srgbClr val="FFFFFF"/>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ectangle 11"/>
          <p:cNvSpPr/>
          <p:nvPr/>
        </p:nvSpPr>
        <p:spPr>
          <a:xfrm>
            <a:off x="6172200" y="1783080"/>
            <a:ext cx="91440" cy="1325880"/>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6428232" y="1892808"/>
            <a:ext cx="4782312" cy="320040"/>
          </a:xfrm>
          <a:prstGeom prst="rect">
            <a:avLst/>
          </a:prstGeom>
          <a:noFill/>
        </p:spPr>
        <p:txBody>
          <a:bodyPr wrap="square" anchor="t">
            <a:spAutoFit/>
          </a:bodyPr>
          <a:lstStyle/>
          <a:p>
            <a:pPr algn="l">
              <a:spcAft>
                <a:spcPts val="400"/>
              </a:spcAft>
            </a:pPr>
            <a:r>
              <a:rPr sz="1150" b="1">
                <a:solidFill>
                  <a:srgbClr val="7C3AED"/>
                </a:solidFill>
                <a:latin typeface="Arial"/>
              </a:rPr>
              <a:t>WHY IT MATTERS</a:t>
            </a:r>
          </a:p>
        </p:txBody>
      </p:sp>
      <p:sp>
        <p:nvSpPr>
          <p:cNvPr id="14" name="TextBox 13"/>
          <p:cNvSpPr txBox="1"/>
          <p:nvPr/>
        </p:nvSpPr>
        <p:spPr>
          <a:xfrm>
            <a:off x="6428232" y="2221992"/>
            <a:ext cx="4782312" cy="822960"/>
          </a:xfrm>
          <a:prstGeom prst="rect">
            <a:avLst/>
          </a:prstGeom>
          <a:noFill/>
        </p:spPr>
        <p:txBody>
          <a:bodyPr wrap="square" anchor="t">
            <a:spAutoFit/>
          </a:bodyPr>
          <a:lstStyle/>
          <a:p>
            <a:pPr algn="l">
              <a:spcAft>
                <a:spcPts val="400"/>
              </a:spcAft>
            </a:pPr>
            <a:r>
              <a:rPr sz="1250" b="0">
                <a:solidFill>
                  <a:srgbClr val="161B26"/>
                </a:solidFill>
                <a:latin typeface="Arial"/>
              </a:rPr>
              <a:t>Repeatable, reviewable, disposable environments eliminate configuration drift and the 'it works on that server' class of failure.</a:t>
            </a:r>
          </a:p>
        </p:txBody>
      </p:sp>
      <p:sp>
        <p:nvSpPr>
          <p:cNvPr id="15" name="Rectangle 14"/>
          <p:cNvSpPr/>
          <p:nvPr/>
        </p:nvSpPr>
        <p:spPr>
          <a:xfrm>
            <a:off x="6172200" y="3246120"/>
            <a:ext cx="5239512" cy="1325880"/>
          </a:xfrm>
          <a:prstGeom prst="rect">
            <a:avLst/>
          </a:prstGeom>
          <a:solidFill>
            <a:srgbClr val="FFFFFF"/>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ectangle 15"/>
          <p:cNvSpPr/>
          <p:nvPr/>
        </p:nvSpPr>
        <p:spPr>
          <a:xfrm>
            <a:off x="6172200" y="3246120"/>
            <a:ext cx="91440" cy="1325880"/>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6428232" y="3355848"/>
            <a:ext cx="4782312" cy="320040"/>
          </a:xfrm>
          <a:prstGeom prst="rect">
            <a:avLst/>
          </a:prstGeom>
          <a:noFill/>
        </p:spPr>
        <p:txBody>
          <a:bodyPr wrap="square" anchor="t">
            <a:spAutoFit/>
          </a:bodyPr>
          <a:lstStyle/>
          <a:p>
            <a:pPr algn="l">
              <a:spcAft>
                <a:spcPts val="400"/>
              </a:spcAft>
            </a:pPr>
            <a:r>
              <a:rPr sz="1150" b="1">
                <a:solidFill>
                  <a:srgbClr val="C0392B"/>
                </a:solidFill>
                <a:latin typeface="Arial"/>
              </a:rPr>
              <a:t>FAILURE MODE</a:t>
            </a:r>
          </a:p>
        </p:txBody>
      </p:sp>
      <p:sp>
        <p:nvSpPr>
          <p:cNvPr id="18" name="TextBox 17"/>
          <p:cNvSpPr txBox="1"/>
          <p:nvPr/>
        </p:nvSpPr>
        <p:spPr>
          <a:xfrm>
            <a:off x="6428232" y="3685032"/>
            <a:ext cx="4782312" cy="822960"/>
          </a:xfrm>
          <a:prstGeom prst="rect">
            <a:avLst/>
          </a:prstGeom>
          <a:noFill/>
        </p:spPr>
        <p:txBody>
          <a:bodyPr wrap="square" anchor="t">
            <a:spAutoFit/>
          </a:bodyPr>
          <a:lstStyle/>
          <a:p>
            <a:pPr algn="l">
              <a:spcAft>
                <a:spcPts val="400"/>
              </a:spcAft>
            </a:pPr>
            <a:r>
              <a:rPr sz="1250" b="0">
                <a:solidFill>
                  <a:srgbClr val="161B26"/>
                </a:solidFill>
                <a:latin typeface="Arial"/>
              </a:rPr>
              <a:t>Mixing manual console changes with IaC creates drift the template no longer describes — the next deploy can revert or clash with them.</a:t>
            </a:r>
          </a:p>
        </p:txBody>
      </p:sp>
      <p:sp>
        <p:nvSpPr>
          <p:cNvPr id="19" name="Rectangle 18"/>
          <p:cNvSpPr/>
          <p:nvPr/>
        </p:nvSpPr>
        <p:spPr>
          <a:xfrm>
            <a:off x="6172200" y="4709160"/>
            <a:ext cx="5239512" cy="1325880"/>
          </a:xfrm>
          <a:prstGeom prst="rect">
            <a:avLst/>
          </a:prstGeom>
          <a:solidFill>
            <a:srgbClr val="FFFFFF"/>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Rectangle 19"/>
          <p:cNvSpPr/>
          <p:nvPr/>
        </p:nvSpPr>
        <p:spPr>
          <a:xfrm>
            <a:off x="6172200" y="4709160"/>
            <a:ext cx="91440" cy="1325880"/>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6428232" y="4818888"/>
            <a:ext cx="4782312" cy="320040"/>
          </a:xfrm>
          <a:prstGeom prst="rect">
            <a:avLst/>
          </a:prstGeom>
          <a:noFill/>
        </p:spPr>
        <p:txBody>
          <a:bodyPr wrap="square" anchor="t">
            <a:spAutoFit/>
          </a:bodyPr>
          <a:lstStyle/>
          <a:p>
            <a:pPr algn="l">
              <a:spcAft>
                <a:spcPts val="400"/>
              </a:spcAft>
            </a:pPr>
            <a:r>
              <a:rPr sz="1150" b="1">
                <a:solidFill>
                  <a:srgbClr val="F59E0B"/>
                </a:solidFill>
                <a:latin typeface="Arial"/>
              </a:rPr>
              <a:t>TRADE-OFF / DECISION</a:t>
            </a:r>
          </a:p>
        </p:txBody>
      </p:sp>
      <p:sp>
        <p:nvSpPr>
          <p:cNvPr id="22" name="TextBox 21"/>
          <p:cNvSpPr txBox="1"/>
          <p:nvPr/>
        </p:nvSpPr>
        <p:spPr>
          <a:xfrm>
            <a:off x="6428232" y="5148072"/>
            <a:ext cx="4782312" cy="822960"/>
          </a:xfrm>
          <a:prstGeom prst="rect">
            <a:avLst/>
          </a:prstGeom>
          <a:noFill/>
        </p:spPr>
        <p:txBody>
          <a:bodyPr wrap="square" anchor="t">
            <a:spAutoFit/>
          </a:bodyPr>
          <a:lstStyle/>
          <a:p>
            <a:pPr algn="l">
              <a:spcAft>
                <a:spcPts val="400"/>
              </a:spcAft>
            </a:pPr>
            <a:r>
              <a:rPr sz="1250" b="0">
                <a:solidFill>
                  <a:srgbClr val="161B26"/>
                </a:solidFill>
                <a:latin typeface="Arial"/>
              </a:rPr>
              <a:t>Declarative IaC is safe and auditable but less flexible than imperative scripts — use change sets and modules to regain expressiveness.</a:t>
            </a:r>
          </a:p>
        </p:txBody>
      </p:sp>
      <p:sp>
        <p:nvSpPr>
          <p:cNvPr id="23" name="TextBox 22"/>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DevOps Engineering on AWS  ·  TGS-2023040474</a:t>
            </a:r>
          </a:p>
        </p:txBody>
      </p:sp>
      <p:sp>
        <p:nvSpPr>
          <p:cNvPr id="24" name="TextBox 23"/>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25" name="TextBox 24"/>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76</a:t>
            </a:r>
          </a:p>
        </p:txBody>
      </p:sp>
    </p:spTree>
  </p:cSld>
  <p:clrMapOvr>
    <a:masterClrMapping/>
  </p:clrMapOvr>
  <p:transition xmlns:p14="http://schemas.microsoft.com/office/powerpoint/2010/main" p14:dur="380">
    <p:fade/>
  </p:transition>
</p:sld>
</file>

<file path=ppt/slides/slide7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38912"/>
            <a:ext cx="10607040" cy="365760"/>
          </a:xfrm>
          <a:prstGeom prst="rect">
            <a:avLst/>
          </a:prstGeom>
          <a:noFill/>
        </p:spPr>
        <p:txBody>
          <a:bodyPr wrap="square" anchor="t">
            <a:spAutoFit/>
          </a:bodyPr>
          <a:lstStyle/>
          <a:p>
            <a:pPr algn="l">
              <a:spcAft>
                <a:spcPts val="400"/>
              </a:spcAft>
            </a:pPr>
            <a:r>
              <a:rPr sz="1400" b="1">
                <a:solidFill>
                  <a:srgbClr val="7C3AED"/>
                </a:solidFill>
                <a:latin typeface="Arial"/>
              </a:rPr>
              <a:t>IN DEPTH</a:t>
            </a:r>
          </a:p>
        </p:txBody>
      </p:sp>
      <p:sp>
        <p:nvSpPr>
          <p:cNvPr id="5" name="TextBox 4"/>
          <p:cNvSpPr txBox="1"/>
          <p:nvPr/>
        </p:nvSpPr>
        <p:spPr>
          <a:xfrm>
            <a:off x="777240" y="896112"/>
            <a:ext cx="10927080" cy="731520"/>
          </a:xfrm>
          <a:prstGeom prst="rect">
            <a:avLst/>
          </a:prstGeom>
          <a:noFill/>
        </p:spPr>
        <p:txBody>
          <a:bodyPr wrap="square" anchor="t">
            <a:spAutoFit/>
          </a:bodyPr>
          <a:lstStyle/>
          <a:p>
            <a:pPr algn="l">
              <a:spcAft>
                <a:spcPts val="400"/>
              </a:spcAft>
            </a:pPr>
            <a:r>
              <a:rPr sz="2500" b="1">
                <a:solidFill>
                  <a:srgbClr val="161B26"/>
                </a:solidFill>
                <a:latin typeface="Arial"/>
              </a:rPr>
              <a:t>CloudFormation stacks, change sets and rollback</a:t>
            </a:r>
          </a:p>
        </p:txBody>
      </p:sp>
      <p:sp>
        <p:nvSpPr>
          <p:cNvPr id="6" name="Rectangle 5"/>
          <p:cNvSpPr/>
          <p:nvPr/>
        </p:nvSpPr>
        <p:spPr>
          <a:xfrm>
            <a:off x="777240" y="1572768"/>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783080"/>
            <a:ext cx="5212080" cy="425196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1783080"/>
            <a:ext cx="5212080" cy="91440"/>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1005840" y="1938528"/>
            <a:ext cx="4754880" cy="365760"/>
          </a:xfrm>
          <a:prstGeom prst="rect">
            <a:avLst/>
          </a:prstGeom>
          <a:noFill/>
        </p:spPr>
        <p:txBody>
          <a:bodyPr wrap="square" anchor="t">
            <a:spAutoFit/>
          </a:bodyPr>
          <a:lstStyle/>
          <a:p>
            <a:pPr algn="l">
              <a:spcAft>
                <a:spcPts val="400"/>
              </a:spcAft>
            </a:pPr>
            <a:r>
              <a:rPr sz="1200" b="1">
                <a:solidFill>
                  <a:srgbClr val="7C3AED"/>
                </a:solidFill>
                <a:latin typeface="Arial"/>
              </a:rPr>
              <a:t>IN DEPTH</a:t>
            </a:r>
          </a:p>
        </p:txBody>
      </p:sp>
      <p:sp>
        <p:nvSpPr>
          <p:cNvPr id="10" name="TextBox 9"/>
          <p:cNvSpPr txBox="1"/>
          <p:nvPr/>
        </p:nvSpPr>
        <p:spPr>
          <a:xfrm>
            <a:off x="1005840" y="2377440"/>
            <a:ext cx="4754880" cy="3566160"/>
          </a:xfrm>
          <a:prstGeom prst="rect">
            <a:avLst/>
          </a:prstGeom>
          <a:noFill/>
        </p:spPr>
        <p:txBody>
          <a:bodyPr wrap="square">
            <a:spAutoFit/>
          </a:bodyPr>
          <a:lstStyle/>
          <a:p>
            <a:pPr>
              <a:spcAft>
                <a:spcPts val="800"/>
              </a:spcAft>
            </a:pPr>
            <a:r>
              <a:rPr sz="1350" b="0">
                <a:solidFill>
                  <a:srgbClr val="161B26"/>
                </a:solidFill>
                <a:latin typeface="Arial"/>
              </a:rPr>
              <a:t>•  A stack is a unit of resources created, updated and deleted together from one template.</a:t>
            </a:r>
          </a:p>
          <a:p>
            <a:pPr>
              <a:spcAft>
                <a:spcPts val="800"/>
              </a:spcAft>
            </a:pPr>
            <a:r>
              <a:rPr sz="1350" b="0">
                <a:solidFill>
                  <a:srgbClr val="161B26"/>
                </a:solidFill>
                <a:latin typeface="Arial"/>
              </a:rPr>
              <a:t>•  A change set previews exactly what an update will add, modify or replace before you execute it.</a:t>
            </a:r>
          </a:p>
          <a:p>
            <a:pPr>
              <a:spcAft>
                <a:spcPts val="800"/>
              </a:spcAft>
            </a:pPr>
            <a:r>
              <a:rPr sz="1350" b="0">
                <a:solidFill>
                  <a:srgbClr val="161B26"/>
                </a:solidFill>
                <a:latin typeface="Arial"/>
              </a:rPr>
              <a:t>•  On failure, CloudFormation automatically rolls the stack back to its last known-good state.</a:t>
            </a:r>
          </a:p>
        </p:txBody>
      </p:sp>
      <p:sp>
        <p:nvSpPr>
          <p:cNvPr id="11" name="Rectangle 10"/>
          <p:cNvSpPr/>
          <p:nvPr/>
        </p:nvSpPr>
        <p:spPr>
          <a:xfrm>
            <a:off x="6172200" y="1783080"/>
            <a:ext cx="5239512" cy="1325880"/>
          </a:xfrm>
          <a:prstGeom prst="rect">
            <a:avLst/>
          </a:prstGeom>
          <a:solidFill>
            <a:srgbClr val="FFFFFF"/>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ectangle 11"/>
          <p:cNvSpPr/>
          <p:nvPr/>
        </p:nvSpPr>
        <p:spPr>
          <a:xfrm>
            <a:off x="6172200" y="1783080"/>
            <a:ext cx="91440" cy="1325880"/>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6428232" y="1892808"/>
            <a:ext cx="4782312" cy="320040"/>
          </a:xfrm>
          <a:prstGeom prst="rect">
            <a:avLst/>
          </a:prstGeom>
          <a:noFill/>
        </p:spPr>
        <p:txBody>
          <a:bodyPr wrap="square" anchor="t">
            <a:spAutoFit/>
          </a:bodyPr>
          <a:lstStyle/>
          <a:p>
            <a:pPr algn="l">
              <a:spcAft>
                <a:spcPts val="400"/>
              </a:spcAft>
            </a:pPr>
            <a:r>
              <a:rPr sz="1150" b="1">
                <a:solidFill>
                  <a:srgbClr val="7C3AED"/>
                </a:solidFill>
                <a:latin typeface="Arial"/>
              </a:rPr>
              <a:t>WHY IT MATTERS</a:t>
            </a:r>
          </a:p>
        </p:txBody>
      </p:sp>
      <p:sp>
        <p:nvSpPr>
          <p:cNvPr id="14" name="TextBox 13"/>
          <p:cNvSpPr txBox="1"/>
          <p:nvPr/>
        </p:nvSpPr>
        <p:spPr>
          <a:xfrm>
            <a:off x="6428232" y="2221992"/>
            <a:ext cx="4782312" cy="822960"/>
          </a:xfrm>
          <a:prstGeom prst="rect">
            <a:avLst/>
          </a:prstGeom>
          <a:noFill/>
        </p:spPr>
        <p:txBody>
          <a:bodyPr wrap="square" anchor="t">
            <a:spAutoFit/>
          </a:bodyPr>
          <a:lstStyle/>
          <a:p>
            <a:pPr algn="l">
              <a:spcAft>
                <a:spcPts val="400"/>
              </a:spcAft>
            </a:pPr>
            <a:r>
              <a:rPr sz="1250" b="0">
                <a:solidFill>
                  <a:srgbClr val="161B26"/>
                </a:solidFill>
                <a:latin typeface="Arial"/>
              </a:rPr>
              <a:t>Preview-then-apply plus automatic rollback make infrastructure changes as safe and reversible as a code deployment.</a:t>
            </a:r>
          </a:p>
        </p:txBody>
      </p:sp>
      <p:sp>
        <p:nvSpPr>
          <p:cNvPr id="15" name="Rectangle 14"/>
          <p:cNvSpPr/>
          <p:nvPr/>
        </p:nvSpPr>
        <p:spPr>
          <a:xfrm>
            <a:off x="6172200" y="3246120"/>
            <a:ext cx="5239512" cy="1325880"/>
          </a:xfrm>
          <a:prstGeom prst="rect">
            <a:avLst/>
          </a:prstGeom>
          <a:solidFill>
            <a:srgbClr val="FFFFFF"/>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ectangle 15"/>
          <p:cNvSpPr/>
          <p:nvPr/>
        </p:nvSpPr>
        <p:spPr>
          <a:xfrm>
            <a:off x="6172200" y="3246120"/>
            <a:ext cx="91440" cy="1325880"/>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6428232" y="3355848"/>
            <a:ext cx="4782312" cy="320040"/>
          </a:xfrm>
          <a:prstGeom prst="rect">
            <a:avLst/>
          </a:prstGeom>
          <a:noFill/>
        </p:spPr>
        <p:txBody>
          <a:bodyPr wrap="square" anchor="t">
            <a:spAutoFit/>
          </a:bodyPr>
          <a:lstStyle/>
          <a:p>
            <a:pPr algn="l">
              <a:spcAft>
                <a:spcPts val="400"/>
              </a:spcAft>
            </a:pPr>
            <a:r>
              <a:rPr sz="1150" b="1">
                <a:solidFill>
                  <a:srgbClr val="C0392B"/>
                </a:solidFill>
                <a:latin typeface="Arial"/>
              </a:rPr>
              <a:t>FAILURE MODE</a:t>
            </a:r>
          </a:p>
        </p:txBody>
      </p:sp>
      <p:sp>
        <p:nvSpPr>
          <p:cNvPr id="18" name="TextBox 17"/>
          <p:cNvSpPr txBox="1"/>
          <p:nvPr/>
        </p:nvSpPr>
        <p:spPr>
          <a:xfrm>
            <a:off x="6428232" y="3685032"/>
            <a:ext cx="4782312" cy="822960"/>
          </a:xfrm>
          <a:prstGeom prst="rect">
            <a:avLst/>
          </a:prstGeom>
          <a:noFill/>
        </p:spPr>
        <p:txBody>
          <a:bodyPr wrap="square" anchor="t">
            <a:spAutoFit/>
          </a:bodyPr>
          <a:lstStyle/>
          <a:p>
            <a:pPr algn="l">
              <a:spcAft>
                <a:spcPts val="400"/>
              </a:spcAft>
            </a:pPr>
            <a:r>
              <a:rPr sz="1250" b="0">
                <a:solidFill>
                  <a:srgbClr val="161B26"/>
                </a:solidFill>
                <a:latin typeface="Arial"/>
              </a:rPr>
              <a:t>A resource that must be replaced (not updated in place) can cause downtime or data loss if you don't read the change set's Replacement column.</a:t>
            </a:r>
          </a:p>
        </p:txBody>
      </p:sp>
      <p:sp>
        <p:nvSpPr>
          <p:cNvPr id="19" name="Rectangle 18"/>
          <p:cNvSpPr/>
          <p:nvPr/>
        </p:nvSpPr>
        <p:spPr>
          <a:xfrm>
            <a:off x="6172200" y="4709160"/>
            <a:ext cx="5239512" cy="1325880"/>
          </a:xfrm>
          <a:prstGeom prst="rect">
            <a:avLst/>
          </a:prstGeom>
          <a:solidFill>
            <a:srgbClr val="FFFFFF"/>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Rectangle 19"/>
          <p:cNvSpPr/>
          <p:nvPr/>
        </p:nvSpPr>
        <p:spPr>
          <a:xfrm>
            <a:off x="6172200" y="4709160"/>
            <a:ext cx="91440" cy="1325880"/>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6428232" y="4818888"/>
            <a:ext cx="4782312" cy="320040"/>
          </a:xfrm>
          <a:prstGeom prst="rect">
            <a:avLst/>
          </a:prstGeom>
          <a:noFill/>
        </p:spPr>
        <p:txBody>
          <a:bodyPr wrap="square" anchor="t">
            <a:spAutoFit/>
          </a:bodyPr>
          <a:lstStyle/>
          <a:p>
            <a:pPr algn="l">
              <a:spcAft>
                <a:spcPts val="400"/>
              </a:spcAft>
            </a:pPr>
            <a:r>
              <a:rPr sz="1150" b="1">
                <a:solidFill>
                  <a:srgbClr val="F59E0B"/>
                </a:solidFill>
                <a:latin typeface="Arial"/>
              </a:rPr>
              <a:t>TRADE-OFF / DECISION</a:t>
            </a:r>
          </a:p>
        </p:txBody>
      </p:sp>
      <p:sp>
        <p:nvSpPr>
          <p:cNvPr id="22" name="TextBox 21"/>
          <p:cNvSpPr txBox="1"/>
          <p:nvPr/>
        </p:nvSpPr>
        <p:spPr>
          <a:xfrm>
            <a:off x="6428232" y="5148072"/>
            <a:ext cx="4782312" cy="822960"/>
          </a:xfrm>
          <a:prstGeom prst="rect">
            <a:avLst/>
          </a:prstGeom>
          <a:noFill/>
        </p:spPr>
        <p:txBody>
          <a:bodyPr wrap="square" anchor="t">
            <a:spAutoFit/>
          </a:bodyPr>
          <a:lstStyle/>
          <a:p>
            <a:pPr algn="l">
              <a:spcAft>
                <a:spcPts val="400"/>
              </a:spcAft>
            </a:pPr>
            <a:r>
              <a:rPr sz="1250" b="0">
                <a:solidFill>
                  <a:srgbClr val="161B26"/>
                </a:solidFill>
                <a:latin typeface="Arial"/>
              </a:rPr>
              <a:t>Automatic rollback protects you but can mask the real error — always read the stack Events for the first failing resource.</a:t>
            </a:r>
          </a:p>
        </p:txBody>
      </p:sp>
      <p:sp>
        <p:nvSpPr>
          <p:cNvPr id="23" name="TextBox 22"/>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DevOps Engineering on AWS  ·  TGS-2023040474</a:t>
            </a:r>
          </a:p>
        </p:txBody>
      </p:sp>
      <p:sp>
        <p:nvSpPr>
          <p:cNvPr id="24" name="TextBox 23"/>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25" name="TextBox 24"/>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77</a:t>
            </a:r>
          </a:p>
        </p:txBody>
      </p:sp>
    </p:spTree>
  </p:cSld>
  <p:clrMapOvr>
    <a:masterClrMapping/>
  </p:clrMapOvr>
  <p:transition xmlns:p14="http://schemas.microsoft.com/office/powerpoint/2010/main" p14:dur="380">
    <p:fade/>
  </p:transition>
</p:sld>
</file>

<file path=ppt/slides/slide7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38912"/>
            <a:ext cx="10607040" cy="365760"/>
          </a:xfrm>
          <a:prstGeom prst="rect">
            <a:avLst/>
          </a:prstGeom>
          <a:noFill/>
        </p:spPr>
        <p:txBody>
          <a:bodyPr wrap="square" anchor="t">
            <a:spAutoFit/>
          </a:bodyPr>
          <a:lstStyle/>
          <a:p>
            <a:pPr algn="l">
              <a:spcAft>
                <a:spcPts val="400"/>
              </a:spcAft>
            </a:pPr>
            <a:r>
              <a:rPr sz="1400" b="1">
                <a:solidFill>
                  <a:srgbClr val="7C3AED"/>
                </a:solidFill>
                <a:latin typeface="Arial"/>
              </a:rPr>
              <a:t>IN DEPTH</a:t>
            </a:r>
          </a:p>
        </p:txBody>
      </p:sp>
      <p:sp>
        <p:nvSpPr>
          <p:cNvPr id="5" name="TextBox 4"/>
          <p:cNvSpPr txBox="1"/>
          <p:nvPr/>
        </p:nvSpPr>
        <p:spPr>
          <a:xfrm>
            <a:off x="777240" y="896112"/>
            <a:ext cx="10927080" cy="731520"/>
          </a:xfrm>
          <a:prstGeom prst="rect">
            <a:avLst/>
          </a:prstGeom>
          <a:noFill/>
        </p:spPr>
        <p:txBody>
          <a:bodyPr wrap="square" anchor="t">
            <a:spAutoFit/>
          </a:bodyPr>
          <a:lstStyle/>
          <a:p>
            <a:pPr algn="l">
              <a:spcAft>
                <a:spcPts val="400"/>
              </a:spcAft>
            </a:pPr>
            <a:r>
              <a:rPr sz="2100" b="1">
                <a:solidFill>
                  <a:srgbClr val="161B26"/>
                </a:solidFill>
                <a:latin typeface="Arial"/>
              </a:rPr>
              <a:t>Template anatomy — parameters, mappings, conditions, outputs</a:t>
            </a:r>
          </a:p>
        </p:txBody>
      </p:sp>
      <p:sp>
        <p:nvSpPr>
          <p:cNvPr id="6" name="Rectangle 5"/>
          <p:cNvSpPr/>
          <p:nvPr/>
        </p:nvSpPr>
        <p:spPr>
          <a:xfrm>
            <a:off x="777240" y="1572768"/>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783080"/>
            <a:ext cx="5212080" cy="425196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1783080"/>
            <a:ext cx="5212080" cy="91440"/>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1005840" y="1938528"/>
            <a:ext cx="4754880" cy="365760"/>
          </a:xfrm>
          <a:prstGeom prst="rect">
            <a:avLst/>
          </a:prstGeom>
          <a:noFill/>
        </p:spPr>
        <p:txBody>
          <a:bodyPr wrap="square" anchor="t">
            <a:spAutoFit/>
          </a:bodyPr>
          <a:lstStyle/>
          <a:p>
            <a:pPr algn="l">
              <a:spcAft>
                <a:spcPts val="400"/>
              </a:spcAft>
            </a:pPr>
            <a:r>
              <a:rPr sz="1200" b="1">
                <a:solidFill>
                  <a:srgbClr val="7C3AED"/>
                </a:solidFill>
                <a:latin typeface="Arial"/>
              </a:rPr>
              <a:t>IN DEPTH</a:t>
            </a:r>
          </a:p>
        </p:txBody>
      </p:sp>
      <p:sp>
        <p:nvSpPr>
          <p:cNvPr id="10" name="TextBox 9"/>
          <p:cNvSpPr txBox="1"/>
          <p:nvPr/>
        </p:nvSpPr>
        <p:spPr>
          <a:xfrm>
            <a:off x="1005840" y="2377440"/>
            <a:ext cx="4754880" cy="3566160"/>
          </a:xfrm>
          <a:prstGeom prst="rect">
            <a:avLst/>
          </a:prstGeom>
          <a:noFill/>
        </p:spPr>
        <p:txBody>
          <a:bodyPr wrap="square">
            <a:spAutoFit/>
          </a:bodyPr>
          <a:lstStyle/>
          <a:p>
            <a:pPr>
              <a:spcAft>
                <a:spcPts val="800"/>
              </a:spcAft>
            </a:pPr>
            <a:r>
              <a:rPr sz="1350" b="0">
                <a:solidFill>
                  <a:srgbClr val="161B26"/>
                </a:solidFill>
                <a:latin typeface="Arial"/>
              </a:rPr>
              <a:t>•  Parameters make a template reusable across environments; Mappings hold static lookups such as AMI-by-Region.</a:t>
            </a:r>
          </a:p>
          <a:p>
            <a:pPr>
              <a:spcAft>
                <a:spcPts val="800"/>
              </a:spcAft>
            </a:pPr>
            <a:r>
              <a:rPr sz="1350" b="0">
                <a:solidFill>
                  <a:srgbClr val="161B26"/>
                </a:solidFill>
                <a:latin typeface="Arial"/>
              </a:rPr>
              <a:t>•  Conditions create resources only when appropriate (e.g. a NAT gateway only in prod); Outputs export values for other stacks.</a:t>
            </a:r>
          </a:p>
          <a:p>
            <a:pPr>
              <a:spcAft>
                <a:spcPts val="800"/>
              </a:spcAft>
            </a:pPr>
            <a:r>
              <a:rPr sz="1350" b="0">
                <a:solidFill>
                  <a:srgbClr val="161B26"/>
                </a:solidFill>
                <a:latin typeface="Arial"/>
              </a:rPr>
              <a:t>•  Only the Resources section is mandatory — everything else exists to make templates reusable and composable.</a:t>
            </a:r>
          </a:p>
        </p:txBody>
      </p:sp>
      <p:sp>
        <p:nvSpPr>
          <p:cNvPr id="11" name="Rectangle 10"/>
          <p:cNvSpPr/>
          <p:nvPr/>
        </p:nvSpPr>
        <p:spPr>
          <a:xfrm>
            <a:off x="6172200" y="1783080"/>
            <a:ext cx="5239512" cy="1325880"/>
          </a:xfrm>
          <a:prstGeom prst="rect">
            <a:avLst/>
          </a:prstGeom>
          <a:solidFill>
            <a:srgbClr val="FFFFFF"/>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ectangle 11"/>
          <p:cNvSpPr/>
          <p:nvPr/>
        </p:nvSpPr>
        <p:spPr>
          <a:xfrm>
            <a:off x="6172200" y="1783080"/>
            <a:ext cx="91440" cy="1325880"/>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6428232" y="1892808"/>
            <a:ext cx="4782312" cy="320040"/>
          </a:xfrm>
          <a:prstGeom prst="rect">
            <a:avLst/>
          </a:prstGeom>
          <a:noFill/>
        </p:spPr>
        <p:txBody>
          <a:bodyPr wrap="square" anchor="t">
            <a:spAutoFit/>
          </a:bodyPr>
          <a:lstStyle/>
          <a:p>
            <a:pPr algn="l">
              <a:spcAft>
                <a:spcPts val="400"/>
              </a:spcAft>
            </a:pPr>
            <a:r>
              <a:rPr sz="1150" b="1">
                <a:solidFill>
                  <a:srgbClr val="7C3AED"/>
                </a:solidFill>
                <a:latin typeface="Arial"/>
              </a:rPr>
              <a:t>WHY IT MATTERS</a:t>
            </a:r>
          </a:p>
        </p:txBody>
      </p:sp>
      <p:sp>
        <p:nvSpPr>
          <p:cNvPr id="14" name="TextBox 13"/>
          <p:cNvSpPr txBox="1"/>
          <p:nvPr/>
        </p:nvSpPr>
        <p:spPr>
          <a:xfrm>
            <a:off x="6428232" y="2221992"/>
            <a:ext cx="4782312" cy="822960"/>
          </a:xfrm>
          <a:prstGeom prst="rect">
            <a:avLst/>
          </a:prstGeom>
          <a:noFill/>
        </p:spPr>
        <p:txBody>
          <a:bodyPr wrap="square" anchor="t">
            <a:spAutoFit/>
          </a:bodyPr>
          <a:lstStyle/>
          <a:p>
            <a:pPr algn="l">
              <a:spcAft>
                <a:spcPts val="400"/>
              </a:spcAft>
            </a:pPr>
            <a:r>
              <a:rPr sz="1250" b="0">
                <a:solidFill>
                  <a:srgbClr val="161B26"/>
                </a:solidFill>
                <a:latin typeface="Arial"/>
              </a:rPr>
              <a:t>A well-structured template is a reusable product, not a one-off script — one artifact serves many teams and Regions.</a:t>
            </a:r>
          </a:p>
        </p:txBody>
      </p:sp>
      <p:sp>
        <p:nvSpPr>
          <p:cNvPr id="15" name="Rectangle 14"/>
          <p:cNvSpPr/>
          <p:nvPr/>
        </p:nvSpPr>
        <p:spPr>
          <a:xfrm>
            <a:off x="6172200" y="3246120"/>
            <a:ext cx="5239512" cy="1325880"/>
          </a:xfrm>
          <a:prstGeom prst="rect">
            <a:avLst/>
          </a:prstGeom>
          <a:solidFill>
            <a:srgbClr val="FFFFFF"/>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ectangle 15"/>
          <p:cNvSpPr/>
          <p:nvPr/>
        </p:nvSpPr>
        <p:spPr>
          <a:xfrm>
            <a:off x="6172200" y="3246120"/>
            <a:ext cx="91440" cy="1325880"/>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6428232" y="3355848"/>
            <a:ext cx="4782312" cy="320040"/>
          </a:xfrm>
          <a:prstGeom prst="rect">
            <a:avLst/>
          </a:prstGeom>
          <a:noFill/>
        </p:spPr>
        <p:txBody>
          <a:bodyPr wrap="square" anchor="t">
            <a:spAutoFit/>
          </a:bodyPr>
          <a:lstStyle/>
          <a:p>
            <a:pPr algn="l">
              <a:spcAft>
                <a:spcPts val="400"/>
              </a:spcAft>
            </a:pPr>
            <a:r>
              <a:rPr sz="1150" b="1">
                <a:solidFill>
                  <a:srgbClr val="C0392B"/>
                </a:solidFill>
                <a:latin typeface="Arial"/>
              </a:rPr>
              <a:t>FAILURE MODE</a:t>
            </a:r>
          </a:p>
        </p:txBody>
      </p:sp>
      <p:sp>
        <p:nvSpPr>
          <p:cNvPr id="18" name="TextBox 17"/>
          <p:cNvSpPr txBox="1"/>
          <p:nvPr/>
        </p:nvSpPr>
        <p:spPr>
          <a:xfrm>
            <a:off x="6428232" y="3685032"/>
            <a:ext cx="4782312" cy="822960"/>
          </a:xfrm>
          <a:prstGeom prst="rect">
            <a:avLst/>
          </a:prstGeom>
          <a:noFill/>
        </p:spPr>
        <p:txBody>
          <a:bodyPr wrap="square" anchor="t">
            <a:spAutoFit/>
          </a:bodyPr>
          <a:lstStyle/>
          <a:p>
            <a:pPr algn="l">
              <a:spcAft>
                <a:spcPts val="400"/>
              </a:spcAft>
            </a:pPr>
            <a:r>
              <a:rPr sz="1250" b="0">
                <a:solidFill>
                  <a:srgbClr val="161B26"/>
                </a:solidFill>
                <a:latin typeface="Arial"/>
              </a:rPr>
              <a:t>Hard-coded AMI IDs, account numbers or Region strings make a template that only works in the account it was written in.</a:t>
            </a:r>
          </a:p>
        </p:txBody>
      </p:sp>
      <p:sp>
        <p:nvSpPr>
          <p:cNvPr id="19" name="Rectangle 18"/>
          <p:cNvSpPr/>
          <p:nvPr/>
        </p:nvSpPr>
        <p:spPr>
          <a:xfrm>
            <a:off x="6172200" y="4709160"/>
            <a:ext cx="5239512" cy="1325880"/>
          </a:xfrm>
          <a:prstGeom prst="rect">
            <a:avLst/>
          </a:prstGeom>
          <a:solidFill>
            <a:srgbClr val="FFFFFF"/>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Rectangle 19"/>
          <p:cNvSpPr/>
          <p:nvPr/>
        </p:nvSpPr>
        <p:spPr>
          <a:xfrm>
            <a:off x="6172200" y="4709160"/>
            <a:ext cx="91440" cy="1325880"/>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6428232" y="4818888"/>
            <a:ext cx="4782312" cy="320040"/>
          </a:xfrm>
          <a:prstGeom prst="rect">
            <a:avLst/>
          </a:prstGeom>
          <a:noFill/>
        </p:spPr>
        <p:txBody>
          <a:bodyPr wrap="square" anchor="t">
            <a:spAutoFit/>
          </a:bodyPr>
          <a:lstStyle/>
          <a:p>
            <a:pPr algn="l">
              <a:spcAft>
                <a:spcPts val="400"/>
              </a:spcAft>
            </a:pPr>
            <a:r>
              <a:rPr sz="1150" b="1">
                <a:solidFill>
                  <a:srgbClr val="F59E0B"/>
                </a:solidFill>
                <a:latin typeface="Arial"/>
              </a:rPr>
              <a:t>TRADE-OFF / DECISION</a:t>
            </a:r>
          </a:p>
        </p:txBody>
      </p:sp>
      <p:sp>
        <p:nvSpPr>
          <p:cNvPr id="22" name="TextBox 21"/>
          <p:cNvSpPr txBox="1"/>
          <p:nvPr/>
        </p:nvSpPr>
        <p:spPr>
          <a:xfrm>
            <a:off x="6428232" y="5148072"/>
            <a:ext cx="4782312" cy="822960"/>
          </a:xfrm>
          <a:prstGeom prst="rect">
            <a:avLst/>
          </a:prstGeom>
          <a:noFill/>
        </p:spPr>
        <p:txBody>
          <a:bodyPr wrap="square" anchor="t">
            <a:spAutoFit/>
          </a:bodyPr>
          <a:lstStyle/>
          <a:p>
            <a:pPr algn="l">
              <a:spcAft>
                <a:spcPts val="400"/>
              </a:spcAft>
            </a:pPr>
            <a:r>
              <a:rPr sz="1250" b="0">
                <a:solidFill>
                  <a:srgbClr val="161B26"/>
                </a:solidFill>
                <a:latin typeface="Arial"/>
              </a:rPr>
              <a:t>Heavy parameterisation increases flexibility but reduces readability — prefer sensible defaults and SSM public parameters.</a:t>
            </a:r>
          </a:p>
        </p:txBody>
      </p:sp>
      <p:sp>
        <p:nvSpPr>
          <p:cNvPr id="23" name="TextBox 22"/>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DevOps Engineering on AWS  ·  TGS-2023040474</a:t>
            </a:r>
          </a:p>
        </p:txBody>
      </p:sp>
      <p:sp>
        <p:nvSpPr>
          <p:cNvPr id="24" name="TextBox 23"/>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25" name="TextBox 24"/>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78</a:t>
            </a:r>
          </a:p>
        </p:txBody>
      </p:sp>
    </p:spTree>
  </p:cSld>
  <p:clrMapOvr>
    <a:masterClrMapping/>
  </p:clrMapOvr>
  <p:transition xmlns:p14="http://schemas.microsoft.com/office/powerpoint/2010/main" p14:dur="380">
    <p:fade/>
  </p:transition>
</p:sld>
</file>

<file path=ppt/slides/slide8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38912"/>
            <a:ext cx="10607040" cy="365760"/>
          </a:xfrm>
          <a:prstGeom prst="rect">
            <a:avLst/>
          </a:prstGeom>
          <a:noFill/>
        </p:spPr>
        <p:txBody>
          <a:bodyPr wrap="square" anchor="t">
            <a:spAutoFit/>
          </a:bodyPr>
          <a:lstStyle/>
          <a:p>
            <a:pPr algn="l">
              <a:spcAft>
                <a:spcPts val="400"/>
              </a:spcAft>
            </a:pPr>
            <a:r>
              <a:rPr sz="1400" b="1">
                <a:solidFill>
                  <a:srgbClr val="7C3AED"/>
                </a:solidFill>
                <a:latin typeface="Arial"/>
              </a:rPr>
              <a:t>IN DEPTH</a:t>
            </a:r>
          </a:p>
        </p:txBody>
      </p:sp>
      <p:sp>
        <p:nvSpPr>
          <p:cNvPr id="5" name="TextBox 4"/>
          <p:cNvSpPr txBox="1"/>
          <p:nvPr/>
        </p:nvSpPr>
        <p:spPr>
          <a:xfrm>
            <a:off x="777240" y="896112"/>
            <a:ext cx="10927080" cy="731520"/>
          </a:xfrm>
          <a:prstGeom prst="rect">
            <a:avLst/>
          </a:prstGeom>
          <a:noFill/>
        </p:spPr>
        <p:txBody>
          <a:bodyPr wrap="square" anchor="t">
            <a:spAutoFit/>
          </a:bodyPr>
          <a:lstStyle/>
          <a:p>
            <a:pPr algn="l">
              <a:spcAft>
                <a:spcPts val="400"/>
              </a:spcAft>
            </a:pPr>
            <a:r>
              <a:rPr sz="2500" b="1">
                <a:solidFill>
                  <a:srgbClr val="161B26"/>
                </a:solidFill>
                <a:latin typeface="Arial"/>
              </a:rPr>
              <a:t>Reuse — nested stacks, modules and StackSets</a:t>
            </a:r>
          </a:p>
        </p:txBody>
      </p:sp>
      <p:sp>
        <p:nvSpPr>
          <p:cNvPr id="6" name="Rectangle 5"/>
          <p:cNvSpPr/>
          <p:nvPr/>
        </p:nvSpPr>
        <p:spPr>
          <a:xfrm>
            <a:off x="777240" y="1572768"/>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783080"/>
            <a:ext cx="5212080" cy="425196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1783080"/>
            <a:ext cx="5212080" cy="91440"/>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1005840" y="1938528"/>
            <a:ext cx="4754880" cy="365760"/>
          </a:xfrm>
          <a:prstGeom prst="rect">
            <a:avLst/>
          </a:prstGeom>
          <a:noFill/>
        </p:spPr>
        <p:txBody>
          <a:bodyPr wrap="square" anchor="t">
            <a:spAutoFit/>
          </a:bodyPr>
          <a:lstStyle/>
          <a:p>
            <a:pPr algn="l">
              <a:spcAft>
                <a:spcPts val="400"/>
              </a:spcAft>
            </a:pPr>
            <a:r>
              <a:rPr sz="1200" b="1">
                <a:solidFill>
                  <a:srgbClr val="7C3AED"/>
                </a:solidFill>
                <a:latin typeface="Arial"/>
              </a:rPr>
              <a:t>IN DEPTH</a:t>
            </a:r>
          </a:p>
        </p:txBody>
      </p:sp>
      <p:sp>
        <p:nvSpPr>
          <p:cNvPr id="10" name="TextBox 9"/>
          <p:cNvSpPr txBox="1"/>
          <p:nvPr/>
        </p:nvSpPr>
        <p:spPr>
          <a:xfrm>
            <a:off x="1005840" y="2377440"/>
            <a:ext cx="4754880" cy="3566160"/>
          </a:xfrm>
          <a:prstGeom prst="rect">
            <a:avLst/>
          </a:prstGeom>
          <a:noFill/>
        </p:spPr>
        <p:txBody>
          <a:bodyPr wrap="square">
            <a:spAutoFit/>
          </a:bodyPr>
          <a:lstStyle/>
          <a:p>
            <a:pPr>
              <a:spcAft>
                <a:spcPts val="800"/>
              </a:spcAft>
            </a:pPr>
            <a:r>
              <a:rPr sz="1350" b="0">
                <a:solidFill>
                  <a:srgbClr val="161B26"/>
                </a:solidFill>
                <a:latin typeface="Arial"/>
              </a:rPr>
              <a:t>•  Nested stacks and CloudFormation modules package a pattern once and reuse it across many stacks.</a:t>
            </a:r>
          </a:p>
          <a:p>
            <a:pPr>
              <a:spcAft>
                <a:spcPts val="800"/>
              </a:spcAft>
            </a:pPr>
            <a:r>
              <a:rPr sz="1350" b="0">
                <a:solidFill>
                  <a:srgbClr val="161B26"/>
                </a:solidFill>
                <a:latin typeface="Arial"/>
              </a:rPr>
              <a:t>•  StackSets deploy the same stack across many accounts and Regions from a single operation.</a:t>
            </a:r>
          </a:p>
          <a:p>
            <a:pPr>
              <a:spcAft>
                <a:spcPts val="800"/>
              </a:spcAft>
            </a:pPr>
            <a:r>
              <a:rPr sz="1350" b="0">
                <a:solidFill>
                  <a:srgbClr val="161B26"/>
                </a:solidFill>
                <a:latin typeface="Arial"/>
              </a:rPr>
              <a:t>•  Cross-stack references and exports let a network stack publish IDs that app stacks import.</a:t>
            </a:r>
          </a:p>
        </p:txBody>
      </p:sp>
      <p:sp>
        <p:nvSpPr>
          <p:cNvPr id="11" name="Rectangle 10"/>
          <p:cNvSpPr/>
          <p:nvPr/>
        </p:nvSpPr>
        <p:spPr>
          <a:xfrm>
            <a:off x="6172200" y="1783080"/>
            <a:ext cx="5239512" cy="1325880"/>
          </a:xfrm>
          <a:prstGeom prst="rect">
            <a:avLst/>
          </a:prstGeom>
          <a:solidFill>
            <a:srgbClr val="FFFFFF"/>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ectangle 11"/>
          <p:cNvSpPr/>
          <p:nvPr/>
        </p:nvSpPr>
        <p:spPr>
          <a:xfrm>
            <a:off x="6172200" y="1783080"/>
            <a:ext cx="91440" cy="1325880"/>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6428232" y="1892808"/>
            <a:ext cx="4782312" cy="320040"/>
          </a:xfrm>
          <a:prstGeom prst="rect">
            <a:avLst/>
          </a:prstGeom>
          <a:noFill/>
        </p:spPr>
        <p:txBody>
          <a:bodyPr wrap="square" anchor="t">
            <a:spAutoFit/>
          </a:bodyPr>
          <a:lstStyle/>
          <a:p>
            <a:pPr algn="l">
              <a:spcAft>
                <a:spcPts val="400"/>
              </a:spcAft>
            </a:pPr>
            <a:r>
              <a:rPr sz="1150" b="1">
                <a:solidFill>
                  <a:srgbClr val="7C3AED"/>
                </a:solidFill>
                <a:latin typeface="Arial"/>
              </a:rPr>
              <a:t>WHY IT MATTERS</a:t>
            </a:r>
          </a:p>
        </p:txBody>
      </p:sp>
      <p:sp>
        <p:nvSpPr>
          <p:cNvPr id="14" name="TextBox 13"/>
          <p:cNvSpPr txBox="1"/>
          <p:nvPr/>
        </p:nvSpPr>
        <p:spPr>
          <a:xfrm>
            <a:off x="6428232" y="2221992"/>
            <a:ext cx="4782312" cy="822960"/>
          </a:xfrm>
          <a:prstGeom prst="rect">
            <a:avLst/>
          </a:prstGeom>
          <a:noFill/>
        </p:spPr>
        <p:txBody>
          <a:bodyPr wrap="square" anchor="t">
            <a:spAutoFit/>
          </a:bodyPr>
          <a:lstStyle/>
          <a:p>
            <a:pPr algn="l">
              <a:spcAft>
                <a:spcPts val="400"/>
              </a:spcAft>
            </a:pPr>
            <a:r>
              <a:rPr sz="1250" b="0">
                <a:solidFill>
                  <a:srgbClr val="161B26"/>
                </a:solidFill>
                <a:latin typeface="Arial"/>
              </a:rPr>
              <a:t>Reuse turns a proven design into an organisational standard, so every team gets the same secure, compliant baseline.</a:t>
            </a:r>
          </a:p>
        </p:txBody>
      </p:sp>
      <p:sp>
        <p:nvSpPr>
          <p:cNvPr id="15" name="Rectangle 14"/>
          <p:cNvSpPr/>
          <p:nvPr/>
        </p:nvSpPr>
        <p:spPr>
          <a:xfrm>
            <a:off x="6172200" y="3246120"/>
            <a:ext cx="5239512" cy="1325880"/>
          </a:xfrm>
          <a:prstGeom prst="rect">
            <a:avLst/>
          </a:prstGeom>
          <a:solidFill>
            <a:srgbClr val="FFFFFF"/>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ectangle 15"/>
          <p:cNvSpPr/>
          <p:nvPr/>
        </p:nvSpPr>
        <p:spPr>
          <a:xfrm>
            <a:off x="6172200" y="3246120"/>
            <a:ext cx="91440" cy="1325880"/>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6428232" y="3355848"/>
            <a:ext cx="4782312" cy="320040"/>
          </a:xfrm>
          <a:prstGeom prst="rect">
            <a:avLst/>
          </a:prstGeom>
          <a:noFill/>
        </p:spPr>
        <p:txBody>
          <a:bodyPr wrap="square" anchor="t">
            <a:spAutoFit/>
          </a:bodyPr>
          <a:lstStyle/>
          <a:p>
            <a:pPr algn="l">
              <a:spcAft>
                <a:spcPts val="400"/>
              </a:spcAft>
            </a:pPr>
            <a:r>
              <a:rPr sz="1150" b="1">
                <a:solidFill>
                  <a:srgbClr val="C0392B"/>
                </a:solidFill>
                <a:latin typeface="Arial"/>
              </a:rPr>
              <a:t>FAILURE MODE</a:t>
            </a:r>
          </a:p>
        </p:txBody>
      </p:sp>
      <p:sp>
        <p:nvSpPr>
          <p:cNvPr id="18" name="TextBox 17"/>
          <p:cNvSpPr txBox="1"/>
          <p:nvPr/>
        </p:nvSpPr>
        <p:spPr>
          <a:xfrm>
            <a:off x="6428232" y="3685032"/>
            <a:ext cx="4782312" cy="822960"/>
          </a:xfrm>
          <a:prstGeom prst="rect">
            <a:avLst/>
          </a:prstGeom>
          <a:noFill/>
        </p:spPr>
        <p:txBody>
          <a:bodyPr wrap="square" anchor="t">
            <a:spAutoFit/>
          </a:bodyPr>
          <a:lstStyle/>
          <a:p>
            <a:pPr algn="l">
              <a:spcAft>
                <a:spcPts val="400"/>
              </a:spcAft>
            </a:pPr>
            <a:r>
              <a:rPr sz="1250" b="0">
                <a:solidFill>
                  <a:srgbClr val="161B26"/>
                </a:solidFill>
                <a:latin typeface="Arial"/>
              </a:rPr>
              <a:t>Over-nesting creates tightly coupled stacks where one change forces wide, slow updates and hard-to-debug failures.</a:t>
            </a:r>
          </a:p>
        </p:txBody>
      </p:sp>
      <p:sp>
        <p:nvSpPr>
          <p:cNvPr id="19" name="Rectangle 18"/>
          <p:cNvSpPr/>
          <p:nvPr/>
        </p:nvSpPr>
        <p:spPr>
          <a:xfrm>
            <a:off x="6172200" y="4709160"/>
            <a:ext cx="5239512" cy="1325880"/>
          </a:xfrm>
          <a:prstGeom prst="rect">
            <a:avLst/>
          </a:prstGeom>
          <a:solidFill>
            <a:srgbClr val="FFFFFF"/>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Rectangle 19"/>
          <p:cNvSpPr/>
          <p:nvPr/>
        </p:nvSpPr>
        <p:spPr>
          <a:xfrm>
            <a:off x="6172200" y="4709160"/>
            <a:ext cx="91440" cy="1325880"/>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6428232" y="4818888"/>
            <a:ext cx="4782312" cy="320040"/>
          </a:xfrm>
          <a:prstGeom prst="rect">
            <a:avLst/>
          </a:prstGeom>
          <a:noFill/>
        </p:spPr>
        <p:txBody>
          <a:bodyPr wrap="square" anchor="t">
            <a:spAutoFit/>
          </a:bodyPr>
          <a:lstStyle/>
          <a:p>
            <a:pPr algn="l">
              <a:spcAft>
                <a:spcPts val="400"/>
              </a:spcAft>
            </a:pPr>
            <a:r>
              <a:rPr sz="1150" b="1">
                <a:solidFill>
                  <a:srgbClr val="F59E0B"/>
                </a:solidFill>
                <a:latin typeface="Arial"/>
              </a:rPr>
              <a:t>TRADE-OFF / DECISION</a:t>
            </a:r>
          </a:p>
        </p:txBody>
      </p:sp>
      <p:sp>
        <p:nvSpPr>
          <p:cNvPr id="22" name="TextBox 21"/>
          <p:cNvSpPr txBox="1"/>
          <p:nvPr/>
        </p:nvSpPr>
        <p:spPr>
          <a:xfrm>
            <a:off x="6428232" y="5148072"/>
            <a:ext cx="4782312" cy="822960"/>
          </a:xfrm>
          <a:prstGeom prst="rect">
            <a:avLst/>
          </a:prstGeom>
          <a:noFill/>
        </p:spPr>
        <p:txBody>
          <a:bodyPr wrap="square" anchor="t">
            <a:spAutoFit/>
          </a:bodyPr>
          <a:lstStyle/>
          <a:p>
            <a:pPr algn="l">
              <a:spcAft>
                <a:spcPts val="400"/>
              </a:spcAft>
            </a:pPr>
            <a:r>
              <a:rPr sz="1250" b="0">
                <a:solidFill>
                  <a:srgbClr val="161B26"/>
                </a:solidFill>
                <a:latin typeface="Arial"/>
              </a:rPr>
              <a:t>Central StackSets enforce consistency but need governance so account teams aren't blocked waiting on the platform team.</a:t>
            </a:r>
          </a:p>
        </p:txBody>
      </p:sp>
      <p:sp>
        <p:nvSpPr>
          <p:cNvPr id="23" name="TextBox 22"/>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DevOps Engineering on AWS  ·  TGS-2023040474</a:t>
            </a:r>
          </a:p>
        </p:txBody>
      </p:sp>
      <p:sp>
        <p:nvSpPr>
          <p:cNvPr id="24" name="TextBox 23"/>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25" name="TextBox 24"/>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79</a:t>
            </a:r>
          </a:p>
        </p:txBody>
      </p:sp>
    </p:spTree>
  </p:cSld>
  <p:clrMapOvr>
    <a:masterClrMapping/>
  </p:clrMapOvr>
  <p:transition xmlns:p14="http://schemas.microsoft.com/office/powerpoint/2010/main" p14:dur="380">
    <p:fade/>
  </p:transition>
</p:sld>
</file>

<file path=ppt/slides/slide8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38912"/>
            <a:ext cx="10607040" cy="365760"/>
          </a:xfrm>
          <a:prstGeom prst="rect">
            <a:avLst/>
          </a:prstGeom>
          <a:noFill/>
        </p:spPr>
        <p:txBody>
          <a:bodyPr wrap="square" anchor="t">
            <a:spAutoFit/>
          </a:bodyPr>
          <a:lstStyle/>
          <a:p>
            <a:pPr algn="l">
              <a:spcAft>
                <a:spcPts val="400"/>
              </a:spcAft>
            </a:pPr>
            <a:r>
              <a:rPr sz="1400" b="1">
                <a:solidFill>
                  <a:srgbClr val="7C3AED"/>
                </a:solidFill>
                <a:latin typeface="Arial"/>
              </a:rPr>
              <a:t>IN DEPTH</a:t>
            </a:r>
          </a:p>
        </p:txBody>
      </p:sp>
      <p:sp>
        <p:nvSpPr>
          <p:cNvPr id="5" name="TextBox 4"/>
          <p:cNvSpPr txBox="1"/>
          <p:nvPr/>
        </p:nvSpPr>
        <p:spPr>
          <a:xfrm>
            <a:off x="777240" y="896112"/>
            <a:ext cx="10927080" cy="731520"/>
          </a:xfrm>
          <a:prstGeom prst="rect">
            <a:avLst/>
          </a:prstGeom>
          <a:noFill/>
        </p:spPr>
        <p:txBody>
          <a:bodyPr wrap="square" anchor="t">
            <a:spAutoFit/>
          </a:bodyPr>
          <a:lstStyle/>
          <a:p>
            <a:pPr algn="l">
              <a:spcAft>
                <a:spcPts val="400"/>
              </a:spcAft>
            </a:pPr>
            <a:r>
              <a:rPr sz="2500" b="1">
                <a:solidFill>
                  <a:srgbClr val="161B26"/>
                </a:solidFill>
                <a:latin typeface="Arial"/>
              </a:rPr>
              <a:t>CDK, SAM and Terraform — when to reach for each</a:t>
            </a:r>
          </a:p>
        </p:txBody>
      </p:sp>
      <p:sp>
        <p:nvSpPr>
          <p:cNvPr id="6" name="Rectangle 5"/>
          <p:cNvSpPr/>
          <p:nvPr/>
        </p:nvSpPr>
        <p:spPr>
          <a:xfrm>
            <a:off x="777240" y="1572768"/>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783080"/>
            <a:ext cx="5212080" cy="425196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1783080"/>
            <a:ext cx="5212080" cy="91440"/>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1005840" y="1938528"/>
            <a:ext cx="4754880" cy="365760"/>
          </a:xfrm>
          <a:prstGeom prst="rect">
            <a:avLst/>
          </a:prstGeom>
          <a:noFill/>
        </p:spPr>
        <p:txBody>
          <a:bodyPr wrap="square" anchor="t">
            <a:spAutoFit/>
          </a:bodyPr>
          <a:lstStyle/>
          <a:p>
            <a:pPr algn="l">
              <a:spcAft>
                <a:spcPts val="400"/>
              </a:spcAft>
            </a:pPr>
            <a:r>
              <a:rPr sz="1200" b="1">
                <a:solidFill>
                  <a:srgbClr val="7C3AED"/>
                </a:solidFill>
                <a:latin typeface="Arial"/>
              </a:rPr>
              <a:t>IN DEPTH</a:t>
            </a:r>
          </a:p>
        </p:txBody>
      </p:sp>
      <p:sp>
        <p:nvSpPr>
          <p:cNvPr id="10" name="TextBox 9"/>
          <p:cNvSpPr txBox="1"/>
          <p:nvPr/>
        </p:nvSpPr>
        <p:spPr>
          <a:xfrm>
            <a:off x="1005840" y="2377440"/>
            <a:ext cx="4754880" cy="3566160"/>
          </a:xfrm>
          <a:prstGeom prst="rect">
            <a:avLst/>
          </a:prstGeom>
          <a:noFill/>
        </p:spPr>
        <p:txBody>
          <a:bodyPr wrap="square">
            <a:spAutoFit/>
          </a:bodyPr>
          <a:lstStyle/>
          <a:p>
            <a:pPr>
              <a:spcAft>
                <a:spcPts val="800"/>
              </a:spcAft>
            </a:pPr>
            <a:r>
              <a:rPr sz="1350" b="0">
                <a:solidFill>
                  <a:srgbClr val="161B26"/>
                </a:solidFill>
                <a:latin typeface="Arial"/>
              </a:rPr>
              <a:t>•  The AWS CDK lets you express infrastructure in a general-purpose language and synthesises CloudFormation.</a:t>
            </a:r>
          </a:p>
          <a:p>
            <a:pPr>
              <a:spcAft>
                <a:spcPts val="800"/>
              </a:spcAft>
            </a:pPr>
            <a:r>
              <a:rPr sz="1350" b="0">
                <a:solidFill>
                  <a:srgbClr val="161B26"/>
                </a:solidFill>
                <a:latin typeface="Arial"/>
              </a:rPr>
              <a:t>•  AWS SAM is a CloudFormation extension optimised for serverless apps.</a:t>
            </a:r>
          </a:p>
          <a:p>
            <a:pPr>
              <a:spcAft>
                <a:spcPts val="800"/>
              </a:spcAft>
            </a:pPr>
            <a:r>
              <a:rPr sz="1350" b="0">
                <a:solidFill>
                  <a:srgbClr val="161B26"/>
                </a:solidFill>
                <a:latin typeface="Arial"/>
              </a:rPr>
              <a:t>•  Terraform describes desired state in HCL across many clouds and providers.</a:t>
            </a:r>
          </a:p>
        </p:txBody>
      </p:sp>
      <p:sp>
        <p:nvSpPr>
          <p:cNvPr id="11" name="Rectangle 10"/>
          <p:cNvSpPr/>
          <p:nvPr/>
        </p:nvSpPr>
        <p:spPr>
          <a:xfrm>
            <a:off x="6172200" y="1783080"/>
            <a:ext cx="5239512" cy="1325880"/>
          </a:xfrm>
          <a:prstGeom prst="rect">
            <a:avLst/>
          </a:prstGeom>
          <a:solidFill>
            <a:srgbClr val="FFFFFF"/>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ectangle 11"/>
          <p:cNvSpPr/>
          <p:nvPr/>
        </p:nvSpPr>
        <p:spPr>
          <a:xfrm>
            <a:off x="6172200" y="1783080"/>
            <a:ext cx="91440" cy="1325880"/>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6428232" y="1892808"/>
            <a:ext cx="4782312" cy="320040"/>
          </a:xfrm>
          <a:prstGeom prst="rect">
            <a:avLst/>
          </a:prstGeom>
          <a:noFill/>
        </p:spPr>
        <p:txBody>
          <a:bodyPr wrap="square" anchor="t">
            <a:spAutoFit/>
          </a:bodyPr>
          <a:lstStyle/>
          <a:p>
            <a:pPr algn="l">
              <a:spcAft>
                <a:spcPts val="400"/>
              </a:spcAft>
            </a:pPr>
            <a:r>
              <a:rPr sz="1150" b="1">
                <a:solidFill>
                  <a:srgbClr val="7C3AED"/>
                </a:solidFill>
                <a:latin typeface="Arial"/>
              </a:rPr>
              <a:t>WHY IT MATTERS</a:t>
            </a:r>
          </a:p>
        </p:txBody>
      </p:sp>
      <p:sp>
        <p:nvSpPr>
          <p:cNvPr id="14" name="TextBox 13"/>
          <p:cNvSpPr txBox="1"/>
          <p:nvPr/>
        </p:nvSpPr>
        <p:spPr>
          <a:xfrm>
            <a:off x="6428232" y="2221992"/>
            <a:ext cx="4782312" cy="822960"/>
          </a:xfrm>
          <a:prstGeom prst="rect">
            <a:avLst/>
          </a:prstGeom>
          <a:noFill/>
        </p:spPr>
        <p:txBody>
          <a:bodyPr wrap="square" anchor="t">
            <a:spAutoFit/>
          </a:bodyPr>
          <a:lstStyle/>
          <a:p>
            <a:pPr algn="l">
              <a:spcAft>
                <a:spcPts val="400"/>
              </a:spcAft>
            </a:pPr>
            <a:r>
              <a:rPr sz="1250" b="0">
                <a:solidFill>
                  <a:srgbClr val="161B26"/>
                </a:solidFill>
                <a:latin typeface="Arial"/>
              </a:rPr>
              <a:t>Choosing the right tool matches the team's skills and estate — real code for testable constructs, SAM for serverless, Terraform for multi-cloud.</a:t>
            </a:r>
          </a:p>
        </p:txBody>
      </p:sp>
      <p:sp>
        <p:nvSpPr>
          <p:cNvPr id="15" name="Rectangle 14"/>
          <p:cNvSpPr/>
          <p:nvPr/>
        </p:nvSpPr>
        <p:spPr>
          <a:xfrm>
            <a:off x="6172200" y="3246120"/>
            <a:ext cx="5239512" cy="1325880"/>
          </a:xfrm>
          <a:prstGeom prst="rect">
            <a:avLst/>
          </a:prstGeom>
          <a:solidFill>
            <a:srgbClr val="FFFFFF"/>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ectangle 15"/>
          <p:cNvSpPr/>
          <p:nvPr/>
        </p:nvSpPr>
        <p:spPr>
          <a:xfrm>
            <a:off x="6172200" y="3246120"/>
            <a:ext cx="91440" cy="1325880"/>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6428232" y="3355848"/>
            <a:ext cx="4782312" cy="320040"/>
          </a:xfrm>
          <a:prstGeom prst="rect">
            <a:avLst/>
          </a:prstGeom>
          <a:noFill/>
        </p:spPr>
        <p:txBody>
          <a:bodyPr wrap="square" anchor="t">
            <a:spAutoFit/>
          </a:bodyPr>
          <a:lstStyle/>
          <a:p>
            <a:pPr algn="l">
              <a:spcAft>
                <a:spcPts val="400"/>
              </a:spcAft>
            </a:pPr>
            <a:r>
              <a:rPr sz="1150" b="1">
                <a:solidFill>
                  <a:srgbClr val="C0392B"/>
                </a:solidFill>
                <a:latin typeface="Arial"/>
              </a:rPr>
              <a:t>FAILURE MODE</a:t>
            </a:r>
          </a:p>
        </p:txBody>
      </p:sp>
      <p:sp>
        <p:nvSpPr>
          <p:cNvPr id="18" name="TextBox 17"/>
          <p:cNvSpPr txBox="1"/>
          <p:nvPr/>
        </p:nvSpPr>
        <p:spPr>
          <a:xfrm>
            <a:off x="6428232" y="3685032"/>
            <a:ext cx="4782312" cy="822960"/>
          </a:xfrm>
          <a:prstGeom prst="rect">
            <a:avLst/>
          </a:prstGeom>
          <a:noFill/>
        </p:spPr>
        <p:txBody>
          <a:bodyPr wrap="square" anchor="t">
            <a:spAutoFit/>
          </a:bodyPr>
          <a:lstStyle/>
          <a:p>
            <a:pPr algn="l">
              <a:spcAft>
                <a:spcPts val="400"/>
              </a:spcAft>
            </a:pPr>
            <a:r>
              <a:rPr sz="1250" b="0">
                <a:solidFill>
                  <a:srgbClr val="161B26"/>
                </a:solidFill>
                <a:latin typeface="Arial"/>
              </a:rPr>
              <a:t>Adopting CDK without CloudFormation literacy hides what is really deployed and makes drift and failures harder to reason about.</a:t>
            </a:r>
          </a:p>
        </p:txBody>
      </p:sp>
      <p:sp>
        <p:nvSpPr>
          <p:cNvPr id="19" name="Rectangle 18"/>
          <p:cNvSpPr/>
          <p:nvPr/>
        </p:nvSpPr>
        <p:spPr>
          <a:xfrm>
            <a:off x="6172200" y="4709160"/>
            <a:ext cx="5239512" cy="1325880"/>
          </a:xfrm>
          <a:prstGeom prst="rect">
            <a:avLst/>
          </a:prstGeom>
          <a:solidFill>
            <a:srgbClr val="FFFFFF"/>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Rectangle 19"/>
          <p:cNvSpPr/>
          <p:nvPr/>
        </p:nvSpPr>
        <p:spPr>
          <a:xfrm>
            <a:off x="6172200" y="4709160"/>
            <a:ext cx="91440" cy="1325880"/>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6428232" y="4818888"/>
            <a:ext cx="4782312" cy="320040"/>
          </a:xfrm>
          <a:prstGeom prst="rect">
            <a:avLst/>
          </a:prstGeom>
          <a:noFill/>
        </p:spPr>
        <p:txBody>
          <a:bodyPr wrap="square" anchor="t">
            <a:spAutoFit/>
          </a:bodyPr>
          <a:lstStyle/>
          <a:p>
            <a:pPr algn="l">
              <a:spcAft>
                <a:spcPts val="400"/>
              </a:spcAft>
            </a:pPr>
            <a:r>
              <a:rPr sz="1150" b="1">
                <a:solidFill>
                  <a:srgbClr val="F59E0B"/>
                </a:solidFill>
                <a:latin typeface="Arial"/>
              </a:rPr>
              <a:t>TRADE-OFF / DECISION</a:t>
            </a:r>
          </a:p>
        </p:txBody>
      </p:sp>
      <p:sp>
        <p:nvSpPr>
          <p:cNvPr id="22" name="TextBox 21"/>
          <p:cNvSpPr txBox="1"/>
          <p:nvPr/>
        </p:nvSpPr>
        <p:spPr>
          <a:xfrm>
            <a:off x="6428232" y="5148072"/>
            <a:ext cx="4782312" cy="822960"/>
          </a:xfrm>
          <a:prstGeom prst="rect">
            <a:avLst/>
          </a:prstGeom>
          <a:noFill/>
        </p:spPr>
        <p:txBody>
          <a:bodyPr wrap="square" anchor="t">
            <a:spAutoFit/>
          </a:bodyPr>
          <a:lstStyle/>
          <a:p>
            <a:pPr algn="l">
              <a:spcAft>
                <a:spcPts val="400"/>
              </a:spcAft>
            </a:pPr>
            <a:r>
              <a:rPr sz="1250" b="0">
                <a:solidFill>
                  <a:srgbClr val="161B26"/>
                </a:solidFill>
                <a:latin typeface="Arial"/>
              </a:rPr>
              <a:t>Higher-level abstractions boost productivity but add a layer to debug when the generated template misbehaves.</a:t>
            </a:r>
          </a:p>
        </p:txBody>
      </p:sp>
      <p:sp>
        <p:nvSpPr>
          <p:cNvPr id="23" name="TextBox 22"/>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DevOps Engineering on AWS  ·  TGS-2023040474</a:t>
            </a:r>
          </a:p>
        </p:txBody>
      </p:sp>
      <p:sp>
        <p:nvSpPr>
          <p:cNvPr id="24" name="TextBox 23"/>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25" name="TextBox 24"/>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80</a:t>
            </a:r>
          </a:p>
        </p:txBody>
      </p:sp>
    </p:spTree>
  </p:cSld>
  <p:clrMapOvr>
    <a:masterClrMapping/>
  </p:clrMapOvr>
  <p:transition xmlns:p14="http://schemas.microsoft.com/office/powerpoint/2010/main" p14:dur="380">
    <p:fade/>
  </p:transition>
</p:sld>
</file>

<file path=ppt/slides/slide8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38912"/>
            <a:ext cx="10607040" cy="365760"/>
          </a:xfrm>
          <a:prstGeom prst="rect">
            <a:avLst/>
          </a:prstGeom>
          <a:noFill/>
        </p:spPr>
        <p:txBody>
          <a:bodyPr wrap="square" anchor="t">
            <a:spAutoFit/>
          </a:bodyPr>
          <a:lstStyle/>
          <a:p>
            <a:pPr algn="l">
              <a:spcAft>
                <a:spcPts val="400"/>
              </a:spcAft>
            </a:pPr>
            <a:r>
              <a:rPr sz="1400" b="1">
                <a:solidFill>
                  <a:srgbClr val="7C3AED"/>
                </a:solidFill>
                <a:latin typeface="Arial"/>
              </a:rPr>
              <a:t>IN DEPTH</a:t>
            </a:r>
          </a:p>
        </p:txBody>
      </p:sp>
      <p:sp>
        <p:nvSpPr>
          <p:cNvPr id="5" name="TextBox 4"/>
          <p:cNvSpPr txBox="1"/>
          <p:nvPr/>
        </p:nvSpPr>
        <p:spPr>
          <a:xfrm>
            <a:off x="777240" y="896112"/>
            <a:ext cx="10927080" cy="731520"/>
          </a:xfrm>
          <a:prstGeom prst="rect">
            <a:avLst/>
          </a:prstGeom>
          <a:noFill/>
        </p:spPr>
        <p:txBody>
          <a:bodyPr wrap="square" anchor="t">
            <a:spAutoFit/>
          </a:bodyPr>
          <a:lstStyle/>
          <a:p>
            <a:pPr algn="l">
              <a:spcAft>
                <a:spcPts val="400"/>
              </a:spcAft>
            </a:pPr>
            <a:r>
              <a:rPr sz="2500" b="1">
                <a:solidFill>
                  <a:srgbClr val="161B26"/>
                </a:solidFill>
                <a:latin typeface="Arial"/>
              </a:rPr>
              <a:t>Configuration management with Systems Manager</a:t>
            </a:r>
          </a:p>
        </p:txBody>
      </p:sp>
      <p:sp>
        <p:nvSpPr>
          <p:cNvPr id="6" name="Rectangle 5"/>
          <p:cNvSpPr/>
          <p:nvPr/>
        </p:nvSpPr>
        <p:spPr>
          <a:xfrm>
            <a:off x="777240" y="1572768"/>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783080"/>
            <a:ext cx="5212080" cy="425196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1783080"/>
            <a:ext cx="5212080" cy="91440"/>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1005840" y="1938528"/>
            <a:ext cx="4754880" cy="365760"/>
          </a:xfrm>
          <a:prstGeom prst="rect">
            <a:avLst/>
          </a:prstGeom>
          <a:noFill/>
        </p:spPr>
        <p:txBody>
          <a:bodyPr wrap="square" anchor="t">
            <a:spAutoFit/>
          </a:bodyPr>
          <a:lstStyle/>
          <a:p>
            <a:pPr algn="l">
              <a:spcAft>
                <a:spcPts val="400"/>
              </a:spcAft>
            </a:pPr>
            <a:r>
              <a:rPr sz="1200" b="1">
                <a:solidFill>
                  <a:srgbClr val="7C3AED"/>
                </a:solidFill>
                <a:latin typeface="Arial"/>
              </a:rPr>
              <a:t>IN DEPTH</a:t>
            </a:r>
          </a:p>
        </p:txBody>
      </p:sp>
      <p:sp>
        <p:nvSpPr>
          <p:cNvPr id="10" name="TextBox 9"/>
          <p:cNvSpPr txBox="1"/>
          <p:nvPr/>
        </p:nvSpPr>
        <p:spPr>
          <a:xfrm>
            <a:off x="1005840" y="2377440"/>
            <a:ext cx="4754880" cy="3566160"/>
          </a:xfrm>
          <a:prstGeom prst="rect">
            <a:avLst/>
          </a:prstGeom>
          <a:noFill/>
        </p:spPr>
        <p:txBody>
          <a:bodyPr wrap="square">
            <a:spAutoFit/>
          </a:bodyPr>
          <a:lstStyle/>
          <a:p>
            <a:pPr>
              <a:spcAft>
                <a:spcPts val="800"/>
              </a:spcAft>
            </a:pPr>
            <a:r>
              <a:rPr sz="1350" b="0">
                <a:solidFill>
                  <a:srgbClr val="161B26"/>
                </a:solidFill>
                <a:latin typeface="Arial"/>
              </a:rPr>
              <a:t>•  State Manager keeps instances in a defined configuration; Automation documents run repeatable operational runbooks.</a:t>
            </a:r>
          </a:p>
          <a:p>
            <a:pPr>
              <a:spcAft>
                <a:spcPts val="800"/>
              </a:spcAft>
            </a:pPr>
            <a:r>
              <a:rPr sz="1350" b="0">
                <a:solidFill>
                  <a:srgbClr val="161B26"/>
                </a:solidFill>
                <a:latin typeface="Arial"/>
              </a:rPr>
              <a:t>•  Parameter Store holds configuration and (with Secrets Manager) secrets, versioned and access-controlled.</a:t>
            </a:r>
          </a:p>
          <a:p>
            <a:pPr>
              <a:spcAft>
                <a:spcPts val="800"/>
              </a:spcAft>
            </a:pPr>
            <a:r>
              <a:rPr sz="1350" b="0">
                <a:solidFill>
                  <a:srgbClr val="161B26"/>
                </a:solidFill>
                <a:latin typeface="Arial"/>
              </a:rPr>
              <a:t>•  Patch Manager and Inventory keep fleets patched and auditable without SSH access.</a:t>
            </a:r>
          </a:p>
        </p:txBody>
      </p:sp>
      <p:sp>
        <p:nvSpPr>
          <p:cNvPr id="11" name="Rectangle 10"/>
          <p:cNvSpPr/>
          <p:nvPr/>
        </p:nvSpPr>
        <p:spPr>
          <a:xfrm>
            <a:off x="6172200" y="1783080"/>
            <a:ext cx="5239512" cy="1325880"/>
          </a:xfrm>
          <a:prstGeom prst="rect">
            <a:avLst/>
          </a:prstGeom>
          <a:solidFill>
            <a:srgbClr val="FFFFFF"/>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ectangle 11"/>
          <p:cNvSpPr/>
          <p:nvPr/>
        </p:nvSpPr>
        <p:spPr>
          <a:xfrm>
            <a:off x="6172200" y="1783080"/>
            <a:ext cx="91440" cy="1325880"/>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6428232" y="1892808"/>
            <a:ext cx="4782312" cy="320040"/>
          </a:xfrm>
          <a:prstGeom prst="rect">
            <a:avLst/>
          </a:prstGeom>
          <a:noFill/>
        </p:spPr>
        <p:txBody>
          <a:bodyPr wrap="square" anchor="t">
            <a:spAutoFit/>
          </a:bodyPr>
          <a:lstStyle/>
          <a:p>
            <a:pPr algn="l">
              <a:spcAft>
                <a:spcPts val="400"/>
              </a:spcAft>
            </a:pPr>
            <a:r>
              <a:rPr sz="1150" b="1">
                <a:solidFill>
                  <a:srgbClr val="7C3AED"/>
                </a:solidFill>
                <a:latin typeface="Arial"/>
              </a:rPr>
              <a:t>WHY IT MATTERS</a:t>
            </a:r>
          </a:p>
        </p:txBody>
      </p:sp>
      <p:sp>
        <p:nvSpPr>
          <p:cNvPr id="14" name="TextBox 13"/>
          <p:cNvSpPr txBox="1"/>
          <p:nvPr/>
        </p:nvSpPr>
        <p:spPr>
          <a:xfrm>
            <a:off x="6428232" y="2221992"/>
            <a:ext cx="4782312" cy="822960"/>
          </a:xfrm>
          <a:prstGeom prst="rect">
            <a:avLst/>
          </a:prstGeom>
          <a:noFill/>
        </p:spPr>
        <p:txBody>
          <a:bodyPr wrap="square" anchor="t">
            <a:spAutoFit/>
          </a:bodyPr>
          <a:lstStyle/>
          <a:p>
            <a:pPr algn="l">
              <a:spcAft>
                <a:spcPts val="400"/>
              </a:spcAft>
            </a:pPr>
            <a:r>
              <a:rPr sz="1250" b="0">
                <a:solidFill>
                  <a:srgbClr val="161B26"/>
                </a:solidFill>
                <a:latin typeface="Arial"/>
              </a:rPr>
              <a:t>Config management closes the gap between 'provisioned' and 'correctly configured and maintained over time'.</a:t>
            </a:r>
          </a:p>
        </p:txBody>
      </p:sp>
      <p:sp>
        <p:nvSpPr>
          <p:cNvPr id="15" name="Rectangle 14"/>
          <p:cNvSpPr/>
          <p:nvPr/>
        </p:nvSpPr>
        <p:spPr>
          <a:xfrm>
            <a:off x="6172200" y="3246120"/>
            <a:ext cx="5239512" cy="1325880"/>
          </a:xfrm>
          <a:prstGeom prst="rect">
            <a:avLst/>
          </a:prstGeom>
          <a:solidFill>
            <a:srgbClr val="FFFFFF"/>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ectangle 15"/>
          <p:cNvSpPr/>
          <p:nvPr/>
        </p:nvSpPr>
        <p:spPr>
          <a:xfrm>
            <a:off x="6172200" y="3246120"/>
            <a:ext cx="91440" cy="1325880"/>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6428232" y="3355848"/>
            <a:ext cx="4782312" cy="320040"/>
          </a:xfrm>
          <a:prstGeom prst="rect">
            <a:avLst/>
          </a:prstGeom>
          <a:noFill/>
        </p:spPr>
        <p:txBody>
          <a:bodyPr wrap="square" anchor="t">
            <a:spAutoFit/>
          </a:bodyPr>
          <a:lstStyle/>
          <a:p>
            <a:pPr algn="l">
              <a:spcAft>
                <a:spcPts val="400"/>
              </a:spcAft>
            </a:pPr>
            <a:r>
              <a:rPr sz="1150" b="1">
                <a:solidFill>
                  <a:srgbClr val="C0392B"/>
                </a:solidFill>
                <a:latin typeface="Arial"/>
              </a:rPr>
              <a:t>FAILURE MODE</a:t>
            </a:r>
          </a:p>
        </p:txBody>
      </p:sp>
      <p:sp>
        <p:nvSpPr>
          <p:cNvPr id="18" name="TextBox 17"/>
          <p:cNvSpPr txBox="1"/>
          <p:nvPr/>
        </p:nvSpPr>
        <p:spPr>
          <a:xfrm>
            <a:off x="6428232" y="3685032"/>
            <a:ext cx="4782312" cy="822960"/>
          </a:xfrm>
          <a:prstGeom prst="rect">
            <a:avLst/>
          </a:prstGeom>
          <a:noFill/>
        </p:spPr>
        <p:txBody>
          <a:bodyPr wrap="square" anchor="t">
            <a:spAutoFit/>
          </a:bodyPr>
          <a:lstStyle/>
          <a:p>
            <a:pPr algn="l">
              <a:spcAft>
                <a:spcPts val="400"/>
              </a:spcAft>
            </a:pPr>
            <a:r>
              <a:rPr sz="1250" b="0">
                <a:solidFill>
                  <a:srgbClr val="161B26"/>
                </a:solidFill>
                <a:latin typeface="Arial"/>
              </a:rPr>
              <a:t>Treating servers as pets you SSH into and hand-tune reintroduces drift that no template can track.</a:t>
            </a:r>
          </a:p>
        </p:txBody>
      </p:sp>
      <p:sp>
        <p:nvSpPr>
          <p:cNvPr id="19" name="Rectangle 18"/>
          <p:cNvSpPr/>
          <p:nvPr/>
        </p:nvSpPr>
        <p:spPr>
          <a:xfrm>
            <a:off x="6172200" y="4709160"/>
            <a:ext cx="5239512" cy="1325880"/>
          </a:xfrm>
          <a:prstGeom prst="rect">
            <a:avLst/>
          </a:prstGeom>
          <a:solidFill>
            <a:srgbClr val="FFFFFF"/>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Rectangle 19"/>
          <p:cNvSpPr/>
          <p:nvPr/>
        </p:nvSpPr>
        <p:spPr>
          <a:xfrm>
            <a:off x="6172200" y="4709160"/>
            <a:ext cx="91440" cy="1325880"/>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6428232" y="4818888"/>
            <a:ext cx="4782312" cy="320040"/>
          </a:xfrm>
          <a:prstGeom prst="rect">
            <a:avLst/>
          </a:prstGeom>
          <a:noFill/>
        </p:spPr>
        <p:txBody>
          <a:bodyPr wrap="square" anchor="t">
            <a:spAutoFit/>
          </a:bodyPr>
          <a:lstStyle/>
          <a:p>
            <a:pPr algn="l">
              <a:spcAft>
                <a:spcPts val="400"/>
              </a:spcAft>
            </a:pPr>
            <a:r>
              <a:rPr sz="1150" b="1">
                <a:solidFill>
                  <a:srgbClr val="F59E0B"/>
                </a:solidFill>
                <a:latin typeface="Arial"/>
              </a:rPr>
              <a:t>TRADE-OFF / DECISION</a:t>
            </a:r>
          </a:p>
        </p:txBody>
      </p:sp>
      <p:sp>
        <p:nvSpPr>
          <p:cNvPr id="22" name="TextBox 21"/>
          <p:cNvSpPr txBox="1"/>
          <p:nvPr/>
        </p:nvSpPr>
        <p:spPr>
          <a:xfrm>
            <a:off x="6428232" y="5148072"/>
            <a:ext cx="4782312" cy="822960"/>
          </a:xfrm>
          <a:prstGeom prst="rect">
            <a:avLst/>
          </a:prstGeom>
          <a:noFill/>
        </p:spPr>
        <p:txBody>
          <a:bodyPr wrap="square" anchor="t">
            <a:spAutoFit/>
          </a:bodyPr>
          <a:lstStyle/>
          <a:p>
            <a:pPr algn="l">
              <a:spcAft>
                <a:spcPts val="400"/>
              </a:spcAft>
            </a:pPr>
            <a:r>
              <a:rPr sz="1250" b="0">
                <a:solidFill>
                  <a:srgbClr val="161B26"/>
                </a:solidFill>
                <a:latin typeface="Arial"/>
              </a:rPr>
              <a:t>Agent-based management adds an agent to run and secure, but removes bastion hosts and standing SSH access.</a:t>
            </a:r>
          </a:p>
        </p:txBody>
      </p:sp>
      <p:sp>
        <p:nvSpPr>
          <p:cNvPr id="23" name="TextBox 22"/>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DevOps Engineering on AWS  ·  TGS-2023040474</a:t>
            </a:r>
          </a:p>
        </p:txBody>
      </p:sp>
      <p:sp>
        <p:nvSpPr>
          <p:cNvPr id="24" name="TextBox 23"/>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25" name="TextBox 24"/>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81</a:t>
            </a:r>
          </a:p>
        </p:txBody>
      </p:sp>
    </p:spTree>
  </p:cSld>
  <p:clrMapOvr>
    <a:masterClrMapping/>
  </p:clrMapOvr>
  <p:transition xmlns:p14="http://schemas.microsoft.com/office/powerpoint/2010/main" p14:dur="380">
    <p:fade/>
  </p:transition>
</p:sld>
</file>

<file path=ppt/slides/slide8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38912"/>
            <a:ext cx="10607040" cy="365760"/>
          </a:xfrm>
          <a:prstGeom prst="rect">
            <a:avLst/>
          </a:prstGeom>
          <a:noFill/>
        </p:spPr>
        <p:txBody>
          <a:bodyPr wrap="square" anchor="t">
            <a:spAutoFit/>
          </a:bodyPr>
          <a:lstStyle/>
          <a:p>
            <a:pPr algn="l">
              <a:spcAft>
                <a:spcPts val="400"/>
              </a:spcAft>
            </a:pPr>
            <a:r>
              <a:rPr sz="1400" b="1">
                <a:solidFill>
                  <a:srgbClr val="7C3AED"/>
                </a:solidFill>
                <a:latin typeface="Arial"/>
              </a:rPr>
              <a:t>IN DEPTH</a:t>
            </a:r>
          </a:p>
        </p:txBody>
      </p:sp>
      <p:sp>
        <p:nvSpPr>
          <p:cNvPr id="5" name="TextBox 4"/>
          <p:cNvSpPr txBox="1"/>
          <p:nvPr/>
        </p:nvSpPr>
        <p:spPr>
          <a:xfrm>
            <a:off x="777240" y="804672"/>
            <a:ext cx="10927080" cy="731520"/>
          </a:xfrm>
          <a:prstGeom prst="rect">
            <a:avLst/>
          </a:prstGeom>
          <a:noFill/>
        </p:spPr>
        <p:txBody>
          <a:bodyPr wrap="square" anchor="t">
            <a:spAutoFit/>
          </a:bodyPr>
          <a:lstStyle/>
          <a:p>
            <a:pPr algn="l">
              <a:spcAft>
                <a:spcPts val="400"/>
              </a:spcAft>
            </a:pPr>
            <a:r>
              <a:rPr sz="2900" b="1">
                <a:solidFill>
                  <a:srgbClr val="161B26"/>
                </a:solidFill>
                <a:latin typeface="Arial"/>
              </a:rPr>
              <a:t>Drift detection and remediation</a:t>
            </a:r>
          </a:p>
        </p:txBody>
      </p:sp>
      <p:sp>
        <p:nvSpPr>
          <p:cNvPr id="6" name="Rectangle 5"/>
          <p:cNvSpPr/>
          <p:nvPr/>
        </p:nvSpPr>
        <p:spPr>
          <a:xfrm>
            <a:off x="777240" y="1572768"/>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783080"/>
            <a:ext cx="5212080" cy="425196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1783080"/>
            <a:ext cx="5212080" cy="91440"/>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1005840" y="1938528"/>
            <a:ext cx="4754880" cy="365760"/>
          </a:xfrm>
          <a:prstGeom prst="rect">
            <a:avLst/>
          </a:prstGeom>
          <a:noFill/>
        </p:spPr>
        <p:txBody>
          <a:bodyPr wrap="square" anchor="t">
            <a:spAutoFit/>
          </a:bodyPr>
          <a:lstStyle/>
          <a:p>
            <a:pPr algn="l">
              <a:spcAft>
                <a:spcPts val="400"/>
              </a:spcAft>
            </a:pPr>
            <a:r>
              <a:rPr sz="1200" b="1">
                <a:solidFill>
                  <a:srgbClr val="7C3AED"/>
                </a:solidFill>
                <a:latin typeface="Arial"/>
              </a:rPr>
              <a:t>IN DEPTH</a:t>
            </a:r>
          </a:p>
        </p:txBody>
      </p:sp>
      <p:sp>
        <p:nvSpPr>
          <p:cNvPr id="10" name="TextBox 9"/>
          <p:cNvSpPr txBox="1"/>
          <p:nvPr/>
        </p:nvSpPr>
        <p:spPr>
          <a:xfrm>
            <a:off x="1005840" y="2377440"/>
            <a:ext cx="4754880" cy="3566160"/>
          </a:xfrm>
          <a:prstGeom prst="rect">
            <a:avLst/>
          </a:prstGeom>
          <a:noFill/>
        </p:spPr>
        <p:txBody>
          <a:bodyPr wrap="square">
            <a:spAutoFit/>
          </a:bodyPr>
          <a:lstStyle/>
          <a:p>
            <a:pPr>
              <a:spcAft>
                <a:spcPts val="800"/>
              </a:spcAft>
            </a:pPr>
            <a:r>
              <a:rPr sz="1350" b="0">
                <a:solidFill>
                  <a:srgbClr val="161B26"/>
                </a:solidFill>
                <a:latin typeface="Arial"/>
              </a:rPr>
              <a:t>•  Drift detection compares live resources against the template and reports what changed out-of-band.</a:t>
            </a:r>
          </a:p>
          <a:p>
            <a:pPr>
              <a:spcAft>
                <a:spcPts val="800"/>
              </a:spcAft>
            </a:pPr>
            <a:r>
              <a:rPr sz="1350" b="0">
                <a:solidFill>
                  <a:srgbClr val="161B26"/>
                </a:solidFill>
                <a:latin typeface="Arial"/>
              </a:rPr>
              <a:t>•  Config rules can watch for the same drift continuously and trigger remediation.</a:t>
            </a:r>
          </a:p>
          <a:p>
            <a:pPr>
              <a:spcAft>
                <a:spcPts val="800"/>
              </a:spcAft>
            </a:pPr>
            <a:r>
              <a:rPr sz="1350" b="0">
                <a:solidFill>
                  <a:srgbClr val="161B26"/>
                </a:solidFill>
                <a:latin typeface="Arial"/>
              </a:rPr>
              <a:t>•  The fix is to update the template to match intent or revert the resource to the template.</a:t>
            </a:r>
          </a:p>
        </p:txBody>
      </p:sp>
      <p:sp>
        <p:nvSpPr>
          <p:cNvPr id="11" name="Rectangle 10"/>
          <p:cNvSpPr/>
          <p:nvPr/>
        </p:nvSpPr>
        <p:spPr>
          <a:xfrm>
            <a:off x="6172200" y="1783080"/>
            <a:ext cx="5239512" cy="1325880"/>
          </a:xfrm>
          <a:prstGeom prst="rect">
            <a:avLst/>
          </a:prstGeom>
          <a:solidFill>
            <a:srgbClr val="FFFFFF"/>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ectangle 11"/>
          <p:cNvSpPr/>
          <p:nvPr/>
        </p:nvSpPr>
        <p:spPr>
          <a:xfrm>
            <a:off x="6172200" y="1783080"/>
            <a:ext cx="91440" cy="1325880"/>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6428232" y="1892808"/>
            <a:ext cx="4782312" cy="320040"/>
          </a:xfrm>
          <a:prstGeom prst="rect">
            <a:avLst/>
          </a:prstGeom>
          <a:noFill/>
        </p:spPr>
        <p:txBody>
          <a:bodyPr wrap="square" anchor="t">
            <a:spAutoFit/>
          </a:bodyPr>
          <a:lstStyle/>
          <a:p>
            <a:pPr algn="l">
              <a:spcAft>
                <a:spcPts val="400"/>
              </a:spcAft>
            </a:pPr>
            <a:r>
              <a:rPr sz="1150" b="1">
                <a:solidFill>
                  <a:srgbClr val="7C3AED"/>
                </a:solidFill>
                <a:latin typeface="Arial"/>
              </a:rPr>
              <a:t>WHY IT MATTERS</a:t>
            </a:r>
          </a:p>
        </p:txBody>
      </p:sp>
      <p:sp>
        <p:nvSpPr>
          <p:cNvPr id="14" name="TextBox 13"/>
          <p:cNvSpPr txBox="1"/>
          <p:nvPr/>
        </p:nvSpPr>
        <p:spPr>
          <a:xfrm>
            <a:off x="6428232" y="2221992"/>
            <a:ext cx="4782312" cy="822960"/>
          </a:xfrm>
          <a:prstGeom prst="rect">
            <a:avLst/>
          </a:prstGeom>
          <a:noFill/>
        </p:spPr>
        <p:txBody>
          <a:bodyPr wrap="square" anchor="t">
            <a:spAutoFit/>
          </a:bodyPr>
          <a:lstStyle/>
          <a:p>
            <a:pPr algn="l">
              <a:spcAft>
                <a:spcPts val="400"/>
              </a:spcAft>
            </a:pPr>
            <a:r>
              <a:rPr sz="1250" b="0">
                <a:solidFill>
                  <a:srgbClr val="161B26"/>
                </a:solidFill>
                <a:latin typeface="Arial"/>
              </a:rPr>
              <a:t>Detecting drift early prevents the slow divergence that eventually makes a stack un-updatable.</a:t>
            </a:r>
          </a:p>
        </p:txBody>
      </p:sp>
      <p:sp>
        <p:nvSpPr>
          <p:cNvPr id="15" name="Rectangle 14"/>
          <p:cNvSpPr/>
          <p:nvPr/>
        </p:nvSpPr>
        <p:spPr>
          <a:xfrm>
            <a:off x="6172200" y="3246120"/>
            <a:ext cx="5239512" cy="1325880"/>
          </a:xfrm>
          <a:prstGeom prst="rect">
            <a:avLst/>
          </a:prstGeom>
          <a:solidFill>
            <a:srgbClr val="FFFFFF"/>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ectangle 15"/>
          <p:cNvSpPr/>
          <p:nvPr/>
        </p:nvSpPr>
        <p:spPr>
          <a:xfrm>
            <a:off x="6172200" y="3246120"/>
            <a:ext cx="91440" cy="1325880"/>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6428232" y="3355848"/>
            <a:ext cx="4782312" cy="320040"/>
          </a:xfrm>
          <a:prstGeom prst="rect">
            <a:avLst/>
          </a:prstGeom>
          <a:noFill/>
        </p:spPr>
        <p:txBody>
          <a:bodyPr wrap="square" anchor="t">
            <a:spAutoFit/>
          </a:bodyPr>
          <a:lstStyle/>
          <a:p>
            <a:pPr algn="l">
              <a:spcAft>
                <a:spcPts val="400"/>
              </a:spcAft>
            </a:pPr>
            <a:r>
              <a:rPr sz="1150" b="1">
                <a:solidFill>
                  <a:srgbClr val="C0392B"/>
                </a:solidFill>
                <a:latin typeface="Arial"/>
              </a:rPr>
              <a:t>FAILURE MODE</a:t>
            </a:r>
          </a:p>
        </p:txBody>
      </p:sp>
      <p:sp>
        <p:nvSpPr>
          <p:cNvPr id="18" name="TextBox 17"/>
          <p:cNvSpPr txBox="1"/>
          <p:nvPr/>
        </p:nvSpPr>
        <p:spPr>
          <a:xfrm>
            <a:off x="6428232" y="3685032"/>
            <a:ext cx="4782312" cy="822960"/>
          </a:xfrm>
          <a:prstGeom prst="rect">
            <a:avLst/>
          </a:prstGeom>
          <a:noFill/>
        </p:spPr>
        <p:txBody>
          <a:bodyPr wrap="square" anchor="t">
            <a:spAutoFit/>
          </a:bodyPr>
          <a:lstStyle/>
          <a:p>
            <a:pPr algn="l">
              <a:spcAft>
                <a:spcPts val="400"/>
              </a:spcAft>
            </a:pPr>
            <a:r>
              <a:rPr sz="1250" b="0">
                <a:solidFill>
                  <a:srgbClr val="161B26"/>
                </a:solidFill>
                <a:latin typeface="Arial"/>
              </a:rPr>
              <a:t>Ignoring drift until an urgent change is needed means your 'safe' update now collides with undocumented manual edits.</a:t>
            </a:r>
          </a:p>
        </p:txBody>
      </p:sp>
      <p:sp>
        <p:nvSpPr>
          <p:cNvPr id="19" name="Rectangle 18"/>
          <p:cNvSpPr/>
          <p:nvPr/>
        </p:nvSpPr>
        <p:spPr>
          <a:xfrm>
            <a:off x="6172200" y="4709160"/>
            <a:ext cx="5239512" cy="1325880"/>
          </a:xfrm>
          <a:prstGeom prst="rect">
            <a:avLst/>
          </a:prstGeom>
          <a:solidFill>
            <a:srgbClr val="FFFFFF"/>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Rectangle 19"/>
          <p:cNvSpPr/>
          <p:nvPr/>
        </p:nvSpPr>
        <p:spPr>
          <a:xfrm>
            <a:off x="6172200" y="4709160"/>
            <a:ext cx="91440" cy="1325880"/>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6428232" y="4818888"/>
            <a:ext cx="4782312" cy="320040"/>
          </a:xfrm>
          <a:prstGeom prst="rect">
            <a:avLst/>
          </a:prstGeom>
          <a:noFill/>
        </p:spPr>
        <p:txBody>
          <a:bodyPr wrap="square" anchor="t">
            <a:spAutoFit/>
          </a:bodyPr>
          <a:lstStyle/>
          <a:p>
            <a:pPr algn="l">
              <a:spcAft>
                <a:spcPts val="400"/>
              </a:spcAft>
            </a:pPr>
            <a:r>
              <a:rPr sz="1150" b="1">
                <a:solidFill>
                  <a:srgbClr val="F59E0B"/>
                </a:solidFill>
                <a:latin typeface="Arial"/>
              </a:rPr>
              <a:t>TRADE-OFF / DECISION</a:t>
            </a:r>
          </a:p>
        </p:txBody>
      </p:sp>
      <p:sp>
        <p:nvSpPr>
          <p:cNvPr id="22" name="TextBox 21"/>
          <p:cNvSpPr txBox="1"/>
          <p:nvPr/>
        </p:nvSpPr>
        <p:spPr>
          <a:xfrm>
            <a:off x="6428232" y="5148072"/>
            <a:ext cx="4782312" cy="822960"/>
          </a:xfrm>
          <a:prstGeom prst="rect">
            <a:avLst/>
          </a:prstGeom>
          <a:noFill/>
        </p:spPr>
        <p:txBody>
          <a:bodyPr wrap="square" anchor="t">
            <a:spAutoFit/>
          </a:bodyPr>
          <a:lstStyle/>
          <a:p>
            <a:pPr algn="l">
              <a:spcAft>
                <a:spcPts val="400"/>
              </a:spcAft>
            </a:pPr>
            <a:r>
              <a:rPr sz="1250" b="0">
                <a:solidFill>
                  <a:srgbClr val="161B26"/>
                </a:solidFill>
                <a:latin typeface="Arial"/>
              </a:rPr>
              <a:t>Strict no-drift policies improve auditability but can slow emergency fixes — provide a documented break-glass path.</a:t>
            </a:r>
          </a:p>
        </p:txBody>
      </p:sp>
      <p:sp>
        <p:nvSpPr>
          <p:cNvPr id="23" name="TextBox 22"/>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DevOps Engineering on AWS  ·  TGS-2023040474</a:t>
            </a:r>
          </a:p>
        </p:txBody>
      </p:sp>
      <p:sp>
        <p:nvSpPr>
          <p:cNvPr id="24" name="TextBox 23"/>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25" name="TextBox 24"/>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82</a:t>
            </a:r>
          </a:p>
        </p:txBody>
      </p:sp>
    </p:spTree>
  </p:cSld>
  <p:clrMapOvr>
    <a:masterClrMapping/>
  </p:clrMapOvr>
  <p:transition xmlns:p14="http://schemas.microsoft.com/office/powerpoint/2010/main" p14:dur="380">
    <p:fade/>
  </p:transition>
</p:sld>
</file>

<file path=ppt/slides/slide8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38912"/>
            <a:ext cx="10607040" cy="365760"/>
          </a:xfrm>
          <a:prstGeom prst="rect">
            <a:avLst/>
          </a:prstGeom>
          <a:noFill/>
        </p:spPr>
        <p:txBody>
          <a:bodyPr wrap="square" anchor="t">
            <a:spAutoFit/>
          </a:bodyPr>
          <a:lstStyle/>
          <a:p>
            <a:pPr algn="l">
              <a:spcAft>
                <a:spcPts val="400"/>
              </a:spcAft>
            </a:pPr>
            <a:r>
              <a:rPr sz="1400" b="1">
                <a:solidFill>
                  <a:srgbClr val="7C3AED"/>
                </a:solidFill>
                <a:latin typeface="Arial"/>
              </a:rPr>
              <a:t>IN DEPTH</a:t>
            </a:r>
          </a:p>
        </p:txBody>
      </p:sp>
      <p:sp>
        <p:nvSpPr>
          <p:cNvPr id="5" name="TextBox 4"/>
          <p:cNvSpPr txBox="1"/>
          <p:nvPr/>
        </p:nvSpPr>
        <p:spPr>
          <a:xfrm>
            <a:off x="777240" y="896112"/>
            <a:ext cx="10927080" cy="731520"/>
          </a:xfrm>
          <a:prstGeom prst="rect">
            <a:avLst/>
          </a:prstGeom>
          <a:noFill/>
        </p:spPr>
        <p:txBody>
          <a:bodyPr wrap="square" anchor="t">
            <a:spAutoFit/>
          </a:bodyPr>
          <a:lstStyle/>
          <a:p>
            <a:pPr algn="l">
              <a:spcAft>
                <a:spcPts val="400"/>
              </a:spcAft>
            </a:pPr>
            <a:r>
              <a:rPr sz="2100" b="1">
                <a:solidFill>
                  <a:srgbClr val="161B26"/>
                </a:solidFill>
                <a:latin typeface="Arial"/>
              </a:rPr>
              <a:t>Multi-account governance — Organizations, Control Tower, SCPs</a:t>
            </a:r>
          </a:p>
        </p:txBody>
      </p:sp>
      <p:sp>
        <p:nvSpPr>
          <p:cNvPr id="6" name="Rectangle 5"/>
          <p:cNvSpPr/>
          <p:nvPr/>
        </p:nvSpPr>
        <p:spPr>
          <a:xfrm>
            <a:off x="777240" y="1572768"/>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783080"/>
            <a:ext cx="5212080" cy="425196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1783080"/>
            <a:ext cx="5212080" cy="91440"/>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1005840" y="1938528"/>
            <a:ext cx="4754880" cy="365760"/>
          </a:xfrm>
          <a:prstGeom prst="rect">
            <a:avLst/>
          </a:prstGeom>
          <a:noFill/>
        </p:spPr>
        <p:txBody>
          <a:bodyPr wrap="square" anchor="t">
            <a:spAutoFit/>
          </a:bodyPr>
          <a:lstStyle/>
          <a:p>
            <a:pPr algn="l">
              <a:spcAft>
                <a:spcPts val="400"/>
              </a:spcAft>
            </a:pPr>
            <a:r>
              <a:rPr sz="1200" b="1">
                <a:solidFill>
                  <a:srgbClr val="7C3AED"/>
                </a:solidFill>
                <a:latin typeface="Arial"/>
              </a:rPr>
              <a:t>IN DEPTH</a:t>
            </a:r>
          </a:p>
        </p:txBody>
      </p:sp>
      <p:sp>
        <p:nvSpPr>
          <p:cNvPr id="10" name="TextBox 9"/>
          <p:cNvSpPr txBox="1"/>
          <p:nvPr/>
        </p:nvSpPr>
        <p:spPr>
          <a:xfrm>
            <a:off x="1005840" y="2377440"/>
            <a:ext cx="4754880" cy="3566160"/>
          </a:xfrm>
          <a:prstGeom prst="rect">
            <a:avLst/>
          </a:prstGeom>
          <a:noFill/>
        </p:spPr>
        <p:txBody>
          <a:bodyPr wrap="square">
            <a:spAutoFit/>
          </a:bodyPr>
          <a:lstStyle/>
          <a:p>
            <a:pPr>
              <a:spcAft>
                <a:spcPts val="800"/>
              </a:spcAft>
            </a:pPr>
            <a:r>
              <a:rPr sz="1350" b="0">
                <a:solidFill>
                  <a:srgbClr val="161B26"/>
                </a:solidFill>
                <a:latin typeface="Arial"/>
              </a:rPr>
              <a:t>•  AWS Organizations groups accounts; Service Control Policies set the maximum permissions any account can grant.</a:t>
            </a:r>
          </a:p>
          <a:p>
            <a:pPr>
              <a:spcAft>
                <a:spcPts val="800"/>
              </a:spcAft>
            </a:pPr>
            <a:r>
              <a:rPr sz="1350" b="0">
                <a:solidFill>
                  <a:srgbClr val="161B26"/>
                </a:solidFill>
                <a:latin typeface="Arial"/>
              </a:rPr>
              <a:t>•  Control Tower stands up a landing zone with guardrails, a shared logging account and account factory.</a:t>
            </a:r>
          </a:p>
          <a:p>
            <a:pPr>
              <a:spcAft>
                <a:spcPts val="800"/>
              </a:spcAft>
            </a:pPr>
            <a:r>
              <a:rPr sz="1350" b="0">
                <a:solidFill>
                  <a:srgbClr val="161B26"/>
                </a:solidFill>
                <a:latin typeface="Arial"/>
              </a:rPr>
              <a:t>•  New accounts are vended pre-configured to the security and network baseline.</a:t>
            </a:r>
          </a:p>
        </p:txBody>
      </p:sp>
      <p:sp>
        <p:nvSpPr>
          <p:cNvPr id="11" name="Rectangle 10"/>
          <p:cNvSpPr/>
          <p:nvPr/>
        </p:nvSpPr>
        <p:spPr>
          <a:xfrm>
            <a:off x="6172200" y="1783080"/>
            <a:ext cx="5239512" cy="1325880"/>
          </a:xfrm>
          <a:prstGeom prst="rect">
            <a:avLst/>
          </a:prstGeom>
          <a:solidFill>
            <a:srgbClr val="FFFFFF"/>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ectangle 11"/>
          <p:cNvSpPr/>
          <p:nvPr/>
        </p:nvSpPr>
        <p:spPr>
          <a:xfrm>
            <a:off x="6172200" y="1783080"/>
            <a:ext cx="91440" cy="1325880"/>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6428232" y="1892808"/>
            <a:ext cx="4782312" cy="320040"/>
          </a:xfrm>
          <a:prstGeom prst="rect">
            <a:avLst/>
          </a:prstGeom>
          <a:noFill/>
        </p:spPr>
        <p:txBody>
          <a:bodyPr wrap="square" anchor="t">
            <a:spAutoFit/>
          </a:bodyPr>
          <a:lstStyle/>
          <a:p>
            <a:pPr algn="l">
              <a:spcAft>
                <a:spcPts val="400"/>
              </a:spcAft>
            </a:pPr>
            <a:r>
              <a:rPr sz="1150" b="1">
                <a:solidFill>
                  <a:srgbClr val="7C3AED"/>
                </a:solidFill>
                <a:latin typeface="Arial"/>
              </a:rPr>
              <a:t>WHY IT MATTERS</a:t>
            </a:r>
          </a:p>
        </p:txBody>
      </p:sp>
      <p:sp>
        <p:nvSpPr>
          <p:cNvPr id="14" name="TextBox 13"/>
          <p:cNvSpPr txBox="1"/>
          <p:nvPr/>
        </p:nvSpPr>
        <p:spPr>
          <a:xfrm>
            <a:off x="6428232" y="2221992"/>
            <a:ext cx="4782312" cy="822960"/>
          </a:xfrm>
          <a:prstGeom prst="rect">
            <a:avLst/>
          </a:prstGeom>
          <a:noFill/>
        </p:spPr>
        <p:txBody>
          <a:bodyPr wrap="square" anchor="t">
            <a:spAutoFit/>
          </a:bodyPr>
          <a:lstStyle/>
          <a:p>
            <a:pPr algn="l">
              <a:spcAft>
                <a:spcPts val="400"/>
              </a:spcAft>
            </a:pPr>
            <a:r>
              <a:rPr sz="1250" b="0">
                <a:solidFill>
                  <a:srgbClr val="161B26"/>
                </a:solidFill>
                <a:latin typeface="Arial"/>
              </a:rPr>
              <a:t>Account-level isolation plus org-wide guardrails give strong blast-radius control and a consistent, auditable baseline.</a:t>
            </a:r>
          </a:p>
        </p:txBody>
      </p:sp>
      <p:sp>
        <p:nvSpPr>
          <p:cNvPr id="15" name="Rectangle 14"/>
          <p:cNvSpPr/>
          <p:nvPr/>
        </p:nvSpPr>
        <p:spPr>
          <a:xfrm>
            <a:off x="6172200" y="3246120"/>
            <a:ext cx="5239512" cy="1325880"/>
          </a:xfrm>
          <a:prstGeom prst="rect">
            <a:avLst/>
          </a:prstGeom>
          <a:solidFill>
            <a:srgbClr val="FFFFFF"/>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ectangle 15"/>
          <p:cNvSpPr/>
          <p:nvPr/>
        </p:nvSpPr>
        <p:spPr>
          <a:xfrm>
            <a:off x="6172200" y="3246120"/>
            <a:ext cx="91440" cy="1325880"/>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6428232" y="3355848"/>
            <a:ext cx="4782312" cy="320040"/>
          </a:xfrm>
          <a:prstGeom prst="rect">
            <a:avLst/>
          </a:prstGeom>
          <a:noFill/>
        </p:spPr>
        <p:txBody>
          <a:bodyPr wrap="square" anchor="t">
            <a:spAutoFit/>
          </a:bodyPr>
          <a:lstStyle/>
          <a:p>
            <a:pPr algn="l">
              <a:spcAft>
                <a:spcPts val="400"/>
              </a:spcAft>
            </a:pPr>
            <a:r>
              <a:rPr sz="1150" b="1">
                <a:solidFill>
                  <a:srgbClr val="C0392B"/>
                </a:solidFill>
                <a:latin typeface="Arial"/>
              </a:rPr>
              <a:t>FAILURE MODE</a:t>
            </a:r>
          </a:p>
        </p:txBody>
      </p:sp>
      <p:sp>
        <p:nvSpPr>
          <p:cNvPr id="18" name="TextBox 17"/>
          <p:cNvSpPr txBox="1"/>
          <p:nvPr/>
        </p:nvSpPr>
        <p:spPr>
          <a:xfrm>
            <a:off x="6428232" y="3685032"/>
            <a:ext cx="4782312" cy="822960"/>
          </a:xfrm>
          <a:prstGeom prst="rect">
            <a:avLst/>
          </a:prstGeom>
          <a:noFill/>
        </p:spPr>
        <p:txBody>
          <a:bodyPr wrap="square" anchor="t">
            <a:spAutoFit/>
          </a:bodyPr>
          <a:lstStyle/>
          <a:p>
            <a:pPr algn="l">
              <a:spcAft>
                <a:spcPts val="400"/>
              </a:spcAft>
            </a:pPr>
            <a:r>
              <a:rPr sz="1250" b="0">
                <a:solidFill>
                  <a:srgbClr val="161B26"/>
                </a:solidFill>
                <a:latin typeface="Arial"/>
              </a:rPr>
              <a:t>A single shared account for everything makes least-privilege impossible and one mistake blast-radius huge.</a:t>
            </a:r>
          </a:p>
        </p:txBody>
      </p:sp>
      <p:sp>
        <p:nvSpPr>
          <p:cNvPr id="19" name="Rectangle 18"/>
          <p:cNvSpPr/>
          <p:nvPr/>
        </p:nvSpPr>
        <p:spPr>
          <a:xfrm>
            <a:off x="6172200" y="4709160"/>
            <a:ext cx="5239512" cy="1325880"/>
          </a:xfrm>
          <a:prstGeom prst="rect">
            <a:avLst/>
          </a:prstGeom>
          <a:solidFill>
            <a:srgbClr val="FFFFFF"/>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Rectangle 19"/>
          <p:cNvSpPr/>
          <p:nvPr/>
        </p:nvSpPr>
        <p:spPr>
          <a:xfrm>
            <a:off x="6172200" y="4709160"/>
            <a:ext cx="91440" cy="1325880"/>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6428232" y="4818888"/>
            <a:ext cx="4782312" cy="320040"/>
          </a:xfrm>
          <a:prstGeom prst="rect">
            <a:avLst/>
          </a:prstGeom>
          <a:noFill/>
        </p:spPr>
        <p:txBody>
          <a:bodyPr wrap="square" anchor="t">
            <a:spAutoFit/>
          </a:bodyPr>
          <a:lstStyle/>
          <a:p>
            <a:pPr algn="l">
              <a:spcAft>
                <a:spcPts val="400"/>
              </a:spcAft>
            </a:pPr>
            <a:r>
              <a:rPr sz="1150" b="1">
                <a:solidFill>
                  <a:srgbClr val="F59E0B"/>
                </a:solidFill>
                <a:latin typeface="Arial"/>
              </a:rPr>
              <a:t>TRADE-OFF / DECISION</a:t>
            </a:r>
          </a:p>
        </p:txBody>
      </p:sp>
      <p:sp>
        <p:nvSpPr>
          <p:cNvPr id="22" name="TextBox 21"/>
          <p:cNvSpPr txBox="1"/>
          <p:nvPr/>
        </p:nvSpPr>
        <p:spPr>
          <a:xfrm>
            <a:off x="6428232" y="5148072"/>
            <a:ext cx="4782312" cy="822960"/>
          </a:xfrm>
          <a:prstGeom prst="rect">
            <a:avLst/>
          </a:prstGeom>
          <a:noFill/>
        </p:spPr>
        <p:txBody>
          <a:bodyPr wrap="square" anchor="t">
            <a:spAutoFit/>
          </a:bodyPr>
          <a:lstStyle/>
          <a:p>
            <a:pPr algn="l">
              <a:spcAft>
                <a:spcPts val="400"/>
              </a:spcAft>
            </a:pPr>
            <a:r>
              <a:rPr sz="1250" b="0">
                <a:solidFill>
                  <a:srgbClr val="161B26"/>
                </a:solidFill>
                <a:latin typeface="Arial"/>
              </a:rPr>
              <a:t>More accounts improve isolation but add networking and operational overhead — automate account vending to keep it manageable.</a:t>
            </a:r>
          </a:p>
        </p:txBody>
      </p:sp>
      <p:sp>
        <p:nvSpPr>
          <p:cNvPr id="23" name="TextBox 22"/>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DevOps Engineering on AWS  ·  TGS-2023040474</a:t>
            </a:r>
          </a:p>
        </p:txBody>
      </p:sp>
      <p:sp>
        <p:nvSpPr>
          <p:cNvPr id="24" name="TextBox 23"/>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25" name="TextBox 24"/>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83</a:t>
            </a:r>
          </a:p>
        </p:txBody>
      </p:sp>
    </p:spTree>
  </p:cSld>
  <p:clrMapOvr>
    <a:masterClrMapping/>
  </p:clrMapOvr>
  <p:transition xmlns:p14="http://schemas.microsoft.com/office/powerpoint/2010/main" p14:dur="380">
    <p:fade/>
  </p:transition>
</p:sld>
</file>

<file path=ppt/slides/slide8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38912"/>
            <a:ext cx="10607040" cy="365760"/>
          </a:xfrm>
          <a:prstGeom prst="rect">
            <a:avLst/>
          </a:prstGeom>
          <a:noFill/>
        </p:spPr>
        <p:txBody>
          <a:bodyPr wrap="square" anchor="t">
            <a:spAutoFit/>
          </a:bodyPr>
          <a:lstStyle/>
          <a:p>
            <a:pPr algn="l">
              <a:spcAft>
                <a:spcPts val="400"/>
              </a:spcAft>
            </a:pPr>
            <a:r>
              <a:rPr sz="1400" b="1">
                <a:solidFill>
                  <a:srgbClr val="7C3AED"/>
                </a:solidFill>
                <a:latin typeface="Arial"/>
              </a:rPr>
              <a:t>IN DEPTH</a:t>
            </a:r>
          </a:p>
        </p:txBody>
      </p:sp>
      <p:sp>
        <p:nvSpPr>
          <p:cNvPr id="5" name="TextBox 4"/>
          <p:cNvSpPr txBox="1"/>
          <p:nvPr/>
        </p:nvSpPr>
        <p:spPr>
          <a:xfrm>
            <a:off x="777240" y="896112"/>
            <a:ext cx="10927080" cy="731520"/>
          </a:xfrm>
          <a:prstGeom prst="rect">
            <a:avLst/>
          </a:prstGeom>
          <a:noFill/>
        </p:spPr>
        <p:txBody>
          <a:bodyPr wrap="square" anchor="t">
            <a:spAutoFit/>
          </a:bodyPr>
          <a:lstStyle/>
          <a:p>
            <a:pPr algn="l">
              <a:spcAft>
                <a:spcPts val="400"/>
              </a:spcAft>
            </a:pPr>
            <a:r>
              <a:rPr sz="2100" b="1">
                <a:solidFill>
                  <a:srgbClr val="161B26"/>
                </a:solidFill>
                <a:latin typeface="Arial"/>
              </a:rPr>
              <a:t>Secrets &amp; configuration — Parameter Store vs Secrets Manager</a:t>
            </a:r>
          </a:p>
        </p:txBody>
      </p:sp>
      <p:sp>
        <p:nvSpPr>
          <p:cNvPr id="6" name="Rectangle 5"/>
          <p:cNvSpPr/>
          <p:nvPr/>
        </p:nvSpPr>
        <p:spPr>
          <a:xfrm>
            <a:off x="777240" y="1572768"/>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783080"/>
            <a:ext cx="5212080" cy="425196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1783080"/>
            <a:ext cx="5212080" cy="91440"/>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1005840" y="1938528"/>
            <a:ext cx="4754880" cy="365760"/>
          </a:xfrm>
          <a:prstGeom prst="rect">
            <a:avLst/>
          </a:prstGeom>
          <a:noFill/>
        </p:spPr>
        <p:txBody>
          <a:bodyPr wrap="square" anchor="t">
            <a:spAutoFit/>
          </a:bodyPr>
          <a:lstStyle/>
          <a:p>
            <a:pPr algn="l">
              <a:spcAft>
                <a:spcPts val="400"/>
              </a:spcAft>
            </a:pPr>
            <a:r>
              <a:rPr sz="1200" b="1">
                <a:solidFill>
                  <a:srgbClr val="7C3AED"/>
                </a:solidFill>
                <a:latin typeface="Arial"/>
              </a:rPr>
              <a:t>IN DEPTH</a:t>
            </a:r>
          </a:p>
        </p:txBody>
      </p:sp>
      <p:sp>
        <p:nvSpPr>
          <p:cNvPr id="10" name="TextBox 9"/>
          <p:cNvSpPr txBox="1"/>
          <p:nvPr/>
        </p:nvSpPr>
        <p:spPr>
          <a:xfrm>
            <a:off x="1005840" y="2377440"/>
            <a:ext cx="4754880" cy="3566160"/>
          </a:xfrm>
          <a:prstGeom prst="rect">
            <a:avLst/>
          </a:prstGeom>
          <a:noFill/>
        </p:spPr>
        <p:txBody>
          <a:bodyPr wrap="square">
            <a:spAutoFit/>
          </a:bodyPr>
          <a:lstStyle/>
          <a:p>
            <a:pPr>
              <a:spcAft>
                <a:spcPts val="800"/>
              </a:spcAft>
            </a:pPr>
            <a:r>
              <a:rPr sz="1350" b="0">
                <a:solidFill>
                  <a:srgbClr val="161B26"/>
                </a:solidFill>
                <a:latin typeface="Arial"/>
              </a:rPr>
              <a:t>•  Parameter Store holds configuration values (and SecureString secrets) with a generous free tier.</a:t>
            </a:r>
          </a:p>
          <a:p>
            <a:pPr>
              <a:spcAft>
                <a:spcPts val="800"/>
              </a:spcAft>
            </a:pPr>
            <a:r>
              <a:rPr sz="1350" b="0">
                <a:solidFill>
                  <a:srgbClr val="161B26"/>
                </a:solidFill>
                <a:latin typeface="Arial"/>
              </a:rPr>
              <a:t>•  Secrets Manager adds built-in, scheduled rotation and tight integration with RDS and other services.</a:t>
            </a:r>
          </a:p>
          <a:p>
            <a:pPr>
              <a:spcAft>
                <a:spcPts val="800"/>
              </a:spcAft>
            </a:pPr>
            <a:r>
              <a:rPr sz="1350" b="0">
                <a:solidFill>
                  <a:srgbClr val="161B26"/>
                </a:solidFill>
                <a:latin typeface="Arial"/>
              </a:rPr>
              <a:t>•  Both keep sensitive values out of templates, code and logs, retrieved at deploy/run time by IAM-scoped principals.</a:t>
            </a:r>
          </a:p>
        </p:txBody>
      </p:sp>
      <p:sp>
        <p:nvSpPr>
          <p:cNvPr id="11" name="Rectangle 10"/>
          <p:cNvSpPr/>
          <p:nvPr/>
        </p:nvSpPr>
        <p:spPr>
          <a:xfrm>
            <a:off x="6172200" y="1783080"/>
            <a:ext cx="5239512" cy="1325880"/>
          </a:xfrm>
          <a:prstGeom prst="rect">
            <a:avLst/>
          </a:prstGeom>
          <a:solidFill>
            <a:srgbClr val="FFFFFF"/>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ectangle 11"/>
          <p:cNvSpPr/>
          <p:nvPr/>
        </p:nvSpPr>
        <p:spPr>
          <a:xfrm>
            <a:off x="6172200" y="1783080"/>
            <a:ext cx="91440" cy="1325880"/>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6428232" y="1892808"/>
            <a:ext cx="4782312" cy="320040"/>
          </a:xfrm>
          <a:prstGeom prst="rect">
            <a:avLst/>
          </a:prstGeom>
          <a:noFill/>
        </p:spPr>
        <p:txBody>
          <a:bodyPr wrap="square" anchor="t">
            <a:spAutoFit/>
          </a:bodyPr>
          <a:lstStyle/>
          <a:p>
            <a:pPr algn="l">
              <a:spcAft>
                <a:spcPts val="400"/>
              </a:spcAft>
            </a:pPr>
            <a:r>
              <a:rPr sz="1150" b="1">
                <a:solidFill>
                  <a:srgbClr val="7C3AED"/>
                </a:solidFill>
                <a:latin typeface="Arial"/>
              </a:rPr>
              <a:t>WHY IT MATTERS</a:t>
            </a:r>
          </a:p>
        </p:txBody>
      </p:sp>
      <p:sp>
        <p:nvSpPr>
          <p:cNvPr id="14" name="TextBox 13"/>
          <p:cNvSpPr txBox="1"/>
          <p:nvPr/>
        </p:nvSpPr>
        <p:spPr>
          <a:xfrm>
            <a:off x="6428232" y="2221992"/>
            <a:ext cx="4782312" cy="822960"/>
          </a:xfrm>
          <a:prstGeom prst="rect">
            <a:avLst/>
          </a:prstGeom>
          <a:noFill/>
        </p:spPr>
        <p:txBody>
          <a:bodyPr wrap="square" anchor="t">
            <a:spAutoFit/>
          </a:bodyPr>
          <a:lstStyle/>
          <a:p>
            <a:pPr algn="l">
              <a:spcAft>
                <a:spcPts val="400"/>
              </a:spcAft>
            </a:pPr>
            <a:r>
              <a:rPr sz="1250" b="0">
                <a:solidFill>
                  <a:srgbClr val="161B26"/>
                </a:solidFill>
                <a:latin typeface="Arial"/>
              </a:rPr>
              <a:t>Externalising configuration and secrets lets one immutable artifact run safely in every environment.</a:t>
            </a:r>
          </a:p>
        </p:txBody>
      </p:sp>
      <p:sp>
        <p:nvSpPr>
          <p:cNvPr id="15" name="Rectangle 14"/>
          <p:cNvSpPr/>
          <p:nvPr/>
        </p:nvSpPr>
        <p:spPr>
          <a:xfrm>
            <a:off x="6172200" y="3246120"/>
            <a:ext cx="5239512" cy="1325880"/>
          </a:xfrm>
          <a:prstGeom prst="rect">
            <a:avLst/>
          </a:prstGeom>
          <a:solidFill>
            <a:srgbClr val="FFFFFF"/>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ectangle 15"/>
          <p:cNvSpPr/>
          <p:nvPr/>
        </p:nvSpPr>
        <p:spPr>
          <a:xfrm>
            <a:off x="6172200" y="3246120"/>
            <a:ext cx="91440" cy="1325880"/>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6428232" y="3355848"/>
            <a:ext cx="4782312" cy="320040"/>
          </a:xfrm>
          <a:prstGeom prst="rect">
            <a:avLst/>
          </a:prstGeom>
          <a:noFill/>
        </p:spPr>
        <p:txBody>
          <a:bodyPr wrap="square" anchor="t">
            <a:spAutoFit/>
          </a:bodyPr>
          <a:lstStyle/>
          <a:p>
            <a:pPr algn="l">
              <a:spcAft>
                <a:spcPts val="400"/>
              </a:spcAft>
            </a:pPr>
            <a:r>
              <a:rPr sz="1150" b="1">
                <a:solidFill>
                  <a:srgbClr val="C0392B"/>
                </a:solidFill>
                <a:latin typeface="Arial"/>
              </a:rPr>
              <a:t>FAILURE MODE</a:t>
            </a:r>
          </a:p>
        </p:txBody>
      </p:sp>
      <p:sp>
        <p:nvSpPr>
          <p:cNvPr id="18" name="TextBox 17"/>
          <p:cNvSpPr txBox="1"/>
          <p:nvPr/>
        </p:nvSpPr>
        <p:spPr>
          <a:xfrm>
            <a:off x="6428232" y="3685032"/>
            <a:ext cx="4782312" cy="822960"/>
          </a:xfrm>
          <a:prstGeom prst="rect">
            <a:avLst/>
          </a:prstGeom>
          <a:noFill/>
        </p:spPr>
        <p:txBody>
          <a:bodyPr wrap="square" anchor="t">
            <a:spAutoFit/>
          </a:bodyPr>
          <a:lstStyle/>
          <a:p>
            <a:pPr algn="l">
              <a:spcAft>
                <a:spcPts val="400"/>
              </a:spcAft>
            </a:pPr>
            <a:r>
              <a:rPr sz="1250" b="0">
                <a:solidFill>
                  <a:srgbClr val="161B26"/>
                </a:solidFill>
                <a:latin typeface="Arial"/>
              </a:rPr>
              <a:t>Baking a database password into a template or AMI leaks it into every copy and every log line.</a:t>
            </a:r>
          </a:p>
        </p:txBody>
      </p:sp>
      <p:sp>
        <p:nvSpPr>
          <p:cNvPr id="19" name="Rectangle 18"/>
          <p:cNvSpPr/>
          <p:nvPr/>
        </p:nvSpPr>
        <p:spPr>
          <a:xfrm>
            <a:off x="6172200" y="4709160"/>
            <a:ext cx="5239512" cy="1325880"/>
          </a:xfrm>
          <a:prstGeom prst="rect">
            <a:avLst/>
          </a:prstGeom>
          <a:solidFill>
            <a:srgbClr val="FFFFFF"/>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Rectangle 19"/>
          <p:cNvSpPr/>
          <p:nvPr/>
        </p:nvSpPr>
        <p:spPr>
          <a:xfrm>
            <a:off x="6172200" y="4709160"/>
            <a:ext cx="91440" cy="1325880"/>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6428232" y="4818888"/>
            <a:ext cx="4782312" cy="320040"/>
          </a:xfrm>
          <a:prstGeom prst="rect">
            <a:avLst/>
          </a:prstGeom>
          <a:noFill/>
        </p:spPr>
        <p:txBody>
          <a:bodyPr wrap="square" anchor="t">
            <a:spAutoFit/>
          </a:bodyPr>
          <a:lstStyle/>
          <a:p>
            <a:pPr algn="l">
              <a:spcAft>
                <a:spcPts val="400"/>
              </a:spcAft>
            </a:pPr>
            <a:r>
              <a:rPr sz="1150" b="1">
                <a:solidFill>
                  <a:srgbClr val="F59E0B"/>
                </a:solidFill>
                <a:latin typeface="Arial"/>
              </a:rPr>
              <a:t>TRADE-OFF / DECISION</a:t>
            </a:r>
          </a:p>
        </p:txBody>
      </p:sp>
      <p:sp>
        <p:nvSpPr>
          <p:cNvPr id="22" name="TextBox 21"/>
          <p:cNvSpPr txBox="1"/>
          <p:nvPr/>
        </p:nvSpPr>
        <p:spPr>
          <a:xfrm>
            <a:off x="6428232" y="5148072"/>
            <a:ext cx="4782312" cy="822960"/>
          </a:xfrm>
          <a:prstGeom prst="rect">
            <a:avLst/>
          </a:prstGeom>
          <a:noFill/>
        </p:spPr>
        <p:txBody>
          <a:bodyPr wrap="square" anchor="t">
            <a:spAutoFit/>
          </a:bodyPr>
          <a:lstStyle/>
          <a:p>
            <a:pPr algn="l">
              <a:spcAft>
                <a:spcPts val="400"/>
              </a:spcAft>
            </a:pPr>
            <a:r>
              <a:rPr sz="1250" b="0">
                <a:solidFill>
                  <a:srgbClr val="161B26"/>
                </a:solidFill>
                <a:latin typeface="Arial"/>
              </a:rPr>
              <a:t>Automatic rotation is safest but must be tested — a rotation that apps don't reload can cause outages.</a:t>
            </a:r>
          </a:p>
        </p:txBody>
      </p:sp>
      <p:sp>
        <p:nvSpPr>
          <p:cNvPr id="23" name="TextBox 22"/>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DevOps Engineering on AWS  ·  TGS-2023040474</a:t>
            </a:r>
          </a:p>
        </p:txBody>
      </p:sp>
      <p:sp>
        <p:nvSpPr>
          <p:cNvPr id="24" name="TextBox 23"/>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25" name="TextBox 24"/>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84</a:t>
            </a:r>
          </a:p>
        </p:txBody>
      </p:sp>
    </p:spTree>
  </p:cSld>
  <p:clrMapOvr>
    <a:masterClrMapping/>
  </p:clrMapOvr>
  <p:transition xmlns:p14="http://schemas.microsoft.com/office/powerpoint/2010/main" p14:dur="380">
    <p:fade/>
  </p:transition>
</p:sld>
</file>

<file path=ppt/slides/slide8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38912"/>
            <a:ext cx="10607040" cy="365760"/>
          </a:xfrm>
          <a:prstGeom prst="rect">
            <a:avLst/>
          </a:prstGeom>
          <a:noFill/>
        </p:spPr>
        <p:txBody>
          <a:bodyPr wrap="square" anchor="t">
            <a:spAutoFit/>
          </a:bodyPr>
          <a:lstStyle/>
          <a:p>
            <a:pPr algn="l">
              <a:spcAft>
                <a:spcPts val="400"/>
              </a:spcAft>
            </a:pPr>
            <a:r>
              <a:rPr sz="1400" b="1">
                <a:solidFill>
                  <a:srgbClr val="7C3AED"/>
                </a:solidFill>
                <a:latin typeface="Arial"/>
              </a:rPr>
              <a:t>AVOIDING SURPRISE DOWNTIME</a:t>
            </a:r>
          </a:p>
        </p:txBody>
      </p:sp>
      <p:sp>
        <p:nvSpPr>
          <p:cNvPr id="5" name="TextBox 4"/>
          <p:cNvSpPr txBox="1"/>
          <p:nvPr/>
        </p:nvSpPr>
        <p:spPr>
          <a:xfrm>
            <a:off x="777240" y="896112"/>
            <a:ext cx="10927080" cy="731520"/>
          </a:xfrm>
          <a:prstGeom prst="rect">
            <a:avLst/>
          </a:prstGeom>
          <a:noFill/>
        </p:spPr>
        <p:txBody>
          <a:bodyPr wrap="square" anchor="t">
            <a:spAutoFit/>
          </a:bodyPr>
          <a:lstStyle/>
          <a:p>
            <a:pPr algn="l">
              <a:spcAft>
                <a:spcPts val="400"/>
              </a:spcAft>
            </a:pPr>
            <a:r>
              <a:rPr sz="2500" b="1">
                <a:solidFill>
                  <a:srgbClr val="161B26"/>
                </a:solidFill>
                <a:latin typeface="Arial"/>
              </a:rPr>
              <a:t>Change Set Replacement — Read Before You Execute</a:t>
            </a:r>
          </a:p>
        </p:txBody>
      </p:sp>
      <p:sp>
        <p:nvSpPr>
          <p:cNvPr id="6" name="Rectangle 5"/>
          <p:cNvSpPr/>
          <p:nvPr/>
        </p:nvSpPr>
        <p:spPr>
          <a:xfrm>
            <a:off x="777240" y="1572768"/>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783080"/>
            <a:ext cx="2764962" cy="502920"/>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886968" y="1783080"/>
            <a:ext cx="2582082" cy="502920"/>
          </a:xfrm>
          <a:prstGeom prst="rect">
            <a:avLst/>
          </a:prstGeom>
          <a:noFill/>
        </p:spPr>
        <p:txBody>
          <a:bodyPr wrap="square" anchor="ctr">
            <a:spAutoFit/>
          </a:bodyPr>
          <a:lstStyle/>
          <a:p>
            <a:pPr algn="l">
              <a:spcAft>
                <a:spcPts val="400"/>
              </a:spcAft>
            </a:pPr>
            <a:r>
              <a:rPr sz="1400" b="1">
                <a:solidFill>
                  <a:srgbClr val="FFFFFF"/>
                </a:solidFill>
                <a:latin typeface="Arial"/>
              </a:rPr>
              <a:t>Change type</a:t>
            </a:r>
          </a:p>
        </p:txBody>
      </p:sp>
      <p:sp>
        <p:nvSpPr>
          <p:cNvPr id="9" name="Rectangle 8"/>
          <p:cNvSpPr/>
          <p:nvPr/>
        </p:nvSpPr>
        <p:spPr>
          <a:xfrm>
            <a:off x="3542202" y="1783080"/>
            <a:ext cx="4253788" cy="502920"/>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3651930" y="1783080"/>
            <a:ext cx="4070908" cy="502920"/>
          </a:xfrm>
          <a:prstGeom prst="rect">
            <a:avLst/>
          </a:prstGeom>
          <a:noFill/>
        </p:spPr>
        <p:txBody>
          <a:bodyPr wrap="square" anchor="ctr">
            <a:spAutoFit/>
          </a:bodyPr>
          <a:lstStyle/>
          <a:p>
            <a:pPr algn="ctr">
              <a:spcAft>
                <a:spcPts val="400"/>
              </a:spcAft>
            </a:pPr>
            <a:r>
              <a:rPr sz="1400" b="1">
                <a:solidFill>
                  <a:srgbClr val="FFFFFF"/>
                </a:solidFill>
                <a:latin typeface="Arial"/>
              </a:rPr>
              <a:t>CloudFormation action</a:t>
            </a:r>
          </a:p>
        </p:txBody>
      </p:sp>
      <p:sp>
        <p:nvSpPr>
          <p:cNvPr id="11" name="Rectangle 10"/>
          <p:cNvSpPr/>
          <p:nvPr/>
        </p:nvSpPr>
        <p:spPr>
          <a:xfrm>
            <a:off x="7795990" y="1783080"/>
            <a:ext cx="3615720" cy="502920"/>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7905718" y="1783080"/>
            <a:ext cx="3432840" cy="502920"/>
          </a:xfrm>
          <a:prstGeom prst="rect">
            <a:avLst/>
          </a:prstGeom>
          <a:noFill/>
        </p:spPr>
        <p:txBody>
          <a:bodyPr wrap="square" anchor="ctr">
            <a:spAutoFit/>
          </a:bodyPr>
          <a:lstStyle/>
          <a:p>
            <a:pPr algn="ctr">
              <a:spcAft>
                <a:spcPts val="400"/>
              </a:spcAft>
            </a:pPr>
            <a:r>
              <a:rPr sz="1400" b="1">
                <a:solidFill>
                  <a:srgbClr val="FFFFFF"/>
                </a:solidFill>
                <a:latin typeface="Arial"/>
              </a:rPr>
              <a:t>Operational risk</a:t>
            </a:r>
          </a:p>
        </p:txBody>
      </p:sp>
      <p:sp>
        <p:nvSpPr>
          <p:cNvPr id="13" name="Rectangle 12"/>
          <p:cNvSpPr/>
          <p:nvPr/>
        </p:nvSpPr>
        <p:spPr>
          <a:xfrm>
            <a:off x="777240" y="2286000"/>
            <a:ext cx="2764962" cy="822960"/>
          </a:xfrm>
          <a:prstGeom prst="rect">
            <a:avLst/>
          </a:prstGeom>
          <a:solidFill>
            <a:srgbClr val="F5F8FC"/>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886968" y="2286000"/>
            <a:ext cx="2582082" cy="822960"/>
          </a:xfrm>
          <a:prstGeom prst="rect">
            <a:avLst/>
          </a:prstGeom>
          <a:noFill/>
        </p:spPr>
        <p:txBody>
          <a:bodyPr wrap="square" anchor="ctr">
            <a:spAutoFit/>
          </a:bodyPr>
          <a:lstStyle/>
          <a:p>
            <a:pPr algn="l">
              <a:spcAft>
                <a:spcPts val="400"/>
              </a:spcAft>
            </a:pPr>
            <a:r>
              <a:rPr sz="1250" b="1">
                <a:solidFill>
                  <a:srgbClr val="161B26"/>
                </a:solidFill>
                <a:latin typeface="Arial"/>
              </a:rPr>
              <a:t>Update in place</a:t>
            </a:r>
          </a:p>
        </p:txBody>
      </p:sp>
      <p:sp>
        <p:nvSpPr>
          <p:cNvPr id="15" name="Rectangle 14"/>
          <p:cNvSpPr/>
          <p:nvPr/>
        </p:nvSpPr>
        <p:spPr>
          <a:xfrm>
            <a:off x="3542202" y="2286000"/>
            <a:ext cx="4253788" cy="822960"/>
          </a:xfrm>
          <a:prstGeom prst="rect">
            <a:avLst/>
          </a:prstGeom>
          <a:solidFill>
            <a:srgbClr val="F5F8FC"/>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3651930" y="2286000"/>
            <a:ext cx="4070908" cy="822960"/>
          </a:xfrm>
          <a:prstGeom prst="rect">
            <a:avLst/>
          </a:prstGeom>
          <a:noFill/>
        </p:spPr>
        <p:txBody>
          <a:bodyPr wrap="square" anchor="ctr">
            <a:spAutoFit/>
          </a:bodyPr>
          <a:lstStyle/>
          <a:p>
            <a:pPr algn="ctr">
              <a:spcAft>
                <a:spcPts val="400"/>
              </a:spcAft>
            </a:pPr>
            <a:r>
              <a:rPr sz="1250" b="0">
                <a:solidFill>
                  <a:srgbClr val="5B6372"/>
                </a:solidFill>
                <a:latin typeface="Arial"/>
              </a:rPr>
              <a:t>Modify the existing resource</a:t>
            </a:r>
          </a:p>
        </p:txBody>
      </p:sp>
      <p:sp>
        <p:nvSpPr>
          <p:cNvPr id="17" name="Rectangle 16"/>
          <p:cNvSpPr/>
          <p:nvPr/>
        </p:nvSpPr>
        <p:spPr>
          <a:xfrm>
            <a:off x="7795990" y="2286000"/>
            <a:ext cx="3615720" cy="822960"/>
          </a:xfrm>
          <a:prstGeom prst="rect">
            <a:avLst/>
          </a:prstGeom>
          <a:solidFill>
            <a:srgbClr val="F5F8FC"/>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7905718" y="2286000"/>
            <a:ext cx="3432840" cy="822960"/>
          </a:xfrm>
          <a:prstGeom prst="rect">
            <a:avLst/>
          </a:prstGeom>
          <a:noFill/>
        </p:spPr>
        <p:txBody>
          <a:bodyPr wrap="square" anchor="ctr">
            <a:spAutoFit/>
          </a:bodyPr>
          <a:lstStyle/>
          <a:p>
            <a:pPr algn="ctr">
              <a:spcAft>
                <a:spcPts val="400"/>
              </a:spcAft>
            </a:pPr>
            <a:r>
              <a:rPr sz="1250" b="0">
                <a:solidFill>
                  <a:srgbClr val="5B6372"/>
                </a:solidFill>
                <a:latin typeface="Arial"/>
              </a:rPr>
              <a:t>Low — no replacement</a:t>
            </a:r>
          </a:p>
        </p:txBody>
      </p:sp>
      <p:sp>
        <p:nvSpPr>
          <p:cNvPr id="19" name="Rectangle 18"/>
          <p:cNvSpPr/>
          <p:nvPr/>
        </p:nvSpPr>
        <p:spPr>
          <a:xfrm>
            <a:off x="777240" y="3108960"/>
            <a:ext cx="2764962" cy="822960"/>
          </a:xfrm>
          <a:prstGeom prst="rect">
            <a:avLst/>
          </a:prstGeom>
          <a:solidFill>
            <a:srgbClr val="FFFFFF"/>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886968" y="3108960"/>
            <a:ext cx="2582082" cy="822960"/>
          </a:xfrm>
          <a:prstGeom prst="rect">
            <a:avLst/>
          </a:prstGeom>
          <a:noFill/>
        </p:spPr>
        <p:txBody>
          <a:bodyPr wrap="square" anchor="ctr">
            <a:spAutoFit/>
          </a:bodyPr>
          <a:lstStyle/>
          <a:p>
            <a:pPr algn="l">
              <a:spcAft>
                <a:spcPts val="400"/>
              </a:spcAft>
            </a:pPr>
            <a:r>
              <a:rPr sz="1250" b="1">
                <a:solidFill>
                  <a:srgbClr val="161B26"/>
                </a:solidFill>
                <a:latin typeface="Arial"/>
              </a:rPr>
              <a:t>Replacement</a:t>
            </a:r>
          </a:p>
        </p:txBody>
      </p:sp>
      <p:sp>
        <p:nvSpPr>
          <p:cNvPr id="21" name="Rectangle 20"/>
          <p:cNvSpPr/>
          <p:nvPr/>
        </p:nvSpPr>
        <p:spPr>
          <a:xfrm>
            <a:off x="3542202" y="3108960"/>
            <a:ext cx="4253788" cy="822960"/>
          </a:xfrm>
          <a:prstGeom prst="rect">
            <a:avLst/>
          </a:prstGeom>
          <a:solidFill>
            <a:srgbClr val="FFFFFF"/>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3651930" y="3108960"/>
            <a:ext cx="4070908" cy="822960"/>
          </a:xfrm>
          <a:prstGeom prst="rect">
            <a:avLst/>
          </a:prstGeom>
          <a:noFill/>
        </p:spPr>
        <p:txBody>
          <a:bodyPr wrap="square" anchor="ctr">
            <a:spAutoFit/>
          </a:bodyPr>
          <a:lstStyle/>
          <a:p>
            <a:pPr algn="ctr">
              <a:spcAft>
                <a:spcPts val="400"/>
              </a:spcAft>
            </a:pPr>
            <a:r>
              <a:rPr sz="1250" b="0">
                <a:solidFill>
                  <a:srgbClr val="5B6372"/>
                </a:solidFill>
                <a:latin typeface="Arial"/>
              </a:rPr>
              <a:t>Create new, delete old</a:t>
            </a:r>
          </a:p>
        </p:txBody>
      </p:sp>
      <p:sp>
        <p:nvSpPr>
          <p:cNvPr id="23" name="Rectangle 22"/>
          <p:cNvSpPr/>
          <p:nvPr/>
        </p:nvSpPr>
        <p:spPr>
          <a:xfrm>
            <a:off x="7795990" y="3108960"/>
            <a:ext cx="3615720" cy="822960"/>
          </a:xfrm>
          <a:prstGeom prst="rect">
            <a:avLst/>
          </a:prstGeom>
          <a:solidFill>
            <a:srgbClr val="FFFFFF"/>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7905718" y="3108960"/>
            <a:ext cx="3432840" cy="822960"/>
          </a:xfrm>
          <a:prstGeom prst="rect">
            <a:avLst/>
          </a:prstGeom>
          <a:noFill/>
        </p:spPr>
        <p:txBody>
          <a:bodyPr wrap="square" anchor="ctr">
            <a:spAutoFit/>
          </a:bodyPr>
          <a:lstStyle/>
          <a:p>
            <a:pPr algn="ctr">
              <a:spcAft>
                <a:spcPts val="400"/>
              </a:spcAft>
            </a:pPr>
            <a:r>
              <a:rPr sz="1250" b="0">
                <a:solidFill>
                  <a:srgbClr val="5B6372"/>
                </a:solidFill>
                <a:latin typeface="Arial"/>
              </a:rPr>
              <a:t>High — new ID, possible data loss</a:t>
            </a:r>
          </a:p>
        </p:txBody>
      </p:sp>
      <p:sp>
        <p:nvSpPr>
          <p:cNvPr id="25" name="Rectangle 24"/>
          <p:cNvSpPr/>
          <p:nvPr/>
        </p:nvSpPr>
        <p:spPr>
          <a:xfrm>
            <a:off x="777240" y="3931920"/>
            <a:ext cx="2764962" cy="822960"/>
          </a:xfrm>
          <a:prstGeom prst="rect">
            <a:avLst/>
          </a:prstGeom>
          <a:solidFill>
            <a:srgbClr val="F5F8FC"/>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886968" y="3931920"/>
            <a:ext cx="2582082" cy="822960"/>
          </a:xfrm>
          <a:prstGeom prst="rect">
            <a:avLst/>
          </a:prstGeom>
          <a:noFill/>
        </p:spPr>
        <p:txBody>
          <a:bodyPr wrap="square" anchor="ctr">
            <a:spAutoFit/>
          </a:bodyPr>
          <a:lstStyle/>
          <a:p>
            <a:pPr algn="l">
              <a:spcAft>
                <a:spcPts val="400"/>
              </a:spcAft>
            </a:pPr>
            <a:r>
              <a:rPr sz="1250" b="1">
                <a:solidFill>
                  <a:srgbClr val="161B26"/>
                </a:solidFill>
                <a:latin typeface="Arial"/>
              </a:rPr>
              <a:t>Add / remove</a:t>
            </a:r>
          </a:p>
        </p:txBody>
      </p:sp>
      <p:sp>
        <p:nvSpPr>
          <p:cNvPr id="27" name="Rectangle 26"/>
          <p:cNvSpPr/>
          <p:nvPr/>
        </p:nvSpPr>
        <p:spPr>
          <a:xfrm>
            <a:off x="3542202" y="3931920"/>
            <a:ext cx="4253788" cy="822960"/>
          </a:xfrm>
          <a:prstGeom prst="rect">
            <a:avLst/>
          </a:prstGeom>
          <a:solidFill>
            <a:srgbClr val="F5F8FC"/>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3651930" y="3931920"/>
            <a:ext cx="4070908" cy="822960"/>
          </a:xfrm>
          <a:prstGeom prst="rect">
            <a:avLst/>
          </a:prstGeom>
          <a:noFill/>
        </p:spPr>
        <p:txBody>
          <a:bodyPr wrap="square" anchor="ctr">
            <a:spAutoFit/>
          </a:bodyPr>
          <a:lstStyle/>
          <a:p>
            <a:pPr algn="ctr">
              <a:spcAft>
                <a:spcPts val="400"/>
              </a:spcAft>
            </a:pPr>
            <a:r>
              <a:rPr sz="1250" b="0">
                <a:solidFill>
                  <a:srgbClr val="5B6372"/>
                </a:solidFill>
                <a:latin typeface="Arial"/>
              </a:rPr>
              <a:t>Create or delete a resource</a:t>
            </a:r>
          </a:p>
        </p:txBody>
      </p:sp>
      <p:sp>
        <p:nvSpPr>
          <p:cNvPr id="29" name="Rectangle 28"/>
          <p:cNvSpPr/>
          <p:nvPr/>
        </p:nvSpPr>
        <p:spPr>
          <a:xfrm>
            <a:off x="7795990" y="3931920"/>
            <a:ext cx="3615720" cy="822960"/>
          </a:xfrm>
          <a:prstGeom prst="rect">
            <a:avLst/>
          </a:prstGeom>
          <a:solidFill>
            <a:srgbClr val="F5F8FC"/>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7905718" y="3931920"/>
            <a:ext cx="3432840" cy="822960"/>
          </a:xfrm>
          <a:prstGeom prst="rect">
            <a:avLst/>
          </a:prstGeom>
          <a:noFill/>
        </p:spPr>
        <p:txBody>
          <a:bodyPr wrap="square" anchor="ctr">
            <a:spAutoFit/>
          </a:bodyPr>
          <a:lstStyle/>
          <a:p>
            <a:pPr algn="ctr">
              <a:spcAft>
                <a:spcPts val="400"/>
              </a:spcAft>
            </a:pPr>
            <a:r>
              <a:rPr sz="1250" b="0">
                <a:solidFill>
                  <a:srgbClr val="5B6372"/>
                </a:solidFill>
                <a:latin typeface="Arial"/>
              </a:rPr>
              <a:t>Medium — check dependencies</a:t>
            </a:r>
          </a:p>
        </p:txBody>
      </p:sp>
      <p:sp>
        <p:nvSpPr>
          <p:cNvPr id="31" name="Rectangle 30"/>
          <p:cNvSpPr/>
          <p:nvPr/>
        </p:nvSpPr>
        <p:spPr>
          <a:xfrm>
            <a:off x="777240" y="4754880"/>
            <a:ext cx="2764962" cy="822960"/>
          </a:xfrm>
          <a:prstGeom prst="rect">
            <a:avLst/>
          </a:prstGeom>
          <a:solidFill>
            <a:srgbClr val="FFFFFF"/>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TextBox 31"/>
          <p:cNvSpPr txBox="1"/>
          <p:nvPr/>
        </p:nvSpPr>
        <p:spPr>
          <a:xfrm>
            <a:off x="886968" y="4754880"/>
            <a:ext cx="2582082" cy="822960"/>
          </a:xfrm>
          <a:prstGeom prst="rect">
            <a:avLst/>
          </a:prstGeom>
          <a:noFill/>
        </p:spPr>
        <p:txBody>
          <a:bodyPr wrap="square" anchor="ctr">
            <a:spAutoFit/>
          </a:bodyPr>
          <a:lstStyle/>
          <a:p>
            <a:pPr algn="l">
              <a:spcAft>
                <a:spcPts val="400"/>
              </a:spcAft>
            </a:pPr>
            <a:r>
              <a:rPr sz="1250" b="1">
                <a:solidFill>
                  <a:srgbClr val="161B26"/>
                </a:solidFill>
                <a:latin typeface="Arial"/>
              </a:rPr>
              <a:t>No interruption</a:t>
            </a:r>
          </a:p>
        </p:txBody>
      </p:sp>
      <p:sp>
        <p:nvSpPr>
          <p:cNvPr id="33" name="Rectangle 32"/>
          <p:cNvSpPr/>
          <p:nvPr/>
        </p:nvSpPr>
        <p:spPr>
          <a:xfrm>
            <a:off x="3542202" y="4754880"/>
            <a:ext cx="4253788" cy="822960"/>
          </a:xfrm>
          <a:prstGeom prst="rect">
            <a:avLst/>
          </a:prstGeom>
          <a:solidFill>
            <a:srgbClr val="FFFFFF"/>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TextBox 33"/>
          <p:cNvSpPr txBox="1"/>
          <p:nvPr/>
        </p:nvSpPr>
        <p:spPr>
          <a:xfrm>
            <a:off x="3651930" y="4754880"/>
            <a:ext cx="4070908" cy="822960"/>
          </a:xfrm>
          <a:prstGeom prst="rect">
            <a:avLst/>
          </a:prstGeom>
          <a:noFill/>
        </p:spPr>
        <p:txBody>
          <a:bodyPr wrap="square" anchor="ctr">
            <a:spAutoFit/>
          </a:bodyPr>
          <a:lstStyle/>
          <a:p>
            <a:pPr algn="ctr">
              <a:spcAft>
                <a:spcPts val="400"/>
              </a:spcAft>
            </a:pPr>
            <a:r>
              <a:rPr sz="1250" b="0">
                <a:solidFill>
                  <a:srgbClr val="5B6372"/>
                </a:solidFill>
                <a:latin typeface="Arial"/>
              </a:rPr>
              <a:t>Property change, resource kept</a:t>
            </a:r>
          </a:p>
        </p:txBody>
      </p:sp>
      <p:sp>
        <p:nvSpPr>
          <p:cNvPr id="35" name="Rectangle 34"/>
          <p:cNvSpPr/>
          <p:nvPr/>
        </p:nvSpPr>
        <p:spPr>
          <a:xfrm>
            <a:off x="7795990" y="4754880"/>
            <a:ext cx="3615720" cy="822960"/>
          </a:xfrm>
          <a:prstGeom prst="rect">
            <a:avLst/>
          </a:prstGeom>
          <a:solidFill>
            <a:srgbClr val="FFFFFF"/>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TextBox 35"/>
          <p:cNvSpPr txBox="1"/>
          <p:nvPr/>
        </p:nvSpPr>
        <p:spPr>
          <a:xfrm>
            <a:off x="7905718" y="4754880"/>
            <a:ext cx="3432840" cy="822960"/>
          </a:xfrm>
          <a:prstGeom prst="rect">
            <a:avLst/>
          </a:prstGeom>
          <a:noFill/>
        </p:spPr>
        <p:txBody>
          <a:bodyPr wrap="square" anchor="ctr">
            <a:spAutoFit/>
          </a:bodyPr>
          <a:lstStyle/>
          <a:p>
            <a:pPr algn="ctr">
              <a:spcAft>
                <a:spcPts val="400"/>
              </a:spcAft>
            </a:pPr>
            <a:r>
              <a:rPr sz="1250" b="0">
                <a:solidFill>
                  <a:srgbClr val="5B6372"/>
                </a:solidFill>
                <a:latin typeface="Arial"/>
              </a:rPr>
              <a:t>Low</a:t>
            </a:r>
          </a:p>
        </p:txBody>
      </p:sp>
      <p:sp>
        <p:nvSpPr>
          <p:cNvPr id="37" name="TextBox 36"/>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DevOps Engineering on AWS  ·  TGS-2023040474</a:t>
            </a:r>
          </a:p>
        </p:txBody>
      </p:sp>
      <p:sp>
        <p:nvSpPr>
          <p:cNvPr id="38" name="TextBox 37"/>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39" name="TextBox 38"/>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85</a:t>
            </a:r>
          </a:p>
        </p:txBody>
      </p:sp>
    </p:spTree>
  </p:cSld>
  <p:clrMapOvr>
    <a:masterClrMapping/>
  </p:clrMapOvr>
  <p:transition xmlns:p14="http://schemas.microsoft.com/office/powerpoint/2010/main" p14:dur="380">
    <p:fade/>
  </p:transition>
</p:sld>
</file>

<file path=ppt/slides/slide8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38912"/>
            <a:ext cx="10607040" cy="365760"/>
          </a:xfrm>
          <a:prstGeom prst="rect">
            <a:avLst/>
          </a:prstGeom>
          <a:noFill/>
        </p:spPr>
        <p:txBody>
          <a:bodyPr wrap="square" anchor="t">
            <a:spAutoFit/>
          </a:bodyPr>
          <a:lstStyle/>
          <a:p>
            <a:pPr algn="l">
              <a:spcAft>
                <a:spcPts val="400"/>
              </a:spcAft>
            </a:pPr>
            <a:r>
              <a:rPr sz="1400" b="1">
                <a:solidFill>
                  <a:srgbClr val="7C3AED"/>
                </a:solidFill>
                <a:latin typeface="Arial"/>
              </a:rPr>
              <a:t>REPEATABILITY PAYS OFF</a:t>
            </a:r>
          </a:p>
        </p:txBody>
      </p:sp>
      <p:sp>
        <p:nvSpPr>
          <p:cNvPr id="5" name="TextBox 4"/>
          <p:cNvSpPr txBox="1"/>
          <p:nvPr/>
        </p:nvSpPr>
        <p:spPr>
          <a:xfrm>
            <a:off x="777240" y="804672"/>
            <a:ext cx="10927080" cy="731520"/>
          </a:xfrm>
          <a:prstGeom prst="rect">
            <a:avLst/>
          </a:prstGeom>
          <a:noFill/>
        </p:spPr>
        <p:txBody>
          <a:bodyPr wrap="square" anchor="t">
            <a:spAutoFit/>
          </a:bodyPr>
          <a:lstStyle/>
          <a:p>
            <a:pPr algn="l">
              <a:spcAft>
                <a:spcPts val="400"/>
              </a:spcAft>
            </a:pPr>
            <a:r>
              <a:rPr sz="2900" b="1">
                <a:solidFill>
                  <a:srgbClr val="161B26"/>
                </a:solidFill>
                <a:latin typeface="Arial"/>
              </a:rPr>
              <a:t>Environment Provisioning — Manual vs IaC</a:t>
            </a:r>
          </a:p>
        </p:txBody>
      </p:sp>
      <p:sp>
        <p:nvSpPr>
          <p:cNvPr id="6" name="Rectangle 5"/>
          <p:cNvSpPr/>
          <p:nvPr/>
        </p:nvSpPr>
        <p:spPr>
          <a:xfrm>
            <a:off x="777240" y="1572768"/>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graphicFrame>
        <p:nvGraphicFramePr>
          <p:cNvPr id="7" name="Chart 6"/>
          <p:cNvGraphicFramePr>
            <a:graphicFrameLocks noGrp="1"/>
          </p:cNvGraphicFramePr>
          <p:nvPr/>
        </p:nvGraphicFramePr>
        <p:xfrm>
          <a:off x="777240" y="1828800"/>
          <a:ext cx="10634472" cy="3291840"/>
        </p:xfrm>
        <a:graphic>
          <a:graphicData uri="http://schemas.openxmlformats.org/drawingml/2006/chart">
            <c:chart xmlns:c="http://schemas.openxmlformats.org/drawingml/2006/chart" r:id="rId2"/>
          </a:graphicData>
        </a:graphic>
      </p:graphicFrame>
      <p:sp>
        <p:nvSpPr>
          <p:cNvPr id="8" name="Rectangle 7"/>
          <p:cNvSpPr/>
          <p:nvPr/>
        </p:nvSpPr>
        <p:spPr>
          <a:xfrm>
            <a:off x="777240" y="5349240"/>
            <a:ext cx="10634472" cy="86868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777240" y="5349240"/>
            <a:ext cx="91440" cy="868680"/>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005840" y="5440680"/>
            <a:ext cx="10241280" cy="320040"/>
          </a:xfrm>
          <a:prstGeom prst="rect">
            <a:avLst/>
          </a:prstGeom>
          <a:noFill/>
        </p:spPr>
        <p:txBody>
          <a:bodyPr wrap="square" anchor="t">
            <a:spAutoFit/>
          </a:bodyPr>
          <a:lstStyle/>
          <a:p>
            <a:pPr algn="l">
              <a:spcAft>
                <a:spcPts val="400"/>
              </a:spcAft>
            </a:pPr>
            <a:r>
              <a:rPr sz="1100" b="1">
                <a:solidFill>
                  <a:srgbClr val="7C3AED"/>
                </a:solidFill>
                <a:latin typeface="Arial"/>
              </a:rPr>
              <a:t>WHAT THE DATA SHOWS</a:t>
            </a:r>
          </a:p>
        </p:txBody>
      </p:sp>
      <p:sp>
        <p:nvSpPr>
          <p:cNvPr id="11" name="TextBox 10"/>
          <p:cNvSpPr txBox="1"/>
          <p:nvPr/>
        </p:nvSpPr>
        <p:spPr>
          <a:xfrm>
            <a:off x="1005840" y="5742432"/>
            <a:ext cx="10241280" cy="457200"/>
          </a:xfrm>
          <a:prstGeom prst="rect">
            <a:avLst/>
          </a:prstGeom>
          <a:noFill/>
        </p:spPr>
        <p:txBody>
          <a:bodyPr wrap="square" anchor="t">
            <a:spAutoFit/>
          </a:bodyPr>
          <a:lstStyle/>
          <a:p>
            <a:pPr algn="l">
              <a:spcAft>
                <a:spcPts val="400"/>
              </a:spcAft>
            </a:pPr>
            <a:r>
              <a:rPr sz="1350" b="0">
                <a:solidFill>
                  <a:srgbClr val="161B26"/>
                </a:solidFill>
                <a:latin typeface="Arial"/>
              </a:rPr>
              <a:t>IaC collapses environment build time and errors and — most importantly — makes every environment identical, so tests actually predict production.</a:t>
            </a:r>
          </a:p>
        </p:txBody>
      </p:sp>
      <p:sp>
        <p:nvSpPr>
          <p:cNvPr id="12" name="TextBox 11"/>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DevOps Engineering on AWS  ·  TGS-2023040474</a:t>
            </a:r>
          </a:p>
        </p:txBody>
      </p:sp>
      <p:sp>
        <p:nvSpPr>
          <p:cNvPr id="13" name="TextBox 12"/>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4" name="TextBox 13"/>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86</a:t>
            </a:r>
          </a:p>
        </p:txBody>
      </p:sp>
    </p:spTree>
  </p:cSld>
  <p:clrMapOvr>
    <a:masterClrMapping/>
  </p:clrMapOvr>
  <p:transition xmlns:p14="http://schemas.microsoft.com/office/powerpoint/2010/main" p14:dur="380">
    <p:fade/>
  </p:transition>
</p:sld>
</file>

<file path=ppt/slides/slide8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38912"/>
            <a:ext cx="10607040" cy="365760"/>
          </a:xfrm>
          <a:prstGeom prst="rect">
            <a:avLst/>
          </a:prstGeom>
          <a:noFill/>
        </p:spPr>
        <p:txBody>
          <a:bodyPr wrap="square" anchor="t">
            <a:spAutoFit/>
          </a:bodyPr>
          <a:lstStyle/>
          <a:p>
            <a:pPr algn="l">
              <a:spcAft>
                <a:spcPts val="400"/>
              </a:spcAft>
            </a:pPr>
            <a:r>
              <a:rPr sz="1400" b="1">
                <a:solidFill>
                  <a:srgbClr val="7C3AED"/>
                </a:solidFill>
                <a:latin typeface="Arial"/>
              </a:rPr>
              <a:t>WHERE IaC GOES WRONG</a:t>
            </a:r>
          </a:p>
        </p:txBody>
      </p:sp>
      <p:sp>
        <p:nvSpPr>
          <p:cNvPr id="5" name="TextBox 4"/>
          <p:cNvSpPr txBox="1"/>
          <p:nvPr/>
        </p:nvSpPr>
        <p:spPr>
          <a:xfrm>
            <a:off x="777240" y="804672"/>
            <a:ext cx="10927080" cy="731520"/>
          </a:xfrm>
          <a:prstGeom prst="rect">
            <a:avLst/>
          </a:prstGeom>
          <a:noFill/>
        </p:spPr>
        <p:txBody>
          <a:bodyPr wrap="square" anchor="t">
            <a:spAutoFit/>
          </a:bodyPr>
          <a:lstStyle/>
          <a:p>
            <a:pPr algn="l">
              <a:spcAft>
                <a:spcPts val="400"/>
              </a:spcAft>
            </a:pPr>
            <a:r>
              <a:rPr sz="2900" b="1">
                <a:solidFill>
                  <a:srgbClr val="161B26"/>
                </a:solidFill>
                <a:latin typeface="Arial"/>
              </a:rPr>
              <a:t>IaC Failure Modes &amp; Anti-Patterns</a:t>
            </a:r>
          </a:p>
        </p:txBody>
      </p:sp>
      <p:sp>
        <p:nvSpPr>
          <p:cNvPr id="6" name="Rectangle 5"/>
          <p:cNvSpPr/>
          <p:nvPr/>
        </p:nvSpPr>
        <p:spPr>
          <a:xfrm>
            <a:off x="777240" y="1572768"/>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783080"/>
            <a:ext cx="5180076" cy="131064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1783080"/>
            <a:ext cx="91440" cy="131064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1033272" y="2164080"/>
            <a:ext cx="548640" cy="548640"/>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033272" y="2164080"/>
            <a:ext cx="548640" cy="548640"/>
          </a:xfrm>
          <a:prstGeom prst="rect">
            <a:avLst/>
          </a:prstGeom>
          <a:noFill/>
        </p:spPr>
        <p:txBody>
          <a:bodyPr wrap="square" anchor="ctr">
            <a:spAutoFit/>
          </a:bodyPr>
          <a:lstStyle/>
          <a:p>
            <a:pPr algn="ctr">
              <a:spcAft>
                <a:spcPts val="400"/>
              </a:spcAft>
            </a:pPr>
            <a:r>
              <a:rPr sz="1800" b="1">
                <a:solidFill>
                  <a:srgbClr val="FFFFFF"/>
                </a:solidFill>
                <a:latin typeface="Arial"/>
              </a:rPr>
              <a:t>1</a:t>
            </a:r>
          </a:p>
        </p:txBody>
      </p:sp>
      <p:sp>
        <p:nvSpPr>
          <p:cNvPr id="11" name="TextBox 10"/>
          <p:cNvSpPr txBox="1"/>
          <p:nvPr/>
        </p:nvSpPr>
        <p:spPr>
          <a:xfrm>
            <a:off x="1764792" y="1892808"/>
            <a:ext cx="3973068" cy="1127760"/>
          </a:xfrm>
          <a:prstGeom prst="rect">
            <a:avLst/>
          </a:prstGeom>
          <a:noFill/>
        </p:spPr>
        <p:txBody>
          <a:bodyPr wrap="square" anchor="ctr">
            <a:spAutoFit/>
          </a:bodyPr>
          <a:lstStyle/>
          <a:p>
            <a:pPr algn="l">
              <a:spcAft>
                <a:spcPts val="300"/>
              </a:spcAft>
            </a:pPr>
            <a:r>
              <a:rPr sz="1500" b="1">
                <a:solidFill>
                  <a:srgbClr val="161B26"/>
                </a:solidFill>
                <a:latin typeface="Arial"/>
              </a:rPr>
              <a:t>Out-of-band console edits</a:t>
            </a:r>
          </a:p>
          <a:p>
            <a:pPr algn="l">
              <a:spcAft>
                <a:spcPts val="300"/>
              </a:spcAft>
            </a:pPr>
            <a:r>
              <a:rPr sz="1100" b="0">
                <a:solidFill>
                  <a:srgbClr val="5B6372"/>
                </a:solidFill>
                <a:latin typeface="Arial"/>
              </a:rPr>
              <a:t>Drift the template can't see → detect drift; make console read-only in prod.</a:t>
            </a:r>
          </a:p>
        </p:txBody>
      </p:sp>
      <p:sp>
        <p:nvSpPr>
          <p:cNvPr id="12" name="Rectangle 11"/>
          <p:cNvSpPr/>
          <p:nvPr/>
        </p:nvSpPr>
        <p:spPr>
          <a:xfrm>
            <a:off x="6231636" y="1783080"/>
            <a:ext cx="5180076" cy="131064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6231636" y="1783080"/>
            <a:ext cx="91440" cy="131064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Oval 13"/>
          <p:cNvSpPr/>
          <p:nvPr/>
        </p:nvSpPr>
        <p:spPr>
          <a:xfrm>
            <a:off x="6487668" y="2164080"/>
            <a:ext cx="548640" cy="54864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6487668" y="2164080"/>
            <a:ext cx="548640" cy="548640"/>
          </a:xfrm>
          <a:prstGeom prst="rect">
            <a:avLst/>
          </a:prstGeom>
          <a:noFill/>
        </p:spPr>
        <p:txBody>
          <a:bodyPr wrap="square" anchor="ctr">
            <a:spAutoFit/>
          </a:bodyPr>
          <a:lstStyle/>
          <a:p>
            <a:pPr algn="ctr">
              <a:spcAft>
                <a:spcPts val="400"/>
              </a:spcAft>
            </a:pPr>
            <a:r>
              <a:rPr sz="1800" b="1">
                <a:solidFill>
                  <a:srgbClr val="FFFFFF"/>
                </a:solidFill>
                <a:latin typeface="Arial"/>
              </a:rPr>
              <a:t>2</a:t>
            </a:r>
          </a:p>
        </p:txBody>
      </p:sp>
      <p:sp>
        <p:nvSpPr>
          <p:cNvPr id="16" name="TextBox 15"/>
          <p:cNvSpPr txBox="1"/>
          <p:nvPr/>
        </p:nvSpPr>
        <p:spPr>
          <a:xfrm>
            <a:off x="7219188" y="1892808"/>
            <a:ext cx="3973068" cy="1127760"/>
          </a:xfrm>
          <a:prstGeom prst="rect">
            <a:avLst/>
          </a:prstGeom>
          <a:noFill/>
        </p:spPr>
        <p:txBody>
          <a:bodyPr wrap="square" anchor="ctr">
            <a:spAutoFit/>
          </a:bodyPr>
          <a:lstStyle/>
          <a:p>
            <a:pPr algn="l">
              <a:spcAft>
                <a:spcPts val="300"/>
              </a:spcAft>
            </a:pPr>
            <a:r>
              <a:rPr sz="1500" b="1">
                <a:solidFill>
                  <a:srgbClr val="161B26"/>
                </a:solidFill>
                <a:latin typeface="Arial"/>
              </a:rPr>
              <a:t>Hard-coded IDs/Regions</a:t>
            </a:r>
          </a:p>
          <a:p>
            <a:pPr algn="l">
              <a:spcAft>
                <a:spcPts val="300"/>
              </a:spcAft>
            </a:pPr>
            <a:r>
              <a:rPr sz="1100" b="0">
                <a:solidFill>
                  <a:srgbClr val="5B6372"/>
                </a:solidFill>
                <a:latin typeface="Arial"/>
              </a:rPr>
              <a:t>Template only works in one account → parameters + SSM public parameters.</a:t>
            </a:r>
          </a:p>
        </p:txBody>
      </p:sp>
      <p:sp>
        <p:nvSpPr>
          <p:cNvPr id="17" name="Rectangle 16"/>
          <p:cNvSpPr/>
          <p:nvPr/>
        </p:nvSpPr>
        <p:spPr>
          <a:xfrm>
            <a:off x="777240" y="3313176"/>
            <a:ext cx="5180076" cy="131064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777240" y="3313176"/>
            <a:ext cx="91440" cy="1310640"/>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Oval 18"/>
          <p:cNvSpPr/>
          <p:nvPr/>
        </p:nvSpPr>
        <p:spPr>
          <a:xfrm>
            <a:off x="1033272" y="3694176"/>
            <a:ext cx="548640" cy="548640"/>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1033272" y="3694176"/>
            <a:ext cx="548640" cy="548640"/>
          </a:xfrm>
          <a:prstGeom prst="rect">
            <a:avLst/>
          </a:prstGeom>
          <a:noFill/>
        </p:spPr>
        <p:txBody>
          <a:bodyPr wrap="square" anchor="ctr">
            <a:spAutoFit/>
          </a:bodyPr>
          <a:lstStyle/>
          <a:p>
            <a:pPr algn="ctr">
              <a:spcAft>
                <a:spcPts val="400"/>
              </a:spcAft>
            </a:pPr>
            <a:r>
              <a:rPr sz="1800" b="1">
                <a:solidFill>
                  <a:srgbClr val="FFFFFF"/>
                </a:solidFill>
                <a:latin typeface="Arial"/>
              </a:rPr>
              <a:t>3</a:t>
            </a:r>
          </a:p>
        </p:txBody>
      </p:sp>
      <p:sp>
        <p:nvSpPr>
          <p:cNvPr id="21" name="TextBox 20"/>
          <p:cNvSpPr txBox="1"/>
          <p:nvPr/>
        </p:nvSpPr>
        <p:spPr>
          <a:xfrm>
            <a:off x="1764792" y="3422904"/>
            <a:ext cx="3973068" cy="1127760"/>
          </a:xfrm>
          <a:prstGeom prst="rect">
            <a:avLst/>
          </a:prstGeom>
          <a:noFill/>
        </p:spPr>
        <p:txBody>
          <a:bodyPr wrap="square" anchor="ctr">
            <a:spAutoFit/>
          </a:bodyPr>
          <a:lstStyle/>
          <a:p>
            <a:pPr algn="l">
              <a:spcAft>
                <a:spcPts val="300"/>
              </a:spcAft>
            </a:pPr>
            <a:r>
              <a:rPr sz="1500" b="1">
                <a:solidFill>
                  <a:srgbClr val="161B26"/>
                </a:solidFill>
                <a:latin typeface="Arial"/>
              </a:rPr>
              <a:t>Giant monolith stack</a:t>
            </a:r>
          </a:p>
          <a:p>
            <a:pPr algn="l">
              <a:spcAft>
                <a:spcPts val="300"/>
              </a:spcAft>
            </a:pPr>
            <a:r>
              <a:rPr sz="1100" b="0">
                <a:solidFill>
                  <a:srgbClr val="5B6372"/>
                </a:solidFill>
                <a:latin typeface="Arial"/>
              </a:rPr>
              <a:t>Slow, risky updates → split by lifecycle and blast radius.</a:t>
            </a:r>
          </a:p>
        </p:txBody>
      </p:sp>
      <p:sp>
        <p:nvSpPr>
          <p:cNvPr id="22" name="Rectangle 21"/>
          <p:cNvSpPr/>
          <p:nvPr/>
        </p:nvSpPr>
        <p:spPr>
          <a:xfrm>
            <a:off x="6231636" y="3313176"/>
            <a:ext cx="5180076" cy="131064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ectangle 22"/>
          <p:cNvSpPr/>
          <p:nvPr/>
        </p:nvSpPr>
        <p:spPr>
          <a:xfrm>
            <a:off x="6231636" y="3313176"/>
            <a:ext cx="91440" cy="1310640"/>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Oval 23"/>
          <p:cNvSpPr/>
          <p:nvPr/>
        </p:nvSpPr>
        <p:spPr>
          <a:xfrm>
            <a:off x="6487668" y="3694176"/>
            <a:ext cx="548640" cy="548640"/>
          </a:xfrm>
          <a:prstGeom prst="ellipse">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6487668" y="3694176"/>
            <a:ext cx="548640" cy="548640"/>
          </a:xfrm>
          <a:prstGeom prst="rect">
            <a:avLst/>
          </a:prstGeom>
          <a:noFill/>
        </p:spPr>
        <p:txBody>
          <a:bodyPr wrap="square" anchor="ctr">
            <a:spAutoFit/>
          </a:bodyPr>
          <a:lstStyle/>
          <a:p>
            <a:pPr algn="ctr">
              <a:spcAft>
                <a:spcPts val="400"/>
              </a:spcAft>
            </a:pPr>
            <a:r>
              <a:rPr sz="1800" b="1">
                <a:solidFill>
                  <a:srgbClr val="FFFFFF"/>
                </a:solidFill>
                <a:latin typeface="Arial"/>
              </a:rPr>
              <a:t>4</a:t>
            </a:r>
          </a:p>
        </p:txBody>
      </p:sp>
      <p:sp>
        <p:nvSpPr>
          <p:cNvPr id="26" name="TextBox 25"/>
          <p:cNvSpPr txBox="1"/>
          <p:nvPr/>
        </p:nvSpPr>
        <p:spPr>
          <a:xfrm>
            <a:off x="7219188" y="3422904"/>
            <a:ext cx="3973068" cy="1127760"/>
          </a:xfrm>
          <a:prstGeom prst="rect">
            <a:avLst/>
          </a:prstGeom>
          <a:noFill/>
        </p:spPr>
        <p:txBody>
          <a:bodyPr wrap="square" anchor="ctr">
            <a:spAutoFit/>
          </a:bodyPr>
          <a:lstStyle/>
          <a:p>
            <a:pPr algn="l">
              <a:spcAft>
                <a:spcPts val="300"/>
              </a:spcAft>
            </a:pPr>
            <a:r>
              <a:rPr sz="1500" b="1">
                <a:solidFill>
                  <a:srgbClr val="161B26"/>
                </a:solidFill>
                <a:latin typeface="Arial"/>
              </a:rPr>
              <a:t>No change-set review</a:t>
            </a:r>
          </a:p>
          <a:p>
            <a:pPr algn="l">
              <a:spcAft>
                <a:spcPts val="300"/>
              </a:spcAft>
            </a:pPr>
            <a:r>
              <a:rPr sz="1100" b="0">
                <a:solidFill>
                  <a:srgbClr val="5B6372"/>
                </a:solidFill>
                <a:latin typeface="Arial"/>
              </a:rPr>
              <a:t>Surprise replacements → always preview before execute.</a:t>
            </a:r>
          </a:p>
        </p:txBody>
      </p:sp>
      <p:sp>
        <p:nvSpPr>
          <p:cNvPr id="27" name="Rectangle 26"/>
          <p:cNvSpPr/>
          <p:nvPr/>
        </p:nvSpPr>
        <p:spPr>
          <a:xfrm>
            <a:off x="777240" y="4843272"/>
            <a:ext cx="5180076" cy="131064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Rectangle 27"/>
          <p:cNvSpPr/>
          <p:nvPr/>
        </p:nvSpPr>
        <p:spPr>
          <a:xfrm>
            <a:off x="777240" y="4843272"/>
            <a:ext cx="91440" cy="1310640"/>
          </a:xfrm>
          <a:prstGeom prst="rect">
            <a:avLst/>
          </a:prstGeom>
          <a:solidFill>
            <a:srgbClr val="EC711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Oval 28"/>
          <p:cNvSpPr/>
          <p:nvPr/>
        </p:nvSpPr>
        <p:spPr>
          <a:xfrm>
            <a:off x="1033272" y="5224272"/>
            <a:ext cx="548640" cy="548640"/>
          </a:xfrm>
          <a:prstGeom prst="ellipse">
            <a:avLst/>
          </a:prstGeom>
          <a:solidFill>
            <a:srgbClr val="EC711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1033272" y="5224272"/>
            <a:ext cx="548640" cy="548640"/>
          </a:xfrm>
          <a:prstGeom prst="rect">
            <a:avLst/>
          </a:prstGeom>
          <a:noFill/>
        </p:spPr>
        <p:txBody>
          <a:bodyPr wrap="square" anchor="ctr">
            <a:spAutoFit/>
          </a:bodyPr>
          <a:lstStyle/>
          <a:p>
            <a:pPr algn="ctr">
              <a:spcAft>
                <a:spcPts val="400"/>
              </a:spcAft>
            </a:pPr>
            <a:r>
              <a:rPr sz="1800" b="1">
                <a:solidFill>
                  <a:srgbClr val="FFFFFF"/>
                </a:solidFill>
                <a:latin typeface="Arial"/>
              </a:rPr>
              <a:t>5</a:t>
            </a:r>
          </a:p>
        </p:txBody>
      </p:sp>
      <p:sp>
        <p:nvSpPr>
          <p:cNvPr id="31" name="TextBox 30"/>
          <p:cNvSpPr txBox="1"/>
          <p:nvPr/>
        </p:nvSpPr>
        <p:spPr>
          <a:xfrm>
            <a:off x="1764792" y="4953000"/>
            <a:ext cx="3973068" cy="1127760"/>
          </a:xfrm>
          <a:prstGeom prst="rect">
            <a:avLst/>
          </a:prstGeom>
          <a:noFill/>
        </p:spPr>
        <p:txBody>
          <a:bodyPr wrap="square" anchor="ctr">
            <a:spAutoFit/>
          </a:bodyPr>
          <a:lstStyle/>
          <a:p>
            <a:pPr algn="l">
              <a:spcAft>
                <a:spcPts val="300"/>
              </a:spcAft>
            </a:pPr>
            <a:r>
              <a:rPr sz="1500" b="1">
                <a:solidFill>
                  <a:srgbClr val="161B26"/>
                </a:solidFill>
                <a:latin typeface="Arial"/>
              </a:rPr>
              <a:t>Secrets in templates</a:t>
            </a:r>
          </a:p>
          <a:p>
            <a:pPr algn="l">
              <a:spcAft>
                <a:spcPts val="300"/>
              </a:spcAft>
            </a:pPr>
            <a:r>
              <a:rPr sz="1100" b="0">
                <a:solidFill>
                  <a:srgbClr val="5B6372"/>
                </a:solidFill>
                <a:latin typeface="Arial"/>
              </a:rPr>
              <a:t>Leaked credentials → Secrets Manager / SSM SecureString.</a:t>
            </a:r>
          </a:p>
        </p:txBody>
      </p:sp>
      <p:sp>
        <p:nvSpPr>
          <p:cNvPr id="32" name="Rectangle 31"/>
          <p:cNvSpPr/>
          <p:nvPr/>
        </p:nvSpPr>
        <p:spPr>
          <a:xfrm>
            <a:off x="6231636" y="4843272"/>
            <a:ext cx="5180076" cy="131064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Rectangle 32"/>
          <p:cNvSpPr/>
          <p:nvPr/>
        </p:nvSpPr>
        <p:spPr>
          <a:xfrm>
            <a:off x="6231636" y="4843272"/>
            <a:ext cx="91440" cy="1310640"/>
          </a:xfrm>
          <a:prstGeom prst="rect">
            <a:avLst/>
          </a:prstGeom>
          <a:solidFill>
            <a:srgbClr val="0E9EC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Oval 33"/>
          <p:cNvSpPr/>
          <p:nvPr/>
        </p:nvSpPr>
        <p:spPr>
          <a:xfrm>
            <a:off x="6487668" y="5224272"/>
            <a:ext cx="548640" cy="548640"/>
          </a:xfrm>
          <a:prstGeom prst="ellipse">
            <a:avLst/>
          </a:prstGeom>
          <a:solidFill>
            <a:srgbClr val="0E9EC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TextBox 34"/>
          <p:cNvSpPr txBox="1"/>
          <p:nvPr/>
        </p:nvSpPr>
        <p:spPr>
          <a:xfrm>
            <a:off x="6487668" y="5224272"/>
            <a:ext cx="548640" cy="548640"/>
          </a:xfrm>
          <a:prstGeom prst="rect">
            <a:avLst/>
          </a:prstGeom>
          <a:noFill/>
        </p:spPr>
        <p:txBody>
          <a:bodyPr wrap="square" anchor="ctr">
            <a:spAutoFit/>
          </a:bodyPr>
          <a:lstStyle/>
          <a:p>
            <a:pPr algn="ctr">
              <a:spcAft>
                <a:spcPts val="400"/>
              </a:spcAft>
            </a:pPr>
            <a:r>
              <a:rPr sz="1800" b="1">
                <a:solidFill>
                  <a:srgbClr val="FFFFFF"/>
                </a:solidFill>
                <a:latin typeface="Arial"/>
              </a:rPr>
              <a:t>6</a:t>
            </a:r>
          </a:p>
        </p:txBody>
      </p:sp>
      <p:sp>
        <p:nvSpPr>
          <p:cNvPr id="36" name="TextBox 35"/>
          <p:cNvSpPr txBox="1"/>
          <p:nvPr/>
        </p:nvSpPr>
        <p:spPr>
          <a:xfrm>
            <a:off x="7219188" y="4953000"/>
            <a:ext cx="3973068" cy="1127760"/>
          </a:xfrm>
          <a:prstGeom prst="rect">
            <a:avLst/>
          </a:prstGeom>
          <a:noFill/>
        </p:spPr>
        <p:txBody>
          <a:bodyPr wrap="square" anchor="ctr">
            <a:spAutoFit/>
          </a:bodyPr>
          <a:lstStyle/>
          <a:p>
            <a:pPr algn="l">
              <a:spcAft>
                <a:spcPts val="300"/>
              </a:spcAft>
            </a:pPr>
            <a:r>
              <a:rPr sz="1500" b="1">
                <a:solidFill>
                  <a:srgbClr val="161B26"/>
                </a:solidFill>
                <a:latin typeface="Arial"/>
              </a:rPr>
              <a:t>Copy-paste per environment</a:t>
            </a:r>
          </a:p>
          <a:p>
            <a:pPr algn="l">
              <a:spcAft>
                <a:spcPts val="300"/>
              </a:spcAft>
            </a:pPr>
            <a:r>
              <a:rPr sz="1100" b="0">
                <a:solidFill>
                  <a:srgbClr val="5B6372"/>
                </a:solidFill>
                <a:latin typeface="Arial"/>
              </a:rPr>
              <a:t>Divergent envs → one template, many parameter sets.</a:t>
            </a:r>
          </a:p>
        </p:txBody>
      </p:sp>
      <p:sp>
        <p:nvSpPr>
          <p:cNvPr id="37" name="TextBox 36"/>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DevOps Engineering on AWS  ·  TGS-2023040474</a:t>
            </a:r>
          </a:p>
        </p:txBody>
      </p:sp>
      <p:sp>
        <p:nvSpPr>
          <p:cNvPr id="38" name="TextBox 37"/>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39" name="TextBox 38"/>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87</a:t>
            </a:r>
          </a:p>
        </p:txBody>
      </p:sp>
    </p:spTree>
  </p:cSld>
  <p:clrMapOvr>
    <a:masterClrMapping/>
  </p:clrMapOvr>
  <p:transition xmlns:p14="http://schemas.microsoft.com/office/powerpoint/2010/main" p14:dur="380">
    <p:fade/>
  </p:transition>
</p:sld>
</file>

<file path=ppt/slides/slide8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38912"/>
            <a:ext cx="10607040" cy="365760"/>
          </a:xfrm>
          <a:prstGeom prst="rect">
            <a:avLst/>
          </a:prstGeom>
          <a:noFill/>
        </p:spPr>
        <p:txBody>
          <a:bodyPr wrap="square" anchor="t">
            <a:spAutoFit/>
          </a:bodyPr>
          <a:lstStyle/>
          <a:p>
            <a:pPr algn="l">
              <a:spcAft>
                <a:spcPts val="400"/>
              </a:spcAft>
            </a:pPr>
            <a:r>
              <a:rPr sz="1400" b="1">
                <a:solidFill>
                  <a:srgbClr val="7C3AED"/>
                </a:solidFill>
                <a:latin typeface="Arial"/>
              </a:rPr>
              <a:t>PROVEN PRACTICES</a:t>
            </a:r>
          </a:p>
        </p:txBody>
      </p:sp>
      <p:sp>
        <p:nvSpPr>
          <p:cNvPr id="5" name="TextBox 4"/>
          <p:cNvSpPr txBox="1"/>
          <p:nvPr/>
        </p:nvSpPr>
        <p:spPr>
          <a:xfrm>
            <a:off x="777240" y="804672"/>
            <a:ext cx="10927080" cy="731520"/>
          </a:xfrm>
          <a:prstGeom prst="rect">
            <a:avLst/>
          </a:prstGeom>
          <a:noFill/>
        </p:spPr>
        <p:txBody>
          <a:bodyPr wrap="square" anchor="t">
            <a:spAutoFit/>
          </a:bodyPr>
          <a:lstStyle/>
          <a:p>
            <a:pPr algn="l">
              <a:spcAft>
                <a:spcPts val="400"/>
              </a:spcAft>
            </a:pPr>
            <a:r>
              <a:rPr sz="2900" b="1">
                <a:solidFill>
                  <a:srgbClr val="161B26"/>
                </a:solidFill>
                <a:latin typeface="Arial"/>
              </a:rPr>
              <a:t>IaC Patterns Worth Adopting</a:t>
            </a:r>
          </a:p>
        </p:txBody>
      </p:sp>
      <p:sp>
        <p:nvSpPr>
          <p:cNvPr id="6" name="Rectangle 5"/>
          <p:cNvSpPr/>
          <p:nvPr/>
        </p:nvSpPr>
        <p:spPr>
          <a:xfrm>
            <a:off x="777240" y="1572768"/>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783080"/>
            <a:ext cx="5180076" cy="131064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1783080"/>
            <a:ext cx="91440" cy="131064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1033272" y="2164080"/>
            <a:ext cx="548640" cy="548640"/>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033272" y="2164080"/>
            <a:ext cx="548640" cy="548640"/>
          </a:xfrm>
          <a:prstGeom prst="rect">
            <a:avLst/>
          </a:prstGeom>
          <a:noFill/>
        </p:spPr>
        <p:txBody>
          <a:bodyPr wrap="square" anchor="ctr">
            <a:spAutoFit/>
          </a:bodyPr>
          <a:lstStyle/>
          <a:p>
            <a:pPr algn="ctr">
              <a:spcAft>
                <a:spcPts val="400"/>
              </a:spcAft>
            </a:pPr>
            <a:r>
              <a:rPr sz="1800" b="1">
                <a:solidFill>
                  <a:srgbClr val="FFFFFF"/>
                </a:solidFill>
                <a:latin typeface="Arial"/>
              </a:rPr>
              <a:t>1</a:t>
            </a:r>
          </a:p>
        </p:txBody>
      </p:sp>
      <p:sp>
        <p:nvSpPr>
          <p:cNvPr id="11" name="TextBox 10"/>
          <p:cNvSpPr txBox="1"/>
          <p:nvPr/>
        </p:nvSpPr>
        <p:spPr>
          <a:xfrm>
            <a:off x="1764792" y="1892808"/>
            <a:ext cx="3973068" cy="1127760"/>
          </a:xfrm>
          <a:prstGeom prst="rect">
            <a:avLst/>
          </a:prstGeom>
          <a:noFill/>
        </p:spPr>
        <p:txBody>
          <a:bodyPr wrap="square" anchor="ctr">
            <a:spAutoFit/>
          </a:bodyPr>
          <a:lstStyle/>
          <a:p>
            <a:pPr algn="l">
              <a:spcAft>
                <a:spcPts val="300"/>
              </a:spcAft>
            </a:pPr>
            <a:r>
              <a:rPr sz="1500" b="1">
                <a:solidFill>
                  <a:srgbClr val="161B26"/>
                </a:solidFill>
                <a:latin typeface="Arial"/>
              </a:rPr>
              <a:t>Layered stacks</a:t>
            </a:r>
          </a:p>
          <a:p>
            <a:pPr algn="l">
              <a:spcAft>
                <a:spcPts val="300"/>
              </a:spcAft>
            </a:pPr>
            <a:r>
              <a:rPr sz="1100" b="0">
                <a:solidFill>
                  <a:srgbClr val="5B6372"/>
                </a:solidFill>
                <a:latin typeface="Arial"/>
              </a:rPr>
              <a:t>Separate network, platform and app stacks by change rate.</a:t>
            </a:r>
          </a:p>
        </p:txBody>
      </p:sp>
      <p:sp>
        <p:nvSpPr>
          <p:cNvPr id="12" name="Rectangle 11"/>
          <p:cNvSpPr/>
          <p:nvPr/>
        </p:nvSpPr>
        <p:spPr>
          <a:xfrm>
            <a:off x="6231636" y="1783080"/>
            <a:ext cx="5180076" cy="131064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6231636" y="1783080"/>
            <a:ext cx="91440" cy="131064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Oval 13"/>
          <p:cNvSpPr/>
          <p:nvPr/>
        </p:nvSpPr>
        <p:spPr>
          <a:xfrm>
            <a:off x="6487668" y="2164080"/>
            <a:ext cx="548640" cy="54864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6487668" y="2164080"/>
            <a:ext cx="548640" cy="548640"/>
          </a:xfrm>
          <a:prstGeom prst="rect">
            <a:avLst/>
          </a:prstGeom>
          <a:noFill/>
        </p:spPr>
        <p:txBody>
          <a:bodyPr wrap="square" anchor="ctr">
            <a:spAutoFit/>
          </a:bodyPr>
          <a:lstStyle/>
          <a:p>
            <a:pPr algn="ctr">
              <a:spcAft>
                <a:spcPts val="400"/>
              </a:spcAft>
            </a:pPr>
            <a:r>
              <a:rPr sz="1800" b="1">
                <a:solidFill>
                  <a:srgbClr val="FFFFFF"/>
                </a:solidFill>
                <a:latin typeface="Arial"/>
              </a:rPr>
              <a:t>2</a:t>
            </a:r>
          </a:p>
        </p:txBody>
      </p:sp>
      <p:sp>
        <p:nvSpPr>
          <p:cNvPr id="16" name="TextBox 15"/>
          <p:cNvSpPr txBox="1"/>
          <p:nvPr/>
        </p:nvSpPr>
        <p:spPr>
          <a:xfrm>
            <a:off x="7219188" y="1892808"/>
            <a:ext cx="3973068" cy="1127760"/>
          </a:xfrm>
          <a:prstGeom prst="rect">
            <a:avLst/>
          </a:prstGeom>
          <a:noFill/>
        </p:spPr>
        <p:txBody>
          <a:bodyPr wrap="square" anchor="ctr">
            <a:spAutoFit/>
          </a:bodyPr>
          <a:lstStyle/>
          <a:p>
            <a:pPr algn="l">
              <a:spcAft>
                <a:spcPts val="300"/>
              </a:spcAft>
            </a:pPr>
            <a:r>
              <a:rPr sz="1500" b="1">
                <a:solidFill>
                  <a:srgbClr val="161B26"/>
                </a:solidFill>
                <a:latin typeface="Arial"/>
              </a:rPr>
              <a:t>Landing zone</a:t>
            </a:r>
          </a:p>
          <a:p>
            <a:pPr algn="l">
              <a:spcAft>
                <a:spcPts val="300"/>
              </a:spcAft>
            </a:pPr>
            <a:r>
              <a:rPr sz="1100" b="0">
                <a:solidFill>
                  <a:srgbClr val="5B6372"/>
                </a:solidFill>
                <a:latin typeface="Arial"/>
              </a:rPr>
              <a:t>Control Tower baseline + guardrails for every account.</a:t>
            </a:r>
          </a:p>
        </p:txBody>
      </p:sp>
      <p:sp>
        <p:nvSpPr>
          <p:cNvPr id="17" name="Rectangle 16"/>
          <p:cNvSpPr/>
          <p:nvPr/>
        </p:nvSpPr>
        <p:spPr>
          <a:xfrm>
            <a:off x="777240" y="3313176"/>
            <a:ext cx="5180076" cy="131064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777240" y="3313176"/>
            <a:ext cx="91440" cy="1310640"/>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Oval 18"/>
          <p:cNvSpPr/>
          <p:nvPr/>
        </p:nvSpPr>
        <p:spPr>
          <a:xfrm>
            <a:off x="1033272" y="3694176"/>
            <a:ext cx="548640" cy="548640"/>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1033272" y="3694176"/>
            <a:ext cx="548640" cy="548640"/>
          </a:xfrm>
          <a:prstGeom prst="rect">
            <a:avLst/>
          </a:prstGeom>
          <a:noFill/>
        </p:spPr>
        <p:txBody>
          <a:bodyPr wrap="square" anchor="ctr">
            <a:spAutoFit/>
          </a:bodyPr>
          <a:lstStyle/>
          <a:p>
            <a:pPr algn="ctr">
              <a:spcAft>
                <a:spcPts val="400"/>
              </a:spcAft>
            </a:pPr>
            <a:r>
              <a:rPr sz="1800" b="1">
                <a:solidFill>
                  <a:srgbClr val="FFFFFF"/>
                </a:solidFill>
                <a:latin typeface="Arial"/>
              </a:rPr>
              <a:t>3</a:t>
            </a:r>
          </a:p>
        </p:txBody>
      </p:sp>
      <p:sp>
        <p:nvSpPr>
          <p:cNvPr id="21" name="TextBox 20"/>
          <p:cNvSpPr txBox="1"/>
          <p:nvPr/>
        </p:nvSpPr>
        <p:spPr>
          <a:xfrm>
            <a:off x="1764792" y="3422904"/>
            <a:ext cx="3973068" cy="1127760"/>
          </a:xfrm>
          <a:prstGeom prst="rect">
            <a:avLst/>
          </a:prstGeom>
          <a:noFill/>
        </p:spPr>
        <p:txBody>
          <a:bodyPr wrap="square" anchor="ctr">
            <a:spAutoFit/>
          </a:bodyPr>
          <a:lstStyle/>
          <a:p>
            <a:pPr algn="l">
              <a:spcAft>
                <a:spcPts val="300"/>
              </a:spcAft>
            </a:pPr>
            <a:r>
              <a:rPr sz="1500" b="1">
                <a:solidFill>
                  <a:srgbClr val="161B26"/>
                </a:solidFill>
                <a:latin typeface="Arial"/>
              </a:rPr>
              <a:t>Immutable AMIs</a:t>
            </a:r>
          </a:p>
          <a:p>
            <a:pPr algn="l">
              <a:spcAft>
                <a:spcPts val="300"/>
              </a:spcAft>
            </a:pPr>
            <a:r>
              <a:rPr sz="1100" b="0">
                <a:solidFill>
                  <a:srgbClr val="5B6372"/>
                </a:solidFill>
                <a:latin typeface="Arial"/>
              </a:rPr>
              <a:t>Bake with a pipeline (e.g. EC2 Image Builder); replace, don't patch.</a:t>
            </a:r>
          </a:p>
        </p:txBody>
      </p:sp>
      <p:sp>
        <p:nvSpPr>
          <p:cNvPr id="22" name="Rectangle 21"/>
          <p:cNvSpPr/>
          <p:nvPr/>
        </p:nvSpPr>
        <p:spPr>
          <a:xfrm>
            <a:off x="6231636" y="3313176"/>
            <a:ext cx="5180076" cy="131064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ectangle 22"/>
          <p:cNvSpPr/>
          <p:nvPr/>
        </p:nvSpPr>
        <p:spPr>
          <a:xfrm>
            <a:off x="6231636" y="3313176"/>
            <a:ext cx="91440" cy="1310640"/>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Oval 23"/>
          <p:cNvSpPr/>
          <p:nvPr/>
        </p:nvSpPr>
        <p:spPr>
          <a:xfrm>
            <a:off x="6487668" y="3694176"/>
            <a:ext cx="548640" cy="548640"/>
          </a:xfrm>
          <a:prstGeom prst="ellipse">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6487668" y="3694176"/>
            <a:ext cx="548640" cy="548640"/>
          </a:xfrm>
          <a:prstGeom prst="rect">
            <a:avLst/>
          </a:prstGeom>
          <a:noFill/>
        </p:spPr>
        <p:txBody>
          <a:bodyPr wrap="square" anchor="ctr">
            <a:spAutoFit/>
          </a:bodyPr>
          <a:lstStyle/>
          <a:p>
            <a:pPr algn="ctr">
              <a:spcAft>
                <a:spcPts val="400"/>
              </a:spcAft>
            </a:pPr>
            <a:r>
              <a:rPr sz="1800" b="1">
                <a:solidFill>
                  <a:srgbClr val="FFFFFF"/>
                </a:solidFill>
                <a:latin typeface="Arial"/>
              </a:rPr>
              <a:t>4</a:t>
            </a:r>
          </a:p>
        </p:txBody>
      </p:sp>
      <p:sp>
        <p:nvSpPr>
          <p:cNvPr id="26" name="TextBox 25"/>
          <p:cNvSpPr txBox="1"/>
          <p:nvPr/>
        </p:nvSpPr>
        <p:spPr>
          <a:xfrm>
            <a:off x="7219188" y="3422904"/>
            <a:ext cx="3973068" cy="1127760"/>
          </a:xfrm>
          <a:prstGeom prst="rect">
            <a:avLst/>
          </a:prstGeom>
          <a:noFill/>
        </p:spPr>
        <p:txBody>
          <a:bodyPr wrap="square" anchor="ctr">
            <a:spAutoFit/>
          </a:bodyPr>
          <a:lstStyle/>
          <a:p>
            <a:pPr algn="l">
              <a:spcAft>
                <a:spcPts val="300"/>
              </a:spcAft>
            </a:pPr>
            <a:r>
              <a:rPr sz="1500" b="1">
                <a:solidFill>
                  <a:srgbClr val="161B26"/>
                </a:solidFill>
                <a:latin typeface="Arial"/>
              </a:rPr>
              <a:t>Public SSM parameters</a:t>
            </a:r>
          </a:p>
          <a:p>
            <a:pPr algn="l">
              <a:spcAft>
                <a:spcPts val="300"/>
              </a:spcAft>
            </a:pPr>
            <a:r>
              <a:rPr sz="1100" b="0">
                <a:solidFill>
                  <a:srgbClr val="5B6372"/>
                </a:solidFill>
                <a:latin typeface="Arial"/>
              </a:rPr>
              <a:t>Reference latest AMIs without hard-coding IDs.</a:t>
            </a:r>
          </a:p>
        </p:txBody>
      </p:sp>
      <p:sp>
        <p:nvSpPr>
          <p:cNvPr id="27" name="Rectangle 26"/>
          <p:cNvSpPr/>
          <p:nvPr/>
        </p:nvSpPr>
        <p:spPr>
          <a:xfrm>
            <a:off x="777240" y="4843272"/>
            <a:ext cx="5180076" cy="131064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Rectangle 27"/>
          <p:cNvSpPr/>
          <p:nvPr/>
        </p:nvSpPr>
        <p:spPr>
          <a:xfrm>
            <a:off x="777240" y="4843272"/>
            <a:ext cx="91440" cy="1310640"/>
          </a:xfrm>
          <a:prstGeom prst="rect">
            <a:avLst/>
          </a:prstGeom>
          <a:solidFill>
            <a:srgbClr val="EC711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Oval 28"/>
          <p:cNvSpPr/>
          <p:nvPr/>
        </p:nvSpPr>
        <p:spPr>
          <a:xfrm>
            <a:off x="1033272" y="5224272"/>
            <a:ext cx="548640" cy="548640"/>
          </a:xfrm>
          <a:prstGeom prst="ellipse">
            <a:avLst/>
          </a:prstGeom>
          <a:solidFill>
            <a:srgbClr val="EC711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1033272" y="5224272"/>
            <a:ext cx="548640" cy="548640"/>
          </a:xfrm>
          <a:prstGeom prst="rect">
            <a:avLst/>
          </a:prstGeom>
          <a:noFill/>
        </p:spPr>
        <p:txBody>
          <a:bodyPr wrap="square" anchor="ctr">
            <a:spAutoFit/>
          </a:bodyPr>
          <a:lstStyle/>
          <a:p>
            <a:pPr algn="ctr">
              <a:spcAft>
                <a:spcPts val="400"/>
              </a:spcAft>
            </a:pPr>
            <a:r>
              <a:rPr sz="1800" b="1">
                <a:solidFill>
                  <a:srgbClr val="FFFFFF"/>
                </a:solidFill>
                <a:latin typeface="Arial"/>
              </a:rPr>
              <a:t>5</a:t>
            </a:r>
          </a:p>
        </p:txBody>
      </p:sp>
      <p:sp>
        <p:nvSpPr>
          <p:cNvPr id="31" name="TextBox 30"/>
          <p:cNvSpPr txBox="1"/>
          <p:nvPr/>
        </p:nvSpPr>
        <p:spPr>
          <a:xfrm>
            <a:off x="1764792" y="4953000"/>
            <a:ext cx="3973068" cy="1127760"/>
          </a:xfrm>
          <a:prstGeom prst="rect">
            <a:avLst/>
          </a:prstGeom>
          <a:noFill/>
        </p:spPr>
        <p:txBody>
          <a:bodyPr wrap="square" anchor="ctr">
            <a:spAutoFit/>
          </a:bodyPr>
          <a:lstStyle/>
          <a:p>
            <a:pPr algn="l">
              <a:spcAft>
                <a:spcPts val="300"/>
              </a:spcAft>
            </a:pPr>
            <a:r>
              <a:rPr sz="1500" b="1">
                <a:solidFill>
                  <a:srgbClr val="161B26"/>
                </a:solidFill>
                <a:latin typeface="Arial"/>
              </a:rPr>
              <a:t>Policy as code</a:t>
            </a:r>
          </a:p>
          <a:p>
            <a:pPr algn="l">
              <a:spcAft>
                <a:spcPts val="300"/>
              </a:spcAft>
            </a:pPr>
            <a:r>
              <a:rPr sz="1100" b="0">
                <a:solidFill>
                  <a:srgbClr val="5B6372"/>
                </a:solidFill>
                <a:latin typeface="Arial"/>
              </a:rPr>
              <a:t>Guardrails via SCPs and Config rules, versioned like IaC.</a:t>
            </a:r>
          </a:p>
        </p:txBody>
      </p:sp>
      <p:sp>
        <p:nvSpPr>
          <p:cNvPr id="32" name="Rectangle 31"/>
          <p:cNvSpPr/>
          <p:nvPr/>
        </p:nvSpPr>
        <p:spPr>
          <a:xfrm>
            <a:off x="6231636" y="4843272"/>
            <a:ext cx="5180076" cy="131064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Rectangle 32"/>
          <p:cNvSpPr/>
          <p:nvPr/>
        </p:nvSpPr>
        <p:spPr>
          <a:xfrm>
            <a:off x="6231636" y="4843272"/>
            <a:ext cx="91440" cy="1310640"/>
          </a:xfrm>
          <a:prstGeom prst="rect">
            <a:avLst/>
          </a:prstGeom>
          <a:solidFill>
            <a:srgbClr val="0E9EC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Oval 33"/>
          <p:cNvSpPr/>
          <p:nvPr/>
        </p:nvSpPr>
        <p:spPr>
          <a:xfrm>
            <a:off x="6487668" y="5224272"/>
            <a:ext cx="548640" cy="548640"/>
          </a:xfrm>
          <a:prstGeom prst="ellipse">
            <a:avLst/>
          </a:prstGeom>
          <a:solidFill>
            <a:srgbClr val="0E9EC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TextBox 34"/>
          <p:cNvSpPr txBox="1"/>
          <p:nvPr/>
        </p:nvSpPr>
        <p:spPr>
          <a:xfrm>
            <a:off x="6487668" y="5224272"/>
            <a:ext cx="548640" cy="548640"/>
          </a:xfrm>
          <a:prstGeom prst="rect">
            <a:avLst/>
          </a:prstGeom>
          <a:noFill/>
        </p:spPr>
        <p:txBody>
          <a:bodyPr wrap="square" anchor="ctr">
            <a:spAutoFit/>
          </a:bodyPr>
          <a:lstStyle/>
          <a:p>
            <a:pPr algn="ctr">
              <a:spcAft>
                <a:spcPts val="400"/>
              </a:spcAft>
            </a:pPr>
            <a:r>
              <a:rPr sz="1800" b="1">
                <a:solidFill>
                  <a:srgbClr val="FFFFFF"/>
                </a:solidFill>
                <a:latin typeface="Arial"/>
              </a:rPr>
              <a:t>6</a:t>
            </a:r>
          </a:p>
        </p:txBody>
      </p:sp>
      <p:sp>
        <p:nvSpPr>
          <p:cNvPr id="36" name="TextBox 35"/>
          <p:cNvSpPr txBox="1"/>
          <p:nvPr/>
        </p:nvSpPr>
        <p:spPr>
          <a:xfrm>
            <a:off x="7219188" y="4953000"/>
            <a:ext cx="3973068" cy="1127760"/>
          </a:xfrm>
          <a:prstGeom prst="rect">
            <a:avLst/>
          </a:prstGeom>
          <a:noFill/>
        </p:spPr>
        <p:txBody>
          <a:bodyPr wrap="square" anchor="ctr">
            <a:spAutoFit/>
          </a:bodyPr>
          <a:lstStyle/>
          <a:p>
            <a:pPr algn="l">
              <a:spcAft>
                <a:spcPts val="300"/>
              </a:spcAft>
            </a:pPr>
            <a:r>
              <a:rPr sz="1500" b="1">
                <a:solidFill>
                  <a:srgbClr val="161B26"/>
                </a:solidFill>
                <a:latin typeface="Arial"/>
              </a:rPr>
              <a:t>Pipeline-deployed stacks</a:t>
            </a:r>
          </a:p>
          <a:p>
            <a:pPr algn="l">
              <a:spcAft>
                <a:spcPts val="300"/>
              </a:spcAft>
            </a:pPr>
            <a:r>
              <a:rPr sz="1100" b="0">
                <a:solidFill>
                  <a:srgbClr val="5B6372"/>
                </a:solidFill>
                <a:latin typeface="Arial"/>
              </a:rPr>
              <a:t>No manual stack updates in production.</a:t>
            </a:r>
          </a:p>
        </p:txBody>
      </p:sp>
      <p:sp>
        <p:nvSpPr>
          <p:cNvPr id="37" name="TextBox 36"/>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DevOps Engineering on AWS  ·  TGS-2023040474</a:t>
            </a:r>
          </a:p>
        </p:txBody>
      </p:sp>
      <p:sp>
        <p:nvSpPr>
          <p:cNvPr id="38" name="TextBox 37"/>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39" name="TextBox 38"/>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88</a:t>
            </a:r>
          </a:p>
        </p:txBody>
      </p:sp>
    </p:spTree>
  </p:cSld>
  <p:clrMapOvr>
    <a:masterClrMapping/>
  </p:clrMapOvr>
  <p:transition xmlns:p14="http://schemas.microsoft.com/office/powerpoint/2010/main" p14:dur="380">
    <p:fade/>
  </p:transition>
</p:sld>
</file>

<file path=ppt/slides/slide9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38912"/>
            <a:ext cx="10607040" cy="365760"/>
          </a:xfrm>
          <a:prstGeom prst="rect">
            <a:avLst/>
          </a:prstGeom>
          <a:noFill/>
        </p:spPr>
        <p:txBody>
          <a:bodyPr wrap="square" anchor="t">
            <a:spAutoFit/>
          </a:bodyPr>
          <a:lstStyle/>
          <a:p>
            <a:pPr algn="l">
              <a:spcAft>
                <a:spcPts val="400"/>
              </a:spcAft>
            </a:pPr>
            <a:r>
              <a:rPr sz="1400" b="1">
                <a:solidFill>
                  <a:srgbClr val="7C3AED"/>
                </a:solidFill>
                <a:latin typeface="Arial"/>
              </a:rPr>
              <a:t>STACK DECOMPOSITION</a:t>
            </a:r>
          </a:p>
        </p:txBody>
      </p:sp>
      <p:sp>
        <p:nvSpPr>
          <p:cNvPr id="5" name="TextBox 4"/>
          <p:cNvSpPr txBox="1"/>
          <p:nvPr/>
        </p:nvSpPr>
        <p:spPr>
          <a:xfrm>
            <a:off x="777240" y="896112"/>
            <a:ext cx="10927080" cy="731520"/>
          </a:xfrm>
          <a:prstGeom prst="rect">
            <a:avLst/>
          </a:prstGeom>
          <a:noFill/>
        </p:spPr>
        <p:txBody>
          <a:bodyPr wrap="square" anchor="t">
            <a:spAutoFit/>
          </a:bodyPr>
          <a:lstStyle/>
          <a:p>
            <a:pPr algn="l">
              <a:spcAft>
                <a:spcPts val="400"/>
              </a:spcAft>
            </a:pPr>
            <a:r>
              <a:rPr sz="2500" b="1">
                <a:solidFill>
                  <a:srgbClr val="161B26"/>
                </a:solidFill>
                <a:latin typeface="Arial"/>
              </a:rPr>
              <a:t>Architecture Decision — One Big Stack or Many?</a:t>
            </a:r>
          </a:p>
        </p:txBody>
      </p:sp>
      <p:sp>
        <p:nvSpPr>
          <p:cNvPr id="6" name="Rectangle 5"/>
          <p:cNvSpPr/>
          <p:nvPr/>
        </p:nvSpPr>
        <p:spPr>
          <a:xfrm>
            <a:off x="777240" y="1572768"/>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783080"/>
            <a:ext cx="3337560" cy="429768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1783080"/>
            <a:ext cx="3337560" cy="109728"/>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1033272" y="2057400"/>
            <a:ext cx="457200" cy="457200"/>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033272" y="2057400"/>
            <a:ext cx="457200" cy="457200"/>
          </a:xfrm>
          <a:prstGeom prst="rect">
            <a:avLst/>
          </a:prstGeom>
          <a:noFill/>
        </p:spPr>
        <p:txBody>
          <a:bodyPr wrap="square" anchor="ctr">
            <a:spAutoFit/>
          </a:bodyPr>
          <a:lstStyle/>
          <a:p>
            <a:pPr algn="ctr">
              <a:spcAft>
                <a:spcPts val="400"/>
              </a:spcAft>
            </a:pPr>
            <a:r>
              <a:rPr sz="2000" b="1">
                <a:solidFill>
                  <a:srgbClr val="FFFFFF"/>
                </a:solidFill>
                <a:latin typeface="Arial"/>
              </a:rPr>
              <a:t>A</a:t>
            </a:r>
          </a:p>
        </p:txBody>
      </p:sp>
      <p:sp>
        <p:nvSpPr>
          <p:cNvPr id="11" name="TextBox 10"/>
          <p:cNvSpPr txBox="1"/>
          <p:nvPr/>
        </p:nvSpPr>
        <p:spPr>
          <a:xfrm>
            <a:off x="1645920" y="2084831"/>
            <a:ext cx="2286000" cy="640080"/>
          </a:xfrm>
          <a:prstGeom prst="rect">
            <a:avLst/>
          </a:prstGeom>
          <a:noFill/>
        </p:spPr>
        <p:txBody>
          <a:bodyPr wrap="square" anchor="ctr">
            <a:spAutoFit/>
          </a:bodyPr>
          <a:lstStyle/>
          <a:p>
            <a:pPr algn="l">
              <a:spcAft>
                <a:spcPts val="400"/>
              </a:spcAft>
            </a:pPr>
            <a:r>
              <a:rPr sz="1450" b="1">
                <a:solidFill>
                  <a:srgbClr val="7C3AED"/>
                </a:solidFill>
                <a:latin typeface="Arial"/>
              </a:rPr>
              <a:t>Single stack</a:t>
            </a:r>
          </a:p>
        </p:txBody>
      </p:sp>
      <p:sp>
        <p:nvSpPr>
          <p:cNvPr id="12" name="TextBox 11"/>
          <p:cNvSpPr txBox="1"/>
          <p:nvPr/>
        </p:nvSpPr>
        <p:spPr>
          <a:xfrm>
            <a:off x="1033272" y="2788920"/>
            <a:ext cx="2880360" cy="3108960"/>
          </a:xfrm>
          <a:prstGeom prst="rect">
            <a:avLst/>
          </a:prstGeom>
          <a:noFill/>
        </p:spPr>
        <p:txBody>
          <a:bodyPr wrap="square" anchor="t">
            <a:spAutoFit/>
          </a:bodyPr>
          <a:lstStyle/>
          <a:p>
            <a:pPr algn="l">
              <a:spcAft>
                <a:spcPts val="400"/>
              </a:spcAft>
            </a:pPr>
            <a:r>
              <a:rPr sz="1250" b="0">
                <a:solidFill>
                  <a:srgbClr val="161B26"/>
                </a:solidFill>
                <a:latin typeface="Arial"/>
              </a:rPr>
              <a:t>Small app, one team, one lifecycle. Simple to reason about — but every change risks the whole system and updates get slow as it grows.</a:t>
            </a:r>
          </a:p>
        </p:txBody>
      </p:sp>
      <p:sp>
        <p:nvSpPr>
          <p:cNvPr id="13" name="Rectangle 12"/>
          <p:cNvSpPr/>
          <p:nvPr/>
        </p:nvSpPr>
        <p:spPr>
          <a:xfrm>
            <a:off x="4572000" y="1783080"/>
            <a:ext cx="3337560" cy="429768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ectangle 13"/>
          <p:cNvSpPr/>
          <p:nvPr/>
        </p:nvSpPr>
        <p:spPr>
          <a:xfrm>
            <a:off x="4572000" y="1783080"/>
            <a:ext cx="3337560" cy="109728"/>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Oval 14"/>
          <p:cNvSpPr/>
          <p:nvPr/>
        </p:nvSpPr>
        <p:spPr>
          <a:xfrm>
            <a:off x="4828032" y="2057400"/>
            <a:ext cx="457200" cy="457200"/>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4828032" y="2057400"/>
            <a:ext cx="457200" cy="457200"/>
          </a:xfrm>
          <a:prstGeom prst="rect">
            <a:avLst/>
          </a:prstGeom>
          <a:noFill/>
        </p:spPr>
        <p:txBody>
          <a:bodyPr wrap="square" anchor="ctr">
            <a:spAutoFit/>
          </a:bodyPr>
          <a:lstStyle/>
          <a:p>
            <a:pPr algn="ctr">
              <a:spcAft>
                <a:spcPts val="400"/>
              </a:spcAft>
            </a:pPr>
            <a:r>
              <a:rPr sz="2000" b="1">
                <a:solidFill>
                  <a:srgbClr val="FFFFFF"/>
                </a:solidFill>
                <a:latin typeface="Arial"/>
              </a:rPr>
              <a:t>B</a:t>
            </a:r>
          </a:p>
        </p:txBody>
      </p:sp>
      <p:sp>
        <p:nvSpPr>
          <p:cNvPr id="17" name="TextBox 16"/>
          <p:cNvSpPr txBox="1"/>
          <p:nvPr/>
        </p:nvSpPr>
        <p:spPr>
          <a:xfrm>
            <a:off x="5440680" y="2084831"/>
            <a:ext cx="2286000" cy="640080"/>
          </a:xfrm>
          <a:prstGeom prst="rect">
            <a:avLst/>
          </a:prstGeom>
          <a:noFill/>
        </p:spPr>
        <p:txBody>
          <a:bodyPr wrap="square" anchor="ctr">
            <a:spAutoFit/>
          </a:bodyPr>
          <a:lstStyle/>
          <a:p>
            <a:pPr algn="l">
              <a:spcAft>
                <a:spcPts val="400"/>
              </a:spcAft>
            </a:pPr>
            <a:r>
              <a:rPr sz="1450" b="1">
                <a:solidFill>
                  <a:srgbClr val="7C3AED"/>
                </a:solidFill>
                <a:latin typeface="Arial"/>
              </a:rPr>
              <a:t>Layered stacks</a:t>
            </a:r>
          </a:p>
        </p:txBody>
      </p:sp>
      <p:sp>
        <p:nvSpPr>
          <p:cNvPr id="18" name="TextBox 17"/>
          <p:cNvSpPr txBox="1"/>
          <p:nvPr/>
        </p:nvSpPr>
        <p:spPr>
          <a:xfrm>
            <a:off x="4828032" y="2788920"/>
            <a:ext cx="2880360" cy="3108960"/>
          </a:xfrm>
          <a:prstGeom prst="rect">
            <a:avLst/>
          </a:prstGeom>
          <a:noFill/>
        </p:spPr>
        <p:txBody>
          <a:bodyPr wrap="square" anchor="t">
            <a:spAutoFit/>
          </a:bodyPr>
          <a:lstStyle/>
          <a:p>
            <a:pPr algn="l">
              <a:spcAft>
                <a:spcPts val="400"/>
              </a:spcAft>
            </a:pPr>
            <a:r>
              <a:rPr sz="1250" b="0">
                <a:solidFill>
                  <a:srgbClr val="161B26"/>
                </a:solidFill>
                <a:latin typeface="Arial"/>
              </a:rPr>
              <a:t>Separate network / platform / app by change rate and owner. Smaller blast radius and faster updates — needs disciplined exports/imports.</a:t>
            </a:r>
          </a:p>
        </p:txBody>
      </p:sp>
      <p:sp>
        <p:nvSpPr>
          <p:cNvPr id="19" name="Rectangle 18"/>
          <p:cNvSpPr/>
          <p:nvPr/>
        </p:nvSpPr>
        <p:spPr>
          <a:xfrm>
            <a:off x="8366760" y="1783080"/>
            <a:ext cx="3337560" cy="429768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Rectangle 19"/>
          <p:cNvSpPr/>
          <p:nvPr/>
        </p:nvSpPr>
        <p:spPr>
          <a:xfrm>
            <a:off x="8366760" y="1783080"/>
            <a:ext cx="3337560" cy="109728"/>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Oval 20"/>
          <p:cNvSpPr/>
          <p:nvPr/>
        </p:nvSpPr>
        <p:spPr>
          <a:xfrm>
            <a:off x="8622792" y="2057400"/>
            <a:ext cx="457200" cy="45720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8622792" y="2057400"/>
            <a:ext cx="457200" cy="457200"/>
          </a:xfrm>
          <a:prstGeom prst="rect">
            <a:avLst/>
          </a:prstGeom>
          <a:noFill/>
        </p:spPr>
        <p:txBody>
          <a:bodyPr wrap="square" anchor="ctr">
            <a:spAutoFit/>
          </a:bodyPr>
          <a:lstStyle/>
          <a:p>
            <a:pPr algn="ctr">
              <a:spcAft>
                <a:spcPts val="400"/>
              </a:spcAft>
            </a:pPr>
            <a:r>
              <a:rPr sz="2000" b="1">
                <a:solidFill>
                  <a:srgbClr val="FFFFFF"/>
                </a:solidFill>
                <a:latin typeface="Arial"/>
              </a:rPr>
              <a:t>C</a:t>
            </a:r>
          </a:p>
        </p:txBody>
      </p:sp>
      <p:sp>
        <p:nvSpPr>
          <p:cNvPr id="23" name="TextBox 22"/>
          <p:cNvSpPr txBox="1"/>
          <p:nvPr/>
        </p:nvSpPr>
        <p:spPr>
          <a:xfrm>
            <a:off x="9235440" y="2084831"/>
            <a:ext cx="2286000" cy="640080"/>
          </a:xfrm>
          <a:prstGeom prst="rect">
            <a:avLst/>
          </a:prstGeom>
          <a:noFill/>
        </p:spPr>
        <p:txBody>
          <a:bodyPr wrap="square" anchor="ctr">
            <a:spAutoFit/>
          </a:bodyPr>
          <a:lstStyle/>
          <a:p>
            <a:pPr algn="l">
              <a:spcAft>
                <a:spcPts val="400"/>
              </a:spcAft>
            </a:pPr>
            <a:r>
              <a:rPr sz="1450" b="1">
                <a:solidFill>
                  <a:srgbClr val="10B981"/>
                </a:solidFill>
                <a:latin typeface="Arial"/>
              </a:rPr>
              <a:t>StackSets across accounts</a:t>
            </a:r>
          </a:p>
        </p:txBody>
      </p:sp>
      <p:sp>
        <p:nvSpPr>
          <p:cNvPr id="24" name="TextBox 23"/>
          <p:cNvSpPr txBox="1"/>
          <p:nvPr/>
        </p:nvSpPr>
        <p:spPr>
          <a:xfrm>
            <a:off x="8622792" y="2788920"/>
            <a:ext cx="2880360" cy="3108960"/>
          </a:xfrm>
          <a:prstGeom prst="rect">
            <a:avLst/>
          </a:prstGeom>
          <a:noFill/>
        </p:spPr>
        <p:txBody>
          <a:bodyPr wrap="square" anchor="t">
            <a:spAutoFit/>
          </a:bodyPr>
          <a:lstStyle/>
          <a:p>
            <a:pPr algn="l">
              <a:spcAft>
                <a:spcPts val="400"/>
              </a:spcAft>
            </a:pPr>
            <a:r>
              <a:rPr sz="1250" b="0">
                <a:solidFill>
                  <a:srgbClr val="161B26"/>
                </a:solidFill>
                <a:latin typeface="Arial"/>
              </a:rPr>
              <a:t>Same baseline in many accounts/Regions. Enforces consistency at scale — requires central governance and account-team coordination.</a:t>
            </a:r>
          </a:p>
        </p:txBody>
      </p:sp>
      <p:sp>
        <p:nvSpPr>
          <p:cNvPr id="25" name="TextBox 24"/>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DevOps Engineering on AWS  ·  TGS-2023040474</a:t>
            </a:r>
          </a:p>
        </p:txBody>
      </p:sp>
      <p:sp>
        <p:nvSpPr>
          <p:cNvPr id="26" name="TextBox 25"/>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27" name="TextBox 26"/>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89</a:t>
            </a:r>
          </a:p>
        </p:txBody>
      </p:sp>
    </p:spTree>
  </p:cSld>
  <p:clrMapOvr>
    <a:masterClrMapping/>
  </p:clrMapOvr>
  <p:transition xmlns:p14="http://schemas.microsoft.com/office/powerpoint/2010/main" p14:dur="380">
    <p:fade/>
  </p:transition>
</p:sld>
</file>

<file path=ppt/slides/slide9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38912"/>
            <a:ext cx="10607040" cy="365760"/>
          </a:xfrm>
          <a:prstGeom prst="rect">
            <a:avLst/>
          </a:prstGeom>
          <a:noFill/>
        </p:spPr>
        <p:txBody>
          <a:bodyPr wrap="square" anchor="t">
            <a:spAutoFit/>
          </a:bodyPr>
          <a:lstStyle/>
          <a:p>
            <a:pPr algn="l">
              <a:spcAft>
                <a:spcPts val="400"/>
              </a:spcAft>
            </a:pPr>
            <a:r>
              <a:rPr sz="1400" b="1">
                <a:solidFill>
                  <a:srgbClr val="7C3AED"/>
                </a:solidFill>
                <a:latin typeface="Arial"/>
              </a:rPr>
              <a:t>THE COST OF DRIFT</a:t>
            </a:r>
          </a:p>
        </p:txBody>
      </p:sp>
      <p:sp>
        <p:nvSpPr>
          <p:cNvPr id="5" name="TextBox 4"/>
          <p:cNvSpPr txBox="1"/>
          <p:nvPr/>
        </p:nvSpPr>
        <p:spPr>
          <a:xfrm>
            <a:off x="777240" y="896112"/>
            <a:ext cx="10927080" cy="731520"/>
          </a:xfrm>
          <a:prstGeom prst="rect">
            <a:avLst/>
          </a:prstGeom>
          <a:noFill/>
        </p:spPr>
        <p:txBody>
          <a:bodyPr wrap="square" anchor="t">
            <a:spAutoFit/>
          </a:bodyPr>
          <a:lstStyle/>
          <a:p>
            <a:pPr algn="l">
              <a:spcAft>
                <a:spcPts val="400"/>
              </a:spcAft>
            </a:pPr>
            <a:r>
              <a:rPr sz="2100" b="1">
                <a:solidFill>
                  <a:srgbClr val="161B26"/>
                </a:solidFill>
                <a:latin typeface="Arial"/>
              </a:rPr>
              <a:t>Scenario — A 'quick' console fix breaks the next deploy</a:t>
            </a:r>
          </a:p>
        </p:txBody>
      </p:sp>
      <p:sp>
        <p:nvSpPr>
          <p:cNvPr id="6" name="Rectangle 5"/>
          <p:cNvSpPr/>
          <p:nvPr/>
        </p:nvSpPr>
        <p:spPr>
          <a:xfrm>
            <a:off x="777240" y="1572768"/>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755648"/>
            <a:ext cx="10634472" cy="91440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1755648"/>
            <a:ext cx="91440" cy="914400"/>
          </a:xfrm>
          <a:prstGeom prst="rect">
            <a:avLst/>
          </a:prstGeom>
          <a:solidFill>
            <a:srgbClr val="5B637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1033272" y="1847088"/>
            <a:ext cx="2194560" cy="320040"/>
          </a:xfrm>
          <a:prstGeom prst="rect">
            <a:avLst/>
          </a:prstGeom>
          <a:noFill/>
        </p:spPr>
        <p:txBody>
          <a:bodyPr wrap="square" anchor="t">
            <a:spAutoFit/>
          </a:bodyPr>
          <a:lstStyle/>
          <a:p>
            <a:pPr algn="l">
              <a:spcAft>
                <a:spcPts val="400"/>
              </a:spcAft>
            </a:pPr>
            <a:r>
              <a:rPr sz="1150" b="1">
                <a:solidFill>
                  <a:srgbClr val="5B6372"/>
                </a:solidFill>
                <a:latin typeface="Arial"/>
              </a:rPr>
              <a:t>SITUATION</a:t>
            </a:r>
          </a:p>
        </p:txBody>
      </p:sp>
      <p:sp>
        <p:nvSpPr>
          <p:cNvPr id="10" name="TextBox 9"/>
          <p:cNvSpPr txBox="1"/>
          <p:nvPr/>
        </p:nvSpPr>
        <p:spPr>
          <a:xfrm>
            <a:off x="1033272" y="2157984"/>
            <a:ext cx="10085832" cy="457200"/>
          </a:xfrm>
          <a:prstGeom prst="rect">
            <a:avLst/>
          </a:prstGeom>
          <a:noFill/>
        </p:spPr>
        <p:txBody>
          <a:bodyPr wrap="square" anchor="t">
            <a:spAutoFit/>
          </a:bodyPr>
          <a:lstStyle/>
          <a:p>
            <a:pPr algn="l">
              <a:spcAft>
                <a:spcPts val="400"/>
              </a:spcAft>
            </a:pPr>
            <a:r>
              <a:rPr sz="1300" b="0">
                <a:solidFill>
                  <a:srgbClr val="161B26"/>
                </a:solidFill>
                <a:latin typeface="Arial"/>
              </a:rPr>
              <a:t>An engineer widens a security group in the console during an incident. Two weeks later, a routine stack update fails or silently reverts the fix.</a:t>
            </a:r>
          </a:p>
        </p:txBody>
      </p:sp>
      <p:sp>
        <p:nvSpPr>
          <p:cNvPr id="11" name="Rectangle 10"/>
          <p:cNvSpPr/>
          <p:nvPr/>
        </p:nvSpPr>
        <p:spPr>
          <a:xfrm>
            <a:off x="777240" y="2788920"/>
            <a:ext cx="10634472" cy="2194560"/>
          </a:xfrm>
          <a:prstGeom prst="rect">
            <a:avLst/>
          </a:prstGeom>
          <a:solidFill>
            <a:srgbClr val="FFFFFF"/>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ectangle 11"/>
          <p:cNvSpPr/>
          <p:nvPr/>
        </p:nvSpPr>
        <p:spPr>
          <a:xfrm>
            <a:off x="777240" y="2788920"/>
            <a:ext cx="91440" cy="2194560"/>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1033272" y="2880360"/>
            <a:ext cx="2743200" cy="320040"/>
          </a:xfrm>
          <a:prstGeom prst="rect">
            <a:avLst/>
          </a:prstGeom>
          <a:noFill/>
        </p:spPr>
        <p:txBody>
          <a:bodyPr wrap="square" anchor="t">
            <a:spAutoFit/>
          </a:bodyPr>
          <a:lstStyle/>
          <a:p>
            <a:pPr algn="l">
              <a:spcAft>
                <a:spcPts val="400"/>
              </a:spcAft>
            </a:pPr>
            <a:r>
              <a:rPr sz="1150" b="1">
                <a:solidFill>
                  <a:srgbClr val="7C3AED"/>
                </a:solidFill>
                <a:latin typeface="Arial"/>
              </a:rPr>
              <a:t>ANALYSIS</a:t>
            </a:r>
          </a:p>
        </p:txBody>
      </p:sp>
      <p:sp>
        <p:nvSpPr>
          <p:cNvPr id="14" name="TextBox 13"/>
          <p:cNvSpPr txBox="1"/>
          <p:nvPr/>
        </p:nvSpPr>
        <p:spPr>
          <a:xfrm>
            <a:off x="1033272" y="3246120"/>
            <a:ext cx="9994392" cy="1645920"/>
          </a:xfrm>
          <a:prstGeom prst="rect">
            <a:avLst/>
          </a:prstGeom>
          <a:noFill/>
        </p:spPr>
        <p:txBody>
          <a:bodyPr wrap="square">
            <a:spAutoFit/>
          </a:bodyPr>
          <a:lstStyle/>
          <a:p>
            <a:pPr>
              <a:spcAft>
                <a:spcPts val="700"/>
              </a:spcAft>
            </a:pPr>
            <a:r>
              <a:rPr sz="1300" b="0">
                <a:solidFill>
                  <a:srgbClr val="161B26"/>
                </a:solidFill>
                <a:latin typeface="Arial"/>
              </a:rPr>
              <a:t>•  The live resource no longer matches the template, so CloudFormation's view of desired state is wrong.</a:t>
            </a:r>
          </a:p>
          <a:p>
            <a:pPr>
              <a:spcAft>
                <a:spcPts val="700"/>
              </a:spcAft>
            </a:pPr>
            <a:r>
              <a:rPr sz="1300" b="0">
                <a:solidFill>
                  <a:srgbClr val="161B26"/>
                </a:solidFill>
                <a:latin typeface="Arial"/>
              </a:rPr>
              <a:t>•  Drift detection would have flagged this the same day; Config rules could have alarmed on the open port immediately.</a:t>
            </a:r>
          </a:p>
          <a:p>
            <a:pPr>
              <a:spcAft>
                <a:spcPts val="700"/>
              </a:spcAft>
            </a:pPr>
            <a:r>
              <a:rPr sz="1300" b="0">
                <a:solidFill>
                  <a:srgbClr val="161B26"/>
                </a:solidFill>
                <a:latin typeface="Arial"/>
              </a:rPr>
              <a:t>•  The durable fix is to encode the change in the template and re-apply, not to keep patching by hand.</a:t>
            </a:r>
          </a:p>
        </p:txBody>
      </p:sp>
      <p:sp>
        <p:nvSpPr>
          <p:cNvPr id="15" name="Rectangle 14"/>
          <p:cNvSpPr/>
          <p:nvPr/>
        </p:nvSpPr>
        <p:spPr>
          <a:xfrm>
            <a:off x="777240" y="5102352"/>
            <a:ext cx="10634472" cy="96012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ectangle 15"/>
          <p:cNvSpPr/>
          <p:nvPr/>
        </p:nvSpPr>
        <p:spPr>
          <a:xfrm>
            <a:off x="777240" y="5102352"/>
            <a:ext cx="91440" cy="9601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1033272" y="5193792"/>
            <a:ext cx="2743200" cy="320040"/>
          </a:xfrm>
          <a:prstGeom prst="rect">
            <a:avLst/>
          </a:prstGeom>
          <a:noFill/>
        </p:spPr>
        <p:txBody>
          <a:bodyPr wrap="square" anchor="t">
            <a:spAutoFit/>
          </a:bodyPr>
          <a:lstStyle/>
          <a:p>
            <a:pPr algn="l">
              <a:spcAft>
                <a:spcPts val="400"/>
              </a:spcAft>
            </a:pPr>
            <a:r>
              <a:rPr sz="1150" b="1">
                <a:solidFill>
                  <a:srgbClr val="10B981"/>
                </a:solidFill>
                <a:latin typeface="Arial"/>
              </a:rPr>
              <a:t>DECISION</a:t>
            </a:r>
          </a:p>
        </p:txBody>
      </p:sp>
      <p:sp>
        <p:nvSpPr>
          <p:cNvPr id="18" name="TextBox 17"/>
          <p:cNvSpPr txBox="1"/>
          <p:nvPr/>
        </p:nvSpPr>
        <p:spPr>
          <a:xfrm>
            <a:off x="1033272" y="5486400"/>
            <a:ext cx="10085832" cy="548640"/>
          </a:xfrm>
          <a:prstGeom prst="rect">
            <a:avLst/>
          </a:prstGeom>
          <a:noFill/>
        </p:spPr>
        <p:txBody>
          <a:bodyPr wrap="square" anchor="t">
            <a:spAutoFit/>
          </a:bodyPr>
          <a:lstStyle/>
          <a:p>
            <a:pPr algn="l">
              <a:spcAft>
                <a:spcPts val="400"/>
              </a:spcAft>
            </a:pPr>
            <a:r>
              <a:rPr sz="1300" b="1">
                <a:solidFill>
                  <a:srgbClr val="161B26"/>
                </a:solidFill>
                <a:latin typeface="Arial"/>
              </a:rPr>
              <a:t>Run drift detection on a schedule, alarm on security-group drift via Config, and require that emergency console changes are back-ported into the template within the incident's follow-up.</a:t>
            </a:r>
          </a:p>
        </p:txBody>
      </p:sp>
      <p:sp>
        <p:nvSpPr>
          <p:cNvPr id="19" name="TextBox 18"/>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DevOps Engineering on AWS  ·  TGS-2023040474</a:t>
            </a:r>
          </a:p>
        </p:txBody>
      </p:sp>
      <p:sp>
        <p:nvSpPr>
          <p:cNvPr id="20" name="TextBox 19"/>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21" name="TextBox 20"/>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90</a:t>
            </a:r>
          </a:p>
        </p:txBody>
      </p:sp>
    </p:spTree>
  </p:cSld>
  <p:clrMapOvr>
    <a:masterClrMapping/>
  </p:clrMapOvr>
  <p:transition xmlns:p14="http://schemas.microsoft.com/office/powerpoint/2010/main" p14:dur="380">
    <p:fade/>
  </p:transition>
</p:sld>
</file>

<file path=ppt/slides/slide9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38912"/>
            <a:ext cx="10607040" cy="365760"/>
          </a:xfrm>
          <a:prstGeom prst="rect">
            <a:avLst/>
          </a:prstGeom>
          <a:noFill/>
        </p:spPr>
        <p:txBody>
          <a:bodyPr wrap="square" anchor="t">
            <a:spAutoFit/>
          </a:bodyPr>
          <a:lstStyle/>
          <a:p>
            <a:pPr algn="l">
              <a:spcAft>
                <a:spcPts val="400"/>
              </a:spcAft>
            </a:pPr>
            <a:r>
              <a:rPr sz="1400" b="1">
                <a:solidFill>
                  <a:srgbClr val="7C3AED"/>
                </a:solidFill>
                <a:latin typeface="Arial"/>
              </a:rPr>
              <a:t>SCALING GOVERNANCE</a:t>
            </a:r>
          </a:p>
        </p:txBody>
      </p:sp>
      <p:sp>
        <p:nvSpPr>
          <p:cNvPr id="5" name="TextBox 4"/>
          <p:cNvSpPr txBox="1"/>
          <p:nvPr/>
        </p:nvSpPr>
        <p:spPr>
          <a:xfrm>
            <a:off x="777240" y="896112"/>
            <a:ext cx="10927080" cy="731520"/>
          </a:xfrm>
          <a:prstGeom prst="rect">
            <a:avLst/>
          </a:prstGeom>
          <a:noFill/>
        </p:spPr>
        <p:txBody>
          <a:bodyPr wrap="square" anchor="t">
            <a:spAutoFit/>
          </a:bodyPr>
          <a:lstStyle/>
          <a:p>
            <a:pPr algn="l">
              <a:spcAft>
                <a:spcPts val="400"/>
              </a:spcAft>
            </a:pPr>
            <a:r>
              <a:rPr sz="2500" b="1">
                <a:solidFill>
                  <a:srgbClr val="161B26"/>
                </a:solidFill>
                <a:latin typeface="Arial"/>
              </a:rPr>
              <a:t>Scenario — Standing up a compliant new account fast</a:t>
            </a:r>
          </a:p>
        </p:txBody>
      </p:sp>
      <p:sp>
        <p:nvSpPr>
          <p:cNvPr id="6" name="Rectangle 5"/>
          <p:cNvSpPr/>
          <p:nvPr/>
        </p:nvSpPr>
        <p:spPr>
          <a:xfrm>
            <a:off x="777240" y="1572768"/>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755648"/>
            <a:ext cx="10634472" cy="91440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1755648"/>
            <a:ext cx="91440" cy="914400"/>
          </a:xfrm>
          <a:prstGeom prst="rect">
            <a:avLst/>
          </a:prstGeom>
          <a:solidFill>
            <a:srgbClr val="5B637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1033272" y="1847088"/>
            <a:ext cx="2194560" cy="320040"/>
          </a:xfrm>
          <a:prstGeom prst="rect">
            <a:avLst/>
          </a:prstGeom>
          <a:noFill/>
        </p:spPr>
        <p:txBody>
          <a:bodyPr wrap="square" anchor="t">
            <a:spAutoFit/>
          </a:bodyPr>
          <a:lstStyle/>
          <a:p>
            <a:pPr algn="l">
              <a:spcAft>
                <a:spcPts val="400"/>
              </a:spcAft>
            </a:pPr>
            <a:r>
              <a:rPr sz="1150" b="1">
                <a:solidFill>
                  <a:srgbClr val="5B6372"/>
                </a:solidFill>
                <a:latin typeface="Arial"/>
              </a:rPr>
              <a:t>SITUATION</a:t>
            </a:r>
          </a:p>
        </p:txBody>
      </p:sp>
      <p:sp>
        <p:nvSpPr>
          <p:cNvPr id="10" name="TextBox 9"/>
          <p:cNvSpPr txBox="1"/>
          <p:nvPr/>
        </p:nvSpPr>
        <p:spPr>
          <a:xfrm>
            <a:off x="1033272" y="2157984"/>
            <a:ext cx="10085832" cy="457200"/>
          </a:xfrm>
          <a:prstGeom prst="rect">
            <a:avLst/>
          </a:prstGeom>
          <a:noFill/>
        </p:spPr>
        <p:txBody>
          <a:bodyPr wrap="square" anchor="t">
            <a:spAutoFit/>
          </a:bodyPr>
          <a:lstStyle/>
          <a:p>
            <a:pPr algn="l">
              <a:spcAft>
                <a:spcPts val="400"/>
              </a:spcAft>
            </a:pPr>
            <a:r>
              <a:rPr sz="1300" b="0">
                <a:solidFill>
                  <a:srgbClr val="161B26"/>
                </a:solidFill>
                <a:latin typeface="Arial"/>
              </a:rPr>
              <a:t>A new business unit needs an AWS account that already meets the company's security, logging and network standards on day one.</a:t>
            </a:r>
          </a:p>
        </p:txBody>
      </p:sp>
      <p:sp>
        <p:nvSpPr>
          <p:cNvPr id="11" name="Rectangle 10"/>
          <p:cNvSpPr/>
          <p:nvPr/>
        </p:nvSpPr>
        <p:spPr>
          <a:xfrm>
            <a:off x="777240" y="2788920"/>
            <a:ext cx="10634472" cy="2194560"/>
          </a:xfrm>
          <a:prstGeom prst="rect">
            <a:avLst/>
          </a:prstGeom>
          <a:solidFill>
            <a:srgbClr val="FFFFFF"/>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ectangle 11"/>
          <p:cNvSpPr/>
          <p:nvPr/>
        </p:nvSpPr>
        <p:spPr>
          <a:xfrm>
            <a:off x="777240" y="2788920"/>
            <a:ext cx="91440" cy="2194560"/>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1033272" y="2880360"/>
            <a:ext cx="2743200" cy="320040"/>
          </a:xfrm>
          <a:prstGeom prst="rect">
            <a:avLst/>
          </a:prstGeom>
          <a:noFill/>
        </p:spPr>
        <p:txBody>
          <a:bodyPr wrap="square" anchor="t">
            <a:spAutoFit/>
          </a:bodyPr>
          <a:lstStyle/>
          <a:p>
            <a:pPr algn="l">
              <a:spcAft>
                <a:spcPts val="400"/>
              </a:spcAft>
            </a:pPr>
            <a:r>
              <a:rPr sz="1150" b="1">
                <a:solidFill>
                  <a:srgbClr val="7C3AED"/>
                </a:solidFill>
                <a:latin typeface="Arial"/>
              </a:rPr>
              <a:t>ANALYSIS</a:t>
            </a:r>
          </a:p>
        </p:txBody>
      </p:sp>
      <p:sp>
        <p:nvSpPr>
          <p:cNvPr id="14" name="TextBox 13"/>
          <p:cNvSpPr txBox="1"/>
          <p:nvPr/>
        </p:nvSpPr>
        <p:spPr>
          <a:xfrm>
            <a:off x="1033272" y="3246120"/>
            <a:ext cx="9994392" cy="1645920"/>
          </a:xfrm>
          <a:prstGeom prst="rect">
            <a:avLst/>
          </a:prstGeom>
          <a:noFill/>
        </p:spPr>
        <p:txBody>
          <a:bodyPr wrap="square">
            <a:spAutoFit/>
          </a:bodyPr>
          <a:lstStyle/>
          <a:p>
            <a:pPr>
              <a:spcAft>
                <a:spcPts val="700"/>
              </a:spcAft>
            </a:pPr>
            <a:r>
              <a:rPr sz="1300" b="0">
                <a:solidFill>
                  <a:srgbClr val="161B26"/>
                </a:solidFill>
                <a:latin typeface="Arial"/>
              </a:rPr>
              <a:t>•  Hand-building the account is slow and error-prone and guarantees it drifts from the standard.</a:t>
            </a:r>
          </a:p>
          <a:p>
            <a:pPr>
              <a:spcAft>
                <a:spcPts val="700"/>
              </a:spcAft>
            </a:pPr>
            <a:r>
              <a:rPr sz="1300" b="0">
                <a:solidFill>
                  <a:srgbClr val="161B26"/>
                </a:solidFill>
                <a:latin typeface="Arial"/>
              </a:rPr>
              <a:t>•  Control Tower's account factory vends accounts pre-wired to guardrails and centralised logging.</a:t>
            </a:r>
          </a:p>
          <a:p>
            <a:pPr>
              <a:spcAft>
                <a:spcPts val="700"/>
              </a:spcAft>
            </a:pPr>
            <a:r>
              <a:rPr sz="1300" b="0">
                <a:solidFill>
                  <a:srgbClr val="161B26"/>
                </a:solidFill>
                <a:latin typeface="Arial"/>
              </a:rPr>
              <a:t>•  StackSets push the standard network and security stacks into the new account automatically.</a:t>
            </a:r>
          </a:p>
        </p:txBody>
      </p:sp>
      <p:sp>
        <p:nvSpPr>
          <p:cNvPr id="15" name="Rectangle 14"/>
          <p:cNvSpPr/>
          <p:nvPr/>
        </p:nvSpPr>
        <p:spPr>
          <a:xfrm>
            <a:off x="777240" y="5102352"/>
            <a:ext cx="10634472" cy="96012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ectangle 15"/>
          <p:cNvSpPr/>
          <p:nvPr/>
        </p:nvSpPr>
        <p:spPr>
          <a:xfrm>
            <a:off x="777240" y="5102352"/>
            <a:ext cx="91440" cy="9601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1033272" y="5193792"/>
            <a:ext cx="2743200" cy="320040"/>
          </a:xfrm>
          <a:prstGeom prst="rect">
            <a:avLst/>
          </a:prstGeom>
          <a:noFill/>
        </p:spPr>
        <p:txBody>
          <a:bodyPr wrap="square" anchor="t">
            <a:spAutoFit/>
          </a:bodyPr>
          <a:lstStyle/>
          <a:p>
            <a:pPr algn="l">
              <a:spcAft>
                <a:spcPts val="400"/>
              </a:spcAft>
            </a:pPr>
            <a:r>
              <a:rPr sz="1150" b="1">
                <a:solidFill>
                  <a:srgbClr val="10B981"/>
                </a:solidFill>
                <a:latin typeface="Arial"/>
              </a:rPr>
              <a:t>DECISION</a:t>
            </a:r>
          </a:p>
        </p:txBody>
      </p:sp>
      <p:sp>
        <p:nvSpPr>
          <p:cNvPr id="18" name="TextBox 17"/>
          <p:cNvSpPr txBox="1"/>
          <p:nvPr/>
        </p:nvSpPr>
        <p:spPr>
          <a:xfrm>
            <a:off x="1033272" y="5486400"/>
            <a:ext cx="10085832" cy="548640"/>
          </a:xfrm>
          <a:prstGeom prst="rect">
            <a:avLst/>
          </a:prstGeom>
          <a:noFill/>
        </p:spPr>
        <p:txBody>
          <a:bodyPr wrap="square" anchor="t">
            <a:spAutoFit/>
          </a:bodyPr>
          <a:lstStyle/>
          <a:p>
            <a:pPr algn="l">
              <a:spcAft>
                <a:spcPts val="400"/>
              </a:spcAft>
            </a:pPr>
            <a:r>
              <a:rPr sz="1300" b="1">
                <a:solidFill>
                  <a:srgbClr val="161B26"/>
                </a:solidFill>
                <a:latin typeface="Arial"/>
              </a:rPr>
              <a:t>Vend the account through Control Tower and apply the baseline via StackSets, so 'compliant by default' is the path of least resistance rather than a later audit finding.</a:t>
            </a:r>
          </a:p>
        </p:txBody>
      </p:sp>
      <p:sp>
        <p:nvSpPr>
          <p:cNvPr id="19" name="TextBox 18"/>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DevOps Engineering on AWS  ·  TGS-2023040474</a:t>
            </a:r>
          </a:p>
        </p:txBody>
      </p:sp>
      <p:sp>
        <p:nvSpPr>
          <p:cNvPr id="20" name="TextBox 19"/>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21" name="TextBox 20"/>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91</a:t>
            </a:r>
          </a:p>
        </p:txBody>
      </p:sp>
    </p:spTree>
  </p:cSld>
  <p:clrMapOvr>
    <a:masterClrMapping/>
  </p:clrMapOvr>
  <p:transition xmlns:p14="http://schemas.microsoft.com/office/powerpoint/2010/main" p14:dur="380">
    <p:fade/>
  </p:transition>
</p:sld>
</file>

<file path=ppt/slides/slide9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38912"/>
            <a:ext cx="10607040" cy="365760"/>
          </a:xfrm>
          <a:prstGeom prst="rect">
            <a:avLst/>
          </a:prstGeom>
          <a:noFill/>
        </p:spPr>
        <p:txBody>
          <a:bodyPr wrap="square" anchor="t">
            <a:spAutoFit/>
          </a:bodyPr>
          <a:lstStyle/>
          <a:p>
            <a:pPr algn="l">
              <a:spcAft>
                <a:spcPts val="400"/>
              </a:spcAft>
            </a:pPr>
            <a:r>
              <a:rPr sz="1400" b="1">
                <a:solidFill>
                  <a:srgbClr val="7C3AED"/>
                </a:solidFill>
                <a:latin typeface="Arial"/>
              </a:rPr>
              <a:t>ONE ARTIFACT, MANY ENVIRONMENTS</a:t>
            </a:r>
          </a:p>
        </p:txBody>
      </p:sp>
      <p:sp>
        <p:nvSpPr>
          <p:cNvPr id="5" name="TextBox 4"/>
          <p:cNvSpPr txBox="1"/>
          <p:nvPr/>
        </p:nvSpPr>
        <p:spPr>
          <a:xfrm>
            <a:off x="777240" y="896112"/>
            <a:ext cx="10927080" cy="731520"/>
          </a:xfrm>
          <a:prstGeom prst="rect">
            <a:avLst/>
          </a:prstGeom>
          <a:noFill/>
        </p:spPr>
        <p:txBody>
          <a:bodyPr wrap="square" anchor="t">
            <a:spAutoFit/>
          </a:bodyPr>
          <a:lstStyle/>
          <a:p>
            <a:pPr algn="l">
              <a:spcAft>
                <a:spcPts val="400"/>
              </a:spcAft>
            </a:pPr>
            <a:r>
              <a:rPr sz="2100" b="1">
                <a:solidFill>
                  <a:srgbClr val="161B26"/>
                </a:solidFill>
                <a:latin typeface="Arial"/>
              </a:rPr>
              <a:t>Worked Analysis — Parameterising One Template for Three Environments</a:t>
            </a:r>
          </a:p>
        </p:txBody>
      </p:sp>
      <p:sp>
        <p:nvSpPr>
          <p:cNvPr id="6" name="Rectangle 5"/>
          <p:cNvSpPr/>
          <p:nvPr/>
        </p:nvSpPr>
        <p:spPr>
          <a:xfrm>
            <a:off x="777240" y="1572768"/>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783080"/>
            <a:ext cx="4253788" cy="765810"/>
          </a:xfrm>
          <a:prstGeom prst="rect">
            <a:avLst/>
          </a:prstGeom>
          <a:solidFill>
            <a:srgbClr val="F5F8FC"/>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1783080"/>
            <a:ext cx="73152" cy="765810"/>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5031028" y="1783080"/>
            <a:ext cx="6380684" cy="765810"/>
          </a:xfrm>
          <a:prstGeom prst="rect">
            <a:avLst/>
          </a:prstGeom>
          <a:solidFill>
            <a:srgbClr val="F5F8FC"/>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978408" y="1783080"/>
            <a:ext cx="3933748" cy="765810"/>
          </a:xfrm>
          <a:prstGeom prst="rect">
            <a:avLst/>
          </a:prstGeom>
          <a:noFill/>
        </p:spPr>
        <p:txBody>
          <a:bodyPr wrap="square" anchor="ctr">
            <a:spAutoFit/>
          </a:bodyPr>
          <a:lstStyle/>
          <a:p>
            <a:pPr algn="l">
              <a:spcAft>
                <a:spcPts val="400"/>
              </a:spcAft>
            </a:pPr>
            <a:r>
              <a:rPr sz="1250" b="1">
                <a:solidFill>
                  <a:srgbClr val="161B26"/>
                </a:solidFill>
                <a:latin typeface="Arial"/>
              </a:rPr>
              <a:t>Instance size by env</a:t>
            </a:r>
          </a:p>
        </p:txBody>
      </p:sp>
      <p:sp>
        <p:nvSpPr>
          <p:cNvPr id="11" name="TextBox 10"/>
          <p:cNvSpPr txBox="1"/>
          <p:nvPr/>
        </p:nvSpPr>
        <p:spPr>
          <a:xfrm>
            <a:off x="5213908" y="1783080"/>
            <a:ext cx="6060644" cy="765810"/>
          </a:xfrm>
          <a:prstGeom prst="rect">
            <a:avLst/>
          </a:prstGeom>
          <a:noFill/>
        </p:spPr>
        <p:txBody>
          <a:bodyPr wrap="square" anchor="ctr">
            <a:spAutoFit/>
          </a:bodyPr>
          <a:lstStyle/>
          <a:p>
            <a:pPr algn="l">
              <a:spcAft>
                <a:spcPts val="400"/>
              </a:spcAft>
            </a:pPr>
            <a:r>
              <a:rPr sz="1200" b="0">
                <a:solidFill>
                  <a:srgbClr val="5B6372"/>
                </a:solidFill>
                <a:latin typeface="Arial"/>
              </a:rPr>
              <a:t>dev t3.micro, staging t3.small, prod m5.large — a single InstanceType parameter.</a:t>
            </a:r>
          </a:p>
        </p:txBody>
      </p:sp>
      <p:sp>
        <p:nvSpPr>
          <p:cNvPr id="12" name="Rectangle 11"/>
          <p:cNvSpPr/>
          <p:nvPr/>
        </p:nvSpPr>
        <p:spPr>
          <a:xfrm>
            <a:off x="777240" y="2548890"/>
            <a:ext cx="4253788" cy="765810"/>
          </a:xfrm>
          <a:prstGeom prst="rect">
            <a:avLst/>
          </a:prstGeom>
          <a:solidFill>
            <a:srgbClr val="FFFFFF"/>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777240" y="2548890"/>
            <a:ext cx="73152" cy="765810"/>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ectangle 13"/>
          <p:cNvSpPr/>
          <p:nvPr/>
        </p:nvSpPr>
        <p:spPr>
          <a:xfrm>
            <a:off x="5031028" y="2548890"/>
            <a:ext cx="6380684" cy="765810"/>
          </a:xfrm>
          <a:prstGeom prst="rect">
            <a:avLst/>
          </a:prstGeom>
          <a:solidFill>
            <a:srgbClr val="FFFFFF"/>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978408" y="2548890"/>
            <a:ext cx="3933748" cy="765810"/>
          </a:xfrm>
          <a:prstGeom prst="rect">
            <a:avLst/>
          </a:prstGeom>
          <a:noFill/>
        </p:spPr>
        <p:txBody>
          <a:bodyPr wrap="square" anchor="ctr">
            <a:spAutoFit/>
          </a:bodyPr>
          <a:lstStyle/>
          <a:p>
            <a:pPr algn="l">
              <a:spcAft>
                <a:spcPts val="400"/>
              </a:spcAft>
            </a:pPr>
            <a:r>
              <a:rPr sz="1250" b="1">
                <a:solidFill>
                  <a:srgbClr val="161B26"/>
                </a:solidFill>
                <a:latin typeface="Arial"/>
              </a:rPr>
              <a:t>High availability by env</a:t>
            </a:r>
          </a:p>
        </p:txBody>
      </p:sp>
      <p:sp>
        <p:nvSpPr>
          <p:cNvPr id="16" name="TextBox 15"/>
          <p:cNvSpPr txBox="1"/>
          <p:nvPr/>
        </p:nvSpPr>
        <p:spPr>
          <a:xfrm>
            <a:off x="5213908" y="2548890"/>
            <a:ext cx="6060644" cy="765810"/>
          </a:xfrm>
          <a:prstGeom prst="rect">
            <a:avLst/>
          </a:prstGeom>
          <a:noFill/>
        </p:spPr>
        <p:txBody>
          <a:bodyPr wrap="square" anchor="ctr">
            <a:spAutoFit/>
          </a:bodyPr>
          <a:lstStyle/>
          <a:p>
            <a:pPr algn="l">
              <a:spcAft>
                <a:spcPts val="400"/>
              </a:spcAft>
            </a:pPr>
            <a:r>
              <a:rPr sz="1200" b="0">
                <a:solidFill>
                  <a:srgbClr val="5B6372"/>
                </a:solidFill>
                <a:latin typeface="Arial"/>
              </a:rPr>
              <a:t>A Condition creates the Multi-AZ standby and NAT redundancy only when EnvName = prod.</a:t>
            </a:r>
          </a:p>
        </p:txBody>
      </p:sp>
      <p:sp>
        <p:nvSpPr>
          <p:cNvPr id="17" name="Rectangle 16"/>
          <p:cNvSpPr/>
          <p:nvPr/>
        </p:nvSpPr>
        <p:spPr>
          <a:xfrm>
            <a:off x="777240" y="3314700"/>
            <a:ext cx="4253788" cy="765810"/>
          </a:xfrm>
          <a:prstGeom prst="rect">
            <a:avLst/>
          </a:prstGeom>
          <a:solidFill>
            <a:srgbClr val="F5F8FC"/>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777240" y="3314700"/>
            <a:ext cx="73152" cy="765810"/>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Rectangle 18"/>
          <p:cNvSpPr/>
          <p:nvPr/>
        </p:nvSpPr>
        <p:spPr>
          <a:xfrm>
            <a:off x="5031028" y="3314700"/>
            <a:ext cx="6380684" cy="765810"/>
          </a:xfrm>
          <a:prstGeom prst="rect">
            <a:avLst/>
          </a:prstGeom>
          <a:solidFill>
            <a:srgbClr val="F5F8FC"/>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978408" y="3314700"/>
            <a:ext cx="3933748" cy="765810"/>
          </a:xfrm>
          <a:prstGeom prst="rect">
            <a:avLst/>
          </a:prstGeom>
          <a:noFill/>
        </p:spPr>
        <p:txBody>
          <a:bodyPr wrap="square" anchor="ctr">
            <a:spAutoFit/>
          </a:bodyPr>
          <a:lstStyle/>
          <a:p>
            <a:pPr algn="l">
              <a:spcAft>
                <a:spcPts val="400"/>
              </a:spcAft>
            </a:pPr>
            <a:r>
              <a:rPr sz="1250" b="1">
                <a:solidFill>
                  <a:srgbClr val="161B26"/>
                </a:solidFill>
                <a:latin typeface="Arial"/>
              </a:rPr>
              <a:t>AMI without hard-coding</a:t>
            </a:r>
          </a:p>
        </p:txBody>
      </p:sp>
      <p:sp>
        <p:nvSpPr>
          <p:cNvPr id="21" name="TextBox 20"/>
          <p:cNvSpPr txBox="1"/>
          <p:nvPr/>
        </p:nvSpPr>
        <p:spPr>
          <a:xfrm>
            <a:off x="5213908" y="3314700"/>
            <a:ext cx="6060644" cy="765810"/>
          </a:xfrm>
          <a:prstGeom prst="rect">
            <a:avLst/>
          </a:prstGeom>
          <a:noFill/>
        </p:spPr>
        <p:txBody>
          <a:bodyPr wrap="square" anchor="ctr">
            <a:spAutoFit/>
          </a:bodyPr>
          <a:lstStyle/>
          <a:p>
            <a:pPr algn="l">
              <a:spcAft>
                <a:spcPts val="400"/>
              </a:spcAft>
            </a:pPr>
            <a:r>
              <a:rPr sz="1200" b="0">
                <a:solidFill>
                  <a:srgbClr val="5B6372"/>
                </a:solidFill>
                <a:latin typeface="Arial"/>
              </a:rPr>
              <a:t>An SSM public parameter resolves the latest patched Amazon Linux AMI at deploy time.</a:t>
            </a:r>
          </a:p>
        </p:txBody>
      </p:sp>
      <p:sp>
        <p:nvSpPr>
          <p:cNvPr id="22" name="Rectangle 21"/>
          <p:cNvSpPr/>
          <p:nvPr/>
        </p:nvSpPr>
        <p:spPr>
          <a:xfrm>
            <a:off x="777240" y="4080510"/>
            <a:ext cx="4253788" cy="765810"/>
          </a:xfrm>
          <a:prstGeom prst="rect">
            <a:avLst/>
          </a:prstGeom>
          <a:solidFill>
            <a:srgbClr val="FFFFFF"/>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ectangle 22"/>
          <p:cNvSpPr/>
          <p:nvPr/>
        </p:nvSpPr>
        <p:spPr>
          <a:xfrm>
            <a:off x="777240" y="4080510"/>
            <a:ext cx="73152" cy="765810"/>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Rectangle 23"/>
          <p:cNvSpPr/>
          <p:nvPr/>
        </p:nvSpPr>
        <p:spPr>
          <a:xfrm>
            <a:off x="5031028" y="4080510"/>
            <a:ext cx="6380684" cy="765810"/>
          </a:xfrm>
          <a:prstGeom prst="rect">
            <a:avLst/>
          </a:prstGeom>
          <a:solidFill>
            <a:srgbClr val="FFFFFF"/>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978408" y="4080510"/>
            <a:ext cx="3933748" cy="765810"/>
          </a:xfrm>
          <a:prstGeom prst="rect">
            <a:avLst/>
          </a:prstGeom>
          <a:noFill/>
        </p:spPr>
        <p:txBody>
          <a:bodyPr wrap="square" anchor="ctr">
            <a:spAutoFit/>
          </a:bodyPr>
          <a:lstStyle/>
          <a:p>
            <a:pPr algn="l">
              <a:spcAft>
                <a:spcPts val="400"/>
              </a:spcAft>
            </a:pPr>
            <a:r>
              <a:rPr sz="1250" b="1">
                <a:solidFill>
                  <a:srgbClr val="161B26"/>
                </a:solidFill>
                <a:latin typeface="Arial"/>
              </a:rPr>
              <a:t>Secrets by env</a:t>
            </a:r>
          </a:p>
        </p:txBody>
      </p:sp>
      <p:sp>
        <p:nvSpPr>
          <p:cNvPr id="26" name="TextBox 25"/>
          <p:cNvSpPr txBox="1"/>
          <p:nvPr/>
        </p:nvSpPr>
        <p:spPr>
          <a:xfrm>
            <a:off x="5213908" y="4080510"/>
            <a:ext cx="6060644" cy="765810"/>
          </a:xfrm>
          <a:prstGeom prst="rect">
            <a:avLst/>
          </a:prstGeom>
          <a:noFill/>
        </p:spPr>
        <p:txBody>
          <a:bodyPr wrap="square" anchor="ctr">
            <a:spAutoFit/>
          </a:bodyPr>
          <a:lstStyle/>
          <a:p>
            <a:pPr algn="l">
              <a:spcAft>
                <a:spcPts val="400"/>
              </a:spcAft>
            </a:pPr>
            <a:r>
              <a:rPr sz="1200" b="0">
                <a:solidFill>
                  <a:srgbClr val="5B6372"/>
                </a:solidFill>
                <a:latin typeface="Arial"/>
              </a:rPr>
              <a:t>Each environment references its own Secrets Manager secret; none appear in the template.</a:t>
            </a:r>
          </a:p>
        </p:txBody>
      </p:sp>
      <p:sp>
        <p:nvSpPr>
          <p:cNvPr id="27" name="Rectangle 26"/>
          <p:cNvSpPr/>
          <p:nvPr/>
        </p:nvSpPr>
        <p:spPr>
          <a:xfrm>
            <a:off x="777240" y="5010912"/>
            <a:ext cx="10634472" cy="86868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Rectangle 27"/>
          <p:cNvSpPr/>
          <p:nvPr/>
        </p:nvSpPr>
        <p:spPr>
          <a:xfrm>
            <a:off x="777240" y="5010912"/>
            <a:ext cx="91440" cy="86868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TextBox 28"/>
          <p:cNvSpPr txBox="1"/>
          <p:nvPr/>
        </p:nvSpPr>
        <p:spPr>
          <a:xfrm>
            <a:off x="1033272" y="5102352"/>
            <a:ext cx="2743200" cy="320040"/>
          </a:xfrm>
          <a:prstGeom prst="rect">
            <a:avLst/>
          </a:prstGeom>
          <a:noFill/>
        </p:spPr>
        <p:txBody>
          <a:bodyPr wrap="square" anchor="t">
            <a:spAutoFit/>
          </a:bodyPr>
          <a:lstStyle/>
          <a:p>
            <a:pPr algn="l">
              <a:spcAft>
                <a:spcPts val="400"/>
              </a:spcAft>
            </a:pPr>
            <a:r>
              <a:rPr sz="1150" b="1">
                <a:solidFill>
                  <a:srgbClr val="10B981"/>
                </a:solidFill>
                <a:latin typeface="Arial"/>
              </a:rPr>
              <a:t>TAKEAWAY</a:t>
            </a:r>
          </a:p>
        </p:txBody>
      </p:sp>
      <p:sp>
        <p:nvSpPr>
          <p:cNvPr id="30" name="TextBox 29"/>
          <p:cNvSpPr txBox="1"/>
          <p:nvPr/>
        </p:nvSpPr>
        <p:spPr>
          <a:xfrm>
            <a:off x="1033272" y="5394960"/>
            <a:ext cx="10085832" cy="457200"/>
          </a:xfrm>
          <a:prstGeom prst="rect">
            <a:avLst/>
          </a:prstGeom>
          <a:noFill/>
        </p:spPr>
        <p:txBody>
          <a:bodyPr wrap="square" anchor="t">
            <a:spAutoFit/>
          </a:bodyPr>
          <a:lstStyle/>
          <a:p>
            <a:pPr algn="l">
              <a:spcAft>
                <a:spcPts val="400"/>
              </a:spcAft>
            </a:pPr>
            <a:r>
              <a:rPr sz="1300" b="1">
                <a:solidFill>
                  <a:srgbClr val="161B26"/>
                </a:solidFill>
                <a:latin typeface="Arial"/>
              </a:rPr>
              <a:t>The differences between environments become a short parameter file — the template itself is identical, so staging genuinely predicts production.</a:t>
            </a:r>
          </a:p>
        </p:txBody>
      </p:sp>
      <p:sp>
        <p:nvSpPr>
          <p:cNvPr id="31" name="TextBox 30"/>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DevOps Engineering on AWS  ·  TGS-2023040474</a:t>
            </a:r>
          </a:p>
        </p:txBody>
      </p:sp>
      <p:sp>
        <p:nvSpPr>
          <p:cNvPr id="32" name="TextBox 31"/>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33" name="TextBox 32"/>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92</a:t>
            </a:r>
          </a:p>
        </p:txBody>
      </p:sp>
    </p:spTree>
  </p:cSld>
  <p:clrMapOvr>
    <a:masterClrMapping/>
  </p:clrMapOvr>
  <p:transition xmlns:p14="http://schemas.microsoft.com/office/powerpoint/2010/main" p14:dur="380">
    <p:fade/>
  </p:transition>
</p:sld>
</file>

<file path=ppt/slides/slide9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38912"/>
            <a:ext cx="10607040" cy="365760"/>
          </a:xfrm>
          <a:prstGeom prst="rect">
            <a:avLst/>
          </a:prstGeom>
          <a:noFill/>
        </p:spPr>
        <p:txBody>
          <a:bodyPr wrap="square" anchor="t">
            <a:spAutoFit/>
          </a:bodyPr>
          <a:lstStyle/>
          <a:p>
            <a:pPr algn="l">
              <a:spcAft>
                <a:spcPts val="400"/>
              </a:spcAft>
            </a:pPr>
            <a:r>
              <a:rPr sz="1400" b="1">
                <a:solidFill>
                  <a:srgbClr val="7C3AED"/>
                </a:solidFill>
                <a:latin typeface="Arial"/>
              </a:rPr>
              <a:t>LAB 6 · DAY 2 · LO2 · HANDS-ON</a:t>
            </a:r>
          </a:p>
        </p:txBody>
      </p:sp>
      <p:sp>
        <p:nvSpPr>
          <p:cNvPr id="5" name="TextBox 4"/>
          <p:cNvSpPr txBox="1"/>
          <p:nvPr/>
        </p:nvSpPr>
        <p:spPr>
          <a:xfrm>
            <a:off x="777240" y="896112"/>
            <a:ext cx="10927080" cy="731520"/>
          </a:xfrm>
          <a:prstGeom prst="rect">
            <a:avLst/>
          </a:prstGeom>
          <a:noFill/>
        </p:spPr>
        <p:txBody>
          <a:bodyPr wrap="square" anchor="t">
            <a:spAutoFit/>
          </a:bodyPr>
          <a:lstStyle/>
          <a:p>
            <a:pPr algn="l">
              <a:spcAft>
                <a:spcPts val="400"/>
              </a:spcAft>
            </a:pPr>
            <a:r>
              <a:rPr sz="2100" b="1">
                <a:solidFill>
                  <a:srgbClr val="161B26"/>
                </a:solidFill>
                <a:latin typeface="Arial"/>
              </a:rPr>
              <a:t>Deploy a Reusable VPC Network Baseline with CloudFormation</a:t>
            </a:r>
          </a:p>
        </p:txBody>
      </p:sp>
      <p:sp>
        <p:nvSpPr>
          <p:cNvPr id="6" name="Rectangle 5"/>
          <p:cNvSpPr/>
          <p:nvPr/>
        </p:nvSpPr>
        <p:spPr>
          <a:xfrm>
            <a:off x="777240" y="1572768"/>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737360"/>
            <a:ext cx="1737360" cy="457200"/>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77240" y="1783080"/>
            <a:ext cx="1737360" cy="365760"/>
          </a:xfrm>
          <a:prstGeom prst="rect">
            <a:avLst/>
          </a:prstGeom>
          <a:noFill/>
        </p:spPr>
        <p:txBody>
          <a:bodyPr wrap="square" anchor="t">
            <a:spAutoFit/>
          </a:bodyPr>
          <a:lstStyle/>
          <a:p>
            <a:pPr algn="ctr">
              <a:spcAft>
                <a:spcPts val="400"/>
              </a:spcAft>
            </a:pPr>
            <a:r>
              <a:rPr sz="1600" b="1">
                <a:solidFill>
                  <a:srgbClr val="FFFFFF"/>
                </a:solidFill>
                <a:latin typeface="Arial"/>
              </a:rPr>
              <a:t>LAB 6</a:t>
            </a:r>
          </a:p>
        </p:txBody>
      </p:sp>
      <p:sp>
        <p:nvSpPr>
          <p:cNvPr id="9" name="TextBox 8"/>
          <p:cNvSpPr txBox="1"/>
          <p:nvPr/>
        </p:nvSpPr>
        <p:spPr>
          <a:xfrm>
            <a:off x="2697480" y="1783080"/>
            <a:ext cx="3566160" cy="365760"/>
          </a:xfrm>
          <a:prstGeom prst="rect">
            <a:avLst/>
          </a:prstGeom>
          <a:noFill/>
        </p:spPr>
        <p:txBody>
          <a:bodyPr wrap="square" anchor="t">
            <a:spAutoFit/>
          </a:bodyPr>
          <a:lstStyle/>
          <a:p>
            <a:pPr algn="l">
              <a:spcAft>
                <a:spcPts val="400"/>
              </a:spcAft>
            </a:pPr>
            <a:r>
              <a:rPr sz="1200" b="1">
                <a:solidFill>
                  <a:srgbClr val="5B6372"/>
                </a:solidFill>
                <a:latin typeface="Arial"/>
              </a:rPr>
              <a:t>Day 2 · LO2 · K3, A3</a:t>
            </a:r>
          </a:p>
        </p:txBody>
      </p:sp>
      <p:sp>
        <p:nvSpPr>
          <p:cNvPr id="10" name="TextBox 9"/>
          <p:cNvSpPr txBox="1"/>
          <p:nvPr/>
        </p:nvSpPr>
        <p:spPr>
          <a:xfrm>
            <a:off x="777240" y="2286000"/>
            <a:ext cx="5486400" cy="1215390"/>
          </a:xfrm>
          <a:prstGeom prst="rect">
            <a:avLst/>
          </a:prstGeom>
          <a:noFill/>
        </p:spPr>
        <p:txBody>
          <a:bodyPr wrap="square" anchor="t">
            <a:spAutoFit/>
          </a:bodyPr>
          <a:lstStyle/>
          <a:p>
            <a:pPr algn="l">
              <a:spcAft>
                <a:spcPts val="400"/>
              </a:spcAft>
            </a:pPr>
            <a:r>
              <a:rPr sz="1350" b="0">
                <a:solidFill>
                  <a:srgbClr val="161B26"/>
                </a:solidFill>
                <a:latin typeface="Arial"/>
              </a:rPr>
              <a:t>Your team keeps building VPCs by hand and no two look alike. In this lab you codify a golden network baseline as a single CloudFormation template — a VPC with two public and two private subnets spread across two Availability Zones, an Internet Gateway and route tables — and publish its identifiers as …</a:t>
            </a:r>
          </a:p>
        </p:txBody>
      </p:sp>
      <p:sp>
        <p:nvSpPr>
          <p:cNvPr id="11" name="Rectangle 10"/>
          <p:cNvSpPr/>
          <p:nvPr/>
        </p:nvSpPr>
        <p:spPr>
          <a:xfrm>
            <a:off x="777240" y="3611118"/>
            <a:ext cx="5486400" cy="1328166"/>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ectangle 11"/>
          <p:cNvSpPr/>
          <p:nvPr/>
        </p:nvSpPr>
        <p:spPr>
          <a:xfrm>
            <a:off x="777240" y="3611118"/>
            <a:ext cx="91440" cy="1328166"/>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960120" y="3739134"/>
            <a:ext cx="5120640" cy="274320"/>
          </a:xfrm>
          <a:prstGeom prst="rect">
            <a:avLst/>
          </a:prstGeom>
          <a:noFill/>
        </p:spPr>
        <p:txBody>
          <a:bodyPr wrap="square" anchor="t">
            <a:spAutoFit/>
          </a:bodyPr>
          <a:lstStyle/>
          <a:p>
            <a:pPr algn="l">
              <a:spcAft>
                <a:spcPts val="400"/>
              </a:spcAft>
            </a:pPr>
            <a:r>
              <a:rPr sz="1200" b="1">
                <a:solidFill>
                  <a:srgbClr val="7C3AED"/>
                </a:solidFill>
                <a:latin typeface="Arial"/>
              </a:rPr>
              <a:t>YOU'LL BUILD</a:t>
            </a:r>
          </a:p>
        </p:txBody>
      </p:sp>
      <p:sp>
        <p:nvSpPr>
          <p:cNvPr id="14" name="TextBox 13"/>
          <p:cNvSpPr txBox="1"/>
          <p:nvPr/>
        </p:nvSpPr>
        <p:spPr>
          <a:xfrm>
            <a:off x="960120" y="4013454"/>
            <a:ext cx="5166360" cy="569595"/>
          </a:xfrm>
          <a:prstGeom prst="rect">
            <a:avLst/>
          </a:prstGeom>
          <a:noFill/>
        </p:spPr>
        <p:txBody>
          <a:bodyPr wrap="square" anchor="t">
            <a:spAutoFit/>
          </a:bodyPr>
          <a:lstStyle/>
          <a:p>
            <a:pPr algn="l">
              <a:spcAft>
                <a:spcPts val="400"/>
              </a:spcAft>
            </a:pPr>
            <a:r>
              <a:rPr sz="1150" b="1">
                <a:solidFill>
                  <a:srgbClr val="161B26"/>
                </a:solidFill>
                <a:latin typeface="Arial"/>
              </a:rPr>
              <a:t>A version-controlled network.yaml that deploys a 2-AZ VPC (2 public + 2 private subnets, IGW, route tables) and publishes VpcId, subnet IDs and the VPC CIDR as reusable cross-stack Exports.</a:t>
            </a:r>
          </a:p>
        </p:txBody>
      </p:sp>
      <p:sp>
        <p:nvSpPr>
          <p:cNvPr id="15" name="TextBox 14"/>
          <p:cNvSpPr txBox="1"/>
          <p:nvPr/>
        </p:nvSpPr>
        <p:spPr>
          <a:xfrm>
            <a:off x="960120" y="4637913"/>
            <a:ext cx="5166360" cy="173355"/>
          </a:xfrm>
          <a:prstGeom prst="rect">
            <a:avLst/>
          </a:prstGeom>
          <a:noFill/>
        </p:spPr>
        <p:txBody>
          <a:bodyPr wrap="square" anchor="t">
            <a:spAutoFit/>
          </a:bodyPr>
          <a:lstStyle/>
          <a:p>
            <a:pPr algn="l">
              <a:spcAft>
                <a:spcPts val="400"/>
              </a:spcAft>
            </a:pPr>
            <a:r>
              <a:rPr sz="1050" b="0">
                <a:solidFill>
                  <a:srgbClr val="5B6372"/>
                </a:solidFill>
                <a:latin typeface="Arial"/>
              </a:rPr>
              <a:t>Tools:  AWS CloudFormation, Amazon VPC, Amazon EC2</a:t>
            </a:r>
          </a:p>
        </p:txBody>
      </p:sp>
      <p:sp>
        <p:nvSpPr>
          <p:cNvPr id="16" name="Rectangle 15"/>
          <p:cNvSpPr/>
          <p:nvPr/>
        </p:nvSpPr>
        <p:spPr>
          <a:xfrm>
            <a:off x="777240" y="5049012"/>
            <a:ext cx="5486400" cy="1278636"/>
          </a:xfrm>
          <a:prstGeom prst="rect">
            <a:avLst/>
          </a:prstGeom>
          <a:solidFill>
            <a:srgbClr val="FFFFFF"/>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ectangle 16"/>
          <p:cNvSpPr/>
          <p:nvPr/>
        </p:nvSpPr>
        <p:spPr>
          <a:xfrm>
            <a:off x="777240" y="5049012"/>
            <a:ext cx="91440" cy="1278636"/>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960120" y="5177028"/>
            <a:ext cx="5120640" cy="274320"/>
          </a:xfrm>
          <a:prstGeom prst="rect">
            <a:avLst/>
          </a:prstGeom>
          <a:noFill/>
        </p:spPr>
        <p:txBody>
          <a:bodyPr wrap="square" anchor="t">
            <a:spAutoFit/>
          </a:bodyPr>
          <a:lstStyle/>
          <a:p>
            <a:pPr algn="l">
              <a:spcAft>
                <a:spcPts val="400"/>
              </a:spcAft>
            </a:pPr>
            <a:r>
              <a:rPr sz="1200" b="1">
                <a:solidFill>
                  <a:srgbClr val="10B981"/>
                </a:solidFill>
                <a:latin typeface="Arial"/>
              </a:rPr>
              <a:t>OUTCOME &amp; EVIDENCE</a:t>
            </a:r>
          </a:p>
        </p:txBody>
      </p:sp>
      <p:sp>
        <p:nvSpPr>
          <p:cNvPr id="19" name="TextBox 18"/>
          <p:cNvSpPr txBox="1"/>
          <p:nvPr/>
        </p:nvSpPr>
        <p:spPr>
          <a:xfrm>
            <a:off x="960120" y="5451348"/>
            <a:ext cx="5166360" cy="693420"/>
          </a:xfrm>
          <a:prstGeom prst="rect">
            <a:avLst/>
          </a:prstGeom>
          <a:noFill/>
        </p:spPr>
        <p:txBody>
          <a:bodyPr wrap="square" anchor="t">
            <a:spAutoFit/>
          </a:bodyPr>
          <a:lstStyle/>
          <a:p>
            <a:pPr algn="l">
              <a:spcAft>
                <a:spcPts val="300"/>
              </a:spcAft>
            </a:pPr>
            <a:r>
              <a:rPr sz="1050" b="0">
                <a:solidFill>
                  <a:srgbClr val="5B6372"/>
                </a:solidFill>
                <a:latin typeface="Arial"/>
              </a:rPr>
              <a:t>Outcome: Deploying network.yaml with parameters-dev.json produces a reusable 2-AZ VPC whose IDs are published as cross-stack Exports …</a:t>
            </a:r>
          </a:p>
          <a:p>
            <a:pPr algn="l">
              <a:spcAft>
                <a:spcPts val="300"/>
              </a:spcAft>
            </a:pPr>
            <a:r>
              <a:rPr sz="1050" b="0">
                <a:solidFill>
                  <a:srgbClr val="5B6372"/>
                </a:solidFill>
                <a:latin typeface="Arial"/>
              </a:rPr>
              <a:t>Evidence:  describe-stacks output showing net-dev at CREATE_COMPLETE with the Outputs tab populated.</a:t>
            </a:r>
          </a:p>
        </p:txBody>
      </p:sp>
      <p:sp>
        <p:nvSpPr>
          <p:cNvPr id="20" name="Rectangle 19"/>
          <p:cNvSpPr/>
          <p:nvPr/>
        </p:nvSpPr>
        <p:spPr>
          <a:xfrm>
            <a:off x="6446520" y="1783080"/>
            <a:ext cx="5029200" cy="2901403"/>
          </a:xfrm>
          <a:prstGeom prst="rect">
            <a:avLst/>
          </a:prstGeom>
          <a:solidFill>
            <a:srgbClr val="F5F8FC"/>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21" name="Picture 20" descr="lab-06-cloudformation-network-baseline.jpg"/>
          <p:cNvPicPr>
            <a:picLocks noChangeAspect="1"/>
          </p:cNvPicPr>
          <p:nvPr/>
        </p:nvPicPr>
        <p:blipFill>
          <a:blip r:embed="rId2"/>
          <a:stretch>
            <a:fillRect/>
          </a:stretch>
        </p:blipFill>
        <p:spPr>
          <a:xfrm>
            <a:off x="6492240" y="1828800"/>
            <a:ext cx="4937760" cy="2809963"/>
          </a:xfrm>
          <a:prstGeom prst="rect">
            <a:avLst/>
          </a:prstGeom>
        </p:spPr>
      </p:pic>
      <p:sp>
        <p:nvSpPr>
          <p:cNvPr id="22" name="TextBox 21"/>
          <p:cNvSpPr txBox="1"/>
          <p:nvPr/>
        </p:nvSpPr>
        <p:spPr>
          <a:xfrm>
            <a:off x="6492240" y="4730203"/>
            <a:ext cx="4937760" cy="365760"/>
          </a:xfrm>
          <a:prstGeom prst="rect">
            <a:avLst/>
          </a:prstGeom>
          <a:noFill/>
        </p:spPr>
        <p:txBody>
          <a:bodyPr wrap="square" anchor="t">
            <a:spAutoFit/>
          </a:bodyPr>
          <a:lstStyle/>
          <a:p>
            <a:pPr algn="ctr">
              <a:spcAft>
                <a:spcPts val="400"/>
              </a:spcAft>
            </a:pPr>
            <a:r>
              <a:rPr sz="1100" b="1">
                <a:solidFill>
                  <a:srgbClr val="5B6372"/>
                </a:solidFill>
                <a:latin typeface="Arial"/>
              </a:rPr>
              <a:t>Reference architecture</a:t>
            </a:r>
          </a:p>
        </p:txBody>
      </p:sp>
      <p:sp>
        <p:nvSpPr>
          <p:cNvPr id="23" name="TextBox 22"/>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DevOps Engineering on AWS  ·  TGS-2023040474</a:t>
            </a:r>
          </a:p>
        </p:txBody>
      </p:sp>
      <p:sp>
        <p:nvSpPr>
          <p:cNvPr id="24" name="TextBox 23"/>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25" name="TextBox 24"/>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93</a:t>
            </a:r>
          </a:p>
        </p:txBody>
      </p:sp>
    </p:spTree>
  </p:cSld>
  <p:clrMapOvr>
    <a:masterClrMapping/>
  </p:clrMapOvr>
  <p:transition xmlns:p14="http://schemas.microsoft.com/office/powerpoint/2010/main" p14:dur="380">
    <p:fade/>
  </p:transition>
</p:sld>
</file>

<file path=ppt/slides/slide9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38912"/>
            <a:ext cx="10607040" cy="365760"/>
          </a:xfrm>
          <a:prstGeom prst="rect">
            <a:avLst/>
          </a:prstGeom>
          <a:noFill/>
        </p:spPr>
        <p:txBody>
          <a:bodyPr wrap="square" anchor="t">
            <a:spAutoFit/>
          </a:bodyPr>
          <a:lstStyle/>
          <a:p>
            <a:pPr algn="l">
              <a:spcAft>
                <a:spcPts val="400"/>
              </a:spcAft>
            </a:pPr>
            <a:r>
              <a:rPr sz="1400" b="1">
                <a:solidFill>
                  <a:srgbClr val="7C3AED"/>
                </a:solidFill>
                <a:latin typeface="Arial"/>
              </a:rPr>
              <a:t>LAB 7 · DAY 2 · LO2 · HANDS-ON</a:t>
            </a:r>
          </a:p>
        </p:txBody>
      </p:sp>
      <p:sp>
        <p:nvSpPr>
          <p:cNvPr id="5" name="TextBox 4"/>
          <p:cNvSpPr txBox="1"/>
          <p:nvPr/>
        </p:nvSpPr>
        <p:spPr>
          <a:xfrm>
            <a:off x="777240" y="896112"/>
            <a:ext cx="10927080" cy="731520"/>
          </a:xfrm>
          <a:prstGeom prst="rect">
            <a:avLst/>
          </a:prstGeom>
          <a:noFill/>
        </p:spPr>
        <p:txBody>
          <a:bodyPr wrap="square" anchor="t">
            <a:spAutoFit/>
          </a:bodyPr>
          <a:lstStyle/>
          <a:p>
            <a:pPr algn="l">
              <a:spcAft>
                <a:spcPts val="400"/>
              </a:spcAft>
            </a:pPr>
            <a:r>
              <a:rPr sz="2100" b="1">
                <a:solidFill>
                  <a:srgbClr val="161B26"/>
                </a:solidFill>
                <a:latin typeface="Arial"/>
              </a:rPr>
              <a:t>Deploy a Parameterized Application Stack that Imports Network Exports</a:t>
            </a:r>
          </a:p>
        </p:txBody>
      </p:sp>
      <p:sp>
        <p:nvSpPr>
          <p:cNvPr id="6" name="Rectangle 5"/>
          <p:cNvSpPr/>
          <p:nvPr/>
        </p:nvSpPr>
        <p:spPr>
          <a:xfrm>
            <a:off x="777240" y="1572768"/>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737360"/>
            <a:ext cx="1737360" cy="457200"/>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77240" y="1783080"/>
            <a:ext cx="1737360" cy="365760"/>
          </a:xfrm>
          <a:prstGeom prst="rect">
            <a:avLst/>
          </a:prstGeom>
          <a:noFill/>
        </p:spPr>
        <p:txBody>
          <a:bodyPr wrap="square" anchor="t">
            <a:spAutoFit/>
          </a:bodyPr>
          <a:lstStyle/>
          <a:p>
            <a:pPr algn="ctr">
              <a:spcAft>
                <a:spcPts val="400"/>
              </a:spcAft>
            </a:pPr>
            <a:r>
              <a:rPr sz="1600" b="1">
                <a:solidFill>
                  <a:srgbClr val="FFFFFF"/>
                </a:solidFill>
                <a:latin typeface="Arial"/>
              </a:rPr>
              <a:t>LAB 7</a:t>
            </a:r>
          </a:p>
        </p:txBody>
      </p:sp>
      <p:sp>
        <p:nvSpPr>
          <p:cNvPr id="9" name="TextBox 8"/>
          <p:cNvSpPr txBox="1"/>
          <p:nvPr/>
        </p:nvSpPr>
        <p:spPr>
          <a:xfrm>
            <a:off x="2697480" y="1783080"/>
            <a:ext cx="3566160" cy="365760"/>
          </a:xfrm>
          <a:prstGeom prst="rect">
            <a:avLst/>
          </a:prstGeom>
          <a:noFill/>
        </p:spPr>
        <p:txBody>
          <a:bodyPr wrap="square" anchor="t">
            <a:spAutoFit/>
          </a:bodyPr>
          <a:lstStyle/>
          <a:p>
            <a:pPr algn="l">
              <a:spcAft>
                <a:spcPts val="400"/>
              </a:spcAft>
            </a:pPr>
            <a:r>
              <a:rPr sz="1200" b="1">
                <a:solidFill>
                  <a:srgbClr val="5B6372"/>
                </a:solidFill>
                <a:latin typeface="Arial"/>
              </a:rPr>
              <a:t>Day 2 · LO2 · K3, A3</a:t>
            </a:r>
          </a:p>
        </p:txBody>
      </p:sp>
      <p:sp>
        <p:nvSpPr>
          <p:cNvPr id="10" name="TextBox 9"/>
          <p:cNvSpPr txBox="1"/>
          <p:nvPr/>
        </p:nvSpPr>
        <p:spPr>
          <a:xfrm>
            <a:off x="777240" y="2286000"/>
            <a:ext cx="5486400" cy="885190"/>
          </a:xfrm>
          <a:prstGeom prst="rect">
            <a:avLst/>
          </a:prstGeom>
          <a:noFill/>
        </p:spPr>
        <p:txBody>
          <a:bodyPr wrap="square" anchor="t">
            <a:spAutoFit/>
          </a:bodyPr>
          <a:lstStyle/>
          <a:p>
            <a:pPr algn="l">
              <a:spcAft>
                <a:spcPts val="400"/>
              </a:spcAft>
            </a:pPr>
            <a:r>
              <a:rPr sz="1350" b="0">
                <a:solidFill>
                  <a:srgbClr val="161B26"/>
                </a:solidFill>
                <a:latin typeface="Arial"/>
              </a:rPr>
              <a:t>With the network baseline from Lab 6 in place, you now deploy the application tier on top of it — without copy-pasting a single subnet or VPC ID. The app template uses Fn::ImportValue to …</a:t>
            </a:r>
          </a:p>
        </p:txBody>
      </p:sp>
      <p:sp>
        <p:nvSpPr>
          <p:cNvPr id="11" name="Rectangle 10"/>
          <p:cNvSpPr/>
          <p:nvPr/>
        </p:nvSpPr>
        <p:spPr>
          <a:xfrm>
            <a:off x="777240" y="3280918"/>
            <a:ext cx="5486400" cy="1658366"/>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ectangle 11"/>
          <p:cNvSpPr/>
          <p:nvPr/>
        </p:nvSpPr>
        <p:spPr>
          <a:xfrm>
            <a:off x="777240" y="3280918"/>
            <a:ext cx="91440" cy="1658366"/>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960120" y="3408934"/>
            <a:ext cx="5120640" cy="274320"/>
          </a:xfrm>
          <a:prstGeom prst="rect">
            <a:avLst/>
          </a:prstGeom>
          <a:noFill/>
        </p:spPr>
        <p:txBody>
          <a:bodyPr wrap="square" anchor="t">
            <a:spAutoFit/>
          </a:bodyPr>
          <a:lstStyle/>
          <a:p>
            <a:pPr algn="l">
              <a:spcAft>
                <a:spcPts val="400"/>
              </a:spcAft>
            </a:pPr>
            <a:r>
              <a:rPr sz="1200" b="1">
                <a:solidFill>
                  <a:srgbClr val="7C3AED"/>
                </a:solidFill>
                <a:latin typeface="Arial"/>
              </a:rPr>
              <a:t>YOU'LL BUILD</a:t>
            </a:r>
          </a:p>
        </p:txBody>
      </p:sp>
      <p:sp>
        <p:nvSpPr>
          <p:cNvPr id="14" name="TextBox 13"/>
          <p:cNvSpPr txBox="1"/>
          <p:nvPr/>
        </p:nvSpPr>
        <p:spPr>
          <a:xfrm>
            <a:off x="960120" y="3683254"/>
            <a:ext cx="5166360" cy="726440"/>
          </a:xfrm>
          <a:prstGeom prst="rect">
            <a:avLst/>
          </a:prstGeom>
          <a:noFill/>
        </p:spPr>
        <p:txBody>
          <a:bodyPr wrap="square" anchor="t">
            <a:spAutoFit/>
          </a:bodyPr>
          <a:lstStyle/>
          <a:p>
            <a:pPr algn="l">
              <a:spcAft>
                <a:spcPts val="400"/>
              </a:spcAft>
            </a:pPr>
            <a:r>
              <a:rPr sz="1100" b="1">
                <a:solidFill>
                  <a:srgbClr val="161B26"/>
                </a:solidFill>
                <a:latin typeface="Arial"/>
              </a:rPr>
              <a:t>A parameterized app.yaml that imports the network exports, resolves the latest AMI via SSM and deploys a security group plus either a single EC2 instance (dev) or an Auto Scaling group (test) from the same template.</a:t>
            </a:r>
          </a:p>
        </p:txBody>
      </p:sp>
      <p:sp>
        <p:nvSpPr>
          <p:cNvPr id="15" name="TextBox 14"/>
          <p:cNvSpPr txBox="1"/>
          <p:nvPr/>
        </p:nvSpPr>
        <p:spPr>
          <a:xfrm>
            <a:off x="960120" y="4464558"/>
            <a:ext cx="5166360" cy="346710"/>
          </a:xfrm>
          <a:prstGeom prst="rect">
            <a:avLst/>
          </a:prstGeom>
          <a:noFill/>
        </p:spPr>
        <p:txBody>
          <a:bodyPr wrap="square" anchor="t">
            <a:spAutoFit/>
          </a:bodyPr>
          <a:lstStyle/>
          <a:p>
            <a:pPr algn="l">
              <a:spcAft>
                <a:spcPts val="400"/>
              </a:spcAft>
            </a:pPr>
            <a:r>
              <a:rPr sz="1050" b="0">
                <a:solidFill>
                  <a:srgbClr val="5B6372"/>
                </a:solidFill>
                <a:latin typeface="Arial"/>
              </a:rPr>
              <a:t>Tools:  AWS CloudFormation, Amazon EC2, AWS Systems Manager (SSM public parameters)</a:t>
            </a:r>
          </a:p>
        </p:txBody>
      </p:sp>
      <p:sp>
        <p:nvSpPr>
          <p:cNvPr id="16" name="Rectangle 15"/>
          <p:cNvSpPr/>
          <p:nvPr/>
        </p:nvSpPr>
        <p:spPr>
          <a:xfrm>
            <a:off x="777240" y="5049012"/>
            <a:ext cx="5486400" cy="1278636"/>
          </a:xfrm>
          <a:prstGeom prst="rect">
            <a:avLst/>
          </a:prstGeom>
          <a:solidFill>
            <a:srgbClr val="FFFFFF"/>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ectangle 16"/>
          <p:cNvSpPr/>
          <p:nvPr/>
        </p:nvSpPr>
        <p:spPr>
          <a:xfrm>
            <a:off x="777240" y="5049012"/>
            <a:ext cx="91440" cy="1278636"/>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960120" y="5177028"/>
            <a:ext cx="5120640" cy="274320"/>
          </a:xfrm>
          <a:prstGeom prst="rect">
            <a:avLst/>
          </a:prstGeom>
          <a:noFill/>
        </p:spPr>
        <p:txBody>
          <a:bodyPr wrap="square" anchor="t">
            <a:spAutoFit/>
          </a:bodyPr>
          <a:lstStyle/>
          <a:p>
            <a:pPr algn="l">
              <a:spcAft>
                <a:spcPts val="400"/>
              </a:spcAft>
            </a:pPr>
            <a:r>
              <a:rPr sz="1200" b="1">
                <a:solidFill>
                  <a:srgbClr val="10B981"/>
                </a:solidFill>
                <a:latin typeface="Arial"/>
              </a:rPr>
              <a:t>OUTCOME &amp; EVIDENCE</a:t>
            </a:r>
          </a:p>
        </p:txBody>
      </p:sp>
      <p:sp>
        <p:nvSpPr>
          <p:cNvPr id="19" name="TextBox 18"/>
          <p:cNvSpPr txBox="1"/>
          <p:nvPr/>
        </p:nvSpPr>
        <p:spPr>
          <a:xfrm>
            <a:off x="960120" y="5451348"/>
            <a:ext cx="5166360" cy="693420"/>
          </a:xfrm>
          <a:prstGeom prst="rect">
            <a:avLst/>
          </a:prstGeom>
          <a:noFill/>
        </p:spPr>
        <p:txBody>
          <a:bodyPr wrap="square" anchor="t">
            <a:spAutoFit/>
          </a:bodyPr>
          <a:lstStyle/>
          <a:p>
            <a:pPr algn="l">
              <a:spcAft>
                <a:spcPts val="300"/>
              </a:spcAft>
            </a:pPr>
            <a:r>
              <a:rPr sz="1050" b="0">
                <a:solidFill>
                  <a:srgbClr val="5B6372"/>
                </a:solidFill>
                <a:latin typeface="Arial"/>
              </a:rPr>
              <a:t>Outcome: The same app.yaml, deployed with parameters.json, yields a dev single instance, and with params-test.json yields a multi-AZ Auto Scaling …</a:t>
            </a:r>
          </a:p>
          <a:p>
            <a:pPr algn="l">
              <a:spcAft>
                <a:spcPts val="300"/>
              </a:spcAft>
            </a:pPr>
            <a:r>
              <a:rPr sz="1050" b="0">
                <a:solidFill>
                  <a:srgbClr val="5B6372"/>
                </a:solidFill>
                <a:latin typeface="Arial"/>
              </a:rPr>
              <a:t>Evidence:  describe-stacks output showing app-dev and app-test both at a *_COMPLETE status.</a:t>
            </a:r>
          </a:p>
        </p:txBody>
      </p:sp>
      <p:sp>
        <p:nvSpPr>
          <p:cNvPr id="20" name="Rectangle 19"/>
          <p:cNvSpPr/>
          <p:nvPr/>
        </p:nvSpPr>
        <p:spPr>
          <a:xfrm>
            <a:off x="6446520" y="1783080"/>
            <a:ext cx="5029200" cy="2901403"/>
          </a:xfrm>
          <a:prstGeom prst="rect">
            <a:avLst/>
          </a:prstGeom>
          <a:solidFill>
            <a:srgbClr val="F5F8FC"/>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21" name="Picture 20" descr="lab-07-parameterized-app-stack.jpg"/>
          <p:cNvPicPr>
            <a:picLocks noChangeAspect="1"/>
          </p:cNvPicPr>
          <p:nvPr/>
        </p:nvPicPr>
        <p:blipFill>
          <a:blip r:embed="rId2"/>
          <a:stretch>
            <a:fillRect/>
          </a:stretch>
        </p:blipFill>
        <p:spPr>
          <a:xfrm>
            <a:off x="6492240" y="1828800"/>
            <a:ext cx="4937760" cy="2809963"/>
          </a:xfrm>
          <a:prstGeom prst="rect">
            <a:avLst/>
          </a:prstGeom>
        </p:spPr>
      </p:pic>
      <p:sp>
        <p:nvSpPr>
          <p:cNvPr id="22" name="TextBox 21"/>
          <p:cNvSpPr txBox="1"/>
          <p:nvPr/>
        </p:nvSpPr>
        <p:spPr>
          <a:xfrm>
            <a:off x="6492240" y="4730203"/>
            <a:ext cx="4937760" cy="365760"/>
          </a:xfrm>
          <a:prstGeom prst="rect">
            <a:avLst/>
          </a:prstGeom>
          <a:noFill/>
        </p:spPr>
        <p:txBody>
          <a:bodyPr wrap="square" anchor="t">
            <a:spAutoFit/>
          </a:bodyPr>
          <a:lstStyle/>
          <a:p>
            <a:pPr algn="ctr">
              <a:spcAft>
                <a:spcPts val="400"/>
              </a:spcAft>
            </a:pPr>
            <a:r>
              <a:rPr sz="1100" b="1">
                <a:solidFill>
                  <a:srgbClr val="5B6372"/>
                </a:solidFill>
                <a:latin typeface="Arial"/>
              </a:rPr>
              <a:t>Reference architecture</a:t>
            </a:r>
          </a:p>
        </p:txBody>
      </p:sp>
      <p:sp>
        <p:nvSpPr>
          <p:cNvPr id="23" name="TextBox 22"/>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DevOps Engineering on AWS  ·  TGS-2023040474</a:t>
            </a:r>
          </a:p>
        </p:txBody>
      </p:sp>
      <p:sp>
        <p:nvSpPr>
          <p:cNvPr id="24" name="TextBox 23"/>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25" name="TextBox 24"/>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94</a:t>
            </a:r>
          </a:p>
        </p:txBody>
      </p:sp>
    </p:spTree>
  </p:cSld>
  <p:clrMapOvr>
    <a:masterClrMapping/>
  </p:clrMapOvr>
  <p:transition xmlns:p14="http://schemas.microsoft.com/office/powerpoint/2010/main" p14:dur="380">
    <p:fade/>
  </p:transition>
</p:sld>
</file>

<file path=ppt/slides/slide9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38912"/>
            <a:ext cx="10607040" cy="365760"/>
          </a:xfrm>
          <a:prstGeom prst="rect">
            <a:avLst/>
          </a:prstGeom>
          <a:noFill/>
        </p:spPr>
        <p:txBody>
          <a:bodyPr wrap="square" anchor="t">
            <a:spAutoFit/>
          </a:bodyPr>
          <a:lstStyle/>
          <a:p>
            <a:pPr algn="l">
              <a:spcAft>
                <a:spcPts val="400"/>
              </a:spcAft>
            </a:pPr>
            <a:r>
              <a:rPr sz="1400" b="1">
                <a:solidFill>
                  <a:srgbClr val="7C3AED"/>
                </a:solidFill>
                <a:latin typeface="Arial"/>
              </a:rPr>
              <a:t>LAB 8 · DAY 2 · LO2 · HANDS-ON</a:t>
            </a:r>
          </a:p>
        </p:txBody>
      </p:sp>
      <p:sp>
        <p:nvSpPr>
          <p:cNvPr id="5" name="TextBox 4"/>
          <p:cNvSpPr txBox="1"/>
          <p:nvPr/>
        </p:nvSpPr>
        <p:spPr>
          <a:xfrm>
            <a:off x="777240" y="896112"/>
            <a:ext cx="10927080" cy="731520"/>
          </a:xfrm>
          <a:prstGeom prst="rect">
            <a:avLst/>
          </a:prstGeom>
          <a:noFill/>
        </p:spPr>
        <p:txBody>
          <a:bodyPr wrap="square" anchor="t">
            <a:spAutoFit/>
          </a:bodyPr>
          <a:lstStyle/>
          <a:p>
            <a:pPr algn="l">
              <a:spcAft>
                <a:spcPts val="400"/>
              </a:spcAft>
            </a:pPr>
            <a:r>
              <a:rPr sz="2100" b="1">
                <a:solidFill>
                  <a:srgbClr val="161B26"/>
                </a:solidFill>
                <a:latin typeface="Arial"/>
              </a:rPr>
              <a:t>Preview Changes with Change Sets and Detect &amp; Reconcile Drift</a:t>
            </a:r>
          </a:p>
        </p:txBody>
      </p:sp>
      <p:sp>
        <p:nvSpPr>
          <p:cNvPr id="6" name="Rectangle 5"/>
          <p:cNvSpPr/>
          <p:nvPr/>
        </p:nvSpPr>
        <p:spPr>
          <a:xfrm>
            <a:off x="777240" y="1572768"/>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737360"/>
            <a:ext cx="1737360" cy="457200"/>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77240" y="1783080"/>
            <a:ext cx="1737360" cy="365760"/>
          </a:xfrm>
          <a:prstGeom prst="rect">
            <a:avLst/>
          </a:prstGeom>
          <a:noFill/>
        </p:spPr>
        <p:txBody>
          <a:bodyPr wrap="square" anchor="t">
            <a:spAutoFit/>
          </a:bodyPr>
          <a:lstStyle/>
          <a:p>
            <a:pPr algn="ctr">
              <a:spcAft>
                <a:spcPts val="400"/>
              </a:spcAft>
            </a:pPr>
            <a:r>
              <a:rPr sz="1600" b="1">
                <a:solidFill>
                  <a:srgbClr val="FFFFFF"/>
                </a:solidFill>
                <a:latin typeface="Arial"/>
              </a:rPr>
              <a:t>LAB 8</a:t>
            </a:r>
          </a:p>
        </p:txBody>
      </p:sp>
      <p:sp>
        <p:nvSpPr>
          <p:cNvPr id="9" name="TextBox 8"/>
          <p:cNvSpPr txBox="1"/>
          <p:nvPr/>
        </p:nvSpPr>
        <p:spPr>
          <a:xfrm>
            <a:off x="2697480" y="1783080"/>
            <a:ext cx="3566160" cy="365760"/>
          </a:xfrm>
          <a:prstGeom prst="rect">
            <a:avLst/>
          </a:prstGeom>
          <a:noFill/>
        </p:spPr>
        <p:txBody>
          <a:bodyPr wrap="square" anchor="t">
            <a:spAutoFit/>
          </a:bodyPr>
          <a:lstStyle/>
          <a:p>
            <a:pPr algn="l">
              <a:spcAft>
                <a:spcPts val="400"/>
              </a:spcAft>
            </a:pPr>
            <a:r>
              <a:rPr sz="1200" b="1">
                <a:solidFill>
                  <a:srgbClr val="5B6372"/>
                </a:solidFill>
                <a:latin typeface="Arial"/>
              </a:rPr>
              <a:t>Day 2 · LO2 · K3, A3</a:t>
            </a:r>
          </a:p>
        </p:txBody>
      </p:sp>
      <p:sp>
        <p:nvSpPr>
          <p:cNvPr id="10" name="TextBox 9"/>
          <p:cNvSpPr txBox="1"/>
          <p:nvPr/>
        </p:nvSpPr>
        <p:spPr>
          <a:xfrm>
            <a:off x="777240" y="2286000"/>
            <a:ext cx="5486400" cy="1215390"/>
          </a:xfrm>
          <a:prstGeom prst="rect">
            <a:avLst/>
          </a:prstGeom>
          <a:noFill/>
        </p:spPr>
        <p:txBody>
          <a:bodyPr wrap="square" anchor="t">
            <a:spAutoFit/>
          </a:bodyPr>
          <a:lstStyle/>
          <a:p>
            <a:pPr algn="l">
              <a:spcAft>
                <a:spcPts val="400"/>
              </a:spcAft>
            </a:pPr>
            <a:r>
              <a:rPr sz="1350" b="0">
                <a:solidFill>
                  <a:srgbClr val="161B26"/>
                </a:solidFill>
                <a:latin typeface="Arial"/>
              </a:rPr>
              <a:t>Production changes are risky when you cannot see them coming, and infrastructure silently drifts when people click in the console. In this lab you take the app stack from Lab 7, generate a change set to preview a before-you-execute diff, execute it, then deliberately make an out-of-band change directly on a …</a:t>
            </a:r>
          </a:p>
        </p:txBody>
      </p:sp>
      <p:sp>
        <p:nvSpPr>
          <p:cNvPr id="11" name="Rectangle 10"/>
          <p:cNvSpPr/>
          <p:nvPr/>
        </p:nvSpPr>
        <p:spPr>
          <a:xfrm>
            <a:off x="777240" y="3611118"/>
            <a:ext cx="5486400" cy="1328166"/>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ectangle 11"/>
          <p:cNvSpPr/>
          <p:nvPr/>
        </p:nvSpPr>
        <p:spPr>
          <a:xfrm>
            <a:off x="777240" y="3611118"/>
            <a:ext cx="91440" cy="1328166"/>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960120" y="3739134"/>
            <a:ext cx="5120640" cy="274320"/>
          </a:xfrm>
          <a:prstGeom prst="rect">
            <a:avLst/>
          </a:prstGeom>
          <a:noFill/>
        </p:spPr>
        <p:txBody>
          <a:bodyPr wrap="square" anchor="t">
            <a:spAutoFit/>
          </a:bodyPr>
          <a:lstStyle/>
          <a:p>
            <a:pPr algn="l">
              <a:spcAft>
                <a:spcPts val="400"/>
              </a:spcAft>
            </a:pPr>
            <a:r>
              <a:rPr sz="1200" b="1">
                <a:solidFill>
                  <a:srgbClr val="7C3AED"/>
                </a:solidFill>
                <a:latin typeface="Arial"/>
              </a:rPr>
              <a:t>YOU'LL BUILD</a:t>
            </a:r>
          </a:p>
        </p:txBody>
      </p:sp>
      <p:sp>
        <p:nvSpPr>
          <p:cNvPr id="14" name="TextBox 13"/>
          <p:cNvSpPr txBox="1"/>
          <p:nvPr/>
        </p:nvSpPr>
        <p:spPr>
          <a:xfrm>
            <a:off x="960120" y="4013454"/>
            <a:ext cx="5166360" cy="569595"/>
          </a:xfrm>
          <a:prstGeom prst="rect">
            <a:avLst/>
          </a:prstGeom>
          <a:noFill/>
        </p:spPr>
        <p:txBody>
          <a:bodyPr wrap="square" anchor="t">
            <a:spAutoFit/>
          </a:bodyPr>
          <a:lstStyle/>
          <a:p>
            <a:pPr algn="l">
              <a:spcAft>
                <a:spcPts val="400"/>
              </a:spcAft>
            </a:pPr>
            <a:r>
              <a:rPr sz="1150" b="1">
                <a:solidFill>
                  <a:srgbClr val="161B26"/>
                </a:solidFill>
                <a:latin typeface="Arial"/>
              </a:rPr>
              <a:t>A repeatable workflow: create-change-set.sh renders a reviewable preview of a stack change, and drift-check.sh detects and reports out-of-band drift so you can reconcile infrastructure back to code.</a:t>
            </a:r>
          </a:p>
        </p:txBody>
      </p:sp>
      <p:sp>
        <p:nvSpPr>
          <p:cNvPr id="15" name="TextBox 14"/>
          <p:cNvSpPr txBox="1"/>
          <p:nvPr/>
        </p:nvSpPr>
        <p:spPr>
          <a:xfrm>
            <a:off x="960120" y="4637913"/>
            <a:ext cx="5166360" cy="173355"/>
          </a:xfrm>
          <a:prstGeom prst="rect">
            <a:avLst/>
          </a:prstGeom>
          <a:noFill/>
        </p:spPr>
        <p:txBody>
          <a:bodyPr wrap="square" anchor="t">
            <a:spAutoFit/>
          </a:bodyPr>
          <a:lstStyle/>
          <a:p>
            <a:pPr algn="l">
              <a:spcAft>
                <a:spcPts val="400"/>
              </a:spcAft>
            </a:pPr>
            <a:r>
              <a:rPr sz="1050" b="0">
                <a:solidFill>
                  <a:srgbClr val="5B6372"/>
                </a:solidFill>
                <a:latin typeface="Arial"/>
              </a:rPr>
              <a:t>Tools:  AWS CloudFormation</a:t>
            </a:r>
          </a:p>
        </p:txBody>
      </p:sp>
      <p:sp>
        <p:nvSpPr>
          <p:cNvPr id="16" name="Rectangle 15"/>
          <p:cNvSpPr/>
          <p:nvPr/>
        </p:nvSpPr>
        <p:spPr>
          <a:xfrm>
            <a:off x="777240" y="5049012"/>
            <a:ext cx="5486400" cy="1278636"/>
          </a:xfrm>
          <a:prstGeom prst="rect">
            <a:avLst/>
          </a:prstGeom>
          <a:solidFill>
            <a:srgbClr val="FFFFFF"/>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ectangle 16"/>
          <p:cNvSpPr/>
          <p:nvPr/>
        </p:nvSpPr>
        <p:spPr>
          <a:xfrm>
            <a:off x="777240" y="5049012"/>
            <a:ext cx="91440" cy="1278636"/>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960120" y="5177028"/>
            <a:ext cx="5120640" cy="274320"/>
          </a:xfrm>
          <a:prstGeom prst="rect">
            <a:avLst/>
          </a:prstGeom>
          <a:noFill/>
        </p:spPr>
        <p:txBody>
          <a:bodyPr wrap="square" anchor="t">
            <a:spAutoFit/>
          </a:bodyPr>
          <a:lstStyle/>
          <a:p>
            <a:pPr algn="l">
              <a:spcAft>
                <a:spcPts val="400"/>
              </a:spcAft>
            </a:pPr>
            <a:r>
              <a:rPr sz="1200" b="1">
                <a:solidFill>
                  <a:srgbClr val="10B981"/>
                </a:solidFill>
                <a:latin typeface="Arial"/>
              </a:rPr>
              <a:t>OUTCOME &amp; EVIDENCE</a:t>
            </a:r>
          </a:p>
        </p:txBody>
      </p:sp>
      <p:sp>
        <p:nvSpPr>
          <p:cNvPr id="19" name="TextBox 18"/>
          <p:cNvSpPr txBox="1"/>
          <p:nvPr/>
        </p:nvSpPr>
        <p:spPr>
          <a:xfrm>
            <a:off x="960120" y="5451348"/>
            <a:ext cx="5166360" cy="693420"/>
          </a:xfrm>
          <a:prstGeom prst="rect">
            <a:avLst/>
          </a:prstGeom>
          <a:noFill/>
        </p:spPr>
        <p:txBody>
          <a:bodyPr wrap="square" anchor="t">
            <a:spAutoFit/>
          </a:bodyPr>
          <a:lstStyle/>
          <a:p>
            <a:pPr algn="l">
              <a:spcAft>
                <a:spcPts val="300"/>
              </a:spcAft>
            </a:pPr>
            <a:r>
              <a:rPr sz="1050" b="0">
                <a:solidFill>
                  <a:srgbClr val="5B6372"/>
                </a:solidFill>
                <a:latin typeface="Arial"/>
              </a:rPr>
              <a:t>Outcome: A change set previews the modification (added tag + narrowed rule) with no unexpected replacements before it is executed; an …</a:t>
            </a:r>
          </a:p>
          <a:p>
            <a:pPr algn="l">
              <a:spcAft>
                <a:spcPts val="300"/>
              </a:spcAft>
            </a:pPr>
            <a:r>
              <a:rPr sz="1050" b="0">
                <a:solidFill>
                  <a:srgbClr val="5B6372"/>
                </a:solidFill>
                <a:latin typeface="Arial"/>
              </a:rPr>
              <a:t>Evidence:  describe-change-set output showing the previewed changes with Replacement=False (no destructive changes).</a:t>
            </a:r>
          </a:p>
        </p:txBody>
      </p:sp>
      <p:sp>
        <p:nvSpPr>
          <p:cNvPr id="20" name="Rectangle 19"/>
          <p:cNvSpPr/>
          <p:nvPr/>
        </p:nvSpPr>
        <p:spPr>
          <a:xfrm>
            <a:off x="6446520" y="1783080"/>
            <a:ext cx="5029200" cy="2901403"/>
          </a:xfrm>
          <a:prstGeom prst="rect">
            <a:avLst/>
          </a:prstGeom>
          <a:solidFill>
            <a:srgbClr val="F5F8FC"/>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21" name="Picture 20" descr="lab-08-changesets-drift-detection.jpg"/>
          <p:cNvPicPr>
            <a:picLocks noChangeAspect="1"/>
          </p:cNvPicPr>
          <p:nvPr/>
        </p:nvPicPr>
        <p:blipFill>
          <a:blip r:embed="rId2"/>
          <a:stretch>
            <a:fillRect/>
          </a:stretch>
        </p:blipFill>
        <p:spPr>
          <a:xfrm>
            <a:off x="6492240" y="1828800"/>
            <a:ext cx="4937760" cy="2809963"/>
          </a:xfrm>
          <a:prstGeom prst="rect">
            <a:avLst/>
          </a:prstGeom>
        </p:spPr>
      </p:pic>
      <p:sp>
        <p:nvSpPr>
          <p:cNvPr id="22" name="TextBox 21"/>
          <p:cNvSpPr txBox="1"/>
          <p:nvPr/>
        </p:nvSpPr>
        <p:spPr>
          <a:xfrm>
            <a:off x="6492240" y="4730203"/>
            <a:ext cx="4937760" cy="365760"/>
          </a:xfrm>
          <a:prstGeom prst="rect">
            <a:avLst/>
          </a:prstGeom>
          <a:noFill/>
        </p:spPr>
        <p:txBody>
          <a:bodyPr wrap="square" anchor="t">
            <a:spAutoFit/>
          </a:bodyPr>
          <a:lstStyle/>
          <a:p>
            <a:pPr algn="ctr">
              <a:spcAft>
                <a:spcPts val="400"/>
              </a:spcAft>
            </a:pPr>
            <a:r>
              <a:rPr sz="1100" b="1">
                <a:solidFill>
                  <a:srgbClr val="5B6372"/>
                </a:solidFill>
                <a:latin typeface="Arial"/>
              </a:rPr>
              <a:t>Reference architecture</a:t>
            </a:r>
          </a:p>
        </p:txBody>
      </p:sp>
      <p:sp>
        <p:nvSpPr>
          <p:cNvPr id="23" name="TextBox 22"/>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DevOps Engineering on AWS  ·  TGS-2023040474</a:t>
            </a:r>
          </a:p>
        </p:txBody>
      </p:sp>
      <p:sp>
        <p:nvSpPr>
          <p:cNvPr id="24" name="TextBox 23"/>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25" name="TextBox 24"/>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95</a:t>
            </a:r>
          </a:p>
        </p:txBody>
      </p:sp>
    </p:spTree>
  </p:cSld>
  <p:clrMapOvr>
    <a:masterClrMapping/>
  </p:clrMapOvr>
  <p:transition xmlns:p14="http://schemas.microsoft.com/office/powerpoint/2010/main" p14:dur="380">
    <p:fade/>
  </p:transition>
</p:sld>
</file>

<file path=ppt/slides/slide9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38912"/>
            <a:ext cx="10607040" cy="365760"/>
          </a:xfrm>
          <a:prstGeom prst="rect">
            <a:avLst/>
          </a:prstGeom>
          <a:noFill/>
        </p:spPr>
        <p:txBody>
          <a:bodyPr wrap="square" anchor="t">
            <a:spAutoFit/>
          </a:bodyPr>
          <a:lstStyle/>
          <a:p>
            <a:pPr algn="l">
              <a:spcAft>
                <a:spcPts val="400"/>
              </a:spcAft>
            </a:pPr>
            <a:r>
              <a:rPr sz="1400" b="1">
                <a:solidFill>
                  <a:srgbClr val="7C3AED"/>
                </a:solidFill>
                <a:latin typeface="Arial"/>
              </a:rPr>
              <a:t>LAB 9 · DAY 2 · LO2 · HANDS-ON</a:t>
            </a:r>
          </a:p>
        </p:txBody>
      </p:sp>
      <p:sp>
        <p:nvSpPr>
          <p:cNvPr id="5" name="TextBox 4"/>
          <p:cNvSpPr txBox="1"/>
          <p:nvPr/>
        </p:nvSpPr>
        <p:spPr>
          <a:xfrm>
            <a:off x="777240" y="896112"/>
            <a:ext cx="10927080" cy="731520"/>
          </a:xfrm>
          <a:prstGeom prst="rect">
            <a:avLst/>
          </a:prstGeom>
          <a:noFill/>
        </p:spPr>
        <p:txBody>
          <a:bodyPr wrap="square" anchor="t">
            <a:spAutoFit/>
          </a:bodyPr>
          <a:lstStyle/>
          <a:p>
            <a:pPr algn="l">
              <a:spcAft>
                <a:spcPts val="400"/>
              </a:spcAft>
            </a:pPr>
            <a:r>
              <a:rPr sz="2500" b="1">
                <a:solidFill>
                  <a:srgbClr val="161B26"/>
                </a:solidFill>
                <a:latin typeface="Arial"/>
              </a:rPr>
              <a:t>Externalize Configuration with SSM Parameter Store</a:t>
            </a:r>
          </a:p>
        </p:txBody>
      </p:sp>
      <p:sp>
        <p:nvSpPr>
          <p:cNvPr id="6" name="Rectangle 5"/>
          <p:cNvSpPr/>
          <p:nvPr/>
        </p:nvSpPr>
        <p:spPr>
          <a:xfrm>
            <a:off x="777240" y="1572768"/>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737360"/>
            <a:ext cx="1737360" cy="457200"/>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77240" y="1783080"/>
            <a:ext cx="1737360" cy="365760"/>
          </a:xfrm>
          <a:prstGeom prst="rect">
            <a:avLst/>
          </a:prstGeom>
          <a:noFill/>
        </p:spPr>
        <p:txBody>
          <a:bodyPr wrap="square" anchor="t">
            <a:spAutoFit/>
          </a:bodyPr>
          <a:lstStyle/>
          <a:p>
            <a:pPr algn="ctr">
              <a:spcAft>
                <a:spcPts val="400"/>
              </a:spcAft>
            </a:pPr>
            <a:r>
              <a:rPr sz="1600" b="1">
                <a:solidFill>
                  <a:srgbClr val="FFFFFF"/>
                </a:solidFill>
                <a:latin typeface="Arial"/>
              </a:rPr>
              <a:t>LAB 9</a:t>
            </a:r>
          </a:p>
        </p:txBody>
      </p:sp>
      <p:sp>
        <p:nvSpPr>
          <p:cNvPr id="9" name="TextBox 8"/>
          <p:cNvSpPr txBox="1"/>
          <p:nvPr/>
        </p:nvSpPr>
        <p:spPr>
          <a:xfrm>
            <a:off x="2697480" y="1783080"/>
            <a:ext cx="3566160" cy="365760"/>
          </a:xfrm>
          <a:prstGeom prst="rect">
            <a:avLst/>
          </a:prstGeom>
          <a:noFill/>
        </p:spPr>
        <p:txBody>
          <a:bodyPr wrap="square" anchor="t">
            <a:spAutoFit/>
          </a:bodyPr>
          <a:lstStyle/>
          <a:p>
            <a:pPr algn="l">
              <a:spcAft>
                <a:spcPts val="400"/>
              </a:spcAft>
            </a:pPr>
            <a:r>
              <a:rPr sz="1200" b="1">
                <a:solidFill>
                  <a:srgbClr val="5B6372"/>
                </a:solidFill>
                <a:latin typeface="Arial"/>
              </a:rPr>
              <a:t>Day 2 · LO2 · K3, A3</a:t>
            </a:r>
          </a:p>
        </p:txBody>
      </p:sp>
      <p:sp>
        <p:nvSpPr>
          <p:cNvPr id="10" name="TextBox 9"/>
          <p:cNvSpPr txBox="1"/>
          <p:nvPr/>
        </p:nvSpPr>
        <p:spPr>
          <a:xfrm>
            <a:off x="777240" y="2286000"/>
            <a:ext cx="5486400" cy="1017270"/>
          </a:xfrm>
          <a:prstGeom prst="rect">
            <a:avLst/>
          </a:prstGeom>
          <a:noFill/>
        </p:spPr>
        <p:txBody>
          <a:bodyPr wrap="square" anchor="t">
            <a:spAutoFit/>
          </a:bodyPr>
          <a:lstStyle/>
          <a:p>
            <a:pPr algn="l">
              <a:spcAft>
                <a:spcPts val="400"/>
              </a:spcAft>
            </a:pPr>
            <a:r>
              <a:rPr sz="1350" b="0">
                <a:solidFill>
                  <a:srgbClr val="161B26"/>
                </a:solidFill>
                <a:latin typeface="Arial"/>
              </a:rPr>
              <a:t>Hard-coding configuration and credentials into code and templates is a recipe for leaks and rebuilds. In this lab you externalize your application's configuration into AWS Systems Manager Parameter Store — plain String and String List …</a:t>
            </a:r>
          </a:p>
        </p:txBody>
      </p:sp>
      <p:sp>
        <p:nvSpPr>
          <p:cNvPr id="11" name="Rectangle 10"/>
          <p:cNvSpPr/>
          <p:nvPr/>
        </p:nvSpPr>
        <p:spPr>
          <a:xfrm>
            <a:off x="777240" y="3412998"/>
            <a:ext cx="5486400" cy="1526286"/>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ectangle 11"/>
          <p:cNvSpPr/>
          <p:nvPr/>
        </p:nvSpPr>
        <p:spPr>
          <a:xfrm>
            <a:off x="777240" y="3412998"/>
            <a:ext cx="91440" cy="1526286"/>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960120" y="3541014"/>
            <a:ext cx="5120640" cy="274320"/>
          </a:xfrm>
          <a:prstGeom prst="rect">
            <a:avLst/>
          </a:prstGeom>
          <a:noFill/>
        </p:spPr>
        <p:txBody>
          <a:bodyPr wrap="square" anchor="t">
            <a:spAutoFit/>
          </a:bodyPr>
          <a:lstStyle/>
          <a:p>
            <a:pPr algn="l">
              <a:spcAft>
                <a:spcPts val="400"/>
              </a:spcAft>
            </a:pPr>
            <a:r>
              <a:rPr sz="1200" b="1">
                <a:solidFill>
                  <a:srgbClr val="7C3AED"/>
                </a:solidFill>
                <a:latin typeface="Arial"/>
              </a:rPr>
              <a:t>YOU'LL BUILD</a:t>
            </a:r>
          </a:p>
        </p:txBody>
      </p:sp>
      <p:sp>
        <p:nvSpPr>
          <p:cNvPr id="14" name="TextBox 13"/>
          <p:cNvSpPr txBox="1"/>
          <p:nvPr/>
        </p:nvSpPr>
        <p:spPr>
          <a:xfrm>
            <a:off x="960120" y="3815334"/>
            <a:ext cx="5166360" cy="594360"/>
          </a:xfrm>
          <a:prstGeom prst="rect">
            <a:avLst/>
          </a:prstGeom>
          <a:noFill/>
        </p:spPr>
        <p:txBody>
          <a:bodyPr wrap="square" anchor="t">
            <a:spAutoFit/>
          </a:bodyPr>
          <a:lstStyle/>
          <a:p>
            <a:pPr algn="l">
              <a:spcAft>
                <a:spcPts val="400"/>
              </a:spcAft>
            </a:pPr>
            <a:r>
              <a:rPr sz="1200" b="1">
                <a:solidFill>
                  <a:srgbClr val="161B26"/>
                </a:solidFill>
                <a:latin typeface="Arial"/>
              </a:rPr>
              <a:t>A /devops/app/* parameter hierarchy in SSM (String, StringList and KMS-encrypted SecureString) plus an app-config-reader.sh that pulls the whole configuration at runtime with decryption.</a:t>
            </a:r>
          </a:p>
        </p:txBody>
      </p:sp>
      <p:sp>
        <p:nvSpPr>
          <p:cNvPr id="15" name="TextBox 14"/>
          <p:cNvSpPr txBox="1"/>
          <p:nvPr/>
        </p:nvSpPr>
        <p:spPr>
          <a:xfrm>
            <a:off x="960120" y="4464558"/>
            <a:ext cx="5166360" cy="346710"/>
          </a:xfrm>
          <a:prstGeom prst="rect">
            <a:avLst/>
          </a:prstGeom>
          <a:noFill/>
        </p:spPr>
        <p:txBody>
          <a:bodyPr wrap="square" anchor="t">
            <a:spAutoFit/>
          </a:bodyPr>
          <a:lstStyle/>
          <a:p>
            <a:pPr algn="l">
              <a:spcAft>
                <a:spcPts val="400"/>
              </a:spcAft>
            </a:pPr>
            <a:r>
              <a:rPr sz="1050" b="0">
                <a:solidFill>
                  <a:srgbClr val="5B6372"/>
                </a:solidFill>
                <a:latin typeface="Arial"/>
              </a:rPr>
              <a:t>Tools:  AWS Systems Manager (Parameter Store, State Manager, Automation), AWS KMS, AWS CloudFormation</a:t>
            </a:r>
          </a:p>
        </p:txBody>
      </p:sp>
      <p:sp>
        <p:nvSpPr>
          <p:cNvPr id="16" name="Rectangle 15"/>
          <p:cNvSpPr/>
          <p:nvPr/>
        </p:nvSpPr>
        <p:spPr>
          <a:xfrm>
            <a:off x="777240" y="5049012"/>
            <a:ext cx="5486400" cy="1278636"/>
          </a:xfrm>
          <a:prstGeom prst="rect">
            <a:avLst/>
          </a:prstGeom>
          <a:solidFill>
            <a:srgbClr val="FFFFFF"/>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ectangle 16"/>
          <p:cNvSpPr/>
          <p:nvPr/>
        </p:nvSpPr>
        <p:spPr>
          <a:xfrm>
            <a:off x="777240" y="5049012"/>
            <a:ext cx="91440" cy="1278636"/>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960120" y="5177028"/>
            <a:ext cx="5120640" cy="274320"/>
          </a:xfrm>
          <a:prstGeom prst="rect">
            <a:avLst/>
          </a:prstGeom>
          <a:noFill/>
        </p:spPr>
        <p:txBody>
          <a:bodyPr wrap="square" anchor="t">
            <a:spAutoFit/>
          </a:bodyPr>
          <a:lstStyle/>
          <a:p>
            <a:pPr algn="l">
              <a:spcAft>
                <a:spcPts val="400"/>
              </a:spcAft>
            </a:pPr>
            <a:r>
              <a:rPr sz="1200" b="1">
                <a:solidFill>
                  <a:srgbClr val="10B981"/>
                </a:solidFill>
                <a:latin typeface="Arial"/>
              </a:rPr>
              <a:t>OUTCOME &amp; EVIDENCE</a:t>
            </a:r>
          </a:p>
        </p:txBody>
      </p:sp>
      <p:sp>
        <p:nvSpPr>
          <p:cNvPr id="19" name="TextBox 18"/>
          <p:cNvSpPr txBox="1"/>
          <p:nvPr/>
        </p:nvSpPr>
        <p:spPr>
          <a:xfrm>
            <a:off x="960120" y="5451348"/>
            <a:ext cx="5166360" cy="693420"/>
          </a:xfrm>
          <a:prstGeom prst="rect">
            <a:avLst/>
          </a:prstGeom>
          <a:noFill/>
        </p:spPr>
        <p:txBody>
          <a:bodyPr wrap="square" anchor="t">
            <a:spAutoFit/>
          </a:bodyPr>
          <a:lstStyle/>
          <a:p>
            <a:pPr algn="l">
              <a:spcAft>
                <a:spcPts val="300"/>
              </a:spcAft>
            </a:pPr>
            <a:r>
              <a:rPr sz="1050" b="0">
                <a:solidFill>
                  <a:srgbClr val="5B6372"/>
                </a:solidFill>
                <a:latin typeface="Arial"/>
              </a:rPr>
              <a:t>Outcome: An application reads all of its configuration from the /devops/app/* Parameter Store hierarchy at runtime — plain values in the clear and the …</a:t>
            </a:r>
          </a:p>
          <a:p>
            <a:pPr algn="l">
              <a:spcAft>
                <a:spcPts val="300"/>
              </a:spcAft>
            </a:pPr>
            <a:r>
              <a:rPr sz="1050" b="0">
                <a:solidFill>
                  <a:srgbClr val="5B6372"/>
                </a:solidFill>
                <a:latin typeface="Arial"/>
              </a:rPr>
              <a:t>Evidence:  get-parameters-by-path output showing the /devops/app hierarchy with String, StringList and SecureString types.</a:t>
            </a:r>
          </a:p>
        </p:txBody>
      </p:sp>
      <p:sp>
        <p:nvSpPr>
          <p:cNvPr id="20" name="Rectangle 19"/>
          <p:cNvSpPr/>
          <p:nvPr/>
        </p:nvSpPr>
        <p:spPr>
          <a:xfrm>
            <a:off x="6446520" y="1783080"/>
            <a:ext cx="5029200" cy="2901403"/>
          </a:xfrm>
          <a:prstGeom prst="rect">
            <a:avLst/>
          </a:prstGeom>
          <a:solidFill>
            <a:srgbClr val="F5F8FC"/>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21" name="Picture 20" descr="lab-09-ssm-parameter-store-config.jpg"/>
          <p:cNvPicPr>
            <a:picLocks noChangeAspect="1"/>
          </p:cNvPicPr>
          <p:nvPr/>
        </p:nvPicPr>
        <p:blipFill>
          <a:blip r:embed="rId2"/>
          <a:stretch>
            <a:fillRect/>
          </a:stretch>
        </p:blipFill>
        <p:spPr>
          <a:xfrm>
            <a:off x="6492240" y="1828800"/>
            <a:ext cx="4937760" cy="2809963"/>
          </a:xfrm>
          <a:prstGeom prst="rect">
            <a:avLst/>
          </a:prstGeom>
        </p:spPr>
      </p:pic>
      <p:sp>
        <p:nvSpPr>
          <p:cNvPr id="22" name="TextBox 21"/>
          <p:cNvSpPr txBox="1"/>
          <p:nvPr/>
        </p:nvSpPr>
        <p:spPr>
          <a:xfrm>
            <a:off x="6492240" y="4730203"/>
            <a:ext cx="4937760" cy="365760"/>
          </a:xfrm>
          <a:prstGeom prst="rect">
            <a:avLst/>
          </a:prstGeom>
          <a:noFill/>
        </p:spPr>
        <p:txBody>
          <a:bodyPr wrap="square" anchor="t">
            <a:spAutoFit/>
          </a:bodyPr>
          <a:lstStyle/>
          <a:p>
            <a:pPr algn="ctr">
              <a:spcAft>
                <a:spcPts val="400"/>
              </a:spcAft>
            </a:pPr>
            <a:r>
              <a:rPr sz="1100" b="1">
                <a:solidFill>
                  <a:srgbClr val="5B6372"/>
                </a:solidFill>
                <a:latin typeface="Arial"/>
              </a:rPr>
              <a:t>Reference architecture</a:t>
            </a:r>
          </a:p>
        </p:txBody>
      </p:sp>
      <p:sp>
        <p:nvSpPr>
          <p:cNvPr id="23" name="TextBox 22"/>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DevOps Engineering on AWS  ·  TGS-2023040474</a:t>
            </a:r>
          </a:p>
        </p:txBody>
      </p:sp>
      <p:sp>
        <p:nvSpPr>
          <p:cNvPr id="24" name="TextBox 23"/>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25" name="TextBox 24"/>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96</a:t>
            </a:r>
          </a:p>
        </p:txBody>
      </p:sp>
    </p:spTree>
  </p:cSld>
  <p:clrMapOvr>
    <a:masterClrMapping/>
  </p:clrMapOvr>
  <p:transition xmlns:p14="http://schemas.microsoft.com/office/powerpoint/2010/main" p14:dur="380">
    <p:fade/>
  </p:transition>
</p:sld>
</file>

<file path=ppt/slides/slide9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38912"/>
            <a:ext cx="10607040" cy="365760"/>
          </a:xfrm>
          <a:prstGeom prst="rect">
            <a:avLst/>
          </a:prstGeom>
          <a:noFill/>
        </p:spPr>
        <p:txBody>
          <a:bodyPr wrap="square" anchor="t">
            <a:spAutoFit/>
          </a:bodyPr>
          <a:lstStyle/>
          <a:p>
            <a:pPr algn="l">
              <a:spcAft>
                <a:spcPts val="400"/>
              </a:spcAft>
            </a:pPr>
            <a:r>
              <a:rPr sz="1400" b="1">
                <a:solidFill>
                  <a:srgbClr val="7C3AED"/>
                </a:solidFill>
                <a:latin typeface="Arial"/>
              </a:rPr>
              <a:t>LAB 10 · DAY 2 · LO2 · HANDS-ON</a:t>
            </a:r>
          </a:p>
        </p:txBody>
      </p:sp>
      <p:sp>
        <p:nvSpPr>
          <p:cNvPr id="5" name="TextBox 4"/>
          <p:cNvSpPr txBox="1"/>
          <p:nvPr/>
        </p:nvSpPr>
        <p:spPr>
          <a:xfrm>
            <a:off x="777240" y="896112"/>
            <a:ext cx="10927080" cy="731520"/>
          </a:xfrm>
          <a:prstGeom prst="rect">
            <a:avLst/>
          </a:prstGeom>
          <a:noFill/>
        </p:spPr>
        <p:txBody>
          <a:bodyPr wrap="square" anchor="t">
            <a:spAutoFit/>
          </a:bodyPr>
          <a:lstStyle/>
          <a:p>
            <a:pPr algn="l">
              <a:spcAft>
                <a:spcPts val="400"/>
              </a:spcAft>
            </a:pPr>
            <a:r>
              <a:rPr sz="2100" b="1">
                <a:solidFill>
                  <a:srgbClr val="161B26"/>
                </a:solidFill>
                <a:latin typeface="Arial"/>
              </a:rPr>
              <a:t>Multi-Account, Multi-Region Guardrails with CloudFormation StackSets</a:t>
            </a:r>
          </a:p>
        </p:txBody>
      </p:sp>
      <p:sp>
        <p:nvSpPr>
          <p:cNvPr id="6" name="Rectangle 5"/>
          <p:cNvSpPr/>
          <p:nvPr/>
        </p:nvSpPr>
        <p:spPr>
          <a:xfrm>
            <a:off x="777240" y="1572768"/>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737360"/>
            <a:ext cx="1737360" cy="457200"/>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77240" y="1783080"/>
            <a:ext cx="1737360" cy="365760"/>
          </a:xfrm>
          <a:prstGeom prst="rect">
            <a:avLst/>
          </a:prstGeom>
          <a:noFill/>
        </p:spPr>
        <p:txBody>
          <a:bodyPr wrap="square" anchor="t">
            <a:spAutoFit/>
          </a:bodyPr>
          <a:lstStyle/>
          <a:p>
            <a:pPr algn="ctr">
              <a:spcAft>
                <a:spcPts val="400"/>
              </a:spcAft>
            </a:pPr>
            <a:r>
              <a:rPr sz="1600" b="1">
                <a:solidFill>
                  <a:srgbClr val="FFFFFF"/>
                </a:solidFill>
                <a:latin typeface="Arial"/>
              </a:rPr>
              <a:t>LAB 10</a:t>
            </a:r>
          </a:p>
        </p:txBody>
      </p:sp>
      <p:sp>
        <p:nvSpPr>
          <p:cNvPr id="9" name="TextBox 8"/>
          <p:cNvSpPr txBox="1"/>
          <p:nvPr/>
        </p:nvSpPr>
        <p:spPr>
          <a:xfrm>
            <a:off x="2697480" y="1783080"/>
            <a:ext cx="3566160" cy="365760"/>
          </a:xfrm>
          <a:prstGeom prst="rect">
            <a:avLst/>
          </a:prstGeom>
          <a:noFill/>
        </p:spPr>
        <p:txBody>
          <a:bodyPr wrap="square" anchor="t">
            <a:spAutoFit/>
          </a:bodyPr>
          <a:lstStyle/>
          <a:p>
            <a:pPr algn="l">
              <a:spcAft>
                <a:spcPts val="400"/>
              </a:spcAft>
            </a:pPr>
            <a:r>
              <a:rPr sz="1200" b="1">
                <a:solidFill>
                  <a:srgbClr val="5B6372"/>
                </a:solidFill>
                <a:latin typeface="Arial"/>
              </a:rPr>
              <a:t>Day 2 · LO2 · K3, A3</a:t>
            </a:r>
          </a:p>
        </p:txBody>
      </p:sp>
      <p:sp>
        <p:nvSpPr>
          <p:cNvPr id="10" name="TextBox 9"/>
          <p:cNvSpPr txBox="1"/>
          <p:nvPr/>
        </p:nvSpPr>
        <p:spPr>
          <a:xfrm>
            <a:off x="777240" y="2286000"/>
            <a:ext cx="5486400" cy="992505"/>
          </a:xfrm>
          <a:prstGeom prst="rect">
            <a:avLst/>
          </a:prstGeom>
          <a:noFill/>
        </p:spPr>
        <p:txBody>
          <a:bodyPr wrap="square" anchor="t">
            <a:spAutoFit/>
          </a:bodyPr>
          <a:lstStyle/>
          <a:p>
            <a:pPr algn="l">
              <a:spcAft>
                <a:spcPts val="400"/>
              </a:spcAft>
            </a:pPr>
            <a:r>
              <a:rPr sz="1350" b="0">
                <a:solidFill>
                  <a:srgbClr val="161B26"/>
                </a:solidFill>
                <a:latin typeface="Arial"/>
              </a:rPr>
              <a:t>Scaling infrastructure to many accounts by hand does not work. In this lab you build a governance blueprint: using CloudFormation StackSets with AWS Organizations service-managed permissions, you deploy a detective …</a:t>
            </a:r>
          </a:p>
        </p:txBody>
      </p:sp>
      <p:sp>
        <p:nvSpPr>
          <p:cNvPr id="11" name="Rectangle 10"/>
          <p:cNvSpPr/>
          <p:nvPr/>
        </p:nvSpPr>
        <p:spPr>
          <a:xfrm>
            <a:off x="777240" y="3388233"/>
            <a:ext cx="5486400" cy="1551051"/>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ectangle 11"/>
          <p:cNvSpPr/>
          <p:nvPr/>
        </p:nvSpPr>
        <p:spPr>
          <a:xfrm>
            <a:off x="777240" y="3388233"/>
            <a:ext cx="91440" cy="1551051"/>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960120" y="3516249"/>
            <a:ext cx="5120640" cy="274320"/>
          </a:xfrm>
          <a:prstGeom prst="rect">
            <a:avLst/>
          </a:prstGeom>
          <a:noFill/>
        </p:spPr>
        <p:txBody>
          <a:bodyPr wrap="square" anchor="t">
            <a:spAutoFit/>
          </a:bodyPr>
          <a:lstStyle/>
          <a:p>
            <a:pPr algn="l">
              <a:spcAft>
                <a:spcPts val="400"/>
              </a:spcAft>
            </a:pPr>
            <a:r>
              <a:rPr sz="1200" b="1">
                <a:solidFill>
                  <a:srgbClr val="7C3AED"/>
                </a:solidFill>
                <a:latin typeface="Arial"/>
              </a:rPr>
              <a:t>YOU'LL BUILD</a:t>
            </a:r>
          </a:p>
        </p:txBody>
      </p:sp>
      <p:sp>
        <p:nvSpPr>
          <p:cNvPr id="14" name="TextBox 13"/>
          <p:cNvSpPr txBox="1"/>
          <p:nvPr/>
        </p:nvSpPr>
        <p:spPr>
          <a:xfrm>
            <a:off x="960120" y="3790569"/>
            <a:ext cx="5166360" cy="619125"/>
          </a:xfrm>
          <a:prstGeom prst="rect">
            <a:avLst/>
          </a:prstGeom>
          <a:noFill/>
        </p:spPr>
        <p:txBody>
          <a:bodyPr wrap="square" anchor="t">
            <a:spAutoFit/>
          </a:bodyPr>
          <a:lstStyle/>
          <a:p>
            <a:pPr algn="l">
              <a:spcAft>
                <a:spcPts val="400"/>
              </a:spcAft>
            </a:pPr>
            <a:r>
              <a:rPr sz="1250" b="1">
                <a:solidFill>
                  <a:srgbClr val="161B26"/>
                </a:solidFill>
                <a:latin typeface="Arial"/>
              </a:rPr>
              <a:t>A StackSet (service-managed) that fans a guardrail stack out to an OU across two Regions in one operation, plus an example SCP that enforces the same guardrail preventively.</a:t>
            </a:r>
          </a:p>
        </p:txBody>
      </p:sp>
      <p:sp>
        <p:nvSpPr>
          <p:cNvPr id="15" name="TextBox 14"/>
          <p:cNvSpPr txBox="1"/>
          <p:nvPr/>
        </p:nvSpPr>
        <p:spPr>
          <a:xfrm>
            <a:off x="960120" y="4464558"/>
            <a:ext cx="5166360" cy="346710"/>
          </a:xfrm>
          <a:prstGeom prst="rect">
            <a:avLst/>
          </a:prstGeom>
          <a:noFill/>
        </p:spPr>
        <p:txBody>
          <a:bodyPr wrap="square" anchor="t">
            <a:spAutoFit/>
          </a:bodyPr>
          <a:lstStyle/>
          <a:p>
            <a:pPr algn="l">
              <a:spcAft>
                <a:spcPts val="400"/>
              </a:spcAft>
            </a:pPr>
            <a:r>
              <a:rPr sz="1050" b="0">
                <a:solidFill>
                  <a:srgbClr val="5B6372"/>
                </a:solidFill>
                <a:latin typeface="Arial"/>
              </a:rPr>
              <a:t>Tools:  AWS CloudFormation StackSets, AWS Organizations, AWS Control Tower (concept)</a:t>
            </a:r>
          </a:p>
        </p:txBody>
      </p:sp>
      <p:sp>
        <p:nvSpPr>
          <p:cNvPr id="16" name="Rectangle 15"/>
          <p:cNvSpPr/>
          <p:nvPr/>
        </p:nvSpPr>
        <p:spPr>
          <a:xfrm>
            <a:off x="777240" y="5049012"/>
            <a:ext cx="5486400" cy="1278636"/>
          </a:xfrm>
          <a:prstGeom prst="rect">
            <a:avLst/>
          </a:prstGeom>
          <a:solidFill>
            <a:srgbClr val="FFFFFF"/>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ectangle 16"/>
          <p:cNvSpPr/>
          <p:nvPr/>
        </p:nvSpPr>
        <p:spPr>
          <a:xfrm>
            <a:off x="777240" y="5049012"/>
            <a:ext cx="91440" cy="1278636"/>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960120" y="5177028"/>
            <a:ext cx="5120640" cy="274320"/>
          </a:xfrm>
          <a:prstGeom prst="rect">
            <a:avLst/>
          </a:prstGeom>
          <a:noFill/>
        </p:spPr>
        <p:txBody>
          <a:bodyPr wrap="square" anchor="t">
            <a:spAutoFit/>
          </a:bodyPr>
          <a:lstStyle/>
          <a:p>
            <a:pPr algn="l">
              <a:spcAft>
                <a:spcPts val="400"/>
              </a:spcAft>
            </a:pPr>
            <a:r>
              <a:rPr sz="1200" b="1">
                <a:solidFill>
                  <a:srgbClr val="10B981"/>
                </a:solidFill>
                <a:latin typeface="Arial"/>
              </a:rPr>
              <a:t>OUTCOME &amp; EVIDENCE</a:t>
            </a:r>
          </a:p>
        </p:txBody>
      </p:sp>
      <p:sp>
        <p:nvSpPr>
          <p:cNvPr id="19" name="TextBox 18"/>
          <p:cNvSpPr txBox="1"/>
          <p:nvPr/>
        </p:nvSpPr>
        <p:spPr>
          <a:xfrm>
            <a:off x="960120" y="5451348"/>
            <a:ext cx="5166360" cy="693420"/>
          </a:xfrm>
          <a:prstGeom prst="rect">
            <a:avLst/>
          </a:prstGeom>
          <a:noFill/>
        </p:spPr>
        <p:txBody>
          <a:bodyPr wrap="square" anchor="t">
            <a:spAutoFit/>
          </a:bodyPr>
          <a:lstStyle/>
          <a:p>
            <a:pPr algn="l">
              <a:spcAft>
                <a:spcPts val="300"/>
              </a:spcAft>
            </a:pPr>
            <a:r>
              <a:rPr sz="1050" b="0">
                <a:solidFill>
                  <a:srgbClr val="5B6372"/>
                </a:solidFill>
                <a:latin typeface="Arial"/>
              </a:rPr>
              <a:t>Outcome: From the management account you deploy one guardrail stack to an entire OU across two Regions in a single StackSet operation (detective …</a:t>
            </a:r>
          </a:p>
          <a:p>
            <a:pPr algn="l">
              <a:spcAft>
                <a:spcPts val="300"/>
              </a:spcAft>
            </a:pPr>
            <a:r>
              <a:rPr sz="1050" b="0">
                <a:solidFill>
                  <a:srgbClr val="5B6372"/>
                </a:solidFill>
                <a:latin typeface="Arial"/>
              </a:rPr>
              <a:t>Evidence:  list-stack-instances output showing the guardrail CURRENT in each account across both Regions.</a:t>
            </a:r>
          </a:p>
        </p:txBody>
      </p:sp>
      <p:sp>
        <p:nvSpPr>
          <p:cNvPr id="20" name="Rectangle 19"/>
          <p:cNvSpPr/>
          <p:nvPr/>
        </p:nvSpPr>
        <p:spPr>
          <a:xfrm>
            <a:off x="6446520" y="1783080"/>
            <a:ext cx="5029200" cy="2901403"/>
          </a:xfrm>
          <a:prstGeom prst="rect">
            <a:avLst/>
          </a:prstGeom>
          <a:solidFill>
            <a:srgbClr val="F5F8FC"/>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21" name="Picture 20" descr="lab-10-multiaccount-region-stacksets.jpg"/>
          <p:cNvPicPr>
            <a:picLocks noChangeAspect="1"/>
          </p:cNvPicPr>
          <p:nvPr/>
        </p:nvPicPr>
        <p:blipFill>
          <a:blip r:embed="rId2"/>
          <a:stretch>
            <a:fillRect/>
          </a:stretch>
        </p:blipFill>
        <p:spPr>
          <a:xfrm>
            <a:off x="6492240" y="1828800"/>
            <a:ext cx="4937760" cy="2809963"/>
          </a:xfrm>
          <a:prstGeom prst="rect">
            <a:avLst/>
          </a:prstGeom>
        </p:spPr>
      </p:pic>
      <p:sp>
        <p:nvSpPr>
          <p:cNvPr id="22" name="TextBox 21"/>
          <p:cNvSpPr txBox="1"/>
          <p:nvPr/>
        </p:nvSpPr>
        <p:spPr>
          <a:xfrm>
            <a:off x="6492240" y="4730203"/>
            <a:ext cx="4937760" cy="365760"/>
          </a:xfrm>
          <a:prstGeom prst="rect">
            <a:avLst/>
          </a:prstGeom>
          <a:noFill/>
        </p:spPr>
        <p:txBody>
          <a:bodyPr wrap="square" anchor="t">
            <a:spAutoFit/>
          </a:bodyPr>
          <a:lstStyle/>
          <a:p>
            <a:pPr algn="ctr">
              <a:spcAft>
                <a:spcPts val="400"/>
              </a:spcAft>
            </a:pPr>
            <a:r>
              <a:rPr sz="1100" b="1">
                <a:solidFill>
                  <a:srgbClr val="5B6372"/>
                </a:solidFill>
                <a:latin typeface="Arial"/>
              </a:rPr>
              <a:t>Reference architecture</a:t>
            </a:r>
          </a:p>
        </p:txBody>
      </p:sp>
      <p:sp>
        <p:nvSpPr>
          <p:cNvPr id="23" name="TextBox 22"/>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DevOps Engineering on AWS  ·  TGS-2023040474</a:t>
            </a:r>
          </a:p>
        </p:txBody>
      </p:sp>
      <p:sp>
        <p:nvSpPr>
          <p:cNvPr id="24" name="TextBox 23"/>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25" name="TextBox 24"/>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97</a:t>
            </a:r>
          </a:p>
        </p:txBody>
      </p:sp>
    </p:spTree>
  </p:cSld>
  <p:clrMapOvr>
    <a:masterClrMapping/>
  </p:clrMapOvr>
  <p:transition xmlns:p14="http://schemas.microsoft.com/office/powerpoint/2010/main" p14:dur="380">
    <p:fade/>
  </p:transition>
</p:sld>
</file>

<file path=ppt/slides/slide9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38912"/>
            <a:ext cx="10607040" cy="365760"/>
          </a:xfrm>
          <a:prstGeom prst="rect">
            <a:avLst/>
          </a:prstGeom>
          <a:noFill/>
        </p:spPr>
        <p:txBody>
          <a:bodyPr wrap="square" anchor="t">
            <a:spAutoFit/>
          </a:bodyPr>
          <a:lstStyle/>
          <a:p>
            <a:pPr algn="l">
              <a:spcAft>
                <a:spcPts val="400"/>
              </a:spcAft>
            </a:pPr>
            <a:r>
              <a:rPr sz="1400" b="1">
                <a:solidFill>
                  <a:srgbClr val="1F6FEB"/>
                </a:solidFill>
                <a:latin typeface="Arial"/>
              </a:rPr>
              <a:t>DOMAIN RECAP</a:t>
            </a:r>
          </a:p>
        </p:txBody>
      </p:sp>
      <p:sp>
        <p:nvSpPr>
          <p:cNvPr id="5" name="TextBox 4"/>
          <p:cNvSpPr txBox="1"/>
          <p:nvPr/>
        </p:nvSpPr>
        <p:spPr>
          <a:xfrm>
            <a:off x="777240" y="804672"/>
            <a:ext cx="10927080" cy="731520"/>
          </a:xfrm>
          <a:prstGeom prst="rect">
            <a:avLst/>
          </a:prstGeom>
          <a:noFill/>
        </p:spPr>
        <p:txBody>
          <a:bodyPr wrap="square" anchor="t">
            <a:spAutoFit/>
          </a:bodyPr>
          <a:lstStyle/>
          <a:p>
            <a:pPr algn="l">
              <a:spcAft>
                <a:spcPts val="400"/>
              </a:spcAft>
            </a:pPr>
            <a:r>
              <a:rPr sz="2900" b="1">
                <a:solidFill>
                  <a:srgbClr val="161B26"/>
                </a:solidFill>
                <a:latin typeface="Arial"/>
              </a:rPr>
              <a:t>Recap — Configuration Management and IaC</a:t>
            </a:r>
          </a:p>
        </p:txBody>
      </p:sp>
      <p:sp>
        <p:nvSpPr>
          <p:cNvPr id="6" name="Rectangle 5"/>
          <p:cNvSpPr/>
          <p:nvPr/>
        </p:nvSpPr>
        <p:spPr>
          <a:xfrm>
            <a:off x="777240" y="1572768"/>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777240" y="1783080"/>
            <a:ext cx="10607040" cy="4480560"/>
          </a:xfrm>
          <a:prstGeom prst="rect">
            <a:avLst/>
          </a:prstGeom>
          <a:noFill/>
        </p:spPr>
        <p:txBody>
          <a:bodyPr wrap="square">
            <a:spAutoFit/>
          </a:bodyPr>
          <a:lstStyle/>
          <a:p>
            <a:pPr>
              <a:spcAft>
                <a:spcPts val="1000"/>
              </a:spcAft>
            </a:pPr>
            <a:r>
              <a:rPr sz="1500" b="0">
                <a:solidFill>
                  <a:srgbClr val="161B26"/>
                </a:solidFill>
                <a:latin typeface="Arial"/>
              </a:rPr>
              <a:t>•  You can now: Author, validate and deploy a reusable VPC network baseline with CloudFormation and publish cross-stack exports (LO2, K3, A3)</a:t>
            </a:r>
          </a:p>
          <a:p>
            <a:pPr>
              <a:spcAft>
                <a:spcPts val="1000"/>
              </a:spcAft>
            </a:pPr>
            <a:r>
              <a:rPr sz="1500" b="0">
                <a:solidFill>
                  <a:srgbClr val="161B26"/>
                </a:solidFill>
                <a:latin typeface="Arial"/>
              </a:rPr>
              <a:t>•  You can now: Deploy a parameterized application stack that consumes cross-stack exports and reuse it for dev and test via parameter files (LO2, K3, A3)</a:t>
            </a:r>
          </a:p>
          <a:p>
            <a:pPr>
              <a:spcAft>
                <a:spcPts val="1000"/>
              </a:spcAft>
            </a:pPr>
            <a:r>
              <a:rPr sz="1500" b="0">
                <a:solidFill>
                  <a:srgbClr val="161B26"/>
                </a:solidFill>
                <a:latin typeface="Arial"/>
              </a:rPr>
              <a:t>•  You can now: Preview a stack modification safely with a change set before executing, then detect out-of-band drift and reconcile it (LO2, K3, A3)</a:t>
            </a:r>
          </a:p>
          <a:p>
            <a:pPr>
              <a:spcAft>
                <a:spcPts val="1000"/>
              </a:spcAft>
            </a:pPr>
            <a:r>
              <a:rPr sz="1500" b="0">
                <a:solidFill>
                  <a:srgbClr val="161B26"/>
                </a:solidFill>
                <a:latin typeface="Arial"/>
              </a:rPr>
              <a:t>•  You can now: Externalize application configuration into SSM Parameter Store (String and SecureString), read it at runtime, and compare Parameter Store with Secrets Manager (LO2, K3, A3)</a:t>
            </a:r>
          </a:p>
          <a:p>
            <a:pPr>
              <a:spcAft>
                <a:spcPts val="1000"/>
              </a:spcAft>
            </a:pPr>
            <a:r>
              <a:rPr sz="1500" b="0">
                <a:solidFill>
                  <a:srgbClr val="161B26"/>
                </a:solidFill>
                <a:latin typeface="Arial"/>
              </a:rPr>
              <a:t>•  You can now: Design and deploy a multi-account, multi-Region guardrail using CloudFormation StackSets with AWS Organizations service-managed permissions, and express a preventive guardrail as an SCP (LO2, K3, A3)</a:t>
            </a:r>
          </a:p>
          <a:p>
            <a:pPr>
              <a:spcAft>
                <a:spcPts val="1000"/>
              </a:spcAft>
            </a:pPr>
            <a:r>
              <a:rPr sz="1500" b="0">
                <a:solidFill>
                  <a:srgbClr val="161B26"/>
                </a:solidFill>
                <a:latin typeface="Arial"/>
              </a:rPr>
              <a:t>•  Infrastructure as Code — Declare infrastructure in version-controlled templates so environments are repeatable, reviewable and disposable.</a:t>
            </a:r>
          </a:p>
          <a:p>
            <a:pPr>
              <a:spcAft>
                <a:spcPts val="1000"/>
              </a:spcAft>
            </a:pPr>
            <a:r>
              <a:rPr sz="1500" b="0">
                <a:solidFill>
                  <a:srgbClr val="161B26"/>
                </a:solidFill>
                <a:latin typeface="Arial"/>
              </a:rPr>
              <a:t>•  CloudFormation — Declarative JSON/YAML stacks with parameters, mappings, outputs, change sets, drift detection and automatic rollback.</a:t>
            </a:r>
          </a:p>
          <a:p>
            <a:pPr>
              <a:spcAft>
                <a:spcPts val="1000"/>
              </a:spcAft>
            </a:pPr>
            <a:r>
              <a:rPr sz="1500" b="0">
                <a:solidFill>
                  <a:srgbClr val="161B26"/>
                </a:solidFill>
                <a:latin typeface="Arial"/>
              </a:rPr>
              <a:t>•  Reusable components — Nested stacks and modules parameterise a pattern once and reuse it across teams and Regions.</a:t>
            </a:r>
          </a:p>
        </p:txBody>
      </p:sp>
      <p:sp>
        <p:nvSpPr>
          <p:cNvPr id="8" name="TextBox 7"/>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DevOps Engineering on AWS  ·  TGS-2023040474</a:t>
            </a:r>
          </a:p>
        </p:txBody>
      </p:sp>
      <p:sp>
        <p:nvSpPr>
          <p:cNvPr id="9" name="TextBox 8"/>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0" name="TextBox 9"/>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98</a:t>
            </a:r>
          </a:p>
        </p:txBody>
      </p:sp>
    </p:spTree>
  </p:cSld>
  <p:clrMapOvr>
    <a:masterClrMapping/>
  </p:clrMapOvr>
  <p:transition xmlns:p14="http://schemas.microsoft.com/office/powerpoint/2010/main" p14:dur="380">
    <p:fade/>
  </p:transition>
</p:sld>
</file>

<file path=ppt/slides/slide10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685800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777240" y="2286000"/>
            <a:ext cx="128016" cy="182880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1143000" y="2331720"/>
            <a:ext cx="10058400" cy="548640"/>
          </a:xfrm>
          <a:prstGeom prst="rect">
            <a:avLst/>
          </a:prstGeom>
          <a:noFill/>
        </p:spPr>
        <p:txBody>
          <a:bodyPr wrap="square" anchor="t">
            <a:spAutoFit/>
          </a:bodyPr>
          <a:lstStyle/>
          <a:p>
            <a:pPr algn="l">
              <a:spcAft>
                <a:spcPts val="400"/>
              </a:spcAft>
            </a:pPr>
            <a:r>
              <a:rPr sz="1800" b="1">
                <a:solidFill>
                  <a:srgbClr val="1F6FEB"/>
                </a:solidFill>
                <a:latin typeface="Arial"/>
              </a:rPr>
              <a:t>DOMAIN 03</a:t>
            </a:r>
          </a:p>
        </p:txBody>
      </p:sp>
      <p:sp>
        <p:nvSpPr>
          <p:cNvPr id="6" name="TextBox 5"/>
          <p:cNvSpPr txBox="1"/>
          <p:nvPr/>
        </p:nvSpPr>
        <p:spPr>
          <a:xfrm>
            <a:off x="1143000" y="2743200"/>
            <a:ext cx="10424160" cy="1463040"/>
          </a:xfrm>
          <a:prstGeom prst="rect">
            <a:avLst/>
          </a:prstGeom>
          <a:noFill/>
        </p:spPr>
        <p:txBody>
          <a:bodyPr wrap="square" anchor="t">
            <a:spAutoFit/>
          </a:bodyPr>
          <a:lstStyle/>
          <a:p>
            <a:pPr algn="l">
              <a:spcAft>
                <a:spcPts val="400"/>
              </a:spcAft>
            </a:pPr>
            <a:r>
              <a:rPr sz="4000" b="1">
                <a:solidFill>
                  <a:srgbClr val="161B26"/>
                </a:solidFill>
                <a:latin typeface="Arial"/>
              </a:rPr>
              <a:t>Resilient Cloud Solutions</a:t>
            </a:r>
          </a:p>
        </p:txBody>
      </p:sp>
      <p:sp>
        <p:nvSpPr>
          <p:cNvPr id="7" name="TextBox 6"/>
          <p:cNvSpPr txBox="1"/>
          <p:nvPr/>
        </p:nvSpPr>
        <p:spPr>
          <a:xfrm>
            <a:off x="1161288" y="4160520"/>
            <a:ext cx="10058400" cy="731520"/>
          </a:xfrm>
          <a:prstGeom prst="rect">
            <a:avLst/>
          </a:prstGeom>
          <a:noFill/>
        </p:spPr>
        <p:txBody>
          <a:bodyPr wrap="square" anchor="t">
            <a:spAutoFit/>
          </a:bodyPr>
          <a:lstStyle/>
          <a:p>
            <a:pPr algn="l">
              <a:spcAft>
                <a:spcPts val="400"/>
              </a:spcAft>
            </a:pPr>
            <a:r>
              <a:rPr sz="1600" b="0">
                <a:solidFill>
                  <a:srgbClr val="5B6372"/>
                </a:solidFill>
                <a:latin typeface="Arial"/>
              </a:rPr>
              <a:t>Exam weighting 15%  ·  High availability · scalability · automated recovery (RTO/RPO)</a:t>
            </a:r>
          </a:p>
        </p:txBody>
      </p:sp>
      <p:sp>
        <p:nvSpPr>
          <p:cNvPr id="8" name="TextBox 7"/>
          <p:cNvSpPr txBox="1"/>
          <p:nvPr/>
        </p:nvSpPr>
        <p:spPr>
          <a:xfrm>
            <a:off x="9144000" y="640080"/>
            <a:ext cx="2560320" cy="1463040"/>
          </a:xfrm>
          <a:prstGeom prst="rect">
            <a:avLst/>
          </a:prstGeom>
          <a:noFill/>
        </p:spPr>
        <p:txBody>
          <a:bodyPr wrap="square" anchor="t">
            <a:spAutoFit/>
          </a:bodyPr>
          <a:lstStyle/>
          <a:p>
            <a:pPr algn="r">
              <a:spcAft>
                <a:spcPts val="400"/>
              </a:spcAft>
            </a:pPr>
            <a:r>
              <a:rPr sz="7200" b="1">
                <a:solidFill>
                  <a:srgbClr val="E2E8F0"/>
                </a:solidFill>
                <a:latin typeface="Arial"/>
              </a:rPr>
              <a:t>03</a:t>
            </a:r>
          </a:p>
        </p:txBody>
      </p:sp>
      <p:sp>
        <p:nvSpPr>
          <p:cNvPr id="9" name="TextBox 8"/>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DevOps Engineering on AWS  ·  TGS-2023040474</a:t>
            </a:r>
          </a:p>
        </p:txBody>
      </p:sp>
      <p:sp>
        <p:nvSpPr>
          <p:cNvPr id="10" name="TextBox 9"/>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1" name="TextBox 10"/>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99</a:t>
            </a:r>
          </a:p>
        </p:txBody>
      </p:sp>
    </p:spTree>
  </p:cSld>
  <p:clrMapOvr>
    <a:masterClrMapping/>
  </p:clrMapOvr>
  <p:transition xmlns:p14="http://schemas.microsoft.com/office/powerpoint/2010/main" p14:dur="380">
    <p:fade/>
  </p:transition>
</p:sld>
</file>

<file path=ppt/slides/slide10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38912"/>
            <a:ext cx="10607040" cy="365760"/>
          </a:xfrm>
          <a:prstGeom prst="rect">
            <a:avLst/>
          </a:prstGeom>
          <a:noFill/>
        </p:spPr>
        <p:txBody>
          <a:bodyPr wrap="square" anchor="t">
            <a:spAutoFit/>
          </a:bodyPr>
          <a:lstStyle/>
          <a:p>
            <a:pPr algn="l">
              <a:spcAft>
                <a:spcPts val="400"/>
              </a:spcAft>
            </a:pPr>
            <a:r>
              <a:rPr sz="1400" b="1">
                <a:solidFill>
                  <a:srgbClr val="10B981"/>
                </a:solidFill>
                <a:latin typeface="Arial"/>
              </a:rPr>
              <a:t>DOMAIN 03 · WEIGHTING 15%</a:t>
            </a:r>
          </a:p>
        </p:txBody>
      </p:sp>
      <p:sp>
        <p:nvSpPr>
          <p:cNvPr id="5" name="TextBox 4"/>
          <p:cNvSpPr txBox="1"/>
          <p:nvPr/>
        </p:nvSpPr>
        <p:spPr>
          <a:xfrm>
            <a:off x="777240" y="804672"/>
            <a:ext cx="10927080" cy="731520"/>
          </a:xfrm>
          <a:prstGeom prst="rect">
            <a:avLst/>
          </a:prstGeom>
          <a:noFill/>
        </p:spPr>
        <p:txBody>
          <a:bodyPr wrap="square" anchor="t">
            <a:spAutoFit/>
          </a:bodyPr>
          <a:lstStyle/>
          <a:p>
            <a:pPr algn="l">
              <a:spcAft>
                <a:spcPts val="400"/>
              </a:spcAft>
            </a:pPr>
            <a:r>
              <a:rPr sz="2900" b="1">
                <a:solidFill>
                  <a:srgbClr val="161B26"/>
                </a:solidFill>
                <a:latin typeface="Arial"/>
              </a:rPr>
              <a:t>Key Concepts — Resilient Cloud Solutions</a:t>
            </a:r>
          </a:p>
        </p:txBody>
      </p:sp>
      <p:sp>
        <p:nvSpPr>
          <p:cNvPr id="6" name="Rectangle 5"/>
          <p:cNvSpPr/>
          <p:nvPr/>
        </p:nvSpPr>
        <p:spPr>
          <a:xfrm>
            <a:off x="777240" y="1572768"/>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783080"/>
            <a:ext cx="5180076" cy="131064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1783080"/>
            <a:ext cx="91440" cy="131064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1033272" y="2164080"/>
            <a:ext cx="548640" cy="548640"/>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033272" y="2164080"/>
            <a:ext cx="548640" cy="548640"/>
          </a:xfrm>
          <a:prstGeom prst="rect">
            <a:avLst/>
          </a:prstGeom>
          <a:noFill/>
        </p:spPr>
        <p:txBody>
          <a:bodyPr wrap="square" anchor="ctr">
            <a:spAutoFit/>
          </a:bodyPr>
          <a:lstStyle/>
          <a:p>
            <a:pPr algn="ctr">
              <a:spcAft>
                <a:spcPts val="400"/>
              </a:spcAft>
            </a:pPr>
            <a:r>
              <a:rPr sz="1800" b="1">
                <a:solidFill>
                  <a:srgbClr val="FFFFFF"/>
                </a:solidFill>
                <a:latin typeface="Arial"/>
              </a:rPr>
              <a:t>1</a:t>
            </a:r>
          </a:p>
        </p:txBody>
      </p:sp>
      <p:sp>
        <p:nvSpPr>
          <p:cNvPr id="11" name="TextBox 10"/>
          <p:cNvSpPr txBox="1"/>
          <p:nvPr/>
        </p:nvSpPr>
        <p:spPr>
          <a:xfrm>
            <a:off x="1764792" y="1892808"/>
            <a:ext cx="3973068" cy="1127760"/>
          </a:xfrm>
          <a:prstGeom prst="rect">
            <a:avLst/>
          </a:prstGeom>
          <a:noFill/>
        </p:spPr>
        <p:txBody>
          <a:bodyPr wrap="square" anchor="ctr">
            <a:spAutoFit/>
          </a:bodyPr>
          <a:lstStyle/>
          <a:p>
            <a:pPr algn="l">
              <a:spcAft>
                <a:spcPts val="300"/>
              </a:spcAft>
            </a:pPr>
            <a:r>
              <a:rPr sz="1550" b="1">
                <a:solidFill>
                  <a:srgbClr val="161B26"/>
                </a:solidFill>
                <a:latin typeface="Arial"/>
              </a:rPr>
              <a:t>High availability</a:t>
            </a:r>
          </a:p>
          <a:p>
            <a:pPr algn="l">
              <a:spcAft>
                <a:spcPts val="300"/>
              </a:spcAft>
            </a:pPr>
            <a:r>
              <a:rPr sz="1150" b="0">
                <a:solidFill>
                  <a:srgbClr val="5B6372"/>
                </a:solidFill>
                <a:latin typeface="Arial"/>
              </a:rPr>
              <a:t>Spread compute across multiple Availability Zones behind an Elastic Load Balancer so one AZ failure is survivable.</a:t>
            </a:r>
          </a:p>
        </p:txBody>
      </p:sp>
      <p:sp>
        <p:nvSpPr>
          <p:cNvPr id="12" name="Rectangle 11"/>
          <p:cNvSpPr/>
          <p:nvPr/>
        </p:nvSpPr>
        <p:spPr>
          <a:xfrm>
            <a:off x="6231636" y="1783080"/>
            <a:ext cx="5180076" cy="131064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6231636" y="1783080"/>
            <a:ext cx="91440" cy="131064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Oval 13"/>
          <p:cNvSpPr/>
          <p:nvPr/>
        </p:nvSpPr>
        <p:spPr>
          <a:xfrm>
            <a:off x="6487668" y="2164080"/>
            <a:ext cx="548640" cy="54864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6487668" y="2164080"/>
            <a:ext cx="548640" cy="548640"/>
          </a:xfrm>
          <a:prstGeom prst="rect">
            <a:avLst/>
          </a:prstGeom>
          <a:noFill/>
        </p:spPr>
        <p:txBody>
          <a:bodyPr wrap="square" anchor="ctr">
            <a:spAutoFit/>
          </a:bodyPr>
          <a:lstStyle/>
          <a:p>
            <a:pPr algn="ctr">
              <a:spcAft>
                <a:spcPts val="400"/>
              </a:spcAft>
            </a:pPr>
            <a:r>
              <a:rPr sz="1800" b="1">
                <a:solidFill>
                  <a:srgbClr val="FFFFFF"/>
                </a:solidFill>
                <a:latin typeface="Arial"/>
              </a:rPr>
              <a:t>2</a:t>
            </a:r>
          </a:p>
        </p:txBody>
      </p:sp>
      <p:sp>
        <p:nvSpPr>
          <p:cNvPr id="16" name="TextBox 15"/>
          <p:cNvSpPr txBox="1"/>
          <p:nvPr/>
        </p:nvSpPr>
        <p:spPr>
          <a:xfrm>
            <a:off x="7219188" y="1892808"/>
            <a:ext cx="3973068" cy="1127760"/>
          </a:xfrm>
          <a:prstGeom prst="rect">
            <a:avLst/>
          </a:prstGeom>
          <a:noFill/>
        </p:spPr>
        <p:txBody>
          <a:bodyPr wrap="square" anchor="ctr">
            <a:spAutoFit/>
          </a:bodyPr>
          <a:lstStyle/>
          <a:p>
            <a:pPr algn="l">
              <a:spcAft>
                <a:spcPts val="300"/>
              </a:spcAft>
            </a:pPr>
            <a:r>
              <a:rPr sz="1550" b="1">
                <a:solidFill>
                  <a:srgbClr val="161B26"/>
                </a:solidFill>
                <a:latin typeface="Arial"/>
              </a:rPr>
              <a:t>Elasticity &amp; Auto Scaling</a:t>
            </a:r>
          </a:p>
          <a:p>
            <a:pPr algn="l">
              <a:spcAft>
                <a:spcPts val="300"/>
              </a:spcAft>
            </a:pPr>
            <a:r>
              <a:rPr sz="1150" b="0">
                <a:solidFill>
                  <a:srgbClr val="5B6372"/>
                </a:solidFill>
                <a:latin typeface="Arial"/>
              </a:rPr>
              <a:t>Auto Scaling groups add and remove capacity on demand using target-tracking and step scaling policies.</a:t>
            </a:r>
          </a:p>
        </p:txBody>
      </p:sp>
      <p:sp>
        <p:nvSpPr>
          <p:cNvPr id="17" name="Rectangle 16"/>
          <p:cNvSpPr/>
          <p:nvPr/>
        </p:nvSpPr>
        <p:spPr>
          <a:xfrm>
            <a:off x="777240" y="3313176"/>
            <a:ext cx="5180076" cy="131064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777240" y="3313176"/>
            <a:ext cx="91440" cy="1310640"/>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Oval 18"/>
          <p:cNvSpPr/>
          <p:nvPr/>
        </p:nvSpPr>
        <p:spPr>
          <a:xfrm>
            <a:off x="1033272" y="3694176"/>
            <a:ext cx="548640" cy="548640"/>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1033272" y="3694176"/>
            <a:ext cx="548640" cy="548640"/>
          </a:xfrm>
          <a:prstGeom prst="rect">
            <a:avLst/>
          </a:prstGeom>
          <a:noFill/>
        </p:spPr>
        <p:txBody>
          <a:bodyPr wrap="square" anchor="ctr">
            <a:spAutoFit/>
          </a:bodyPr>
          <a:lstStyle/>
          <a:p>
            <a:pPr algn="ctr">
              <a:spcAft>
                <a:spcPts val="400"/>
              </a:spcAft>
            </a:pPr>
            <a:r>
              <a:rPr sz="1800" b="1">
                <a:solidFill>
                  <a:srgbClr val="FFFFFF"/>
                </a:solidFill>
                <a:latin typeface="Arial"/>
              </a:rPr>
              <a:t>3</a:t>
            </a:r>
          </a:p>
        </p:txBody>
      </p:sp>
      <p:sp>
        <p:nvSpPr>
          <p:cNvPr id="21" name="TextBox 20"/>
          <p:cNvSpPr txBox="1"/>
          <p:nvPr/>
        </p:nvSpPr>
        <p:spPr>
          <a:xfrm>
            <a:off x="1764792" y="3422904"/>
            <a:ext cx="3973068" cy="1127760"/>
          </a:xfrm>
          <a:prstGeom prst="rect">
            <a:avLst/>
          </a:prstGeom>
          <a:noFill/>
        </p:spPr>
        <p:txBody>
          <a:bodyPr wrap="square" anchor="ctr">
            <a:spAutoFit/>
          </a:bodyPr>
          <a:lstStyle/>
          <a:p>
            <a:pPr algn="l">
              <a:spcAft>
                <a:spcPts val="300"/>
              </a:spcAft>
            </a:pPr>
            <a:r>
              <a:rPr sz="1550" b="1">
                <a:solidFill>
                  <a:srgbClr val="161B26"/>
                </a:solidFill>
                <a:latin typeface="Arial"/>
              </a:rPr>
              <a:t>Decoupling</a:t>
            </a:r>
          </a:p>
          <a:p>
            <a:pPr algn="l">
              <a:spcAft>
                <a:spcPts val="300"/>
              </a:spcAft>
            </a:pPr>
            <a:r>
              <a:rPr sz="1150" b="0">
                <a:solidFill>
                  <a:srgbClr val="5B6372"/>
                </a:solidFill>
                <a:latin typeface="Arial"/>
              </a:rPr>
              <a:t>SQS, SNS and EventBridge decouple producers from consumers so components fail and scale independently.</a:t>
            </a:r>
          </a:p>
        </p:txBody>
      </p:sp>
      <p:sp>
        <p:nvSpPr>
          <p:cNvPr id="22" name="Rectangle 21"/>
          <p:cNvSpPr/>
          <p:nvPr/>
        </p:nvSpPr>
        <p:spPr>
          <a:xfrm>
            <a:off x="6231636" y="3313176"/>
            <a:ext cx="5180076" cy="131064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ectangle 22"/>
          <p:cNvSpPr/>
          <p:nvPr/>
        </p:nvSpPr>
        <p:spPr>
          <a:xfrm>
            <a:off x="6231636" y="3313176"/>
            <a:ext cx="91440" cy="1310640"/>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Oval 23"/>
          <p:cNvSpPr/>
          <p:nvPr/>
        </p:nvSpPr>
        <p:spPr>
          <a:xfrm>
            <a:off x="6487668" y="3694176"/>
            <a:ext cx="548640" cy="548640"/>
          </a:xfrm>
          <a:prstGeom prst="ellipse">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6487668" y="3694176"/>
            <a:ext cx="548640" cy="548640"/>
          </a:xfrm>
          <a:prstGeom prst="rect">
            <a:avLst/>
          </a:prstGeom>
          <a:noFill/>
        </p:spPr>
        <p:txBody>
          <a:bodyPr wrap="square" anchor="ctr">
            <a:spAutoFit/>
          </a:bodyPr>
          <a:lstStyle/>
          <a:p>
            <a:pPr algn="ctr">
              <a:spcAft>
                <a:spcPts val="400"/>
              </a:spcAft>
            </a:pPr>
            <a:r>
              <a:rPr sz="1800" b="1">
                <a:solidFill>
                  <a:srgbClr val="FFFFFF"/>
                </a:solidFill>
                <a:latin typeface="Arial"/>
              </a:rPr>
              <a:t>4</a:t>
            </a:r>
          </a:p>
        </p:txBody>
      </p:sp>
      <p:sp>
        <p:nvSpPr>
          <p:cNvPr id="26" name="TextBox 25"/>
          <p:cNvSpPr txBox="1"/>
          <p:nvPr/>
        </p:nvSpPr>
        <p:spPr>
          <a:xfrm>
            <a:off x="7219188" y="3422904"/>
            <a:ext cx="3973068" cy="1127760"/>
          </a:xfrm>
          <a:prstGeom prst="rect">
            <a:avLst/>
          </a:prstGeom>
          <a:noFill/>
        </p:spPr>
        <p:txBody>
          <a:bodyPr wrap="square" anchor="ctr">
            <a:spAutoFit/>
          </a:bodyPr>
          <a:lstStyle/>
          <a:p>
            <a:pPr algn="l">
              <a:spcAft>
                <a:spcPts val="300"/>
              </a:spcAft>
            </a:pPr>
            <a:r>
              <a:rPr sz="1550" b="1">
                <a:solidFill>
                  <a:srgbClr val="161B26"/>
                </a:solidFill>
                <a:latin typeface="Arial"/>
              </a:rPr>
              <a:t>RTO &amp; RPO</a:t>
            </a:r>
          </a:p>
          <a:p>
            <a:pPr algn="l">
              <a:spcAft>
                <a:spcPts val="300"/>
              </a:spcAft>
            </a:pPr>
            <a:r>
              <a:rPr sz="1150" b="0">
                <a:solidFill>
                  <a:srgbClr val="5B6372"/>
                </a:solidFill>
                <a:latin typeface="Arial"/>
              </a:rPr>
              <a:t>Recovery Time / Point Objectives drive the DR pattern: backup &amp; restore, pilot light, warm standby or multi-site active/active.</a:t>
            </a:r>
          </a:p>
        </p:txBody>
      </p:sp>
      <p:sp>
        <p:nvSpPr>
          <p:cNvPr id="27" name="Rectangle 26"/>
          <p:cNvSpPr/>
          <p:nvPr/>
        </p:nvSpPr>
        <p:spPr>
          <a:xfrm>
            <a:off x="777240" y="4843272"/>
            <a:ext cx="5180076" cy="131064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Rectangle 27"/>
          <p:cNvSpPr/>
          <p:nvPr/>
        </p:nvSpPr>
        <p:spPr>
          <a:xfrm>
            <a:off x="777240" y="4843272"/>
            <a:ext cx="91440" cy="1310640"/>
          </a:xfrm>
          <a:prstGeom prst="rect">
            <a:avLst/>
          </a:prstGeom>
          <a:solidFill>
            <a:srgbClr val="EC711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Oval 28"/>
          <p:cNvSpPr/>
          <p:nvPr/>
        </p:nvSpPr>
        <p:spPr>
          <a:xfrm>
            <a:off x="1033272" y="5224272"/>
            <a:ext cx="548640" cy="548640"/>
          </a:xfrm>
          <a:prstGeom prst="ellipse">
            <a:avLst/>
          </a:prstGeom>
          <a:solidFill>
            <a:srgbClr val="EC711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1033272" y="5224272"/>
            <a:ext cx="548640" cy="548640"/>
          </a:xfrm>
          <a:prstGeom prst="rect">
            <a:avLst/>
          </a:prstGeom>
          <a:noFill/>
        </p:spPr>
        <p:txBody>
          <a:bodyPr wrap="square" anchor="ctr">
            <a:spAutoFit/>
          </a:bodyPr>
          <a:lstStyle/>
          <a:p>
            <a:pPr algn="ctr">
              <a:spcAft>
                <a:spcPts val="400"/>
              </a:spcAft>
            </a:pPr>
            <a:r>
              <a:rPr sz="1800" b="1">
                <a:solidFill>
                  <a:srgbClr val="FFFFFF"/>
                </a:solidFill>
                <a:latin typeface="Arial"/>
              </a:rPr>
              <a:t>5</a:t>
            </a:r>
          </a:p>
        </p:txBody>
      </p:sp>
      <p:sp>
        <p:nvSpPr>
          <p:cNvPr id="31" name="TextBox 30"/>
          <p:cNvSpPr txBox="1"/>
          <p:nvPr/>
        </p:nvSpPr>
        <p:spPr>
          <a:xfrm>
            <a:off x="1764792" y="4953000"/>
            <a:ext cx="3973068" cy="1127760"/>
          </a:xfrm>
          <a:prstGeom prst="rect">
            <a:avLst/>
          </a:prstGeom>
          <a:noFill/>
        </p:spPr>
        <p:txBody>
          <a:bodyPr wrap="square" anchor="ctr">
            <a:spAutoFit/>
          </a:bodyPr>
          <a:lstStyle/>
          <a:p>
            <a:pPr algn="l">
              <a:spcAft>
                <a:spcPts val="300"/>
              </a:spcAft>
            </a:pPr>
            <a:r>
              <a:rPr sz="1550" b="1">
                <a:solidFill>
                  <a:srgbClr val="161B26"/>
                </a:solidFill>
                <a:latin typeface="Arial"/>
              </a:rPr>
              <a:t>Data durability</a:t>
            </a:r>
          </a:p>
          <a:p>
            <a:pPr algn="l">
              <a:spcAft>
                <a:spcPts val="300"/>
              </a:spcAft>
            </a:pPr>
            <a:r>
              <a:rPr sz="1150" b="0">
                <a:solidFill>
                  <a:srgbClr val="5B6372"/>
                </a:solidFill>
                <a:latin typeface="Arial"/>
              </a:rPr>
              <a:t>Multi-AZ RDS, DynamoDB global tables, S3 cross-Region replication and automated snapshots protect state.</a:t>
            </a:r>
          </a:p>
        </p:txBody>
      </p:sp>
      <p:sp>
        <p:nvSpPr>
          <p:cNvPr id="32" name="Rectangle 31"/>
          <p:cNvSpPr/>
          <p:nvPr/>
        </p:nvSpPr>
        <p:spPr>
          <a:xfrm>
            <a:off x="6231636" y="4843272"/>
            <a:ext cx="5180076" cy="131064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Rectangle 32"/>
          <p:cNvSpPr/>
          <p:nvPr/>
        </p:nvSpPr>
        <p:spPr>
          <a:xfrm>
            <a:off x="6231636" y="4843272"/>
            <a:ext cx="91440" cy="1310640"/>
          </a:xfrm>
          <a:prstGeom prst="rect">
            <a:avLst/>
          </a:prstGeom>
          <a:solidFill>
            <a:srgbClr val="0E9EC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Oval 33"/>
          <p:cNvSpPr/>
          <p:nvPr/>
        </p:nvSpPr>
        <p:spPr>
          <a:xfrm>
            <a:off x="6487668" y="5224272"/>
            <a:ext cx="548640" cy="548640"/>
          </a:xfrm>
          <a:prstGeom prst="ellipse">
            <a:avLst/>
          </a:prstGeom>
          <a:solidFill>
            <a:srgbClr val="0E9EC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TextBox 34"/>
          <p:cNvSpPr txBox="1"/>
          <p:nvPr/>
        </p:nvSpPr>
        <p:spPr>
          <a:xfrm>
            <a:off x="6487668" y="5224272"/>
            <a:ext cx="548640" cy="548640"/>
          </a:xfrm>
          <a:prstGeom prst="rect">
            <a:avLst/>
          </a:prstGeom>
          <a:noFill/>
        </p:spPr>
        <p:txBody>
          <a:bodyPr wrap="square" anchor="ctr">
            <a:spAutoFit/>
          </a:bodyPr>
          <a:lstStyle/>
          <a:p>
            <a:pPr algn="ctr">
              <a:spcAft>
                <a:spcPts val="400"/>
              </a:spcAft>
            </a:pPr>
            <a:r>
              <a:rPr sz="1800" b="1">
                <a:solidFill>
                  <a:srgbClr val="FFFFFF"/>
                </a:solidFill>
                <a:latin typeface="Arial"/>
              </a:rPr>
              <a:t>6</a:t>
            </a:r>
          </a:p>
        </p:txBody>
      </p:sp>
      <p:sp>
        <p:nvSpPr>
          <p:cNvPr id="36" name="TextBox 35"/>
          <p:cNvSpPr txBox="1"/>
          <p:nvPr/>
        </p:nvSpPr>
        <p:spPr>
          <a:xfrm>
            <a:off x="7219188" y="4953000"/>
            <a:ext cx="3973068" cy="1127760"/>
          </a:xfrm>
          <a:prstGeom prst="rect">
            <a:avLst/>
          </a:prstGeom>
          <a:noFill/>
        </p:spPr>
        <p:txBody>
          <a:bodyPr wrap="square" anchor="ctr">
            <a:spAutoFit/>
          </a:bodyPr>
          <a:lstStyle/>
          <a:p>
            <a:pPr algn="l">
              <a:spcAft>
                <a:spcPts val="300"/>
              </a:spcAft>
            </a:pPr>
            <a:r>
              <a:rPr sz="1550" b="1">
                <a:solidFill>
                  <a:srgbClr val="161B26"/>
                </a:solidFill>
                <a:latin typeface="Arial"/>
              </a:rPr>
              <a:t>Automated recovery</a:t>
            </a:r>
          </a:p>
          <a:p>
            <a:pPr algn="l">
              <a:spcAft>
                <a:spcPts val="300"/>
              </a:spcAft>
            </a:pPr>
            <a:r>
              <a:rPr sz="1150" b="0">
                <a:solidFill>
                  <a:srgbClr val="5B6372"/>
                </a:solidFill>
                <a:latin typeface="Arial"/>
              </a:rPr>
              <a:t>EC2 auto-recovery, ASG health checks and Route 53 health-check failover restore service without human action.</a:t>
            </a:r>
          </a:p>
        </p:txBody>
      </p:sp>
      <p:sp>
        <p:nvSpPr>
          <p:cNvPr id="37" name="TextBox 36"/>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DevOps Engineering on AWS  ·  TGS-2023040474</a:t>
            </a:r>
          </a:p>
        </p:txBody>
      </p:sp>
      <p:sp>
        <p:nvSpPr>
          <p:cNvPr id="38" name="TextBox 37"/>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39" name="TextBox 38"/>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100</a:t>
            </a:r>
          </a:p>
        </p:txBody>
      </p:sp>
    </p:spTree>
  </p:cSld>
  <p:clrMapOvr>
    <a:masterClrMapping/>
  </p:clrMapOvr>
  <p:transition xmlns:p14="http://schemas.microsoft.com/office/powerpoint/2010/main" p14:dur="380">
    <p:fade/>
  </p:transition>
</p:sld>
</file>

<file path=ppt/slides/slide10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38912"/>
            <a:ext cx="10607040" cy="365760"/>
          </a:xfrm>
          <a:prstGeom prst="rect">
            <a:avLst/>
          </a:prstGeom>
          <a:noFill/>
        </p:spPr>
        <p:txBody>
          <a:bodyPr wrap="square" anchor="t">
            <a:spAutoFit/>
          </a:bodyPr>
          <a:lstStyle/>
          <a:p>
            <a:pPr algn="l">
              <a:spcAft>
                <a:spcPts val="400"/>
              </a:spcAft>
            </a:pPr>
            <a:r>
              <a:rPr sz="1400" b="1">
                <a:solidFill>
                  <a:srgbClr val="10B981"/>
                </a:solidFill>
                <a:latin typeface="Arial"/>
              </a:rPr>
              <a:t>DOMAIN 03 · RESILIENCE</a:t>
            </a:r>
          </a:p>
        </p:txBody>
      </p:sp>
      <p:sp>
        <p:nvSpPr>
          <p:cNvPr id="5" name="TextBox 4"/>
          <p:cNvSpPr txBox="1"/>
          <p:nvPr/>
        </p:nvSpPr>
        <p:spPr>
          <a:xfrm>
            <a:off x="777240" y="896112"/>
            <a:ext cx="10927080" cy="731520"/>
          </a:xfrm>
          <a:prstGeom prst="rect">
            <a:avLst/>
          </a:prstGeom>
          <a:noFill/>
        </p:spPr>
        <p:txBody>
          <a:bodyPr wrap="square" anchor="t">
            <a:spAutoFit/>
          </a:bodyPr>
          <a:lstStyle/>
          <a:p>
            <a:pPr algn="l">
              <a:spcAft>
                <a:spcPts val="400"/>
              </a:spcAft>
            </a:pPr>
            <a:r>
              <a:rPr sz="2500" b="1">
                <a:solidFill>
                  <a:srgbClr val="161B26"/>
                </a:solidFill>
                <a:latin typeface="Arial"/>
              </a:rPr>
              <a:t>Highly Available, Auto-Scaling Architecture</a:t>
            </a:r>
          </a:p>
        </p:txBody>
      </p:sp>
      <p:sp>
        <p:nvSpPr>
          <p:cNvPr id="6" name="Rectangle 5"/>
          <p:cNvSpPr/>
          <p:nvPr/>
        </p:nvSpPr>
        <p:spPr>
          <a:xfrm>
            <a:off x="777240" y="1572768"/>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ounded Rectangle 6"/>
          <p:cNvSpPr/>
          <p:nvPr/>
        </p:nvSpPr>
        <p:spPr>
          <a:xfrm>
            <a:off x="777240" y="1965960"/>
            <a:ext cx="1828800" cy="1051560"/>
          </a:xfrm>
          <a:prstGeom prst="roundRect">
            <a:avLst/>
          </a:prstGeom>
          <a:solidFill>
            <a:srgbClr val="F5F8FC"/>
          </a:solidFill>
          <a:ln w="15875">
            <a:solidFill>
              <a:srgbClr val="5B637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1965960"/>
            <a:ext cx="1828800" cy="82296"/>
          </a:xfrm>
          <a:prstGeom prst="rect">
            <a:avLst/>
          </a:prstGeom>
          <a:solidFill>
            <a:srgbClr val="5B637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868680" y="2075688"/>
            <a:ext cx="1645920" cy="868680"/>
          </a:xfrm>
          <a:prstGeom prst="rect">
            <a:avLst/>
          </a:prstGeom>
          <a:noFill/>
        </p:spPr>
        <p:txBody>
          <a:bodyPr wrap="square" anchor="ctr">
            <a:spAutoFit/>
          </a:bodyPr>
          <a:lstStyle/>
          <a:p>
            <a:pPr algn="ctr">
              <a:spcAft>
                <a:spcPts val="400"/>
              </a:spcAft>
            </a:pPr>
            <a:r>
              <a:rPr sz="1200" b="1">
                <a:solidFill>
                  <a:srgbClr val="161B26"/>
                </a:solidFill>
                <a:latin typeface="Arial"/>
              </a:rPr>
              <a:t>Users</a:t>
            </a:r>
          </a:p>
        </p:txBody>
      </p:sp>
      <p:sp>
        <p:nvSpPr>
          <p:cNvPr id="10" name="Rounded Rectangle 9"/>
          <p:cNvSpPr/>
          <p:nvPr/>
        </p:nvSpPr>
        <p:spPr>
          <a:xfrm>
            <a:off x="2971800" y="1965960"/>
            <a:ext cx="1828800" cy="1051560"/>
          </a:xfrm>
          <a:prstGeom prst="roundRect">
            <a:avLst/>
          </a:prstGeom>
          <a:solidFill>
            <a:srgbClr val="F5F8FC"/>
          </a:solidFill>
          <a:ln w="15875">
            <a:solidFill>
              <a:srgbClr val="1F6FE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ectangle 10"/>
          <p:cNvSpPr/>
          <p:nvPr/>
        </p:nvSpPr>
        <p:spPr>
          <a:xfrm>
            <a:off x="2971800" y="1965960"/>
            <a:ext cx="1828800" cy="82296"/>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3063240" y="2075688"/>
            <a:ext cx="1645920" cy="868680"/>
          </a:xfrm>
          <a:prstGeom prst="rect">
            <a:avLst/>
          </a:prstGeom>
          <a:noFill/>
        </p:spPr>
        <p:txBody>
          <a:bodyPr wrap="square" anchor="ctr">
            <a:spAutoFit/>
          </a:bodyPr>
          <a:lstStyle/>
          <a:p>
            <a:pPr algn="ctr">
              <a:spcAft>
                <a:spcPts val="400"/>
              </a:spcAft>
            </a:pPr>
            <a:r>
              <a:rPr sz="1200" b="1">
                <a:solidFill>
                  <a:srgbClr val="161B26"/>
                </a:solidFill>
                <a:latin typeface="Arial"/>
              </a:rPr>
              <a:t>Route 53
DNS + health checks</a:t>
            </a:r>
          </a:p>
        </p:txBody>
      </p:sp>
      <p:sp>
        <p:nvSpPr>
          <p:cNvPr id="13" name="Rounded Rectangle 12"/>
          <p:cNvSpPr/>
          <p:nvPr/>
        </p:nvSpPr>
        <p:spPr>
          <a:xfrm>
            <a:off x="5166360" y="1965960"/>
            <a:ext cx="1828800" cy="1051560"/>
          </a:xfrm>
          <a:prstGeom prst="roundRect">
            <a:avLst/>
          </a:prstGeom>
          <a:solidFill>
            <a:srgbClr val="F5F8FC"/>
          </a:solidFill>
          <a:ln w="15875">
            <a:solidFill>
              <a:srgbClr val="1F6FE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ectangle 13"/>
          <p:cNvSpPr/>
          <p:nvPr/>
        </p:nvSpPr>
        <p:spPr>
          <a:xfrm>
            <a:off x="5166360" y="1965960"/>
            <a:ext cx="1828800" cy="82296"/>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5257800" y="2075688"/>
            <a:ext cx="1645920" cy="868680"/>
          </a:xfrm>
          <a:prstGeom prst="rect">
            <a:avLst/>
          </a:prstGeom>
          <a:noFill/>
        </p:spPr>
        <p:txBody>
          <a:bodyPr wrap="square" anchor="ctr">
            <a:spAutoFit/>
          </a:bodyPr>
          <a:lstStyle/>
          <a:p>
            <a:pPr algn="ctr">
              <a:spcAft>
                <a:spcPts val="400"/>
              </a:spcAft>
            </a:pPr>
            <a:r>
              <a:rPr sz="1200" b="1">
                <a:solidFill>
                  <a:srgbClr val="161B26"/>
                </a:solidFill>
                <a:latin typeface="Arial"/>
              </a:rPr>
              <a:t>Application
Load Balancer</a:t>
            </a:r>
          </a:p>
        </p:txBody>
      </p:sp>
      <p:sp>
        <p:nvSpPr>
          <p:cNvPr id="16" name="Rounded Rectangle 15"/>
          <p:cNvSpPr/>
          <p:nvPr/>
        </p:nvSpPr>
        <p:spPr>
          <a:xfrm>
            <a:off x="7360920" y="1965960"/>
            <a:ext cx="1828800" cy="1051560"/>
          </a:xfrm>
          <a:prstGeom prst="roundRect">
            <a:avLst/>
          </a:prstGeom>
          <a:solidFill>
            <a:srgbClr val="F5F8FC"/>
          </a:solidFill>
          <a:ln w="15875">
            <a:solidFill>
              <a:srgbClr val="10B98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ectangle 16"/>
          <p:cNvSpPr/>
          <p:nvPr/>
        </p:nvSpPr>
        <p:spPr>
          <a:xfrm>
            <a:off x="7360920" y="1965960"/>
            <a:ext cx="1828800" cy="82296"/>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7452360" y="2075688"/>
            <a:ext cx="1645920" cy="868680"/>
          </a:xfrm>
          <a:prstGeom prst="rect">
            <a:avLst/>
          </a:prstGeom>
          <a:noFill/>
        </p:spPr>
        <p:txBody>
          <a:bodyPr wrap="square" anchor="ctr">
            <a:spAutoFit/>
          </a:bodyPr>
          <a:lstStyle/>
          <a:p>
            <a:pPr algn="ctr">
              <a:spcAft>
                <a:spcPts val="400"/>
              </a:spcAft>
            </a:pPr>
            <a:r>
              <a:rPr sz="1200" b="1">
                <a:solidFill>
                  <a:srgbClr val="161B26"/>
                </a:solidFill>
                <a:latin typeface="Arial"/>
              </a:rPr>
              <a:t>AZ-A
EC2 (ASG)</a:t>
            </a:r>
          </a:p>
        </p:txBody>
      </p:sp>
      <p:sp>
        <p:nvSpPr>
          <p:cNvPr id="19" name="Rounded Rectangle 18"/>
          <p:cNvSpPr/>
          <p:nvPr/>
        </p:nvSpPr>
        <p:spPr>
          <a:xfrm>
            <a:off x="7360920" y="3657600"/>
            <a:ext cx="1828800" cy="1051560"/>
          </a:xfrm>
          <a:prstGeom prst="roundRect">
            <a:avLst/>
          </a:prstGeom>
          <a:solidFill>
            <a:srgbClr val="F5F8FC"/>
          </a:solidFill>
          <a:ln w="15875">
            <a:solidFill>
              <a:srgbClr val="10B98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Rectangle 19"/>
          <p:cNvSpPr/>
          <p:nvPr/>
        </p:nvSpPr>
        <p:spPr>
          <a:xfrm>
            <a:off x="7360920" y="3657600"/>
            <a:ext cx="1828800" cy="82296"/>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7452360" y="3767328"/>
            <a:ext cx="1645920" cy="868680"/>
          </a:xfrm>
          <a:prstGeom prst="rect">
            <a:avLst/>
          </a:prstGeom>
          <a:noFill/>
        </p:spPr>
        <p:txBody>
          <a:bodyPr wrap="square" anchor="ctr">
            <a:spAutoFit/>
          </a:bodyPr>
          <a:lstStyle/>
          <a:p>
            <a:pPr algn="ctr">
              <a:spcAft>
                <a:spcPts val="400"/>
              </a:spcAft>
            </a:pPr>
            <a:r>
              <a:rPr sz="1200" b="1">
                <a:solidFill>
                  <a:srgbClr val="161B26"/>
                </a:solidFill>
                <a:latin typeface="Arial"/>
              </a:rPr>
              <a:t>AZ-B
EC2 (ASG)</a:t>
            </a:r>
          </a:p>
        </p:txBody>
      </p:sp>
      <p:sp>
        <p:nvSpPr>
          <p:cNvPr id="22" name="Rounded Rectangle 21"/>
          <p:cNvSpPr/>
          <p:nvPr/>
        </p:nvSpPr>
        <p:spPr>
          <a:xfrm>
            <a:off x="9555480" y="1965960"/>
            <a:ext cx="1828800" cy="1051560"/>
          </a:xfrm>
          <a:prstGeom prst="roundRect">
            <a:avLst/>
          </a:prstGeom>
          <a:solidFill>
            <a:srgbClr val="F5F8FC"/>
          </a:solidFill>
          <a:ln w="15875">
            <a:solidFill>
              <a:srgbClr val="7C3AED"/>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ectangle 22"/>
          <p:cNvSpPr/>
          <p:nvPr/>
        </p:nvSpPr>
        <p:spPr>
          <a:xfrm>
            <a:off x="9555480" y="1965960"/>
            <a:ext cx="1828800" cy="82296"/>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9646920" y="2075688"/>
            <a:ext cx="1645920" cy="868680"/>
          </a:xfrm>
          <a:prstGeom prst="rect">
            <a:avLst/>
          </a:prstGeom>
          <a:noFill/>
        </p:spPr>
        <p:txBody>
          <a:bodyPr wrap="square" anchor="ctr">
            <a:spAutoFit/>
          </a:bodyPr>
          <a:lstStyle/>
          <a:p>
            <a:pPr algn="ctr">
              <a:spcAft>
                <a:spcPts val="400"/>
              </a:spcAft>
            </a:pPr>
            <a:r>
              <a:rPr sz="1200" b="1">
                <a:solidFill>
                  <a:srgbClr val="161B26"/>
                </a:solidFill>
                <a:latin typeface="Arial"/>
              </a:rPr>
              <a:t>Multi-AZ RDS</a:t>
            </a:r>
          </a:p>
        </p:txBody>
      </p:sp>
      <p:cxnSp>
        <p:nvCxnSpPr>
          <p:cNvPr id="25" name="Connector 24"/>
          <p:cNvCxnSpPr/>
          <p:nvPr/>
        </p:nvCxnSpPr>
        <p:spPr>
          <a:xfrm>
            <a:off x="2606040" y="2491740"/>
            <a:ext cx="365760" cy="0"/>
          </a:xfrm>
          <a:prstGeom prst="line">
            <a:avLst/>
          </a:prstGeom>
          <a:ln w="22225">
            <a:solidFill>
              <a:srgbClr val="5B6372"/>
            </a:solidFill>
            <a:tailEnd type="triangle" w="med" len="med"/>
          </a:ln>
          <a:effectLst/>
        </p:spPr>
        <p:style>
          <a:lnRef idx="2">
            <a:schemeClr val="accent1"/>
          </a:lnRef>
          <a:fillRef idx="0">
            <a:schemeClr val="accent1"/>
          </a:fillRef>
          <a:effectRef idx="1">
            <a:schemeClr val="accent1"/>
          </a:effectRef>
          <a:fontRef idx="minor">
            <a:schemeClr val="tx1"/>
          </a:fontRef>
        </p:style>
      </p:cxnSp>
      <p:cxnSp>
        <p:nvCxnSpPr>
          <p:cNvPr id="26" name="Connector 25"/>
          <p:cNvCxnSpPr/>
          <p:nvPr/>
        </p:nvCxnSpPr>
        <p:spPr>
          <a:xfrm>
            <a:off x="4800600" y="2491740"/>
            <a:ext cx="365760" cy="0"/>
          </a:xfrm>
          <a:prstGeom prst="line">
            <a:avLst/>
          </a:prstGeom>
          <a:ln w="22225">
            <a:solidFill>
              <a:srgbClr val="5B6372"/>
            </a:solidFill>
            <a:tailEnd type="triangle" w="med" len="med"/>
          </a:ln>
          <a:effectLst/>
        </p:spPr>
        <p:style>
          <a:lnRef idx="2">
            <a:schemeClr val="accent1"/>
          </a:lnRef>
          <a:fillRef idx="0">
            <a:schemeClr val="accent1"/>
          </a:fillRef>
          <a:effectRef idx="1">
            <a:schemeClr val="accent1"/>
          </a:effectRef>
          <a:fontRef idx="minor">
            <a:schemeClr val="tx1"/>
          </a:fontRef>
        </p:style>
      </p:cxnSp>
      <p:cxnSp>
        <p:nvCxnSpPr>
          <p:cNvPr id="27" name="Connector 26"/>
          <p:cNvCxnSpPr/>
          <p:nvPr/>
        </p:nvCxnSpPr>
        <p:spPr>
          <a:xfrm>
            <a:off x="6995160" y="2491740"/>
            <a:ext cx="365760" cy="0"/>
          </a:xfrm>
          <a:prstGeom prst="line">
            <a:avLst/>
          </a:prstGeom>
          <a:ln w="22225">
            <a:solidFill>
              <a:srgbClr val="5B6372"/>
            </a:solidFill>
            <a:tailEnd type="triangle" w="med" len="med"/>
          </a:ln>
          <a:effectLst/>
        </p:spPr>
        <p:style>
          <a:lnRef idx="2">
            <a:schemeClr val="accent1"/>
          </a:lnRef>
          <a:fillRef idx="0">
            <a:schemeClr val="accent1"/>
          </a:fillRef>
          <a:effectRef idx="1">
            <a:schemeClr val="accent1"/>
          </a:effectRef>
          <a:fontRef idx="minor">
            <a:schemeClr val="tx1"/>
          </a:fontRef>
        </p:style>
      </p:cxnSp>
      <p:cxnSp>
        <p:nvCxnSpPr>
          <p:cNvPr id="28" name="Connector 27"/>
          <p:cNvCxnSpPr/>
          <p:nvPr/>
        </p:nvCxnSpPr>
        <p:spPr>
          <a:xfrm>
            <a:off x="6995160" y="2491740"/>
            <a:ext cx="365760" cy="1691640"/>
          </a:xfrm>
          <a:prstGeom prst="line">
            <a:avLst/>
          </a:prstGeom>
          <a:ln w="22225">
            <a:solidFill>
              <a:srgbClr val="5B6372"/>
            </a:solidFill>
            <a:tailEnd type="triangle" w="med" len="med"/>
          </a:ln>
          <a:effectLst/>
        </p:spPr>
        <p:style>
          <a:lnRef idx="2">
            <a:schemeClr val="accent1"/>
          </a:lnRef>
          <a:fillRef idx="0">
            <a:schemeClr val="accent1"/>
          </a:fillRef>
          <a:effectRef idx="1">
            <a:schemeClr val="accent1"/>
          </a:effectRef>
          <a:fontRef idx="minor">
            <a:schemeClr val="tx1"/>
          </a:fontRef>
        </p:style>
      </p:cxnSp>
      <p:cxnSp>
        <p:nvCxnSpPr>
          <p:cNvPr id="29" name="Connector 28"/>
          <p:cNvCxnSpPr/>
          <p:nvPr/>
        </p:nvCxnSpPr>
        <p:spPr>
          <a:xfrm>
            <a:off x="9189720" y="2491740"/>
            <a:ext cx="365760" cy="0"/>
          </a:xfrm>
          <a:prstGeom prst="line">
            <a:avLst/>
          </a:prstGeom>
          <a:ln w="22225">
            <a:solidFill>
              <a:srgbClr val="5B6372"/>
            </a:solidFill>
            <a:tailEnd type="triangle" w="med" len="med"/>
          </a:ln>
          <a:effectLst/>
        </p:spPr>
        <p:style>
          <a:lnRef idx="2">
            <a:schemeClr val="accent1"/>
          </a:lnRef>
          <a:fillRef idx="0">
            <a:schemeClr val="accent1"/>
          </a:fillRef>
          <a:effectRef idx="1">
            <a:schemeClr val="accent1"/>
          </a:effectRef>
          <a:fontRef idx="minor">
            <a:schemeClr val="tx1"/>
          </a:fontRef>
        </p:style>
      </p:cxnSp>
      <p:cxnSp>
        <p:nvCxnSpPr>
          <p:cNvPr id="30" name="Connector 29"/>
          <p:cNvCxnSpPr/>
          <p:nvPr/>
        </p:nvCxnSpPr>
        <p:spPr>
          <a:xfrm flipV="1">
            <a:off x="9189720" y="2491740"/>
            <a:ext cx="365760" cy="1691640"/>
          </a:xfrm>
          <a:prstGeom prst="line">
            <a:avLst/>
          </a:prstGeom>
          <a:ln w="22225">
            <a:solidFill>
              <a:srgbClr val="5B6372"/>
            </a:solidFill>
            <a:tailEnd type="triangle" w="med" len="med"/>
          </a:ln>
          <a:effectLst/>
        </p:spPr>
        <p:style>
          <a:lnRef idx="2">
            <a:schemeClr val="accent1"/>
          </a:lnRef>
          <a:fillRef idx="0">
            <a:schemeClr val="accent1"/>
          </a:fillRef>
          <a:effectRef idx="1">
            <a:schemeClr val="accent1"/>
          </a:effectRef>
          <a:fontRef idx="minor">
            <a:schemeClr val="tx1"/>
          </a:fontRef>
        </p:style>
      </p:cxnSp>
      <p:sp>
        <p:nvSpPr>
          <p:cNvPr id="31" name="Rectangle 30"/>
          <p:cNvSpPr/>
          <p:nvPr/>
        </p:nvSpPr>
        <p:spPr>
          <a:xfrm>
            <a:off x="777240" y="5669280"/>
            <a:ext cx="10634472" cy="54864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TextBox 31"/>
          <p:cNvSpPr txBox="1"/>
          <p:nvPr/>
        </p:nvSpPr>
        <p:spPr>
          <a:xfrm>
            <a:off x="1005840" y="5742432"/>
            <a:ext cx="10241280" cy="411480"/>
          </a:xfrm>
          <a:prstGeom prst="rect">
            <a:avLst/>
          </a:prstGeom>
          <a:noFill/>
        </p:spPr>
        <p:txBody>
          <a:bodyPr wrap="square" anchor="ctr">
            <a:spAutoFit/>
          </a:bodyPr>
          <a:lstStyle/>
          <a:p>
            <a:pPr algn="l">
              <a:spcAft>
                <a:spcPts val="400"/>
              </a:spcAft>
            </a:pPr>
            <a:r>
              <a:rPr sz="1300" b="1">
                <a:solidFill>
                  <a:srgbClr val="10B981"/>
                </a:solidFill>
                <a:latin typeface="Arial"/>
              </a:rPr>
              <a:t>▶  </a:t>
            </a:r>
            <a:r>
              <a:rPr sz="1300" b="0">
                <a:solidFill>
                  <a:srgbClr val="161B26"/>
                </a:solidFill>
                <a:latin typeface="Arial"/>
              </a:rPr>
              <a:t>Traffic spreads across two AZs behind the ALB; the Auto Scaling group self-heals and Multi-AZ RDS protects data.</a:t>
            </a:r>
          </a:p>
        </p:txBody>
      </p:sp>
      <p:sp>
        <p:nvSpPr>
          <p:cNvPr id="33" name="TextBox 32"/>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DevOps Engineering on AWS  ·  TGS-2023040474</a:t>
            </a:r>
          </a:p>
        </p:txBody>
      </p:sp>
      <p:sp>
        <p:nvSpPr>
          <p:cNvPr id="34" name="TextBox 33"/>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35" name="TextBox 34"/>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101</a:t>
            </a:r>
          </a:p>
        </p:txBody>
      </p:sp>
    </p:spTree>
  </p:cSld>
  <p:clrMapOvr>
    <a:masterClrMapping/>
  </p:clrMapOvr>
  <p:transition xmlns:p14="http://schemas.microsoft.com/office/powerpoint/2010/main" p14:dur="380">
    <p:fade/>
  </p:transition>
</p:sld>
</file>

<file path=ppt/slides/slide10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38912"/>
            <a:ext cx="10607040" cy="365760"/>
          </a:xfrm>
          <a:prstGeom prst="rect">
            <a:avLst/>
          </a:prstGeom>
          <a:noFill/>
        </p:spPr>
        <p:txBody>
          <a:bodyPr wrap="square" anchor="t">
            <a:spAutoFit/>
          </a:bodyPr>
          <a:lstStyle/>
          <a:p>
            <a:pPr algn="l">
              <a:spcAft>
                <a:spcPts val="400"/>
              </a:spcAft>
            </a:pPr>
            <a:r>
              <a:rPr sz="1400" b="1">
                <a:solidFill>
                  <a:srgbClr val="10B981"/>
                </a:solidFill>
                <a:latin typeface="Arial"/>
              </a:rPr>
              <a:t>MEETING RTO / RPO</a:t>
            </a:r>
          </a:p>
        </p:txBody>
      </p:sp>
      <p:sp>
        <p:nvSpPr>
          <p:cNvPr id="5" name="TextBox 4"/>
          <p:cNvSpPr txBox="1"/>
          <p:nvPr/>
        </p:nvSpPr>
        <p:spPr>
          <a:xfrm>
            <a:off x="777240" y="804672"/>
            <a:ext cx="10927080" cy="731520"/>
          </a:xfrm>
          <a:prstGeom prst="rect">
            <a:avLst/>
          </a:prstGeom>
          <a:noFill/>
        </p:spPr>
        <p:txBody>
          <a:bodyPr wrap="square" anchor="t">
            <a:spAutoFit/>
          </a:bodyPr>
          <a:lstStyle/>
          <a:p>
            <a:pPr algn="l">
              <a:spcAft>
                <a:spcPts val="400"/>
              </a:spcAft>
            </a:pPr>
            <a:r>
              <a:rPr sz="2900" b="1">
                <a:solidFill>
                  <a:srgbClr val="161B26"/>
                </a:solidFill>
                <a:latin typeface="Arial"/>
              </a:rPr>
              <a:t>Disaster Recovery Strategies</a:t>
            </a:r>
          </a:p>
        </p:txBody>
      </p:sp>
      <p:sp>
        <p:nvSpPr>
          <p:cNvPr id="6" name="Rectangle 5"/>
          <p:cNvSpPr/>
          <p:nvPr/>
        </p:nvSpPr>
        <p:spPr>
          <a:xfrm>
            <a:off x="777240" y="1572768"/>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783080"/>
            <a:ext cx="3615720" cy="5029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886968" y="1783080"/>
            <a:ext cx="3432840" cy="502920"/>
          </a:xfrm>
          <a:prstGeom prst="rect">
            <a:avLst/>
          </a:prstGeom>
          <a:noFill/>
        </p:spPr>
        <p:txBody>
          <a:bodyPr wrap="square" anchor="ctr">
            <a:spAutoFit/>
          </a:bodyPr>
          <a:lstStyle/>
          <a:p>
            <a:pPr algn="l">
              <a:spcAft>
                <a:spcPts val="400"/>
              </a:spcAft>
            </a:pPr>
            <a:r>
              <a:rPr sz="1400" b="1">
                <a:solidFill>
                  <a:srgbClr val="FFFFFF"/>
                </a:solidFill>
                <a:latin typeface="Arial"/>
              </a:rPr>
              <a:t>Pattern</a:t>
            </a:r>
          </a:p>
        </p:txBody>
      </p:sp>
      <p:sp>
        <p:nvSpPr>
          <p:cNvPr id="9" name="Rectangle 8"/>
          <p:cNvSpPr/>
          <p:nvPr/>
        </p:nvSpPr>
        <p:spPr>
          <a:xfrm>
            <a:off x="4392960" y="1783080"/>
            <a:ext cx="2339583" cy="5029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4502688" y="1783080"/>
            <a:ext cx="2156703" cy="502920"/>
          </a:xfrm>
          <a:prstGeom prst="rect">
            <a:avLst/>
          </a:prstGeom>
          <a:noFill/>
        </p:spPr>
        <p:txBody>
          <a:bodyPr wrap="square" anchor="ctr">
            <a:spAutoFit/>
          </a:bodyPr>
          <a:lstStyle/>
          <a:p>
            <a:pPr algn="ctr">
              <a:spcAft>
                <a:spcPts val="400"/>
              </a:spcAft>
            </a:pPr>
            <a:r>
              <a:rPr sz="1400" b="1">
                <a:solidFill>
                  <a:srgbClr val="FFFFFF"/>
                </a:solidFill>
                <a:latin typeface="Arial"/>
              </a:rPr>
              <a:t>RTO</a:t>
            </a:r>
          </a:p>
        </p:txBody>
      </p:sp>
      <p:sp>
        <p:nvSpPr>
          <p:cNvPr id="11" name="Rectangle 10"/>
          <p:cNvSpPr/>
          <p:nvPr/>
        </p:nvSpPr>
        <p:spPr>
          <a:xfrm>
            <a:off x="6732543" y="1783080"/>
            <a:ext cx="2339583" cy="5029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6842271" y="1783080"/>
            <a:ext cx="2156703" cy="502920"/>
          </a:xfrm>
          <a:prstGeom prst="rect">
            <a:avLst/>
          </a:prstGeom>
          <a:noFill/>
        </p:spPr>
        <p:txBody>
          <a:bodyPr wrap="square" anchor="ctr">
            <a:spAutoFit/>
          </a:bodyPr>
          <a:lstStyle/>
          <a:p>
            <a:pPr algn="ctr">
              <a:spcAft>
                <a:spcPts val="400"/>
              </a:spcAft>
            </a:pPr>
            <a:r>
              <a:rPr sz="1400" b="1">
                <a:solidFill>
                  <a:srgbClr val="FFFFFF"/>
                </a:solidFill>
                <a:latin typeface="Arial"/>
              </a:rPr>
              <a:t>RPO</a:t>
            </a:r>
          </a:p>
        </p:txBody>
      </p:sp>
      <p:sp>
        <p:nvSpPr>
          <p:cNvPr id="13" name="Rectangle 12"/>
          <p:cNvSpPr/>
          <p:nvPr/>
        </p:nvSpPr>
        <p:spPr>
          <a:xfrm>
            <a:off x="9072126" y="1783080"/>
            <a:ext cx="2339583" cy="5029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9181854" y="1783080"/>
            <a:ext cx="2156703" cy="502920"/>
          </a:xfrm>
          <a:prstGeom prst="rect">
            <a:avLst/>
          </a:prstGeom>
          <a:noFill/>
        </p:spPr>
        <p:txBody>
          <a:bodyPr wrap="square" anchor="ctr">
            <a:spAutoFit/>
          </a:bodyPr>
          <a:lstStyle/>
          <a:p>
            <a:pPr algn="ctr">
              <a:spcAft>
                <a:spcPts val="400"/>
              </a:spcAft>
            </a:pPr>
            <a:r>
              <a:rPr sz="1400" b="1">
                <a:solidFill>
                  <a:srgbClr val="FFFFFF"/>
                </a:solidFill>
                <a:latin typeface="Arial"/>
              </a:rPr>
              <a:t>Cost</a:t>
            </a:r>
          </a:p>
        </p:txBody>
      </p:sp>
      <p:sp>
        <p:nvSpPr>
          <p:cNvPr id="15" name="Rectangle 14"/>
          <p:cNvSpPr/>
          <p:nvPr/>
        </p:nvSpPr>
        <p:spPr>
          <a:xfrm>
            <a:off x="777240" y="2286000"/>
            <a:ext cx="3615720" cy="822960"/>
          </a:xfrm>
          <a:prstGeom prst="rect">
            <a:avLst/>
          </a:prstGeom>
          <a:solidFill>
            <a:srgbClr val="F5F8FC"/>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886968" y="2286000"/>
            <a:ext cx="3432840" cy="822960"/>
          </a:xfrm>
          <a:prstGeom prst="rect">
            <a:avLst/>
          </a:prstGeom>
          <a:noFill/>
        </p:spPr>
        <p:txBody>
          <a:bodyPr wrap="square" anchor="ctr">
            <a:spAutoFit/>
          </a:bodyPr>
          <a:lstStyle/>
          <a:p>
            <a:pPr algn="l">
              <a:spcAft>
                <a:spcPts val="400"/>
              </a:spcAft>
            </a:pPr>
            <a:r>
              <a:rPr sz="1250" b="1">
                <a:solidFill>
                  <a:srgbClr val="161B26"/>
                </a:solidFill>
                <a:latin typeface="Arial"/>
              </a:rPr>
              <a:t>Backup &amp; Restore</a:t>
            </a:r>
          </a:p>
        </p:txBody>
      </p:sp>
      <p:sp>
        <p:nvSpPr>
          <p:cNvPr id="17" name="Rectangle 16"/>
          <p:cNvSpPr/>
          <p:nvPr/>
        </p:nvSpPr>
        <p:spPr>
          <a:xfrm>
            <a:off x="4392960" y="2286000"/>
            <a:ext cx="2339583" cy="822960"/>
          </a:xfrm>
          <a:prstGeom prst="rect">
            <a:avLst/>
          </a:prstGeom>
          <a:solidFill>
            <a:srgbClr val="F5F8FC"/>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4502688" y="2286000"/>
            <a:ext cx="2156703" cy="822960"/>
          </a:xfrm>
          <a:prstGeom prst="rect">
            <a:avLst/>
          </a:prstGeom>
          <a:noFill/>
        </p:spPr>
        <p:txBody>
          <a:bodyPr wrap="square" anchor="ctr">
            <a:spAutoFit/>
          </a:bodyPr>
          <a:lstStyle/>
          <a:p>
            <a:pPr algn="ctr">
              <a:spcAft>
                <a:spcPts val="400"/>
              </a:spcAft>
            </a:pPr>
            <a:r>
              <a:rPr sz="1250" b="0">
                <a:solidFill>
                  <a:srgbClr val="5B6372"/>
                </a:solidFill>
                <a:latin typeface="Arial"/>
              </a:rPr>
              <a:t>Hours</a:t>
            </a:r>
          </a:p>
        </p:txBody>
      </p:sp>
      <p:sp>
        <p:nvSpPr>
          <p:cNvPr id="19" name="Rectangle 18"/>
          <p:cNvSpPr/>
          <p:nvPr/>
        </p:nvSpPr>
        <p:spPr>
          <a:xfrm>
            <a:off x="6732543" y="2286000"/>
            <a:ext cx="2339583" cy="822960"/>
          </a:xfrm>
          <a:prstGeom prst="rect">
            <a:avLst/>
          </a:prstGeom>
          <a:solidFill>
            <a:srgbClr val="F5F8FC"/>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6842271" y="2286000"/>
            <a:ext cx="2156703" cy="822960"/>
          </a:xfrm>
          <a:prstGeom prst="rect">
            <a:avLst/>
          </a:prstGeom>
          <a:noFill/>
        </p:spPr>
        <p:txBody>
          <a:bodyPr wrap="square" anchor="ctr">
            <a:spAutoFit/>
          </a:bodyPr>
          <a:lstStyle/>
          <a:p>
            <a:pPr algn="ctr">
              <a:spcAft>
                <a:spcPts val="400"/>
              </a:spcAft>
            </a:pPr>
            <a:r>
              <a:rPr sz="1250" b="0">
                <a:solidFill>
                  <a:srgbClr val="5B6372"/>
                </a:solidFill>
                <a:latin typeface="Arial"/>
              </a:rPr>
              <a:t>Hours</a:t>
            </a:r>
          </a:p>
        </p:txBody>
      </p:sp>
      <p:sp>
        <p:nvSpPr>
          <p:cNvPr id="21" name="Rectangle 20"/>
          <p:cNvSpPr/>
          <p:nvPr/>
        </p:nvSpPr>
        <p:spPr>
          <a:xfrm>
            <a:off x="9072126" y="2286000"/>
            <a:ext cx="2339583" cy="822960"/>
          </a:xfrm>
          <a:prstGeom prst="rect">
            <a:avLst/>
          </a:prstGeom>
          <a:solidFill>
            <a:srgbClr val="F5F8FC"/>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9181854" y="2286000"/>
            <a:ext cx="2156703" cy="822960"/>
          </a:xfrm>
          <a:prstGeom prst="rect">
            <a:avLst/>
          </a:prstGeom>
          <a:noFill/>
        </p:spPr>
        <p:txBody>
          <a:bodyPr wrap="square" anchor="ctr">
            <a:spAutoFit/>
          </a:bodyPr>
          <a:lstStyle/>
          <a:p>
            <a:pPr algn="ctr">
              <a:spcAft>
                <a:spcPts val="400"/>
              </a:spcAft>
            </a:pPr>
            <a:r>
              <a:rPr sz="1250" b="0">
                <a:solidFill>
                  <a:srgbClr val="5B6372"/>
                </a:solidFill>
                <a:latin typeface="Arial"/>
              </a:rPr>
              <a:t>$</a:t>
            </a:r>
          </a:p>
        </p:txBody>
      </p:sp>
      <p:sp>
        <p:nvSpPr>
          <p:cNvPr id="23" name="Rectangle 22"/>
          <p:cNvSpPr/>
          <p:nvPr/>
        </p:nvSpPr>
        <p:spPr>
          <a:xfrm>
            <a:off x="777240" y="3108960"/>
            <a:ext cx="3615720" cy="822960"/>
          </a:xfrm>
          <a:prstGeom prst="rect">
            <a:avLst/>
          </a:prstGeom>
          <a:solidFill>
            <a:srgbClr val="FFFFFF"/>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886968" y="3108960"/>
            <a:ext cx="3432840" cy="822960"/>
          </a:xfrm>
          <a:prstGeom prst="rect">
            <a:avLst/>
          </a:prstGeom>
          <a:noFill/>
        </p:spPr>
        <p:txBody>
          <a:bodyPr wrap="square" anchor="ctr">
            <a:spAutoFit/>
          </a:bodyPr>
          <a:lstStyle/>
          <a:p>
            <a:pPr algn="l">
              <a:spcAft>
                <a:spcPts val="400"/>
              </a:spcAft>
            </a:pPr>
            <a:r>
              <a:rPr sz="1250" b="1">
                <a:solidFill>
                  <a:srgbClr val="161B26"/>
                </a:solidFill>
                <a:latin typeface="Arial"/>
              </a:rPr>
              <a:t>Pilot Light</a:t>
            </a:r>
          </a:p>
        </p:txBody>
      </p:sp>
      <p:sp>
        <p:nvSpPr>
          <p:cNvPr id="25" name="Rectangle 24"/>
          <p:cNvSpPr/>
          <p:nvPr/>
        </p:nvSpPr>
        <p:spPr>
          <a:xfrm>
            <a:off x="4392960" y="3108960"/>
            <a:ext cx="2339583" cy="822960"/>
          </a:xfrm>
          <a:prstGeom prst="rect">
            <a:avLst/>
          </a:prstGeom>
          <a:solidFill>
            <a:srgbClr val="FFFFFF"/>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4502688" y="3108960"/>
            <a:ext cx="2156703" cy="822960"/>
          </a:xfrm>
          <a:prstGeom prst="rect">
            <a:avLst/>
          </a:prstGeom>
          <a:noFill/>
        </p:spPr>
        <p:txBody>
          <a:bodyPr wrap="square" anchor="ctr">
            <a:spAutoFit/>
          </a:bodyPr>
          <a:lstStyle/>
          <a:p>
            <a:pPr algn="ctr">
              <a:spcAft>
                <a:spcPts val="400"/>
              </a:spcAft>
            </a:pPr>
            <a:r>
              <a:rPr sz="1250" b="0">
                <a:solidFill>
                  <a:srgbClr val="5B6372"/>
                </a:solidFill>
                <a:latin typeface="Arial"/>
              </a:rPr>
              <a:t>10s of min</a:t>
            </a:r>
          </a:p>
        </p:txBody>
      </p:sp>
      <p:sp>
        <p:nvSpPr>
          <p:cNvPr id="27" name="Rectangle 26"/>
          <p:cNvSpPr/>
          <p:nvPr/>
        </p:nvSpPr>
        <p:spPr>
          <a:xfrm>
            <a:off x="6732543" y="3108960"/>
            <a:ext cx="2339583" cy="822960"/>
          </a:xfrm>
          <a:prstGeom prst="rect">
            <a:avLst/>
          </a:prstGeom>
          <a:solidFill>
            <a:srgbClr val="FFFFFF"/>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6842271" y="3108960"/>
            <a:ext cx="2156703" cy="822960"/>
          </a:xfrm>
          <a:prstGeom prst="rect">
            <a:avLst/>
          </a:prstGeom>
          <a:noFill/>
        </p:spPr>
        <p:txBody>
          <a:bodyPr wrap="square" anchor="ctr">
            <a:spAutoFit/>
          </a:bodyPr>
          <a:lstStyle/>
          <a:p>
            <a:pPr algn="ctr">
              <a:spcAft>
                <a:spcPts val="400"/>
              </a:spcAft>
            </a:pPr>
            <a:r>
              <a:rPr sz="1250" b="0">
                <a:solidFill>
                  <a:srgbClr val="5B6372"/>
                </a:solidFill>
                <a:latin typeface="Arial"/>
              </a:rPr>
              <a:t>Minutes</a:t>
            </a:r>
          </a:p>
        </p:txBody>
      </p:sp>
      <p:sp>
        <p:nvSpPr>
          <p:cNvPr id="29" name="Rectangle 28"/>
          <p:cNvSpPr/>
          <p:nvPr/>
        </p:nvSpPr>
        <p:spPr>
          <a:xfrm>
            <a:off x="9072126" y="3108960"/>
            <a:ext cx="2339583" cy="822960"/>
          </a:xfrm>
          <a:prstGeom prst="rect">
            <a:avLst/>
          </a:prstGeom>
          <a:solidFill>
            <a:srgbClr val="FFFFFF"/>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9181854" y="3108960"/>
            <a:ext cx="2156703" cy="822960"/>
          </a:xfrm>
          <a:prstGeom prst="rect">
            <a:avLst/>
          </a:prstGeom>
          <a:noFill/>
        </p:spPr>
        <p:txBody>
          <a:bodyPr wrap="square" anchor="ctr">
            <a:spAutoFit/>
          </a:bodyPr>
          <a:lstStyle/>
          <a:p>
            <a:pPr algn="ctr">
              <a:spcAft>
                <a:spcPts val="400"/>
              </a:spcAft>
            </a:pPr>
            <a:r>
              <a:rPr sz="1250" b="0">
                <a:solidFill>
                  <a:srgbClr val="5B6372"/>
                </a:solidFill>
                <a:latin typeface="Arial"/>
              </a:rPr>
              <a:t>$$</a:t>
            </a:r>
          </a:p>
        </p:txBody>
      </p:sp>
      <p:sp>
        <p:nvSpPr>
          <p:cNvPr id="31" name="Rectangle 30"/>
          <p:cNvSpPr/>
          <p:nvPr/>
        </p:nvSpPr>
        <p:spPr>
          <a:xfrm>
            <a:off x="777240" y="3931920"/>
            <a:ext cx="3615720" cy="822960"/>
          </a:xfrm>
          <a:prstGeom prst="rect">
            <a:avLst/>
          </a:prstGeom>
          <a:solidFill>
            <a:srgbClr val="F5F8FC"/>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TextBox 31"/>
          <p:cNvSpPr txBox="1"/>
          <p:nvPr/>
        </p:nvSpPr>
        <p:spPr>
          <a:xfrm>
            <a:off x="886968" y="3931920"/>
            <a:ext cx="3432840" cy="822960"/>
          </a:xfrm>
          <a:prstGeom prst="rect">
            <a:avLst/>
          </a:prstGeom>
          <a:noFill/>
        </p:spPr>
        <p:txBody>
          <a:bodyPr wrap="square" anchor="ctr">
            <a:spAutoFit/>
          </a:bodyPr>
          <a:lstStyle/>
          <a:p>
            <a:pPr algn="l">
              <a:spcAft>
                <a:spcPts val="400"/>
              </a:spcAft>
            </a:pPr>
            <a:r>
              <a:rPr sz="1250" b="1">
                <a:solidFill>
                  <a:srgbClr val="161B26"/>
                </a:solidFill>
                <a:latin typeface="Arial"/>
              </a:rPr>
              <a:t>Warm Standby</a:t>
            </a:r>
          </a:p>
        </p:txBody>
      </p:sp>
      <p:sp>
        <p:nvSpPr>
          <p:cNvPr id="33" name="Rectangle 32"/>
          <p:cNvSpPr/>
          <p:nvPr/>
        </p:nvSpPr>
        <p:spPr>
          <a:xfrm>
            <a:off x="4392960" y="3931920"/>
            <a:ext cx="2339583" cy="822960"/>
          </a:xfrm>
          <a:prstGeom prst="rect">
            <a:avLst/>
          </a:prstGeom>
          <a:solidFill>
            <a:srgbClr val="F5F8FC"/>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TextBox 33"/>
          <p:cNvSpPr txBox="1"/>
          <p:nvPr/>
        </p:nvSpPr>
        <p:spPr>
          <a:xfrm>
            <a:off x="4502688" y="3931920"/>
            <a:ext cx="2156703" cy="822960"/>
          </a:xfrm>
          <a:prstGeom prst="rect">
            <a:avLst/>
          </a:prstGeom>
          <a:noFill/>
        </p:spPr>
        <p:txBody>
          <a:bodyPr wrap="square" anchor="ctr">
            <a:spAutoFit/>
          </a:bodyPr>
          <a:lstStyle/>
          <a:p>
            <a:pPr algn="ctr">
              <a:spcAft>
                <a:spcPts val="400"/>
              </a:spcAft>
            </a:pPr>
            <a:r>
              <a:rPr sz="1250" b="0">
                <a:solidFill>
                  <a:srgbClr val="5B6372"/>
                </a:solidFill>
                <a:latin typeface="Arial"/>
              </a:rPr>
              <a:t>Minutes</a:t>
            </a:r>
          </a:p>
        </p:txBody>
      </p:sp>
      <p:sp>
        <p:nvSpPr>
          <p:cNvPr id="35" name="Rectangle 34"/>
          <p:cNvSpPr/>
          <p:nvPr/>
        </p:nvSpPr>
        <p:spPr>
          <a:xfrm>
            <a:off x="6732543" y="3931920"/>
            <a:ext cx="2339583" cy="822960"/>
          </a:xfrm>
          <a:prstGeom prst="rect">
            <a:avLst/>
          </a:prstGeom>
          <a:solidFill>
            <a:srgbClr val="F5F8FC"/>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TextBox 35"/>
          <p:cNvSpPr txBox="1"/>
          <p:nvPr/>
        </p:nvSpPr>
        <p:spPr>
          <a:xfrm>
            <a:off x="6842271" y="3931920"/>
            <a:ext cx="2156703" cy="822960"/>
          </a:xfrm>
          <a:prstGeom prst="rect">
            <a:avLst/>
          </a:prstGeom>
          <a:noFill/>
        </p:spPr>
        <p:txBody>
          <a:bodyPr wrap="square" anchor="ctr">
            <a:spAutoFit/>
          </a:bodyPr>
          <a:lstStyle/>
          <a:p>
            <a:pPr algn="ctr">
              <a:spcAft>
                <a:spcPts val="400"/>
              </a:spcAft>
            </a:pPr>
            <a:r>
              <a:rPr sz="1250" b="0">
                <a:solidFill>
                  <a:srgbClr val="5B6372"/>
                </a:solidFill>
                <a:latin typeface="Arial"/>
              </a:rPr>
              <a:t>Seconds</a:t>
            </a:r>
          </a:p>
        </p:txBody>
      </p:sp>
      <p:sp>
        <p:nvSpPr>
          <p:cNvPr id="37" name="Rectangle 36"/>
          <p:cNvSpPr/>
          <p:nvPr/>
        </p:nvSpPr>
        <p:spPr>
          <a:xfrm>
            <a:off x="9072126" y="3931920"/>
            <a:ext cx="2339583" cy="822960"/>
          </a:xfrm>
          <a:prstGeom prst="rect">
            <a:avLst/>
          </a:prstGeom>
          <a:solidFill>
            <a:srgbClr val="F5F8FC"/>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8" name="TextBox 37"/>
          <p:cNvSpPr txBox="1"/>
          <p:nvPr/>
        </p:nvSpPr>
        <p:spPr>
          <a:xfrm>
            <a:off x="9181854" y="3931920"/>
            <a:ext cx="2156703" cy="822960"/>
          </a:xfrm>
          <a:prstGeom prst="rect">
            <a:avLst/>
          </a:prstGeom>
          <a:noFill/>
        </p:spPr>
        <p:txBody>
          <a:bodyPr wrap="square" anchor="ctr">
            <a:spAutoFit/>
          </a:bodyPr>
          <a:lstStyle/>
          <a:p>
            <a:pPr algn="ctr">
              <a:spcAft>
                <a:spcPts val="400"/>
              </a:spcAft>
            </a:pPr>
            <a:r>
              <a:rPr sz="1250" b="0">
                <a:solidFill>
                  <a:srgbClr val="5B6372"/>
                </a:solidFill>
                <a:latin typeface="Arial"/>
              </a:rPr>
              <a:t>$$$</a:t>
            </a:r>
          </a:p>
        </p:txBody>
      </p:sp>
      <p:sp>
        <p:nvSpPr>
          <p:cNvPr id="39" name="Rectangle 38"/>
          <p:cNvSpPr/>
          <p:nvPr/>
        </p:nvSpPr>
        <p:spPr>
          <a:xfrm>
            <a:off x="777240" y="4754880"/>
            <a:ext cx="3615720" cy="822960"/>
          </a:xfrm>
          <a:prstGeom prst="rect">
            <a:avLst/>
          </a:prstGeom>
          <a:solidFill>
            <a:srgbClr val="FFFFFF"/>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0" name="TextBox 39"/>
          <p:cNvSpPr txBox="1"/>
          <p:nvPr/>
        </p:nvSpPr>
        <p:spPr>
          <a:xfrm>
            <a:off x="886968" y="4754880"/>
            <a:ext cx="3432840" cy="822960"/>
          </a:xfrm>
          <a:prstGeom prst="rect">
            <a:avLst/>
          </a:prstGeom>
          <a:noFill/>
        </p:spPr>
        <p:txBody>
          <a:bodyPr wrap="square" anchor="ctr">
            <a:spAutoFit/>
          </a:bodyPr>
          <a:lstStyle/>
          <a:p>
            <a:pPr algn="l">
              <a:spcAft>
                <a:spcPts val="400"/>
              </a:spcAft>
            </a:pPr>
            <a:r>
              <a:rPr sz="1250" b="1">
                <a:solidFill>
                  <a:srgbClr val="161B26"/>
                </a:solidFill>
                <a:latin typeface="Arial"/>
              </a:rPr>
              <a:t>Multi-site Active/Active</a:t>
            </a:r>
          </a:p>
        </p:txBody>
      </p:sp>
      <p:sp>
        <p:nvSpPr>
          <p:cNvPr id="41" name="Rectangle 40"/>
          <p:cNvSpPr/>
          <p:nvPr/>
        </p:nvSpPr>
        <p:spPr>
          <a:xfrm>
            <a:off x="4392960" y="4754880"/>
            <a:ext cx="2339583" cy="822960"/>
          </a:xfrm>
          <a:prstGeom prst="rect">
            <a:avLst/>
          </a:prstGeom>
          <a:solidFill>
            <a:srgbClr val="FFFFFF"/>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2" name="TextBox 41"/>
          <p:cNvSpPr txBox="1"/>
          <p:nvPr/>
        </p:nvSpPr>
        <p:spPr>
          <a:xfrm>
            <a:off x="4502688" y="4754880"/>
            <a:ext cx="2156703" cy="822960"/>
          </a:xfrm>
          <a:prstGeom prst="rect">
            <a:avLst/>
          </a:prstGeom>
          <a:noFill/>
        </p:spPr>
        <p:txBody>
          <a:bodyPr wrap="square" anchor="ctr">
            <a:spAutoFit/>
          </a:bodyPr>
          <a:lstStyle/>
          <a:p>
            <a:pPr algn="ctr">
              <a:spcAft>
                <a:spcPts val="400"/>
              </a:spcAft>
            </a:pPr>
            <a:r>
              <a:rPr sz="1250" b="0">
                <a:solidFill>
                  <a:srgbClr val="5B6372"/>
                </a:solidFill>
                <a:latin typeface="Arial"/>
              </a:rPr>
              <a:t>Near-zero</a:t>
            </a:r>
          </a:p>
        </p:txBody>
      </p:sp>
      <p:sp>
        <p:nvSpPr>
          <p:cNvPr id="43" name="Rectangle 42"/>
          <p:cNvSpPr/>
          <p:nvPr/>
        </p:nvSpPr>
        <p:spPr>
          <a:xfrm>
            <a:off x="6732543" y="4754880"/>
            <a:ext cx="2339583" cy="822960"/>
          </a:xfrm>
          <a:prstGeom prst="rect">
            <a:avLst/>
          </a:prstGeom>
          <a:solidFill>
            <a:srgbClr val="FFFFFF"/>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4" name="TextBox 43"/>
          <p:cNvSpPr txBox="1"/>
          <p:nvPr/>
        </p:nvSpPr>
        <p:spPr>
          <a:xfrm>
            <a:off x="6842271" y="4754880"/>
            <a:ext cx="2156703" cy="822960"/>
          </a:xfrm>
          <a:prstGeom prst="rect">
            <a:avLst/>
          </a:prstGeom>
          <a:noFill/>
        </p:spPr>
        <p:txBody>
          <a:bodyPr wrap="square" anchor="ctr">
            <a:spAutoFit/>
          </a:bodyPr>
          <a:lstStyle/>
          <a:p>
            <a:pPr algn="ctr">
              <a:spcAft>
                <a:spcPts val="400"/>
              </a:spcAft>
            </a:pPr>
            <a:r>
              <a:rPr sz="1250" b="0">
                <a:solidFill>
                  <a:srgbClr val="5B6372"/>
                </a:solidFill>
                <a:latin typeface="Arial"/>
              </a:rPr>
              <a:t>Near-zero</a:t>
            </a:r>
          </a:p>
        </p:txBody>
      </p:sp>
      <p:sp>
        <p:nvSpPr>
          <p:cNvPr id="45" name="Rectangle 44"/>
          <p:cNvSpPr/>
          <p:nvPr/>
        </p:nvSpPr>
        <p:spPr>
          <a:xfrm>
            <a:off x="9072126" y="4754880"/>
            <a:ext cx="2339583" cy="822960"/>
          </a:xfrm>
          <a:prstGeom prst="rect">
            <a:avLst/>
          </a:prstGeom>
          <a:solidFill>
            <a:srgbClr val="FFFFFF"/>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6" name="TextBox 45"/>
          <p:cNvSpPr txBox="1"/>
          <p:nvPr/>
        </p:nvSpPr>
        <p:spPr>
          <a:xfrm>
            <a:off x="9181854" y="4754880"/>
            <a:ext cx="2156703" cy="822960"/>
          </a:xfrm>
          <a:prstGeom prst="rect">
            <a:avLst/>
          </a:prstGeom>
          <a:noFill/>
        </p:spPr>
        <p:txBody>
          <a:bodyPr wrap="square" anchor="ctr">
            <a:spAutoFit/>
          </a:bodyPr>
          <a:lstStyle/>
          <a:p>
            <a:pPr algn="ctr">
              <a:spcAft>
                <a:spcPts val="400"/>
              </a:spcAft>
            </a:pPr>
            <a:r>
              <a:rPr sz="1250" b="0">
                <a:solidFill>
                  <a:srgbClr val="5B6372"/>
                </a:solidFill>
                <a:latin typeface="Arial"/>
              </a:rPr>
              <a:t>$$$$</a:t>
            </a:r>
          </a:p>
        </p:txBody>
      </p:sp>
      <p:sp>
        <p:nvSpPr>
          <p:cNvPr id="47" name="TextBox 46"/>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DevOps Engineering on AWS  ·  TGS-2023040474</a:t>
            </a:r>
          </a:p>
        </p:txBody>
      </p:sp>
      <p:sp>
        <p:nvSpPr>
          <p:cNvPr id="48" name="TextBox 47"/>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49" name="TextBox 48"/>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102</a:t>
            </a:r>
          </a:p>
        </p:txBody>
      </p:sp>
    </p:spTree>
  </p:cSld>
  <p:clrMapOvr>
    <a:masterClrMapping/>
  </p:clrMapOvr>
  <p:transition xmlns:p14="http://schemas.microsoft.com/office/powerpoint/2010/main" p14:dur="380">
    <p:fade/>
  </p:transition>
</p:sld>
</file>

<file path=ppt/slides/slide10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38912"/>
            <a:ext cx="10607040" cy="365760"/>
          </a:xfrm>
          <a:prstGeom prst="rect">
            <a:avLst/>
          </a:prstGeom>
          <a:noFill/>
        </p:spPr>
        <p:txBody>
          <a:bodyPr wrap="square" anchor="t">
            <a:spAutoFit/>
          </a:bodyPr>
          <a:lstStyle/>
          <a:p>
            <a:pPr algn="l">
              <a:spcAft>
                <a:spcPts val="400"/>
              </a:spcAft>
            </a:pPr>
            <a:r>
              <a:rPr sz="1400" b="1">
                <a:solidFill>
                  <a:srgbClr val="10B981"/>
                </a:solidFill>
                <a:latin typeface="Arial"/>
              </a:rPr>
              <a:t>LOWER IS BETTER</a:t>
            </a:r>
          </a:p>
        </p:txBody>
      </p:sp>
      <p:sp>
        <p:nvSpPr>
          <p:cNvPr id="5" name="TextBox 4"/>
          <p:cNvSpPr txBox="1"/>
          <p:nvPr/>
        </p:nvSpPr>
        <p:spPr>
          <a:xfrm>
            <a:off x="777240" y="896112"/>
            <a:ext cx="10927080" cy="731520"/>
          </a:xfrm>
          <a:prstGeom prst="rect">
            <a:avLst/>
          </a:prstGeom>
          <a:noFill/>
        </p:spPr>
        <p:txBody>
          <a:bodyPr wrap="square" anchor="t">
            <a:spAutoFit/>
          </a:bodyPr>
          <a:lstStyle/>
          <a:p>
            <a:pPr algn="l">
              <a:spcAft>
                <a:spcPts val="400"/>
              </a:spcAft>
            </a:pPr>
            <a:r>
              <a:rPr sz="2500" b="1">
                <a:solidFill>
                  <a:srgbClr val="161B26"/>
                </a:solidFill>
                <a:latin typeface="Arial"/>
              </a:rPr>
              <a:t>DR Patterns — Approximate Recovery Time (RTO)</a:t>
            </a:r>
          </a:p>
        </p:txBody>
      </p:sp>
      <p:sp>
        <p:nvSpPr>
          <p:cNvPr id="6" name="Rectangle 5"/>
          <p:cNvSpPr/>
          <p:nvPr/>
        </p:nvSpPr>
        <p:spPr>
          <a:xfrm>
            <a:off x="777240" y="1572768"/>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graphicFrame>
        <p:nvGraphicFramePr>
          <p:cNvPr id="7" name="Chart 6"/>
          <p:cNvGraphicFramePr>
            <a:graphicFrameLocks noGrp="1"/>
          </p:cNvGraphicFramePr>
          <p:nvPr/>
        </p:nvGraphicFramePr>
        <p:xfrm>
          <a:off x="777240" y="1828800"/>
          <a:ext cx="10634472" cy="3291840"/>
        </p:xfrm>
        <a:graphic>
          <a:graphicData uri="http://schemas.openxmlformats.org/drawingml/2006/chart">
            <c:chart xmlns:c="http://schemas.openxmlformats.org/drawingml/2006/chart" r:id="rId2"/>
          </a:graphicData>
        </a:graphic>
      </p:graphicFrame>
      <p:sp>
        <p:nvSpPr>
          <p:cNvPr id="8" name="Rectangle 7"/>
          <p:cNvSpPr/>
          <p:nvPr/>
        </p:nvSpPr>
        <p:spPr>
          <a:xfrm>
            <a:off x="777240" y="5349240"/>
            <a:ext cx="10634472" cy="86868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777240" y="5349240"/>
            <a:ext cx="91440" cy="86868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005840" y="5440680"/>
            <a:ext cx="10241280" cy="320040"/>
          </a:xfrm>
          <a:prstGeom prst="rect">
            <a:avLst/>
          </a:prstGeom>
          <a:noFill/>
        </p:spPr>
        <p:txBody>
          <a:bodyPr wrap="square" anchor="t">
            <a:spAutoFit/>
          </a:bodyPr>
          <a:lstStyle/>
          <a:p>
            <a:pPr algn="l">
              <a:spcAft>
                <a:spcPts val="400"/>
              </a:spcAft>
            </a:pPr>
            <a:r>
              <a:rPr sz="1100" b="1">
                <a:solidFill>
                  <a:srgbClr val="10B981"/>
                </a:solidFill>
                <a:latin typeface="Arial"/>
              </a:rPr>
              <a:t>WHAT THE DATA SHOWS</a:t>
            </a:r>
          </a:p>
        </p:txBody>
      </p:sp>
      <p:sp>
        <p:nvSpPr>
          <p:cNvPr id="11" name="TextBox 10"/>
          <p:cNvSpPr txBox="1"/>
          <p:nvPr/>
        </p:nvSpPr>
        <p:spPr>
          <a:xfrm>
            <a:off x="1005840" y="5742432"/>
            <a:ext cx="10241280" cy="457200"/>
          </a:xfrm>
          <a:prstGeom prst="rect">
            <a:avLst/>
          </a:prstGeom>
          <a:noFill/>
        </p:spPr>
        <p:txBody>
          <a:bodyPr wrap="square" anchor="t">
            <a:spAutoFit/>
          </a:bodyPr>
          <a:lstStyle/>
          <a:p>
            <a:pPr algn="l">
              <a:spcAft>
                <a:spcPts val="400"/>
              </a:spcAft>
            </a:pPr>
            <a:r>
              <a:rPr sz="1350" b="0">
                <a:solidFill>
                  <a:srgbClr val="161B26"/>
                </a:solidFill>
                <a:latin typeface="Arial"/>
              </a:rPr>
              <a:t>As you move from backup/restore to active/active, RTO falls from hours to near-zero — at rising cost.</a:t>
            </a:r>
          </a:p>
        </p:txBody>
      </p:sp>
      <p:sp>
        <p:nvSpPr>
          <p:cNvPr id="12" name="TextBox 11"/>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DevOps Engineering on AWS  ·  TGS-2023040474</a:t>
            </a:r>
          </a:p>
        </p:txBody>
      </p:sp>
      <p:sp>
        <p:nvSpPr>
          <p:cNvPr id="13" name="TextBox 12"/>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4" name="TextBox 13"/>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103</a:t>
            </a:r>
          </a:p>
        </p:txBody>
      </p:sp>
    </p:spTree>
  </p:cSld>
  <p:clrMapOvr>
    <a:masterClrMapping/>
  </p:clrMapOvr>
  <p:transition xmlns:p14="http://schemas.microsoft.com/office/powerpoint/2010/main" p14:dur="380">
    <p:fade/>
  </p:transition>
</p:sld>
</file>

<file path=ppt/slides/slide10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38912"/>
            <a:ext cx="10607040" cy="365760"/>
          </a:xfrm>
          <a:prstGeom prst="rect">
            <a:avLst/>
          </a:prstGeom>
          <a:noFill/>
        </p:spPr>
        <p:txBody>
          <a:bodyPr wrap="square" anchor="t">
            <a:spAutoFit/>
          </a:bodyPr>
          <a:lstStyle/>
          <a:p>
            <a:pPr algn="l">
              <a:spcAft>
                <a:spcPts val="400"/>
              </a:spcAft>
            </a:pPr>
            <a:r>
              <a:rPr sz="1400" b="1">
                <a:solidFill>
                  <a:srgbClr val="10B981"/>
                </a:solidFill>
                <a:latin typeface="Arial"/>
              </a:rPr>
              <a:t>DESIGN PRINCIPLES</a:t>
            </a:r>
          </a:p>
        </p:txBody>
      </p:sp>
      <p:sp>
        <p:nvSpPr>
          <p:cNvPr id="5" name="TextBox 4"/>
          <p:cNvSpPr txBox="1"/>
          <p:nvPr/>
        </p:nvSpPr>
        <p:spPr>
          <a:xfrm>
            <a:off x="777240" y="804672"/>
            <a:ext cx="10927080" cy="731520"/>
          </a:xfrm>
          <a:prstGeom prst="rect">
            <a:avLst/>
          </a:prstGeom>
          <a:noFill/>
        </p:spPr>
        <p:txBody>
          <a:bodyPr wrap="square" anchor="t">
            <a:spAutoFit/>
          </a:bodyPr>
          <a:lstStyle/>
          <a:p>
            <a:pPr algn="l">
              <a:spcAft>
                <a:spcPts val="400"/>
              </a:spcAft>
            </a:pPr>
            <a:r>
              <a:rPr sz="2900" b="1">
                <a:solidFill>
                  <a:srgbClr val="161B26"/>
                </a:solidFill>
                <a:latin typeface="Arial"/>
              </a:rPr>
              <a:t>Building for Resilience</a:t>
            </a:r>
          </a:p>
        </p:txBody>
      </p:sp>
      <p:sp>
        <p:nvSpPr>
          <p:cNvPr id="6" name="Rectangle 5"/>
          <p:cNvSpPr/>
          <p:nvPr/>
        </p:nvSpPr>
        <p:spPr>
          <a:xfrm>
            <a:off x="777240" y="1572768"/>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783080"/>
            <a:ext cx="5180076" cy="207568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1783080"/>
            <a:ext cx="91440" cy="2075688"/>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1033272" y="2546604"/>
            <a:ext cx="548640" cy="548640"/>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033272" y="2546604"/>
            <a:ext cx="548640" cy="548640"/>
          </a:xfrm>
          <a:prstGeom prst="rect">
            <a:avLst/>
          </a:prstGeom>
          <a:noFill/>
        </p:spPr>
        <p:txBody>
          <a:bodyPr wrap="square" anchor="ctr">
            <a:spAutoFit/>
          </a:bodyPr>
          <a:lstStyle/>
          <a:p>
            <a:pPr algn="ctr">
              <a:spcAft>
                <a:spcPts val="400"/>
              </a:spcAft>
            </a:pPr>
            <a:r>
              <a:rPr sz="1800" b="1">
                <a:solidFill>
                  <a:srgbClr val="FFFFFF"/>
                </a:solidFill>
                <a:latin typeface="Arial"/>
              </a:rPr>
              <a:t>1</a:t>
            </a:r>
          </a:p>
        </p:txBody>
      </p:sp>
      <p:sp>
        <p:nvSpPr>
          <p:cNvPr id="11" name="TextBox 10"/>
          <p:cNvSpPr txBox="1"/>
          <p:nvPr/>
        </p:nvSpPr>
        <p:spPr>
          <a:xfrm>
            <a:off x="1764792" y="1892808"/>
            <a:ext cx="3973068" cy="1892808"/>
          </a:xfrm>
          <a:prstGeom prst="rect">
            <a:avLst/>
          </a:prstGeom>
          <a:noFill/>
        </p:spPr>
        <p:txBody>
          <a:bodyPr wrap="square" anchor="ctr">
            <a:spAutoFit/>
          </a:bodyPr>
          <a:lstStyle/>
          <a:p>
            <a:pPr algn="l">
              <a:spcAft>
                <a:spcPts val="300"/>
              </a:spcAft>
            </a:pPr>
            <a:r>
              <a:rPr sz="1600" b="1">
                <a:solidFill>
                  <a:srgbClr val="161B26"/>
                </a:solidFill>
                <a:latin typeface="Arial"/>
              </a:rPr>
              <a:t>Multi-AZ by default</a:t>
            </a:r>
          </a:p>
          <a:p>
            <a:pPr algn="l">
              <a:spcAft>
                <a:spcPts val="300"/>
              </a:spcAft>
            </a:pPr>
            <a:r>
              <a:rPr sz="1200" b="0">
                <a:solidFill>
                  <a:srgbClr val="5B6372"/>
                </a:solidFill>
                <a:latin typeface="Arial"/>
              </a:rPr>
              <a:t>Never depend on a single Availability Zone.</a:t>
            </a:r>
          </a:p>
        </p:txBody>
      </p:sp>
      <p:sp>
        <p:nvSpPr>
          <p:cNvPr id="12" name="Rectangle 11"/>
          <p:cNvSpPr/>
          <p:nvPr/>
        </p:nvSpPr>
        <p:spPr>
          <a:xfrm>
            <a:off x="6231636" y="1783080"/>
            <a:ext cx="5180076" cy="207568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6231636" y="1783080"/>
            <a:ext cx="91440" cy="2075688"/>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Oval 13"/>
          <p:cNvSpPr/>
          <p:nvPr/>
        </p:nvSpPr>
        <p:spPr>
          <a:xfrm>
            <a:off x="6487668" y="2546604"/>
            <a:ext cx="548640" cy="54864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6487668" y="2546604"/>
            <a:ext cx="548640" cy="548640"/>
          </a:xfrm>
          <a:prstGeom prst="rect">
            <a:avLst/>
          </a:prstGeom>
          <a:noFill/>
        </p:spPr>
        <p:txBody>
          <a:bodyPr wrap="square" anchor="ctr">
            <a:spAutoFit/>
          </a:bodyPr>
          <a:lstStyle/>
          <a:p>
            <a:pPr algn="ctr">
              <a:spcAft>
                <a:spcPts val="400"/>
              </a:spcAft>
            </a:pPr>
            <a:r>
              <a:rPr sz="1800" b="1">
                <a:solidFill>
                  <a:srgbClr val="FFFFFF"/>
                </a:solidFill>
                <a:latin typeface="Arial"/>
              </a:rPr>
              <a:t>2</a:t>
            </a:r>
          </a:p>
        </p:txBody>
      </p:sp>
      <p:sp>
        <p:nvSpPr>
          <p:cNvPr id="16" name="TextBox 15"/>
          <p:cNvSpPr txBox="1"/>
          <p:nvPr/>
        </p:nvSpPr>
        <p:spPr>
          <a:xfrm>
            <a:off x="7219188" y="1892808"/>
            <a:ext cx="3973068" cy="1892808"/>
          </a:xfrm>
          <a:prstGeom prst="rect">
            <a:avLst/>
          </a:prstGeom>
          <a:noFill/>
        </p:spPr>
        <p:txBody>
          <a:bodyPr wrap="square" anchor="ctr">
            <a:spAutoFit/>
          </a:bodyPr>
          <a:lstStyle/>
          <a:p>
            <a:pPr algn="l">
              <a:spcAft>
                <a:spcPts val="300"/>
              </a:spcAft>
            </a:pPr>
            <a:r>
              <a:rPr sz="1600" b="1">
                <a:solidFill>
                  <a:srgbClr val="161B26"/>
                </a:solidFill>
                <a:latin typeface="Arial"/>
              </a:rPr>
              <a:t>Elastic Load Balancing</a:t>
            </a:r>
          </a:p>
          <a:p>
            <a:pPr algn="l">
              <a:spcAft>
                <a:spcPts val="300"/>
              </a:spcAft>
            </a:pPr>
            <a:r>
              <a:rPr sz="1200" b="0">
                <a:solidFill>
                  <a:srgbClr val="5B6372"/>
                </a:solidFill>
                <a:latin typeface="Arial"/>
              </a:rPr>
              <a:t>Distribute traffic and route around unhealthy targets.</a:t>
            </a:r>
          </a:p>
        </p:txBody>
      </p:sp>
      <p:sp>
        <p:nvSpPr>
          <p:cNvPr id="17" name="Rectangle 16"/>
          <p:cNvSpPr/>
          <p:nvPr/>
        </p:nvSpPr>
        <p:spPr>
          <a:xfrm>
            <a:off x="777240" y="4078224"/>
            <a:ext cx="5180076" cy="207568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777240" y="4078224"/>
            <a:ext cx="91440" cy="2075688"/>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Oval 18"/>
          <p:cNvSpPr/>
          <p:nvPr/>
        </p:nvSpPr>
        <p:spPr>
          <a:xfrm>
            <a:off x="1033272" y="4841748"/>
            <a:ext cx="548640" cy="548640"/>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1033272" y="4841748"/>
            <a:ext cx="548640" cy="548640"/>
          </a:xfrm>
          <a:prstGeom prst="rect">
            <a:avLst/>
          </a:prstGeom>
          <a:noFill/>
        </p:spPr>
        <p:txBody>
          <a:bodyPr wrap="square" anchor="ctr">
            <a:spAutoFit/>
          </a:bodyPr>
          <a:lstStyle/>
          <a:p>
            <a:pPr algn="ctr">
              <a:spcAft>
                <a:spcPts val="400"/>
              </a:spcAft>
            </a:pPr>
            <a:r>
              <a:rPr sz="1800" b="1">
                <a:solidFill>
                  <a:srgbClr val="FFFFFF"/>
                </a:solidFill>
                <a:latin typeface="Arial"/>
              </a:rPr>
              <a:t>3</a:t>
            </a:r>
          </a:p>
        </p:txBody>
      </p:sp>
      <p:sp>
        <p:nvSpPr>
          <p:cNvPr id="21" name="TextBox 20"/>
          <p:cNvSpPr txBox="1"/>
          <p:nvPr/>
        </p:nvSpPr>
        <p:spPr>
          <a:xfrm>
            <a:off x="1764792" y="4187952"/>
            <a:ext cx="3973068" cy="1892808"/>
          </a:xfrm>
          <a:prstGeom prst="rect">
            <a:avLst/>
          </a:prstGeom>
          <a:noFill/>
        </p:spPr>
        <p:txBody>
          <a:bodyPr wrap="square" anchor="ctr">
            <a:spAutoFit/>
          </a:bodyPr>
          <a:lstStyle/>
          <a:p>
            <a:pPr algn="l">
              <a:spcAft>
                <a:spcPts val="300"/>
              </a:spcAft>
            </a:pPr>
            <a:r>
              <a:rPr sz="1600" b="1">
                <a:solidFill>
                  <a:srgbClr val="161B26"/>
                </a:solidFill>
                <a:latin typeface="Arial"/>
              </a:rPr>
              <a:t>Auto Scaling</a:t>
            </a:r>
          </a:p>
          <a:p>
            <a:pPr algn="l">
              <a:spcAft>
                <a:spcPts val="300"/>
              </a:spcAft>
            </a:pPr>
            <a:r>
              <a:rPr sz="1200" b="0">
                <a:solidFill>
                  <a:srgbClr val="5B6372"/>
                </a:solidFill>
                <a:latin typeface="Arial"/>
              </a:rPr>
              <a:t>Match capacity to demand; replace failed instances automatically.</a:t>
            </a:r>
          </a:p>
        </p:txBody>
      </p:sp>
      <p:sp>
        <p:nvSpPr>
          <p:cNvPr id="22" name="Rectangle 21"/>
          <p:cNvSpPr/>
          <p:nvPr/>
        </p:nvSpPr>
        <p:spPr>
          <a:xfrm>
            <a:off x="6231636" y="4078224"/>
            <a:ext cx="5180076" cy="207568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ectangle 22"/>
          <p:cNvSpPr/>
          <p:nvPr/>
        </p:nvSpPr>
        <p:spPr>
          <a:xfrm>
            <a:off x="6231636" y="4078224"/>
            <a:ext cx="91440" cy="2075688"/>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Oval 23"/>
          <p:cNvSpPr/>
          <p:nvPr/>
        </p:nvSpPr>
        <p:spPr>
          <a:xfrm>
            <a:off x="6487668" y="4841748"/>
            <a:ext cx="548640" cy="548640"/>
          </a:xfrm>
          <a:prstGeom prst="ellipse">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6487668" y="4841748"/>
            <a:ext cx="548640" cy="548640"/>
          </a:xfrm>
          <a:prstGeom prst="rect">
            <a:avLst/>
          </a:prstGeom>
          <a:noFill/>
        </p:spPr>
        <p:txBody>
          <a:bodyPr wrap="square" anchor="ctr">
            <a:spAutoFit/>
          </a:bodyPr>
          <a:lstStyle/>
          <a:p>
            <a:pPr algn="ctr">
              <a:spcAft>
                <a:spcPts val="400"/>
              </a:spcAft>
            </a:pPr>
            <a:r>
              <a:rPr sz="1800" b="1">
                <a:solidFill>
                  <a:srgbClr val="FFFFFF"/>
                </a:solidFill>
                <a:latin typeface="Arial"/>
              </a:rPr>
              <a:t>4</a:t>
            </a:r>
          </a:p>
        </p:txBody>
      </p:sp>
      <p:sp>
        <p:nvSpPr>
          <p:cNvPr id="26" name="TextBox 25"/>
          <p:cNvSpPr txBox="1"/>
          <p:nvPr/>
        </p:nvSpPr>
        <p:spPr>
          <a:xfrm>
            <a:off x="7219188" y="4187952"/>
            <a:ext cx="3973068" cy="1892808"/>
          </a:xfrm>
          <a:prstGeom prst="rect">
            <a:avLst/>
          </a:prstGeom>
          <a:noFill/>
        </p:spPr>
        <p:txBody>
          <a:bodyPr wrap="square" anchor="ctr">
            <a:spAutoFit/>
          </a:bodyPr>
          <a:lstStyle/>
          <a:p>
            <a:pPr algn="l">
              <a:spcAft>
                <a:spcPts val="300"/>
              </a:spcAft>
            </a:pPr>
            <a:r>
              <a:rPr sz="1600" b="1">
                <a:solidFill>
                  <a:srgbClr val="161B26"/>
                </a:solidFill>
                <a:latin typeface="Arial"/>
              </a:rPr>
              <a:t>Decouple with queues</a:t>
            </a:r>
          </a:p>
          <a:p>
            <a:pPr algn="l">
              <a:spcAft>
                <a:spcPts val="300"/>
              </a:spcAft>
            </a:pPr>
            <a:r>
              <a:rPr sz="1200" b="0">
                <a:solidFill>
                  <a:srgbClr val="5B6372"/>
                </a:solidFill>
                <a:latin typeface="Arial"/>
              </a:rPr>
              <a:t>SQS / SNS / EventBridge let components fail independently.</a:t>
            </a:r>
          </a:p>
        </p:txBody>
      </p:sp>
      <p:sp>
        <p:nvSpPr>
          <p:cNvPr id="27" name="TextBox 26"/>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DevOps Engineering on AWS  ·  TGS-2023040474</a:t>
            </a:r>
          </a:p>
        </p:txBody>
      </p:sp>
      <p:sp>
        <p:nvSpPr>
          <p:cNvPr id="28" name="TextBox 27"/>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29" name="TextBox 28"/>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104</a:t>
            </a:r>
          </a:p>
        </p:txBody>
      </p:sp>
    </p:spTree>
  </p:cSld>
  <p:clrMapOvr>
    <a:masterClrMapping/>
  </p:clrMapOvr>
  <p:transition xmlns:p14="http://schemas.microsoft.com/office/powerpoint/2010/main" p14:dur="380">
    <p:fade/>
  </p:transition>
</p:sld>
</file>

<file path=ppt/slides/slide10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38912"/>
            <a:ext cx="10607040" cy="365760"/>
          </a:xfrm>
          <a:prstGeom prst="rect">
            <a:avLst/>
          </a:prstGeom>
          <a:noFill/>
        </p:spPr>
        <p:txBody>
          <a:bodyPr wrap="square" anchor="t">
            <a:spAutoFit/>
          </a:bodyPr>
          <a:lstStyle/>
          <a:p>
            <a:pPr algn="l">
              <a:spcAft>
                <a:spcPts val="400"/>
              </a:spcAft>
            </a:pPr>
            <a:r>
              <a:rPr sz="1400" b="1">
                <a:solidFill>
                  <a:srgbClr val="10B981"/>
                </a:solidFill>
                <a:latin typeface="Arial"/>
              </a:rPr>
              <a:t>MATCHING CAPACITY TO DEMAND</a:t>
            </a:r>
          </a:p>
        </p:txBody>
      </p:sp>
      <p:sp>
        <p:nvSpPr>
          <p:cNvPr id="5" name="TextBox 4"/>
          <p:cNvSpPr txBox="1"/>
          <p:nvPr/>
        </p:nvSpPr>
        <p:spPr>
          <a:xfrm>
            <a:off x="777240" y="804672"/>
            <a:ext cx="10927080" cy="731520"/>
          </a:xfrm>
          <a:prstGeom prst="rect">
            <a:avLst/>
          </a:prstGeom>
          <a:noFill/>
        </p:spPr>
        <p:txBody>
          <a:bodyPr wrap="square" anchor="t">
            <a:spAutoFit/>
          </a:bodyPr>
          <a:lstStyle/>
          <a:p>
            <a:pPr algn="l">
              <a:spcAft>
                <a:spcPts val="400"/>
              </a:spcAft>
            </a:pPr>
            <a:r>
              <a:rPr sz="2900" b="1">
                <a:solidFill>
                  <a:srgbClr val="161B26"/>
                </a:solidFill>
                <a:latin typeface="Arial"/>
              </a:rPr>
              <a:t>Auto Scaling Policy Types</a:t>
            </a:r>
          </a:p>
        </p:txBody>
      </p:sp>
      <p:sp>
        <p:nvSpPr>
          <p:cNvPr id="6" name="Rectangle 5"/>
          <p:cNvSpPr/>
          <p:nvPr/>
        </p:nvSpPr>
        <p:spPr>
          <a:xfrm>
            <a:off x="777240" y="1572768"/>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783080"/>
            <a:ext cx="2339583" cy="5029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886968" y="1783080"/>
            <a:ext cx="2156703" cy="502920"/>
          </a:xfrm>
          <a:prstGeom prst="rect">
            <a:avLst/>
          </a:prstGeom>
          <a:noFill/>
        </p:spPr>
        <p:txBody>
          <a:bodyPr wrap="square" anchor="ctr">
            <a:spAutoFit/>
          </a:bodyPr>
          <a:lstStyle/>
          <a:p>
            <a:pPr algn="l">
              <a:spcAft>
                <a:spcPts val="400"/>
              </a:spcAft>
            </a:pPr>
            <a:r>
              <a:rPr sz="1400" b="1">
                <a:solidFill>
                  <a:srgbClr val="FFFFFF"/>
                </a:solidFill>
                <a:latin typeface="Arial"/>
              </a:rPr>
              <a:t>Policy</a:t>
            </a:r>
          </a:p>
        </p:txBody>
      </p:sp>
      <p:sp>
        <p:nvSpPr>
          <p:cNvPr id="9" name="Rectangle 8"/>
          <p:cNvSpPr/>
          <p:nvPr/>
        </p:nvSpPr>
        <p:spPr>
          <a:xfrm>
            <a:off x="3116823" y="1783080"/>
            <a:ext cx="4679167" cy="5029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3226551" y="1783080"/>
            <a:ext cx="4496287" cy="502920"/>
          </a:xfrm>
          <a:prstGeom prst="rect">
            <a:avLst/>
          </a:prstGeom>
          <a:noFill/>
        </p:spPr>
        <p:txBody>
          <a:bodyPr wrap="square" anchor="ctr">
            <a:spAutoFit/>
          </a:bodyPr>
          <a:lstStyle/>
          <a:p>
            <a:pPr algn="ctr">
              <a:spcAft>
                <a:spcPts val="400"/>
              </a:spcAft>
            </a:pPr>
            <a:r>
              <a:rPr sz="1400" b="1">
                <a:solidFill>
                  <a:srgbClr val="FFFFFF"/>
                </a:solidFill>
                <a:latin typeface="Arial"/>
              </a:rPr>
              <a:t>How it decides</a:t>
            </a:r>
          </a:p>
        </p:txBody>
      </p:sp>
      <p:sp>
        <p:nvSpPr>
          <p:cNvPr id="11" name="Rectangle 10"/>
          <p:cNvSpPr/>
          <p:nvPr/>
        </p:nvSpPr>
        <p:spPr>
          <a:xfrm>
            <a:off x="7795990" y="1783080"/>
            <a:ext cx="3615720" cy="5029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7905718" y="1783080"/>
            <a:ext cx="3432840" cy="502920"/>
          </a:xfrm>
          <a:prstGeom prst="rect">
            <a:avLst/>
          </a:prstGeom>
          <a:noFill/>
        </p:spPr>
        <p:txBody>
          <a:bodyPr wrap="square" anchor="ctr">
            <a:spAutoFit/>
          </a:bodyPr>
          <a:lstStyle/>
          <a:p>
            <a:pPr algn="ctr">
              <a:spcAft>
                <a:spcPts val="400"/>
              </a:spcAft>
            </a:pPr>
            <a:r>
              <a:rPr sz="1400" b="1">
                <a:solidFill>
                  <a:srgbClr val="FFFFFF"/>
                </a:solidFill>
                <a:latin typeface="Arial"/>
              </a:rPr>
              <a:t>Use when</a:t>
            </a:r>
          </a:p>
        </p:txBody>
      </p:sp>
      <p:sp>
        <p:nvSpPr>
          <p:cNvPr id="13" name="Rectangle 12"/>
          <p:cNvSpPr/>
          <p:nvPr/>
        </p:nvSpPr>
        <p:spPr>
          <a:xfrm>
            <a:off x="777240" y="2286000"/>
            <a:ext cx="2339583" cy="822960"/>
          </a:xfrm>
          <a:prstGeom prst="rect">
            <a:avLst/>
          </a:prstGeom>
          <a:solidFill>
            <a:srgbClr val="F5F8FC"/>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886968" y="2286000"/>
            <a:ext cx="2156703" cy="822960"/>
          </a:xfrm>
          <a:prstGeom prst="rect">
            <a:avLst/>
          </a:prstGeom>
          <a:noFill/>
        </p:spPr>
        <p:txBody>
          <a:bodyPr wrap="square" anchor="ctr">
            <a:spAutoFit/>
          </a:bodyPr>
          <a:lstStyle/>
          <a:p>
            <a:pPr algn="l">
              <a:spcAft>
                <a:spcPts val="400"/>
              </a:spcAft>
            </a:pPr>
            <a:r>
              <a:rPr sz="1250" b="1">
                <a:solidFill>
                  <a:srgbClr val="161B26"/>
                </a:solidFill>
                <a:latin typeface="Arial"/>
              </a:rPr>
              <a:t>Target tracking</a:t>
            </a:r>
          </a:p>
        </p:txBody>
      </p:sp>
      <p:sp>
        <p:nvSpPr>
          <p:cNvPr id="15" name="Rectangle 14"/>
          <p:cNvSpPr/>
          <p:nvPr/>
        </p:nvSpPr>
        <p:spPr>
          <a:xfrm>
            <a:off x="3116823" y="2286000"/>
            <a:ext cx="4679167" cy="822960"/>
          </a:xfrm>
          <a:prstGeom prst="rect">
            <a:avLst/>
          </a:prstGeom>
          <a:solidFill>
            <a:srgbClr val="F5F8FC"/>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3226551" y="2286000"/>
            <a:ext cx="4496287" cy="822960"/>
          </a:xfrm>
          <a:prstGeom prst="rect">
            <a:avLst/>
          </a:prstGeom>
          <a:noFill/>
        </p:spPr>
        <p:txBody>
          <a:bodyPr wrap="square" anchor="ctr">
            <a:spAutoFit/>
          </a:bodyPr>
          <a:lstStyle/>
          <a:p>
            <a:pPr algn="ctr">
              <a:spcAft>
                <a:spcPts val="400"/>
              </a:spcAft>
            </a:pPr>
            <a:r>
              <a:rPr sz="1250" b="0">
                <a:solidFill>
                  <a:srgbClr val="5B6372"/>
                </a:solidFill>
                <a:latin typeface="Arial"/>
              </a:rPr>
              <a:t>Keep a metric at a target (e.g. 50% CPU)</a:t>
            </a:r>
          </a:p>
        </p:txBody>
      </p:sp>
      <p:sp>
        <p:nvSpPr>
          <p:cNvPr id="17" name="Rectangle 16"/>
          <p:cNvSpPr/>
          <p:nvPr/>
        </p:nvSpPr>
        <p:spPr>
          <a:xfrm>
            <a:off x="7795990" y="2286000"/>
            <a:ext cx="3615720" cy="822960"/>
          </a:xfrm>
          <a:prstGeom prst="rect">
            <a:avLst/>
          </a:prstGeom>
          <a:solidFill>
            <a:srgbClr val="F5F8FC"/>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7905718" y="2286000"/>
            <a:ext cx="3432840" cy="822960"/>
          </a:xfrm>
          <a:prstGeom prst="rect">
            <a:avLst/>
          </a:prstGeom>
          <a:noFill/>
        </p:spPr>
        <p:txBody>
          <a:bodyPr wrap="square" anchor="ctr">
            <a:spAutoFit/>
          </a:bodyPr>
          <a:lstStyle/>
          <a:p>
            <a:pPr algn="ctr">
              <a:spcAft>
                <a:spcPts val="400"/>
              </a:spcAft>
            </a:pPr>
            <a:r>
              <a:rPr sz="1250" b="0">
                <a:solidFill>
                  <a:srgbClr val="5B6372"/>
                </a:solidFill>
                <a:latin typeface="Arial"/>
              </a:rPr>
              <a:t>Default, simplest</a:t>
            </a:r>
          </a:p>
        </p:txBody>
      </p:sp>
      <p:sp>
        <p:nvSpPr>
          <p:cNvPr id="19" name="Rectangle 18"/>
          <p:cNvSpPr/>
          <p:nvPr/>
        </p:nvSpPr>
        <p:spPr>
          <a:xfrm>
            <a:off x="777240" y="3108960"/>
            <a:ext cx="2339583" cy="822960"/>
          </a:xfrm>
          <a:prstGeom prst="rect">
            <a:avLst/>
          </a:prstGeom>
          <a:solidFill>
            <a:srgbClr val="FFFFFF"/>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886968" y="3108960"/>
            <a:ext cx="2156703" cy="822960"/>
          </a:xfrm>
          <a:prstGeom prst="rect">
            <a:avLst/>
          </a:prstGeom>
          <a:noFill/>
        </p:spPr>
        <p:txBody>
          <a:bodyPr wrap="square" anchor="ctr">
            <a:spAutoFit/>
          </a:bodyPr>
          <a:lstStyle/>
          <a:p>
            <a:pPr algn="l">
              <a:spcAft>
                <a:spcPts val="400"/>
              </a:spcAft>
            </a:pPr>
            <a:r>
              <a:rPr sz="1250" b="1">
                <a:solidFill>
                  <a:srgbClr val="161B26"/>
                </a:solidFill>
                <a:latin typeface="Arial"/>
              </a:rPr>
              <a:t>Step scaling</a:t>
            </a:r>
          </a:p>
        </p:txBody>
      </p:sp>
      <p:sp>
        <p:nvSpPr>
          <p:cNvPr id="21" name="Rectangle 20"/>
          <p:cNvSpPr/>
          <p:nvPr/>
        </p:nvSpPr>
        <p:spPr>
          <a:xfrm>
            <a:off x="3116823" y="3108960"/>
            <a:ext cx="4679167" cy="822960"/>
          </a:xfrm>
          <a:prstGeom prst="rect">
            <a:avLst/>
          </a:prstGeom>
          <a:solidFill>
            <a:srgbClr val="FFFFFF"/>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3226551" y="3108960"/>
            <a:ext cx="4496287" cy="822960"/>
          </a:xfrm>
          <a:prstGeom prst="rect">
            <a:avLst/>
          </a:prstGeom>
          <a:noFill/>
        </p:spPr>
        <p:txBody>
          <a:bodyPr wrap="square" anchor="ctr">
            <a:spAutoFit/>
          </a:bodyPr>
          <a:lstStyle/>
          <a:p>
            <a:pPr algn="ctr">
              <a:spcAft>
                <a:spcPts val="400"/>
              </a:spcAft>
            </a:pPr>
            <a:r>
              <a:rPr sz="1250" b="0">
                <a:solidFill>
                  <a:srgbClr val="5B6372"/>
                </a:solidFill>
                <a:latin typeface="Arial"/>
              </a:rPr>
              <a:t>Add/remove capacity by alarm breach size</a:t>
            </a:r>
          </a:p>
        </p:txBody>
      </p:sp>
      <p:sp>
        <p:nvSpPr>
          <p:cNvPr id="23" name="Rectangle 22"/>
          <p:cNvSpPr/>
          <p:nvPr/>
        </p:nvSpPr>
        <p:spPr>
          <a:xfrm>
            <a:off x="7795990" y="3108960"/>
            <a:ext cx="3615720" cy="822960"/>
          </a:xfrm>
          <a:prstGeom prst="rect">
            <a:avLst/>
          </a:prstGeom>
          <a:solidFill>
            <a:srgbClr val="FFFFFF"/>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7905718" y="3108960"/>
            <a:ext cx="3432840" cy="822960"/>
          </a:xfrm>
          <a:prstGeom prst="rect">
            <a:avLst/>
          </a:prstGeom>
          <a:noFill/>
        </p:spPr>
        <p:txBody>
          <a:bodyPr wrap="square" anchor="ctr">
            <a:spAutoFit/>
          </a:bodyPr>
          <a:lstStyle/>
          <a:p>
            <a:pPr algn="ctr">
              <a:spcAft>
                <a:spcPts val="400"/>
              </a:spcAft>
            </a:pPr>
            <a:r>
              <a:rPr sz="1250" b="0">
                <a:solidFill>
                  <a:srgbClr val="5B6372"/>
                </a:solidFill>
                <a:latin typeface="Arial"/>
              </a:rPr>
              <a:t>Fine-grained control</a:t>
            </a:r>
          </a:p>
        </p:txBody>
      </p:sp>
      <p:sp>
        <p:nvSpPr>
          <p:cNvPr id="25" name="Rectangle 24"/>
          <p:cNvSpPr/>
          <p:nvPr/>
        </p:nvSpPr>
        <p:spPr>
          <a:xfrm>
            <a:off x="777240" y="3931920"/>
            <a:ext cx="2339583" cy="822960"/>
          </a:xfrm>
          <a:prstGeom prst="rect">
            <a:avLst/>
          </a:prstGeom>
          <a:solidFill>
            <a:srgbClr val="F5F8FC"/>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886968" y="3931920"/>
            <a:ext cx="2156703" cy="822960"/>
          </a:xfrm>
          <a:prstGeom prst="rect">
            <a:avLst/>
          </a:prstGeom>
          <a:noFill/>
        </p:spPr>
        <p:txBody>
          <a:bodyPr wrap="square" anchor="ctr">
            <a:spAutoFit/>
          </a:bodyPr>
          <a:lstStyle/>
          <a:p>
            <a:pPr algn="l">
              <a:spcAft>
                <a:spcPts val="400"/>
              </a:spcAft>
            </a:pPr>
            <a:r>
              <a:rPr sz="1250" b="1">
                <a:solidFill>
                  <a:srgbClr val="161B26"/>
                </a:solidFill>
                <a:latin typeface="Arial"/>
              </a:rPr>
              <a:t>Scheduled</a:t>
            </a:r>
          </a:p>
        </p:txBody>
      </p:sp>
      <p:sp>
        <p:nvSpPr>
          <p:cNvPr id="27" name="Rectangle 26"/>
          <p:cNvSpPr/>
          <p:nvPr/>
        </p:nvSpPr>
        <p:spPr>
          <a:xfrm>
            <a:off x="3116823" y="3931920"/>
            <a:ext cx="4679167" cy="822960"/>
          </a:xfrm>
          <a:prstGeom prst="rect">
            <a:avLst/>
          </a:prstGeom>
          <a:solidFill>
            <a:srgbClr val="F5F8FC"/>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3226551" y="3931920"/>
            <a:ext cx="4496287" cy="822960"/>
          </a:xfrm>
          <a:prstGeom prst="rect">
            <a:avLst/>
          </a:prstGeom>
          <a:noFill/>
        </p:spPr>
        <p:txBody>
          <a:bodyPr wrap="square" anchor="ctr">
            <a:spAutoFit/>
          </a:bodyPr>
          <a:lstStyle/>
          <a:p>
            <a:pPr algn="ctr">
              <a:spcAft>
                <a:spcPts val="400"/>
              </a:spcAft>
            </a:pPr>
            <a:r>
              <a:rPr sz="1250" b="0">
                <a:solidFill>
                  <a:srgbClr val="5B6372"/>
                </a:solidFill>
                <a:latin typeface="Arial"/>
              </a:rPr>
              <a:t>Scale at known times</a:t>
            </a:r>
          </a:p>
        </p:txBody>
      </p:sp>
      <p:sp>
        <p:nvSpPr>
          <p:cNvPr id="29" name="Rectangle 28"/>
          <p:cNvSpPr/>
          <p:nvPr/>
        </p:nvSpPr>
        <p:spPr>
          <a:xfrm>
            <a:off x="7795990" y="3931920"/>
            <a:ext cx="3615720" cy="822960"/>
          </a:xfrm>
          <a:prstGeom prst="rect">
            <a:avLst/>
          </a:prstGeom>
          <a:solidFill>
            <a:srgbClr val="F5F8FC"/>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7905718" y="3931920"/>
            <a:ext cx="3432840" cy="822960"/>
          </a:xfrm>
          <a:prstGeom prst="rect">
            <a:avLst/>
          </a:prstGeom>
          <a:noFill/>
        </p:spPr>
        <p:txBody>
          <a:bodyPr wrap="square" anchor="ctr">
            <a:spAutoFit/>
          </a:bodyPr>
          <a:lstStyle/>
          <a:p>
            <a:pPr algn="ctr">
              <a:spcAft>
                <a:spcPts val="400"/>
              </a:spcAft>
            </a:pPr>
            <a:r>
              <a:rPr sz="1250" b="0">
                <a:solidFill>
                  <a:srgbClr val="5B6372"/>
                </a:solidFill>
                <a:latin typeface="Arial"/>
              </a:rPr>
              <a:t>Predictable traffic patterns</a:t>
            </a:r>
          </a:p>
        </p:txBody>
      </p:sp>
      <p:sp>
        <p:nvSpPr>
          <p:cNvPr id="31" name="Rectangle 30"/>
          <p:cNvSpPr/>
          <p:nvPr/>
        </p:nvSpPr>
        <p:spPr>
          <a:xfrm>
            <a:off x="777240" y="4754880"/>
            <a:ext cx="2339583" cy="822960"/>
          </a:xfrm>
          <a:prstGeom prst="rect">
            <a:avLst/>
          </a:prstGeom>
          <a:solidFill>
            <a:srgbClr val="FFFFFF"/>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TextBox 31"/>
          <p:cNvSpPr txBox="1"/>
          <p:nvPr/>
        </p:nvSpPr>
        <p:spPr>
          <a:xfrm>
            <a:off x="886968" y="4754880"/>
            <a:ext cx="2156703" cy="822960"/>
          </a:xfrm>
          <a:prstGeom prst="rect">
            <a:avLst/>
          </a:prstGeom>
          <a:noFill/>
        </p:spPr>
        <p:txBody>
          <a:bodyPr wrap="square" anchor="ctr">
            <a:spAutoFit/>
          </a:bodyPr>
          <a:lstStyle/>
          <a:p>
            <a:pPr algn="l">
              <a:spcAft>
                <a:spcPts val="400"/>
              </a:spcAft>
            </a:pPr>
            <a:r>
              <a:rPr sz="1250" b="1">
                <a:solidFill>
                  <a:srgbClr val="161B26"/>
                </a:solidFill>
                <a:latin typeface="Arial"/>
              </a:rPr>
              <a:t>Predictive</a:t>
            </a:r>
          </a:p>
        </p:txBody>
      </p:sp>
      <p:sp>
        <p:nvSpPr>
          <p:cNvPr id="33" name="Rectangle 32"/>
          <p:cNvSpPr/>
          <p:nvPr/>
        </p:nvSpPr>
        <p:spPr>
          <a:xfrm>
            <a:off x="3116823" y="4754880"/>
            <a:ext cx="4679167" cy="822960"/>
          </a:xfrm>
          <a:prstGeom prst="rect">
            <a:avLst/>
          </a:prstGeom>
          <a:solidFill>
            <a:srgbClr val="FFFFFF"/>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TextBox 33"/>
          <p:cNvSpPr txBox="1"/>
          <p:nvPr/>
        </p:nvSpPr>
        <p:spPr>
          <a:xfrm>
            <a:off x="3226551" y="4754880"/>
            <a:ext cx="4496287" cy="822960"/>
          </a:xfrm>
          <a:prstGeom prst="rect">
            <a:avLst/>
          </a:prstGeom>
          <a:noFill/>
        </p:spPr>
        <p:txBody>
          <a:bodyPr wrap="square" anchor="ctr">
            <a:spAutoFit/>
          </a:bodyPr>
          <a:lstStyle/>
          <a:p>
            <a:pPr algn="ctr">
              <a:spcAft>
                <a:spcPts val="400"/>
              </a:spcAft>
            </a:pPr>
            <a:r>
              <a:rPr sz="1250" b="0">
                <a:solidFill>
                  <a:srgbClr val="5B6372"/>
                </a:solidFill>
                <a:latin typeface="Arial"/>
              </a:rPr>
              <a:t>ML forecasts demand ahead of time</a:t>
            </a:r>
          </a:p>
        </p:txBody>
      </p:sp>
      <p:sp>
        <p:nvSpPr>
          <p:cNvPr id="35" name="Rectangle 34"/>
          <p:cNvSpPr/>
          <p:nvPr/>
        </p:nvSpPr>
        <p:spPr>
          <a:xfrm>
            <a:off x="7795990" y="4754880"/>
            <a:ext cx="3615720" cy="822960"/>
          </a:xfrm>
          <a:prstGeom prst="rect">
            <a:avLst/>
          </a:prstGeom>
          <a:solidFill>
            <a:srgbClr val="FFFFFF"/>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TextBox 35"/>
          <p:cNvSpPr txBox="1"/>
          <p:nvPr/>
        </p:nvSpPr>
        <p:spPr>
          <a:xfrm>
            <a:off x="7905718" y="4754880"/>
            <a:ext cx="3432840" cy="822960"/>
          </a:xfrm>
          <a:prstGeom prst="rect">
            <a:avLst/>
          </a:prstGeom>
          <a:noFill/>
        </p:spPr>
        <p:txBody>
          <a:bodyPr wrap="square" anchor="ctr">
            <a:spAutoFit/>
          </a:bodyPr>
          <a:lstStyle/>
          <a:p>
            <a:pPr algn="ctr">
              <a:spcAft>
                <a:spcPts val="400"/>
              </a:spcAft>
            </a:pPr>
            <a:r>
              <a:rPr sz="1250" b="0">
                <a:solidFill>
                  <a:srgbClr val="5B6372"/>
                </a:solidFill>
                <a:latin typeface="Arial"/>
              </a:rPr>
              <a:t>Recurring cyclical load</a:t>
            </a:r>
          </a:p>
        </p:txBody>
      </p:sp>
      <p:sp>
        <p:nvSpPr>
          <p:cNvPr id="37" name="TextBox 36"/>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DevOps Engineering on AWS  ·  TGS-2023040474</a:t>
            </a:r>
          </a:p>
        </p:txBody>
      </p:sp>
      <p:sp>
        <p:nvSpPr>
          <p:cNvPr id="38" name="TextBox 37"/>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39" name="TextBox 38"/>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105</a:t>
            </a:r>
          </a:p>
        </p:txBody>
      </p:sp>
    </p:spTree>
  </p:cSld>
  <p:clrMapOvr>
    <a:masterClrMapping/>
  </p:clrMapOvr>
  <p:transition xmlns:p14="http://schemas.microsoft.com/office/powerpoint/2010/main" p14:dur="380">
    <p:fade/>
  </p:transition>
</p:sld>
</file>

<file path=ppt/slides/slide10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38912"/>
            <a:ext cx="10607040" cy="365760"/>
          </a:xfrm>
          <a:prstGeom prst="rect">
            <a:avLst/>
          </a:prstGeom>
          <a:noFill/>
        </p:spPr>
        <p:txBody>
          <a:bodyPr wrap="square" anchor="t">
            <a:spAutoFit/>
          </a:bodyPr>
          <a:lstStyle/>
          <a:p>
            <a:pPr algn="l">
              <a:spcAft>
                <a:spcPts val="400"/>
              </a:spcAft>
            </a:pPr>
            <a:r>
              <a:rPr sz="1400" b="1">
                <a:solidFill>
                  <a:srgbClr val="10B981"/>
                </a:solidFill>
                <a:latin typeface="Arial"/>
              </a:rPr>
              <a:t>DISTRIBUTING TRAFFIC</a:t>
            </a:r>
          </a:p>
        </p:txBody>
      </p:sp>
      <p:sp>
        <p:nvSpPr>
          <p:cNvPr id="5" name="TextBox 4"/>
          <p:cNvSpPr txBox="1"/>
          <p:nvPr/>
        </p:nvSpPr>
        <p:spPr>
          <a:xfrm>
            <a:off x="777240" y="804672"/>
            <a:ext cx="10927080" cy="731520"/>
          </a:xfrm>
          <a:prstGeom prst="rect">
            <a:avLst/>
          </a:prstGeom>
          <a:noFill/>
        </p:spPr>
        <p:txBody>
          <a:bodyPr wrap="square" anchor="t">
            <a:spAutoFit/>
          </a:bodyPr>
          <a:lstStyle/>
          <a:p>
            <a:pPr algn="l">
              <a:spcAft>
                <a:spcPts val="400"/>
              </a:spcAft>
            </a:pPr>
            <a:r>
              <a:rPr sz="2900" b="1">
                <a:solidFill>
                  <a:srgbClr val="161B26"/>
                </a:solidFill>
                <a:latin typeface="Arial"/>
              </a:rPr>
              <a:t>Elastic Load Balancer Types</a:t>
            </a:r>
          </a:p>
        </p:txBody>
      </p:sp>
      <p:sp>
        <p:nvSpPr>
          <p:cNvPr id="6" name="Rectangle 5"/>
          <p:cNvSpPr/>
          <p:nvPr/>
        </p:nvSpPr>
        <p:spPr>
          <a:xfrm>
            <a:off x="777240" y="1572768"/>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783080"/>
            <a:ext cx="3190341" cy="5029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886968" y="1783080"/>
            <a:ext cx="3007461" cy="502920"/>
          </a:xfrm>
          <a:prstGeom prst="rect">
            <a:avLst/>
          </a:prstGeom>
          <a:noFill/>
        </p:spPr>
        <p:txBody>
          <a:bodyPr wrap="square" anchor="ctr">
            <a:spAutoFit/>
          </a:bodyPr>
          <a:lstStyle/>
          <a:p>
            <a:pPr algn="l">
              <a:spcAft>
                <a:spcPts val="400"/>
              </a:spcAft>
            </a:pPr>
            <a:r>
              <a:rPr sz="1400" b="1">
                <a:solidFill>
                  <a:srgbClr val="FFFFFF"/>
                </a:solidFill>
                <a:latin typeface="Arial"/>
              </a:rPr>
              <a:t>Type</a:t>
            </a:r>
          </a:p>
        </p:txBody>
      </p:sp>
      <p:sp>
        <p:nvSpPr>
          <p:cNvPr id="9" name="Rectangle 8"/>
          <p:cNvSpPr/>
          <p:nvPr/>
        </p:nvSpPr>
        <p:spPr>
          <a:xfrm>
            <a:off x="3967581" y="1783080"/>
            <a:ext cx="2977652" cy="5029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4077309" y="1783080"/>
            <a:ext cx="2794772" cy="502920"/>
          </a:xfrm>
          <a:prstGeom prst="rect">
            <a:avLst/>
          </a:prstGeom>
          <a:noFill/>
        </p:spPr>
        <p:txBody>
          <a:bodyPr wrap="square" anchor="ctr">
            <a:spAutoFit/>
          </a:bodyPr>
          <a:lstStyle/>
          <a:p>
            <a:pPr algn="ctr">
              <a:spcAft>
                <a:spcPts val="400"/>
              </a:spcAft>
            </a:pPr>
            <a:r>
              <a:rPr sz="1400" b="1">
                <a:solidFill>
                  <a:srgbClr val="FFFFFF"/>
                </a:solidFill>
                <a:latin typeface="Arial"/>
              </a:rPr>
              <a:t>Layer</a:t>
            </a:r>
          </a:p>
        </p:txBody>
      </p:sp>
      <p:sp>
        <p:nvSpPr>
          <p:cNvPr id="11" name="Rectangle 10"/>
          <p:cNvSpPr/>
          <p:nvPr/>
        </p:nvSpPr>
        <p:spPr>
          <a:xfrm>
            <a:off x="6945233" y="1783080"/>
            <a:ext cx="4466478" cy="5029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7054961" y="1783080"/>
            <a:ext cx="4283598" cy="502920"/>
          </a:xfrm>
          <a:prstGeom prst="rect">
            <a:avLst/>
          </a:prstGeom>
          <a:noFill/>
        </p:spPr>
        <p:txBody>
          <a:bodyPr wrap="square" anchor="ctr">
            <a:spAutoFit/>
          </a:bodyPr>
          <a:lstStyle/>
          <a:p>
            <a:pPr algn="ctr">
              <a:spcAft>
                <a:spcPts val="400"/>
              </a:spcAft>
            </a:pPr>
            <a:r>
              <a:rPr sz="1400" b="1">
                <a:solidFill>
                  <a:srgbClr val="FFFFFF"/>
                </a:solidFill>
                <a:latin typeface="Arial"/>
              </a:rPr>
              <a:t>Best for</a:t>
            </a:r>
          </a:p>
        </p:txBody>
      </p:sp>
      <p:sp>
        <p:nvSpPr>
          <p:cNvPr id="13" name="Rectangle 12"/>
          <p:cNvSpPr/>
          <p:nvPr/>
        </p:nvSpPr>
        <p:spPr>
          <a:xfrm>
            <a:off x="777240" y="2286000"/>
            <a:ext cx="3190341" cy="822960"/>
          </a:xfrm>
          <a:prstGeom prst="rect">
            <a:avLst/>
          </a:prstGeom>
          <a:solidFill>
            <a:srgbClr val="F5F8FC"/>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886968" y="2286000"/>
            <a:ext cx="3007461" cy="822960"/>
          </a:xfrm>
          <a:prstGeom prst="rect">
            <a:avLst/>
          </a:prstGeom>
          <a:noFill/>
        </p:spPr>
        <p:txBody>
          <a:bodyPr wrap="square" anchor="ctr">
            <a:spAutoFit/>
          </a:bodyPr>
          <a:lstStyle/>
          <a:p>
            <a:pPr algn="l">
              <a:spcAft>
                <a:spcPts val="400"/>
              </a:spcAft>
            </a:pPr>
            <a:r>
              <a:rPr sz="1250" b="1">
                <a:solidFill>
                  <a:srgbClr val="161B26"/>
                </a:solidFill>
                <a:latin typeface="Arial"/>
              </a:rPr>
              <a:t>Application LB (ALB)</a:t>
            </a:r>
          </a:p>
        </p:txBody>
      </p:sp>
      <p:sp>
        <p:nvSpPr>
          <p:cNvPr id="15" name="Rectangle 14"/>
          <p:cNvSpPr/>
          <p:nvPr/>
        </p:nvSpPr>
        <p:spPr>
          <a:xfrm>
            <a:off x="3967581" y="2286000"/>
            <a:ext cx="2977652" cy="822960"/>
          </a:xfrm>
          <a:prstGeom prst="rect">
            <a:avLst/>
          </a:prstGeom>
          <a:solidFill>
            <a:srgbClr val="F5F8FC"/>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4077309" y="2286000"/>
            <a:ext cx="2794772" cy="822960"/>
          </a:xfrm>
          <a:prstGeom prst="rect">
            <a:avLst/>
          </a:prstGeom>
          <a:noFill/>
        </p:spPr>
        <p:txBody>
          <a:bodyPr wrap="square" anchor="ctr">
            <a:spAutoFit/>
          </a:bodyPr>
          <a:lstStyle/>
          <a:p>
            <a:pPr algn="ctr">
              <a:spcAft>
                <a:spcPts val="400"/>
              </a:spcAft>
            </a:pPr>
            <a:r>
              <a:rPr sz="1250" b="0">
                <a:solidFill>
                  <a:srgbClr val="5B6372"/>
                </a:solidFill>
                <a:latin typeface="Arial"/>
              </a:rPr>
              <a:t>HTTP/HTTPS (L7)</a:t>
            </a:r>
          </a:p>
        </p:txBody>
      </p:sp>
      <p:sp>
        <p:nvSpPr>
          <p:cNvPr id="17" name="Rectangle 16"/>
          <p:cNvSpPr/>
          <p:nvPr/>
        </p:nvSpPr>
        <p:spPr>
          <a:xfrm>
            <a:off x="6945233" y="2286000"/>
            <a:ext cx="4466478" cy="822960"/>
          </a:xfrm>
          <a:prstGeom prst="rect">
            <a:avLst/>
          </a:prstGeom>
          <a:solidFill>
            <a:srgbClr val="F5F8FC"/>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7054961" y="2286000"/>
            <a:ext cx="4283598" cy="822960"/>
          </a:xfrm>
          <a:prstGeom prst="rect">
            <a:avLst/>
          </a:prstGeom>
          <a:noFill/>
        </p:spPr>
        <p:txBody>
          <a:bodyPr wrap="square" anchor="ctr">
            <a:spAutoFit/>
          </a:bodyPr>
          <a:lstStyle/>
          <a:p>
            <a:pPr algn="ctr">
              <a:spcAft>
                <a:spcPts val="400"/>
              </a:spcAft>
            </a:pPr>
            <a:r>
              <a:rPr sz="1250" b="0">
                <a:solidFill>
                  <a:srgbClr val="5B6372"/>
                </a:solidFill>
                <a:latin typeface="Arial"/>
              </a:rPr>
              <a:t>Web apps, path/host routing</a:t>
            </a:r>
          </a:p>
        </p:txBody>
      </p:sp>
      <p:sp>
        <p:nvSpPr>
          <p:cNvPr id="19" name="Rectangle 18"/>
          <p:cNvSpPr/>
          <p:nvPr/>
        </p:nvSpPr>
        <p:spPr>
          <a:xfrm>
            <a:off x="777240" y="3108960"/>
            <a:ext cx="3190341" cy="822960"/>
          </a:xfrm>
          <a:prstGeom prst="rect">
            <a:avLst/>
          </a:prstGeom>
          <a:solidFill>
            <a:srgbClr val="FFFFFF"/>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886968" y="3108960"/>
            <a:ext cx="3007461" cy="822960"/>
          </a:xfrm>
          <a:prstGeom prst="rect">
            <a:avLst/>
          </a:prstGeom>
          <a:noFill/>
        </p:spPr>
        <p:txBody>
          <a:bodyPr wrap="square" anchor="ctr">
            <a:spAutoFit/>
          </a:bodyPr>
          <a:lstStyle/>
          <a:p>
            <a:pPr algn="l">
              <a:spcAft>
                <a:spcPts val="400"/>
              </a:spcAft>
            </a:pPr>
            <a:r>
              <a:rPr sz="1250" b="1">
                <a:solidFill>
                  <a:srgbClr val="161B26"/>
                </a:solidFill>
                <a:latin typeface="Arial"/>
              </a:rPr>
              <a:t>Network LB (NLB)</a:t>
            </a:r>
          </a:p>
        </p:txBody>
      </p:sp>
      <p:sp>
        <p:nvSpPr>
          <p:cNvPr id="21" name="Rectangle 20"/>
          <p:cNvSpPr/>
          <p:nvPr/>
        </p:nvSpPr>
        <p:spPr>
          <a:xfrm>
            <a:off x="3967581" y="3108960"/>
            <a:ext cx="2977652" cy="822960"/>
          </a:xfrm>
          <a:prstGeom prst="rect">
            <a:avLst/>
          </a:prstGeom>
          <a:solidFill>
            <a:srgbClr val="FFFFFF"/>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4077309" y="3108960"/>
            <a:ext cx="2794772" cy="822960"/>
          </a:xfrm>
          <a:prstGeom prst="rect">
            <a:avLst/>
          </a:prstGeom>
          <a:noFill/>
        </p:spPr>
        <p:txBody>
          <a:bodyPr wrap="square" anchor="ctr">
            <a:spAutoFit/>
          </a:bodyPr>
          <a:lstStyle/>
          <a:p>
            <a:pPr algn="ctr">
              <a:spcAft>
                <a:spcPts val="400"/>
              </a:spcAft>
            </a:pPr>
            <a:r>
              <a:rPr sz="1250" b="0">
                <a:solidFill>
                  <a:srgbClr val="5B6372"/>
                </a:solidFill>
                <a:latin typeface="Arial"/>
              </a:rPr>
              <a:t>TCP/UDP (L4)</a:t>
            </a:r>
          </a:p>
        </p:txBody>
      </p:sp>
      <p:sp>
        <p:nvSpPr>
          <p:cNvPr id="23" name="Rectangle 22"/>
          <p:cNvSpPr/>
          <p:nvPr/>
        </p:nvSpPr>
        <p:spPr>
          <a:xfrm>
            <a:off x="6945233" y="3108960"/>
            <a:ext cx="4466478" cy="822960"/>
          </a:xfrm>
          <a:prstGeom prst="rect">
            <a:avLst/>
          </a:prstGeom>
          <a:solidFill>
            <a:srgbClr val="FFFFFF"/>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7054961" y="3108960"/>
            <a:ext cx="4283598" cy="822960"/>
          </a:xfrm>
          <a:prstGeom prst="rect">
            <a:avLst/>
          </a:prstGeom>
          <a:noFill/>
        </p:spPr>
        <p:txBody>
          <a:bodyPr wrap="square" anchor="ctr">
            <a:spAutoFit/>
          </a:bodyPr>
          <a:lstStyle/>
          <a:p>
            <a:pPr algn="ctr">
              <a:spcAft>
                <a:spcPts val="400"/>
              </a:spcAft>
            </a:pPr>
            <a:r>
              <a:rPr sz="1250" b="0">
                <a:solidFill>
                  <a:srgbClr val="5B6372"/>
                </a:solidFill>
                <a:latin typeface="Arial"/>
              </a:rPr>
              <a:t>Ultra-low latency, static IP</a:t>
            </a:r>
          </a:p>
        </p:txBody>
      </p:sp>
      <p:sp>
        <p:nvSpPr>
          <p:cNvPr id="25" name="Rectangle 24"/>
          <p:cNvSpPr/>
          <p:nvPr/>
        </p:nvSpPr>
        <p:spPr>
          <a:xfrm>
            <a:off x="777240" y="3931920"/>
            <a:ext cx="3190341" cy="822960"/>
          </a:xfrm>
          <a:prstGeom prst="rect">
            <a:avLst/>
          </a:prstGeom>
          <a:solidFill>
            <a:srgbClr val="F5F8FC"/>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886968" y="3931920"/>
            <a:ext cx="3007461" cy="822960"/>
          </a:xfrm>
          <a:prstGeom prst="rect">
            <a:avLst/>
          </a:prstGeom>
          <a:noFill/>
        </p:spPr>
        <p:txBody>
          <a:bodyPr wrap="square" anchor="ctr">
            <a:spAutoFit/>
          </a:bodyPr>
          <a:lstStyle/>
          <a:p>
            <a:pPr algn="l">
              <a:spcAft>
                <a:spcPts val="400"/>
              </a:spcAft>
            </a:pPr>
            <a:r>
              <a:rPr sz="1250" b="1">
                <a:solidFill>
                  <a:srgbClr val="161B26"/>
                </a:solidFill>
                <a:latin typeface="Arial"/>
              </a:rPr>
              <a:t>Gateway LB (GWLB)</a:t>
            </a:r>
          </a:p>
        </p:txBody>
      </p:sp>
      <p:sp>
        <p:nvSpPr>
          <p:cNvPr id="27" name="Rectangle 26"/>
          <p:cNvSpPr/>
          <p:nvPr/>
        </p:nvSpPr>
        <p:spPr>
          <a:xfrm>
            <a:off x="3967581" y="3931920"/>
            <a:ext cx="2977652" cy="822960"/>
          </a:xfrm>
          <a:prstGeom prst="rect">
            <a:avLst/>
          </a:prstGeom>
          <a:solidFill>
            <a:srgbClr val="F5F8FC"/>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4077309" y="3931920"/>
            <a:ext cx="2794772" cy="822960"/>
          </a:xfrm>
          <a:prstGeom prst="rect">
            <a:avLst/>
          </a:prstGeom>
          <a:noFill/>
        </p:spPr>
        <p:txBody>
          <a:bodyPr wrap="square" anchor="ctr">
            <a:spAutoFit/>
          </a:bodyPr>
          <a:lstStyle/>
          <a:p>
            <a:pPr algn="ctr">
              <a:spcAft>
                <a:spcPts val="400"/>
              </a:spcAft>
            </a:pPr>
            <a:r>
              <a:rPr sz="1250" b="0">
                <a:solidFill>
                  <a:srgbClr val="5B6372"/>
                </a:solidFill>
                <a:latin typeface="Arial"/>
              </a:rPr>
              <a:t>L3 gateway</a:t>
            </a:r>
          </a:p>
        </p:txBody>
      </p:sp>
      <p:sp>
        <p:nvSpPr>
          <p:cNvPr id="29" name="Rectangle 28"/>
          <p:cNvSpPr/>
          <p:nvPr/>
        </p:nvSpPr>
        <p:spPr>
          <a:xfrm>
            <a:off x="6945233" y="3931920"/>
            <a:ext cx="4466478" cy="822960"/>
          </a:xfrm>
          <a:prstGeom prst="rect">
            <a:avLst/>
          </a:prstGeom>
          <a:solidFill>
            <a:srgbClr val="F5F8FC"/>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7054961" y="3931920"/>
            <a:ext cx="4283598" cy="822960"/>
          </a:xfrm>
          <a:prstGeom prst="rect">
            <a:avLst/>
          </a:prstGeom>
          <a:noFill/>
        </p:spPr>
        <p:txBody>
          <a:bodyPr wrap="square" anchor="ctr">
            <a:spAutoFit/>
          </a:bodyPr>
          <a:lstStyle/>
          <a:p>
            <a:pPr algn="ctr">
              <a:spcAft>
                <a:spcPts val="400"/>
              </a:spcAft>
            </a:pPr>
            <a:r>
              <a:rPr sz="1250" b="0">
                <a:solidFill>
                  <a:srgbClr val="5B6372"/>
                </a:solidFill>
                <a:latin typeface="Arial"/>
              </a:rPr>
              <a:t>Inline security appliances</a:t>
            </a:r>
          </a:p>
        </p:txBody>
      </p:sp>
      <p:sp>
        <p:nvSpPr>
          <p:cNvPr id="31" name="TextBox 30"/>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DevOps Engineering on AWS  ·  TGS-2023040474</a:t>
            </a:r>
          </a:p>
        </p:txBody>
      </p:sp>
      <p:sp>
        <p:nvSpPr>
          <p:cNvPr id="32" name="TextBox 31"/>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33" name="TextBox 32"/>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106</a:t>
            </a:r>
          </a:p>
        </p:txBody>
      </p:sp>
    </p:spTree>
  </p:cSld>
  <p:clrMapOvr>
    <a:masterClrMapping/>
  </p:clrMapOvr>
  <p:transition xmlns:p14="http://schemas.microsoft.com/office/powerpoint/2010/main" p14:dur="380">
    <p:fade/>
  </p:transition>
</p:sld>
</file>

<file path=ppt/slides/slide10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38912"/>
            <a:ext cx="10607040" cy="365760"/>
          </a:xfrm>
          <a:prstGeom prst="rect">
            <a:avLst/>
          </a:prstGeom>
          <a:noFill/>
        </p:spPr>
        <p:txBody>
          <a:bodyPr wrap="square" anchor="t">
            <a:spAutoFit/>
          </a:bodyPr>
          <a:lstStyle/>
          <a:p>
            <a:pPr algn="l">
              <a:spcAft>
                <a:spcPts val="400"/>
              </a:spcAft>
            </a:pPr>
            <a:r>
              <a:rPr sz="1400" b="1">
                <a:solidFill>
                  <a:srgbClr val="10B981"/>
                </a:solidFill>
                <a:latin typeface="Arial"/>
              </a:rPr>
              <a:t>DURABILITY &amp; RECOVERY</a:t>
            </a:r>
          </a:p>
        </p:txBody>
      </p:sp>
      <p:sp>
        <p:nvSpPr>
          <p:cNvPr id="5" name="TextBox 4"/>
          <p:cNvSpPr txBox="1"/>
          <p:nvPr/>
        </p:nvSpPr>
        <p:spPr>
          <a:xfrm>
            <a:off x="777240" y="804672"/>
            <a:ext cx="10927080" cy="731520"/>
          </a:xfrm>
          <a:prstGeom prst="rect">
            <a:avLst/>
          </a:prstGeom>
          <a:noFill/>
        </p:spPr>
        <p:txBody>
          <a:bodyPr wrap="square" anchor="t">
            <a:spAutoFit/>
          </a:bodyPr>
          <a:lstStyle/>
          <a:p>
            <a:pPr algn="l">
              <a:spcAft>
                <a:spcPts val="400"/>
              </a:spcAft>
            </a:pPr>
            <a:r>
              <a:rPr sz="2900" b="1">
                <a:solidFill>
                  <a:srgbClr val="161B26"/>
                </a:solidFill>
                <a:latin typeface="Arial"/>
              </a:rPr>
              <a:t>Protecting Your Data</a:t>
            </a:r>
          </a:p>
        </p:txBody>
      </p:sp>
      <p:sp>
        <p:nvSpPr>
          <p:cNvPr id="6" name="Rectangle 5"/>
          <p:cNvSpPr/>
          <p:nvPr/>
        </p:nvSpPr>
        <p:spPr>
          <a:xfrm>
            <a:off x="777240" y="1572768"/>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783080"/>
            <a:ext cx="5180076" cy="207568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1783080"/>
            <a:ext cx="91440" cy="2075688"/>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1033272" y="2546604"/>
            <a:ext cx="548640" cy="548640"/>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033272" y="2546604"/>
            <a:ext cx="548640" cy="548640"/>
          </a:xfrm>
          <a:prstGeom prst="rect">
            <a:avLst/>
          </a:prstGeom>
          <a:noFill/>
        </p:spPr>
        <p:txBody>
          <a:bodyPr wrap="square" anchor="ctr">
            <a:spAutoFit/>
          </a:bodyPr>
          <a:lstStyle/>
          <a:p>
            <a:pPr algn="ctr">
              <a:spcAft>
                <a:spcPts val="400"/>
              </a:spcAft>
            </a:pPr>
            <a:r>
              <a:rPr sz="1800" b="1">
                <a:solidFill>
                  <a:srgbClr val="FFFFFF"/>
                </a:solidFill>
                <a:latin typeface="Arial"/>
              </a:rPr>
              <a:t>1</a:t>
            </a:r>
          </a:p>
        </p:txBody>
      </p:sp>
      <p:sp>
        <p:nvSpPr>
          <p:cNvPr id="11" name="TextBox 10"/>
          <p:cNvSpPr txBox="1"/>
          <p:nvPr/>
        </p:nvSpPr>
        <p:spPr>
          <a:xfrm>
            <a:off x="1764792" y="1892808"/>
            <a:ext cx="3973068" cy="1892808"/>
          </a:xfrm>
          <a:prstGeom prst="rect">
            <a:avLst/>
          </a:prstGeom>
          <a:noFill/>
        </p:spPr>
        <p:txBody>
          <a:bodyPr wrap="square" anchor="ctr">
            <a:spAutoFit/>
          </a:bodyPr>
          <a:lstStyle/>
          <a:p>
            <a:pPr algn="l">
              <a:spcAft>
                <a:spcPts val="300"/>
              </a:spcAft>
            </a:pPr>
            <a:r>
              <a:rPr sz="1600" b="1">
                <a:solidFill>
                  <a:srgbClr val="161B26"/>
                </a:solidFill>
                <a:latin typeface="Arial"/>
              </a:rPr>
              <a:t>Multi-AZ RDS</a:t>
            </a:r>
          </a:p>
          <a:p>
            <a:pPr algn="l">
              <a:spcAft>
                <a:spcPts val="300"/>
              </a:spcAft>
            </a:pPr>
            <a:r>
              <a:rPr sz="1200" b="0">
                <a:solidFill>
                  <a:srgbClr val="5B6372"/>
                </a:solidFill>
                <a:latin typeface="Arial"/>
              </a:rPr>
              <a:t>Synchronous standby with automatic failover.</a:t>
            </a:r>
          </a:p>
        </p:txBody>
      </p:sp>
      <p:sp>
        <p:nvSpPr>
          <p:cNvPr id="12" name="Rectangle 11"/>
          <p:cNvSpPr/>
          <p:nvPr/>
        </p:nvSpPr>
        <p:spPr>
          <a:xfrm>
            <a:off x="6231636" y="1783080"/>
            <a:ext cx="5180076" cy="207568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6231636" y="1783080"/>
            <a:ext cx="91440" cy="2075688"/>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Oval 13"/>
          <p:cNvSpPr/>
          <p:nvPr/>
        </p:nvSpPr>
        <p:spPr>
          <a:xfrm>
            <a:off x="6487668" y="2546604"/>
            <a:ext cx="548640" cy="54864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6487668" y="2546604"/>
            <a:ext cx="548640" cy="548640"/>
          </a:xfrm>
          <a:prstGeom prst="rect">
            <a:avLst/>
          </a:prstGeom>
          <a:noFill/>
        </p:spPr>
        <p:txBody>
          <a:bodyPr wrap="square" anchor="ctr">
            <a:spAutoFit/>
          </a:bodyPr>
          <a:lstStyle/>
          <a:p>
            <a:pPr algn="ctr">
              <a:spcAft>
                <a:spcPts val="400"/>
              </a:spcAft>
            </a:pPr>
            <a:r>
              <a:rPr sz="1800" b="1">
                <a:solidFill>
                  <a:srgbClr val="FFFFFF"/>
                </a:solidFill>
                <a:latin typeface="Arial"/>
              </a:rPr>
              <a:t>2</a:t>
            </a:r>
          </a:p>
        </p:txBody>
      </p:sp>
      <p:sp>
        <p:nvSpPr>
          <p:cNvPr id="16" name="TextBox 15"/>
          <p:cNvSpPr txBox="1"/>
          <p:nvPr/>
        </p:nvSpPr>
        <p:spPr>
          <a:xfrm>
            <a:off x="7219188" y="1892808"/>
            <a:ext cx="3973068" cy="1892808"/>
          </a:xfrm>
          <a:prstGeom prst="rect">
            <a:avLst/>
          </a:prstGeom>
          <a:noFill/>
        </p:spPr>
        <p:txBody>
          <a:bodyPr wrap="square" anchor="ctr">
            <a:spAutoFit/>
          </a:bodyPr>
          <a:lstStyle/>
          <a:p>
            <a:pPr algn="l">
              <a:spcAft>
                <a:spcPts val="300"/>
              </a:spcAft>
            </a:pPr>
            <a:r>
              <a:rPr sz="1600" b="1">
                <a:solidFill>
                  <a:srgbClr val="161B26"/>
                </a:solidFill>
                <a:latin typeface="Arial"/>
              </a:rPr>
              <a:t>DynamoDB global tables</a:t>
            </a:r>
          </a:p>
          <a:p>
            <a:pPr algn="l">
              <a:spcAft>
                <a:spcPts val="300"/>
              </a:spcAft>
            </a:pPr>
            <a:r>
              <a:rPr sz="1200" b="0">
                <a:solidFill>
                  <a:srgbClr val="5B6372"/>
                </a:solidFill>
                <a:latin typeface="Arial"/>
              </a:rPr>
              <a:t>Multi-Region, active-active replication.</a:t>
            </a:r>
          </a:p>
        </p:txBody>
      </p:sp>
      <p:sp>
        <p:nvSpPr>
          <p:cNvPr id="17" name="Rectangle 16"/>
          <p:cNvSpPr/>
          <p:nvPr/>
        </p:nvSpPr>
        <p:spPr>
          <a:xfrm>
            <a:off x="777240" y="4078224"/>
            <a:ext cx="5180076" cy="207568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777240" y="4078224"/>
            <a:ext cx="91440" cy="2075688"/>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Oval 18"/>
          <p:cNvSpPr/>
          <p:nvPr/>
        </p:nvSpPr>
        <p:spPr>
          <a:xfrm>
            <a:off x="1033272" y="4841748"/>
            <a:ext cx="548640" cy="548640"/>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1033272" y="4841748"/>
            <a:ext cx="548640" cy="548640"/>
          </a:xfrm>
          <a:prstGeom prst="rect">
            <a:avLst/>
          </a:prstGeom>
          <a:noFill/>
        </p:spPr>
        <p:txBody>
          <a:bodyPr wrap="square" anchor="ctr">
            <a:spAutoFit/>
          </a:bodyPr>
          <a:lstStyle/>
          <a:p>
            <a:pPr algn="ctr">
              <a:spcAft>
                <a:spcPts val="400"/>
              </a:spcAft>
            </a:pPr>
            <a:r>
              <a:rPr sz="1800" b="1">
                <a:solidFill>
                  <a:srgbClr val="FFFFFF"/>
                </a:solidFill>
                <a:latin typeface="Arial"/>
              </a:rPr>
              <a:t>3</a:t>
            </a:r>
          </a:p>
        </p:txBody>
      </p:sp>
      <p:sp>
        <p:nvSpPr>
          <p:cNvPr id="21" name="TextBox 20"/>
          <p:cNvSpPr txBox="1"/>
          <p:nvPr/>
        </p:nvSpPr>
        <p:spPr>
          <a:xfrm>
            <a:off x="1764792" y="4187952"/>
            <a:ext cx="3973068" cy="1892808"/>
          </a:xfrm>
          <a:prstGeom prst="rect">
            <a:avLst/>
          </a:prstGeom>
          <a:noFill/>
        </p:spPr>
        <p:txBody>
          <a:bodyPr wrap="square" anchor="ctr">
            <a:spAutoFit/>
          </a:bodyPr>
          <a:lstStyle/>
          <a:p>
            <a:pPr algn="l">
              <a:spcAft>
                <a:spcPts val="300"/>
              </a:spcAft>
            </a:pPr>
            <a:r>
              <a:rPr sz="1600" b="1">
                <a:solidFill>
                  <a:srgbClr val="161B26"/>
                </a:solidFill>
                <a:latin typeface="Arial"/>
              </a:rPr>
              <a:t>S3 cross-Region replication</a:t>
            </a:r>
          </a:p>
          <a:p>
            <a:pPr algn="l">
              <a:spcAft>
                <a:spcPts val="300"/>
              </a:spcAft>
            </a:pPr>
            <a:r>
              <a:rPr sz="1200" b="0">
                <a:solidFill>
                  <a:srgbClr val="5B6372"/>
                </a:solidFill>
                <a:latin typeface="Arial"/>
              </a:rPr>
              <a:t>Durable object copies in another Region.</a:t>
            </a:r>
          </a:p>
        </p:txBody>
      </p:sp>
      <p:sp>
        <p:nvSpPr>
          <p:cNvPr id="22" name="Rectangle 21"/>
          <p:cNvSpPr/>
          <p:nvPr/>
        </p:nvSpPr>
        <p:spPr>
          <a:xfrm>
            <a:off x="6231636" y="4078224"/>
            <a:ext cx="5180076" cy="207568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ectangle 22"/>
          <p:cNvSpPr/>
          <p:nvPr/>
        </p:nvSpPr>
        <p:spPr>
          <a:xfrm>
            <a:off x="6231636" y="4078224"/>
            <a:ext cx="91440" cy="2075688"/>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Oval 23"/>
          <p:cNvSpPr/>
          <p:nvPr/>
        </p:nvSpPr>
        <p:spPr>
          <a:xfrm>
            <a:off x="6487668" y="4841748"/>
            <a:ext cx="548640" cy="548640"/>
          </a:xfrm>
          <a:prstGeom prst="ellipse">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6487668" y="4841748"/>
            <a:ext cx="548640" cy="548640"/>
          </a:xfrm>
          <a:prstGeom prst="rect">
            <a:avLst/>
          </a:prstGeom>
          <a:noFill/>
        </p:spPr>
        <p:txBody>
          <a:bodyPr wrap="square" anchor="ctr">
            <a:spAutoFit/>
          </a:bodyPr>
          <a:lstStyle/>
          <a:p>
            <a:pPr algn="ctr">
              <a:spcAft>
                <a:spcPts val="400"/>
              </a:spcAft>
            </a:pPr>
            <a:r>
              <a:rPr sz="1800" b="1">
                <a:solidFill>
                  <a:srgbClr val="FFFFFF"/>
                </a:solidFill>
                <a:latin typeface="Arial"/>
              </a:rPr>
              <a:t>4</a:t>
            </a:r>
          </a:p>
        </p:txBody>
      </p:sp>
      <p:sp>
        <p:nvSpPr>
          <p:cNvPr id="26" name="TextBox 25"/>
          <p:cNvSpPr txBox="1"/>
          <p:nvPr/>
        </p:nvSpPr>
        <p:spPr>
          <a:xfrm>
            <a:off x="7219188" y="4187952"/>
            <a:ext cx="3973068" cy="1892808"/>
          </a:xfrm>
          <a:prstGeom prst="rect">
            <a:avLst/>
          </a:prstGeom>
          <a:noFill/>
        </p:spPr>
        <p:txBody>
          <a:bodyPr wrap="square" anchor="ctr">
            <a:spAutoFit/>
          </a:bodyPr>
          <a:lstStyle/>
          <a:p>
            <a:pPr algn="l">
              <a:spcAft>
                <a:spcPts val="300"/>
              </a:spcAft>
            </a:pPr>
            <a:r>
              <a:rPr sz="1600" b="1">
                <a:solidFill>
                  <a:srgbClr val="161B26"/>
                </a:solidFill>
                <a:latin typeface="Arial"/>
              </a:rPr>
              <a:t>Automated snapshots</a:t>
            </a:r>
          </a:p>
          <a:p>
            <a:pPr algn="l">
              <a:spcAft>
                <a:spcPts val="300"/>
              </a:spcAft>
            </a:pPr>
            <a:r>
              <a:rPr sz="1200" b="0">
                <a:solidFill>
                  <a:srgbClr val="5B6372"/>
                </a:solidFill>
                <a:latin typeface="Arial"/>
              </a:rPr>
              <a:t>Point-in-time recovery for RDS/EBS.</a:t>
            </a:r>
          </a:p>
        </p:txBody>
      </p:sp>
      <p:sp>
        <p:nvSpPr>
          <p:cNvPr id="27" name="TextBox 26"/>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DevOps Engineering on AWS  ·  TGS-2023040474</a:t>
            </a:r>
          </a:p>
        </p:txBody>
      </p:sp>
      <p:sp>
        <p:nvSpPr>
          <p:cNvPr id="28" name="TextBox 27"/>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29" name="TextBox 28"/>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107</a:t>
            </a:r>
          </a:p>
        </p:txBody>
      </p:sp>
    </p:spTree>
  </p:cSld>
  <p:clrMapOvr>
    <a:masterClrMapping/>
  </p:clrMapOvr>
  <p:transition xmlns:p14="http://schemas.microsoft.com/office/powerpoint/2010/main" p14:dur="380">
    <p:fade/>
  </p:transition>
</p:sld>
</file>

<file path=ppt/slides/slide10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38912"/>
            <a:ext cx="10607040" cy="365760"/>
          </a:xfrm>
          <a:prstGeom prst="rect">
            <a:avLst/>
          </a:prstGeom>
          <a:noFill/>
        </p:spPr>
        <p:txBody>
          <a:bodyPr wrap="square" anchor="t">
            <a:spAutoFit/>
          </a:bodyPr>
          <a:lstStyle/>
          <a:p>
            <a:pPr algn="l">
              <a:spcAft>
                <a:spcPts val="400"/>
              </a:spcAft>
            </a:pPr>
            <a:r>
              <a:rPr sz="1400" b="1">
                <a:solidFill>
                  <a:srgbClr val="10B981"/>
                </a:solidFill>
                <a:latin typeface="Arial"/>
              </a:rPr>
              <a:t>IN DEPTH</a:t>
            </a:r>
          </a:p>
        </p:txBody>
      </p:sp>
      <p:sp>
        <p:nvSpPr>
          <p:cNvPr id="5" name="TextBox 4"/>
          <p:cNvSpPr txBox="1"/>
          <p:nvPr/>
        </p:nvSpPr>
        <p:spPr>
          <a:xfrm>
            <a:off x="777240" y="896112"/>
            <a:ext cx="10927080" cy="731520"/>
          </a:xfrm>
          <a:prstGeom prst="rect">
            <a:avLst/>
          </a:prstGeom>
          <a:noFill/>
        </p:spPr>
        <p:txBody>
          <a:bodyPr wrap="square" anchor="t">
            <a:spAutoFit/>
          </a:bodyPr>
          <a:lstStyle/>
          <a:p>
            <a:pPr algn="l">
              <a:spcAft>
                <a:spcPts val="400"/>
              </a:spcAft>
            </a:pPr>
            <a:r>
              <a:rPr sz="2500" b="1">
                <a:solidFill>
                  <a:srgbClr val="161B26"/>
                </a:solidFill>
                <a:latin typeface="Arial"/>
              </a:rPr>
              <a:t>High availability across Availability Zones</a:t>
            </a:r>
          </a:p>
        </p:txBody>
      </p:sp>
      <p:sp>
        <p:nvSpPr>
          <p:cNvPr id="6" name="Rectangle 5"/>
          <p:cNvSpPr/>
          <p:nvPr/>
        </p:nvSpPr>
        <p:spPr>
          <a:xfrm>
            <a:off x="777240" y="1572768"/>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783080"/>
            <a:ext cx="5212080" cy="425196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1783080"/>
            <a:ext cx="5212080" cy="9144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1005840" y="1938528"/>
            <a:ext cx="4754880" cy="365760"/>
          </a:xfrm>
          <a:prstGeom prst="rect">
            <a:avLst/>
          </a:prstGeom>
          <a:noFill/>
        </p:spPr>
        <p:txBody>
          <a:bodyPr wrap="square" anchor="t">
            <a:spAutoFit/>
          </a:bodyPr>
          <a:lstStyle/>
          <a:p>
            <a:pPr algn="l">
              <a:spcAft>
                <a:spcPts val="400"/>
              </a:spcAft>
            </a:pPr>
            <a:r>
              <a:rPr sz="1200" b="1">
                <a:solidFill>
                  <a:srgbClr val="10B981"/>
                </a:solidFill>
                <a:latin typeface="Arial"/>
              </a:rPr>
              <a:t>IN DEPTH</a:t>
            </a:r>
          </a:p>
        </p:txBody>
      </p:sp>
      <p:sp>
        <p:nvSpPr>
          <p:cNvPr id="10" name="TextBox 9"/>
          <p:cNvSpPr txBox="1"/>
          <p:nvPr/>
        </p:nvSpPr>
        <p:spPr>
          <a:xfrm>
            <a:off x="1005840" y="2377440"/>
            <a:ext cx="4754880" cy="3566160"/>
          </a:xfrm>
          <a:prstGeom prst="rect">
            <a:avLst/>
          </a:prstGeom>
          <a:noFill/>
        </p:spPr>
        <p:txBody>
          <a:bodyPr wrap="square">
            <a:spAutoFit/>
          </a:bodyPr>
          <a:lstStyle/>
          <a:p>
            <a:pPr>
              <a:spcAft>
                <a:spcPts val="800"/>
              </a:spcAft>
            </a:pPr>
            <a:r>
              <a:rPr sz="1350" b="0">
                <a:solidFill>
                  <a:srgbClr val="161B26"/>
                </a:solidFill>
                <a:latin typeface="Arial"/>
              </a:rPr>
              <a:t>•  Availability Zones are physically isolated data centres within a Region with independent power, cooling and networking.</a:t>
            </a:r>
          </a:p>
          <a:p>
            <a:pPr>
              <a:spcAft>
                <a:spcPts val="800"/>
              </a:spcAft>
            </a:pPr>
            <a:r>
              <a:rPr sz="1350" b="0">
                <a:solidFill>
                  <a:srgbClr val="161B26"/>
                </a:solidFill>
                <a:latin typeface="Arial"/>
              </a:rPr>
              <a:t>•  Spreading compute across at least two AZs behind an Elastic Load Balancer lets the system survive a full AZ failure.</a:t>
            </a:r>
          </a:p>
          <a:p>
            <a:pPr>
              <a:spcAft>
                <a:spcPts val="800"/>
              </a:spcAft>
            </a:pPr>
            <a:r>
              <a:rPr sz="1350" b="0">
                <a:solidFill>
                  <a:srgbClr val="161B26"/>
                </a:solidFill>
                <a:latin typeface="Arial"/>
              </a:rPr>
              <a:t>•  Stateless application tiers make AZ-level redundancy trivial — any instance can serve any request.</a:t>
            </a:r>
          </a:p>
        </p:txBody>
      </p:sp>
      <p:sp>
        <p:nvSpPr>
          <p:cNvPr id="11" name="Rectangle 10"/>
          <p:cNvSpPr/>
          <p:nvPr/>
        </p:nvSpPr>
        <p:spPr>
          <a:xfrm>
            <a:off x="6172200" y="1783080"/>
            <a:ext cx="5239512" cy="1325880"/>
          </a:xfrm>
          <a:prstGeom prst="rect">
            <a:avLst/>
          </a:prstGeom>
          <a:solidFill>
            <a:srgbClr val="FFFFFF"/>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ectangle 11"/>
          <p:cNvSpPr/>
          <p:nvPr/>
        </p:nvSpPr>
        <p:spPr>
          <a:xfrm>
            <a:off x="6172200" y="1783080"/>
            <a:ext cx="91440" cy="132588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6428232" y="1892808"/>
            <a:ext cx="4782312" cy="320040"/>
          </a:xfrm>
          <a:prstGeom prst="rect">
            <a:avLst/>
          </a:prstGeom>
          <a:noFill/>
        </p:spPr>
        <p:txBody>
          <a:bodyPr wrap="square" anchor="t">
            <a:spAutoFit/>
          </a:bodyPr>
          <a:lstStyle/>
          <a:p>
            <a:pPr algn="l">
              <a:spcAft>
                <a:spcPts val="400"/>
              </a:spcAft>
            </a:pPr>
            <a:r>
              <a:rPr sz="1150" b="1">
                <a:solidFill>
                  <a:srgbClr val="10B981"/>
                </a:solidFill>
                <a:latin typeface="Arial"/>
              </a:rPr>
              <a:t>WHY IT MATTERS</a:t>
            </a:r>
          </a:p>
        </p:txBody>
      </p:sp>
      <p:sp>
        <p:nvSpPr>
          <p:cNvPr id="14" name="TextBox 13"/>
          <p:cNvSpPr txBox="1"/>
          <p:nvPr/>
        </p:nvSpPr>
        <p:spPr>
          <a:xfrm>
            <a:off x="6428232" y="2221992"/>
            <a:ext cx="4782312" cy="822960"/>
          </a:xfrm>
          <a:prstGeom prst="rect">
            <a:avLst/>
          </a:prstGeom>
          <a:noFill/>
        </p:spPr>
        <p:txBody>
          <a:bodyPr wrap="square" anchor="t">
            <a:spAutoFit/>
          </a:bodyPr>
          <a:lstStyle/>
          <a:p>
            <a:pPr algn="l">
              <a:spcAft>
                <a:spcPts val="400"/>
              </a:spcAft>
            </a:pPr>
            <a:r>
              <a:rPr sz="1250" b="0">
                <a:solidFill>
                  <a:srgbClr val="161B26"/>
                </a:solidFill>
                <a:latin typeface="Arial"/>
              </a:rPr>
              <a:t>Multi-AZ is the cheapest, highest-leverage resilience decision — most real outages are single-AZ or single-instance, both survivable.</a:t>
            </a:r>
          </a:p>
        </p:txBody>
      </p:sp>
      <p:sp>
        <p:nvSpPr>
          <p:cNvPr id="15" name="Rectangle 14"/>
          <p:cNvSpPr/>
          <p:nvPr/>
        </p:nvSpPr>
        <p:spPr>
          <a:xfrm>
            <a:off x="6172200" y="3246120"/>
            <a:ext cx="5239512" cy="1325880"/>
          </a:xfrm>
          <a:prstGeom prst="rect">
            <a:avLst/>
          </a:prstGeom>
          <a:solidFill>
            <a:srgbClr val="FFFFFF"/>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ectangle 15"/>
          <p:cNvSpPr/>
          <p:nvPr/>
        </p:nvSpPr>
        <p:spPr>
          <a:xfrm>
            <a:off x="6172200" y="3246120"/>
            <a:ext cx="91440" cy="1325880"/>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6428232" y="3355848"/>
            <a:ext cx="4782312" cy="320040"/>
          </a:xfrm>
          <a:prstGeom prst="rect">
            <a:avLst/>
          </a:prstGeom>
          <a:noFill/>
        </p:spPr>
        <p:txBody>
          <a:bodyPr wrap="square" anchor="t">
            <a:spAutoFit/>
          </a:bodyPr>
          <a:lstStyle/>
          <a:p>
            <a:pPr algn="l">
              <a:spcAft>
                <a:spcPts val="400"/>
              </a:spcAft>
            </a:pPr>
            <a:r>
              <a:rPr sz="1150" b="1">
                <a:solidFill>
                  <a:srgbClr val="C0392B"/>
                </a:solidFill>
                <a:latin typeface="Arial"/>
              </a:rPr>
              <a:t>FAILURE MODE</a:t>
            </a:r>
          </a:p>
        </p:txBody>
      </p:sp>
      <p:sp>
        <p:nvSpPr>
          <p:cNvPr id="18" name="TextBox 17"/>
          <p:cNvSpPr txBox="1"/>
          <p:nvPr/>
        </p:nvSpPr>
        <p:spPr>
          <a:xfrm>
            <a:off x="6428232" y="3685032"/>
            <a:ext cx="4782312" cy="822960"/>
          </a:xfrm>
          <a:prstGeom prst="rect">
            <a:avLst/>
          </a:prstGeom>
          <a:noFill/>
        </p:spPr>
        <p:txBody>
          <a:bodyPr wrap="square" anchor="t">
            <a:spAutoFit/>
          </a:bodyPr>
          <a:lstStyle/>
          <a:p>
            <a:pPr algn="l">
              <a:spcAft>
                <a:spcPts val="400"/>
              </a:spcAft>
            </a:pPr>
            <a:r>
              <a:rPr sz="1250" b="0">
                <a:solidFill>
                  <a:srgbClr val="161B26"/>
                </a:solidFill>
                <a:latin typeface="Arial"/>
              </a:rPr>
              <a:t>A single-AZ deployment, or a stateful session pinned to one instance, turns a routine hardware failure into a customer-visible outage.</a:t>
            </a:r>
          </a:p>
        </p:txBody>
      </p:sp>
      <p:sp>
        <p:nvSpPr>
          <p:cNvPr id="19" name="Rectangle 18"/>
          <p:cNvSpPr/>
          <p:nvPr/>
        </p:nvSpPr>
        <p:spPr>
          <a:xfrm>
            <a:off x="6172200" y="4709160"/>
            <a:ext cx="5239512" cy="1325880"/>
          </a:xfrm>
          <a:prstGeom prst="rect">
            <a:avLst/>
          </a:prstGeom>
          <a:solidFill>
            <a:srgbClr val="FFFFFF"/>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Rectangle 19"/>
          <p:cNvSpPr/>
          <p:nvPr/>
        </p:nvSpPr>
        <p:spPr>
          <a:xfrm>
            <a:off x="6172200" y="4709160"/>
            <a:ext cx="91440" cy="1325880"/>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6428232" y="4818888"/>
            <a:ext cx="4782312" cy="320040"/>
          </a:xfrm>
          <a:prstGeom prst="rect">
            <a:avLst/>
          </a:prstGeom>
          <a:noFill/>
        </p:spPr>
        <p:txBody>
          <a:bodyPr wrap="square" anchor="t">
            <a:spAutoFit/>
          </a:bodyPr>
          <a:lstStyle/>
          <a:p>
            <a:pPr algn="l">
              <a:spcAft>
                <a:spcPts val="400"/>
              </a:spcAft>
            </a:pPr>
            <a:r>
              <a:rPr sz="1150" b="1">
                <a:solidFill>
                  <a:srgbClr val="F59E0B"/>
                </a:solidFill>
                <a:latin typeface="Arial"/>
              </a:rPr>
              <a:t>TRADE-OFF / DECISION</a:t>
            </a:r>
          </a:p>
        </p:txBody>
      </p:sp>
      <p:sp>
        <p:nvSpPr>
          <p:cNvPr id="22" name="TextBox 21"/>
          <p:cNvSpPr txBox="1"/>
          <p:nvPr/>
        </p:nvSpPr>
        <p:spPr>
          <a:xfrm>
            <a:off x="6428232" y="5148072"/>
            <a:ext cx="4782312" cy="822960"/>
          </a:xfrm>
          <a:prstGeom prst="rect">
            <a:avLst/>
          </a:prstGeom>
          <a:noFill/>
        </p:spPr>
        <p:txBody>
          <a:bodyPr wrap="square" anchor="t">
            <a:spAutoFit/>
          </a:bodyPr>
          <a:lstStyle/>
          <a:p>
            <a:pPr algn="l">
              <a:spcAft>
                <a:spcPts val="400"/>
              </a:spcAft>
            </a:pPr>
            <a:r>
              <a:rPr sz="1250" b="0">
                <a:solidFill>
                  <a:srgbClr val="161B26"/>
                </a:solidFill>
                <a:latin typeface="Arial"/>
              </a:rPr>
              <a:t>Cross-AZ traffic incurs latency and data-transfer cost — a fair price for surviving an AZ loss.</a:t>
            </a:r>
          </a:p>
        </p:txBody>
      </p:sp>
      <p:sp>
        <p:nvSpPr>
          <p:cNvPr id="23" name="TextBox 22"/>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DevOps Engineering on AWS  ·  TGS-2023040474</a:t>
            </a:r>
          </a:p>
        </p:txBody>
      </p:sp>
      <p:sp>
        <p:nvSpPr>
          <p:cNvPr id="24" name="TextBox 23"/>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25" name="TextBox 24"/>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108</a:t>
            </a:r>
          </a:p>
        </p:txBody>
      </p:sp>
    </p:spTree>
  </p:cSld>
  <p:clrMapOvr>
    <a:masterClrMapping/>
  </p:clrMapOvr>
  <p:transition xmlns:p14="http://schemas.microsoft.com/office/powerpoint/2010/main" p14:dur="380">
    <p:fade/>
  </p:transition>
</p:sld>
</file>

<file path=ppt/slides/slide11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38912"/>
            <a:ext cx="10607040" cy="365760"/>
          </a:xfrm>
          <a:prstGeom prst="rect">
            <a:avLst/>
          </a:prstGeom>
          <a:noFill/>
        </p:spPr>
        <p:txBody>
          <a:bodyPr wrap="square" anchor="t">
            <a:spAutoFit/>
          </a:bodyPr>
          <a:lstStyle/>
          <a:p>
            <a:pPr algn="l">
              <a:spcAft>
                <a:spcPts val="400"/>
              </a:spcAft>
            </a:pPr>
            <a:r>
              <a:rPr sz="1400" b="1">
                <a:solidFill>
                  <a:srgbClr val="10B981"/>
                </a:solidFill>
                <a:latin typeface="Arial"/>
              </a:rPr>
              <a:t>IN DEPTH</a:t>
            </a:r>
          </a:p>
        </p:txBody>
      </p:sp>
      <p:sp>
        <p:nvSpPr>
          <p:cNvPr id="5" name="TextBox 4"/>
          <p:cNvSpPr txBox="1"/>
          <p:nvPr/>
        </p:nvSpPr>
        <p:spPr>
          <a:xfrm>
            <a:off x="777240" y="804672"/>
            <a:ext cx="10927080" cy="731520"/>
          </a:xfrm>
          <a:prstGeom prst="rect">
            <a:avLst/>
          </a:prstGeom>
          <a:noFill/>
        </p:spPr>
        <p:txBody>
          <a:bodyPr wrap="square" anchor="t">
            <a:spAutoFit/>
          </a:bodyPr>
          <a:lstStyle/>
          <a:p>
            <a:pPr algn="l">
              <a:spcAft>
                <a:spcPts val="400"/>
              </a:spcAft>
            </a:pPr>
            <a:r>
              <a:rPr sz="2900" b="1">
                <a:solidFill>
                  <a:srgbClr val="161B26"/>
                </a:solidFill>
                <a:latin typeface="Arial"/>
              </a:rPr>
              <a:t>Elasticity and Auto Scaling</a:t>
            </a:r>
          </a:p>
        </p:txBody>
      </p:sp>
      <p:sp>
        <p:nvSpPr>
          <p:cNvPr id="6" name="Rectangle 5"/>
          <p:cNvSpPr/>
          <p:nvPr/>
        </p:nvSpPr>
        <p:spPr>
          <a:xfrm>
            <a:off x="777240" y="1572768"/>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783080"/>
            <a:ext cx="5212080" cy="425196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1783080"/>
            <a:ext cx="5212080" cy="9144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1005840" y="1938528"/>
            <a:ext cx="4754880" cy="365760"/>
          </a:xfrm>
          <a:prstGeom prst="rect">
            <a:avLst/>
          </a:prstGeom>
          <a:noFill/>
        </p:spPr>
        <p:txBody>
          <a:bodyPr wrap="square" anchor="t">
            <a:spAutoFit/>
          </a:bodyPr>
          <a:lstStyle/>
          <a:p>
            <a:pPr algn="l">
              <a:spcAft>
                <a:spcPts val="400"/>
              </a:spcAft>
            </a:pPr>
            <a:r>
              <a:rPr sz="1200" b="1">
                <a:solidFill>
                  <a:srgbClr val="10B981"/>
                </a:solidFill>
                <a:latin typeface="Arial"/>
              </a:rPr>
              <a:t>IN DEPTH</a:t>
            </a:r>
          </a:p>
        </p:txBody>
      </p:sp>
      <p:sp>
        <p:nvSpPr>
          <p:cNvPr id="10" name="TextBox 9"/>
          <p:cNvSpPr txBox="1"/>
          <p:nvPr/>
        </p:nvSpPr>
        <p:spPr>
          <a:xfrm>
            <a:off x="1005840" y="2377440"/>
            <a:ext cx="4754880" cy="3566160"/>
          </a:xfrm>
          <a:prstGeom prst="rect">
            <a:avLst/>
          </a:prstGeom>
          <a:noFill/>
        </p:spPr>
        <p:txBody>
          <a:bodyPr wrap="square">
            <a:spAutoFit/>
          </a:bodyPr>
          <a:lstStyle/>
          <a:p>
            <a:pPr>
              <a:spcAft>
                <a:spcPts val="800"/>
              </a:spcAft>
            </a:pPr>
            <a:r>
              <a:rPr sz="1350" b="0">
                <a:solidFill>
                  <a:srgbClr val="161B26"/>
                </a:solidFill>
                <a:latin typeface="Arial"/>
              </a:rPr>
              <a:t>•  Auto Scaling groups add and remove instances to match demand and replace unhealthy ones automatically.</a:t>
            </a:r>
          </a:p>
          <a:p>
            <a:pPr>
              <a:spcAft>
                <a:spcPts val="800"/>
              </a:spcAft>
            </a:pPr>
            <a:r>
              <a:rPr sz="1350" b="0">
                <a:solidFill>
                  <a:srgbClr val="161B26"/>
                </a:solidFill>
                <a:latin typeface="Arial"/>
              </a:rPr>
              <a:t>•  Target tracking holds a metric (e.g. 50% CPU) at target; step and scheduled policies handle spikes and known patterns; predictive scaling forecasts demand.</a:t>
            </a:r>
          </a:p>
          <a:p>
            <a:pPr>
              <a:spcAft>
                <a:spcPts val="800"/>
              </a:spcAft>
            </a:pPr>
            <a:r>
              <a:rPr sz="1350" b="0">
                <a:solidFill>
                  <a:srgbClr val="161B26"/>
                </a:solidFill>
                <a:latin typeface="Arial"/>
              </a:rPr>
              <a:t>•  Health checks (EC2 and ELB) let the group cull and replace bad instances without human action.</a:t>
            </a:r>
          </a:p>
        </p:txBody>
      </p:sp>
      <p:sp>
        <p:nvSpPr>
          <p:cNvPr id="11" name="Rectangle 10"/>
          <p:cNvSpPr/>
          <p:nvPr/>
        </p:nvSpPr>
        <p:spPr>
          <a:xfrm>
            <a:off x="6172200" y="1783080"/>
            <a:ext cx="5239512" cy="1325880"/>
          </a:xfrm>
          <a:prstGeom prst="rect">
            <a:avLst/>
          </a:prstGeom>
          <a:solidFill>
            <a:srgbClr val="FFFFFF"/>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ectangle 11"/>
          <p:cNvSpPr/>
          <p:nvPr/>
        </p:nvSpPr>
        <p:spPr>
          <a:xfrm>
            <a:off x="6172200" y="1783080"/>
            <a:ext cx="91440" cy="132588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6428232" y="1892808"/>
            <a:ext cx="4782312" cy="320040"/>
          </a:xfrm>
          <a:prstGeom prst="rect">
            <a:avLst/>
          </a:prstGeom>
          <a:noFill/>
        </p:spPr>
        <p:txBody>
          <a:bodyPr wrap="square" anchor="t">
            <a:spAutoFit/>
          </a:bodyPr>
          <a:lstStyle/>
          <a:p>
            <a:pPr algn="l">
              <a:spcAft>
                <a:spcPts val="400"/>
              </a:spcAft>
            </a:pPr>
            <a:r>
              <a:rPr sz="1150" b="1">
                <a:solidFill>
                  <a:srgbClr val="10B981"/>
                </a:solidFill>
                <a:latin typeface="Arial"/>
              </a:rPr>
              <a:t>WHY IT MATTERS</a:t>
            </a:r>
          </a:p>
        </p:txBody>
      </p:sp>
      <p:sp>
        <p:nvSpPr>
          <p:cNvPr id="14" name="TextBox 13"/>
          <p:cNvSpPr txBox="1"/>
          <p:nvPr/>
        </p:nvSpPr>
        <p:spPr>
          <a:xfrm>
            <a:off x="6428232" y="2221992"/>
            <a:ext cx="4782312" cy="822960"/>
          </a:xfrm>
          <a:prstGeom prst="rect">
            <a:avLst/>
          </a:prstGeom>
          <a:noFill/>
        </p:spPr>
        <p:txBody>
          <a:bodyPr wrap="square" anchor="t">
            <a:spAutoFit/>
          </a:bodyPr>
          <a:lstStyle/>
          <a:p>
            <a:pPr algn="l">
              <a:spcAft>
                <a:spcPts val="400"/>
              </a:spcAft>
            </a:pPr>
            <a:r>
              <a:rPr sz="1250" b="0">
                <a:solidFill>
                  <a:srgbClr val="161B26"/>
                </a:solidFill>
                <a:latin typeface="Arial"/>
              </a:rPr>
              <a:t>Elasticity matches cost to demand and provides self-healing — a terminated instance is silently replaced.</a:t>
            </a:r>
          </a:p>
        </p:txBody>
      </p:sp>
      <p:sp>
        <p:nvSpPr>
          <p:cNvPr id="15" name="Rectangle 14"/>
          <p:cNvSpPr/>
          <p:nvPr/>
        </p:nvSpPr>
        <p:spPr>
          <a:xfrm>
            <a:off x="6172200" y="3246120"/>
            <a:ext cx="5239512" cy="1325880"/>
          </a:xfrm>
          <a:prstGeom prst="rect">
            <a:avLst/>
          </a:prstGeom>
          <a:solidFill>
            <a:srgbClr val="FFFFFF"/>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ectangle 15"/>
          <p:cNvSpPr/>
          <p:nvPr/>
        </p:nvSpPr>
        <p:spPr>
          <a:xfrm>
            <a:off x="6172200" y="3246120"/>
            <a:ext cx="91440" cy="1325880"/>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6428232" y="3355848"/>
            <a:ext cx="4782312" cy="320040"/>
          </a:xfrm>
          <a:prstGeom prst="rect">
            <a:avLst/>
          </a:prstGeom>
          <a:noFill/>
        </p:spPr>
        <p:txBody>
          <a:bodyPr wrap="square" anchor="t">
            <a:spAutoFit/>
          </a:bodyPr>
          <a:lstStyle/>
          <a:p>
            <a:pPr algn="l">
              <a:spcAft>
                <a:spcPts val="400"/>
              </a:spcAft>
            </a:pPr>
            <a:r>
              <a:rPr sz="1150" b="1">
                <a:solidFill>
                  <a:srgbClr val="C0392B"/>
                </a:solidFill>
                <a:latin typeface="Arial"/>
              </a:rPr>
              <a:t>FAILURE MODE</a:t>
            </a:r>
          </a:p>
        </p:txBody>
      </p:sp>
      <p:sp>
        <p:nvSpPr>
          <p:cNvPr id="18" name="TextBox 17"/>
          <p:cNvSpPr txBox="1"/>
          <p:nvPr/>
        </p:nvSpPr>
        <p:spPr>
          <a:xfrm>
            <a:off x="6428232" y="3685032"/>
            <a:ext cx="4782312" cy="822960"/>
          </a:xfrm>
          <a:prstGeom prst="rect">
            <a:avLst/>
          </a:prstGeom>
          <a:noFill/>
        </p:spPr>
        <p:txBody>
          <a:bodyPr wrap="square" anchor="t">
            <a:spAutoFit/>
          </a:bodyPr>
          <a:lstStyle/>
          <a:p>
            <a:pPr algn="l">
              <a:spcAft>
                <a:spcPts val="400"/>
              </a:spcAft>
            </a:pPr>
            <a:r>
              <a:rPr sz="1250" b="0">
                <a:solidFill>
                  <a:srgbClr val="161B26"/>
                </a:solidFill>
                <a:latin typeface="Arial"/>
              </a:rPr>
              <a:t>Scaling on the wrong metric (CPU for an I/O-bound app) leaves you slow under load and over-provisioned when idle.</a:t>
            </a:r>
          </a:p>
        </p:txBody>
      </p:sp>
      <p:sp>
        <p:nvSpPr>
          <p:cNvPr id="19" name="Rectangle 18"/>
          <p:cNvSpPr/>
          <p:nvPr/>
        </p:nvSpPr>
        <p:spPr>
          <a:xfrm>
            <a:off x="6172200" y="4709160"/>
            <a:ext cx="5239512" cy="1325880"/>
          </a:xfrm>
          <a:prstGeom prst="rect">
            <a:avLst/>
          </a:prstGeom>
          <a:solidFill>
            <a:srgbClr val="FFFFFF"/>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Rectangle 19"/>
          <p:cNvSpPr/>
          <p:nvPr/>
        </p:nvSpPr>
        <p:spPr>
          <a:xfrm>
            <a:off x="6172200" y="4709160"/>
            <a:ext cx="91440" cy="1325880"/>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6428232" y="4818888"/>
            <a:ext cx="4782312" cy="320040"/>
          </a:xfrm>
          <a:prstGeom prst="rect">
            <a:avLst/>
          </a:prstGeom>
          <a:noFill/>
        </p:spPr>
        <p:txBody>
          <a:bodyPr wrap="square" anchor="t">
            <a:spAutoFit/>
          </a:bodyPr>
          <a:lstStyle/>
          <a:p>
            <a:pPr algn="l">
              <a:spcAft>
                <a:spcPts val="400"/>
              </a:spcAft>
            </a:pPr>
            <a:r>
              <a:rPr sz="1150" b="1">
                <a:solidFill>
                  <a:srgbClr val="F59E0B"/>
                </a:solidFill>
                <a:latin typeface="Arial"/>
              </a:rPr>
              <a:t>TRADE-OFF / DECISION</a:t>
            </a:r>
          </a:p>
        </p:txBody>
      </p:sp>
      <p:sp>
        <p:nvSpPr>
          <p:cNvPr id="22" name="TextBox 21"/>
          <p:cNvSpPr txBox="1"/>
          <p:nvPr/>
        </p:nvSpPr>
        <p:spPr>
          <a:xfrm>
            <a:off x="6428232" y="5148072"/>
            <a:ext cx="4782312" cy="822960"/>
          </a:xfrm>
          <a:prstGeom prst="rect">
            <a:avLst/>
          </a:prstGeom>
          <a:noFill/>
        </p:spPr>
        <p:txBody>
          <a:bodyPr wrap="square" anchor="t">
            <a:spAutoFit/>
          </a:bodyPr>
          <a:lstStyle/>
          <a:p>
            <a:pPr algn="l">
              <a:spcAft>
                <a:spcPts val="400"/>
              </a:spcAft>
            </a:pPr>
            <a:r>
              <a:rPr sz="1250" b="0">
                <a:solidFill>
                  <a:srgbClr val="161B26"/>
                </a:solidFill>
                <a:latin typeface="Arial"/>
              </a:rPr>
              <a:t>Aggressive scaling reacts fast but can thrash — tune cooldowns and warm-up so the group settles.</a:t>
            </a:r>
          </a:p>
        </p:txBody>
      </p:sp>
      <p:sp>
        <p:nvSpPr>
          <p:cNvPr id="23" name="TextBox 22"/>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DevOps Engineering on AWS  ·  TGS-2023040474</a:t>
            </a:r>
          </a:p>
        </p:txBody>
      </p:sp>
      <p:sp>
        <p:nvSpPr>
          <p:cNvPr id="24" name="TextBox 23"/>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25" name="TextBox 24"/>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109</a:t>
            </a:r>
          </a:p>
        </p:txBody>
      </p:sp>
    </p:spTree>
  </p:cSld>
  <p:clrMapOvr>
    <a:masterClrMapping/>
  </p:clrMapOvr>
  <p:transition xmlns:p14="http://schemas.microsoft.com/office/powerpoint/2010/main" p14:dur="380">
    <p:fade/>
  </p:transition>
</p:sld>
</file>

<file path=ppt/slides/slide11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38912"/>
            <a:ext cx="10607040" cy="365760"/>
          </a:xfrm>
          <a:prstGeom prst="rect">
            <a:avLst/>
          </a:prstGeom>
          <a:noFill/>
        </p:spPr>
        <p:txBody>
          <a:bodyPr wrap="square" anchor="t">
            <a:spAutoFit/>
          </a:bodyPr>
          <a:lstStyle/>
          <a:p>
            <a:pPr algn="l">
              <a:spcAft>
                <a:spcPts val="400"/>
              </a:spcAft>
            </a:pPr>
            <a:r>
              <a:rPr sz="1400" b="1">
                <a:solidFill>
                  <a:srgbClr val="10B981"/>
                </a:solidFill>
                <a:latin typeface="Arial"/>
              </a:rPr>
              <a:t>IN DEPTH</a:t>
            </a:r>
          </a:p>
        </p:txBody>
      </p:sp>
      <p:sp>
        <p:nvSpPr>
          <p:cNvPr id="5" name="TextBox 4"/>
          <p:cNvSpPr txBox="1"/>
          <p:nvPr/>
        </p:nvSpPr>
        <p:spPr>
          <a:xfrm>
            <a:off x="777240" y="804672"/>
            <a:ext cx="10927080" cy="731520"/>
          </a:xfrm>
          <a:prstGeom prst="rect">
            <a:avLst/>
          </a:prstGeom>
          <a:noFill/>
        </p:spPr>
        <p:txBody>
          <a:bodyPr wrap="square" anchor="t">
            <a:spAutoFit/>
          </a:bodyPr>
          <a:lstStyle/>
          <a:p>
            <a:pPr algn="l">
              <a:spcAft>
                <a:spcPts val="400"/>
              </a:spcAft>
            </a:pPr>
            <a:r>
              <a:rPr sz="2900" b="1">
                <a:solidFill>
                  <a:srgbClr val="161B26"/>
                </a:solidFill>
                <a:latin typeface="Arial"/>
              </a:rPr>
              <a:t>Load balancer types and when to use them</a:t>
            </a:r>
          </a:p>
        </p:txBody>
      </p:sp>
      <p:sp>
        <p:nvSpPr>
          <p:cNvPr id="6" name="Rectangle 5"/>
          <p:cNvSpPr/>
          <p:nvPr/>
        </p:nvSpPr>
        <p:spPr>
          <a:xfrm>
            <a:off x="777240" y="1572768"/>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783080"/>
            <a:ext cx="5212080" cy="425196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1783080"/>
            <a:ext cx="5212080" cy="9144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1005840" y="1938528"/>
            <a:ext cx="4754880" cy="365760"/>
          </a:xfrm>
          <a:prstGeom prst="rect">
            <a:avLst/>
          </a:prstGeom>
          <a:noFill/>
        </p:spPr>
        <p:txBody>
          <a:bodyPr wrap="square" anchor="t">
            <a:spAutoFit/>
          </a:bodyPr>
          <a:lstStyle/>
          <a:p>
            <a:pPr algn="l">
              <a:spcAft>
                <a:spcPts val="400"/>
              </a:spcAft>
            </a:pPr>
            <a:r>
              <a:rPr sz="1200" b="1">
                <a:solidFill>
                  <a:srgbClr val="10B981"/>
                </a:solidFill>
                <a:latin typeface="Arial"/>
              </a:rPr>
              <a:t>IN DEPTH</a:t>
            </a:r>
          </a:p>
        </p:txBody>
      </p:sp>
      <p:sp>
        <p:nvSpPr>
          <p:cNvPr id="10" name="TextBox 9"/>
          <p:cNvSpPr txBox="1"/>
          <p:nvPr/>
        </p:nvSpPr>
        <p:spPr>
          <a:xfrm>
            <a:off x="1005840" y="2377440"/>
            <a:ext cx="4754880" cy="3566160"/>
          </a:xfrm>
          <a:prstGeom prst="rect">
            <a:avLst/>
          </a:prstGeom>
          <a:noFill/>
        </p:spPr>
        <p:txBody>
          <a:bodyPr wrap="square">
            <a:spAutoFit/>
          </a:bodyPr>
          <a:lstStyle/>
          <a:p>
            <a:pPr>
              <a:spcAft>
                <a:spcPts val="800"/>
              </a:spcAft>
            </a:pPr>
            <a:r>
              <a:rPr sz="1350" b="0">
                <a:solidFill>
                  <a:srgbClr val="161B26"/>
                </a:solidFill>
                <a:latin typeface="Arial"/>
              </a:rPr>
              <a:t>•  Application Load Balancer routes HTTP/HTTPS with host/path rules and works well with containers and Lambda targets.</a:t>
            </a:r>
          </a:p>
          <a:p>
            <a:pPr>
              <a:spcAft>
                <a:spcPts val="800"/>
              </a:spcAft>
            </a:pPr>
            <a:r>
              <a:rPr sz="1350" b="0">
                <a:solidFill>
                  <a:srgbClr val="161B26"/>
                </a:solidFill>
                <a:latin typeface="Arial"/>
              </a:rPr>
              <a:t>•  Network Load Balancer handles TCP/UDP at ultra-low latency with static IPs.</a:t>
            </a:r>
          </a:p>
          <a:p>
            <a:pPr>
              <a:spcAft>
                <a:spcPts val="800"/>
              </a:spcAft>
            </a:pPr>
            <a:r>
              <a:rPr sz="1350" b="0">
                <a:solidFill>
                  <a:srgbClr val="161B26"/>
                </a:solidFill>
                <a:latin typeface="Arial"/>
              </a:rPr>
              <a:t>•  Gateway Load Balancer inserts inline security appliances transparently.</a:t>
            </a:r>
          </a:p>
        </p:txBody>
      </p:sp>
      <p:sp>
        <p:nvSpPr>
          <p:cNvPr id="11" name="Rectangle 10"/>
          <p:cNvSpPr/>
          <p:nvPr/>
        </p:nvSpPr>
        <p:spPr>
          <a:xfrm>
            <a:off x="6172200" y="1783080"/>
            <a:ext cx="5239512" cy="1325880"/>
          </a:xfrm>
          <a:prstGeom prst="rect">
            <a:avLst/>
          </a:prstGeom>
          <a:solidFill>
            <a:srgbClr val="FFFFFF"/>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ectangle 11"/>
          <p:cNvSpPr/>
          <p:nvPr/>
        </p:nvSpPr>
        <p:spPr>
          <a:xfrm>
            <a:off x="6172200" y="1783080"/>
            <a:ext cx="91440" cy="132588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6428232" y="1892808"/>
            <a:ext cx="4782312" cy="320040"/>
          </a:xfrm>
          <a:prstGeom prst="rect">
            <a:avLst/>
          </a:prstGeom>
          <a:noFill/>
        </p:spPr>
        <p:txBody>
          <a:bodyPr wrap="square" anchor="t">
            <a:spAutoFit/>
          </a:bodyPr>
          <a:lstStyle/>
          <a:p>
            <a:pPr algn="l">
              <a:spcAft>
                <a:spcPts val="400"/>
              </a:spcAft>
            </a:pPr>
            <a:r>
              <a:rPr sz="1150" b="1">
                <a:solidFill>
                  <a:srgbClr val="10B981"/>
                </a:solidFill>
                <a:latin typeface="Arial"/>
              </a:rPr>
              <a:t>WHY IT MATTERS</a:t>
            </a:r>
          </a:p>
        </p:txBody>
      </p:sp>
      <p:sp>
        <p:nvSpPr>
          <p:cNvPr id="14" name="TextBox 13"/>
          <p:cNvSpPr txBox="1"/>
          <p:nvPr/>
        </p:nvSpPr>
        <p:spPr>
          <a:xfrm>
            <a:off x="6428232" y="2221992"/>
            <a:ext cx="4782312" cy="822960"/>
          </a:xfrm>
          <a:prstGeom prst="rect">
            <a:avLst/>
          </a:prstGeom>
          <a:noFill/>
        </p:spPr>
        <p:txBody>
          <a:bodyPr wrap="square" anchor="t">
            <a:spAutoFit/>
          </a:bodyPr>
          <a:lstStyle/>
          <a:p>
            <a:pPr algn="l">
              <a:spcAft>
                <a:spcPts val="400"/>
              </a:spcAft>
            </a:pPr>
            <a:r>
              <a:rPr sz="1250" b="0">
                <a:solidFill>
                  <a:srgbClr val="161B26"/>
                </a:solidFill>
                <a:latin typeface="Arial"/>
              </a:rPr>
              <a:t>Choosing the right layer-7 or layer-4 balancer shapes routing, TLS termination, latency and cost.</a:t>
            </a:r>
          </a:p>
        </p:txBody>
      </p:sp>
      <p:sp>
        <p:nvSpPr>
          <p:cNvPr id="15" name="Rectangle 14"/>
          <p:cNvSpPr/>
          <p:nvPr/>
        </p:nvSpPr>
        <p:spPr>
          <a:xfrm>
            <a:off x="6172200" y="3246120"/>
            <a:ext cx="5239512" cy="1325880"/>
          </a:xfrm>
          <a:prstGeom prst="rect">
            <a:avLst/>
          </a:prstGeom>
          <a:solidFill>
            <a:srgbClr val="FFFFFF"/>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ectangle 15"/>
          <p:cNvSpPr/>
          <p:nvPr/>
        </p:nvSpPr>
        <p:spPr>
          <a:xfrm>
            <a:off x="6172200" y="3246120"/>
            <a:ext cx="91440" cy="1325880"/>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6428232" y="3355848"/>
            <a:ext cx="4782312" cy="320040"/>
          </a:xfrm>
          <a:prstGeom prst="rect">
            <a:avLst/>
          </a:prstGeom>
          <a:noFill/>
        </p:spPr>
        <p:txBody>
          <a:bodyPr wrap="square" anchor="t">
            <a:spAutoFit/>
          </a:bodyPr>
          <a:lstStyle/>
          <a:p>
            <a:pPr algn="l">
              <a:spcAft>
                <a:spcPts val="400"/>
              </a:spcAft>
            </a:pPr>
            <a:r>
              <a:rPr sz="1150" b="1">
                <a:solidFill>
                  <a:srgbClr val="C0392B"/>
                </a:solidFill>
                <a:latin typeface="Arial"/>
              </a:rPr>
              <a:t>FAILURE MODE</a:t>
            </a:r>
          </a:p>
        </p:txBody>
      </p:sp>
      <p:sp>
        <p:nvSpPr>
          <p:cNvPr id="18" name="TextBox 17"/>
          <p:cNvSpPr txBox="1"/>
          <p:nvPr/>
        </p:nvSpPr>
        <p:spPr>
          <a:xfrm>
            <a:off x="6428232" y="3685032"/>
            <a:ext cx="4782312" cy="822960"/>
          </a:xfrm>
          <a:prstGeom prst="rect">
            <a:avLst/>
          </a:prstGeom>
          <a:noFill/>
        </p:spPr>
        <p:txBody>
          <a:bodyPr wrap="square" anchor="t">
            <a:spAutoFit/>
          </a:bodyPr>
          <a:lstStyle/>
          <a:p>
            <a:pPr algn="l">
              <a:spcAft>
                <a:spcPts val="400"/>
              </a:spcAft>
            </a:pPr>
            <a:r>
              <a:rPr sz="1250" b="0">
                <a:solidFill>
                  <a:srgbClr val="161B26"/>
                </a:solidFill>
                <a:latin typeface="Arial"/>
              </a:rPr>
              <a:t>Forcing an L7 ALB where you need raw TCP throughput or a static IP adds latency and misses the requirement.</a:t>
            </a:r>
          </a:p>
        </p:txBody>
      </p:sp>
      <p:sp>
        <p:nvSpPr>
          <p:cNvPr id="19" name="Rectangle 18"/>
          <p:cNvSpPr/>
          <p:nvPr/>
        </p:nvSpPr>
        <p:spPr>
          <a:xfrm>
            <a:off x="6172200" y="4709160"/>
            <a:ext cx="5239512" cy="1325880"/>
          </a:xfrm>
          <a:prstGeom prst="rect">
            <a:avLst/>
          </a:prstGeom>
          <a:solidFill>
            <a:srgbClr val="FFFFFF"/>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Rectangle 19"/>
          <p:cNvSpPr/>
          <p:nvPr/>
        </p:nvSpPr>
        <p:spPr>
          <a:xfrm>
            <a:off x="6172200" y="4709160"/>
            <a:ext cx="91440" cy="1325880"/>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6428232" y="4818888"/>
            <a:ext cx="4782312" cy="320040"/>
          </a:xfrm>
          <a:prstGeom prst="rect">
            <a:avLst/>
          </a:prstGeom>
          <a:noFill/>
        </p:spPr>
        <p:txBody>
          <a:bodyPr wrap="square" anchor="t">
            <a:spAutoFit/>
          </a:bodyPr>
          <a:lstStyle/>
          <a:p>
            <a:pPr algn="l">
              <a:spcAft>
                <a:spcPts val="400"/>
              </a:spcAft>
            </a:pPr>
            <a:r>
              <a:rPr sz="1150" b="1">
                <a:solidFill>
                  <a:srgbClr val="F59E0B"/>
                </a:solidFill>
                <a:latin typeface="Arial"/>
              </a:rPr>
              <a:t>TRADE-OFF / DECISION</a:t>
            </a:r>
          </a:p>
        </p:txBody>
      </p:sp>
      <p:sp>
        <p:nvSpPr>
          <p:cNvPr id="22" name="TextBox 21"/>
          <p:cNvSpPr txBox="1"/>
          <p:nvPr/>
        </p:nvSpPr>
        <p:spPr>
          <a:xfrm>
            <a:off x="6428232" y="5148072"/>
            <a:ext cx="4782312" cy="822960"/>
          </a:xfrm>
          <a:prstGeom prst="rect">
            <a:avLst/>
          </a:prstGeom>
          <a:noFill/>
        </p:spPr>
        <p:txBody>
          <a:bodyPr wrap="square" anchor="t">
            <a:spAutoFit/>
          </a:bodyPr>
          <a:lstStyle/>
          <a:p>
            <a:pPr algn="l">
              <a:spcAft>
                <a:spcPts val="400"/>
              </a:spcAft>
            </a:pPr>
            <a:r>
              <a:rPr sz="1250" b="0">
                <a:solidFill>
                  <a:srgbClr val="161B26"/>
                </a:solidFill>
                <a:latin typeface="Arial"/>
              </a:rPr>
              <a:t>ALB gives rich routing at higher per-request processing; NLB gives raw speed with fewer features.</a:t>
            </a:r>
          </a:p>
        </p:txBody>
      </p:sp>
      <p:sp>
        <p:nvSpPr>
          <p:cNvPr id="23" name="TextBox 22"/>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DevOps Engineering on AWS  ·  TGS-2023040474</a:t>
            </a:r>
          </a:p>
        </p:txBody>
      </p:sp>
      <p:sp>
        <p:nvSpPr>
          <p:cNvPr id="24" name="TextBox 23"/>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25" name="TextBox 24"/>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110</a:t>
            </a:r>
          </a:p>
        </p:txBody>
      </p:sp>
    </p:spTree>
  </p:cSld>
  <p:clrMapOvr>
    <a:masterClrMapping/>
  </p:clrMapOvr>
  <p:transition xmlns:p14="http://schemas.microsoft.com/office/powerpoint/2010/main" p14:dur="380">
    <p:fade/>
  </p:transition>
</p:sld>
</file>

<file path=ppt/slides/slide11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38912"/>
            <a:ext cx="10607040" cy="365760"/>
          </a:xfrm>
          <a:prstGeom prst="rect">
            <a:avLst/>
          </a:prstGeom>
          <a:noFill/>
        </p:spPr>
        <p:txBody>
          <a:bodyPr wrap="square" anchor="t">
            <a:spAutoFit/>
          </a:bodyPr>
          <a:lstStyle/>
          <a:p>
            <a:pPr algn="l">
              <a:spcAft>
                <a:spcPts val="400"/>
              </a:spcAft>
            </a:pPr>
            <a:r>
              <a:rPr sz="1400" b="1">
                <a:solidFill>
                  <a:srgbClr val="10B981"/>
                </a:solidFill>
                <a:latin typeface="Arial"/>
              </a:rPr>
              <a:t>IN DEPTH</a:t>
            </a:r>
          </a:p>
        </p:txBody>
      </p:sp>
      <p:sp>
        <p:nvSpPr>
          <p:cNvPr id="5" name="TextBox 4"/>
          <p:cNvSpPr txBox="1"/>
          <p:nvPr/>
        </p:nvSpPr>
        <p:spPr>
          <a:xfrm>
            <a:off x="777240" y="896112"/>
            <a:ext cx="10927080" cy="731520"/>
          </a:xfrm>
          <a:prstGeom prst="rect">
            <a:avLst/>
          </a:prstGeom>
          <a:noFill/>
        </p:spPr>
        <p:txBody>
          <a:bodyPr wrap="square" anchor="t">
            <a:spAutoFit/>
          </a:bodyPr>
          <a:lstStyle/>
          <a:p>
            <a:pPr algn="l">
              <a:spcAft>
                <a:spcPts val="400"/>
              </a:spcAft>
            </a:pPr>
            <a:r>
              <a:rPr sz="2500" b="1">
                <a:solidFill>
                  <a:srgbClr val="161B26"/>
                </a:solidFill>
                <a:latin typeface="Arial"/>
              </a:rPr>
              <a:t>Decoupling with queues, topics and events</a:t>
            </a:r>
          </a:p>
        </p:txBody>
      </p:sp>
      <p:sp>
        <p:nvSpPr>
          <p:cNvPr id="6" name="Rectangle 5"/>
          <p:cNvSpPr/>
          <p:nvPr/>
        </p:nvSpPr>
        <p:spPr>
          <a:xfrm>
            <a:off x="777240" y="1572768"/>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783080"/>
            <a:ext cx="5212080" cy="425196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1783080"/>
            <a:ext cx="5212080" cy="9144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1005840" y="1938528"/>
            <a:ext cx="4754880" cy="365760"/>
          </a:xfrm>
          <a:prstGeom prst="rect">
            <a:avLst/>
          </a:prstGeom>
          <a:noFill/>
        </p:spPr>
        <p:txBody>
          <a:bodyPr wrap="square" anchor="t">
            <a:spAutoFit/>
          </a:bodyPr>
          <a:lstStyle/>
          <a:p>
            <a:pPr algn="l">
              <a:spcAft>
                <a:spcPts val="400"/>
              </a:spcAft>
            </a:pPr>
            <a:r>
              <a:rPr sz="1200" b="1">
                <a:solidFill>
                  <a:srgbClr val="10B981"/>
                </a:solidFill>
                <a:latin typeface="Arial"/>
              </a:rPr>
              <a:t>IN DEPTH</a:t>
            </a:r>
          </a:p>
        </p:txBody>
      </p:sp>
      <p:sp>
        <p:nvSpPr>
          <p:cNvPr id="10" name="TextBox 9"/>
          <p:cNvSpPr txBox="1"/>
          <p:nvPr/>
        </p:nvSpPr>
        <p:spPr>
          <a:xfrm>
            <a:off x="1005840" y="2377440"/>
            <a:ext cx="4754880" cy="3566160"/>
          </a:xfrm>
          <a:prstGeom prst="rect">
            <a:avLst/>
          </a:prstGeom>
          <a:noFill/>
        </p:spPr>
        <p:txBody>
          <a:bodyPr wrap="square">
            <a:spAutoFit/>
          </a:bodyPr>
          <a:lstStyle/>
          <a:p>
            <a:pPr>
              <a:spcAft>
                <a:spcPts val="800"/>
              </a:spcAft>
            </a:pPr>
            <a:r>
              <a:rPr sz="1350" b="0">
                <a:solidFill>
                  <a:srgbClr val="161B26"/>
                </a:solidFill>
                <a:latin typeface="Arial"/>
              </a:rPr>
              <a:t>•  SQS buffers work between producers and consumers so a slow or failed consumer doesn't drop requests.</a:t>
            </a:r>
          </a:p>
          <a:p>
            <a:pPr>
              <a:spcAft>
                <a:spcPts val="800"/>
              </a:spcAft>
            </a:pPr>
            <a:r>
              <a:rPr sz="1350" b="0">
                <a:solidFill>
                  <a:srgbClr val="161B26"/>
                </a:solidFill>
                <a:latin typeface="Arial"/>
              </a:rPr>
              <a:t>•  SNS fans a message out to many subscribers; EventBridge routes events by content to many targets.</a:t>
            </a:r>
          </a:p>
          <a:p>
            <a:pPr>
              <a:spcAft>
                <a:spcPts val="800"/>
              </a:spcAft>
            </a:pPr>
            <a:r>
              <a:rPr sz="1350" b="0">
                <a:solidFill>
                  <a:srgbClr val="161B26"/>
                </a:solidFill>
                <a:latin typeface="Arial"/>
              </a:rPr>
              <a:t>•  Decoupled components fail and scale independently and absorb spikes as backlog rather than errors.</a:t>
            </a:r>
          </a:p>
        </p:txBody>
      </p:sp>
      <p:sp>
        <p:nvSpPr>
          <p:cNvPr id="11" name="Rectangle 10"/>
          <p:cNvSpPr/>
          <p:nvPr/>
        </p:nvSpPr>
        <p:spPr>
          <a:xfrm>
            <a:off x="6172200" y="1783080"/>
            <a:ext cx="5239512" cy="1325880"/>
          </a:xfrm>
          <a:prstGeom prst="rect">
            <a:avLst/>
          </a:prstGeom>
          <a:solidFill>
            <a:srgbClr val="FFFFFF"/>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ectangle 11"/>
          <p:cNvSpPr/>
          <p:nvPr/>
        </p:nvSpPr>
        <p:spPr>
          <a:xfrm>
            <a:off x="6172200" y="1783080"/>
            <a:ext cx="91440" cy="132588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6428232" y="1892808"/>
            <a:ext cx="4782312" cy="320040"/>
          </a:xfrm>
          <a:prstGeom prst="rect">
            <a:avLst/>
          </a:prstGeom>
          <a:noFill/>
        </p:spPr>
        <p:txBody>
          <a:bodyPr wrap="square" anchor="t">
            <a:spAutoFit/>
          </a:bodyPr>
          <a:lstStyle/>
          <a:p>
            <a:pPr algn="l">
              <a:spcAft>
                <a:spcPts val="400"/>
              </a:spcAft>
            </a:pPr>
            <a:r>
              <a:rPr sz="1150" b="1">
                <a:solidFill>
                  <a:srgbClr val="10B981"/>
                </a:solidFill>
                <a:latin typeface="Arial"/>
              </a:rPr>
              <a:t>WHY IT MATTERS</a:t>
            </a:r>
          </a:p>
        </p:txBody>
      </p:sp>
      <p:sp>
        <p:nvSpPr>
          <p:cNvPr id="14" name="TextBox 13"/>
          <p:cNvSpPr txBox="1"/>
          <p:nvPr/>
        </p:nvSpPr>
        <p:spPr>
          <a:xfrm>
            <a:off x="6428232" y="2221992"/>
            <a:ext cx="4782312" cy="822960"/>
          </a:xfrm>
          <a:prstGeom prst="rect">
            <a:avLst/>
          </a:prstGeom>
          <a:noFill/>
        </p:spPr>
        <p:txBody>
          <a:bodyPr wrap="square" anchor="t">
            <a:spAutoFit/>
          </a:bodyPr>
          <a:lstStyle/>
          <a:p>
            <a:pPr algn="l">
              <a:spcAft>
                <a:spcPts val="400"/>
              </a:spcAft>
            </a:pPr>
            <a:r>
              <a:rPr sz="1250" b="0">
                <a:solidFill>
                  <a:srgbClr val="161B26"/>
                </a:solidFill>
                <a:latin typeface="Arial"/>
              </a:rPr>
              <a:t>Loose coupling converts synchronous, cascading failures into asynchronous backlogs the system can recover from.</a:t>
            </a:r>
          </a:p>
        </p:txBody>
      </p:sp>
      <p:sp>
        <p:nvSpPr>
          <p:cNvPr id="15" name="Rectangle 14"/>
          <p:cNvSpPr/>
          <p:nvPr/>
        </p:nvSpPr>
        <p:spPr>
          <a:xfrm>
            <a:off x="6172200" y="3246120"/>
            <a:ext cx="5239512" cy="1325880"/>
          </a:xfrm>
          <a:prstGeom prst="rect">
            <a:avLst/>
          </a:prstGeom>
          <a:solidFill>
            <a:srgbClr val="FFFFFF"/>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ectangle 15"/>
          <p:cNvSpPr/>
          <p:nvPr/>
        </p:nvSpPr>
        <p:spPr>
          <a:xfrm>
            <a:off x="6172200" y="3246120"/>
            <a:ext cx="91440" cy="1325880"/>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6428232" y="3355848"/>
            <a:ext cx="4782312" cy="320040"/>
          </a:xfrm>
          <a:prstGeom prst="rect">
            <a:avLst/>
          </a:prstGeom>
          <a:noFill/>
        </p:spPr>
        <p:txBody>
          <a:bodyPr wrap="square" anchor="t">
            <a:spAutoFit/>
          </a:bodyPr>
          <a:lstStyle/>
          <a:p>
            <a:pPr algn="l">
              <a:spcAft>
                <a:spcPts val="400"/>
              </a:spcAft>
            </a:pPr>
            <a:r>
              <a:rPr sz="1150" b="1">
                <a:solidFill>
                  <a:srgbClr val="C0392B"/>
                </a:solidFill>
                <a:latin typeface="Arial"/>
              </a:rPr>
              <a:t>FAILURE MODE</a:t>
            </a:r>
          </a:p>
        </p:txBody>
      </p:sp>
      <p:sp>
        <p:nvSpPr>
          <p:cNvPr id="18" name="TextBox 17"/>
          <p:cNvSpPr txBox="1"/>
          <p:nvPr/>
        </p:nvSpPr>
        <p:spPr>
          <a:xfrm>
            <a:off x="6428232" y="3685032"/>
            <a:ext cx="4782312" cy="822960"/>
          </a:xfrm>
          <a:prstGeom prst="rect">
            <a:avLst/>
          </a:prstGeom>
          <a:noFill/>
        </p:spPr>
        <p:txBody>
          <a:bodyPr wrap="square" anchor="t">
            <a:spAutoFit/>
          </a:bodyPr>
          <a:lstStyle/>
          <a:p>
            <a:pPr algn="l">
              <a:spcAft>
                <a:spcPts val="400"/>
              </a:spcAft>
            </a:pPr>
            <a:r>
              <a:rPr sz="1250" b="0">
                <a:solidFill>
                  <a:srgbClr val="161B26"/>
                </a:solidFill>
                <a:latin typeface="Arial"/>
              </a:rPr>
              <a:t>A synchronous call chain means one slow downstream service ties up threads and cascades into a full outage.</a:t>
            </a:r>
          </a:p>
        </p:txBody>
      </p:sp>
      <p:sp>
        <p:nvSpPr>
          <p:cNvPr id="19" name="Rectangle 18"/>
          <p:cNvSpPr/>
          <p:nvPr/>
        </p:nvSpPr>
        <p:spPr>
          <a:xfrm>
            <a:off x="6172200" y="4709160"/>
            <a:ext cx="5239512" cy="1325880"/>
          </a:xfrm>
          <a:prstGeom prst="rect">
            <a:avLst/>
          </a:prstGeom>
          <a:solidFill>
            <a:srgbClr val="FFFFFF"/>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Rectangle 19"/>
          <p:cNvSpPr/>
          <p:nvPr/>
        </p:nvSpPr>
        <p:spPr>
          <a:xfrm>
            <a:off x="6172200" y="4709160"/>
            <a:ext cx="91440" cy="1325880"/>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6428232" y="4818888"/>
            <a:ext cx="4782312" cy="320040"/>
          </a:xfrm>
          <a:prstGeom prst="rect">
            <a:avLst/>
          </a:prstGeom>
          <a:noFill/>
        </p:spPr>
        <p:txBody>
          <a:bodyPr wrap="square" anchor="t">
            <a:spAutoFit/>
          </a:bodyPr>
          <a:lstStyle/>
          <a:p>
            <a:pPr algn="l">
              <a:spcAft>
                <a:spcPts val="400"/>
              </a:spcAft>
            </a:pPr>
            <a:r>
              <a:rPr sz="1150" b="1">
                <a:solidFill>
                  <a:srgbClr val="F59E0B"/>
                </a:solidFill>
                <a:latin typeface="Arial"/>
              </a:rPr>
              <a:t>TRADE-OFF / DECISION</a:t>
            </a:r>
          </a:p>
        </p:txBody>
      </p:sp>
      <p:sp>
        <p:nvSpPr>
          <p:cNvPr id="22" name="TextBox 21"/>
          <p:cNvSpPr txBox="1"/>
          <p:nvPr/>
        </p:nvSpPr>
        <p:spPr>
          <a:xfrm>
            <a:off x="6428232" y="5148072"/>
            <a:ext cx="4782312" cy="822960"/>
          </a:xfrm>
          <a:prstGeom prst="rect">
            <a:avLst/>
          </a:prstGeom>
          <a:noFill/>
        </p:spPr>
        <p:txBody>
          <a:bodyPr wrap="square" anchor="t">
            <a:spAutoFit/>
          </a:bodyPr>
          <a:lstStyle/>
          <a:p>
            <a:pPr algn="l">
              <a:spcAft>
                <a:spcPts val="400"/>
              </a:spcAft>
            </a:pPr>
            <a:r>
              <a:rPr sz="1250" b="0">
                <a:solidFill>
                  <a:srgbClr val="161B26"/>
                </a:solidFill>
                <a:latin typeface="Arial"/>
              </a:rPr>
              <a:t>Asynchronous designs add eventual-consistency and idempotency concerns — consumers must handle duplicates and out-of-order delivery.</a:t>
            </a:r>
          </a:p>
        </p:txBody>
      </p:sp>
      <p:sp>
        <p:nvSpPr>
          <p:cNvPr id="23" name="TextBox 22"/>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DevOps Engineering on AWS  ·  TGS-2023040474</a:t>
            </a:r>
          </a:p>
        </p:txBody>
      </p:sp>
      <p:sp>
        <p:nvSpPr>
          <p:cNvPr id="24" name="TextBox 23"/>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25" name="TextBox 24"/>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111</a:t>
            </a:r>
          </a:p>
        </p:txBody>
      </p:sp>
    </p:spTree>
  </p:cSld>
  <p:clrMapOvr>
    <a:masterClrMapping/>
  </p:clrMapOvr>
  <p:transition xmlns:p14="http://schemas.microsoft.com/office/powerpoint/2010/main" p14:dur="380">
    <p:fade/>
  </p:transition>
</p:sld>
</file>

<file path=ppt/slides/slide11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38912"/>
            <a:ext cx="10607040" cy="365760"/>
          </a:xfrm>
          <a:prstGeom prst="rect">
            <a:avLst/>
          </a:prstGeom>
          <a:noFill/>
        </p:spPr>
        <p:txBody>
          <a:bodyPr wrap="square" anchor="t">
            <a:spAutoFit/>
          </a:bodyPr>
          <a:lstStyle/>
          <a:p>
            <a:pPr algn="l">
              <a:spcAft>
                <a:spcPts val="400"/>
              </a:spcAft>
            </a:pPr>
            <a:r>
              <a:rPr sz="1400" b="1">
                <a:solidFill>
                  <a:srgbClr val="10B981"/>
                </a:solidFill>
                <a:latin typeface="Arial"/>
              </a:rPr>
              <a:t>IN DEPTH</a:t>
            </a:r>
          </a:p>
        </p:txBody>
      </p:sp>
      <p:sp>
        <p:nvSpPr>
          <p:cNvPr id="5" name="TextBox 4"/>
          <p:cNvSpPr txBox="1"/>
          <p:nvPr/>
        </p:nvSpPr>
        <p:spPr>
          <a:xfrm>
            <a:off x="777240" y="804672"/>
            <a:ext cx="10927080" cy="731520"/>
          </a:xfrm>
          <a:prstGeom prst="rect">
            <a:avLst/>
          </a:prstGeom>
          <a:noFill/>
        </p:spPr>
        <p:txBody>
          <a:bodyPr wrap="square" anchor="t">
            <a:spAutoFit/>
          </a:bodyPr>
          <a:lstStyle/>
          <a:p>
            <a:pPr algn="l">
              <a:spcAft>
                <a:spcPts val="400"/>
              </a:spcAft>
            </a:pPr>
            <a:r>
              <a:rPr sz="2900" b="1">
                <a:solidFill>
                  <a:srgbClr val="161B26"/>
                </a:solidFill>
                <a:latin typeface="Arial"/>
              </a:rPr>
              <a:t>RTO and RPO drive the DR pattern</a:t>
            </a:r>
          </a:p>
        </p:txBody>
      </p:sp>
      <p:sp>
        <p:nvSpPr>
          <p:cNvPr id="6" name="Rectangle 5"/>
          <p:cNvSpPr/>
          <p:nvPr/>
        </p:nvSpPr>
        <p:spPr>
          <a:xfrm>
            <a:off x="777240" y="1572768"/>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783080"/>
            <a:ext cx="5212080" cy="425196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1783080"/>
            <a:ext cx="5212080" cy="9144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1005840" y="1938528"/>
            <a:ext cx="4754880" cy="365760"/>
          </a:xfrm>
          <a:prstGeom prst="rect">
            <a:avLst/>
          </a:prstGeom>
          <a:noFill/>
        </p:spPr>
        <p:txBody>
          <a:bodyPr wrap="square" anchor="t">
            <a:spAutoFit/>
          </a:bodyPr>
          <a:lstStyle/>
          <a:p>
            <a:pPr algn="l">
              <a:spcAft>
                <a:spcPts val="400"/>
              </a:spcAft>
            </a:pPr>
            <a:r>
              <a:rPr sz="1200" b="1">
                <a:solidFill>
                  <a:srgbClr val="10B981"/>
                </a:solidFill>
                <a:latin typeface="Arial"/>
              </a:rPr>
              <a:t>IN DEPTH</a:t>
            </a:r>
          </a:p>
        </p:txBody>
      </p:sp>
      <p:sp>
        <p:nvSpPr>
          <p:cNvPr id="10" name="TextBox 9"/>
          <p:cNvSpPr txBox="1"/>
          <p:nvPr/>
        </p:nvSpPr>
        <p:spPr>
          <a:xfrm>
            <a:off x="1005840" y="2377440"/>
            <a:ext cx="4754880" cy="3566160"/>
          </a:xfrm>
          <a:prstGeom prst="rect">
            <a:avLst/>
          </a:prstGeom>
          <a:noFill/>
        </p:spPr>
        <p:txBody>
          <a:bodyPr wrap="square">
            <a:spAutoFit/>
          </a:bodyPr>
          <a:lstStyle/>
          <a:p>
            <a:pPr>
              <a:spcAft>
                <a:spcPts val="800"/>
              </a:spcAft>
            </a:pPr>
            <a:r>
              <a:rPr sz="1350" b="0">
                <a:solidFill>
                  <a:srgbClr val="161B26"/>
                </a:solidFill>
                <a:latin typeface="Arial"/>
              </a:rPr>
              <a:t>•  Recovery Time Objective is how quickly you must restore service; Recovery Point Objective is how much data you can afford to lose.</a:t>
            </a:r>
          </a:p>
          <a:p>
            <a:pPr>
              <a:spcAft>
                <a:spcPts val="800"/>
              </a:spcAft>
            </a:pPr>
            <a:r>
              <a:rPr sz="1350" b="0">
                <a:solidFill>
                  <a:srgbClr val="161B26"/>
                </a:solidFill>
                <a:latin typeface="Arial"/>
              </a:rPr>
              <a:t>•  Backup &amp; restore, pilot light, warm standby and multi-site active/active trade rising cost for falling RTO/RPO.</a:t>
            </a:r>
          </a:p>
          <a:p>
            <a:pPr>
              <a:spcAft>
                <a:spcPts val="800"/>
              </a:spcAft>
            </a:pPr>
            <a:r>
              <a:rPr sz="1350" b="0">
                <a:solidFill>
                  <a:srgbClr val="161B26"/>
                </a:solidFill>
                <a:latin typeface="Arial"/>
              </a:rPr>
              <a:t>•  The right pattern is a business decision priced against the cost of downtime.</a:t>
            </a:r>
          </a:p>
        </p:txBody>
      </p:sp>
      <p:sp>
        <p:nvSpPr>
          <p:cNvPr id="11" name="Rectangle 10"/>
          <p:cNvSpPr/>
          <p:nvPr/>
        </p:nvSpPr>
        <p:spPr>
          <a:xfrm>
            <a:off x="6172200" y="1783080"/>
            <a:ext cx="5239512" cy="1325880"/>
          </a:xfrm>
          <a:prstGeom prst="rect">
            <a:avLst/>
          </a:prstGeom>
          <a:solidFill>
            <a:srgbClr val="FFFFFF"/>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ectangle 11"/>
          <p:cNvSpPr/>
          <p:nvPr/>
        </p:nvSpPr>
        <p:spPr>
          <a:xfrm>
            <a:off x="6172200" y="1783080"/>
            <a:ext cx="91440" cy="132588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6428232" y="1892808"/>
            <a:ext cx="4782312" cy="320040"/>
          </a:xfrm>
          <a:prstGeom prst="rect">
            <a:avLst/>
          </a:prstGeom>
          <a:noFill/>
        </p:spPr>
        <p:txBody>
          <a:bodyPr wrap="square" anchor="t">
            <a:spAutoFit/>
          </a:bodyPr>
          <a:lstStyle/>
          <a:p>
            <a:pPr algn="l">
              <a:spcAft>
                <a:spcPts val="400"/>
              </a:spcAft>
            </a:pPr>
            <a:r>
              <a:rPr sz="1150" b="1">
                <a:solidFill>
                  <a:srgbClr val="10B981"/>
                </a:solidFill>
                <a:latin typeface="Arial"/>
              </a:rPr>
              <a:t>WHY IT MATTERS</a:t>
            </a:r>
          </a:p>
        </p:txBody>
      </p:sp>
      <p:sp>
        <p:nvSpPr>
          <p:cNvPr id="14" name="TextBox 13"/>
          <p:cNvSpPr txBox="1"/>
          <p:nvPr/>
        </p:nvSpPr>
        <p:spPr>
          <a:xfrm>
            <a:off x="6428232" y="2221992"/>
            <a:ext cx="4782312" cy="822960"/>
          </a:xfrm>
          <a:prstGeom prst="rect">
            <a:avLst/>
          </a:prstGeom>
          <a:noFill/>
        </p:spPr>
        <p:txBody>
          <a:bodyPr wrap="square" anchor="t">
            <a:spAutoFit/>
          </a:bodyPr>
          <a:lstStyle/>
          <a:p>
            <a:pPr algn="l">
              <a:spcAft>
                <a:spcPts val="400"/>
              </a:spcAft>
            </a:pPr>
            <a:r>
              <a:rPr sz="1250" b="0">
                <a:solidFill>
                  <a:srgbClr val="161B26"/>
                </a:solidFill>
                <a:latin typeface="Arial"/>
              </a:rPr>
              <a:t>Naming RTO/RPO turns 'make it resilient' into a concrete, testable and budgetable design target.</a:t>
            </a:r>
          </a:p>
        </p:txBody>
      </p:sp>
      <p:sp>
        <p:nvSpPr>
          <p:cNvPr id="15" name="Rectangle 14"/>
          <p:cNvSpPr/>
          <p:nvPr/>
        </p:nvSpPr>
        <p:spPr>
          <a:xfrm>
            <a:off x="6172200" y="3246120"/>
            <a:ext cx="5239512" cy="1325880"/>
          </a:xfrm>
          <a:prstGeom prst="rect">
            <a:avLst/>
          </a:prstGeom>
          <a:solidFill>
            <a:srgbClr val="FFFFFF"/>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ectangle 15"/>
          <p:cNvSpPr/>
          <p:nvPr/>
        </p:nvSpPr>
        <p:spPr>
          <a:xfrm>
            <a:off x="6172200" y="3246120"/>
            <a:ext cx="91440" cy="1325880"/>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6428232" y="3355848"/>
            <a:ext cx="4782312" cy="320040"/>
          </a:xfrm>
          <a:prstGeom prst="rect">
            <a:avLst/>
          </a:prstGeom>
          <a:noFill/>
        </p:spPr>
        <p:txBody>
          <a:bodyPr wrap="square" anchor="t">
            <a:spAutoFit/>
          </a:bodyPr>
          <a:lstStyle/>
          <a:p>
            <a:pPr algn="l">
              <a:spcAft>
                <a:spcPts val="400"/>
              </a:spcAft>
            </a:pPr>
            <a:r>
              <a:rPr sz="1150" b="1">
                <a:solidFill>
                  <a:srgbClr val="C0392B"/>
                </a:solidFill>
                <a:latin typeface="Arial"/>
              </a:rPr>
              <a:t>FAILURE MODE</a:t>
            </a:r>
          </a:p>
        </p:txBody>
      </p:sp>
      <p:sp>
        <p:nvSpPr>
          <p:cNvPr id="18" name="TextBox 17"/>
          <p:cNvSpPr txBox="1"/>
          <p:nvPr/>
        </p:nvSpPr>
        <p:spPr>
          <a:xfrm>
            <a:off x="6428232" y="3685032"/>
            <a:ext cx="4782312" cy="822960"/>
          </a:xfrm>
          <a:prstGeom prst="rect">
            <a:avLst/>
          </a:prstGeom>
          <a:noFill/>
        </p:spPr>
        <p:txBody>
          <a:bodyPr wrap="square" anchor="t">
            <a:spAutoFit/>
          </a:bodyPr>
          <a:lstStyle/>
          <a:p>
            <a:pPr algn="l">
              <a:spcAft>
                <a:spcPts val="400"/>
              </a:spcAft>
            </a:pPr>
            <a:r>
              <a:rPr sz="1250" b="0">
                <a:solidFill>
                  <a:srgbClr val="161B26"/>
                </a:solidFill>
                <a:latin typeface="Arial"/>
              </a:rPr>
              <a:t>Buying active/active for a back-office app wastes money; choosing backup-and-restore for a payment system risks the business.</a:t>
            </a:r>
          </a:p>
        </p:txBody>
      </p:sp>
      <p:sp>
        <p:nvSpPr>
          <p:cNvPr id="19" name="Rectangle 18"/>
          <p:cNvSpPr/>
          <p:nvPr/>
        </p:nvSpPr>
        <p:spPr>
          <a:xfrm>
            <a:off x="6172200" y="4709160"/>
            <a:ext cx="5239512" cy="1325880"/>
          </a:xfrm>
          <a:prstGeom prst="rect">
            <a:avLst/>
          </a:prstGeom>
          <a:solidFill>
            <a:srgbClr val="FFFFFF"/>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Rectangle 19"/>
          <p:cNvSpPr/>
          <p:nvPr/>
        </p:nvSpPr>
        <p:spPr>
          <a:xfrm>
            <a:off x="6172200" y="4709160"/>
            <a:ext cx="91440" cy="1325880"/>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6428232" y="4818888"/>
            <a:ext cx="4782312" cy="320040"/>
          </a:xfrm>
          <a:prstGeom prst="rect">
            <a:avLst/>
          </a:prstGeom>
          <a:noFill/>
        </p:spPr>
        <p:txBody>
          <a:bodyPr wrap="square" anchor="t">
            <a:spAutoFit/>
          </a:bodyPr>
          <a:lstStyle/>
          <a:p>
            <a:pPr algn="l">
              <a:spcAft>
                <a:spcPts val="400"/>
              </a:spcAft>
            </a:pPr>
            <a:r>
              <a:rPr sz="1150" b="1">
                <a:solidFill>
                  <a:srgbClr val="F59E0B"/>
                </a:solidFill>
                <a:latin typeface="Arial"/>
              </a:rPr>
              <a:t>TRADE-OFF / DECISION</a:t>
            </a:r>
          </a:p>
        </p:txBody>
      </p:sp>
      <p:sp>
        <p:nvSpPr>
          <p:cNvPr id="22" name="TextBox 21"/>
          <p:cNvSpPr txBox="1"/>
          <p:nvPr/>
        </p:nvSpPr>
        <p:spPr>
          <a:xfrm>
            <a:off x="6428232" y="5148072"/>
            <a:ext cx="4782312" cy="822960"/>
          </a:xfrm>
          <a:prstGeom prst="rect">
            <a:avLst/>
          </a:prstGeom>
          <a:noFill/>
        </p:spPr>
        <p:txBody>
          <a:bodyPr wrap="square" anchor="t">
            <a:spAutoFit/>
          </a:bodyPr>
          <a:lstStyle/>
          <a:p>
            <a:pPr algn="l">
              <a:spcAft>
                <a:spcPts val="400"/>
              </a:spcAft>
            </a:pPr>
            <a:r>
              <a:rPr sz="1250" b="0">
                <a:solidFill>
                  <a:srgbClr val="161B26"/>
                </a:solidFill>
                <a:latin typeface="Arial"/>
              </a:rPr>
              <a:t>Lower RTO/RPO means more running (and paid-for) standby capacity — match spend to the revenue at risk.</a:t>
            </a:r>
          </a:p>
        </p:txBody>
      </p:sp>
      <p:sp>
        <p:nvSpPr>
          <p:cNvPr id="23" name="TextBox 22"/>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DevOps Engineering on AWS  ·  TGS-2023040474</a:t>
            </a:r>
          </a:p>
        </p:txBody>
      </p:sp>
      <p:sp>
        <p:nvSpPr>
          <p:cNvPr id="24" name="TextBox 23"/>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25" name="TextBox 24"/>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112</a:t>
            </a:r>
          </a:p>
        </p:txBody>
      </p:sp>
    </p:spTree>
  </p:cSld>
  <p:clrMapOvr>
    <a:masterClrMapping/>
  </p:clrMapOvr>
  <p:transition xmlns:p14="http://schemas.microsoft.com/office/powerpoint/2010/main" p14:dur="380">
    <p:fade/>
  </p:transition>
</p:sld>
</file>

<file path=ppt/slides/slide11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38912"/>
            <a:ext cx="10607040" cy="365760"/>
          </a:xfrm>
          <a:prstGeom prst="rect">
            <a:avLst/>
          </a:prstGeom>
          <a:noFill/>
        </p:spPr>
        <p:txBody>
          <a:bodyPr wrap="square" anchor="t">
            <a:spAutoFit/>
          </a:bodyPr>
          <a:lstStyle/>
          <a:p>
            <a:pPr algn="l">
              <a:spcAft>
                <a:spcPts val="400"/>
              </a:spcAft>
            </a:pPr>
            <a:r>
              <a:rPr sz="1400" b="1">
                <a:solidFill>
                  <a:srgbClr val="10B981"/>
                </a:solidFill>
                <a:latin typeface="Arial"/>
              </a:rPr>
              <a:t>IN DEPTH</a:t>
            </a:r>
          </a:p>
        </p:txBody>
      </p:sp>
      <p:sp>
        <p:nvSpPr>
          <p:cNvPr id="5" name="TextBox 4"/>
          <p:cNvSpPr txBox="1"/>
          <p:nvPr/>
        </p:nvSpPr>
        <p:spPr>
          <a:xfrm>
            <a:off x="777240" y="896112"/>
            <a:ext cx="10927080" cy="731520"/>
          </a:xfrm>
          <a:prstGeom prst="rect">
            <a:avLst/>
          </a:prstGeom>
          <a:noFill/>
        </p:spPr>
        <p:txBody>
          <a:bodyPr wrap="square" anchor="t">
            <a:spAutoFit/>
          </a:bodyPr>
          <a:lstStyle/>
          <a:p>
            <a:pPr algn="l">
              <a:spcAft>
                <a:spcPts val="400"/>
              </a:spcAft>
            </a:pPr>
            <a:r>
              <a:rPr sz="2500" b="1">
                <a:solidFill>
                  <a:srgbClr val="161B26"/>
                </a:solidFill>
                <a:latin typeface="Arial"/>
              </a:rPr>
              <a:t>Data durability and multi-Region protection</a:t>
            </a:r>
          </a:p>
        </p:txBody>
      </p:sp>
      <p:sp>
        <p:nvSpPr>
          <p:cNvPr id="6" name="Rectangle 5"/>
          <p:cNvSpPr/>
          <p:nvPr/>
        </p:nvSpPr>
        <p:spPr>
          <a:xfrm>
            <a:off x="777240" y="1572768"/>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783080"/>
            <a:ext cx="5212080" cy="425196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1783080"/>
            <a:ext cx="5212080" cy="9144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1005840" y="1938528"/>
            <a:ext cx="4754880" cy="365760"/>
          </a:xfrm>
          <a:prstGeom prst="rect">
            <a:avLst/>
          </a:prstGeom>
          <a:noFill/>
        </p:spPr>
        <p:txBody>
          <a:bodyPr wrap="square" anchor="t">
            <a:spAutoFit/>
          </a:bodyPr>
          <a:lstStyle/>
          <a:p>
            <a:pPr algn="l">
              <a:spcAft>
                <a:spcPts val="400"/>
              </a:spcAft>
            </a:pPr>
            <a:r>
              <a:rPr sz="1200" b="1">
                <a:solidFill>
                  <a:srgbClr val="10B981"/>
                </a:solidFill>
                <a:latin typeface="Arial"/>
              </a:rPr>
              <a:t>IN DEPTH</a:t>
            </a:r>
          </a:p>
        </p:txBody>
      </p:sp>
      <p:sp>
        <p:nvSpPr>
          <p:cNvPr id="10" name="TextBox 9"/>
          <p:cNvSpPr txBox="1"/>
          <p:nvPr/>
        </p:nvSpPr>
        <p:spPr>
          <a:xfrm>
            <a:off x="1005840" y="2377440"/>
            <a:ext cx="4754880" cy="3566160"/>
          </a:xfrm>
          <a:prstGeom prst="rect">
            <a:avLst/>
          </a:prstGeom>
          <a:noFill/>
        </p:spPr>
        <p:txBody>
          <a:bodyPr wrap="square">
            <a:spAutoFit/>
          </a:bodyPr>
          <a:lstStyle/>
          <a:p>
            <a:pPr>
              <a:spcAft>
                <a:spcPts val="800"/>
              </a:spcAft>
            </a:pPr>
            <a:r>
              <a:rPr sz="1350" b="0">
                <a:solidFill>
                  <a:srgbClr val="161B26"/>
                </a:solidFill>
                <a:latin typeface="Arial"/>
              </a:rPr>
              <a:t>•  Multi-AZ RDS keeps a synchronous standby with automatic failover; read replicas add scale and cross-Region copies.</a:t>
            </a:r>
          </a:p>
          <a:p>
            <a:pPr>
              <a:spcAft>
                <a:spcPts val="800"/>
              </a:spcAft>
            </a:pPr>
            <a:r>
              <a:rPr sz="1350" b="0">
                <a:solidFill>
                  <a:srgbClr val="161B26"/>
                </a:solidFill>
                <a:latin typeface="Arial"/>
              </a:rPr>
              <a:t>•  DynamoDB global tables replicate active-active across Regions; S3 offers cross-Region replication and eleven-nines durability.</a:t>
            </a:r>
          </a:p>
          <a:p>
            <a:pPr>
              <a:spcAft>
                <a:spcPts val="800"/>
              </a:spcAft>
            </a:pPr>
            <a:r>
              <a:rPr sz="1350" b="0">
                <a:solidFill>
                  <a:srgbClr val="161B26"/>
                </a:solidFill>
                <a:latin typeface="Arial"/>
              </a:rPr>
              <a:t>•  Automated snapshots and point-in-time recovery protect against data corruption and mistakes.</a:t>
            </a:r>
          </a:p>
        </p:txBody>
      </p:sp>
      <p:sp>
        <p:nvSpPr>
          <p:cNvPr id="11" name="Rectangle 10"/>
          <p:cNvSpPr/>
          <p:nvPr/>
        </p:nvSpPr>
        <p:spPr>
          <a:xfrm>
            <a:off x="6172200" y="1783080"/>
            <a:ext cx="5239512" cy="1325880"/>
          </a:xfrm>
          <a:prstGeom prst="rect">
            <a:avLst/>
          </a:prstGeom>
          <a:solidFill>
            <a:srgbClr val="FFFFFF"/>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ectangle 11"/>
          <p:cNvSpPr/>
          <p:nvPr/>
        </p:nvSpPr>
        <p:spPr>
          <a:xfrm>
            <a:off x="6172200" y="1783080"/>
            <a:ext cx="91440" cy="132588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6428232" y="1892808"/>
            <a:ext cx="4782312" cy="320040"/>
          </a:xfrm>
          <a:prstGeom prst="rect">
            <a:avLst/>
          </a:prstGeom>
          <a:noFill/>
        </p:spPr>
        <p:txBody>
          <a:bodyPr wrap="square" anchor="t">
            <a:spAutoFit/>
          </a:bodyPr>
          <a:lstStyle/>
          <a:p>
            <a:pPr algn="l">
              <a:spcAft>
                <a:spcPts val="400"/>
              </a:spcAft>
            </a:pPr>
            <a:r>
              <a:rPr sz="1150" b="1">
                <a:solidFill>
                  <a:srgbClr val="10B981"/>
                </a:solidFill>
                <a:latin typeface="Arial"/>
              </a:rPr>
              <a:t>WHY IT MATTERS</a:t>
            </a:r>
          </a:p>
        </p:txBody>
      </p:sp>
      <p:sp>
        <p:nvSpPr>
          <p:cNvPr id="14" name="TextBox 13"/>
          <p:cNvSpPr txBox="1"/>
          <p:nvPr/>
        </p:nvSpPr>
        <p:spPr>
          <a:xfrm>
            <a:off x="6428232" y="2221992"/>
            <a:ext cx="4782312" cy="822960"/>
          </a:xfrm>
          <a:prstGeom prst="rect">
            <a:avLst/>
          </a:prstGeom>
          <a:noFill/>
        </p:spPr>
        <p:txBody>
          <a:bodyPr wrap="square" anchor="t">
            <a:spAutoFit/>
          </a:bodyPr>
          <a:lstStyle/>
          <a:p>
            <a:pPr algn="l">
              <a:spcAft>
                <a:spcPts val="400"/>
              </a:spcAft>
            </a:pPr>
            <a:r>
              <a:rPr sz="1250" b="0">
                <a:solidFill>
                  <a:srgbClr val="161B26"/>
                </a:solidFill>
                <a:latin typeface="Arial"/>
              </a:rPr>
              <a:t>Compute is replaceable; data is not — durable, recoverable state is the foundation everything else rebuilds on.</a:t>
            </a:r>
          </a:p>
        </p:txBody>
      </p:sp>
      <p:sp>
        <p:nvSpPr>
          <p:cNvPr id="15" name="Rectangle 14"/>
          <p:cNvSpPr/>
          <p:nvPr/>
        </p:nvSpPr>
        <p:spPr>
          <a:xfrm>
            <a:off x="6172200" y="3246120"/>
            <a:ext cx="5239512" cy="1325880"/>
          </a:xfrm>
          <a:prstGeom prst="rect">
            <a:avLst/>
          </a:prstGeom>
          <a:solidFill>
            <a:srgbClr val="FFFFFF"/>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ectangle 15"/>
          <p:cNvSpPr/>
          <p:nvPr/>
        </p:nvSpPr>
        <p:spPr>
          <a:xfrm>
            <a:off x="6172200" y="3246120"/>
            <a:ext cx="91440" cy="1325880"/>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6428232" y="3355848"/>
            <a:ext cx="4782312" cy="320040"/>
          </a:xfrm>
          <a:prstGeom prst="rect">
            <a:avLst/>
          </a:prstGeom>
          <a:noFill/>
        </p:spPr>
        <p:txBody>
          <a:bodyPr wrap="square" anchor="t">
            <a:spAutoFit/>
          </a:bodyPr>
          <a:lstStyle/>
          <a:p>
            <a:pPr algn="l">
              <a:spcAft>
                <a:spcPts val="400"/>
              </a:spcAft>
            </a:pPr>
            <a:r>
              <a:rPr sz="1150" b="1">
                <a:solidFill>
                  <a:srgbClr val="C0392B"/>
                </a:solidFill>
                <a:latin typeface="Arial"/>
              </a:rPr>
              <a:t>FAILURE MODE</a:t>
            </a:r>
          </a:p>
        </p:txBody>
      </p:sp>
      <p:sp>
        <p:nvSpPr>
          <p:cNvPr id="18" name="TextBox 17"/>
          <p:cNvSpPr txBox="1"/>
          <p:nvPr/>
        </p:nvSpPr>
        <p:spPr>
          <a:xfrm>
            <a:off x="6428232" y="3685032"/>
            <a:ext cx="4782312" cy="822960"/>
          </a:xfrm>
          <a:prstGeom prst="rect">
            <a:avLst/>
          </a:prstGeom>
          <a:noFill/>
        </p:spPr>
        <p:txBody>
          <a:bodyPr wrap="square" anchor="t">
            <a:spAutoFit/>
          </a:bodyPr>
          <a:lstStyle/>
          <a:p>
            <a:pPr algn="l">
              <a:spcAft>
                <a:spcPts val="400"/>
              </a:spcAft>
            </a:pPr>
            <a:r>
              <a:rPr sz="1250" b="0">
                <a:solidFill>
                  <a:srgbClr val="161B26"/>
                </a:solidFill>
                <a:latin typeface="Arial"/>
              </a:rPr>
              <a:t>A single-AZ database or un-tested backups mean the app tier can be perfectly redundant yet still lose the business's data.</a:t>
            </a:r>
          </a:p>
        </p:txBody>
      </p:sp>
      <p:sp>
        <p:nvSpPr>
          <p:cNvPr id="19" name="Rectangle 18"/>
          <p:cNvSpPr/>
          <p:nvPr/>
        </p:nvSpPr>
        <p:spPr>
          <a:xfrm>
            <a:off x="6172200" y="4709160"/>
            <a:ext cx="5239512" cy="1325880"/>
          </a:xfrm>
          <a:prstGeom prst="rect">
            <a:avLst/>
          </a:prstGeom>
          <a:solidFill>
            <a:srgbClr val="FFFFFF"/>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Rectangle 19"/>
          <p:cNvSpPr/>
          <p:nvPr/>
        </p:nvSpPr>
        <p:spPr>
          <a:xfrm>
            <a:off x="6172200" y="4709160"/>
            <a:ext cx="91440" cy="1325880"/>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6428232" y="4818888"/>
            <a:ext cx="4782312" cy="320040"/>
          </a:xfrm>
          <a:prstGeom prst="rect">
            <a:avLst/>
          </a:prstGeom>
          <a:noFill/>
        </p:spPr>
        <p:txBody>
          <a:bodyPr wrap="square" anchor="t">
            <a:spAutoFit/>
          </a:bodyPr>
          <a:lstStyle/>
          <a:p>
            <a:pPr algn="l">
              <a:spcAft>
                <a:spcPts val="400"/>
              </a:spcAft>
            </a:pPr>
            <a:r>
              <a:rPr sz="1150" b="1">
                <a:solidFill>
                  <a:srgbClr val="F59E0B"/>
                </a:solidFill>
                <a:latin typeface="Arial"/>
              </a:rPr>
              <a:t>TRADE-OFF / DECISION</a:t>
            </a:r>
          </a:p>
        </p:txBody>
      </p:sp>
      <p:sp>
        <p:nvSpPr>
          <p:cNvPr id="22" name="TextBox 21"/>
          <p:cNvSpPr txBox="1"/>
          <p:nvPr/>
        </p:nvSpPr>
        <p:spPr>
          <a:xfrm>
            <a:off x="6428232" y="5148072"/>
            <a:ext cx="4782312" cy="822960"/>
          </a:xfrm>
          <a:prstGeom prst="rect">
            <a:avLst/>
          </a:prstGeom>
          <a:noFill/>
        </p:spPr>
        <p:txBody>
          <a:bodyPr wrap="square" anchor="t">
            <a:spAutoFit/>
          </a:bodyPr>
          <a:lstStyle/>
          <a:p>
            <a:pPr algn="l">
              <a:spcAft>
                <a:spcPts val="400"/>
              </a:spcAft>
            </a:pPr>
            <a:r>
              <a:rPr sz="1250" b="0">
                <a:solidFill>
                  <a:srgbClr val="161B26"/>
                </a:solidFill>
                <a:latin typeface="Arial"/>
              </a:rPr>
              <a:t>Synchronous replication protects data but adds write latency; cross-Region copies add cost and lag.</a:t>
            </a:r>
          </a:p>
        </p:txBody>
      </p:sp>
      <p:sp>
        <p:nvSpPr>
          <p:cNvPr id="23" name="TextBox 22"/>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DevOps Engineering on AWS  ·  TGS-2023040474</a:t>
            </a:r>
          </a:p>
        </p:txBody>
      </p:sp>
      <p:sp>
        <p:nvSpPr>
          <p:cNvPr id="24" name="TextBox 23"/>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25" name="TextBox 24"/>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113</a:t>
            </a:r>
          </a:p>
        </p:txBody>
      </p:sp>
    </p:spTree>
  </p:cSld>
  <p:clrMapOvr>
    <a:masterClrMapping/>
  </p:clrMapOvr>
  <p:transition xmlns:p14="http://schemas.microsoft.com/office/powerpoint/2010/main" p14:dur="380">
    <p:fade/>
  </p:transition>
</p:sld>
</file>

<file path=ppt/slides/slide11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38912"/>
            <a:ext cx="10607040" cy="365760"/>
          </a:xfrm>
          <a:prstGeom prst="rect">
            <a:avLst/>
          </a:prstGeom>
          <a:noFill/>
        </p:spPr>
        <p:txBody>
          <a:bodyPr wrap="square" anchor="t">
            <a:spAutoFit/>
          </a:bodyPr>
          <a:lstStyle/>
          <a:p>
            <a:pPr algn="l">
              <a:spcAft>
                <a:spcPts val="400"/>
              </a:spcAft>
            </a:pPr>
            <a:r>
              <a:rPr sz="1400" b="1">
                <a:solidFill>
                  <a:srgbClr val="10B981"/>
                </a:solidFill>
                <a:latin typeface="Arial"/>
              </a:rPr>
              <a:t>IN DEPTH</a:t>
            </a:r>
          </a:p>
        </p:txBody>
      </p:sp>
      <p:sp>
        <p:nvSpPr>
          <p:cNvPr id="5" name="TextBox 4"/>
          <p:cNvSpPr txBox="1"/>
          <p:nvPr/>
        </p:nvSpPr>
        <p:spPr>
          <a:xfrm>
            <a:off x="777240" y="804672"/>
            <a:ext cx="10927080" cy="731520"/>
          </a:xfrm>
          <a:prstGeom prst="rect">
            <a:avLst/>
          </a:prstGeom>
          <a:noFill/>
        </p:spPr>
        <p:txBody>
          <a:bodyPr wrap="square" anchor="t">
            <a:spAutoFit/>
          </a:bodyPr>
          <a:lstStyle/>
          <a:p>
            <a:pPr algn="l">
              <a:spcAft>
                <a:spcPts val="400"/>
              </a:spcAft>
            </a:pPr>
            <a:r>
              <a:rPr sz="2900" b="1">
                <a:solidFill>
                  <a:srgbClr val="161B26"/>
                </a:solidFill>
                <a:latin typeface="Arial"/>
              </a:rPr>
              <a:t>Automated recovery and self-healing</a:t>
            </a:r>
          </a:p>
        </p:txBody>
      </p:sp>
      <p:sp>
        <p:nvSpPr>
          <p:cNvPr id="6" name="Rectangle 5"/>
          <p:cNvSpPr/>
          <p:nvPr/>
        </p:nvSpPr>
        <p:spPr>
          <a:xfrm>
            <a:off x="777240" y="1572768"/>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783080"/>
            <a:ext cx="5212080" cy="425196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1783080"/>
            <a:ext cx="5212080" cy="9144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1005840" y="1938528"/>
            <a:ext cx="4754880" cy="365760"/>
          </a:xfrm>
          <a:prstGeom prst="rect">
            <a:avLst/>
          </a:prstGeom>
          <a:noFill/>
        </p:spPr>
        <p:txBody>
          <a:bodyPr wrap="square" anchor="t">
            <a:spAutoFit/>
          </a:bodyPr>
          <a:lstStyle/>
          <a:p>
            <a:pPr algn="l">
              <a:spcAft>
                <a:spcPts val="400"/>
              </a:spcAft>
            </a:pPr>
            <a:r>
              <a:rPr sz="1200" b="1">
                <a:solidFill>
                  <a:srgbClr val="10B981"/>
                </a:solidFill>
                <a:latin typeface="Arial"/>
              </a:rPr>
              <a:t>IN DEPTH</a:t>
            </a:r>
          </a:p>
        </p:txBody>
      </p:sp>
      <p:sp>
        <p:nvSpPr>
          <p:cNvPr id="10" name="TextBox 9"/>
          <p:cNvSpPr txBox="1"/>
          <p:nvPr/>
        </p:nvSpPr>
        <p:spPr>
          <a:xfrm>
            <a:off x="1005840" y="2377440"/>
            <a:ext cx="4754880" cy="3566160"/>
          </a:xfrm>
          <a:prstGeom prst="rect">
            <a:avLst/>
          </a:prstGeom>
          <a:noFill/>
        </p:spPr>
        <p:txBody>
          <a:bodyPr wrap="square">
            <a:spAutoFit/>
          </a:bodyPr>
          <a:lstStyle/>
          <a:p>
            <a:pPr>
              <a:spcAft>
                <a:spcPts val="800"/>
              </a:spcAft>
            </a:pPr>
            <a:r>
              <a:rPr sz="1350" b="0">
                <a:solidFill>
                  <a:srgbClr val="161B26"/>
                </a:solidFill>
                <a:latin typeface="Arial"/>
              </a:rPr>
              <a:t>•  ASG health checks replace failed instances; EC2 auto-recovery restores impaired instances.</a:t>
            </a:r>
          </a:p>
          <a:p>
            <a:pPr>
              <a:spcAft>
                <a:spcPts val="800"/>
              </a:spcAft>
            </a:pPr>
            <a:r>
              <a:rPr sz="1350" b="0">
                <a:solidFill>
                  <a:srgbClr val="161B26"/>
                </a:solidFill>
                <a:latin typeface="Arial"/>
              </a:rPr>
              <a:t>•  Route 53 health checks fail traffic over to a healthy Region or endpoint.</a:t>
            </a:r>
          </a:p>
          <a:p>
            <a:pPr>
              <a:spcAft>
                <a:spcPts val="800"/>
              </a:spcAft>
            </a:pPr>
            <a:r>
              <a:rPr sz="1350" b="0">
                <a:solidFill>
                  <a:srgbClr val="161B26"/>
                </a:solidFill>
                <a:latin typeface="Arial"/>
              </a:rPr>
              <a:t>•  The goal is that routine failures are handled by the system, not by a pager.</a:t>
            </a:r>
          </a:p>
        </p:txBody>
      </p:sp>
      <p:sp>
        <p:nvSpPr>
          <p:cNvPr id="11" name="Rectangle 10"/>
          <p:cNvSpPr/>
          <p:nvPr/>
        </p:nvSpPr>
        <p:spPr>
          <a:xfrm>
            <a:off x="6172200" y="1783080"/>
            <a:ext cx="5239512" cy="1325880"/>
          </a:xfrm>
          <a:prstGeom prst="rect">
            <a:avLst/>
          </a:prstGeom>
          <a:solidFill>
            <a:srgbClr val="FFFFFF"/>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ectangle 11"/>
          <p:cNvSpPr/>
          <p:nvPr/>
        </p:nvSpPr>
        <p:spPr>
          <a:xfrm>
            <a:off x="6172200" y="1783080"/>
            <a:ext cx="91440" cy="132588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6428232" y="1892808"/>
            <a:ext cx="4782312" cy="320040"/>
          </a:xfrm>
          <a:prstGeom prst="rect">
            <a:avLst/>
          </a:prstGeom>
          <a:noFill/>
        </p:spPr>
        <p:txBody>
          <a:bodyPr wrap="square" anchor="t">
            <a:spAutoFit/>
          </a:bodyPr>
          <a:lstStyle/>
          <a:p>
            <a:pPr algn="l">
              <a:spcAft>
                <a:spcPts val="400"/>
              </a:spcAft>
            </a:pPr>
            <a:r>
              <a:rPr sz="1150" b="1">
                <a:solidFill>
                  <a:srgbClr val="10B981"/>
                </a:solidFill>
                <a:latin typeface="Arial"/>
              </a:rPr>
              <a:t>WHY IT MATTERS</a:t>
            </a:r>
          </a:p>
        </p:txBody>
      </p:sp>
      <p:sp>
        <p:nvSpPr>
          <p:cNvPr id="14" name="TextBox 13"/>
          <p:cNvSpPr txBox="1"/>
          <p:nvPr/>
        </p:nvSpPr>
        <p:spPr>
          <a:xfrm>
            <a:off x="6428232" y="2221992"/>
            <a:ext cx="4782312" cy="822960"/>
          </a:xfrm>
          <a:prstGeom prst="rect">
            <a:avLst/>
          </a:prstGeom>
          <a:noFill/>
        </p:spPr>
        <p:txBody>
          <a:bodyPr wrap="square" anchor="t">
            <a:spAutoFit/>
          </a:bodyPr>
          <a:lstStyle/>
          <a:p>
            <a:pPr algn="l">
              <a:spcAft>
                <a:spcPts val="400"/>
              </a:spcAft>
            </a:pPr>
            <a:r>
              <a:rPr sz="1250" b="0">
                <a:solidFill>
                  <a:srgbClr val="161B26"/>
                </a:solidFill>
                <a:latin typeface="Arial"/>
              </a:rPr>
              <a:t>Automating recovery shrinks MTTR toward zero for the common failures and frees humans for the novel ones.</a:t>
            </a:r>
          </a:p>
        </p:txBody>
      </p:sp>
      <p:sp>
        <p:nvSpPr>
          <p:cNvPr id="15" name="Rectangle 14"/>
          <p:cNvSpPr/>
          <p:nvPr/>
        </p:nvSpPr>
        <p:spPr>
          <a:xfrm>
            <a:off x="6172200" y="3246120"/>
            <a:ext cx="5239512" cy="1325880"/>
          </a:xfrm>
          <a:prstGeom prst="rect">
            <a:avLst/>
          </a:prstGeom>
          <a:solidFill>
            <a:srgbClr val="FFFFFF"/>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ectangle 15"/>
          <p:cNvSpPr/>
          <p:nvPr/>
        </p:nvSpPr>
        <p:spPr>
          <a:xfrm>
            <a:off x="6172200" y="3246120"/>
            <a:ext cx="91440" cy="1325880"/>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6428232" y="3355848"/>
            <a:ext cx="4782312" cy="320040"/>
          </a:xfrm>
          <a:prstGeom prst="rect">
            <a:avLst/>
          </a:prstGeom>
          <a:noFill/>
        </p:spPr>
        <p:txBody>
          <a:bodyPr wrap="square" anchor="t">
            <a:spAutoFit/>
          </a:bodyPr>
          <a:lstStyle/>
          <a:p>
            <a:pPr algn="l">
              <a:spcAft>
                <a:spcPts val="400"/>
              </a:spcAft>
            </a:pPr>
            <a:r>
              <a:rPr sz="1150" b="1">
                <a:solidFill>
                  <a:srgbClr val="C0392B"/>
                </a:solidFill>
                <a:latin typeface="Arial"/>
              </a:rPr>
              <a:t>FAILURE MODE</a:t>
            </a:r>
          </a:p>
        </p:txBody>
      </p:sp>
      <p:sp>
        <p:nvSpPr>
          <p:cNvPr id="18" name="TextBox 17"/>
          <p:cNvSpPr txBox="1"/>
          <p:nvPr/>
        </p:nvSpPr>
        <p:spPr>
          <a:xfrm>
            <a:off x="6428232" y="3685032"/>
            <a:ext cx="4782312" cy="822960"/>
          </a:xfrm>
          <a:prstGeom prst="rect">
            <a:avLst/>
          </a:prstGeom>
          <a:noFill/>
        </p:spPr>
        <p:txBody>
          <a:bodyPr wrap="square" anchor="t">
            <a:spAutoFit/>
          </a:bodyPr>
          <a:lstStyle/>
          <a:p>
            <a:pPr algn="l">
              <a:spcAft>
                <a:spcPts val="400"/>
              </a:spcAft>
            </a:pPr>
            <a:r>
              <a:rPr sz="1250" b="0">
                <a:solidFill>
                  <a:srgbClr val="161B26"/>
                </a:solidFill>
                <a:latin typeface="Arial"/>
              </a:rPr>
              <a:t>Manual failover runbooks that are never rehearsed fail exactly when you need them, under incident pressure.</a:t>
            </a:r>
          </a:p>
        </p:txBody>
      </p:sp>
      <p:sp>
        <p:nvSpPr>
          <p:cNvPr id="19" name="Rectangle 18"/>
          <p:cNvSpPr/>
          <p:nvPr/>
        </p:nvSpPr>
        <p:spPr>
          <a:xfrm>
            <a:off x="6172200" y="4709160"/>
            <a:ext cx="5239512" cy="1325880"/>
          </a:xfrm>
          <a:prstGeom prst="rect">
            <a:avLst/>
          </a:prstGeom>
          <a:solidFill>
            <a:srgbClr val="FFFFFF"/>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Rectangle 19"/>
          <p:cNvSpPr/>
          <p:nvPr/>
        </p:nvSpPr>
        <p:spPr>
          <a:xfrm>
            <a:off x="6172200" y="4709160"/>
            <a:ext cx="91440" cy="1325880"/>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6428232" y="4818888"/>
            <a:ext cx="4782312" cy="320040"/>
          </a:xfrm>
          <a:prstGeom prst="rect">
            <a:avLst/>
          </a:prstGeom>
          <a:noFill/>
        </p:spPr>
        <p:txBody>
          <a:bodyPr wrap="square" anchor="t">
            <a:spAutoFit/>
          </a:bodyPr>
          <a:lstStyle/>
          <a:p>
            <a:pPr algn="l">
              <a:spcAft>
                <a:spcPts val="400"/>
              </a:spcAft>
            </a:pPr>
            <a:r>
              <a:rPr sz="1150" b="1">
                <a:solidFill>
                  <a:srgbClr val="F59E0B"/>
                </a:solidFill>
                <a:latin typeface="Arial"/>
              </a:rPr>
              <a:t>TRADE-OFF / DECISION</a:t>
            </a:r>
          </a:p>
        </p:txBody>
      </p:sp>
      <p:sp>
        <p:nvSpPr>
          <p:cNvPr id="22" name="TextBox 21"/>
          <p:cNvSpPr txBox="1"/>
          <p:nvPr/>
        </p:nvSpPr>
        <p:spPr>
          <a:xfrm>
            <a:off x="6428232" y="5148072"/>
            <a:ext cx="4782312" cy="822960"/>
          </a:xfrm>
          <a:prstGeom prst="rect">
            <a:avLst/>
          </a:prstGeom>
          <a:noFill/>
        </p:spPr>
        <p:txBody>
          <a:bodyPr wrap="square" anchor="t">
            <a:spAutoFit/>
          </a:bodyPr>
          <a:lstStyle/>
          <a:p>
            <a:pPr algn="l">
              <a:spcAft>
                <a:spcPts val="400"/>
              </a:spcAft>
            </a:pPr>
            <a:r>
              <a:rPr sz="1250" b="0">
                <a:solidFill>
                  <a:srgbClr val="161B26"/>
                </a:solidFill>
                <a:latin typeface="Arial"/>
              </a:rPr>
              <a:t>Automated failover must guard against flapping and split-brain — tune thresholds and use health checks carefully.</a:t>
            </a:r>
          </a:p>
        </p:txBody>
      </p:sp>
      <p:sp>
        <p:nvSpPr>
          <p:cNvPr id="23" name="TextBox 22"/>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DevOps Engineering on AWS  ·  TGS-2023040474</a:t>
            </a:r>
          </a:p>
        </p:txBody>
      </p:sp>
      <p:sp>
        <p:nvSpPr>
          <p:cNvPr id="24" name="TextBox 23"/>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25" name="TextBox 24"/>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114</a:t>
            </a:r>
          </a:p>
        </p:txBody>
      </p:sp>
    </p:spTree>
  </p:cSld>
  <p:clrMapOvr>
    <a:masterClrMapping/>
  </p:clrMapOvr>
  <p:transition xmlns:p14="http://schemas.microsoft.com/office/powerpoint/2010/main" p14:dur="380">
    <p:fade/>
  </p:transition>
</p:sld>
</file>

<file path=ppt/slides/slide11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38912"/>
            <a:ext cx="10607040" cy="365760"/>
          </a:xfrm>
          <a:prstGeom prst="rect">
            <a:avLst/>
          </a:prstGeom>
          <a:noFill/>
        </p:spPr>
        <p:txBody>
          <a:bodyPr wrap="square" anchor="t">
            <a:spAutoFit/>
          </a:bodyPr>
          <a:lstStyle/>
          <a:p>
            <a:pPr algn="l">
              <a:spcAft>
                <a:spcPts val="400"/>
              </a:spcAft>
            </a:pPr>
            <a:r>
              <a:rPr sz="1400" b="1">
                <a:solidFill>
                  <a:srgbClr val="10B981"/>
                </a:solidFill>
                <a:latin typeface="Arial"/>
              </a:rPr>
              <a:t>IN DEPTH</a:t>
            </a:r>
          </a:p>
        </p:txBody>
      </p:sp>
      <p:sp>
        <p:nvSpPr>
          <p:cNvPr id="5" name="TextBox 4"/>
          <p:cNvSpPr txBox="1"/>
          <p:nvPr/>
        </p:nvSpPr>
        <p:spPr>
          <a:xfrm>
            <a:off x="777240" y="804672"/>
            <a:ext cx="10927080" cy="731520"/>
          </a:xfrm>
          <a:prstGeom prst="rect">
            <a:avLst/>
          </a:prstGeom>
          <a:noFill/>
        </p:spPr>
        <p:txBody>
          <a:bodyPr wrap="square" anchor="t">
            <a:spAutoFit/>
          </a:bodyPr>
          <a:lstStyle/>
          <a:p>
            <a:pPr algn="l">
              <a:spcAft>
                <a:spcPts val="400"/>
              </a:spcAft>
            </a:pPr>
            <a:r>
              <a:rPr sz="2900" b="1">
                <a:solidFill>
                  <a:srgbClr val="161B26"/>
                </a:solidFill>
                <a:latin typeface="Arial"/>
              </a:rPr>
              <a:t>Designing for graceful degradation</a:t>
            </a:r>
          </a:p>
        </p:txBody>
      </p:sp>
      <p:sp>
        <p:nvSpPr>
          <p:cNvPr id="6" name="Rectangle 5"/>
          <p:cNvSpPr/>
          <p:nvPr/>
        </p:nvSpPr>
        <p:spPr>
          <a:xfrm>
            <a:off x="777240" y="1572768"/>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783080"/>
            <a:ext cx="5212080" cy="425196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1783080"/>
            <a:ext cx="5212080" cy="9144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1005840" y="1938528"/>
            <a:ext cx="4754880" cy="365760"/>
          </a:xfrm>
          <a:prstGeom prst="rect">
            <a:avLst/>
          </a:prstGeom>
          <a:noFill/>
        </p:spPr>
        <p:txBody>
          <a:bodyPr wrap="square" anchor="t">
            <a:spAutoFit/>
          </a:bodyPr>
          <a:lstStyle/>
          <a:p>
            <a:pPr algn="l">
              <a:spcAft>
                <a:spcPts val="400"/>
              </a:spcAft>
            </a:pPr>
            <a:r>
              <a:rPr sz="1200" b="1">
                <a:solidFill>
                  <a:srgbClr val="10B981"/>
                </a:solidFill>
                <a:latin typeface="Arial"/>
              </a:rPr>
              <a:t>IN DEPTH</a:t>
            </a:r>
          </a:p>
        </p:txBody>
      </p:sp>
      <p:sp>
        <p:nvSpPr>
          <p:cNvPr id="10" name="TextBox 9"/>
          <p:cNvSpPr txBox="1"/>
          <p:nvPr/>
        </p:nvSpPr>
        <p:spPr>
          <a:xfrm>
            <a:off x="1005840" y="2377440"/>
            <a:ext cx="4754880" cy="3566160"/>
          </a:xfrm>
          <a:prstGeom prst="rect">
            <a:avLst/>
          </a:prstGeom>
          <a:noFill/>
        </p:spPr>
        <p:txBody>
          <a:bodyPr wrap="square">
            <a:spAutoFit/>
          </a:bodyPr>
          <a:lstStyle/>
          <a:p>
            <a:pPr>
              <a:spcAft>
                <a:spcPts val="800"/>
              </a:spcAft>
            </a:pPr>
            <a:r>
              <a:rPr sz="1350" b="0">
                <a:solidFill>
                  <a:srgbClr val="161B26"/>
                </a:solidFill>
                <a:latin typeface="Arial"/>
              </a:rPr>
              <a:t>•  Under stress a resilient system sheds load, serves cached or default responses and protects its core function.</a:t>
            </a:r>
          </a:p>
          <a:p>
            <a:pPr>
              <a:spcAft>
                <a:spcPts val="800"/>
              </a:spcAft>
            </a:pPr>
            <a:r>
              <a:rPr sz="1350" b="0">
                <a:solidFill>
                  <a:srgbClr val="161B26"/>
                </a:solidFill>
                <a:latin typeface="Arial"/>
              </a:rPr>
              <a:t>•  Timeouts, retries with backoff and jitter, and circuit breakers stop failures from amplifying.</a:t>
            </a:r>
          </a:p>
          <a:p>
            <a:pPr>
              <a:spcAft>
                <a:spcPts val="800"/>
              </a:spcAft>
            </a:pPr>
            <a:r>
              <a:rPr sz="1350" b="0">
                <a:solidFill>
                  <a:srgbClr val="161B26"/>
                </a:solidFill>
                <a:latin typeface="Arial"/>
              </a:rPr>
              <a:t>•  Bulkheads isolate resources so one hot tenant or feature can't starve the rest.</a:t>
            </a:r>
          </a:p>
        </p:txBody>
      </p:sp>
      <p:sp>
        <p:nvSpPr>
          <p:cNvPr id="11" name="Rectangle 10"/>
          <p:cNvSpPr/>
          <p:nvPr/>
        </p:nvSpPr>
        <p:spPr>
          <a:xfrm>
            <a:off x="6172200" y="1783080"/>
            <a:ext cx="5239512" cy="1325880"/>
          </a:xfrm>
          <a:prstGeom prst="rect">
            <a:avLst/>
          </a:prstGeom>
          <a:solidFill>
            <a:srgbClr val="FFFFFF"/>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ectangle 11"/>
          <p:cNvSpPr/>
          <p:nvPr/>
        </p:nvSpPr>
        <p:spPr>
          <a:xfrm>
            <a:off x="6172200" y="1783080"/>
            <a:ext cx="91440" cy="132588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6428232" y="1892808"/>
            <a:ext cx="4782312" cy="320040"/>
          </a:xfrm>
          <a:prstGeom prst="rect">
            <a:avLst/>
          </a:prstGeom>
          <a:noFill/>
        </p:spPr>
        <p:txBody>
          <a:bodyPr wrap="square" anchor="t">
            <a:spAutoFit/>
          </a:bodyPr>
          <a:lstStyle/>
          <a:p>
            <a:pPr algn="l">
              <a:spcAft>
                <a:spcPts val="400"/>
              </a:spcAft>
            </a:pPr>
            <a:r>
              <a:rPr sz="1150" b="1">
                <a:solidFill>
                  <a:srgbClr val="10B981"/>
                </a:solidFill>
                <a:latin typeface="Arial"/>
              </a:rPr>
              <a:t>WHY IT MATTERS</a:t>
            </a:r>
          </a:p>
        </p:txBody>
      </p:sp>
      <p:sp>
        <p:nvSpPr>
          <p:cNvPr id="14" name="TextBox 13"/>
          <p:cNvSpPr txBox="1"/>
          <p:nvPr/>
        </p:nvSpPr>
        <p:spPr>
          <a:xfrm>
            <a:off x="6428232" y="2221992"/>
            <a:ext cx="4782312" cy="822960"/>
          </a:xfrm>
          <a:prstGeom prst="rect">
            <a:avLst/>
          </a:prstGeom>
          <a:noFill/>
        </p:spPr>
        <p:txBody>
          <a:bodyPr wrap="square" anchor="t">
            <a:spAutoFit/>
          </a:bodyPr>
          <a:lstStyle/>
          <a:p>
            <a:pPr algn="l">
              <a:spcAft>
                <a:spcPts val="400"/>
              </a:spcAft>
            </a:pPr>
            <a:r>
              <a:rPr sz="1250" b="0">
                <a:solidFill>
                  <a:srgbClr val="161B26"/>
                </a:solidFill>
                <a:latin typeface="Arial"/>
              </a:rPr>
              <a:t>Graceful degradation keeps the most important user journeys working even when parts of the system are unhealthy.</a:t>
            </a:r>
          </a:p>
        </p:txBody>
      </p:sp>
      <p:sp>
        <p:nvSpPr>
          <p:cNvPr id="15" name="Rectangle 14"/>
          <p:cNvSpPr/>
          <p:nvPr/>
        </p:nvSpPr>
        <p:spPr>
          <a:xfrm>
            <a:off x="6172200" y="3246120"/>
            <a:ext cx="5239512" cy="1325880"/>
          </a:xfrm>
          <a:prstGeom prst="rect">
            <a:avLst/>
          </a:prstGeom>
          <a:solidFill>
            <a:srgbClr val="FFFFFF"/>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ectangle 15"/>
          <p:cNvSpPr/>
          <p:nvPr/>
        </p:nvSpPr>
        <p:spPr>
          <a:xfrm>
            <a:off x="6172200" y="3246120"/>
            <a:ext cx="91440" cy="1325880"/>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6428232" y="3355848"/>
            <a:ext cx="4782312" cy="320040"/>
          </a:xfrm>
          <a:prstGeom prst="rect">
            <a:avLst/>
          </a:prstGeom>
          <a:noFill/>
        </p:spPr>
        <p:txBody>
          <a:bodyPr wrap="square" anchor="t">
            <a:spAutoFit/>
          </a:bodyPr>
          <a:lstStyle/>
          <a:p>
            <a:pPr algn="l">
              <a:spcAft>
                <a:spcPts val="400"/>
              </a:spcAft>
            </a:pPr>
            <a:r>
              <a:rPr sz="1150" b="1">
                <a:solidFill>
                  <a:srgbClr val="C0392B"/>
                </a:solidFill>
                <a:latin typeface="Arial"/>
              </a:rPr>
              <a:t>FAILURE MODE</a:t>
            </a:r>
          </a:p>
        </p:txBody>
      </p:sp>
      <p:sp>
        <p:nvSpPr>
          <p:cNvPr id="18" name="TextBox 17"/>
          <p:cNvSpPr txBox="1"/>
          <p:nvPr/>
        </p:nvSpPr>
        <p:spPr>
          <a:xfrm>
            <a:off x="6428232" y="3685032"/>
            <a:ext cx="4782312" cy="822960"/>
          </a:xfrm>
          <a:prstGeom prst="rect">
            <a:avLst/>
          </a:prstGeom>
          <a:noFill/>
        </p:spPr>
        <p:txBody>
          <a:bodyPr wrap="square" anchor="t">
            <a:spAutoFit/>
          </a:bodyPr>
          <a:lstStyle/>
          <a:p>
            <a:pPr algn="l">
              <a:spcAft>
                <a:spcPts val="400"/>
              </a:spcAft>
            </a:pPr>
            <a:r>
              <a:rPr sz="1250" b="0">
                <a:solidFill>
                  <a:srgbClr val="161B26"/>
                </a:solidFill>
                <a:latin typeface="Arial"/>
              </a:rPr>
              <a:t>Unbounded retries during an incident create a retry storm that turns a brownout into a full outage.</a:t>
            </a:r>
          </a:p>
        </p:txBody>
      </p:sp>
      <p:sp>
        <p:nvSpPr>
          <p:cNvPr id="19" name="Rectangle 18"/>
          <p:cNvSpPr/>
          <p:nvPr/>
        </p:nvSpPr>
        <p:spPr>
          <a:xfrm>
            <a:off x="6172200" y="4709160"/>
            <a:ext cx="5239512" cy="1325880"/>
          </a:xfrm>
          <a:prstGeom prst="rect">
            <a:avLst/>
          </a:prstGeom>
          <a:solidFill>
            <a:srgbClr val="FFFFFF"/>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Rectangle 19"/>
          <p:cNvSpPr/>
          <p:nvPr/>
        </p:nvSpPr>
        <p:spPr>
          <a:xfrm>
            <a:off x="6172200" y="4709160"/>
            <a:ext cx="91440" cy="1325880"/>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6428232" y="4818888"/>
            <a:ext cx="4782312" cy="320040"/>
          </a:xfrm>
          <a:prstGeom prst="rect">
            <a:avLst/>
          </a:prstGeom>
          <a:noFill/>
        </p:spPr>
        <p:txBody>
          <a:bodyPr wrap="square" anchor="t">
            <a:spAutoFit/>
          </a:bodyPr>
          <a:lstStyle/>
          <a:p>
            <a:pPr algn="l">
              <a:spcAft>
                <a:spcPts val="400"/>
              </a:spcAft>
            </a:pPr>
            <a:r>
              <a:rPr sz="1150" b="1">
                <a:solidFill>
                  <a:srgbClr val="F59E0B"/>
                </a:solidFill>
                <a:latin typeface="Arial"/>
              </a:rPr>
              <a:t>TRADE-OFF / DECISION</a:t>
            </a:r>
          </a:p>
        </p:txBody>
      </p:sp>
      <p:sp>
        <p:nvSpPr>
          <p:cNvPr id="22" name="TextBox 21"/>
          <p:cNvSpPr txBox="1"/>
          <p:nvPr/>
        </p:nvSpPr>
        <p:spPr>
          <a:xfrm>
            <a:off x="6428232" y="5148072"/>
            <a:ext cx="4782312" cy="822960"/>
          </a:xfrm>
          <a:prstGeom prst="rect">
            <a:avLst/>
          </a:prstGeom>
          <a:noFill/>
        </p:spPr>
        <p:txBody>
          <a:bodyPr wrap="square" anchor="t">
            <a:spAutoFit/>
          </a:bodyPr>
          <a:lstStyle/>
          <a:p>
            <a:pPr algn="l">
              <a:spcAft>
                <a:spcPts val="400"/>
              </a:spcAft>
            </a:pPr>
            <a:r>
              <a:rPr sz="1250" b="0">
                <a:solidFill>
                  <a:srgbClr val="161B26"/>
                </a:solidFill>
                <a:latin typeface="Arial"/>
              </a:rPr>
              <a:t>Serving degraded responses reduces functionality temporarily to preserve availability — usually the right call.</a:t>
            </a:r>
          </a:p>
        </p:txBody>
      </p:sp>
      <p:sp>
        <p:nvSpPr>
          <p:cNvPr id="23" name="TextBox 22"/>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DevOps Engineering on AWS  ·  TGS-2023040474</a:t>
            </a:r>
          </a:p>
        </p:txBody>
      </p:sp>
      <p:sp>
        <p:nvSpPr>
          <p:cNvPr id="24" name="TextBox 23"/>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25" name="TextBox 24"/>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115</a:t>
            </a:r>
          </a:p>
        </p:txBody>
      </p:sp>
    </p:spTree>
  </p:cSld>
  <p:clrMapOvr>
    <a:masterClrMapping/>
  </p:clrMapOvr>
  <p:transition xmlns:p14="http://schemas.microsoft.com/office/powerpoint/2010/main" p14:dur="380">
    <p:fade/>
  </p:transition>
</p:sld>
</file>

<file path=ppt/slides/slide11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38912"/>
            <a:ext cx="10607040" cy="365760"/>
          </a:xfrm>
          <a:prstGeom prst="rect">
            <a:avLst/>
          </a:prstGeom>
          <a:noFill/>
        </p:spPr>
        <p:txBody>
          <a:bodyPr wrap="square" anchor="t">
            <a:spAutoFit/>
          </a:bodyPr>
          <a:lstStyle/>
          <a:p>
            <a:pPr algn="l">
              <a:spcAft>
                <a:spcPts val="400"/>
              </a:spcAft>
            </a:pPr>
            <a:r>
              <a:rPr sz="1400" b="1">
                <a:solidFill>
                  <a:srgbClr val="10B981"/>
                </a:solidFill>
                <a:latin typeface="Arial"/>
              </a:rPr>
              <a:t>PRICING RESILIENCE</a:t>
            </a:r>
          </a:p>
        </p:txBody>
      </p:sp>
      <p:sp>
        <p:nvSpPr>
          <p:cNvPr id="5" name="TextBox 4"/>
          <p:cNvSpPr txBox="1"/>
          <p:nvPr/>
        </p:nvSpPr>
        <p:spPr>
          <a:xfrm>
            <a:off x="777240" y="896112"/>
            <a:ext cx="10927080" cy="731520"/>
          </a:xfrm>
          <a:prstGeom prst="rect">
            <a:avLst/>
          </a:prstGeom>
          <a:noFill/>
        </p:spPr>
        <p:txBody>
          <a:bodyPr wrap="square" anchor="t">
            <a:spAutoFit/>
          </a:bodyPr>
          <a:lstStyle/>
          <a:p>
            <a:pPr algn="l">
              <a:spcAft>
                <a:spcPts val="400"/>
              </a:spcAft>
            </a:pPr>
            <a:r>
              <a:rPr sz="2500" b="1">
                <a:solidFill>
                  <a:srgbClr val="161B26"/>
                </a:solidFill>
                <a:latin typeface="Arial"/>
              </a:rPr>
              <a:t>Disaster Recovery Patterns — Cost vs Recovery</a:t>
            </a:r>
          </a:p>
        </p:txBody>
      </p:sp>
      <p:sp>
        <p:nvSpPr>
          <p:cNvPr id="6" name="Rectangle 5"/>
          <p:cNvSpPr/>
          <p:nvPr/>
        </p:nvSpPr>
        <p:spPr>
          <a:xfrm>
            <a:off x="777240" y="1572768"/>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783080"/>
            <a:ext cx="3615720" cy="5029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886968" y="1783080"/>
            <a:ext cx="3432840" cy="502920"/>
          </a:xfrm>
          <a:prstGeom prst="rect">
            <a:avLst/>
          </a:prstGeom>
          <a:noFill/>
        </p:spPr>
        <p:txBody>
          <a:bodyPr wrap="square" anchor="ctr">
            <a:spAutoFit/>
          </a:bodyPr>
          <a:lstStyle/>
          <a:p>
            <a:pPr algn="l">
              <a:spcAft>
                <a:spcPts val="400"/>
              </a:spcAft>
            </a:pPr>
            <a:r>
              <a:rPr sz="1400" b="1">
                <a:solidFill>
                  <a:srgbClr val="FFFFFF"/>
                </a:solidFill>
                <a:latin typeface="Arial"/>
              </a:rPr>
              <a:t>Pattern</a:t>
            </a:r>
          </a:p>
        </p:txBody>
      </p:sp>
      <p:sp>
        <p:nvSpPr>
          <p:cNvPr id="9" name="Rectangle 8"/>
          <p:cNvSpPr/>
          <p:nvPr/>
        </p:nvSpPr>
        <p:spPr>
          <a:xfrm>
            <a:off x="4392960" y="1783080"/>
            <a:ext cx="2339583" cy="5029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4502688" y="1783080"/>
            <a:ext cx="2156703" cy="502920"/>
          </a:xfrm>
          <a:prstGeom prst="rect">
            <a:avLst/>
          </a:prstGeom>
          <a:noFill/>
        </p:spPr>
        <p:txBody>
          <a:bodyPr wrap="square" anchor="ctr">
            <a:spAutoFit/>
          </a:bodyPr>
          <a:lstStyle/>
          <a:p>
            <a:pPr algn="ctr">
              <a:spcAft>
                <a:spcPts val="400"/>
              </a:spcAft>
            </a:pPr>
            <a:r>
              <a:rPr sz="1400" b="1">
                <a:solidFill>
                  <a:srgbClr val="FFFFFF"/>
                </a:solidFill>
                <a:latin typeface="Arial"/>
              </a:rPr>
              <a:t>RTO</a:t>
            </a:r>
          </a:p>
        </p:txBody>
      </p:sp>
      <p:sp>
        <p:nvSpPr>
          <p:cNvPr id="11" name="Rectangle 10"/>
          <p:cNvSpPr/>
          <p:nvPr/>
        </p:nvSpPr>
        <p:spPr>
          <a:xfrm>
            <a:off x="6732543" y="1783080"/>
            <a:ext cx="2339583" cy="5029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6842271" y="1783080"/>
            <a:ext cx="2156703" cy="502920"/>
          </a:xfrm>
          <a:prstGeom prst="rect">
            <a:avLst/>
          </a:prstGeom>
          <a:noFill/>
        </p:spPr>
        <p:txBody>
          <a:bodyPr wrap="square" anchor="ctr">
            <a:spAutoFit/>
          </a:bodyPr>
          <a:lstStyle/>
          <a:p>
            <a:pPr algn="ctr">
              <a:spcAft>
                <a:spcPts val="400"/>
              </a:spcAft>
            </a:pPr>
            <a:r>
              <a:rPr sz="1400" b="1">
                <a:solidFill>
                  <a:srgbClr val="FFFFFF"/>
                </a:solidFill>
                <a:latin typeface="Arial"/>
              </a:rPr>
              <a:t>RPO</a:t>
            </a:r>
          </a:p>
        </p:txBody>
      </p:sp>
      <p:sp>
        <p:nvSpPr>
          <p:cNvPr id="13" name="Rectangle 12"/>
          <p:cNvSpPr/>
          <p:nvPr/>
        </p:nvSpPr>
        <p:spPr>
          <a:xfrm>
            <a:off x="9072126" y="1783080"/>
            <a:ext cx="2339583" cy="5029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9181854" y="1783080"/>
            <a:ext cx="2156703" cy="502920"/>
          </a:xfrm>
          <a:prstGeom prst="rect">
            <a:avLst/>
          </a:prstGeom>
          <a:noFill/>
        </p:spPr>
        <p:txBody>
          <a:bodyPr wrap="square" anchor="ctr">
            <a:spAutoFit/>
          </a:bodyPr>
          <a:lstStyle/>
          <a:p>
            <a:pPr algn="ctr">
              <a:spcAft>
                <a:spcPts val="400"/>
              </a:spcAft>
            </a:pPr>
            <a:r>
              <a:rPr sz="1400" b="1">
                <a:solidFill>
                  <a:srgbClr val="FFFFFF"/>
                </a:solidFill>
                <a:latin typeface="Arial"/>
              </a:rPr>
              <a:t>Relative cost</a:t>
            </a:r>
          </a:p>
        </p:txBody>
      </p:sp>
      <p:sp>
        <p:nvSpPr>
          <p:cNvPr id="15" name="Rectangle 14"/>
          <p:cNvSpPr/>
          <p:nvPr/>
        </p:nvSpPr>
        <p:spPr>
          <a:xfrm>
            <a:off x="777240" y="2286000"/>
            <a:ext cx="3615720" cy="822960"/>
          </a:xfrm>
          <a:prstGeom prst="rect">
            <a:avLst/>
          </a:prstGeom>
          <a:solidFill>
            <a:srgbClr val="F5F8FC"/>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886968" y="2286000"/>
            <a:ext cx="3432840" cy="822960"/>
          </a:xfrm>
          <a:prstGeom prst="rect">
            <a:avLst/>
          </a:prstGeom>
          <a:noFill/>
        </p:spPr>
        <p:txBody>
          <a:bodyPr wrap="square" anchor="ctr">
            <a:spAutoFit/>
          </a:bodyPr>
          <a:lstStyle/>
          <a:p>
            <a:pPr algn="l">
              <a:spcAft>
                <a:spcPts val="400"/>
              </a:spcAft>
            </a:pPr>
            <a:r>
              <a:rPr sz="1250" b="1">
                <a:solidFill>
                  <a:srgbClr val="161B26"/>
                </a:solidFill>
                <a:latin typeface="Arial"/>
              </a:rPr>
              <a:t>Backup &amp; Restore</a:t>
            </a:r>
          </a:p>
        </p:txBody>
      </p:sp>
      <p:sp>
        <p:nvSpPr>
          <p:cNvPr id="17" name="Rectangle 16"/>
          <p:cNvSpPr/>
          <p:nvPr/>
        </p:nvSpPr>
        <p:spPr>
          <a:xfrm>
            <a:off x="4392960" y="2286000"/>
            <a:ext cx="2339583" cy="822960"/>
          </a:xfrm>
          <a:prstGeom prst="rect">
            <a:avLst/>
          </a:prstGeom>
          <a:solidFill>
            <a:srgbClr val="F5F8FC"/>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4502688" y="2286000"/>
            <a:ext cx="2156703" cy="822960"/>
          </a:xfrm>
          <a:prstGeom prst="rect">
            <a:avLst/>
          </a:prstGeom>
          <a:noFill/>
        </p:spPr>
        <p:txBody>
          <a:bodyPr wrap="square" anchor="ctr">
            <a:spAutoFit/>
          </a:bodyPr>
          <a:lstStyle/>
          <a:p>
            <a:pPr algn="ctr">
              <a:spcAft>
                <a:spcPts val="400"/>
              </a:spcAft>
            </a:pPr>
            <a:r>
              <a:rPr sz="1250" b="0">
                <a:solidFill>
                  <a:srgbClr val="5B6372"/>
                </a:solidFill>
                <a:latin typeface="Arial"/>
              </a:rPr>
              <a:t>Hours</a:t>
            </a:r>
          </a:p>
        </p:txBody>
      </p:sp>
      <p:sp>
        <p:nvSpPr>
          <p:cNvPr id="19" name="Rectangle 18"/>
          <p:cNvSpPr/>
          <p:nvPr/>
        </p:nvSpPr>
        <p:spPr>
          <a:xfrm>
            <a:off x="6732543" y="2286000"/>
            <a:ext cx="2339583" cy="822960"/>
          </a:xfrm>
          <a:prstGeom prst="rect">
            <a:avLst/>
          </a:prstGeom>
          <a:solidFill>
            <a:srgbClr val="F5F8FC"/>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6842271" y="2286000"/>
            <a:ext cx="2156703" cy="822960"/>
          </a:xfrm>
          <a:prstGeom prst="rect">
            <a:avLst/>
          </a:prstGeom>
          <a:noFill/>
        </p:spPr>
        <p:txBody>
          <a:bodyPr wrap="square" anchor="ctr">
            <a:spAutoFit/>
          </a:bodyPr>
          <a:lstStyle/>
          <a:p>
            <a:pPr algn="ctr">
              <a:spcAft>
                <a:spcPts val="400"/>
              </a:spcAft>
            </a:pPr>
            <a:r>
              <a:rPr sz="1250" b="0">
                <a:solidFill>
                  <a:srgbClr val="5B6372"/>
                </a:solidFill>
                <a:latin typeface="Arial"/>
              </a:rPr>
              <a:t>Hours</a:t>
            </a:r>
          </a:p>
        </p:txBody>
      </p:sp>
      <p:sp>
        <p:nvSpPr>
          <p:cNvPr id="21" name="Rectangle 20"/>
          <p:cNvSpPr/>
          <p:nvPr/>
        </p:nvSpPr>
        <p:spPr>
          <a:xfrm>
            <a:off x="9072126" y="2286000"/>
            <a:ext cx="2339583" cy="822960"/>
          </a:xfrm>
          <a:prstGeom prst="rect">
            <a:avLst/>
          </a:prstGeom>
          <a:solidFill>
            <a:srgbClr val="F5F8FC"/>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9181854" y="2286000"/>
            <a:ext cx="2156703" cy="822960"/>
          </a:xfrm>
          <a:prstGeom prst="rect">
            <a:avLst/>
          </a:prstGeom>
          <a:noFill/>
        </p:spPr>
        <p:txBody>
          <a:bodyPr wrap="square" anchor="ctr">
            <a:spAutoFit/>
          </a:bodyPr>
          <a:lstStyle/>
          <a:p>
            <a:pPr algn="ctr">
              <a:spcAft>
                <a:spcPts val="400"/>
              </a:spcAft>
            </a:pPr>
            <a:r>
              <a:rPr sz="1250" b="0">
                <a:solidFill>
                  <a:srgbClr val="5B6372"/>
                </a:solidFill>
                <a:latin typeface="Arial"/>
              </a:rPr>
              <a:t>$</a:t>
            </a:r>
          </a:p>
        </p:txBody>
      </p:sp>
      <p:sp>
        <p:nvSpPr>
          <p:cNvPr id="23" name="Rectangle 22"/>
          <p:cNvSpPr/>
          <p:nvPr/>
        </p:nvSpPr>
        <p:spPr>
          <a:xfrm>
            <a:off x="777240" y="3108960"/>
            <a:ext cx="3615720" cy="822960"/>
          </a:xfrm>
          <a:prstGeom prst="rect">
            <a:avLst/>
          </a:prstGeom>
          <a:solidFill>
            <a:srgbClr val="FFFFFF"/>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886968" y="3108960"/>
            <a:ext cx="3432840" cy="822960"/>
          </a:xfrm>
          <a:prstGeom prst="rect">
            <a:avLst/>
          </a:prstGeom>
          <a:noFill/>
        </p:spPr>
        <p:txBody>
          <a:bodyPr wrap="square" anchor="ctr">
            <a:spAutoFit/>
          </a:bodyPr>
          <a:lstStyle/>
          <a:p>
            <a:pPr algn="l">
              <a:spcAft>
                <a:spcPts val="400"/>
              </a:spcAft>
            </a:pPr>
            <a:r>
              <a:rPr sz="1250" b="1">
                <a:solidFill>
                  <a:srgbClr val="161B26"/>
                </a:solidFill>
                <a:latin typeface="Arial"/>
              </a:rPr>
              <a:t>Pilot Light</a:t>
            </a:r>
          </a:p>
        </p:txBody>
      </p:sp>
      <p:sp>
        <p:nvSpPr>
          <p:cNvPr id="25" name="Rectangle 24"/>
          <p:cNvSpPr/>
          <p:nvPr/>
        </p:nvSpPr>
        <p:spPr>
          <a:xfrm>
            <a:off x="4392960" y="3108960"/>
            <a:ext cx="2339583" cy="822960"/>
          </a:xfrm>
          <a:prstGeom prst="rect">
            <a:avLst/>
          </a:prstGeom>
          <a:solidFill>
            <a:srgbClr val="FFFFFF"/>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4502688" y="3108960"/>
            <a:ext cx="2156703" cy="822960"/>
          </a:xfrm>
          <a:prstGeom prst="rect">
            <a:avLst/>
          </a:prstGeom>
          <a:noFill/>
        </p:spPr>
        <p:txBody>
          <a:bodyPr wrap="square" anchor="ctr">
            <a:spAutoFit/>
          </a:bodyPr>
          <a:lstStyle/>
          <a:p>
            <a:pPr algn="ctr">
              <a:spcAft>
                <a:spcPts val="400"/>
              </a:spcAft>
            </a:pPr>
            <a:r>
              <a:rPr sz="1250" b="0">
                <a:solidFill>
                  <a:srgbClr val="5B6372"/>
                </a:solidFill>
                <a:latin typeface="Arial"/>
              </a:rPr>
              <a:t>Tens of minutes</a:t>
            </a:r>
          </a:p>
        </p:txBody>
      </p:sp>
      <p:sp>
        <p:nvSpPr>
          <p:cNvPr id="27" name="Rectangle 26"/>
          <p:cNvSpPr/>
          <p:nvPr/>
        </p:nvSpPr>
        <p:spPr>
          <a:xfrm>
            <a:off x="6732543" y="3108960"/>
            <a:ext cx="2339583" cy="822960"/>
          </a:xfrm>
          <a:prstGeom prst="rect">
            <a:avLst/>
          </a:prstGeom>
          <a:solidFill>
            <a:srgbClr val="FFFFFF"/>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6842271" y="3108960"/>
            <a:ext cx="2156703" cy="822960"/>
          </a:xfrm>
          <a:prstGeom prst="rect">
            <a:avLst/>
          </a:prstGeom>
          <a:noFill/>
        </p:spPr>
        <p:txBody>
          <a:bodyPr wrap="square" anchor="ctr">
            <a:spAutoFit/>
          </a:bodyPr>
          <a:lstStyle/>
          <a:p>
            <a:pPr algn="ctr">
              <a:spcAft>
                <a:spcPts val="400"/>
              </a:spcAft>
            </a:pPr>
            <a:r>
              <a:rPr sz="1250" b="0">
                <a:solidFill>
                  <a:srgbClr val="5B6372"/>
                </a:solidFill>
                <a:latin typeface="Arial"/>
              </a:rPr>
              <a:t>Minutes</a:t>
            </a:r>
          </a:p>
        </p:txBody>
      </p:sp>
      <p:sp>
        <p:nvSpPr>
          <p:cNvPr id="29" name="Rectangle 28"/>
          <p:cNvSpPr/>
          <p:nvPr/>
        </p:nvSpPr>
        <p:spPr>
          <a:xfrm>
            <a:off x="9072126" y="3108960"/>
            <a:ext cx="2339583" cy="822960"/>
          </a:xfrm>
          <a:prstGeom prst="rect">
            <a:avLst/>
          </a:prstGeom>
          <a:solidFill>
            <a:srgbClr val="FFFFFF"/>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9181854" y="3108960"/>
            <a:ext cx="2156703" cy="822960"/>
          </a:xfrm>
          <a:prstGeom prst="rect">
            <a:avLst/>
          </a:prstGeom>
          <a:noFill/>
        </p:spPr>
        <p:txBody>
          <a:bodyPr wrap="square" anchor="ctr">
            <a:spAutoFit/>
          </a:bodyPr>
          <a:lstStyle/>
          <a:p>
            <a:pPr algn="ctr">
              <a:spcAft>
                <a:spcPts val="400"/>
              </a:spcAft>
            </a:pPr>
            <a:r>
              <a:rPr sz="1250" b="0">
                <a:solidFill>
                  <a:srgbClr val="5B6372"/>
                </a:solidFill>
                <a:latin typeface="Arial"/>
              </a:rPr>
              <a:t>$$</a:t>
            </a:r>
          </a:p>
        </p:txBody>
      </p:sp>
      <p:sp>
        <p:nvSpPr>
          <p:cNvPr id="31" name="Rectangle 30"/>
          <p:cNvSpPr/>
          <p:nvPr/>
        </p:nvSpPr>
        <p:spPr>
          <a:xfrm>
            <a:off x="777240" y="3931920"/>
            <a:ext cx="3615720" cy="822960"/>
          </a:xfrm>
          <a:prstGeom prst="rect">
            <a:avLst/>
          </a:prstGeom>
          <a:solidFill>
            <a:srgbClr val="F5F8FC"/>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TextBox 31"/>
          <p:cNvSpPr txBox="1"/>
          <p:nvPr/>
        </p:nvSpPr>
        <p:spPr>
          <a:xfrm>
            <a:off x="886968" y="3931920"/>
            <a:ext cx="3432840" cy="822960"/>
          </a:xfrm>
          <a:prstGeom prst="rect">
            <a:avLst/>
          </a:prstGeom>
          <a:noFill/>
        </p:spPr>
        <p:txBody>
          <a:bodyPr wrap="square" anchor="ctr">
            <a:spAutoFit/>
          </a:bodyPr>
          <a:lstStyle/>
          <a:p>
            <a:pPr algn="l">
              <a:spcAft>
                <a:spcPts val="400"/>
              </a:spcAft>
            </a:pPr>
            <a:r>
              <a:rPr sz="1250" b="1">
                <a:solidFill>
                  <a:srgbClr val="161B26"/>
                </a:solidFill>
                <a:latin typeface="Arial"/>
              </a:rPr>
              <a:t>Warm Standby</a:t>
            </a:r>
          </a:p>
        </p:txBody>
      </p:sp>
      <p:sp>
        <p:nvSpPr>
          <p:cNvPr id="33" name="Rectangle 32"/>
          <p:cNvSpPr/>
          <p:nvPr/>
        </p:nvSpPr>
        <p:spPr>
          <a:xfrm>
            <a:off x="4392960" y="3931920"/>
            <a:ext cx="2339583" cy="822960"/>
          </a:xfrm>
          <a:prstGeom prst="rect">
            <a:avLst/>
          </a:prstGeom>
          <a:solidFill>
            <a:srgbClr val="F5F8FC"/>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TextBox 33"/>
          <p:cNvSpPr txBox="1"/>
          <p:nvPr/>
        </p:nvSpPr>
        <p:spPr>
          <a:xfrm>
            <a:off x="4502688" y="3931920"/>
            <a:ext cx="2156703" cy="822960"/>
          </a:xfrm>
          <a:prstGeom prst="rect">
            <a:avLst/>
          </a:prstGeom>
          <a:noFill/>
        </p:spPr>
        <p:txBody>
          <a:bodyPr wrap="square" anchor="ctr">
            <a:spAutoFit/>
          </a:bodyPr>
          <a:lstStyle/>
          <a:p>
            <a:pPr algn="ctr">
              <a:spcAft>
                <a:spcPts val="400"/>
              </a:spcAft>
            </a:pPr>
            <a:r>
              <a:rPr sz="1250" b="0">
                <a:solidFill>
                  <a:srgbClr val="5B6372"/>
                </a:solidFill>
                <a:latin typeface="Arial"/>
              </a:rPr>
              <a:t>Minutes</a:t>
            </a:r>
          </a:p>
        </p:txBody>
      </p:sp>
      <p:sp>
        <p:nvSpPr>
          <p:cNvPr id="35" name="Rectangle 34"/>
          <p:cNvSpPr/>
          <p:nvPr/>
        </p:nvSpPr>
        <p:spPr>
          <a:xfrm>
            <a:off x="6732543" y="3931920"/>
            <a:ext cx="2339583" cy="822960"/>
          </a:xfrm>
          <a:prstGeom prst="rect">
            <a:avLst/>
          </a:prstGeom>
          <a:solidFill>
            <a:srgbClr val="F5F8FC"/>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TextBox 35"/>
          <p:cNvSpPr txBox="1"/>
          <p:nvPr/>
        </p:nvSpPr>
        <p:spPr>
          <a:xfrm>
            <a:off x="6842271" y="3931920"/>
            <a:ext cx="2156703" cy="822960"/>
          </a:xfrm>
          <a:prstGeom prst="rect">
            <a:avLst/>
          </a:prstGeom>
          <a:noFill/>
        </p:spPr>
        <p:txBody>
          <a:bodyPr wrap="square" anchor="ctr">
            <a:spAutoFit/>
          </a:bodyPr>
          <a:lstStyle/>
          <a:p>
            <a:pPr algn="ctr">
              <a:spcAft>
                <a:spcPts val="400"/>
              </a:spcAft>
            </a:pPr>
            <a:r>
              <a:rPr sz="1250" b="0">
                <a:solidFill>
                  <a:srgbClr val="5B6372"/>
                </a:solidFill>
                <a:latin typeface="Arial"/>
              </a:rPr>
              <a:t>Seconds</a:t>
            </a:r>
          </a:p>
        </p:txBody>
      </p:sp>
      <p:sp>
        <p:nvSpPr>
          <p:cNvPr id="37" name="Rectangle 36"/>
          <p:cNvSpPr/>
          <p:nvPr/>
        </p:nvSpPr>
        <p:spPr>
          <a:xfrm>
            <a:off x="9072126" y="3931920"/>
            <a:ext cx="2339583" cy="822960"/>
          </a:xfrm>
          <a:prstGeom prst="rect">
            <a:avLst/>
          </a:prstGeom>
          <a:solidFill>
            <a:srgbClr val="F5F8FC"/>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8" name="TextBox 37"/>
          <p:cNvSpPr txBox="1"/>
          <p:nvPr/>
        </p:nvSpPr>
        <p:spPr>
          <a:xfrm>
            <a:off x="9181854" y="3931920"/>
            <a:ext cx="2156703" cy="822960"/>
          </a:xfrm>
          <a:prstGeom prst="rect">
            <a:avLst/>
          </a:prstGeom>
          <a:noFill/>
        </p:spPr>
        <p:txBody>
          <a:bodyPr wrap="square" anchor="ctr">
            <a:spAutoFit/>
          </a:bodyPr>
          <a:lstStyle/>
          <a:p>
            <a:pPr algn="ctr">
              <a:spcAft>
                <a:spcPts val="400"/>
              </a:spcAft>
            </a:pPr>
            <a:r>
              <a:rPr sz="1250" b="0">
                <a:solidFill>
                  <a:srgbClr val="5B6372"/>
                </a:solidFill>
                <a:latin typeface="Arial"/>
              </a:rPr>
              <a:t>$$$</a:t>
            </a:r>
          </a:p>
        </p:txBody>
      </p:sp>
      <p:sp>
        <p:nvSpPr>
          <p:cNvPr id="39" name="Rectangle 38"/>
          <p:cNvSpPr/>
          <p:nvPr/>
        </p:nvSpPr>
        <p:spPr>
          <a:xfrm>
            <a:off x="777240" y="4754880"/>
            <a:ext cx="3615720" cy="822960"/>
          </a:xfrm>
          <a:prstGeom prst="rect">
            <a:avLst/>
          </a:prstGeom>
          <a:solidFill>
            <a:srgbClr val="FFFFFF"/>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0" name="TextBox 39"/>
          <p:cNvSpPr txBox="1"/>
          <p:nvPr/>
        </p:nvSpPr>
        <p:spPr>
          <a:xfrm>
            <a:off x="886968" y="4754880"/>
            <a:ext cx="3432840" cy="822960"/>
          </a:xfrm>
          <a:prstGeom prst="rect">
            <a:avLst/>
          </a:prstGeom>
          <a:noFill/>
        </p:spPr>
        <p:txBody>
          <a:bodyPr wrap="square" anchor="ctr">
            <a:spAutoFit/>
          </a:bodyPr>
          <a:lstStyle/>
          <a:p>
            <a:pPr algn="l">
              <a:spcAft>
                <a:spcPts val="400"/>
              </a:spcAft>
            </a:pPr>
            <a:r>
              <a:rPr sz="1250" b="1">
                <a:solidFill>
                  <a:srgbClr val="161B26"/>
                </a:solidFill>
                <a:latin typeface="Arial"/>
              </a:rPr>
              <a:t>Multi-site Active/Active</a:t>
            </a:r>
          </a:p>
        </p:txBody>
      </p:sp>
      <p:sp>
        <p:nvSpPr>
          <p:cNvPr id="41" name="Rectangle 40"/>
          <p:cNvSpPr/>
          <p:nvPr/>
        </p:nvSpPr>
        <p:spPr>
          <a:xfrm>
            <a:off x="4392960" y="4754880"/>
            <a:ext cx="2339583" cy="822960"/>
          </a:xfrm>
          <a:prstGeom prst="rect">
            <a:avLst/>
          </a:prstGeom>
          <a:solidFill>
            <a:srgbClr val="FFFFFF"/>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2" name="TextBox 41"/>
          <p:cNvSpPr txBox="1"/>
          <p:nvPr/>
        </p:nvSpPr>
        <p:spPr>
          <a:xfrm>
            <a:off x="4502688" y="4754880"/>
            <a:ext cx="2156703" cy="822960"/>
          </a:xfrm>
          <a:prstGeom prst="rect">
            <a:avLst/>
          </a:prstGeom>
          <a:noFill/>
        </p:spPr>
        <p:txBody>
          <a:bodyPr wrap="square" anchor="ctr">
            <a:spAutoFit/>
          </a:bodyPr>
          <a:lstStyle/>
          <a:p>
            <a:pPr algn="ctr">
              <a:spcAft>
                <a:spcPts val="400"/>
              </a:spcAft>
            </a:pPr>
            <a:r>
              <a:rPr sz="1250" b="0">
                <a:solidFill>
                  <a:srgbClr val="5B6372"/>
                </a:solidFill>
                <a:latin typeface="Arial"/>
              </a:rPr>
              <a:t>Near-zero</a:t>
            </a:r>
          </a:p>
        </p:txBody>
      </p:sp>
      <p:sp>
        <p:nvSpPr>
          <p:cNvPr id="43" name="Rectangle 42"/>
          <p:cNvSpPr/>
          <p:nvPr/>
        </p:nvSpPr>
        <p:spPr>
          <a:xfrm>
            <a:off x="6732543" y="4754880"/>
            <a:ext cx="2339583" cy="822960"/>
          </a:xfrm>
          <a:prstGeom prst="rect">
            <a:avLst/>
          </a:prstGeom>
          <a:solidFill>
            <a:srgbClr val="FFFFFF"/>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4" name="TextBox 43"/>
          <p:cNvSpPr txBox="1"/>
          <p:nvPr/>
        </p:nvSpPr>
        <p:spPr>
          <a:xfrm>
            <a:off x="6842271" y="4754880"/>
            <a:ext cx="2156703" cy="822960"/>
          </a:xfrm>
          <a:prstGeom prst="rect">
            <a:avLst/>
          </a:prstGeom>
          <a:noFill/>
        </p:spPr>
        <p:txBody>
          <a:bodyPr wrap="square" anchor="ctr">
            <a:spAutoFit/>
          </a:bodyPr>
          <a:lstStyle/>
          <a:p>
            <a:pPr algn="ctr">
              <a:spcAft>
                <a:spcPts val="400"/>
              </a:spcAft>
            </a:pPr>
            <a:r>
              <a:rPr sz="1250" b="0">
                <a:solidFill>
                  <a:srgbClr val="5B6372"/>
                </a:solidFill>
                <a:latin typeface="Arial"/>
              </a:rPr>
              <a:t>Near-zero</a:t>
            </a:r>
          </a:p>
        </p:txBody>
      </p:sp>
      <p:sp>
        <p:nvSpPr>
          <p:cNvPr id="45" name="Rectangle 44"/>
          <p:cNvSpPr/>
          <p:nvPr/>
        </p:nvSpPr>
        <p:spPr>
          <a:xfrm>
            <a:off x="9072126" y="4754880"/>
            <a:ext cx="2339583" cy="822960"/>
          </a:xfrm>
          <a:prstGeom prst="rect">
            <a:avLst/>
          </a:prstGeom>
          <a:solidFill>
            <a:srgbClr val="FFFFFF"/>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6" name="TextBox 45"/>
          <p:cNvSpPr txBox="1"/>
          <p:nvPr/>
        </p:nvSpPr>
        <p:spPr>
          <a:xfrm>
            <a:off x="9181854" y="4754880"/>
            <a:ext cx="2156703" cy="822960"/>
          </a:xfrm>
          <a:prstGeom prst="rect">
            <a:avLst/>
          </a:prstGeom>
          <a:noFill/>
        </p:spPr>
        <p:txBody>
          <a:bodyPr wrap="square" anchor="ctr">
            <a:spAutoFit/>
          </a:bodyPr>
          <a:lstStyle/>
          <a:p>
            <a:pPr algn="ctr">
              <a:spcAft>
                <a:spcPts val="400"/>
              </a:spcAft>
            </a:pPr>
            <a:r>
              <a:rPr sz="1250" b="0">
                <a:solidFill>
                  <a:srgbClr val="5B6372"/>
                </a:solidFill>
                <a:latin typeface="Arial"/>
              </a:rPr>
              <a:t>$$$$</a:t>
            </a:r>
          </a:p>
        </p:txBody>
      </p:sp>
      <p:sp>
        <p:nvSpPr>
          <p:cNvPr id="47" name="TextBox 46"/>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DevOps Engineering on AWS  ·  TGS-2023040474</a:t>
            </a:r>
          </a:p>
        </p:txBody>
      </p:sp>
      <p:sp>
        <p:nvSpPr>
          <p:cNvPr id="48" name="TextBox 47"/>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49" name="TextBox 48"/>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116</a:t>
            </a:r>
          </a:p>
        </p:txBody>
      </p:sp>
    </p:spTree>
  </p:cSld>
  <p:clrMapOvr>
    <a:masterClrMapping/>
  </p:clrMapOvr>
  <p:transition xmlns:p14="http://schemas.microsoft.com/office/powerpoint/2010/main" p14:dur="380">
    <p:fade/>
  </p:transition>
</p:sld>
</file>

<file path=ppt/slides/slide11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38912"/>
            <a:ext cx="10607040" cy="365760"/>
          </a:xfrm>
          <a:prstGeom prst="rect">
            <a:avLst/>
          </a:prstGeom>
          <a:noFill/>
        </p:spPr>
        <p:txBody>
          <a:bodyPr wrap="square" anchor="t">
            <a:spAutoFit/>
          </a:bodyPr>
          <a:lstStyle/>
          <a:p>
            <a:pPr algn="l">
              <a:spcAft>
                <a:spcPts val="400"/>
              </a:spcAft>
            </a:pPr>
            <a:r>
              <a:rPr sz="1400" b="1">
                <a:solidFill>
                  <a:srgbClr val="10B981"/>
                </a:solidFill>
                <a:latin typeface="Arial"/>
              </a:rPr>
              <a:t>WHY MULTI-AZ</a:t>
            </a:r>
          </a:p>
        </p:txBody>
      </p:sp>
      <p:sp>
        <p:nvSpPr>
          <p:cNvPr id="5" name="TextBox 4"/>
          <p:cNvSpPr txBox="1"/>
          <p:nvPr/>
        </p:nvSpPr>
        <p:spPr>
          <a:xfrm>
            <a:off x="777240" y="804672"/>
            <a:ext cx="10927080" cy="731520"/>
          </a:xfrm>
          <a:prstGeom prst="rect">
            <a:avLst/>
          </a:prstGeom>
          <a:noFill/>
        </p:spPr>
        <p:txBody>
          <a:bodyPr wrap="square" anchor="t">
            <a:spAutoFit/>
          </a:bodyPr>
          <a:lstStyle/>
          <a:p>
            <a:pPr algn="l">
              <a:spcAft>
                <a:spcPts val="400"/>
              </a:spcAft>
            </a:pPr>
            <a:r>
              <a:rPr sz="2900" b="1">
                <a:solidFill>
                  <a:srgbClr val="161B26"/>
                </a:solidFill>
                <a:latin typeface="Arial"/>
              </a:rPr>
              <a:t>Availability Math — Adding a Second AZ</a:t>
            </a:r>
          </a:p>
        </p:txBody>
      </p:sp>
      <p:sp>
        <p:nvSpPr>
          <p:cNvPr id="6" name="Rectangle 5"/>
          <p:cNvSpPr/>
          <p:nvPr/>
        </p:nvSpPr>
        <p:spPr>
          <a:xfrm>
            <a:off x="777240" y="1572768"/>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graphicFrame>
        <p:nvGraphicFramePr>
          <p:cNvPr id="7" name="Chart 6"/>
          <p:cNvGraphicFramePr>
            <a:graphicFrameLocks noGrp="1"/>
          </p:cNvGraphicFramePr>
          <p:nvPr/>
        </p:nvGraphicFramePr>
        <p:xfrm>
          <a:off x="777240" y="1828800"/>
          <a:ext cx="10634472" cy="3291840"/>
        </p:xfrm>
        <a:graphic>
          <a:graphicData uri="http://schemas.openxmlformats.org/drawingml/2006/chart">
            <c:chart xmlns:c="http://schemas.openxmlformats.org/drawingml/2006/chart" r:id="rId2"/>
          </a:graphicData>
        </a:graphic>
      </p:graphicFrame>
      <p:sp>
        <p:nvSpPr>
          <p:cNvPr id="8" name="Rectangle 7"/>
          <p:cNvSpPr/>
          <p:nvPr/>
        </p:nvSpPr>
        <p:spPr>
          <a:xfrm>
            <a:off x="777240" y="5349240"/>
            <a:ext cx="10634472" cy="86868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777240" y="5349240"/>
            <a:ext cx="91440" cy="86868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005840" y="5440680"/>
            <a:ext cx="10241280" cy="320040"/>
          </a:xfrm>
          <a:prstGeom prst="rect">
            <a:avLst/>
          </a:prstGeom>
          <a:noFill/>
        </p:spPr>
        <p:txBody>
          <a:bodyPr wrap="square" anchor="t">
            <a:spAutoFit/>
          </a:bodyPr>
          <a:lstStyle/>
          <a:p>
            <a:pPr algn="l">
              <a:spcAft>
                <a:spcPts val="400"/>
              </a:spcAft>
            </a:pPr>
            <a:r>
              <a:rPr sz="1100" b="1">
                <a:solidFill>
                  <a:srgbClr val="10B981"/>
                </a:solidFill>
                <a:latin typeface="Arial"/>
              </a:rPr>
              <a:t>WHAT THE DATA SHOWS</a:t>
            </a:r>
          </a:p>
        </p:txBody>
      </p:sp>
      <p:sp>
        <p:nvSpPr>
          <p:cNvPr id="11" name="TextBox 10"/>
          <p:cNvSpPr txBox="1"/>
          <p:nvPr/>
        </p:nvSpPr>
        <p:spPr>
          <a:xfrm>
            <a:off x="1005840" y="5742432"/>
            <a:ext cx="10241280" cy="457200"/>
          </a:xfrm>
          <a:prstGeom prst="rect">
            <a:avLst/>
          </a:prstGeom>
          <a:noFill/>
        </p:spPr>
        <p:txBody>
          <a:bodyPr wrap="square" anchor="t">
            <a:spAutoFit/>
          </a:bodyPr>
          <a:lstStyle/>
          <a:p>
            <a:pPr algn="l">
              <a:spcAft>
                <a:spcPts val="400"/>
              </a:spcAft>
            </a:pPr>
            <a:r>
              <a:rPr sz="1350" b="0">
                <a:solidFill>
                  <a:srgbClr val="161B26"/>
                </a:solidFill>
                <a:latin typeface="Arial"/>
              </a:rPr>
              <a:t>Most availability gain comes from the first jump to multi-AZ; multi-Region adds resilience against rare Region events at much higher cost.</a:t>
            </a:r>
          </a:p>
        </p:txBody>
      </p:sp>
      <p:sp>
        <p:nvSpPr>
          <p:cNvPr id="12" name="TextBox 11"/>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DevOps Engineering on AWS  ·  TGS-2023040474</a:t>
            </a:r>
          </a:p>
        </p:txBody>
      </p:sp>
      <p:sp>
        <p:nvSpPr>
          <p:cNvPr id="13" name="TextBox 12"/>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4" name="TextBox 13"/>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117</a:t>
            </a:r>
          </a:p>
        </p:txBody>
      </p:sp>
    </p:spTree>
  </p:cSld>
  <p:clrMapOvr>
    <a:masterClrMapping/>
  </p:clrMapOvr>
  <p:transition xmlns:p14="http://schemas.microsoft.com/office/powerpoint/2010/main" p14:dur="380">
    <p:fade/>
  </p:transition>
</p:sld>
</file>

<file path=ppt/slides/slide11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38912"/>
            <a:ext cx="10607040" cy="365760"/>
          </a:xfrm>
          <a:prstGeom prst="rect">
            <a:avLst/>
          </a:prstGeom>
          <a:noFill/>
        </p:spPr>
        <p:txBody>
          <a:bodyPr wrap="square" anchor="t">
            <a:spAutoFit/>
          </a:bodyPr>
          <a:lstStyle/>
          <a:p>
            <a:pPr algn="l">
              <a:spcAft>
                <a:spcPts val="400"/>
              </a:spcAft>
            </a:pPr>
            <a:r>
              <a:rPr sz="1400" b="1">
                <a:solidFill>
                  <a:srgbClr val="10B981"/>
                </a:solidFill>
                <a:latin typeface="Arial"/>
              </a:rPr>
              <a:t>ELASTICITY IN ACTION</a:t>
            </a:r>
          </a:p>
        </p:txBody>
      </p:sp>
      <p:sp>
        <p:nvSpPr>
          <p:cNvPr id="5" name="TextBox 4"/>
          <p:cNvSpPr txBox="1"/>
          <p:nvPr/>
        </p:nvSpPr>
        <p:spPr>
          <a:xfrm>
            <a:off x="777240" y="804672"/>
            <a:ext cx="10927080" cy="731520"/>
          </a:xfrm>
          <a:prstGeom prst="rect">
            <a:avLst/>
          </a:prstGeom>
          <a:noFill/>
        </p:spPr>
        <p:txBody>
          <a:bodyPr wrap="square" anchor="t">
            <a:spAutoFit/>
          </a:bodyPr>
          <a:lstStyle/>
          <a:p>
            <a:pPr algn="l">
              <a:spcAft>
                <a:spcPts val="400"/>
              </a:spcAft>
            </a:pPr>
            <a:r>
              <a:rPr sz="2900" b="1">
                <a:solidFill>
                  <a:srgbClr val="161B26"/>
                </a:solidFill>
                <a:latin typeface="Arial"/>
              </a:rPr>
              <a:t>Auto Scaling Under a Load Spike</a:t>
            </a:r>
          </a:p>
        </p:txBody>
      </p:sp>
      <p:sp>
        <p:nvSpPr>
          <p:cNvPr id="6" name="Rectangle 5"/>
          <p:cNvSpPr/>
          <p:nvPr/>
        </p:nvSpPr>
        <p:spPr>
          <a:xfrm>
            <a:off x="777240" y="1572768"/>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graphicFrame>
        <p:nvGraphicFramePr>
          <p:cNvPr id="7" name="Chart 6"/>
          <p:cNvGraphicFramePr>
            <a:graphicFrameLocks noGrp="1"/>
          </p:cNvGraphicFramePr>
          <p:nvPr/>
        </p:nvGraphicFramePr>
        <p:xfrm>
          <a:off x="777240" y="1828800"/>
          <a:ext cx="10634472" cy="3291840"/>
        </p:xfrm>
        <a:graphic>
          <a:graphicData uri="http://schemas.openxmlformats.org/drawingml/2006/chart">
            <c:chart xmlns:c="http://schemas.openxmlformats.org/drawingml/2006/chart" r:id="rId2"/>
          </a:graphicData>
        </a:graphic>
      </p:graphicFrame>
      <p:sp>
        <p:nvSpPr>
          <p:cNvPr id="8" name="Rectangle 7"/>
          <p:cNvSpPr/>
          <p:nvPr/>
        </p:nvSpPr>
        <p:spPr>
          <a:xfrm>
            <a:off x="777240" y="5349240"/>
            <a:ext cx="10634472" cy="86868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777240" y="5349240"/>
            <a:ext cx="91440" cy="86868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005840" y="5440680"/>
            <a:ext cx="10241280" cy="320040"/>
          </a:xfrm>
          <a:prstGeom prst="rect">
            <a:avLst/>
          </a:prstGeom>
          <a:noFill/>
        </p:spPr>
        <p:txBody>
          <a:bodyPr wrap="square" anchor="t">
            <a:spAutoFit/>
          </a:bodyPr>
          <a:lstStyle/>
          <a:p>
            <a:pPr algn="l">
              <a:spcAft>
                <a:spcPts val="400"/>
              </a:spcAft>
            </a:pPr>
            <a:r>
              <a:rPr sz="1100" b="1">
                <a:solidFill>
                  <a:srgbClr val="10B981"/>
                </a:solidFill>
                <a:latin typeface="Arial"/>
              </a:rPr>
              <a:t>WHAT THE DATA SHOWS</a:t>
            </a:r>
          </a:p>
        </p:txBody>
      </p:sp>
      <p:sp>
        <p:nvSpPr>
          <p:cNvPr id="11" name="TextBox 10"/>
          <p:cNvSpPr txBox="1"/>
          <p:nvPr/>
        </p:nvSpPr>
        <p:spPr>
          <a:xfrm>
            <a:off x="1005840" y="5742432"/>
            <a:ext cx="10241280" cy="457200"/>
          </a:xfrm>
          <a:prstGeom prst="rect">
            <a:avLst/>
          </a:prstGeom>
          <a:noFill/>
        </p:spPr>
        <p:txBody>
          <a:bodyPr wrap="square" anchor="t">
            <a:spAutoFit/>
          </a:bodyPr>
          <a:lstStyle/>
          <a:p>
            <a:pPr algn="l">
              <a:spcAft>
                <a:spcPts val="400"/>
              </a:spcAft>
            </a:pPr>
            <a:r>
              <a:rPr sz="1350" b="0">
                <a:solidFill>
                  <a:srgbClr val="161B26"/>
                </a:solidFill>
                <a:latin typeface="Arial"/>
              </a:rPr>
              <a:t>Target tracking follows demand up and back down, so capacity tracks load — you pay for peak only while the peak lasts.</a:t>
            </a:r>
          </a:p>
        </p:txBody>
      </p:sp>
      <p:sp>
        <p:nvSpPr>
          <p:cNvPr id="12" name="TextBox 11"/>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DevOps Engineering on AWS  ·  TGS-2023040474</a:t>
            </a:r>
          </a:p>
        </p:txBody>
      </p:sp>
      <p:sp>
        <p:nvSpPr>
          <p:cNvPr id="13" name="TextBox 12"/>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4" name="TextBox 13"/>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118</a:t>
            </a:r>
          </a:p>
        </p:txBody>
      </p:sp>
    </p:spTree>
  </p:cSld>
  <p:clrMapOvr>
    <a:masterClrMapping/>
  </p:clrMapOvr>
  <p:transition xmlns:p14="http://schemas.microsoft.com/office/powerpoint/2010/main" p14:dur="380">
    <p:fade/>
  </p:transition>
</p:sld>
</file>

<file path=ppt/slides/slide12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38912"/>
            <a:ext cx="10607040" cy="365760"/>
          </a:xfrm>
          <a:prstGeom prst="rect">
            <a:avLst/>
          </a:prstGeom>
          <a:noFill/>
        </p:spPr>
        <p:txBody>
          <a:bodyPr wrap="square" anchor="t">
            <a:spAutoFit/>
          </a:bodyPr>
          <a:lstStyle/>
          <a:p>
            <a:pPr algn="l">
              <a:spcAft>
                <a:spcPts val="400"/>
              </a:spcAft>
            </a:pPr>
            <a:r>
              <a:rPr sz="1400" b="1">
                <a:solidFill>
                  <a:srgbClr val="10B981"/>
                </a:solidFill>
                <a:latin typeface="Arial"/>
              </a:rPr>
              <a:t>HOW 'HA' SYSTEMS STILL FALL OVER</a:t>
            </a:r>
          </a:p>
        </p:txBody>
      </p:sp>
      <p:sp>
        <p:nvSpPr>
          <p:cNvPr id="5" name="TextBox 4"/>
          <p:cNvSpPr txBox="1"/>
          <p:nvPr/>
        </p:nvSpPr>
        <p:spPr>
          <a:xfrm>
            <a:off x="777240" y="804672"/>
            <a:ext cx="10927080" cy="731520"/>
          </a:xfrm>
          <a:prstGeom prst="rect">
            <a:avLst/>
          </a:prstGeom>
          <a:noFill/>
        </p:spPr>
        <p:txBody>
          <a:bodyPr wrap="square" anchor="t">
            <a:spAutoFit/>
          </a:bodyPr>
          <a:lstStyle/>
          <a:p>
            <a:pPr algn="l">
              <a:spcAft>
                <a:spcPts val="400"/>
              </a:spcAft>
            </a:pPr>
            <a:r>
              <a:rPr sz="2900" b="1">
                <a:solidFill>
                  <a:srgbClr val="161B26"/>
                </a:solidFill>
                <a:latin typeface="Arial"/>
              </a:rPr>
              <a:t>Resilience Failure Modes &amp; Anti-Patterns</a:t>
            </a:r>
          </a:p>
        </p:txBody>
      </p:sp>
      <p:sp>
        <p:nvSpPr>
          <p:cNvPr id="6" name="Rectangle 5"/>
          <p:cNvSpPr/>
          <p:nvPr/>
        </p:nvSpPr>
        <p:spPr>
          <a:xfrm>
            <a:off x="777240" y="1572768"/>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783080"/>
            <a:ext cx="5180076" cy="131064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1783080"/>
            <a:ext cx="91440" cy="131064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1033272" y="2164080"/>
            <a:ext cx="548640" cy="548640"/>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033272" y="2164080"/>
            <a:ext cx="548640" cy="548640"/>
          </a:xfrm>
          <a:prstGeom prst="rect">
            <a:avLst/>
          </a:prstGeom>
          <a:noFill/>
        </p:spPr>
        <p:txBody>
          <a:bodyPr wrap="square" anchor="ctr">
            <a:spAutoFit/>
          </a:bodyPr>
          <a:lstStyle/>
          <a:p>
            <a:pPr algn="ctr">
              <a:spcAft>
                <a:spcPts val="400"/>
              </a:spcAft>
            </a:pPr>
            <a:r>
              <a:rPr sz="1800" b="1">
                <a:solidFill>
                  <a:srgbClr val="FFFFFF"/>
                </a:solidFill>
                <a:latin typeface="Arial"/>
              </a:rPr>
              <a:t>1</a:t>
            </a:r>
          </a:p>
        </p:txBody>
      </p:sp>
      <p:sp>
        <p:nvSpPr>
          <p:cNvPr id="11" name="TextBox 10"/>
          <p:cNvSpPr txBox="1"/>
          <p:nvPr/>
        </p:nvSpPr>
        <p:spPr>
          <a:xfrm>
            <a:off x="1764792" y="1892808"/>
            <a:ext cx="3973068" cy="1127760"/>
          </a:xfrm>
          <a:prstGeom prst="rect">
            <a:avLst/>
          </a:prstGeom>
          <a:noFill/>
        </p:spPr>
        <p:txBody>
          <a:bodyPr wrap="square" anchor="ctr">
            <a:spAutoFit/>
          </a:bodyPr>
          <a:lstStyle/>
          <a:p>
            <a:pPr algn="l">
              <a:spcAft>
                <a:spcPts val="300"/>
              </a:spcAft>
            </a:pPr>
            <a:r>
              <a:rPr sz="1500" b="1">
                <a:solidFill>
                  <a:srgbClr val="161B26"/>
                </a:solidFill>
                <a:latin typeface="Arial"/>
              </a:rPr>
              <a:t>Single-AZ database</a:t>
            </a:r>
          </a:p>
          <a:p>
            <a:pPr algn="l">
              <a:spcAft>
                <a:spcPts val="300"/>
              </a:spcAft>
            </a:pPr>
            <a:r>
              <a:rPr sz="1100" b="0">
                <a:solidFill>
                  <a:srgbClr val="5B6372"/>
                </a:solidFill>
                <a:latin typeface="Arial"/>
              </a:rPr>
              <a:t>App tier redundant, data tier isn't → Multi-AZ RDS / global tables.</a:t>
            </a:r>
          </a:p>
        </p:txBody>
      </p:sp>
      <p:sp>
        <p:nvSpPr>
          <p:cNvPr id="12" name="Rectangle 11"/>
          <p:cNvSpPr/>
          <p:nvPr/>
        </p:nvSpPr>
        <p:spPr>
          <a:xfrm>
            <a:off x="6231636" y="1783080"/>
            <a:ext cx="5180076" cy="131064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6231636" y="1783080"/>
            <a:ext cx="91440" cy="131064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Oval 13"/>
          <p:cNvSpPr/>
          <p:nvPr/>
        </p:nvSpPr>
        <p:spPr>
          <a:xfrm>
            <a:off x="6487668" y="2164080"/>
            <a:ext cx="548640" cy="54864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6487668" y="2164080"/>
            <a:ext cx="548640" cy="548640"/>
          </a:xfrm>
          <a:prstGeom prst="rect">
            <a:avLst/>
          </a:prstGeom>
          <a:noFill/>
        </p:spPr>
        <p:txBody>
          <a:bodyPr wrap="square" anchor="ctr">
            <a:spAutoFit/>
          </a:bodyPr>
          <a:lstStyle/>
          <a:p>
            <a:pPr algn="ctr">
              <a:spcAft>
                <a:spcPts val="400"/>
              </a:spcAft>
            </a:pPr>
            <a:r>
              <a:rPr sz="1800" b="1">
                <a:solidFill>
                  <a:srgbClr val="FFFFFF"/>
                </a:solidFill>
                <a:latin typeface="Arial"/>
              </a:rPr>
              <a:t>2</a:t>
            </a:r>
          </a:p>
        </p:txBody>
      </p:sp>
      <p:sp>
        <p:nvSpPr>
          <p:cNvPr id="16" name="TextBox 15"/>
          <p:cNvSpPr txBox="1"/>
          <p:nvPr/>
        </p:nvSpPr>
        <p:spPr>
          <a:xfrm>
            <a:off x="7219188" y="1892808"/>
            <a:ext cx="3973068" cy="1127760"/>
          </a:xfrm>
          <a:prstGeom prst="rect">
            <a:avLst/>
          </a:prstGeom>
          <a:noFill/>
        </p:spPr>
        <p:txBody>
          <a:bodyPr wrap="square" anchor="ctr">
            <a:spAutoFit/>
          </a:bodyPr>
          <a:lstStyle/>
          <a:p>
            <a:pPr algn="l">
              <a:spcAft>
                <a:spcPts val="300"/>
              </a:spcAft>
            </a:pPr>
            <a:r>
              <a:rPr sz="1500" b="1">
                <a:solidFill>
                  <a:srgbClr val="161B26"/>
                </a:solidFill>
                <a:latin typeface="Arial"/>
              </a:rPr>
              <a:t>Sticky in-memory sessions</a:t>
            </a:r>
          </a:p>
          <a:p>
            <a:pPr algn="l">
              <a:spcAft>
                <a:spcPts val="300"/>
              </a:spcAft>
            </a:pPr>
            <a:r>
              <a:rPr sz="1100" b="0">
                <a:solidFill>
                  <a:srgbClr val="5B6372"/>
                </a:solidFill>
                <a:latin typeface="Arial"/>
              </a:rPr>
              <a:t>One instance loss logs everyone out → externalise session state.</a:t>
            </a:r>
          </a:p>
        </p:txBody>
      </p:sp>
      <p:sp>
        <p:nvSpPr>
          <p:cNvPr id="17" name="Rectangle 16"/>
          <p:cNvSpPr/>
          <p:nvPr/>
        </p:nvSpPr>
        <p:spPr>
          <a:xfrm>
            <a:off x="777240" y="3313176"/>
            <a:ext cx="5180076" cy="131064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777240" y="3313176"/>
            <a:ext cx="91440" cy="1310640"/>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Oval 18"/>
          <p:cNvSpPr/>
          <p:nvPr/>
        </p:nvSpPr>
        <p:spPr>
          <a:xfrm>
            <a:off x="1033272" y="3694176"/>
            <a:ext cx="548640" cy="548640"/>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1033272" y="3694176"/>
            <a:ext cx="548640" cy="548640"/>
          </a:xfrm>
          <a:prstGeom prst="rect">
            <a:avLst/>
          </a:prstGeom>
          <a:noFill/>
        </p:spPr>
        <p:txBody>
          <a:bodyPr wrap="square" anchor="ctr">
            <a:spAutoFit/>
          </a:bodyPr>
          <a:lstStyle/>
          <a:p>
            <a:pPr algn="ctr">
              <a:spcAft>
                <a:spcPts val="400"/>
              </a:spcAft>
            </a:pPr>
            <a:r>
              <a:rPr sz="1800" b="1">
                <a:solidFill>
                  <a:srgbClr val="FFFFFF"/>
                </a:solidFill>
                <a:latin typeface="Arial"/>
              </a:rPr>
              <a:t>3</a:t>
            </a:r>
          </a:p>
        </p:txBody>
      </p:sp>
      <p:sp>
        <p:nvSpPr>
          <p:cNvPr id="21" name="TextBox 20"/>
          <p:cNvSpPr txBox="1"/>
          <p:nvPr/>
        </p:nvSpPr>
        <p:spPr>
          <a:xfrm>
            <a:off x="1764792" y="3422904"/>
            <a:ext cx="3973068" cy="1127760"/>
          </a:xfrm>
          <a:prstGeom prst="rect">
            <a:avLst/>
          </a:prstGeom>
          <a:noFill/>
        </p:spPr>
        <p:txBody>
          <a:bodyPr wrap="square" anchor="ctr">
            <a:spAutoFit/>
          </a:bodyPr>
          <a:lstStyle/>
          <a:p>
            <a:pPr algn="l">
              <a:spcAft>
                <a:spcPts val="300"/>
              </a:spcAft>
            </a:pPr>
            <a:r>
              <a:rPr sz="1500" b="1">
                <a:solidFill>
                  <a:srgbClr val="161B26"/>
                </a:solidFill>
                <a:latin typeface="Arial"/>
              </a:rPr>
              <a:t>Retry storms</a:t>
            </a:r>
          </a:p>
          <a:p>
            <a:pPr algn="l">
              <a:spcAft>
                <a:spcPts val="300"/>
              </a:spcAft>
            </a:pPr>
            <a:r>
              <a:rPr sz="1100" b="0">
                <a:solidFill>
                  <a:srgbClr val="5B6372"/>
                </a:solidFill>
                <a:latin typeface="Arial"/>
              </a:rPr>
              <a:t>Unbounded retries amplify an outage → backoff + jitter + circuit breakers.</a:t>
            </a:r>
          </a:p>
        </p:txBody>
      </p:sp>
      <p:sp>
        <p:nvSpPr>
          <p:cNvPr id="22" name="Rectangle 21"/>
          <p:cNvSpPr/>
          <p:nvPr/>
        </p:nvSpPr>
        <p:spPr>
          <a:xfrm>
            <a:off x="6231636" y="3313176"/>
            <a:ext cx="5180076" cy="131064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ectangle 22"/>
          <p:cNvSpPr/>
          <p:nvPr/>
        </p:nvSpPr>
        <p:spPr>
          <a:xfrm>
            <a:off x="6231636" y="3313176"/>
            <a:ext cx="91440" cy="1310640"/>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Oval 23"/>
          <p:cNvSpPr/>
          <p:nvPr/>
        </p:nvSpPr>
        <p:spPr>
          <a:xfrm>
            <a:off x="6487668" y="3694176"/>
            <a:ext cx="548640" cy="548640"/>
          </a:xfrm>
          <a:prstGeom prst="ellipse">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6487668" y="3694176"/>
            <a:ext cx="548640" cy="548640"/>
          </a:xfrm>
          <a:prstGeom prst="rect">
            <a:avLst/>
          </a:prstGeom>
          <a:noFill/>
        </p:spPr>
        <p:txBody>
          <a:bodyPr wrap="square" anchor="ctr">
            <a:spAutoFit/>
          </a:bodyPr>
          <a:lstStyle/>
          <a:p>
            <a:pPr algn="ctr">
              <a:spcAft>
                <a:spcPts val="400"/>
              </a:spcAft>
            </a:pPr>
            <a:r>
              <a:rPr sz="1800" b="1">
                <a:solidFill>
                  <a:srgbClr val="FFFFFF"/>
                </a:solidFill>
                <a:latin typeface="Arial"/>
              </a:rPr>
              <a:t>4</a:t>
            </a:r>
          </a:p>
        </p:txBody>
      </p:sp>
      <p:sp>
        <p:nvSpPr>
          <p:cNvPr id="26" name="TextBox 25"/>
          <p:cNvSpPr txBox="1"/>
          <p:nvPr/>
        </p:nvSpPr>
        <p:spPr>
          <a:xfrm>
            <a:off x="7219188" y="3422904"/>
            <a:ext cx="3973068" cy="1127760"/>
          </a:xfrm>
          <a:prstGeom prst="rect">
            <a:avLst/>
          </a:prstGeom>
          <a:noFill/>
        </p:spPr>
        <p:txBody>
          <a:bodyPr wrap="square" anchor="ctr">
            <a:spAutoFit/>
          </a:bodyPr>
          <a:lstStyle/>
          <a:p>
            <a:pPr algn="l">
              <a:spcAft>
                <a:spcPts val="300"/>
              </a:spcAft>
            </a:pPr>
            <a:r>
              <a:rPr sz="1500" b="1">
                <a:solidFill>
                  <a:srgbClr val="161B26"/>
                </a:solidFill>
                <a:latin typeface="Arial"/>
              </a:rPr>
              <a:t>Untested failover</a:t>
            </a:r>
          </a:p>
          <a:p>
            <a:pPr algn="l">
              <a:spcAft>
                <a:spcPts val="300"/>
              </a:spcAft>
            </a:pPr>
            <a:r>
              <a:rPr sz="1100" b="0">
                <a:solidFill>
                  <a:srgbClr val="5B6372"/>
                </a:solidFill>
                <a:latin typeface="Arial"/>
              </a:rPr>
              <a:t>Runbook fails under pressure → game-days and automated failover.</a:t>
            </a:r>
          </a:p>
        </p:txBody>
      </p:sp>
      <p:sp>
        <p:nvSpPr>
          <p:cNvPr id="27" name="Rectangle 26"/>
          <p:cNvSpPr/>
          <p:nvPr/>
        </p:nvSpPr>
        <p:spPr>
          <a:xfrm>
            <a:off x="777240" y="4843272"/>
            <a:ext cx="5180076" cy="131064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Rectangle 27"/>
          <p:cNvSpPr/>
          <p:nvPr/>
        </p:nvSpPr>
        <p:spPr>
          <a:xfrm>
            <a:off x="777240" y="4843272"/>
            <a:ext cx="91440" cy="1310640"/>
          </a:xfrm>
          <a:prstGeom prst="rect">
            <a:avLst/>
          </a:prstGeom>
          <a:solidFill>
            <a:srgbClr val="EC711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Oval 28"/>
          <p:cNvSpPr/>
          <p:nvPr/>
        </p:nvSpPr>
        <p:spPr>
          <a:xfrm>
            <a:off x="1033272" y="5224272"/>
            <a:ext cx="548640" cy="548640"/>
          </a:xfrm>
          <a:prstGeom prst="ellipse">
            <a:avLst/>
          </a:prstGeom>
          <a:solidFill>
            <a:srgbClr val="EC711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1033272" y="5224272"/>
            <a:ext cx="548640" cy="548640"/>
          </a:xfrm>
          <a:prstGeom prst="rect">
            <a:avLst/>
          </a:prstGeom>
          <a:noFill/>
        </p:spPr>
        <p:txBody>
          <a:bodyPr wrap="square" anchor="ctr">
            <a:spAutoFit/>
          </a:bodyPr>
          <a:lstStyle/>
          <a:p>
            <a:pPr algn="ctr">
              <a:spcAft>
                <a:spcPts val="400"/>
              </a:spcAft>
            </a:pPr>
            <a:r>
              <a:rPr sz="1800" b="1">
                <a:solidFill>
                  <a:srgbClr val="FFFFFF"/>
                </a:solidFill>
                <a:latin typeface="Arial"/>
              </a:rPr>
              <a:t>5</a:t>
            </a:r>
          </a:p>
        </p:txBody>
      </p:sp>
      <p:sp>
        <p:nvSpPr>
          <p:cNvPr id="31" name="TextBox 30"/>
          <p:cNvSpPr txBox="1"/>
          <p:nvPr/>
        </p:nvSpPr>
        <p:spPr>
          <a:xfrm>
            <a:off x="1764792" y="4953000"/>
            <a:ext cx="3973068" cy="1127760"/>
          </a:xfrm>
          <a:prstGeom prst="rect">
            <a:avLst/>
          </a:prstGeom>
          <a:noFill/>
        </p:spPr>
        <p:txBody>
          <a:bodyPr wrap="square" anchor="ctr">
            <a:spAutoFit/>
          </a:bodyPr>
          <a:lstStyle/>
          <a:p>
            <a:pPr algn="l">
              <a:spcAft>
                <a:spcPts val="300"/>
              </a:spcAft>
            </a:pPr>
            <a:r>
              <a:rPr sz="1500" b="1">
                <a:solidFill>
                  <a:srgbClr val="161B26"/>
                </a:solidFill>
                <a:latin typeface="Arial"/>
              </a:rPr>
              <a:t>Scaling on wrong metric</a:t>
            </a:r>
          </a:p>
          <a:p>
            <a:pPr algn="l">
              <a:spcAft>
                <a:spcPts val="300"/>
              </a:spcAft>
            </a:pPr>
            <a:r>
              <a:rPr sz="1100" b="0">
                <a:solidFill>
                  <a:srgbClr val="5B6372"/>
                </a:solidFill>
                <a:latin typeface="Arial"/>
              </a:rPr>
              <a:t>Slow under load, wasteful when idle → scale on the true constraint.</a:t>
            </a:r>
          </a:p>
        </p:txBody>
      </p:sp>
      <p:sp>
        <p:nvSpPr>
          <p:cNvPr id="32" name="Rectangle 31"/>
          <p:cNvSpPr/>
          <p:nvPr/>
        </p:nvSpPr>
        <p:spPr>
          <a:xfrm>
            <a:off x="6231636" y="4843272"/>
            <a:ext cx="5180076" cy="131064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Rectangle 32"/>
          <p:cNvSpPr/>
          <p:nvPr/>
        </p:nvSpPr>
        <p:spPr>
          <a:xfrm>
            <a:off x="6231636" y="4843272"/>
            <a:ext cx="91440" cy="1310640"/>
          </a:xfrm>
          <a:prstGeom prst="rect">
            <a:avLst/>
          </a:prstGeom>
          <a:solidFill>
            <a:srgbClr val="0E9EC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Oval 33"/>
          <p:cNvSpPr/>
          <p:nvPr/>
        </p:nvSpPr>
        <p:spPr>
          <a:xfrm>
            <a:off x="6487668" y="5224272"/>
            <a:ext cx="548640" cy="548640"/>
          </a:xfrm>
          <a:prstGeom prst="ellipse">
            <a:avLst/>
          </a:prstGeom>
          <a:solidFill>
            <a:srgbClr val="0E9EC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TextBox 34"/>
          <p:cNvSpPr txBox="1"/>
          <p:nvPr/>
        </p:nvSpPr>
        <p:spPr>
          <a:xfrm>
            <a:off x="6487668" y="5224272"/>
            <a:ext cx="548640" cy="548640"/>
          </a:xfrm>
          <a:prstGeom prst="rect">
            <a:avLst/>
          </a:prstGeom>
          <a:noFill/>
        </p:spPr>
        <p:txBody>
          <a:bodyPr wrap="square" anchor="ctr">
            <a:spAutoFit/>
          </a:bodyPr>
          <a:lstStyle/>
          <a:p>
            <a:pPr algn="ctr">
              <a:spcAft>
                <a:spcPts val="400"/>
              </a:spcAft>
            </a:pPr>
            <a:r>
              <a:rPr sz="1800" b="1">
                <a:solidFill>
                  <a:srgbClr val="FFFFFF"/>
                </a:solidFill>
                <a:latin typeface="Arial"/>
              </a:rPr>
              <a:t>6</a:t>
            </a:r>
          </a:p>
        </p:txBody>
      </p:sp>
      <p:sp>
        <p:nvSpPr>
          <p:cNvPr id="36" name="TextBox 35"/>
          <p:cNvSpPr txBox="1"/>
          <p:nvPr/>
        </p:nvSpPr>
        <p:spPr>
          <a:xfrm>
            <a:off x="7219188" y="4953000"/>
            <a:ext cx="3973068" cy="1127760"/>
          </a:xfrm>
          <a:prstGeom prst="rect">
            <a:avLst/>
          </a:prstGeom>
          <a:noFill/>
        </p:spPr>
        <p:txBody>
          <a:bodyPr wrap="square" anchor="ctr">
            <a:spAutoFit/>
          </a:bodyPr>
          <a:lstStyle/>
          <a:p>
            <a:pPr algn="l">
              <a:spcAft>
                <a:spcPts val="300"/>
              </a:spcAft>
            </a:pPr>
            <a:r>
              <a:rPr sz="1500" b="1">
                <a:solidFill>
                  <a:srgbClr val="161B26"/>
                </a:solidFill>
                <a:latin typeface="Arial"/>
              </a:rPr>
              <a:t>No health-check depth</a:t>
            </a:r>
          </a:p>
          <a:p>
            <a:pPr algn="l">
              <a:spcAft>
                <a:spcPts val="300"/>
              </a:spcAft>
            </a:pPr>
            <a:r>
              <a:rPr sz="1100" b="0">
                <a:solidFill>
                  <a:srgbClr val="5B6372"/>
                </a:solidFill>
                <a:latin typeface="Arial"/>
              </a:rPr>
              <a:t>LB routes to a process that's up but broken → deep health checks.</a:t>
            </a:r>
          </a:p>
        </p:txBody>
      </p:sp>
      <p:sp>
        <p:nvSpPr>
          <p:cNvPr id="37" name="TextBox 36"/>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DevOps Engineering on AWS  ·  TGS-2023040474</a:t>
            </a:r>
          </a:p>
        </p:txBody>
      </p:sp>
      <p:sp>
        <p:nvSpPr>
          <p:cNvPr id="38" name="TextBox 37"/>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39" name="TextBox 38"/>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119</a:t>
            </a:r>
          </a:p>
        </p:txBody>
      </p:sp>
    </p:spTree>
  </p:cSld>
  <p:clrMapOvr>
    <a:masterClrMapping/>
  </p:clrMapOvr>
  <p:transition xmlns:p14="http://schemas.microsoft.com/office/powerpoint/2010/main" p14:dur="380">
    <p:fade/>
  </p:transition>
</p:sld>
</file>

<file path=ppt/slides/slide12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38912"/>
            <a:ext cx="10607040" cy="365760"/>
          </a:xfrm>
          <a:prstGeom prst="rect">
            <a:avLst/>
          </a:prstGeom>
          <a:noFill/>
        </p:spPr>
        <p:txBody>
          <a:bodyPr wrap="square" anchor="t">
            <a:spAutoFit/>
          </a:bodyPr>
          <a:lstStyle/>
          <a:p>
            <a:pPr algn="l">
              <a:spcAft>
                <a:spcPts val="400"/>
              </a:spcAft>
            </a:pPr>
            <a:r>
              <a:rPr sz="1400" b="1">
                <a:solidFill>
                  <a:srgbClr val="10B981"/>
                </a:solidFill>
                <a:latin typeface="Arial"/>
              </a:rPr>
              <a:t>PROVEN PRACTICES</a:t>
            </a:r>
          </a:p>
        </p:txBody>
      </p:sp>
      <p:sp>
        <p:nvSpPr>
          <p:cNvPr id="5" name="TextBox 4"/>
          <p:cNvSpPr txBox="1"/>
          <p:nvPr/>
        </p:nvSpPr>
        <p:spPr>
          <a:xfrm>
            <a:off x="777240" y="804672"/>
            <a:ext cx="10927080" cy="731520"/>
          </a:xfrm>
          <a:prstGeom prst="rect">
            <a:avLst/>
          </a:prstGeom>
          <a:noFill/>
        </p:spPr>
        <p:txBody>
          <a:bodyPr wrap="square" anchor="t">
            <a:spAutoFit/>
          </a:bodyPr>
          <a:lstStyle/>
          <a:p>
            <a:pPr algn="l">
              <a:spcAft>
                <a:spcPts val="400"/>
              </a:spcAft>
            </a:pPr>
            <a:r>
              <a:rPr sz="2900" b="1">
                <a:solidFill>
                  <a:srgbClr val="161B26"/>
                </a:solidFill>
                <a:latin typeface="Arial"/>
              </a:rPr>
              <a:t>Resilience Patterns Worth Adopting</a:t>
            </a:r>
          </a:p>
        </p:txBody>
      </p:sp>
      <p:sp>
        <p:nvSpPr>
          <p:cNvPr id="6" name="Rectangle 5"/>
          <p:cNvSpPr/>
          <p:nvPr/>
        </p:nvSpPr>
        <p:spPr>
          <a:xfrm>
            <a:off x="777240" y="1572768"/>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783080"/>
            <a:ext cx="5180076" cy="131064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1783080"/>
            <a:ext cx="91440" cy="131064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1033272" y="2164080"/>
            <a:ext cx="548640" cy="548640"/>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033272" y="2164080"/>
            <a:ext cx="548640" cy="548640"/>
          </a:xfrm>
          <a:prstGeom prst="rect">
            <a:avLst/>
          </a:prstGeom>
          <a:noFill/>
        </p:spPr>
        <p:txBody>
          <a:bodyPr wrap="square" anchor="ctr">
            <a:spAutoFit/>
          </a:bodyPr>
          <a:lstStyle/>
          <a:p>
            <a:pPr algn="ctr">
              <a:spcAft>
                <a:spcPts val="400"/>
              </a:spcAft>
            </a:pPr>
            <a:r>
              <a:rPr sz="1800" b="1">
                <a:solidFill>
                  <a:srgbClr val="FFFFFF"/>
                </a:solidFill>
                <a:latin typeface="Arial"/>
              </a:rPr>
              <a:t>1</a:t>
            </a:r>
          </a:p>
        </p:txBody>
      </p:sp>
      <p:sp>
        <p:nvSpPr>
          <p:cNvPr id="11" name="TextBox 10"/>
          <p:cNvSpPr txBox="1"/>
          <p:nvPr/>
        </p:nvSpPr>
        <p:spPr>
          <a:xfrm>
            <a:off x="1764792" y="1892808"/>
            <a:ext cx="3973068" cy="1127760"/>
          </a:xfrm>
          <a:prstGeom prst="rect">
            <a:avLst/>
          </a:prstGeom>
          <a:noFill/>
        </p:spPr>
        <p:txBody>
          <a:bodyPr wrap="square" anchor="ctr">
            <a:spAutoFit/>
          </a:bodyPr>
          <a:lstStyle/>
          <a:p>
            <a:pPr algn="l">
              <a:spcAft>
                <a:spcPts val="300"/>
              </a:spcAft>
            </a:pPr>
            <a:r>
              <a:rPr sz="1500" b="1">
                <a:solidFill>
                  <a:srgbClr val="161B26"/>
                </a:solidFill>
                <a:latin typeface="Arial"/>
              </a:rPr>
              <a:t>Multi-AZ by default</a:t>
            </a:r>
          </a:p>
          <a:p>
            <a:pPr algn="l">
              <a:spcAft>
                <a:spcPts val="300"/>
              </a:spcAft>
            </a:pPr>
            <a:r>
              <a:rPr sz="1100" b="0">
                <a:solidFill>
                  <a:srgbClr val="5B6372"/>
                </a:solidFill>
                <a:latin typeface="Arial"/>
              </a:rPr>
              <a:t>Never depend on a single Availability Zone.</a:t>
            </a:r>
          </a:p>
        </p:txBody>
      </p:sp>
      <p:sp>
        <p:nvSpPr>
          <p:cNvPr id="12" name="Rectangle 11"/>
          <p:cNvSpPr/>
          <p:nvPr/>
        </p:nvSpPr>
        <p:spPr>
          <a:xfrm>
            <a:off x="6231636" y="1783080"/>
            <a:ext cx="5180076" cy="131064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6231636" y="1783080"/>
            <a:ext cx="91440" cy="131064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Oval 13"/>
          <p:cNvSpPr/>
          <p:nvPr/>
        </p:nvSpPr>
        <p:spPr>
          <a:xfrm>
            <a:off x="6487668" y="2164080"/>
            <a:ext cx="548640" cy="54864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6487668" y="2164080"/>
            <a:ext cx="548640" cy="548640"/>
          </a:xfrm>
          <a:prstGeom prst="rect">
            <a:avLst/>
          </a:prstGeom>
          <a:noFill/>
        </p:spPr>
        <p:txBody>
          <a:bodyPr wrap="square" anchor="ctr">
            <a:spAutoFit/>
          </a:bodyPr>
          <a:lstStyle/>
          <a:p>
            <a:pPr algn="ctr">
              <a:spcAft>
                <a:spcPts val="400"/>
              </a:spcAft>
            </a:pPr>
            <a:r>
              <a:rPr sz="1800" b="1">
                <a:solidFill>
                  <a:srgbClr val="FFFFFF"/>
                </a:solidFill>
                <a:latin typeface="Arial"/>
              </a:rPr>
              <a:t>2</a:t>
            </a:r>
          </a:p>
        </p:txBody>
      </p:sp>
      <p:sp>
        <p:nvSpPr>
          <p:cNvPr id="16" name="TextBox 15"/>
          <p:cNvSpPr txBox="1"/>
          <p:nvPr/>
        </p:nvSpPr>
        <p:spPr>
          <a:xfrm>
            <a:off x="7219188" y="1892808"/>
            <a:ext cx="3973068" cy="1127760"/>
          </a:xfrm>
          <a:prstGeom prst="rect">
            <a:avLst/>
          </a:prstGeom>
          <a:noFill/>
        </p:spPr>
        <p:txBody>
          <a:bodyPr wrap="square" anchor="ctr">
            <a:spAutoFit/>
          </a:bodyPr>
          <a:lstStyle/>
          <a:p>
            <a:pPr algn="l">
              <a:spcAft>
                <a:spcPts val="300"/>
              </a:spcAft>
            </a:pPr>
            <a:r>
              <a:rPr sz="1500" b="1">
                <a:solidFill>
                  <a:srgbClr val="161B26"/>
                </a:solidFill>
                <a:latin typeface="Arial"/>
              </a:rPr>
              <a:t>Stateless tiers</a:t>
            </a:r>
          </a:p>
          <a:p>
            <a:pPr algn="l">
              <a:spcAft>
                <a:spcPts val="300"/>
              </a:spcAft>
            </a:pPr>
            <a:r>
              <a:rPr sz="1100" b="0">
                <a:solidFill>
                  <a:srgbClr val="5B6372"/>
                </a:solidFill>
                <a:latin typeface="Arial"/>
              </a:rPr>
              <a:t>Push state to RDS/DynamoDB/ElastiCache so any instance is disposable.</a:t>
            </a:r>
          </a:p>
        </p:txBody>
      </p:sp>
      <p:sp>
        <p:nvSpPr>
          <p:cNvPr id="17" name="Rectangle 16"/>
          <p:cNvSpPr/>
          <p:nvPr/>
        </p:nvSpPr>
        <p:spPr>
          <a:xfrm>
            <a:off x="777240" y="3313176"/>
            <a:ext cx="5180076" cy="131064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777240" y="3313176"/>
            <a:ext cx="91440" cy="1310640"/>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Oval 18"/>
          <p:cNvSpPr/>
          <p:nvPr/>
        </p:nvSpPr>
        <p:spPr>
          <a:xfrm>
            <a:off x="1033272" y="3694176"/>
            <a:ext cx="548640" cy="548640"/>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1033272" y="3694176"/>
            <a:ext cx="548640" cy="548640"/>
          </a:xfrm>
          <a:prstGeom prst="rect">
            <a:avLst/>
          </a:prstGeom>
          <a:noFill/>
        </p:spPr>
        <p:txBody>
          <a:bodyPr wrap="square" anchor="ctr">
            <a:spAutoFit/>
          </a:bodyPr>
          <a:lstStyle/>
          <a:p>
            <a:pPr algn="ctr">
              <a:spcAft>
                <a:spcPts val="400"/>
              </a:spcAft>
            </a:pPr>
            <a:r>
              <a:rPr sz="1800" b="1">
                <a:solidFill>
                  <a:srgbClr val="FFFFFF"/>
                </a:solidFill>
                <a:latin typeface="Arial"/>
              </a:rPr>
              <a:t>3</a:t>
            </a:r>
          </a:p>
        </p:txBody>
      </p:sp>
      <p:sp>
        <p:nvSpPr>
          <p:cNvPr id="21" name="TextBox 20"/>
          <p:cNvSpPr txBox="1"/>
          <p:nvPr/>
        </p:nvSpPr>
        <p:spPr>
          <a:xfrm>
            <a:off x="1764792" y="3422904"/>
            <a:ext cx="3973068" cy="1127760"/>
          </a:xfrm>
          <a:prstGeom prst="rect">
            <a:avLst/>
          </a:prstGeom>
          <a:noFill/>
        </p:spPr>
        <p:txBody>
          <a:bodyPr wrap="square" anchor="ctr">
            <a:spAutoFit/>
          </a:bodyPr>
          <a:lstStyle/>
          <a:p>
            <a:pPr algn="l">
              <a:spcAft>
                <a:spcPts val="300"/>
              </a:spcAft>
            </a:pPr>
            <a:r>
              <a:rPr sz="1500" b="1">
                <a:solidFill>
                  <a:srgbClr val="161B26"/>
                </a:solidFill>
                <a:latin typeface="Arial"/>
              </a:rPr>
              <a:t>Backoff with jitter</a:t>
            </a:r>
          </a:p>
          <a:p>
            <a:pPr algn="l">
              <a:spcAft>
                <a:spcPts val="300"/>
              </a:spcAft>
            </a:pPr>
            <a:r>
              <a:rPr sz="1100" b="0">
                <a:solidFill>
                  <a:srgbClr val="5B6372"/>
                </a:solidFill>
                <a:latin typeface="Arial"/>
              </a:rPr>
              <a:t>Spread retries to avoid synchronised load.</a:t>
            </a:r>
          </a:p>
        </p:txBody>
      </p:sp>
      <p:sp>
        <p:nvSpPr>
          <p:cNvPr id="22" name="Rectangle 21"/>
          <p:cNvSpPr/>
          <p:nvPr/>
        </p:nvSpPr>
        <p:spPr>
          <a:xfrm>
            <a:off x="6231636" y="3313176"/>
            <a:ext cx="5180076" cy="131064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ectangle 22"/>
          <p:cNvSpPr/>
          <p:nvPr/>
        </p:nvSpPr>
        <p:spPr>
          <a:xfrm>
            <a:off x="6231636" y="3313176"/>
            <a:ext cx="91440" cy="1310640"/>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Oval 23"/>
          <p:cNvSpPr/>
          <p:nvPr/>
        </p:nvSpPr>
        <p:spPr>
          <a:xfrm>
            <a:off x="6487668" y="3694176"/>
            <a:ext cx="548640" cy="548640"/>
          </a:xfrm>
          <a:prstGeom prst="ellipse">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6487668" y="3694176"/>
            <a:ext cx="548640" cy="548640"/>
          </a:xfrm>
          <a:prstGeom prst="rect">
            <a:avLst/>
          </a:prstGeom>
          <a:noFill/>
        </p:spPr>
        <p:txBody>
          <a:bodyPr wrap="square" anchor="ctr">
            <a:spAutoFit/>
          </a:bodyPr>
          <a:lstStyle/>
          <a:p>
            <a:pPr algn="ctr">
              <a:spcAft>
                <a:spcPts val="400"/>
              </a:spcAft>
            </a:pPr>
            <a:r>
              <a:rPr sz="1800" b="1">
                <a:solidFill>
                  <a:srgbClr val="FFFFFF"/>
                </a:solidFill>
                <a:latin typeface="Arial"/>
              </a:rPr>
              <a:t>4</a:t>
            </a:r>
          </a:p>
        </p:txBody>
      </p:sp>
      <p:sp>
        <p:nvSpPr>
          <p:cNvPr id="26" name="TextBox 25"/>
          <p:cNvSpPr txBox="1"/>
          <p:nvPr/>
        </p:nvSpPr>
        <p:spPr>
          <a:xfrm>
            <a:off x="7219188" y="3422904"/>
            <a:ext cx="3973068" cy="1127760"/>
          </a:xfrm>
          <a:prstGeom prst="rect">
            <a:avLst/>
          </a:prstGeom>
          <a:noFill/>
        </p:spPr>
        <p:txBody>
          <a:bodyPr wrap="square" anchor="ctr">
            <a:spAutoFit/>
          </a:bodyPr>
          <a:lstStyle/>
          <a:p>
            <a:pPr algn="l">
              <a:spcAft>
                <a:spcPts val="300"/>
              </a:spcAft>
            </a:pPr>
            <a:r>
              <a:rPr sz="1500" b="1">
                <a:solidFill>
                  <a:srgbClr val="161B26"/>
                </a:solidFill>
                <a:latin typeface="Arial"/>
              </a:rPr>
              <a:t>Circuit breaker</a:t>
            </a:r>
          </a:p>
          <a:p>
            <a:pPr algn="l">
              <a:spcAft>
                <a:spcPts val="300"/>
              </a:spcAft>
            </a:pPr>
            <a:r>
              <a:rPr sz="1100" b="0">
                <a:solidFill>
                  <a:srgbClr val="5B6372"/>
                </a:solidFill>
                <a:latin typeface="Arial"/>
              </a:rPr>
              <a:t>Stop calling a failing dependency; fail fast and recover.</a:t>
            </a:r>
          </a:p>
        </p:txBody>
      </p:sp>
      <p:sp>
        <p:nvSpPr>
          <p:cNvPr id="27" name="Rectangle 26"/>
          <p:cNvSpPr/>
          <p:nvPr/>
        </p:nvSpPr>
        <p:spPr>
          <a:xfrm>
            <a:off x="777240" y="4843272"/>
            <a:ext cx="5180076" cy="131064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Rectangle 27"/>
          <p:cNvSpPr/>
          <p:nvPr/>
        </p:nvSpPr>
        <p:spPr>
          <a:xfrm>
            <a:off x="777240" y="4843272"/>
            <a:ext cx="91440" cy="1310640"/>
          </a:xfrm>
          <a:prstGeom prst="rect">
            <a:avLst/>
          </a:prstGeom>
          <a:solidFill>
            <a:srgbClr val="EC711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Oval 28"/>
          <p:cNvSpPr/>
          <p:nvPr/>
        </p:nvSpPr>
        <p:spPr>
          <a:xfrm>
            <a:off x="1033272" y="5224272"/>
            <a:ext cx="548640" cy="548640"/>
          </a:xfrm>
          <a:prstGeom prst="ellipse">
            <a:avLst/>
          </a:prstGeom>
          <a:solidFill>
            <a:srgbClr val="EC711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1033272" y="5224272"/>
            <a:ext cx="548640" cy="548640"/>
          </a:xfrm>
          <a:prstGeom prst="rect">
            <a:avLst/>
          </a:prstGeom>
          <a:noFill/>
        </p:spPr>
        <p:txBody>
          <a:bodyPr wrap="square" anchor="ctr">
            <a:spAutoFit/>
          </a:bodyPr>
          <a:lstStyle/>
          <a:p>
            <a:pPr algn="ctr">
              <a:spcAft>
                <a:spcPts val="400"/>
              </a:spcAft>
            </a:pPr>
            <a:r>
              <a:rPr sz="1800" b="1">
                <a:solidFill>
                  <a:srgbClr val="FFFFFF"/>
                </a:solidFill>
                <a:latin typeface="Arial"/>
              </a:rPr>
              <a:t>5</a:t>
            </a:r>
          </a:p>
        </p:txBody>
      </p:sp>
      <p:sp>
        <p:nvSpPr>
          <p:cNvPr id="31" name="TextBox 30"/>
          <p:cNvSpPr txBox="1"/>
          <p:nvPr/>
        </p:nvSpPr>
        <p:spPr>
          <a:xfrm>
            <a:off x="1764792" y="4953000"/>
            <a:ext cx="3973068" cy="1127760"/>
          </a:xfrm>
          <a:prstGeom prst="rect">
            <a:avLst/>
          </a:prstGeom>
          <a:noFill/>
        </p:spPr>
        <p:txBody>
          <a:bodyPr wrap="square" anchor="ctr">
            <a:spAutoFit/>
          </a:bodyPr>
          <a:lstStyle/>
          <a:p>
            <a:pPr algn="l">
              <a:spcAft>
                <a:spcPts val="300"/>
              </a:spcAft>
            </a:pPr>
            <a:r>
              <a:rPr sz="1500" b="1">
                <a:solidFill>
                  <a:srgbClr val="161B26"/>
                </a:solidFill>
                <a:latin typeface="Arial"/>
              </a:rPr>
              <a:t>Health-check failover</a:t>
            </a:r>
          </a:p>
          <a:p>
            <a:pPr algn="l">
              <a:spcAft>
                <a:spcPts val="300"/>
              </a:spcAft>
            </a:pPr>
            <a:r>
              <a:rPr sz="1100" b="0">
                <a:solidFill>
                  <a:srgbClr val="5B6372"/>
                </a:solidFill>
                <a:latin typeface="Arial"/>
              </a:rPr>
              <a:t>Route 53 / ELB route around unhealthy targets.</a:t>
            </a:r>
          </a:p>
        </p:txBody>
      </p:sp>
      <p:sp>
        <p:nvSpPr>
          <p:cNvPr id="32" name="Rectangle 31"/>
          <p:cNvSpPr/>
          <p:nvPr/>
        </p:nvSpPr>
        <p:spPr>
          <a:xfrm>
            <a:off x="6231636" y="4843272"/>
            <a:ext cx="5180076" cy="131064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Rectangle 32"/>
          <p:cNvSpPr/>
          <p:nvPr/>
        </p:nvSpPr>
        <p:spPr>
          <a:xfrm>
            <a:off x="6231636" y="4843272"/>
            <a:ext cx="91440" cy="1310640"/>
          </a:xfrm>
          <a:prstGeom prst="rect">
            <a:avLst/>
          </a:prstGeom>
          <a:solidFill>
            <a:srgbClr val="0E9EC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Oval 33"/>
          <p:cNvSpPr/>
          <p:nvPr/>
        </p:nvSpPr>
        <p:spPr>
          <a:xfrm>
            <a:off x="6487668" y="5224272"/>
            <a:ext cx="548640" cy="548640"/>
          </a:xfrm>
          <a:prstGeom prst="ellipse">
            <a:avLst/>
          </a:prstGeom>
          <a:solidFill>
            <a:srgbClr val="0E9EC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TextBox 34"/>
          <p:cNvSpPr txBox="1"/>
          <p:nvPr/>
        </p:nvSpPr>
        <p:spPr>
          <a:xfrm>
            <a:off x="6487668" y="5224272"/>
            <a:ext cx="548640" cy="548640"/>
          </a:xfrm>
          <a:prstGeom prst="rect">
            <a:avLst/>
          </a:prstGeom>
          <a:noFill/>
        </p:spPr>
        <p:txBody>
          <a:bodyPr wrap="square" anchor="ctr">
            <a:spAutoFit/>
          </a:bodyPr>
          <a:lstStyle/>
          <a:p>
            <a:pPr algn="ctr">
              <a:spcAft>
                <a:spcPts val="400"/>
              </a:spcAft>
            </a:pPr>
            <a:r>
              <a:rPr sz="1800" b="1">
                <a:solidFill>
                  <a:srgbClr val="FFFFFF"/>
                </a:solidFill>
                <a:latin typeface="Arial"/>
              </a:rPr>
              <a:t>6</a:t>
            </a:r>
          </a:p>
        </p:txBody>
      </p:sp>
      <p:sp>
        <p:nvSpPr>
          <p:cNvPr id="36" name="TextBox 35"/>
          <p:cNvSpPr txBox="1"/>
          <p:nvPr/>
        </p:nvSpPr>
        <p:spPr>
          <a:xfrm>
            <a:off x="7219188" y="4953000"/>
            <a:ext cx="3973068" cy="1127760"/>
          </a:xfrm>
          <a:prstGeom prst="rect">
            <a:avLst/>
          </a:prstGeom>
          <a:noFill/>
        </p:spPr>
        <p:txBody>
          <a:bodyPr wrap="square" anchor="ctr">
            <a:spAutoFit/>
          </a:bodyPr>
          <a:lstStyle/>
          <a:p>
            <a:pPr algn="l">
              <a:spcAft>
                <a:spcPts val="300"/>
              </a:spcAft>
            </a:pPr>
            <a:r>
              <a:rPr sz="1500" b="1">
                <a:solidFill>
                  <a:srgbClr val="161B26"/>
                </a:solidFill>
                <a:latin typeface="Arial"/>
              </a:rPr>
              <a:t>Game-days</a:t>
            </a:r>
          </a:p>
          <a:p>
            <a:pPr algn="l">
              <a:spcAft>
                <a:spcPts val="300"/>
              </a:spcAft>
            </a:pPr>
            <a:r>
              <a:rPr sz="1100" b="0">
                <a:solidFill>
                  <a:srgbClr val="5B6372"/>
                </a:solidFill>
                <a:latin typeface="Arial"/>
              </a:rPr>
              <a:t>Rehearse failure so recovery is routine, not heroic.</a:t>
            </a:r>
          </a:p>
        </p:txBody>
      </p:sp>
      <p:sp>
        <p:nvSpPr>
          <p:cNvPr id="37" name="TextBox 36"/>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DevOps Engineering on AWS  ·  TGS-2023040474</a:t>
            </a:r>
          </a:p>
        </p:txBody>
      </p:sp>
      <p:sp>
        <p:nvSpPr>
          <p:cNvPr id="38" name="TextBox 37"/>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39" name="TextBox 38"/>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120</a:t>
            </a:r>
          </a:p>
        </p:txBody>
      </p:sp>
    </p:spTree>
  </p:cSld>
  <p:clrMapOvr>
    <a:masterClrMapping/>
  </p:clrMapOvr>
  <p:transition xmlns:p14="http://schemas.microsoft.com/office/powerpoint/2010/main" p14:dur="380">
    <p:fade/>
  </p:transition>
</p:sld>
</file>

<file path=ppt/slides/slide12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38912"/>
            <a:ext cx="10607040" cy="365760"/>
          </a:xfrm>
          <a:prstGeom prst="rect">
            <a:avLst/>
          </a:prstGeom>
          <a:noFill/>
        </p:spPr>
        <p:txBody>
          <a:bodyPr wrap="square" anchor="t">
            <a:spAutoFit/>
          </a:bodyPr>
          <a:lstStyle/>
          <a:p>
            <a:pPr algn="l">
              <a:spcAft>
                <a:spcPts val="400"/>
              </a:spcAft>
            </a:pPr>
            <a:r>
              <a:rPr sz="1400" b="1">
                <a:solidFill>
                  <a:srgbClr val="10B981"/>
                </a:solidFill>
                <a:latin typeface="Arial"/>
              </a:rPr>
              <a:t>MATCH SPEND TO RISK</a:t>
            </a:r>
          </a:p>
        </p:txBody>
      </p:sp>
      <p:sp>
        <p:nvSpPr>
          <p:cNvPr id="5" name="TextBox 4"/>
          <p:cNvSpPr txBox="1"/>
          <p:nvPr/>
        </p:nvSpPr>
        <p:spPr>
          <a:xfrm>
            <a:off x="777240" y="896112"/>
            <a:ext cx="10927080" cy="731520"/>
          </a:xfrm>
          <a:prstGeom prst="rect">
            <a:avLst/>
          </a:prstGeom>
          <a:noFill/>
        </p:spPr>
        <p:txBody>
          <a:bodyPr wrap="square" anchor="t">
            <a:spAutoFit/>
          </a:bodyPr>
          <a:lstStyle/>
          <a:p>
            <a:pPr algn="l">
              <a:spcAft>
                <a:spcPts val="400"/>
              </a:spcAft>
            </a:pPr>
            <a:r>
              <a:rPr sz="2500" b="1">
                <a:solidFill>
                  <a:srgbClr val="161B26"/>
                </a:solidFill>
                <a:latin typeface="Arial"/>
              </a:rPr>
              <a:t>Architecture Decision — Which DR Pattern?</a:t>
            </a:r>
          </a:p>
        </p:txBody>
      </p:sp>
      <p:sp>
        <p:nvSpPr>
          <p:cNvPr id="6" name="Rectangle 5"/>
          <p:cNvSpPr/>
          <p:nvPr/>
        </p:nvSpPr>
        <p:spPr>
          <a:xfrm>
            <a:off x="777240" y="1572768"/>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783080"/>
            <a:ext cx="3337560" cy="429768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1783080"/>
            <a:ext cx="3337560" cy="109728"/>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1033272" y="2057400"/>
            <a:ext cx="457200" cy="45720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033272" y="2057400"/>
            <a:ext cx="457200" cy="457200"/>
          </a:xfrm>
          <a:prstGeom prst="rect">
            <a:avLst/>
          </a:prstGeom>
          <a:noFill/>
        </p:spPr>
        <p:txBody>
          <a:bodyPr wrap="square" anchor="ctr">
            <a:spAutoFit/>
          </a:bodyPr>
          <a:lstStyle/>
          <a:p>
            <a:pPr algn="ctr">
              <a:spcAft>
                <a:spcPts val="400"/>
              </a:spcAft>
            </a:pPr>
            <a:r>
              <a:rPr sz="2000" b="1">
                <a:solidFill>
                  <a:srgbClr val="FFFFFF"/>
                </a:solidFill>
                <a:latin typeface="Arial"/>
              </a:rPr>
              <a:t>A</a:t>
            </a:r>
          </a:p>
        </p:txBody>
      </p:sp>
      <p:sp>
        <p:nvSpPr>
          <p:cNvPr id="11" name="TextBox 10"/>
          <p:cNvSpPr txBox="1"/>
          <p:nvPr/>
        </p:nvSpPr>
        <p:spPr>
          <a:xfrm>
            <a:off x="1645920" y="2084831"/>
            <a:ext cx="2286000" cy="640080"/>
          </a:xfrm>
          <a:prstGeom prst="rect">
            <a:avLst/>
          </a:prstGeom>
          <a:noFill/>
        </p:spPr>
        <p:txBody>
          <a:bodyPr wrap="square" anchor="ctr">
            <a:spAutoFit/>
          </a:bodyPr>
          <a:lstStyle/>
          <a:p>
            <a:pPr algn="l">
              <a:spcAft>
                <a:spcPts val="400"/>
              </a:spcAft>
            </a:pPr>
            <a:r>
              <a:rPr sz="1450" b="1">
                <a:solidFill>
                  <a:srgbClr val="10B981"/>
                </a:solidFill>
                <a:latin typeface="Arial"/>
              </a:rPr>
              <a:t>Backup &amp; Restore</a:t>
            </a:r>
          </a:p>
        </p:txBody>
      </p:sp>
      <p:sp>
        <p:nvSpPr>
          <p:cNvPr id="12" name="TextBox 11"/>
          <p:cNvSpPr txBox="1"/>
          <p:nvPr/>
        </p:nvSpPr>
        <p:spPr>
          <a:xfrm>
            <a:off x="1033272" y="2788920"/>
            <a:ext cx="2880360" cy="3108960"/>
          </a:xfrm>
          <a:prstGeom prst="rect">
            <a:avLst/>
          </a:prstGeom>
          <a:noFill/>
        </p:spPr>
        <p:txBody>
          <a:bodyPr wrap="square" anchor="t">
            <a:spAutoFit/>
          </a:bodyPr>
          <a:lstStyle/>
          <a:p>
            <a:pPr algn="l">
              <a:spcAft>
                <a:spcPts val="400"/>
              </a:spcAft>
            </a:pPr>
            <a:r>
              <a:rPr sz="1250" b="0">
                <a:solidFill>
                  <a:srgbClr val="161B26"/>
                </a:solidFill>
                <a:latin typeface="Arial"/>
              </a:rPr>
              <a:t>Non-critical or easily rebuilt workloads. Cheapest — but recovery takes hours and loses recent data.</a:t>
            </a:r>
          </a:p>
        </p:txBody>
      </p:sp>
      <p:sp>
        <p:nvSpPr>
          <p:cNvPr id="13" name="Rectangle 12"/>
          <p:cNvSpPr/>
          <p:nvPr/>
        </p:nvSpPr>
        <p:spPr>
          <a:xfrm>
            <a:off x="4572000" y="1783080"/>
            <a:ext cx="3337560" cy="429768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ectangle 13"/>
          <p:cNvSpPr/>
          <p:nvPr/>
        </p:nvSpPr>
        <p:spPr>
          <a:xfrm>
            <a:off x="4572000" y="1783080"/>
            <a:ext cx="3337560" cy="109728"/>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Oval 14"/>
          <p:cNvSpPr/>
          <p:nvPr/>
        </p:nvSpPr>
        <p:spPr>
          <a:xfrm>
            <a:off x="4828032" y="2057400"/>
            <a:ext cx="457200" cy="457200"/>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4828032" y="2057400"/>
            <a:ext cx="457200" cy="457200"/>
          </a:xfrm>
          <a:prstGeom prst="rect">
            <a:avLst/>
          </a:prstGeom>
          <a:noFill/>
        </p:spPr>
        <p:txBody>
          <a:bodyPr wrap="square" anchor="ctr">
            <a:spAutoFit/>
          </a:bodyPr>
          <a:lstStyle/>
          <a:p>
            <a:pPr algn="ctr">
              <a:spcAft>
                <a:spcPts val="400"/>
              </a:spcAft>
            </a:pPr>
            <a:r>
              <a:rPr sz="2000" b="1">
                <a:solidFill>
                  <a:srgbClr val="FFFFFF"/>
                </a:solidFill>
                <a:latin typeface="Arial"/>
              </a:rPr>
              <a:t>B</a:t>
            </a:r>
          </a:p>
        </p:txBody>
      </p:sp>
      <p:sp>
        <p:nvSpPr>
          <p:cNvPr id="17" name="TextBox 16"/>
          <p:cNvSpPr txBox="1"/>
          <p:nvPr/>
        </p:nvSpPr>
        <p:spPr>
          <a:xfrm>
            <a:off x="5440680" y="2084831"/>
            <a:ext cx="2286000" cy="640080"/>
          </a:xfrm>
          <a:prstGeom prst="rect">
            <a:avLst/>
          </a:prstGeom>
          <a:noFill/>
        </p:spPr>
        <p:txBody>
          <a:bodyPr wrap="square" anchor="ctr">
            <a:spAutoFit/>
          </a:bodyPr>
          <a:lstStyle/>
          <a:p>
            <a:pPr algn="l">
              <a:spcAft>
                <a:spcPts val="400"/>
              </a:spcAft>
            </a:pPr>
            <a:r>
              <a:rPr sz="1450" b="1">
                <a:solidFill>
                  <a:srgbClr val="7C3AED"/>
                </a:solidFill>
                <a:latin typeface="Arial"/>
              </a:rPr>
              <a:t>Pilot Light / Warm Standby</a:t>
            </a:r>
          </a:p>
        </p:txBody>
      </p:sp>
      <p:sp>
        <p:nvSpPr>
          <p:cNvPr id="18" name="TextBox 17"/>
          <p:cNvSpPr txBox="1"/>
          <p:nvPr/>
        </p:nvSpPr>
        <p:spPr>
          <a:xfrm>
            <a:off x="4828032" y="2788920"/>
            <a:ext cx="2880360" cy="3108960"/>
          </a:xfrm>
          <a:prstGeom prst="rect">
            <a:avLst/>
          </a:prstGeom>
          <a:noFill/>
        </p:spPr>
        <p:txBody>
          <a:bodyPr wrap="square" anchor="t">
            <a:spAutoFit/>
          </a:bodyPr>
          <a:lstStyle/>
          <a:p>
            <a:pPr algn="l">
              <a:spcAft>
                <a:spcPts val="400"/>
              </a:spcAft>
            </a:pPr>
            <a:r>
              <a:rPr sz="1250" b="0">
                <a:solidFill>
                  <a:srgbClr val="161B26"/>
                </a:solidFill>
                <a:latin typeface="Arial"/>
              </a:rPr>
              <a:t>Important workloads needing minutes-scale recovery. A scaled-down copy runs ready to promote — moderate standing cost.</a:t>
            </a:r>
          </a:p>
        </p:txBody>
      </p:sp>
      <p:sp>
        <p:nvSpPr>
          <p:cNvPr id="19" name="Rectangle 18"/>
          <p:cNvSpPr/>
          <p:nvPr/>
        </p:nvSpPr>
        <p:spPr>
          <a:xfrm>
            <a:off x="8366760" y="1783080"/>
            <a:ext cx="3337560" cy="429768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Rectangle 19"/>
          <p:cNvSpPr/>
          <p:nvPr/>
        </p:nvSpPr>
        <p:spPr>
          <a:xfrm>
            <a:off x="8366760" y="1783080"/>
            <a:ext cx="3337560" cy="109728"/>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Oval 20"/>
          <p:cNvSpPr/>
          <p:nvPr/>
        </p:nvSpPr>
        <p:spPr>
          <a:xfrm>
            <a:off x="8622792" y="2057400"/>
            <a:ext cx="457200" cy="45720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8622792" y="2057400"/>
            <a:ext cx="457200" cy="457200"/>
          </a:xfrm>
          <a:prstGeom prst="rect">
            <a:avLst/>
          </a:prstGeom>
          <a:noFill/>
        </p:spPr>
        <p:txBody>
          <a:bodyPr wrap="square" anchor="ctr">
            <a:spAutoFit/>
          </a:bodyPr>
          <a:lstStyle/>
          <a:p>
            <a:pPr algn="ctr">
              <a:spcAft>
                <a:spcPts val="400"/>
              </a:spcAft>
            </a:pPr>
            <a:r>
              <a:rPr sz="2000" b="1">
                <a:solidFill>
                  <a:srgbClr val="FFFFFF"/>
                </a:solidFill>
                <a:latin typeface="Arial"/>
              </a:rPr>
              <a:t>C</a:t>
            </a:r>
          </a:p>
        </p:txBody>
      </p:sp>
      <p:sp>
        <p:nvSpPr>
          <p:cNvPr id="23" name="TextBox 22"/>
          <p:cNvSpPr txBox="1"/>
          <p:nvPr/>
        </p:nvSpPr>
        <p:spPr>
          <a:xfrm>
            <a:off x="9235440" y="2084831"/>
            <a:ext cx="2286000" cy="640080"/>
          </a:xfrm>
          <a:prstGeom prst="rect">
            <a:avLst/>
          </a:prstGeom>
          <a:noFill/>
        </p:spPr>
        <p:txBody>
          <a:bodyPr wrap="square" anchor="ctr">
            <a:spAutoFit/>
          </a:bodyPr>
          <a:lstStyle/>
          <a:p>
            <a:pPr algn="l">
              <a:spcAft>
                <a:spcPts val="400"/>
              </a:spcAft>
            </a:pPr>
            <a:r>
              <a:rPr sz="1450" b="1">
                <a:solidFill>
                  <a:srgbClr val="10B981"/>
                </a:solidFill>
                <a:latin typeface="Arial"/>
              </a:rPr>
              <a:t>Multi-site Active/Active</a:t>
            </a:r>
          </a:p>
        </p:txBody>
      </p:sp>
      <p:sp>
        <p:nvSpPr>
          <p:cNvPr id="24" name="TextBox 23"/>
          <p:cNvSpPr txBox="1"/>
          <p:nvPr/>
        </p:nvSpPr>
        <p:spPr>
          <a:xfrm>
            <a:off x="8622792" y="2788920"/>
            <a:ext cx="2880360" cy="3108960"/>
          </a:xfrm>
          <a:prstGeom prst="rect">
            <a:avLst/>
          </a:prstGeom>
          <a:noFill/>
        </p:spPr>
        <p:txBody>
          <a:bodyPr wrap="square" anchor="t">
            <a:spAutoFit/>
          </a:bodyPr>
          <a:lstStyle/>
          <a:p>
            <a:pPr algn="l">
              <a:spcAft>
                <a:spcPts val="400"/>
              </a:spcAft>
            </a:pPr>
            <a:r>
              <a:rPr sz="1250" b="0">
                <a:solidFill>
                  <a:srgbClr val="161B26"/>
                </a:solidFill>
                <a:latin typeface="Arial"/>
              </a:rPr>
              <a:t>Revenue-critical systems that can't be down. Near-zero RTO/RPO — at roughly double the running cost and real complexity.</a:t>
            </a:r>
          </a:p>
        </p:txBody>
      </p:sp>
      <p:sp>
        <p:nvSpPr>
          <p:cNvPr id="25" name="TextBox 24"/>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DevOps Engineering on AWS  ·  TGS-2023040474</a:t>
            </a:r>
          </a:p>
        </p:txBody>
      </p:sp>
      <p:sp>
        <p:nvSpPr>
          <p:cNvPr id="26" name="TextBox 25"/>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27" name="TextBox 26"/>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121</a:t>
            </a:r>
          </a:p>
        </p:txBody>
      </p:sp>
    </p:spTree>
  </p:cSld>
  <p:clrMapOvr>
    <a:masterClrMapping/>
  </p:clrMapOvr>
  <p:transition xmlns:p14="http://schemas.microsoft.com/office/powerpoint/2010/main" p14:dur="380">
    <p:fade/>
  </p:transition>
</p:sld>
</file>

<file path=ppt/slides/slide12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38912"/>
            <a:ext cx="10607040" cy="365760"/>
          </a:xfrm>
          <a:prstGeom prst="rect">
            <a:avLst/>
          </a:prstGeom>
          <a:noFill/>
        </p:spPr>
        <p:txBody>
          <a:bodyPr wrap="square" anchor="t">
            <a:spAutoFit/>
          </a:bodyPr>
          <a:lstStyle/>
          <a:p>
            <a:pPr algn="l">
              <a:spcAft>
                <a:spcPts val="400"/>
              </a:spcAft>
            </a:pPr>
            <a:r>
              <a:rPr sz="1400" b="1">
                <a:solidFill>
                  <a:srgbClr val="10B981"/>
                </a:solidFill>
                <a:latin typeface="Arial"/>
              </a:rPr>
              <a:t>DESIGNING FOR AZ LOSS</a:t>
            </a:r>
          </a:p>
        </p:txBody>
      </p:sp>
      <p:sp>
        <p:nvSpPr>
          <p:cNvPr id="5" name="TextBox 4"/>
          <p:cNvSpPr txBox="1"/>
          <p:nvPr/>
        </p:nvSpPr>
        <p:spPr>
          <a:xfrm>
            <a:off x="777240" y="896112"/>
            <a:ext cx="10927080" cy="731520"/>
          </a:xfrm>
          <a:prstGeom prst="rect">
            <a:avLst/>
          </a:prstGeom>
          <a:noFill/>
        </p:spPr>
        <p:txBody>
          <a:bodyPr wrap="square" anchor="t">
            <a:spAutoFit/>
          </a:bodyPr>
          <a:lstStyle/>
          <a:p>
            <a:pPr algn="l">
              <a:spcAft>
                <a:spcPts val="400"/>
              </a:spcAft>
            </a:pPr>
            <a:r>
              <a:rPr sz="2500" b="1">
                <a:solidFill>
                  <a:srgbClr val="161B26"/>
                </a:solidFill>
                <a:latin typeface="Arial"/>
              </a:rPr>
              <a:t>Scenario — Surviving an Availability Zone outage</a:t>
            </a:r>
          </a:p>
        </p:txBody>
      </p:sp>
      <p:sp>
        <p:nvSpPr>
          <p:cNvPr id="6" name="Rectangle 5"/>
          <p:cNvSpPr/>
          <p:nvPr/>
        </p:nvSpPr>
        <p:spPr>
          <a:xfrm>
            <a:off x="777240" y="1572768"/>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755648"/>
            <a:ext cx="10634472" cy="91440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1755648"/>
            <a:ext cx="91440" cy="914400"/>
          </a:xfrm>
          <a:prstGeom prst="rect">
            <a:avLst/>
          </a:prstGeom>
          <a:solidFill>
            <a:srgbClr val="5B637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1033272" y="1847088"/>
            <a:ext cx="2194560" cy="320040"/>
          </a:xfrm>
          <a:prstGeom prst="rect">
            <a:avLst/>
          </a:prstGeom>
          <a:noFill/>
        </p:spPr>
        <p:txBody>
          <a:bodyPr wrap="square" anchor="t">
            <a:spAutoFit/>
          </a:bodyPr>
          <a:lstStyle/>
          <a:p>
            <a:pPr algn="l">
              <a:spcAft>
                <a:spcPts val="400"/>
              </a:spcAft>
            </a:pPr>
            <a:r>
              <a:rPr sz="1150" b="1">
                <a:solidFill>
                  <a:srgbClr val="5B6372"/>
                </a:solidFill>
                <a:latin typeface="Arial"/>
              </a:rPr>
              <a:t>SITUATION</a:t>
            </a:r>
          </a:p>
        </p:txBody>
      </p:sp>
      <p:sp>
        <p:nvSpPr>
          <p:cNvPr id="10" name="TextBox 9"/>
          <p:cNvSpPr txBox="1"/>
          <p:nvPr/>
        </p:nvSpPr>
        <p:spPr>
          <a:xfrm>
            <a:off x="1033272" y="2157984"/>
            <a:ext cx="10085832" cy="457200"/>
          </a:xfrm>
          <a:prstGeom prst="rect">
            <a:avLst/>
          </a:prstGeom>
          <a:noFill/>
        </p:spPr>
        <p:txBody>
          <a:bodyPr wrap="square" anchor="t">
            <a:spAutoFit/>
          </a:bodyPr>
          <a:lstStyle/>
          <a:p>
            <a:pPr algn="l">
              <a:spcAft>
                <a:spcPts val="400"/>
              </a:spcAft>
            </a:pPr>
            <a:r>
              <a:rPr sz="1300" b="0">
                <a:solidFill>
                  <a:srgbClr val="161B26"/>
                </a:solidFill>
                <a:latin typeface="Arial"/>
              </a:rPr>
              <a:t>An AZ becomes impaired. Half the fleet is there, and the primary database node runs in it.</a:t>
            </a:r>
          </a:p>
        </p:txBody>
      </p:sp>
      <p:sp>
        <p:nvSpPr>
          <p:cNvPr id="11" name="Rectangle 10"/>
          <p:cNvSpPr/>
          <p:nvPr/>
        </p:nvSpPr>
        <p:spPr>
          <a:xfrm>
            <a:off x="777240" y="2788920"/>
            <a:ext cx="10634472" cy="2194560"/>
          </a:xfrm>
          <a:prstGeom prst="rect">
            <a:avLst/>
          </a:prstGeom>
          <a:solidFill>
            <a:srgbClr val="FFFFFF"/>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ectangle 11"/>
          <p:cNvSpPr/>
          <p:nvPr/>
        </p:nvSpPr>
        <p:spPr>
          <a:xfrm>
            <a:off x="777240" y="2788920"/>
            <a:ext cx="91440" cy="219456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1033272" y="2880360"/>
            <a:ext cx="2743200" cy="320040"/>
          </a:xfrm>
          <a:prstGeom prst="rect">
            <a:avLst/>
          </a:prstGeom>
          <a:noFill/>
        </p:spPr>
        <p:txBody>
          <a:bodyPr wrap="square" anchor="t">
            <a:spAutoFit/>
          </a:bodyPr>
          <a:lstStyle/>
          <a:p>
            <a:pPr algn="l">
              <a:spcAft>
                <a:spcPts val="400"/>
              </a:spcAft>
            </a:pPr>
            <a:r>
              <a:rPr sz="1150" b="1">
                <a:solidFill>
                  <a:srgbClr val="10B981"/>
                </a:solidFill>
                <a:latin typeface="Arial"/>
              </a:rPr>
              <a:t>ANALYSIS</a:t>
            </a:r>
          </a:p>
        </p:txBody>
      </p:sp>
      <p:sp>
        <p:nvSpPr>
          <p:cNvPr id="14" name="TextBox 13"/>
          <p:cNvSpPr txBox="1"/>
          <p:nvPr/>
        </p:nvSpPr>
        <p:spPr>
          <a:xfrm>
            <a:off x="1033272" y="3246120"/>
            <a:ext cx="9994392" cy="1645920"/>
          </a:xfrm>
          <a:prstGeom prst="rect">
            <a:avLst/>
          </a:prstGeom>
          <a:noFill/>
        </p:spPr>
        <p:txBody>
          <a:bodyPr wrap="square">
            <a:spAutoFit/>
          </a:bodyPr>
          <a:lstStyle/>
          <a:p>
            <a:pPr>
              <a:spcAft>
                <a:spcPts val="700"/>
              </a:spcAft>
            </a:pPr>
            <a:r>
              <a:rPr sz="1300" b="0">
                <a:solidFill>
                  <a:srgbClr val="161B26"/>
                </a:solidFill>
                <a:latin typeface="Arial"/>
              </a:rPr>
              <a:t>•  Because compute is stateless behind an ALB across two AZs, the load balancer simply stops routing to the failed AZ.</a:t>
            </a:r>
          </a:p>
          <a:p>
            <a:pPr>
              <a:spcAft>
                <a:spcPts val="700"/>
              </a:spcAft>
            </a:pPr>
            <a:r>
              <a:rPr sz="1300" b="0">
                <a:solidFill>
                  <a:srgbClr val="161B26"/>
                </a:solidFill>
                <a:latin typeface="Arial"/>
              </a:rPr>
              <a:t>•  The Auto Scaling group launches replacement instances in the healthy AZ to restore capacity.</a:t>
            </a:r>
          </a:p>
          <a:p>
            <a:pPr>
              <a:spcAft>
                <a:spcPts val="700"/>
              </a:spcAft>
            </a:pPr>
            <a:r>
              <a:rPr sz="1300" b="0">
                <a:solidFill>
                  <a:srgbClr val="161B26"/>
                </a:solidFill>
                <a:latin typeface="Arial"/>
              </a:rPr>
              <a:t>•  Multi-AZ RDS fails over to the synchronous standby in the other AZ automatically.</a:t>
            </a:r>
          </a:p>
        </p:txBody>
      </p:sp>
      <p:sp>
        <p:nvSpPr>
          <p:cNvPr id="15" name="Rectangle 14"/>
          <p:cNvSpPr/>
          <p:nvPr/>
        </p:nvSpPr>
        <p:spPr>
          <a:xfrm>
            <a:off x="777240" y="5102352"/>
            <a:ext cx="10634472" cy="96012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ectangle 15"/>
          <p:cNvSpPr/>
          <p:nvPr/>
        </p:nvSpPr>
        <p:spPr>
          <a:xfrm>
            <a:off x="777240" y="5102352"/>
            <a:ext cx="91440" cy="9601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1033272" y="5193792"/>
            <a:ext cx="2743200" cy="320040"/>
          </a:xfrm>
          <a:prstGeom prst="rect">
            <a:avLst/>
          </a:prstGeom>
          <a:noFill/>
        </p:spPr>
        <p:txBody>
          <a:bodyPr wrap="square" anchor="t">
            <a:spAutoFit/>
          </a:bodyPr>
          <a:lstStyle/>
          <a:p>
            <a:pPr algn="l">
              <a:spcAft>
                <a:spcPts val="400"/>
              </a:spcAft>
            </a:pPr>
            <a:r>
              <a:rPr sz="1150" b="1">
                <a:solidFill>
                  <a:srgbClr val="10B981"/>
                </a:solidFill>
                <a:latin typeface="Arial"/>
              </a:rPr>
              <a:t>DECISION</a:t>
            </a:r>
          </a:p>
        </p:txBody>
      </p:sp>
      <p:sp>
        <p:nvSpPr>
          <p:cNvPr id="18" name="TextBox 17"/>
          <p:cNvSpPr txBox="1"/>
          <p:nvPr/>
        </p:nvSpPr>
        <p:spPr>
          <a:xfrm>
            <a:off x="1033272" y="5486400"/>
            <a:ext cx="10085832" cy="548640"/>
          </a:xfrm>
          <a:prstGeom prst="rect">
            <a:avLst/>
          </a:prstGeom>
          <a:noFill/>
        </p:spPr>
        <p:txBody>
          <a:bodyPr wrap="square" anchor="t">
            <a:spAutoFit/>
          </a:bodyPr>
          <a:lstStyle/>
          <a:p>
            <a:pPr algn="l">
              <a:spcAft>
                <a:spcPts val="400"/>
              </a:spcAft>
            </a:pPr>
            <a:r>
              <a:rPr sz="1300" b="1">
                <a:solidFill>
                  <a:srgbClr val="161B26"/>
                </a:solidFill>
                <a:latin typeface="Arial"/>
              </a:rPr>
              <a:t>No human action is required for the common case — the design absorbs an AZ loss. Confirm capacity headroom so the healthy AZ can carry full load during the event.</a:t>
            </a:r>
          </a:p>
        </p:txBody>
      </p:sp>
      <p:sp>
        <p:nvSpPr>
          <p:cNvPr id="19" name="TextBox 18"/>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DevOps Engineering on AWS  ·  TGS-2023040474</a:t>
            </a:r>
          </a:p>
        </p:txBody>
      </p:sp>
      <p:sp>
        <p:nvSpPr>
          <p:cNvPr id="20" name="TextBox 19"/>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21" name="TextBox 20"/>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122</a:t>
            </a:r>
          </a:p>
        </p:txBody>
      </p:sp>
    </p:spTree>
  </p:cSld>
  <p:clrMapOvr>
    <a:masterClrMapping/>
  </p:clrMapOvr>
  <p:transition xmlns:p14="http://schemas.microsoft.com/office/powerpoint/2010/main" p14:dur="380">
    <p:fade/>
  </p:transition>
</p:sld>
</file>

<file path=ppt/slides/slide12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38912"/>
            <a:ext cx="10607040" cy="365760"/>
          </a:xfrm>
          <a:prstGeom prst="rect">
            <a:avLst/>
          </a:prstGeom>
          <a:noFill/>
        </p:spPr>
        <p:txBody>
          <a:bodyPr wrap="square" anchor="t">
            <a:spAutoFit/>
          </a:bodyPr>
          <a:lstStyle/>
          <a:p>
            <a:pPr algn="l">
              <a:spcAft>
                <a:spcPts val="400"/>
              </a:spcAft>
            </a:pPr>
            <a:r>
              <a:rPr sz="1400" b="1">
                <a:solidFill>
                  <a:srgbClr val="10B981"/>
                </a:solidFill>
                <a:latin typeface="Arial"/>
              </a:rPr>
              <a:t>ELASTICITY UNDER PRESSURE</a:t>
            </a:r>
          </a:p>
        </p:txBody>
      </p:sp>
      <p:sp>
        <p:nvSpPr>
          <p:cNvPr id="5" name="TextBox 4"/>
          <p:cNvSpPr txBox="1"/>
          <p:nvPr/>
        </p:nvSpPr>
        <p:spPr>
          <a:xfrm>
            <a:off x="777240" y="804672"/>
            <a:ext cx="10927080" cy="731520"/>
          </a:xfrm>
          <a:prstGeom prst="rect">
            <a:avLst/>
          </a:prstGeom>
          <a:noFill/>
        </p:spPr>
        <p:txBody>
          <a:bodyPr wrap="square" anchor="t">
            <a:spAutoFit/>
          </a:bodyPr>
          <a:lstStyle/>
          <a:p>
            <a:pPr algn="l">
              <a:spcAft>
                <a:spcPts val="400"/>
              </a:spcAft>
            </a:pPr>
            <a:r>
              <a:rPr sz="2900" b="1">
                <a:solidFill>
                  <a:srgbClr val="161B26"/>
                </a:solidFill>
                <a:latin typeface="Arial"/>
              </a:rPr>
              <a:t>Scenario — A Black-Friday traffic spike</a:t>
            </a:r>
          </a:p>
        </p:txBody>
      </p:sp>
      <p:sp>
        <p:nvSpPr>
          <p:cNvPr id="6" name="Rectangle 5"/>
          <p:cNvSpPr/>
          <p:nvPr/>
        </p:nvSpPr>
        <p:spPr>
          <a:xfrm>
            <a:off x="777240" y="1572768"/>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755648"/>
            <a:ext cx="10634472" cy="91440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1755648"/>
            <a:ext cx="91440" cy="914400"/>
          </a:xfrm>
          <a:prstGeom prst="rect">
            <a:avLst/>
          </a:prstGeom>
          <a:solidFill>
            <a:srgbClr val="5B637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1033272" y="1847088"/>
            <a:ext cx="2194560" cy="320040"/>
          </a:xfrm>
          <a:prstGeom prst="rect">
            <a:avLst/>
          </a:prstGeom>
          <a:noFill/>
        </p:spPr>
        <p:txBody>
          <a:bodyPr wrap="square" anchor="t">
            <a:spAutoFit/>
          </a:bodyPr>
          <a:lstStyle/>
          <a:p>
            <a:pPr algn="l">
              <a:spcAft>
                <a:spcPts val="400"/>
              </a:spcAft>
            </a:pPr>
            <a:r>
              <a:rPr sz="1150" b="1">
                <a:solidFill>
                  <a:srgbClr val="5B6372"/>
                </a:solidFill>
                <a:latin typeface="Arial"/>
              </a:rPr>
              <a:t>SITUATION</a:t>
            </a:r>
          </a:p>
        </p:txBody>
      </p:sp>
      <p:sp>
        <p:nvSpPr>
          <p:cNvPr id="10" name="TextBox 9"/>
          <p:cNvSpPr txBox="1"/>
          <p:nvPr/>
        </p:nvSpPr>
        <p:spPr>
          <a:xfrm>
            <a:off x="1033272" y="2157984"/>
            <a:ext cx="10085832" cy="457200"/>
          </a:xfrm>
          <a:prstGeom prst="rect">
            <a:avLst/>
          </a:prstGeom>
          <a:noFill/>
        </p:spPr>
        <p:txBody>
          <a:bodyPr wrap="square" anchor="t">
            <a:spAutoFit/>
          </a:bodyPr>
          <a:lstStyle/>
          <a:p>
            <a:pPr algn="l">
              <a:spcAft>
                <a:spcPts val="400"/>
              </a:spcAft>
            </a:pPr>
            <a:r>
              <a:rPr sz="1300" b="0">
                <a:solidFill>
                  <a:srgbClr val="161B26"/>
                </a:solidFill>
                <a:latin typeface="Arial"/>
              </a:rPr>
              <a:t>Traffic will rise 6x for a few hours during a sale, then return to normal.</a:t>
            </a:r>
          </a:p>
        </p:txBody>
      </p:sp>
      <p:sp>
        <p:nvSpPr>
          <p:cNvPr id="11" name="Rectangle 10"/>
          <p:cNvSpPr/>
          <p:nvPr/>
        </p:nvSpPr>
        <p:spPr>
          <a:xfrm>
            <a:off x="777240" y="2788920"/>
            <a:ext cx="10634472" cy="2194560"/>
          </a:xfrm>
          <a:prstGeom prst="rect">
            <a:avLst/>
          </a:prstGeom>
          <a:solidFill>
            <a:srgbClr val="FFFFFF"/>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ectangle 11"/>
          <p:cNvSpPr/>
          <p:nvPr/>
        </p:nvSpPr>
        <p:spPr>
          <a:xfrm>
            <a:off x="777240" y="2788920"/>
            <a:ext cx="91440" cy="219456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1033272" y="2880360"/>
            <a:ext cx="2743200" cy="320040"/>
          </a:xfrm>
          <a:prstGeom prst="rect">
            <a:avLst/>
          </a:prstGeom>
          <a:noFill/>
        </p:spPr>
        <p:txBody>
          <a:bodyPr wrap="square" anchor="t">
            <a:spAutoFit/>
          </a:bodyPr>
          <a:lstStyle/>
          <a:p>
            <a:pPr algn="l">
              <a:spcAft>
                <a:spcPts val="400"/>
              </a:spcAft>
            </a:pPr>
            <a:r>
              <a:rPr sz="1150" b="1">
                <a:solidFill>
                  <a:srgbClr val="10B981"/>
                </a:solidFill>
                <a:latin typeface="Arial"/>
              </a:rPr>
              <a:t>ANALYSIS</a:t>
            </a:r>
          </a:p>
        </p:txBody>
      </p:sp>
      <p:sp>
        <p:nvSpPr>
          <p:cNvPr id="14" name="TextBox 13"/>
          <p:cNvSpPr txBox="1"/>
          <p:nvPr/>
        </p:nvSpPr>
        <p:spPr>
          <a:xfrm>
            <a:off x="1033272" y="3246120"/>
            <a:ext cx="9994392" cy="1645920"/>
          </a:xfrm>
          <a:prstGeom prst="rect">
            <a:avLst/>
          </a:prstGeom>
          <a:noFill/>
        </p:spPr>
        <p:txBody>
          <a:bodyPr wrap="square">
            <a:spAutoFit/>
          </a:bodyPr>
          <a:lstStyle/>
          <a:p>
            <a:pPr>
              <a:spcAft>
                <a:spcPts val="700"/>
              </a:spcAft>
            </a:pPr>
            <a:r>
              <a:rPr sz="1300" b="0">
                <a:solidFill>
                  <a:srgbClr val="161B26"/>
                </a:solidFill>
                <a:latin typeface="Arial"/>
              </a:rPr>
              <a:t>•  Fixed capacity sized for the peak wastes money the other 360 days; sized for normal, it falls over during the sale.</a:t>
            </a:r>
          </a:p>
          <a:p>
            <a:pPr>
              <a:spcAft>
                <a:spcPts val="700"/>
              </a:spcAft>
            </a:pPr>
            <a:r>
              <a:rPr sz="1300" b="0">
                <a:solidFill>
                  <a:srgbClr val="161B26"/>
                </a:solidFill>
                <a:latin typeface="Arial"/>
              </a:rPr>
              <a:t>•  Scheduled scaling pre-warms capacity just before the known event; target tracking then follows real demand.</a:t>
            </a:r>
          </a:p>
          <a:p>
            <a:pPr>
              <a:spcAft>
                <a:spcPts val="700"/>
              </a:spcAft>
            </a:pPr>
            <a:r>
              <a:rPr sz="1300" b="0">
                <a:solidFill>
                  <a:srgbClr val="161B26"/>
                </a:solidFill>
                <a:latin typeface="Arial"/>
              </a:rPr>
              <a:t>•  Decoupling checkout with SQS lets bursts queue instead of failing when a downstream service saturates.</a:t>
            </a:r>
          </a:p>
        </p:txBody>
      </p:sp>
      <p:sp>
        <p:nvSpPr>
          <p:cNvPr id="15" name="Rectangle 14"/>
          <p:cNvSpPr/>
          <p:nvPr/>
        </p:nvSpPr>
        <p:spPr>
          <a:xfrm>
            <a:off x="777240" y="5102352"/>
            <a:ext cx="10634472" cy="96012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ectangle 15"/>
          <p:cNvSpPr/>
          <p:nvPr/>
        </p:nvSpPr>
        <p:spPr>
          <a:xfrm>
            <a:off x="777240" y="5102352"/>
            <a:ext cx="91440" cy="9601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1033272" y="5193792"/>
            <a:ext cx="2743200" cy="320040"/>
          </a:xfrm>
          <a:prstGeom prst="rect">
            <a:avLst/>
          </a:prstGeom>
          <a:noFill/>
        </p:spPr>
        <p:txBody>
          <a:bodyPr wrap="square" anchor="t">
            <a:spAutoFit/>
          </a:bodyPr>
          <a:lstStyle/>
          <a:p>
            <a:pPr algn="l">
              <a:spcAft>
                <a:spcPts val="400"/>
              </a:spcAft>
            </a:pPr>
            <a:r>
              <a:rPr sz="1150" b="1">
                <a:solidFill>
                  <a:srgbClr val="10B981"/>
                </a:solidFill>
                <a:latin typeface="Arial"/>
              </a:rPr>
              <a:t>DECISION</a:t>
            </a:r>
          </a:p>
        </p:txBody>
      </p:sp>
      <p:sp>
        <p:nvSpPr>
          <p:cNvPr id="18" name="TextBox 17"/>
          <p:cNvSpPr txBox="1"/>
          <p:nvPr/>
        </p:nvSpPr>
        <p:spPr>
          <a:xfrm>
            <a:off x="1033272" y="5486400"/>
            <a:ext cx="10085832" cy="548640"/>
          </a:xfrm>
          <a:prstGeom prst="rect">
            <a:avLst/>
          </a:prstGeom>
          <a:noFill/>
        </p:spPr>
        <p:txBody>
          <a:bodyPr wrap="square" anchor="t">
            <a:spAutoFit/>
          </a:bodyPr>
          <a:lstStyle/>
          <a:p>
            <a:pPr algn="l">
              <a:spcAft>
                <a:spcPts val="400"/>
              </a:spcAft>
            </a:pPr>
            <a:r>
              <a:rPr sz="1300" b="1">
                <a:solidFill>
                  <a:srgbClr val="161B26"/>
                </a:solidFill>
                <a:latin typeface="Arial"/>
              </a:rPr>
              <a:t>Combine scheduled pre-scaling for the known start time with target-tracking for the actual curve, and buffer spiky writes through a queue so load is absorbed as backlog.</a:t>
            </a:r>
          </a:p>
        </p:txBody>
      </p:sp>
      <p:sp>
        <p:nvSpPr>
          <p:cNvPr id="19" name="TextBox 18"/>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DevOps Engineering on AWS  ·  TGS-2023040474</a:t>
            </a:r>
          </a:p>
        </p:txBody>
      </p:sp>
      <p:sp>
        <p:nvSpPr>
          <p:cNvPr id="20" name="TextBox 19"/>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21" name="TextBox 20"/>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123</a:t>
            </a:r>
          </a:p>
        </p:txBody>
      </p:sp>
    </p:spTree>
  </p:cSld>
  <p:clrMapOvr>
    <a:masterClrMapping/>
  </p:clrMapOvr>
  <p:transition xmlns:p14="http://schemas.microsoft.com/office/powerpoint/2010/main" p14:dur="380">
    <p:fade/>
  </p:transition>
</p:sld>
</file>

<file path=ppt/slides/slide12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38912"/>
            <a:ext cx="10607040" cy="365760"/>
          </a:xfrm>
          <a:prstGeom prst="rect">
            <a:avLst/>
          </a:prstGeom>
          <a:noFill/>
        </p:spPr>
        <p:txBody>
          <a:bodyPr wrap="square" anchor="t">
            <a:spAutoFit/>
          </a:bodyPr>
          <a:lstStyle/>
          <a:p>
            <a:pPr algn="l">
              <a:spcAft>
                <a:spcPts val="400"/>
              </a:spcAft>
            </a:pPr>
            <a:r>
              <a:rPr sz="1400" b="1">
                <a:solidFill>
                  <a:srgbClr val="10B981"/>
                </a:solidFill>
                <a:latin typeface="Arial"/>
              </a:rPr>
              <a:t>FROM SLA TO ARCHITECTURE</a:t>
            </a:r>
          </a:p>
        </p:txBody>
      </p:sp>
      <p:sp>
        <p:nvSpPr>
          <p:cNvPr id="5" name="TextBox 4"/>
          <p:cNvSpPr txBox="1"/>
          <p:nvPr/>
        </p:nvSpPr>
        <p:spPr>
          <a:xfrm>
            <a:off x="777240" y="896112"/>
            <a:ext cx="10927080" cy="731520"/>
          </a:xfrm>
          <a:prstGeom prst="rect">
            <a:avLst/>
          </a:prstGeom>
          <a:noFill/>
        </p:spPr>
        <p:txBody>
          <a:bodyPr wrap="square" anchor="t">
            <a:spAutoFit/>
          </a:bodyPr>
          <a:lstStyle/>
          <a:p>
            <a:pPr algn="l">
              <a:spcAft>
                <a:spcPts val="400"/>
              </a:spcAft>
            </a:pPr>
            <a:r>
              <a:rPr sz="2500" b="1">
                <a:solidFill>
                  <a:srgbClr val="161B26"/>
                </a:solidFill>
                <a:latin typeface="Arial"/>
              </a:rPr>
              <a:t>Worked Analysis — Reading an RTO/RPO Requirement</a:t>
            </a:r>
          </a:p>
        </p:txBody>
      </p:sp>
      <p:sp>
        <p:nvSpPr>
          <p:cNvPr id="6" name="Rectangle 5"/>
          <p:cNvSpPr/>
          <p:nvPr/>
        </p:nvSpPr>
        <p:spPr>
          <a:xfrm>
            <a:off x="777240" y="1572768"/>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783080"/>
            <a:ext cx="4253788" cy="765810"/>
          </a:xfrm>
          <a:prstGeom prst="rect">
            <a:avLst/>
          </a:prstGeom>
          <a:solidFill>
            <a:srgbClr val="F5F8FC"/>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1783080"/>
            <a:ext cx="73152" cy="76581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5031028" y="1783080"/>
            <a:ext cx="6380684" cy="765810"/>
          </a:xfrm>
          <a:prstGeom prst="rect">
            <a:avLst/>
          </a:prstGeom>
          <a:solidFill>
            <a:srgbClr val="F5F8FC"/>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978408" y="1783080"/>
            <a:ext cx="3933748" cy="765810"/>
          </a:xfrm>
          <a:prstGeom prst="rect">
            <a:avLst/>
          </a:prstGeom>
          <a:noFill/>
        </p:spPr>
        <p:txBody>
          <a:bodyPr wrap="square" anchor="ctr">
            <a:spAutoFit/>
          </a:bodyPr>
          <a:lstStyle/>
          <a:p>
            <a:pPr algn="l">
              <a:spcAft>
                <a:spcPts val="400"/>
              </a:spcAft>
            </a:pPr>
            <a:r>
              <a:rPr sz="1250" b="1">
                <a:solidFill>
                  <a:srgbClr val="161B26"/>
                </a:solidFill>
                <a:latin typeface="Arial"/>
              </a:rPr>
              <a:t>'Restore within 15 minutes' (RTO)</a:t>
            </a:r>
          </a:p>
        </p:txBody>
      </p:sp>
      <p:sp>
        <p:nvSpPr>
          <p:cNvPr id="11" name="TextBox 10"/>
          <p:cNvSpPr txBox="1"/>
          <p:nvPr/>
        </p:nvSpPr>
        <p:spPr>
          <a:xfrm>
            <a:off x="5213908" y="1783080"/>
            <a:ext cx="6060644" cy="765810"/>
          </a:xfrm>
          <a:prstGeom prst="rect">
            <a:avLst/>
          </a:prstGeom>
          <a:noFill/>
        </p:spPr>
        <p:txBody>
          <a:bodyPr wrap="square" anchor="ctr">
            <a:spAutoFit/>
          </a:bodyPr>
          <a:lstStyle/>
          <a:p>
            <a:pPr algn="l">
              <a:spcAft>
                <a:spcPts val="400"/>
              </a:spcAft>
            </a:pPr>
            <a:r>
              <a:rPr sz="1200" b="0">
                <a:solidFill>
                  <a:srgbClr val="5B6372"/>
                </a:solidFill>
                <a:latin typeface="Arial"/>
              </a:rPr>
              <a:t>Rules out backup &amp; restore (hours). Warm standby or pilot light needed.</a:t>
            </a:r>
          </a:p>
        </p:txBody>
      </p:sp>
      <p:sp>
        <p:nvSpPr>
          <p:cNvPr id="12" name="Rectangle 11"/>
          <p:cNvSpPr/>
          <p:nvPr/>
        </p:nvSpPr>
        <p:spPr>
          <a:xfrm>
            <a:off x="777240" y="2548890"/>
            <a:ext cx="4253788" cy="765810"/>
          </a:xfrm>
          <a:prstGeom prst="rect">
            <a:avLst/>
          </a:prstGeom>
          <a:solidFill>
            <a:srgbClr val="FFFFFF"/>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777240" y="2548890"/>
            <a:ext cx="73152" cy="76581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ectangle 13"/>
          <p:cNvSpPr/>
          <p:nvPr/>
        </p:nvSpPr>
        <p:spPr>
          <a:xfrm>
            <a:off x="5031028" y="2548890"/>
            <a:ext cx="6380684" cy="765810"/>
          </a:xfrm>
          <a:prstGeom prst="rect">
            <a:avLst/>
          </a:prstGeom>
          <a:solidFill>
            <a:srgbClr val="FFFFFF"/>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978408" y="2548890"/>
            <a:ext cx="3933748" cy="765810"/>
          </a:xfrm>
          <a:prstGeom prst="rect">
            <a:avLst/>
          </a:prstGeom>
          <a:noFill/>
        </p:spPr>
        <p:txBody>
          <a:bodyPr wrap="square" anchor="ctr">
            <a:spAutoFit/>
          </a:bodyPr>
          <a:lstStyle/>
          <a:p>
            <a:pPr algn="l">
              <a:spcAft>
                <a:spcPts val="400"/>
              </a:spcAft>
            </a:pPr>
            <a:r>
              <a:rPr sz="1250" b="1">
                <a:solidFill>
                  <a:srgbClr val="161B26"/>
                </a:solidFill>
                <a:latin typeface="Arial"/>
              </a:rPr>
              <a:t>'Lose at most a few seconds' (RPO)</a:t>
            </a:r>
          </a:p>
        </p:txBody>
      </p:sp>
      <p:sp>
        <p:nvSpPr>
          <p:cNvPr id="16" name="TextBox 15"/>
          <p:cNvSpPr txBox="1"/>
          <p:nvPr/>
        </p:nvSpPr>
        <p:spPr>
          <a:xfrm>
            <a:off x="5213908" y="2548890"/>
            <a:ext cx="6060644" cy="765810"/>
          </a:xfrm>
          <a:prstGeom prst="rect">
            <a:avLst/>
          </a:prstGeom>
          <a:noFill/>
        </p:spPr>
        <p:txBody>
          <a:bodyPr wrap="square" anchor="ctr">
            <a:spAutoFit/>
          </a:bodyPr>
          <a:lstStyle/>
          <a:p>
            <a:pPr algn="l">
              <a:spcAft>
                <a:spcPts val="400"/>
              </a:spcAft>
            </a:pPr>
            <a:r>
              <a:rPr sz="1200" b="0">
                <a:solidFill>
                  <a:srgbClr val="5B6372"/>
                </a:solidFill>
                <a:latin typeface="Arial"/>
              </a:rPr>
              <a:t>Requires synchronous or near-real-time replication — Multi-AZ RDS or global tables.</a:t>
            </a:r>
          </a:p>
        </p:txBody>
      </p:sp>
      <p:sp>
        <p:nvSpPr>
          <p:cNvPr id="17" name="Rectangle 16"/>
          <p:cNvSpPr/>
          <p:nvPr/>
        </p:nvSpPr>
        <p:spPr>
          <a:xfrm>
            <a:off x="777240" y="3314700"/>
            <a:ext cx="4253788" cy="765810"/>
          </a:xfrm>
          <a:prstGeom prst="rect">
            <a:avLst/>
          </a:prstGeom>
          <a:solidFill>
            <a:srgbClr val="F5F8FC"/>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777240" y="3314700"/>
            <a:ext cx="73152" cy="76581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Rectangle 18"/>
          <p:cNvSpPr/>
          <p:nvPr/>
        </p:nvSpPr>
        <p:spPr>
          <a:xfrm>
            <a:off x="5031028" y="3314700"/>
            <a:ext cx="6380684" cy="765810"/>
          </a:xfrm>
          <a:prstGeom prst="rect">
            <a:avLst/>
          </a:prstGeom>
          <a:solidFill>
            <a:srgbClr val="F5F8FC"/>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978408" y="3314700"/>
            <a:ext cx="3933748" cy="765810"/>
          </a:xfrm>
          <a:prstGeom prst="rect">
            <a:avLst/>
          </a:prstGeom>
          <a:noFill/>
        </p:spPr>
        <p:txBody>
          <a:bodyPr wrap="square" anchor="ctr">
            <a:spAutoFit/>
          </a:bodyPr>
          <a:lstStyle/>
          <a:p>
            <a:pPr algn="l">
              <a:spcAft>
                <a:spcPts val="400"/>
              </a:spcAft>
            </a:pPr>
            <a:r>
              <a:rPr sz="1250" b="1">
                <a:solidFill>
                  <a:srgbClr val="161B26"/>
                </a:solidFill>
                <a:latin typeface="Arial"/>
              </a:rPr>
              <a:t>'Survive a Region event'</a:t>
            </a:r>
          </a:p>
        </p:txBody>
      </p:sp>
      <p:sp>
        <p:nvSpPr>
          <p:cNvPr id="21" name="TextBox 20"/>
          <p:cNvSpPr txBox="1"/>
          <p:nvPr/>
        </p:nvSpPr>
        <p:spPr>
          <a:xfrm>
            <a:off x="5213908" y="3314700"/>
            <a:ext cx="6060644" cy="765810"/>
          </a:xfrm>
          <a:prstGeom prst="rect">
            <a:avLst/>
          </a:prstGeom>
          <a:noFill/>
        </p:spPr>
        <p:txBody>
          <a:bodyPr wrap="square" anchor="ctr">
            <a:spAutoFit/>
          </a:bodyPr>
          <a:lstStyle/>
          <a:p>
            <a:pPr algn="l">
              <a:spcAft>
                <a:spcPts val="400"/>
              </a:spcAft>
            </a:pPr>
            <a:r>
              <a:rPr sz="1200" b="0">
                <a:solidFill>
                  <a:srgbClr val="5B6372"/>
                </a:solidFill>
                <a:latin typeface="Arial"/>
              </a:rPr>
              <a:t>Forces a cross-Region strategy, not just multi-AZ.</a:t>
            </a:r>
          </a:p>
        </p:txBody>
      </p:sp>
      <p:sp>
        <p:nvSpPr>
          <p:cNvPr id="22" name="Rectangle 21"/>
          <p:cNvSpPr/>
          <p:nvPr/>
        </p:nvSpPr>
        <p:spPr>
          <a:xfrm>
            <a:off x="777240" y="4080510"/>
            <a:ext cx="4253788" cy="765810"/>
          </a:xfrm>
          <a:prstGeom prst="rect">
            <a:avLst/>
          </a:prstGeom>
          <a:solidFill>
            <a:srgbClr val="FFFFFF"/>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ectangle 22"/>
          <p:cNvSpPr/>
          <p:nvPr/>
        </p:nvSpPr>
        <p:spPr>
          <a:xfrm>
            <a:off x="777240" y="4080510"/>
            <a:ext cx="73152" cy="76581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Rectangle 23"/>
          <p:cNvSpPr/>
          <p:nvPr/>
        </p:nvSpPr>
        <p:spPr>
          <a:xfrm>
            <a:off x="5031028" y="4080510"/>
            <a:ext cx="6380684" cy="765810"/>
          </a:xfrm>
          <a:prstGeom prst="rect">
            <a:avLst/>
          </a:prstGeom>
          <a:solidFill>
            <a:srgbClr val="FFFFFF"/>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978408" y="4080510"/>
            <a:ext cx="3933748" cy="765810"/>
          </a:xfrm>
          <a:prstGeom prst="rect">
            <a:avLst/>
          </a:prstGeom>
          <a:noFill/>
        </p:spPr>
        <p:txBody>
          <a:bodyPr wrap="square" anchor="ctr">
            <a:spAutoFit/>
          </a:bodyPr>
          <a:lstStyle/>
          <a:p>
            <a:pPr algn="l">
              <a:spcAft>
                <a:spcPts val="400"/>
              </a:spcAft>
            </a:pPr>
            <a:r>
              <a:rPr sz="1250" b="1">
                <a:solidFill>
                  <a:srgbClr val="161B26"/>
                </a:solidFill>
                <a:latin typeface="Arial"/>
              </a:rPr>
              <a:t>Budget is limited</a:t>
            </a:r>
          </a:p>
        </p:txBody>
      </p:sp>
      <p:sp>
        <p:nvSpPr>
          <p:cNvPr id="26" name="TextBox 25"/>
          <p:cNvSpPr txBox="1"/>
          <p:nvPr/>
        </p:nvSpPr>
        <p:spPr>
          <a:xfrm>
            <a:off x="5213908" y="4080510"/>
            <a:ext cx="6060644" cy="765810"/>
          </a:xfrm>
          <a:prstGeom prst="rect">
            <a:avLst/>
          </a:prstGeom>
          <a:noFill/>
        </p:spPr>
        <p:txBody>
          <a:bodyPr wrap="square" anchor="ctr">
            <a:spAutoFit/>
          </a:bodyPr>
          <a:lstStyle/>
          <a:p>
            <a:pPr algn="l">
              <a:spcAft>
                <a:spcPts val="400"/>
              </a:spcAft>
            </a:pPr>
            <a:r>
              <a:rPr sz="1200" b="0">
                <a:solidFill>
                  <a:srgbClr val="5B6372"/>
                </a:solidFill>
                <a:latin typeface="Arial"/>
              </a:rPr>
              <a:t>Pilot light: minimal always-on footprint, scaled up on failover — a pragmatic middle.</a:t>
            </a:r>
          </a:p>
        </p:txBody>
      </p:sp>
      <p:sp>
        <p:nvSpPr>
          <p:cNvPr id="27" name="Rectangle 26"/>
          <p:cNvSpPr/>
          <p:nvPr/>
        </p:nvSpPr>
        <p:spPr>
          <a:xfrm>
            <a:off x="777240" y="5010912"/>
            <a:ext cx="10634472" cy="86868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Rectangle 27"/>
          <p:cNvSpPr/>
          <p:nvPr/>
        </p:nvSpPr>
        <p:spPr>
          <a:xfrm>
            <a:off x="777240" y="5010912"/>
            <a:ext cx="91440" cy="86868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TextBox 28"/>
          <p:cNvSpPr txBox="1"/>
          <p:nvPr/>
        </p:nvSpPr>
        <p:spPr>
          <a:xfrm>
            <a:off x="1033272" y="5102352"/>
            <a:ext cx="2743200" cy="320040"/>
          </a:xfrm>
          <a:prstGeom prst="rect">
            <a:avLst/>
          </a:prstGeom>
          <a:noFill/>
        </p:spPr>
        <p:txBody>
          <a:bodyPr wrap="square" anchor="t">
            <a:spAutoFit/>
          </a:bodyPr>
          <a:lstStyle/>
          <a:p>
            <a:pPr algn="l">
              <a:spcAft>
                <a:spcPts val="400"/>
              </a:spcAft>
            </a:pPr>
            <a:r>
              <a:rPr sz="1150" b="1">
                <a:solidFill>
                  <a:srgbClr val="10B981"/>
                </a:solidFill>
                <a:latin typeface="Arial"/>
              </a:rPr>
              <a:t>TAKEAWAY</a:t>
            </a:r>
          </a:p>
        </p:txBody>
      </p:sp>
      <p:sp>
        <p:nvSpPr>
          <p:cNvPr id="30" name="TextBox 29"/>
          <p:cNvSpPr txBox="1"/>
          <p:nvPr/>
        </p:nvSpPr>
        <p:spPr>
          <a:xfrm>
            <a:off x="1033272" y="5394960"/>
            <a:ext cx="10085832" cy="457200"/>
          </a:xfrm>
          <a:prstGeom prst="rect">
            <a:avLst/>
          </a:prstGeom>
          <a:noFill/>
        </p:spPr>
        <p:txBody>
          <a:bodyPr wrap="square" anchor="t">
            <a:spAutoFit/>
          </a:bodyPr>
          <a:lstStyle/>
          <a:p>
            <a:pPr algn="l">
              <a:spcAft>
                <a:spcPts val="400"/>
              </a:spcAft>
            </a:pPr>
            <a:r>
              <a:rPr sz="1300" b="1">
                <a:solidFill>
                  <a:srgbClr val="161B26"/>
                </a:solidFill>
                <a:latin typeface="Arial"/>
              </a:rPr>
              <a:t>Each phrase in the requirement eliminates patterns until one fits — resilience design is requirement-driven, not taste-driven.</a:t>
            </a:r>
          </a:p>
        </p:txBody>
      </p:sp>
      <p:sp>
        <p:nvSpPr>
          <p:cNvPr id="31" name="TextBox 30"/>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DevOps Engineering on AWS  ·  TGS-2023040474</a:t>
            </a:r>
          </a:p>
        </p:txBody>
      </p:sp>
      <p:sp>
        <p:nvSpPr>
          <p:cNvPr id="32" name="TextBox 31"/>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33" name="TextBox 32"/>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124</a:t>
            </a:r>
          </a:p>
        </p:txBody>
      </p:sp>
    </p:spTree>
  </p:cSld>
  <p:clrMapOvr>
    <a:masterClrMapping/>
  </p:clrMapOvr>
  <p:transition xmlns:p14="http://schemas.microsoft.com/office/powerpoint/2010/main" p14:dur="380">
    <p:fade/>
  </p:transition>
</p:sld>
</file>

<file path=ppt/slides/slide12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38912"/>
            <a:ext cx="10607040" cy="365760"/>
          </a:xfrm>
          <a:prstGeom prst="rect">
            <a:avLst/>
          </a:prstGeom>
          <a:noFill/>
        </p:spPr>
        <p:txBody>
          <a:bodyPr wrap="square" anchor="t">
            <a:spAutoFit/>
          </a:bodyPr>
          <a:lstStyle/>
          <a:p>
            <a:pPr algn="l">
              <a:spcAft>
                <a:spcPts val="400"/>
              </a:spcAft>
            </a:pPr>
            <a:r>
              <a:rPr sz="1400" b="1">
                <a:solidFill>
                  <a:srgbClr val="10B981"/>
                </a:solidFill>
                <a:latin typeface="Arial"/>
              </a:rPr>
              <a:t>LAB 11 · DAY 3 · LO3 · HANDS-ON</a:t>
            </a:r>
          </a:p>
        </p:txBody>
      </p:sp>
      <p:sp>
        <p:nvSpPr>
          <p:cNvPr id="5" name="TextBox 4"/>
          <p:cNvSpPr txBox="1"/>
          <p:nvPr/>
        </p:nvSpPr>
        <p:spPr>
          <a:xfrm>
            <a:off x="777240" y="896112"/>
            <a:ext cx="10927080" cy="731520"/>
          </a:xfrm>
          <a:prstGeom prst="rect">
            <a:avLst/>
          </a:prstGeom>
          <a:noFill/>
        </p:spPr>
        <p:txBody>
          <a:bodyPr wrap="square" anchor="t">
            <a:spAutoFit/>
          </a:bodyPr>
          <a:lstStyle/>
          <a:p>
            <a:pPr algn="l">
              <a:spcAft>
                <a:spcPts val="400"/>
              </a:spcAft>
            </a:pPr>
            <a:r>
              <a:rPr sz="2100" b="1">
                <a:solidFill>
                  <a:srgbClr val="161B26"/>
                </a:solidFill>
                <a:latin typeface="Arial"/>
              </a:rPr>
              <a:t>Deploy a Multi-AZ Application Load Balancer with an Auto Scaling Group</a:t>
            </a:r>
          </a:p>
        </p:txBody>
      </p:sp>
      <p:sp>
        <p:nvSpPr>
          <p:cNvPr id="6" name="Rectangle 5"/>
          <p:cNvSpPr/>
          <p:nvPr/>
        </p:nvSpPr>
        <p:spPr>
          <a:xfrm>
            <a:off x="777240" y="1572768"/>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737360"/>
            <a:ext cx="1737360" cy="45720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77240" y="1783080"/>
            <a:ext cx="1737360" cy="365760"/>
          </a:xfrm>
          <a:prstGeom prst="rect">
            <a:avLst/>
          </a:prstGeom>
          <a:noFill/>
        </p:spPr>
        <p:txBody>
          <a:bodyPr wrap="square" anchor="t">
            <a:spAutoFit/>
          </a:bodyPr>
          <a:lstStyle/>
          <a:p>
            <a:pPr algn="ctr">
              <a:spcAft>
                <a:spcPts val="400"/>
              </a:spcAft>
            </a:pPr>
            <a:r>
              <a:rPr sz="1600" b="1">
                <a:solidFill>
                  <a:srgbClr val="FFFFFF"/>
                </a:solidFill>
                <a:latin typeface="Arial"/>
              </a:rPr>
              <a:t>LAB 11</a:t>
            </a:r>
          </a:p>
        </p:txBody>
      </p:sp>
      <p:sp>
        <p:nvSpPr>
          <p:cNvPr id="9" name="TextBox 8"/>
          <p:cNvSpPr txBox="1"/>
          <p:nvPr/>
        </p:nvSpPr>
        <p:spPr>
          <a:xfrm>
            <a:off x="2697480" y="1783080"/>
            <a:ext cx="3566160" cy="365760"/>
          </a:xfrm>
          <a:prstGeom prst="rect">
            <a:avLst/>
          </a:prstGeom>
          <a:noFill/>
        </p:spPr>
        <p:txBody>
          <a:bodyPr wrap="square" anchor="t">
            <a:spAutoFit/>
          </a:bodyPr>
          <a:lstStyle/>
          <a:p>
            <a:pPr algn="l">
              <a:spcAft>
                <a:spcPts val="400"/>
              </a:spcAft>
            </a:pPr>
            <a:r>
              <a:rPr sz="1200" b="1">
                <a:solidFill>
                  <a:srgbClr val="5B6372"/>
                </a:solidFill>
                <a:latin typeface="Arial"/>
              </a:rPr>
              <a:t>Day 3 · LO3 · K2, K4, A2</a:t>
            </a:r>
          </a:p>
        </p:txBody>
      </p:sp>
      <p:sp>
        <p:nvSpPr>
          <p:cNvPr id="10" name="TextBox 9"/>
          <p:cNvSpPr txBox="1"/>
          <p:nvPr/>
        </p:nvSpPr>
        <p:spPr>
          <a:xfrm>
            <a:off x="777240" y="2286000"/>
            <a:ext cx="5486400" cy="885190"/>
          </a:xfrm>
          <a:prstGeom prst="rect">
            <a:avLst/>
          </a:prstGeom>
          <a:noFill/>
        </p:spPr>
        <p:txBody>
          <a:bodyPr wrap="square" anchor="t">
            <a:spAutoFit/>
          </a:bodyPr>
          <a:lstStyle/>
          <a:p>
            <a:pPr algn="l">
              <a:spcAft>
                <a:spcPts val="400"/>
              </a:spcAft>
            </a:pPr>
            <a:r>
              <a:rPr sz="1350" b="0">
                <a:solidFill>
                  <a:srgbClr val="161B26"/>
                </a:solidFill>
                <a:latin typeface="Arial"/>
              </a:rPr>
              <a:t>A single instance in a single Availability Zone is a single point of failure. In this lab you codify a highly available web tier as one CloudFormation template: an internet-facing Application Load …</a:t>
            </a:r>
          </a:p>
        </p:txBody>
      </p:sp>
      <p:sp>
        <p:nvSpPr>
          <p:cNvPr id="11" name="Rectangle 10"/>
          <p:cNvSpPr/>
          <p:nvPr/>
        </p:nvSpPr>
        <p:spPr>
          <a:xfrm>
            <a:off x="777240" y="3280918"/>
            <a:ext cx="5486400" cy="1658366"/>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ectangle 11"/>
          <p:cNvSpPr/>
          <p:nvPr/>
        </p:nvSpPr>
        <p:spPr>
          <a:xfrm>
            <a:off x="777240" y="3280918"/>
            <a:ext cx="91440" cy="1658366"/>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960120" y="3408934"/>
            <a:ext cx="5120640" cy="274320"/>
          </a:xfrm>
          <a:prstGeom prst="rect">
            <a:avLst/>
          </a:prstGeom>
          <a:noFill/>
        </p:spPr>
        <p:txBody>
          <a:bodyPr wrap="square" anchor="t">
            <a:spAutoFit/>
          </a:bodyPr>
          <a:lstStyle/>
          <a:p>
            <a:pPr algn="l">
              <a:spcAft>
                <a:spcPts val="400"/>
              </a:spcAft>
            </a:pPr>
            <a:r>
              <a:rPr sz="1200" b="1">
                <a:solidFill>
                  <a:srgbClr val="10B981"/>
                </a:solidFill>
                <a:latin typeface="Arial"/>
              </a:rPr>
              <a:t>YOU'LL BUILD</a:t>
            </a:r>
          </a:p>
        </p:txBody>
      </p:sp>
      <p:sp>
        <p:nvSpPr>
          <p:cNvPr id="14" name="TextBox 13"/>
          <p:cNvSpPr txBox="1"/>
          <p:nvPr/>
        </p:nvSpPr>
        <p:spPr>
          <a:xfrm>
            <a:off x="960120" y="3683254"/>
            <a:ext cx="5166360" cy="726440"/>
          </a:xfrm>
          <a:prstGeom prst="rect">
            <a:avLst/>
          </a:prstGeom>
          <a:noFill/>
        </p:spPr>
        <p:txBody>
          <a:bodyPr wrap="square" anchor="t">
            <a:spAutoFit/>
          </a:bodyPr>
          <a:lstStyle/>
          <a:p>
            <a:pPr algn="l">
              <a:spcAft>
                <a:spcPts val="400"/>
              </a:spcAft>
            </a:pPr>
            <a:r>
              <a:rPr sz="1100" b="1">
                <a:solidFill>
                  <a:srgbClr val="161B26"/>
                </a:solidFill>
                <a:latin typeface="Arial"/>
              </a:rPr>
              <a:t>A running multi-AZ stack — an ALB, a target group with health checks, a launch template and an Auto Scaling group (min 2 / max 6) spread across two AZs — whose DNS name serves traffic from instances in both AZs.</a:t>
            </a:r>
          </a:p>
        </p:txBody>
      </p:sp>
      <p:sp>
        <p:nvSpPr>
          <p:cNvPr id="15" name="TextBox 14"/>
          <p:cNvSpPr txBox="1"/>
          <p:nvPr/>
        </p:nvSpPr>
        <p:spPr>
          <a:xfrm>
            <a:off x="960120" y="4464558"/>
            <a:ext cx="5166360" cy="346710"/>
          </a:xfrm>
          <a:prstGeom prst="rect">
            <a:avLst/>
          </a:prstGeom>
          <a:noFill/>
        </p:spPr>
        <p:txBody>
          <a:bodyPr wrap="square" anchor="t">
            <a:spAutoFit/>
          </a:bodyPr>
          <a:lstStyle/>
          <a:p>
            <a:pPr algn="l">
              <a:spcAft>
                <a:spcPts val="400"/>
              </a:spcAft>
            </a:pPr>
            <a:r>
              <a:rPr sz="1050" b="0">
                <a:solidFill>
                  <a:srgbClr val="5B6372"/>
                </a:solidFill>
                <a:latin typeface="Arial"/>
              </a:rPr>
              <a:t>Tools:  Amazon EC2, Elastic Load Balancing (ELBv2 / ALB), AWS Auto Scaling, AWS CloudFormation</a:t>
            </a:r>
          </a:p>
        </p:txBody>
      </p:sp>
      <p:sp>
        <p:nvSpPr>
          <p:cNvPr id="16" name="Rectangle 15"/>
          <p:cNvSpPr/>
          <p:nvPr/>
        </p:nvSpPr>
        <p:spPr>
          <a:xfrm>
            <a:off x="777240" y="5049012"/>
            <a:ext cx="5486400" cy="1278636"/>
          </a:xfrm>
          <a:prstGeom prst="rect">
            <a:avLst/>
          </a:prstGeom>
          <a:solidFill>
            <a:srgbClr val="FFFFFF"/>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ectangle 16"/>
          <p:cNvSpPr/>
          <p:nvPr/>
        </p:nvSpPr>
        <p:spPr>
          <a:xfrm>
            <a:off x="777240" y="5049012"/>
            <a:ext cx="91440" cy="1278636"/>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960120" y="5177028"/>
            <a:ext cx="5120640" cy="274320"/>
          </a:xfrm>
          <a:prstGeom prst="rect">
            <a:avLst/>
          </a:prstGeom>
          <a:noFill/>
        </p:spPr>
        <p:txBody>
          <a:bodyPr wrap="square" anchor="t">
            <a:spAutoFit/>
          </a:bodyPr>
          <a:lstStyle/>
          <a:p>
            <a:pPr algn="l">
              <a:spcAft>
                <a:spcPts val="400"/>
              </a:spcAft>
            </a:pPr>
            <a:r>
              <a:rPr sz="1200" b="1">
                <a:solidFill>
                  <a:srgbClr val="10B981"/>
                </a:solidFill>
                <a:latin typeface="Arial"/>
              </a:rPr>
              <a:t>OUTCOME &amp; EVIDENCE</a:t>
            </a:r>
          </a:p>
        </p:txBody>
      </p:sp>
      <p:sp>
        <p:nvSpPr>
          <p:cNvPr id="19" name="TextBox 18"/>
          <p:cNvSpPr txBox="1"/>
          <p:nvPr/>
        </p:nvSpPr>
        <p:spPr>
          <a:xfrm>
            <a:off x="960120" y="5451348"/>
            <a:ext cx="5166360" cy="693420"/>
          </a:xfrm>
          <a:prstGeom prst="rect">
            <a:avLst/>
          </a:prstGeom>
          <a:noFill/>
        </p:spPr>
        <p:txBody>
          <a:bodyPr wrap="square" anchor="t">
            <a:spAutoFit/>
          </a:bodyPr>
          <a:lstStyle/>
          <a:p>
            <a:pPr algn="l">
              <a:spcAft>
                <a:spcPts val="300"/>
              </a:spcAft>
            </a:pPr>
            <a:r>
              <a:rPr sz="1050" b="0">
                <a:solidFill>
                  <a:srgbClr val="5B6372"/>
                </a:solidFill>
                <a:latin typeface="Arial"/>
              </a:rPr>
              <a:t>Outcome: Curling the ALB DNS name 20 times returns responses from two distinct instances located in two different Availability Zones, target health …</a:t>
            </a:r>
          </a:p>
          <a:p>
            <a:pPr algn="l">
              <a:spcAft>
                <a:spcPts val="300"/>
              </a:spcAft>
            </a:pPr>
            <a:r>
              <a:rPr sz="1050" b="0">
                <a:solidFill>
                  <a:srgbClr val="5B6372"/>
                </a:solidFill>
                <a:latin typeface="Arial"/>
              </a:rPr>
              <a:t>Evidence:  describe-stacks output showing stack ha-web at CREATE_COMPLETE with AlbDnsName and AsgName in the Outputs.</a:t>
            </a:r>
          </a:p>
        </p:txBody>
      </p:sp>
      <p:sp>
        <p:nvSpPr>
          <p:cNvPr id="20" name="Rectangle 19"/>
          <p:cNvSpPr/>
          <p:nvPr/>
        </p:nvSpPr>
        <p:spPr>
          <a:xfrm>
            <a:off x="6446520" y="1783080"/>
            <a:ext cx="5029200" cy="2901403"/>
          </a:xfrm>
          <a:prstGeom prst="rect">
            <a:avLst/>
          </a:prstGeom>
          <a:solidFill>
            <a:srgbClr val="F5F8FC"/>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21" name="Picture 20" descr="lab-11-multiaz-alb-autoscaling.jpg"/>
          <p:cNvPicPr>
            <a:picLocks noChangeAspect="1"/>
          </p:cNvPicPr>
          <p:nvPr/>
        </p:nvPicPr>
        <p:blipFill>
          <a:blip r:embed="rId2"/>
          <a:stretch>
            <a:fillRect/>
          </a:stretch>
        </p:blipFill>
        <p:spPr>
          <a:xfrm>
            <a:off x="6492240" y="1828800"/>
            <a:ext cx="4937760" cy="2809963"/>
          </a:xfrm>
          <a:prstGeom prst="rect">
            <a:avLst/>
          </a:prstGeom>
        </p:spPr>
      </p:pic>
      <p:sp>
        <p:nvSpPr>
          <p:cNvPr id="22" name="TextBox 21"/>
          <p:cNvSpPr txBox="1"/>
          <p:nvPr/>
        </p:nvSpPr>
        <p:spPr>
          <a:xfrm>
            <a:off x="6492240" y="4730203"/>
            <a:ext cx="4937760" cy="365760"/>
          </a:xfrm>
          <a:prstGeom prst="rect">
            <a:avLst/>
          </a:prstGeom>
          <a:noFill/>
        </p:spPr>
        <p:txBody>
          <a:bodyPr wrap="square" anchor="t">
            <a:spAutoFit/>
          </a:bodyPr>
          <a:lstStyle/>
          <a:p>
            <a:pPr algn="ctr">
              <a:spcAft>
                <a:spcPts val="400"/>
              </a:spcAft>
            </a:pPr>
            <a:r>
              <a:rPr sz="1100" b="1">
                <a:solidFill>
                  <a:srgbClr val="5B6372"/>
                </a:solidFill>
                <a:latin typeface="Arial"/>
              </a:rPr>
              <a:t>Reference architecture</a:t>
            </a:r>
          </a:p>
        </p:txBody>
      </p:sp>
      <p:sp>
        <p:nvSpPr>
          <p:cNvPr id="23" name="TextBox 22"/>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DevOps Engineering on AWS  ·  TGS-2023040474</a:t>
            </a:r>
          </a:p>
        </p:txBody>
      </p:sp>
      <p:sp>
        <p:nvSpPr>
          <p:cNvPr id="24" name="TextBox 23"/>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25" name="TextBox 24"/>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125</a:t>
            </a:r>
          </a:p>
        </p:txBody>
      </p:sp>
    </p:spTree>
  </p:cSld>
  <p:clrMapOvr>
    <a:masterClrMapping/>
  </p:clrMapOvr>
  <p:transition xmlns:p14="http://schemas.microsoft.com/office/powerpoint/2010/main" p14:dur="380">
    <p:fade/>
  </p:transition>
</p:sld>
</file>

<file path=ppt/slides/slide12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38912"/>
            <a:ext cx="10607040" cy="365760"/>
          </a:xfrm>
          <a:prstGeom prst="rect">
            <a:avLst/>
          </a:prstGeom>
          <a:noFill/>
        </p:spPr>
        <p:txBody>
          <a:bodyPr wrap="square" anchor="t">
            <a:spAutoFit/>
          </a:bodyPr>
          <a:lstStyle/>
          <a:p>
            <a:pPr algn="l">
              <a:spcAft>
                <a:spcPts val="400"/>
              </a:spcAft>
            </a:pPr>
            <a:r>
              <a:rPr sz="1400" b="1">
                <a:solidFill>
                  <a:srgbClr val="10B981"/>
                </a:solidFill>
                <a:latin typeface="Arial"/>
              </a:rPr>
              <a:t>LAB 12 · DAY 3 · LO3 · HANDS-ON</a:t>
            </a:r>
          </a:p>
        </p:txBody>
      </p:sp>
      <p:sp>
        <p:nvSpPr>
          <p:cNvPr id="5" name="TextBox 4"/>
          <p:cNvSpPr txBox="1"/>
          <p:nvPr/>
        </p:nvSpPr>
        <p:spPr>
          <a:xfrm>
            <a:off x="777240" y="896112"/>
            <a:ext cx="10927080" cy="731520"/>
          </a:xfrm>
          <a:prstGeom prst="rect">
            <a:avLst/>
          </a:prstGeom>
          <a:noFill/>
        </p:spPr>
        <p:txBody>
          <a:bodyPr wrap="square" anchor="t">
            <a:spAutoFit/>
          </a:bodyPr>
          <a:lstStyle/>
          <a:p>
            <a:pPr algn="l">
              <a:spcAft>
                <a:spcPts val="400"/>
              </a:spcAft>
            </a:pPr>
            <a:r>
              <a:rPr sz="2100" b="1">
                <a:solidFill>
                  <a:srgbClr val="161B26"/>
                </a:solidFill>
                <a:latin typeface="Arial"/>
              </a:rPr>
              <a:t>Attach Target-Tracking Auto Scaling and Validate Scale-Out Under Load</a:t>
            </a:r>
          </a:p>
        </p:txBody>
      </p:sp>
      <p:sp>
        <p:nvSpPr>
          <p:cNvPr id="6" name="Rectangle 5"/>
          <p:cNvSpPr/>
          <p:nvPr/>
        </p:nvSpPr>
        <p:spPr>
          <a:xfrm>
            <a:off x="777240" y="1572768"/>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737360"/>
            <a:ext cx="1737360" cy="45720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77240" y="1783080"/>
            <a:ext cx="1737360" cy="365760"/>
          </a:xfrm>
          <a:prstGeom prst="rect">
            <a:avLst/>
          </a:prstGeom>
          <a:noFill/>
        </p:spPr>
        <p:txBody>
          <a:bodyPr wrap="square" anchor="t">
            <a:spAutoFit/>
          </a:bodyPr>
          <a:lstStyle/>
          <a:p>
            <a:pPr algn="ctr">
              <a:spcAft>
                <a:spcPts val="400"/>
              </a:spcAft>
            </a:pPr>
            <a:r>
              <a:rPr sz="1600" b="1">
                <a:solidFill>
                  <a:srgbClr val="FFFFFF"/>
                </a:solidFill>
                <a:latin typeface="Arial"/>
              </a:rPr>
              <a:t>LAB 12</a:t>
            </a:r>
          </a:p>
        </p:txBody>
      </p:sp>
      <p:sp>
        <p:nvSpPr>
          <p:cNvPr id="9" name="TextBox 8"/>
          <p:cNvSpPr txBox="1"/>
          <p:nvPr/>
        </p:nvSpPr>
        <p:spPr>
          <a:xfrm>
            <a:off x="2697480" y="1783080"/>
            <a:ext cx="3566160" cy="365760"/>
          </a:xfrm>
          <a:prstGeom prst="rect">
            <a:avLst/>
          </a:prstGeom>
          <a:noFill/>
        </p:spPr>
        <p:txBody>
          <a:bodyPr wrap="square" anchor="t">
            <a:spAutoFit/>
          </a:bodyPr>
          <a:lstStyle/>
          <a:p>
            <a:pPr algn="l">
              <a:spcAft>
                <a:spcPts val="400"/>
              </a:spcAft>
            </a:pPr>
            <a:r>
              <a:rPr sz="1200" b="1">
                <a:solidFill>
                  <a:srgbClr val="5B6372"/>
                </a:solidFill>
                <a:latin typeface="Arial"/>
              </a:rPr>
              <a:t>Day 3 · LO3 · K2, K4, A2</a:t>
            </a:r>
          </a:p>
        </p:txBody>
      </p:sp>
      <p:sp>
        <p:nvSpPr>
          <p:cNvPr id="10" name="TextBox 9"/>
          <p:cNvSpPr txBox="1"/>
          <p:nvPr/>
        </p:nvSpPr>
        <p:spPr>
          <a:xfrm>
            <a:off x="777240" y="2286000"/>
            <a:ext cx="5486400" cy="1215390"/>
          </a:xfrm>
          <a:prstGeom prst="rect">
            <a:avLst/>
          </a:prstGeom>
          <a:noFill/>
        </p:spPr>
        <p:txBody>
          <a:bodyPr wrap="square" anchor="t">
            <a:spAutoFit/>
          </a:bodyPr>
          <a:lstStyle/>
          <a:p>
            <a:pPr algn="l">
              <a:spcAft>
                <a:spcPts val="400"/>
              </a:spcAft>
            </a:pPr>
            <a:r>
              <a:rPr sz="1350" b="0">
                <a:solidFill>
                  <a:srgbClr val="161B26"/>
                </a:solidFill>
                <a:latin typeface="Arial"/>
              </a:rPr>
              <a:t>A static two-instance web tier survives an AZ failure but not a traffic spike. In this lab you attach a target-tracking scaling policy that keeps average CPU at 50% to the Auto Scaling group you built in Lab 11, generate CPU load on the instances, and watch CloudWatch alarms trip and the group scale out. When the …</a:t>
            </a:r>
          </a:p>
        </p:txBody>
      </p:sp>
      <p:sp>
        <p:nvSpPr>
          <p:cNvPr id="11" name="Rectangle 10"/>
          <p:cNvSpPr/>
          <p:nvPr/>
        </p:nvSpPr>
        <p:spPr>
          <a:xfrm>
            <a:off x="777240" y="3611118"/>
            <a:ext cx="5486400" cy="1328166"/>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ectangle 11"/>
          <p:cNvSpPr/>
          <p:nvPr/>
        </p:nvSpPr>
        <p:spPr>
          <a:xfrm>
            <a:off x="777240" y="3611118"/>
            <a:ext cx="91440" cy="1328166"/>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960120" y="3739134"/>
            <a:ext cx="5120640" cy="274320"/>
          </a:xfrm>
          <a:prstGeom prst="rect">
            <a:avLst/>
          </a:prstGeom>
          <a:noFill/>
        </p:spPr>
        <p:txBody>
          <a:bodyPr wrap="square" anchor="t">
            <a:spAutoFit/>
          </a:bodyPr>
          <a:lstStyle/>
          <a:p>
            <a:pPr algn="l">
              <a:spcAft>
                <a:spcPts val="400"/>
              </a:spcAft>
            </a:pPr>
            <a:r>
              <a:rPr sz="1200" b="1">
                <a:solidFill>
                  <a:srgbClr val="10B981"/>
                </a:solidFill>
                <a:latin typeface="Arial"/>
              </a:rPr>
              <a:t>YOU'LL BUILD</a:t>
            </a:r>
          </a:p>
        </p:txBody>
      </p:sp>
      <p:sp>
        <p:nvSpPr>
          <p:cNvPr id="14" name="TextBox 13"/>
          <p:cNvSpPr txBox="1"/>
          <p:nvPr/>
        </p:nvSpPr>
        <p:spPr>
          <a:xfrm>
            <a:off x="960120" y="4013454"/>
            <a:ext cx="5166360" cy="569595"/>
          </a:xfrm>
          <a:prstGeom prst="rect">
            <a:avLst/>
          </a:prstGeom>
          <a:noFill/>
        </p:spPr>
        <p:txBody>
          <a:bodyPr wrap="square" anchor="t">
            <a:spAutoFit/>
          </a:bodyPr>
          <a:lstStyle/>
          <a:p>
            <a:pPr algn="l">
              <a:spcAft>
                <a:spcPts val="400"/>
              </a:spcAft>
            </a:pPr>
            <a:r>
              <a:rPr sz="1150" b="1">
                <a:solidFill>
                  <a:srgbClr val="161B26"/>
                </a:solidFill>
                <a:latin typeface="Arial"/>
              </a:rPr>
              <a:t>A target-tracking scaling policy (50% average CPU) on devops-ha-asg with its two auto-created CloudWatch alarms, plus a repeatable load test that drives observable scale-out and scale-in.</a:t>
            </a:r>
          </a:p>
        </p:txBody>
      </p:sp>
      <p:sp>
        <p:nvSpPr>
          <p:cNvPr id="15" name="TextBox 14"/>
          <p:cNvSpPr txBox="1"/>
          <p:nvPr/>
        </p:nvSpPr>
        <p:spPr>
          <a:xfrm>
            <a:off x="960120" y="4637913"/>
            <a:ext cx="5166360" cy="173355"/>
          </a:xfrm>
          <a:prstGeom prst="rect">
            <a:avLst/>
          </a:prstGeom>
          <a:noFill/>
        </p:spPr>
        <p:txBody>
          <a:bodyPr wrap="square" anchor="t">
            <a:spAutoFit/>
          </a:bodyPr>
          <a:lstStyle/>
          <a:p>
            <a:pPr algn="l">
              <a:spcAft>
                <a:spcPts val="400"/>
              </a:spcAft>
            </a:pPr>
            <a:r>
              <a:rPr sz="1050" b="0">
                <a:solidFill>
                  <a:srgbClr val="5B6372"/>
                </a:solidFill>
                <a:latin typeface="Arial"/>
              </a:rPr>
              <a:t>Tools:  AWS Auto Scaling, Amazon CloudWatch, Amazon EC2</a:t>
            </a:r>
          </a:p>
        </p:txBody>
      </p:sp>
      <p:sp>
        <p:nvSpPr>
          <p:cNvPr id="16" name="Rectangle 15"/>
          <p:cNvSpPr/>
          <p:nvPr/>
        </p:nvSpPr>
        <p:spPr>
          <a:xfrm>
            <a:off x="777240" y="5049012"/>
            <a:ext cx="5486400" cy="1278636"/>
          </a:xfrm>
          <a:prstGeom prst="rect">
            <a:avLst/>
          </a:prstGeom>
          <a:solidFill>
            <a:srgbClr val="FFFFFF"/>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ectangle 16"/>
          <p:cNvSpPr/>
          <p:nvPr/>
        </p:nvSpPr>
        <p:spPr>
          <a:xfrm>
            <a:off x="777240" y="5049012"/>
            <a:ext cx="91440" cy="1278636"/>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960120" y="5177028"/>
            <a:ext cx="5120640" cy="274320"/>
          </a:xfrm>
          <a:prstGeom prst="rect">
            <a:avLst/>
          </a:prstGeom>
          <a:noFill/>
        </p:spPr>
        <p:txBody>
          <a:bodyPr wrap="square" anchor="t">
            <a:spAutoFit/>
          </a:bodyPr>
          <a:lstStyle/>
          <a:p>
            <a:pPr algn="l">
              <a:spcAft>
                <a:spcPts val="400"/>
              </a:spcAft>
            </a:pPr>
            <a:r>
              <a:rPr sz="1200" b="1">
                <a:solidFill>
                  <a:srgbClr val="10B981"/>
                </a:solidFill>
                <a:latin typeface="Arial"/>
              </a:rPr>
              <a:t>OUTCOME &amp; EVIDENCE</a:t>
            </a:r>
          </a:p>
        </p:txBody>
      </p:sp>
      <p:sp>
        <p:nvSpPr>
          <p:cNvPr id="19" name="TextBox 18"/>
          <p:cNvSpPr txBox="1"/>
          <p:nvPr/>
        </p:nvSpPr>
        <p:spPr>
          <a:xfrm>
            <a:off x="960120" y="5451348"/>
            <a:ext cx="5166360" cy="693420"/>
          </a:xfrm>
          <a:prstGeom prst="rect">
            <a:avLst/>
          </a:prstGeom>
          <a:noFill/>
        </p:spPr>
        <p:txBody>
          <a:bodyPr wrap="square" anchor="t">
            <a:spAutoFit/>
          </a:bodyPr>
          <a:lstStyle/>
          <a:p>
            <a:pPr algn="l">
              <a:spcAft>
                <a:spcPts val="300"/>
              </a:spcAft>
            </a:pPr>
            <a:r>
              <a:rPr sz="1050" b="0">
                <a:solidFill>
                  <a:srgbClr val="5B6372"/>
                </a:solidFill>
                <a:latin typeface="Arial"/>
              </a:rPr>
              <a:t>Outcome: Under generated CPU load the AlarmHigh trips, the group scales out above two instances, and when the load stops the AlarmLow trips and …</a:t>
            </a:r>
          </a:p>
          <a:p>
            <a:pPr algn="l">
              <a:spcAft>
                <a:spcPts val="300"/>
              </a:spcAft>
            </a:pPr>
            <a:r>
              <a:rPr sz="1050" b="0">
                <a:solidFill>
                  <a:srgbClr val="5B6372"/>
                </a:solidFill>
                <a:latin typeface="Arial"/>
              </a:rPr>
              <a:t>Evidence:  describe-policies output showing cpu-target-tracking-50 attached with TargetValue 50.0.</a:t>
            </a:r>
          </a:p>
        </p:txBody>
      </p:sp>
      <p:sp>
        <p:nvSpPr>
          <p:cNvPr id="20" name="Rectangle 19"/>
          <p:cNvSpPr/>
          <p:nvPr/>
        </p:nvSpPr>
        <p:spPr>
          <a:xfrm>
            <a:off x="6446520" y="1783080"/>
            <a:ext cx="5029200" cy="2901403"/>
          </a:xfrm>
          <a:prstGeom prst="rect">
            <a:avLst/>
          </a:prstGeom>
          <a:solidFill>
            <a:srgbClr val="F5F8FC"/>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21" name="Picture 20" descr="lab-12-target-tracking-load-validation.jpg"/>
          <p:cNvPicPr>
            <a:picLocks noChangeAspect="1"/>
          </p:cNvPicPr>
          <p:nvPr/>
        </p:nvPicPr>
        <p:blipFill>
          <a:blip r:embed="rId2"/>
          <a:stretch>
            <a:fillRect/>
          </a:stretch>
        </p:blipFill>
        <p:spPr>
          <a:xfrm>
            <a:off x="6492240" y="1828800"/>
            <a:ext cx="4937760" cy="2809963"/>
          </a:xfrm>
          <a:prstGeom prst="rect">
            <a:avLst/>
          </a:prstGeom>
        </p:spPr>
      </p:pic>
      <p:sp>
        <p:nvSpPr>
          <p:cNvPr id="22" name="TextBox 21"/>
          <p:cNvSpPr txBox="1"/>
          <p:nvPr/>
        </p:nvSpPr>
        <p:spPr>
          <a:xfrm>
            <a:off x="6492240" y="4730203"/>
            <a:ext cx="4937760" cy="365760"/>
          </a:xfrm>
          <a:prstGeom prst="rect">
            <a:avLst/>
          </a:prstGeom>
          <a:noFill/>
        </p:spPr>
        <p:txBody>
          <a:bodyPr wrap="square" anchor="t">
            <a:spAutoFit/>
          </a:bodyPr>
          <a:lstStyle/>
          <a:p>
            <a:pPr algn="ctr">
              <a:spcAft>
                <a:spcPts val="400"/>
              </a:spcAft>
            </a:pPr>
            <a:r>
              <a:rPr sz="1100" b="1">
                <a:solidFill>
                  <a:srgbClr val="5B6372"/>
                </a:solidFill>
                <a:latin typeface="Arial"/>
              </a:rPr>
              <a:t>Reference architecture</a:t>
            </a:r>
          </a:p>
        </p:txBody>
      </p:sp>
      <p:sp>
        <p:nvSpPr>
          <p:cNvPr id="23" name="TextBox 22"/>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DevOps Engineering on AWS  ·  TGS-2023040474</a:t>
            </a:r>
          </a:p>
        </p:txBody>
      </p:sp>
      <p:sp>
        <p:nvSpPr>
          <p:cNvPr id="24" name="TextBox 23"/>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25" name="TextBox 24"/>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126</a:t>
            </a:r>
          </a:p>
        </p:txBody>
      </p:sp>
    </p:spTree>
  </p:cSld>
  <p:clrMapOvr>
    <a:masterClrMapping/>
  </p:clrMapOvr>
  <p:transition xmlns:p14="http://schemas.microsoft.com/office/powerpoint/2010/main" p14:dur="380">
    <p:fade/>
  </p:transition>
</p:sld>
</file>

<file path=ppt/slides/slide12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38912"/>
            <a:ext cx="10607040" cy="365760"/>
          </a:xfrm>
          <a:prstGeom prst="rect">
            <a:avLst/>
          </a:prstGeom>
          <a:noFill/>
        </p:spPr>
        <p:txBody>
          <a:bodyPr wrap="square" anchor="t">
            <a:spAutoFit/>
          </a:bodyPr>
          <a:lstStyle/>
          <a:p>
            <a:pPr algn="l">
              <a:spcAft>
                <a:spcPts val="400"/>
              </a:spcAft>
            </a:pPr>
            <a:r>
              <a:rPr sz="1400" b="1">
                <a:solidFill>
                  <a:srgbClr val="10B981"/>
                </a:solidFill>
                <a:latin typeface="Arial"/>
              </a:rPr>
              <a:t>LAB 13 · DAY 3 · LO3 · HANDS-ON</a:t>
            </a:r>
          </a:p>
        </p:txBody>
      </p:sp>
      <p:sp>
        <p:nvSpPr>
          <p:cNvPr id="5" name="TextBox 4"/>
          <p:cNvSpPr txBox="1"/>
          <p:nvPr/>
        </p:nvSpPr>
        <p:spPr>
          <a:xfrm>
            <a:off x="777240" y="896112"/>
            <a:ext cx="10927080" cy="731520"/>
          </a:xfrm>
          <a:prstGeom prst="rect">
            <a:avLst/>
          </a:prstGeom>
          <a:noFill/>
        </p:spPr>
        <p:txBody>
          <a:bodyPr wrap="square" anchor="t">
            <a:spAutoFit/>
          </a:bodyPr>
          <a:lstStyle/>
          <a:p>
            <a:pPr algn="l">
              <a:spcAft>
                <a:spcPts val="400"/>
              </a:spcAft>
            </a:pPr>
            <a:r>
              <a:rPr sz="2100" b="1">
                <a:solidFill>
                  <a:srgbClr val="161B26"/>
                </a:solidFill>
                <a:latin typeface="Arial"/>
              </a:rPr>
              <a:t>Select a DR Strategy by RTO/RPO and Implement a Pilot-Light Skeleton</a:t>
            </a:r>
          </a:p>
        </p:txBody>
      </p:sp>
      <p:sp>
        <p:nvSpPr>
          <p:cNvPr id="6" name="Rectangle 5"/>
          <p:cNvSpPr/>
          <p:nvPr/>
        </p:nvSpPr>
        <p:spPr>
          <a:xfrm>
            <a:off x="777240" y="1572768"/>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737360"/>
            <a:ext cx="1737360" cy="45720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77240" y="1783080"/>
            <a:ext cx="1737360" cy="365760"/>
          </a:xfrm>
          <a:prstGeom prst="rect">
            <a:avLst/>
          </a:prstGeom>
          <a:noFill/>
        </p:spPr>
        <p:txBody>
          <a:bodyPr wrap="square" anchor="t">
            <a:spAutoFit/>
          </a:bodyPr>
          <a:lstStyle/>
          <a:p>
            <a:pPr algn="ctr">
              <a:spcAft>
                <a:spcPts val="400"/>
              </a:spcAft>
            </a:pPr>
            <a:r>
              <a:rPr sz="1600" b="1">
                <a:solidFill>
                  <a:srgbClr val="FFFFFF"/>
                </a:solidFill>
                <a:latin typeface="Arial"/>
              </a:rPr>
              <a:t>LAB 13</a:t>
            </a:r>
          </a:p>
        </p:txBody>
      </p:sp>
      <p:sp>
        <p:nvSpPr>
          <p:cNvPr id="9" name="TextBox 8"/>
          <p:cNvSpPr txBox="1"/>
          <p:nvPr/>
        </p:nvSpPr>
        <p:spPr>
          <a:xfrm>
            <a:off x="2697480" y="1783080"/>
            <a:ext cx="3566160" cy="365760"/>
          </a:xfrm>
          <a:prstGeom prst="rect">
            <a:avLst/>
          </a:prstGeom>
          <a:noFill/>
        </p:spPr>
        <p:txBody>
          <a:bodyPr wrap="square" anchor="t">
            <a:spAutoFit/>
          </a:bodyPr>
          <a:lstStyle/>
          <a:p>
            <a:pPr algn="l">
              <a:spcAft>
                <a:spcPts val="400"/>
              </a:spcAft>
            </a:pPr>
            <a:r>
              <a:rPr sz="1200" b="1">
                <a:solidFill>
                  <a:srgbClr val="5B6372"/>
                </a:solidFill>
                <a:latin typeface="Arial"/>
              </a:rPr>
              <a:t>Day 3 · LO3 · K2, K4, A2</a:t>
            </a:r>
          </a:p>
        </p:txBody>
      </p:sp>
      <p:sp>
        <p:nvSpPr>
          <p:cNvPr id="10" name="TextBox 9"/>
          <p:cNvSpPr txBox="1"/>
          <p:nvPr/>
        </p:nvSpPr>
        <p:spPr>
          <a:xfrm>
            <a:off x="777240" y="2286000"/>
            <a:ext cx="5486400" cy="885190"/>
          </a:xfrm>
          <a:prstGeom prst="rect">
            <a:avLst/>
          </a:prstGeom>
          <a:noFill/>
        </p:spPr>
        <p:txBody>
          <a:bodyPr wrap="square" anchor="t">
            <a:spAutoFit/>
          </a:bodyPr>
          <a:lstStyle/>
          <a:p>
            <a:pPr algn="l">
              <a:spcAft>
                <a:spcPts val="400"/>
              </a:spcAft>
            </a:pPr>
            <a:r>
              <a:rPr sz="1350" b="0">
                <a:solidFill>
                  <a:srgbClr val="161B26"/>
                </a:solidFill>
                <a:latin typeface="Arial"/>
              </a:rPr>
              <a:t>Not every workload needs active-active — and not every business can accept a day-long restore. In this lab you complete an RTO/RPO worksheet, compare the four AWS DR …</a:t>
            </a:r>
          </a:p>
        </p:txBody>
      </p:sp>
      <p:sp>
        <p:nvSpPr>
          <p:cNvPr id="11" name="Rectangle 10"/>
          <p:cNvSpPr/>
          <p:nvPr/>
        </p:nvSpPr>
        <p:spPr>
          <a:xfrm>
            <a:off x="777240" y="3280918"/>
            <a:ext cx="5486400" cy="1658366"/>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ectangle 11"/>
          <p:cNvSpPr/>
          <p:nvPr/>
        </p:nvSpPr>
        <p:spPr>
          <a:xfrm>
            <a:off x="777240" y="3280918"/>
            <a:ext cx="91440" cy="1658366"/>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960120" y="3408934"/>
            <a:ext cx="5120640" cy="274320"/>
          </a:xfrm>
          <a:prstGeom prst="rect">
            <a:avLst/>
          </a:prstGeom>
          <a:noFill/>
        </p:spPr>
        <p:txBody>
          <a:bodyPr wrap="square" anchor="t">
            <a:spAutoFit/>
          </a:bodyPr>
          <a:lstStyle/>
          <a:p>
            <a:pPr algn="l">
              <a:spcAft>
                <a:spcPts val="400"/>
              </a:spcAft>
            </a:pPr>
            <a:r>
              <a:rPr sz="1200" b="1">
                <a:solidFill>
                  <a:srgbClr val="10B981"/>
                </a:solidFill>
                <a:latin typeface="Arial"/>
              </a:rPr>
              <a:t>YOU'LL BUILD</a:t>
            </a:r>
          </a:p>
        </p:txBody>
      </p:sp>
      <p:sp>
        <p:nvSpPr>
          <p:cNvPr id="14" name="TextBox 13"/>
          <p:cNvSpPr txBox="1"/>
          <p:nvPr/>
        </p:nvSpPr>
        <p:spPr>
          <a:xfrm>
            <a:off x="960120" y="3683254"/>
            <a:ext cx="5166360" cy="726440"/>
          </a:xfrm>
          <a:prstGeom prst="rect">
            <a:avLst/>
          </a:prstGeom>
          <a:noFill/>
        </p:spPr>
        <p:txBody>
          <a:bodyPr wrap="square" anchor="t">
            <a:spAutoFit/>
          </a:bodyPr>
          <a:lstStyle/>
          <a:p>
            <a:pPr algn="l">
              <a:spcAft>
                <a:spcPts val="400"/>
              </a:spcAft>
            </a:pPr>
            <a:r>
              <a:rPr sz="1100" b="1">
                <a:solidFill>
                  <a:srgbClr val="161B26"/>
                </a:solidFill>
                <a:latin typeface="Arial"/>
              </a:rPr>
              <a:t>A completed DR selection worksheet plus a deployed pilot-light skeleton in a second Region (minimal VPC, a scaled-to-zero app tier and an S3 cross-Region replication path) fronted by a Route 53 failover record set.</a:t>
            </a:r>
          </a:p>
        </p:txBody>
      </p:sp>
      <p:sp>
        <p:nvSpPr>
          <p:cNvPr id="15" name="TextBox 14"/>
          <p:cNvSpPr txBox="1"/>
          <p:nvPr/>
        </p:nvSpPr>
        <p:spPr>
          <a:xfrm>
            <a:off x="960120" y="4464558"/>
            <a:ext cx="5166360" cy="346710"/>
          </a:xfrm>
          <a:prstGeom prst="rect">
            <a:avLst/>
          </a:prstGeom>
          <a:noFill/>
        </p:spPr>
        <p:txBody>
          <a:bodyPr wrap="square" anchor="t">
            <a:spAutoFit/>
          </a:bodyPr>
          <a:lstStyle/>
          <a:p>
            <a:pPr algn="l">
              <a:spcAft>
                <a:spcPts val="400"/>
              </a:spcAft>
            </a:pPr>
            <a:r>
              <a:rPr sz="1050" b="0">
                <a:solidFill>
                  <a:srgbClr val="5B6372"/>
                </a:solidFill>
                <a:latin typeface="Arial"/>
              </a:rPr>
              <a:t>Tools:  Amazon Route 53, Amazon RDS, AWS CloudFormation, Amazon S3 (Cross-Region Replication)</a:t>
            </a:r>
          </a:p>
        </p:txBody>
      </p:sp>
      <p:sp>
        <p:nvSpPr>
          <p:cNvPr id="16" name="Rectangle 15"/>
          <p:cNvSpPr/>
          <p:nvPr/>
        </p:nvSpPr>
        <p:spPr>
          <a:xfrm>
            <a:off x="777240" y="5049012"/>
            <a:ext cx="5486400" cy="1278636"/>
          </a:xfrm>
          <a:prstGeom prst="rect">
            <a:avLst/>
          </a:prstGeom>
          <a:solidFill>
            <a:srgbClr val="FFFFFF"/>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ectangle 16"/>
          <p:cNvSpPr/>
          <p:nvPr/>
        </p:nvSpPr>
        <p:spPr>
          <a:xfrm>
            <a:off x="777240" y="5049012"/>
            <a:ext cx="91440" cy="1278636"/>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960120" y="5177028"/>
            <a:ext cx="5120640" cy="274320"/>
          </a:xfrm>
          <a:prstGeom prst="rect">
            <a:avLst/>
          </a:prstGeom>
          <a:noFill/>
        </p:spPr>
        <p:txBody>
          <a:bodyPr wrap="square" anchor="t">
            <a:spAutoFit/>
          </a:bodyPr>
          <a:lstStyle/>
          <a:p>
            <a:pPr algn="l">
              <a:spcAft>
                <a:spcPts val="400"/>
              </a:spcAft>
            </a:pPr>
            <a:r>
              <a:rPr sz="1200" b="1">
                <a:solidFill>
                  <a:srgbClr val="10B981"/>
                </a:solidFill>
                <a:latin typeface="Arial"/>
              </a:rPr>
              <a:t>OUTCOME &amp; EVIDENCE</a:t>
            </a:r>
          </a:p>
        </p:txBody>
      </p:sp>
      <p:sp>
        <p:nvSpPr>
          <p:cNvPr id="19" name="TextBox 18"/>
          <p:cNvSpPr txBox="1"/>
          <p:nvPr/>
        </p:nvSpPr>
        <p:spPr>
          <a:xfrm>
            <a:off x="960120" y="5451348"/>
            <a:ext cx="5166360" cy="693420"/>
          </a:xfrm>
          <a:prstGeom prst="rect">
            <a:avLst/>
          </a:prstGeom>
          <a:noFill/>
        </p:spPr>
        <p:txBody>
          <a:bodyPr wrap="square" anchor="t">
            <a:spAutoFit/>
          </a:bodyPr>
          <a:lstStyle/>
          <a:p>
            <a:pPr algn="l">
              <a:spcAft>
                <a:spcPts val="300"/>
              </a:spcAft>
            </a:pPr>
            <a:r>
              <a:rPr sz="1050" b="0">
                <a:solidFill>
                  <a:srgbClr val="5B6372"/>
                </a:solidFill>
                <a:latin typeface="Arial"/>
              </a:rPr>
              <a:t>Outcome: A test object uploaded to the primary bucket appears in the DR Region bucket (data is warm), and the DR Auto Scaling group can be …</a:t>
            </a:r>
          </a:p>
          <a:p>
            <a:pPr algn="l">
              <a:spcAft>
                <a:spcPts val="300"/>
              </a:spcAft>
            </a:pPr>
            <a:r>
              <a:rPr sz="1050" b="0">
                <a:solidFill>
                  <a:srgbClr val="5B6372"/>
                </a:solidFill>
                <a:latin typeface="Arial"/>
              </a:rPr>
              <a:t>Evidence:  The completed dr-plan.md worksheet showing the workload RTO/RPO and the justified strategy choice.</a:t>
            </a:r>
          </a:p>
        </p:txBody>
      </p:sp>
      <p:sp>
        <p:nvSpPr>
          <p:cNvPr id="20" name="Rectangle 19"/>
          <p:cNvSpPr/>
          <p:nvPr/>
        </p:nvSpPr>
        <p:spPr>
          <a:xfrm>
            <a:off x="6446520" y="1783080"/>
            <a:ext cx="5029200" cy="2901403"/>
          </a:xfrm>
          <a:prstGeom prst="rect">
            <a:avLst/>
          </a:prstGeom>
          <a:solidFill>
            <a:srgbClr val="F5F8FC"/>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21" name="Picture 20" descr="lab-13-rto-rpo-dr-selection.jpg"/>
          <p:cNvPicPr>
            <a:picLocks noChangeAspect="1"/>
          </p:cNvPicPr>
          <p:nvPr/>
        </p:nvPicPr>
        <p:blipFill>
          <a:blip r:embed="rId2"/>
          <a:stretch>
            <a:fillRect/>
          </a:stretch>
        </p:blipFill>
        <p:spPr>
          <a:xfrm>
            <a:off x="6492240" y="1828800"/>
            <a:ext cx="4937760" cy="2809963"/>
          </a:xfrm>
          <a:prstGeom prst="rect">
            <a:avLst/>
          </a:prstGeom>
        </p:spPr>
      </p:pic>
      <p:sp>
        <p:nvSpPr>
          <p:cNvPr id="22" name="TextBox 21"/>
          <p:cNvSpPr txBox="1"/>
          <p:nvPr/>
        </p:nvSpPr>
        <p:spPr>
          <a:xfrm>
            <a:off x="6492240" y="4730203"/>
            <a:ext cx="4937760" cy="365760"/>
          </a:xfrm>
          <a:prstGeom prst="rect">
            <a:avLst/>
          </a:prstGeom>
          <a:noFill/>
        </p:spPr>
        <p:txBody>
          <a:bodyPr wrap="square" anchor="t">
            <a:spAutoFit/>
          </a:bodyPr>
          <a:lstStyle/>
          <a:p>
            <a:pPr algn="ctr">
              <a:spcAft>
                <a:spcPts val="400"/>
              </a:spcAft>
            </a:pPr>
            <a:r>
              <a:rPr sz="1100" b="1">
                <a:solidFill>
                  <a:srgbClr val="5B6372"/>
                </a:solidFill>
                <a:latin typeface="Arial"/>
              </a:rPr>
              <a:t>Reference architecture</a:t>
            </a:r>
          </a:p>
        </p:txBody>
      </p:sp>
      <p:sp>
        <p:nvSpPr>
          <p:cNvPr id="23" name="TextBox 22"/>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DevOps Engineering on AWS  ·  TGS-2023040474</a:t>
            </a:r>
          </a:p>
        </p:txBody>
      </p:sp>
      <p:sp>
        <p:nvSpPr>
          <p:cNvPr id="24" name="TextBox 23"/>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25" name="TextBox 24"/>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127</a:t>
            </a:r>
          </a:p>
        </p:txBody>
      </p:sp>
    </p:spTree>
  </p:cSld>
  <p:clrMapOvr>
    <a:masterClrMapping/>
  </p:clrMapOvr>
  <p:transition xmlns:p14="http://schemas.microsoft.com/office/powerpoint/2010/main" p14:dur="380">
    <p:fade/>
  </p:transition>
</p:sld>
</file>

<file path=ppt/slides/slide12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38912"/>
            <a:ext cx="10607040" cy="365760"/>
          </a:xfrm>
          <a:prstGeom prst="rect">
            <a:avLst/>
          </a:prstGeom>
          <a:noFill/>
        </p:spPr>
        <p:txBody>
          <a:bodyPr wrap="square" anchor="t">
            <a:spAutoFit/>
          </a:bodyPr>
          <a:lstStyle/>
          <a:p>
            <a:pPr algn="l">
              <a:spcAft>
                <a:spcPts val="400"/>
              </a:spcAft>
            </a:pPr>
            <a:r>
              <a:rPr sz="1400" b="1">
                <a:solidFill>
                  <a:srgbClr val="10B981"/>
                </a:solidFill>
                <a:latin typeface="Arial"/>
              </a:rPr>
              <a:t>LAB 14 · DAY 3 · LO3 · HANDS-ON</a:t>
            </a:r>
          </a:p>
        </p:txBody>
      </p:sp>
      <p:sp>
        <p:nvSpPr>
          <p:cNvPr id="5" name="TextBox 4"/>
          <p:cNvSpPr txBox="1"/>
          <p:nvPr/>
        </p:nvSpPr>
        <p:spPr>
          <a:xfrm>
            <a:off x="777240" y="896112"/>
            <a:ext cx="10927080" cy="731520"/>
          </a:xfrm>
          <a:prstGeom prst="rect">
            <a:avLst/>
          </a:prstGeom>
          <a:noFill/>
        </p:spPr>
        <p:txBody>
          <a:bodyPr wrap="square" anchor="t">
            <a:spAutoFit/>
          </a:bodyPr>
          <a:lstStyle/>
          <a:p>
            <a:pPr algn="l">
              <a:spcAft>
                <a:spcPts val="400"/>
              </a:spcAft>
            </a:pPr>
            <a:r>
              <a:rPr sz="2100" b="1">
                <a:solidFill>
                  <a:srgbClr val="161B26"/>
                </a:solidFill>
                <a:latin typeface="Arial"/>
              </a:rPr>
              <a:t>Automate Backup, Restore and Data Protection with AWS Backup</a:t>
            </a:r>
          </a:p>
        </p:txBody>
      </p:sp>
      <p:sp>
        <p:nvSpPr>
          <p:cNvPr id="6" name="Rectangle 5"/>
          <p:cNvSpPr/>
          <p:nvPr/>
        </p:nvSpPr>
        <p:spPr>
          <a:xfrm>
            <a:off x="777240" y="1572768"/>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737360"/>
            <a:ext cx="1737360" cy="45720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77240" y="1783080"/>
            <a:ext cx="1737360" cy="365760"/>
          </a:xfrm>
          <a:prstGeom prst="rect">
            <a:avLst/>
          </a:prstGeom>
          <a:noFill/>
        </p:spPr>
        <p:txBody>
          <a:bodyPr wrap="square" anchor="t">
            <a:spAutoFit/>
          </a:bodyPr>
          <a:lstStyle/>
          <a:p>
            <a:pPr algn="ctr">
              <a:spcAft>
                <a:spcPts val="400"/>
              </a:spcAft>
            </a:pPr>
            <a:r>
              <a:rPr sz="1600" b="1">
                <a:solidFill>
                  <a:srgbClr val="FFFFFF"/>
                </a:solidFill>
                <a:latin typeface="Arial"/>
              </a:rPr>
              <a:t>LAB 14</a:t>
            </a:r>
          </a:p>
        </p:txBody>
      </p:sp>
      <p:sp>
        <p:nvSpPr>
          <p:cNvPr id="9" name="TextBox 8"/>
          <p:cNvSpPr txBox="1"/>
          <p:nvPr/>
        </p:nvSpPr>
        <p:spPr>
          <a:xfrm>
            <a:off x="2697480" y="1783080"/>
            <a:ext cx="3566160" cy="365760"/>
          </a:xfrm>
          <a:prstGeom prst="rect">
            <a:avLst/>
          </a:prstGeom>
          <a:noFill/>
        </p:spPr>
        <p:txBody>
          <a:bodyPr wrap="square" anchor="t">
            <a:spAutoFit/>
          </a:bodyPr>
          <a:lstStyle/>
          <a:p>
            <a:pPr algn="l">
              <a:spcAft>
                <a:spcPts val="400"/>
              </a:spcAft>
            </a:pPr>
            <a:r>
              <a:rPr sz="1200" b="1">
                <a:solidFill>
                  <a:srgbClr val="5B6372"/>
                </a:solidFill>
                <a:latin typeface="Arial"/>
              </a:rPr>
              <a:t>Day 3 · LO3 · K2, K4, A2</a:t>
            </a:r>
          </a:p>
        </p:txBody>
      </p:sp>
      <p:sp>
        <p:nvSpPr>
          <p:cNvPr id="10" name="TextBox 9"/>
          <p:cNvSpPr txBox="1"/>
          <p:nvPr/>
        </p:nvSpPr>
        <p:spPr>
          <a:xfrm>
            <a:off x="777240" y="2286000"/>
            <a:ext cx="5486400" cy="1215390"/>
          </a:xfrm>
          <a:prstGeom prst="rect">
            <a:avLst/>
          </a:prstGeom>
          <a:noFill/>
        </p:spPr>
        <p:txBody>
          <a:bodyPr wrap="square" anchor="t">
            <a:spAutoFit/>
          </a:bodyPr>
          <a:lstStyle/>
          <a:p>
            <a:pPr algn="l">
              <a:spcAft>
                <a:spcPts val="400"/>
              </a:spcAft>
            </a:pPr>
            <a:r>
              <a:rPr sz="1350" b="0">
                <a:solidFill>
                  <a:srgbClr val="161B26"/>
                </a:solidFill>
                <a:latin typeface="Arial"/>
              </a:rPr>
              <a:t>Resilience is not only about staying up — it is about getting your data back. In this lab you build a centralized AWS Backup plan with a scheduled rule and a tag-based resource selection so every tagged EBS volume and RDS database is backed up automatically. You then run an on-demand backup, restore …</a:t>
            </a:r>
          </a:p>
        </p:txBody>
      </p:sp>
      <p:sp>
        <p:nvSpPr>
          <p:cNvPr id="11" name="Rectangle 10"/>
          <p:cNvSpPr/>
          <p:nvPr/>
        </p:nvSpPr>
        <p:spPr>
          <a:xfrm>
            <a:off x="777240" y="3611118"/>
            <a:ext cx="5486400" cy="1328166"/>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ectangle 11"/>
          <p:cNvSpPr/>
          <p:nvPr/>
        </p:nvSpPr>
        <p:spPr>
          <a:xfrm>
            <a:off x="777240" y="3611118"/>
            <a:ext cx="91440" cy="1328166"/>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960120" y="3739134"/>
            <a:ext cx="5120640" cy="274320"/>
          </a:xfrm>
          <a:prstGeom prst="rect">
            <a:avLst/>
          </a:prstGeom>
          <a:noFill/>
        </p:spPr>
        <p:txBody>
          <a:bodyPr wrap="square" anchor="t">
            <a:spAutoFit/>
          </a:bodyPr>
          <a:lstStyle/>
          <a:p>
            <a:pPr algn="l">
              <a:spcAft>
                <a:spcPts val="400"/>
              </a:spcAft>
            </a:pPr>
            <a:r>
              <a:rPr sz="1200" b="1">
                <a:solidFill>
                  <a:srgbClr val="10B981"/>
                </a:solidFill>
                <a:latin typeface="Arial"/>
              </a:rPr>
              <a:t>YOU'LL BUILD</a:t>
            </a:r>
          </a:p>
        </p:txBody>
      </p:sp>
      <p:sp>
        <p:nvSpPr>
          <p:cNvPr id="14" name="TextBox 13"/>
          <p:cNvSpPr txBox="1"/>
          <p:nvPr/>
        </p:nvSpPr>
        <p:spPr>
          <a:xfrm>
            <a:off x="960120" y="4013454"/>
            <a:ext cx="5166360" cy="569595"/>
          </a:xfrm>
          <a:prstGeom prst="rect">
            <a:avLst/>
          </a:prstGeom>
          <a:noFill/>
        </p:spPr>
        <p:txBody>
          <a:bodyPr wrap="square" anchor="t">
            <a:spAutoFit/>
          </a:bodyPr>
          <a:lstStyle/>
          <a:p>
            <a:pPr algn="l">
              <a:spcAft>
                <a:spcPts val="400"/>
              </a:spcAft>
            </a:pPr>
            <a:r>
              <a:rPr sz="1150" b="1">
                <a:solidFill>
                  <a:srgbClr val="161B26"/>
                </a:solidFill>
                <a:latin typeface="Arial"/>
              </a:rPr>
              <a:t>An AWS Backup plan with a tag-based selection protecting EBS and RDS, a verified restore from a recovery point, plus S3 versioning + cross-Region replication and RDS automated snapshots enabled.</a:t>
            </a:r>
          </a:p>
        </p:txBody>
      </p:sp>
      <p:sp>
        <p:nvSpPr>
          <p:cNvPr id="15" name="TextBox 14"/>
          <p:cNvSpPr txBox="1"/>
          <p:nvPr/>
        </p:nvSpPr>
        <p:spPr>
          <a:xfrm>
            <a:off x="960120" y="4637913"/>
            <a:ext cx="5166360" cy="173355"/>
          </a:xfrm>
          <a:prstGeom prst="rect">
            <a:avLst/>
          </a:prstGeom>
          <a:noFill/>
        </p:spPr>
        <p:txBody>
          <a:bodyPr wrap="square" anchor="t">
            <a:spAutoFit/>
          </a:bodyPr>
          <a:lstStyle/>
          <a:p>
            <a:pPr algn="l">
              <a:spcAft>
                <a:spcPts val="400"/>
              </a:spcAft>
            </a:pPr>
            <a:r>
              <a:rPr sz="1050" b="0">
                <a:solidFill>
                  <a:srgbClr val="5B6372"/>
                </a:solidFill>
                <a:latin typeface="Arial"/>
              </a:rPr>
              <a:t>Tools:  AWS Backup, Amazon RDS, Amazon S3, Amazon EBS</a:t>
            </a:r>
          </a:p>
        </p:txBody>
      </p:sp>
      <p:sp>
        <p:nvSpPr>
          <p:cNvPr id="16" name="Rectangle 15"/>
          <p:cNvSpPr/>
          <p:nvPr/>
        </p:nvSpPr>
        <p:spPr>
          <a:xfrm>
            <a:off x="777240" y="5049012"/>
            <a:ext cx="5486400" cy="1278636"/>
          </a:xfrm>
          <a:prstGeom prst="rect">
            <a:avLst/>
          </a:prstGeom>
          <a:solidFill>
            <a:srgbClr val="FFFFFF"/>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ectangle 16"/>
          <p:cNvSpPr/>
          <p:nvPr/>
        </p:nvSpPr>
        <p:spPr>
          <a:xfrm>
            <a:off x="777240" y="5049012"/>
            <a:ext cx="91440" cy="1278636"/>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960120" y="5177028"/>
            <a:ext cx="5120640" cy="274320"/>
          </a:xfrm>
          <a:prstGeom prst="rect">
            <a:avLst/>
          </a:prstGeom>
          <a:noFill/>
        </p:spPr>
        <p:txBody>
          <a:bodyPr wrap="square" anchor="t">
            <a:spAutoFit/>
          </a:bodyPr>
          <a:lstStyle/>
          <a:p>
            <a:pPr algn="l">
              <a:spcAft>
                <a:spcPts val="400"/>
              </a:spcAft>
            </a:pPr>
            <a:r>
              <a:rPr sz="1200" b="1">
                <a:solidFill>
                  <a:srgbClr val="10B981"/>
                </a:solidFill>
                <a:latin typeface="Arial"/>
              </a:rPr>
              <a:t>OUTCOME &amp; EVIDENCE</a:t>
            </a:r>
          </a:p>
        </p:txBody>
      </p:sp>
      <p:sp>
        <p:nvSpPr>
          <p:cNvPr id="19" name="TextBox 18"/>
          <p:cNvSpPr txBox="1"/>
          <p:nvPr/>
        </p:nvSpPr>
        <p:spPr>
          <a:xfrm>
            <a:off x="960120" y="5451348"/>
            <a:ext cx="5166360" cy="693420"/>
          </a:xfrm>
          <a:prstGeom prst="rect">
            <a:avLst/>
          </a:prstGeom>
          <a:noFill/>
        </p:spPr>
        <p:txBody>
          <a:bodyPr wrap="square" anchor="t">
            <a:spAutoFit/>
          </a:bodyPr>
          <a:lstStyle/>
          <a:p>
            <a:pPr algn="l">
              <a:spcAft>
                <a:spcPts val="300"/>
              </a:spcAft>
            </a:pPr>
            <a:r>
              <a:rPr sz="1050" b="0">
                <a:solidFill>
                  <a:srgbClr val="5B6372"/>
                </a:solidFill>
                <a:latin typeface="Arial"/>
              </a:rPr>
              <a:t>Outcome: An on-demand backup produces a COMPLETED recovery point that restores cleanly into a new EBS volume, S3 retains multiple object …</a:t>
            </a:r>
          </a:p>
          <a:p>
            <a:pPr algn="l">
              <a:spcAft>
                <a:spcPts val="300"/>
              </a:spcAft>
            </a:pPr>
            <a:r>
              <a:rPr sz="1050" b="0">
                <a:solidFill>
                  <a:srgbClr val="5B6372"/>
                </a:solidFill>
                <a:latin typeface="Arial"/>
              </a:rPr>
              <a:t>Evidence:  get-backup-plan output showing devops-daily-plan with its daily rule and 35-day lifecycle.</a:t>
            </a:r>
          </a:p>
        </p:txBody>
      </p:sp>
      <p:sp>
        <p:nvSpPr>
          <p:cNvPr id="20" name="Rectangle 19"/>
          <p:cNvSpPr/>
          <p:nvPr/>
        </p:nvSpPr>
        <p:spPr>
          <a:xfrm>
            <a:off x="6446520" y="1783080"/>
            <a:ext cx="5029200" cy="2901403"/>
          </a:xfrm>
          <a:prstGeom prst="rect">
            <a:avLst/>
          </a:prstGeom>
          <a:solidFill>
            <a:srgbClr val="F5F8FC"/>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21" name="Picture 20" descr="lab-14-backup-restore-data-protection.jpg"/>
          <p:cNvPicPr>
            <a:picLocks noChangeAspect="1"/>
          </p:cNvPicPr>
          <p:nvPr/>
        </p:nvPicPr>
        <p:blipFill>
          <a:blip r:embed="rId2"/>
          <a:stretch>
            <a:fillRect/>
          </a:stretch>
        </p:blipFill>
        <p:spPr>
          <a:xfrm>
            <a:off x="6492240" y="1828800"/>
            <a:ext cx="4937760" cy="2809963"/>
          </a:xfrm>
          <a:prstGeom prst="rect">
            <a:avLst/>
          </a:prstGeom>
        </p:spPr>
      </p:pic>
      <p:sp>
        <p:nvSpPr>
          <p:cNvPr id="22" name="TextBox 21"/>
          <p:cNvSpPr txBox="1"/>
          <p:nvPr/>
        </p:nvSpPr>
        <p:spPr>
          <a:xfrm>
            <a:off x="6492240" y="4730203"/>
            <a:ext cx="4937760" cy="365760"/>
          </a:xfrm>
          <a:prstGeom prst="rect">
            <a:avLst/>
          </a:prstGeom>
          <a:noFill/>
        </p:spPr>
        <p:txBody>
          <a:bodyPr wrap="square" anchor="t">
            <a:spAutoFit/>
          </a:bodyPr>
          <a:lstStyle/>
          <a:p>
            <a:pPr algn="ctr">
              <a:spcAft>
                <a:spcPts val="400"/>
              </a:spcAft>
            </a:pPr>
            <a:r>
              <a:rPr sz="1100" b="1">
                <a:solidFill>
                  <a:srgbClr val="5B6372"/>
                </a:solidFill>
                <a:latin typeface="Arial"/>
              </a:rPr>
              <a:t>Reference architecture</a:t>
            </a:r>
          </a:p>
        </p:txBody>
      </p:sp>
      <p:sp>
        <p:nvSpPr>
          <p:cNvPr id="23" name="TextBox 22"/>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DevOps Engineering on AWS  ·  TGS-2023040474</a:t>
            </a:r>
          </a:p>
        </p:txBody>
      </p:sp>
      <p:sp>
        <p:nvSpPr>
          <p:cNvPr id="24" name="TextBox 23"/>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25" name="TextBox 24"/>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128</a:t>
            </a:r>
          </a:p>
        </p:txBody>
      </p:sp>
    </p:spTree>
  </p:cSld>
  <p:clrMapOvr>
    <a:masterClrMapping/>
  </p:clrMapOvr>
  <p:transition xmlns:p14="http://schemas.microsoft.com/office/powerpoint/2010/main" p14:dur="380">
    <p:fade/>
  </p:transition>
</p:sld>
</file>

<file path=ppt/slides/slide13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38912"/>
            <a:ext cx="10607040" cy="365760"/>
          </a:xfrm>
          <a:prstGeom prst="rect">
            <a:avLst/>
          </a:prstGeom>
          <a:noFill/>
        </p:spPr>
        <p:txBody>
          <a:bodyPr wrap="square" anchor="t">
            <a:spAutoFit/>
          </a:bodyPr>
          <a:lstStyle/>
          <a:p>
            <a:pPr algn="l">
              <a:spcAft>
                <a:spcPts val="400"/>
              </a:spcAft>
            </a:pPr>
            <a:r>
              <a:rPr sz="1400" b="1">
                <a:solidFill>
                  <a:srgbClr val="10B981"/>
                </a:solidFill>
                <a:latin typeface="Arial"/>
              </a:rPr>
              <a:t>LAB 15 · DAY 3 · LO3 · HANDS-ON</a:t>
            </a:r>
          </a:p>
        </p:txBody>
      </p:sp>
      <p:sp>
        <p:nvSpPr>
          <p:cNvPr id="5" name="TextBox 4"/>
          <p:cNvSpPr txBox="1"/>
          <p:nvPr/>
        </p:nvSpPr>
        <p:spPr>
          <a:xfrm>
            <a:off x="777240" y="896112"/>
            <a:ext cx="10927080" cy="731520"/>
          </a:xfrm>
          <a:prstGeom prst="rect">
            <a:avLst/>
          </a:prstGeom>
          <a:noFill/>
        </p:spPr>
        <p:txBody>
          <a:bodyPr wrap="square" anchor="t">
            <a:spAutoFit/>
          </a:bodyPr>
          <a:lstStyle/>
          <a:p>
            <a:pPr algn="l">
              <a:spcAft>
                <a:spcPts val="400"/>
              </a:spcAft>
            </a:pPr>
            <a:r>
              <a:rPr sz="2500" b="1">
                <a:solidFill>
                  <a:srgbClr val="161B26"/>
                </a:solidFill>
                <a:latin typeface="Arial"/>
              </a:rPr>
              <a:t>Inject Failure and Verify Self-Healing with AWS FIS</a:t>
            </a:r>
          </a:p>
        </p:txBody>
      </p:sp>
      <p:sp>
        <p:nvSpPr>
          <p:cNvPr id="6" name="Rectangle 5"/>
          <p:cNvSpPr/>
          <p:nvPr/>
        </p:nvSpPr>
        <p:spPr>
          <a:xfrm>
            <a:off x="777240" y="1572768"/>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737360"/>
            <a:ext cx="1737360" cy="45720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77240" y="1783080"/>
            <a:ext cx="1737360" cy="365760"/>
          </a:xfrm>
          <a:prstGeom prst="rect">
            <a:avLst/>
          </a:prstGeom>
          <a:noFill/>
        </p:spPr>
        <p:txBody>
          <a:bodyPr wrap="square" anchor="t">
            <a:spAutoFit/>
          </a:bodyPr>
          <a:lstStyle/>
          <a:p>
            <a:pPr algn="ctr">
              <a:spcAft>
                <a:spcPts val="400"/>
              </a:spcAft>
            </a:pPr>
            <a:r>
              <a:rPr sz="1600" b="1">
                <a:solidFill>
                  <a:srgbClr val="FFFFFF"/>
                </a:solidFill>
                <a:latin typeface="Arial"/>
              </a:rPr>
              <a:t>LAB 15</a:t>
            </a:r>
          </a:p>
        </p:txBody>
      </p:sp>
      <p:sp>
        <p:nvSpPr>
          <p:cNvPr id="9" name="TextBox 8"/>
          <p:cNvSpPr txBox="1"/>
          <p:nvPr/>
        </p:nvSpPr>
        <p:spPr>
          <a:xfrm>
            <a:off x="2697480" y="1783080"/>
            <a:ext cx="3566160" cy="365760"/>
          </a:xfrm>
          <a:prstGeom prst="rect">
            <a:avLst/>
          </a:prstGeom>
          <a:noFill/>
        </p:spPr>
        <p:txBody>
          <a:bodyPr wrap="square" anchor="t">
            <a:spAutoFit/>
          </a:bodyPr>
          <a:lstStyle/>
          <a:p>
            <a:pPr algn="l">
              <a:spcAft>
                <a:spcPts val="400"/>
              </a:spcAft>
            </a:pPr>
            <a:r>
              <a:rPr sz="1200" b="1">
                <a:solidFill>
                  <a:srgbClr val="5B6372"/>
                </a:solidFill>
                <a:latin typeface="Arial"/>
              </a:rPr>
              <a:t>Day 3 · LO3 · K2, K4, A2</a:t>
            </a:r>
          </a:p>
        </p:txBody>
      </p:sp>
      <p:sp>
        <p:nvSpPr>
          <p:cNvPr id="10" name="TextBox 9"/>
          <p:cNvSpPr txBox="1"/>
          <p:nvPr/>
        </p:nvSpPr>
        <p:spPr>
          <a:xfrm>
            <a:off x="777240" y="2286000"/>
            <a:ext cx="5486400" cy="885190"/>
          </a:xfrm>
          <a:prstGeom prst="rect">
            <a:avLst/>
          </a:prstGeom>
          <a:noFill/>
        </p:spPr>
        <p:txBody>
          <a:bodyPr wrap="square" anchor="t">
            <a:spAutoFit/>
          </a:bodyPr>
          <a:lstStyle/>
          <a:p>
            <a:pPr algn="l">
              <a:spcAft>
                <a:spcPts val="400"/>
              </a:spcAft>
            </a:pPr>
            <a:r>
              <a:rPr sz="1350" b="0">
                <a:solidFill>
                  <a:srgbClr val="161B26"/>
                </a:solidFill>
                <a:latin typeface="Arial"/>
              </a:rPr>
              <a:t>A resilient design is only proven when you break it on purpose. In this lab you first terminate an instance manually and watch the Auto Scaling group launch a replacement to restore …</a:t>
            </a:r>
          </a:p>
        </p:txBody>
      </p:sp>
      <p:sp>
        <p:nvSpPr>
          <p:cNvPr id="11" name="Rectangle 10"/>
          <p:cNvSpPr/>
          <p:nvPr/>
        </p:nvSpPr>
        <p:spPr>
          <a:xfrm>
            <a:off x="777240" y="3280918"/>
            <a:ext cx="5486400" cy="1658366"/>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ectangle 11"/>
          <p:cNvSpPr/>
          <p:nvPr/>
        </p:nvSpPr>
        <p:spPr>
          <a:xfrm>
            <a:off x="777240" y="3280918"/>
            <a:ext cx="91440" cy="1658366"/>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960120" y="3408934"/>
            <a:ext cx="5120640" cy="274320"/>
          </a:xfrm>
          <a:prstGeom prst="rect">
            <a:avLst/>
          </a:prstGeom>
          <a:noFill/>
        </p:spPr>
        <p:txBody>
          <a:bodyPr wrap="square" anchor="t">
            <a:spAutoFit/>
          </a:bodyPr>
          <a:lstStyle/>
          <a:p>
            <a:pPr algn="l">
              <a:spcAft>
                <a:spcPts val="400"/>
              </a:spcAft>
            </a:pPr>
            <a:r>
              <a:rPr sz="1200" b="1">
                <a:solidFill>
                  <a:srgbClr val="10B981"/>
                </a:solidFill>
                <a:latin typeface="Arial"/>
              </a:rPr>
              <a:t>YOU'LL BUILD</a:t>
            </a:r>
          </a:p>
        </p:txBody>
      </p:sp>
      <p:sp>
        <p:nvSpPr>
          <p:cNvPr id="14" name="TextBox 13"/>
          <p:cNvSpPr txBox="1"/>
          <p:nvPr/>
        </p:nvSpPr>
        <p:spPr>
          <a:xfrm>
            <a:off x="960120" y="3683254"/>
            <a:ext cx="5166360" cy="726440"/>
          </a:xfrm>
          <a:prstGeom prst="rect">
            <a:avLst/>
          </a:prstGeom>
          <a:noFill/>
        </p:spPr>
        <p:txBody>
          <a:bodyPr wrap="square" anchor="t">
            <a:spAutoFit/>
          </a:bodyPr>
          <a:lstStyle/>
          <a:p>
            <a:pPr algn="l">
              <a:spcAft>
                <a:spcPts val="400"/>
              </a:spcAft>
            </a:pPr>
            <a:r>
              <a:rPr sz="1100" b="1">
                <a:solidFill>
                  <a:srgbClr val="161B26"/>
                </a:solidFill>
                <a:latin typeface="Arial"/>
              </a:rPr>
              <a:t>A verified self-healing web tier: a manual instance termination is auto-replaced by the Auto Scaling group, and an AWS FIS experiment stops instances while the ALB continues to serve traffic with zero errors.</a:t>
            </a:r>
          </a:p>
        </p:txBody>
      </p:sp>
      <p:sp>
        <p:nvSpPr>
          <p:cNvPr id="15" name="TextBox 14"/>
          <p:cNvSpPr txBox="1"/>
          <p:nvPr/>
        </p:nvSpPr>
        <p:spPr>
          <a:xfrm>
            <a:off x="960120" y="4464558"/>
            <a:ext cx="5166360" cy="346710"/>
          </a:xfrm>
          <a:prstGeom prst="rect">
            <a:avLst/>
          </a:prstGeom>
          <a:noFill/>
        </p:spPr>
        <p:txBody>
          <a:bodyPr wrap="square" anchor="t">
            <a:spAutoFit/>
          </a:bodyPr>
          <a:lstStyle/>
          <a:p>
            <a:pPr algn="l">
              <a:spcAft>
                <a:spcPts val="400"/>
              </a:spcAft>
            </a:pPr>
            <a:r>
              <a:rPr sz="1050" b="0">
                <a:solidFill>
                  <a:srgbClr val="5B6372"/>
                </a:solidFill>
                <a:latin typeface="Arial"/>
              </a:rPr>
              <a:t>Tools:  AWS Fault Injection Service (FIS), AWS Auto Scaling, Amazon EC2, Amazon CloudWatch</a:t>
            </a:r>
          </a:p>
        </p:txBody>
      </p:sp>
      <p:sp>
        <p:nvSpPr>
          <p:cNvPr id="16" name="Rectangle 15"/>
          <p:cNvSpPr/>
          <p:nvPr/>
        </p:nvSpPr>
        <p:spPr>
          <a:xfrm>
            <a:off x="777240" y="5049012"/>
            <a:ext cx="5486400" cy="1278636"/>
          </a:xfrm>
          <a:prstGeom prst="rect">
            <a:avLst/>
          </a:prstGeom>
          <a:solidFill>
            <a:srgbClr val="FFFFFF"/>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ectangle 16"/>
          <p:cNvSpPr/>
          <p:nvPr/>
        </p:nvSpPr>
        <p:spPr>
          <a:xfrm>
            <a:off x="777240" y="5049012"/>
            <a:ext cx="91440" cy="1278636"/>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960120" y="5177028"/>
            <a:ext cx="5120640" cy="274320"/>
          </a:xfrm>
          <a:prstGeom prst="rect">
            <a:avLst/>
          </a:prstGeom>
          <a:noFill/>
        </p:spPr>
        <p:txBody>
          <a:bodyPr wrap="square" anchor="t">
            <a:spAutoFit/>
          </a:bodyPr>
          <a:lstStyle/>
          <a:p>
            <a:pPr algn="l">
              <a:spcAft>
                <a:spcPts val="400"/>
              </a:spcAft>
            </a:pPr>
            <a:r>
              <a:rPr sz="1200" b="1">
                <a:solidFill>
                  <a:srgbClr val="10B981"/>
                </a:solidFill>
                <a:latin typeface="Arial"/>
              </a:rPr>
              <a:t>OUTCOME &amp; EVIDENCE</a:t>
            </a:r>
          </a:p>
        </p:txBody>
      </p:sp>
      <p:sp>
        <p:nvSpPr>
          <p:cNvPr id="19" name="TextBox 18"/>
          <p:cNvSpPr txBox="1"/>
          <p:nvPr/>
        </p:nvSpPr>
        <p:spPr>
          <a:xfrm>
            <a:off x="960120" y="5451348"/>
            <a:ext cx="5166360" cy="693420"/>
          </a:xfrm>
          <a:prstGeom prst="rect">
            <a:avLst/>
          </a:prstGeom>
          <a:noFill/>
        </p:spPr>
        <p:txBody>
          <a:bodyPr wrap="square" anchor="t">
            <a:spAutoFit/>
          </a:bodyPr>
          <a:lstStyle/>
          <a:p>
            <a:pPr algn="l">
              <a:spcAft>
                <a:spcPts val="300"/>
              </a:spcAft>
            </a:pPr>
            <a:r>
              <a:rPr sz="1050" b="0">
                <a:solidFill>
                  <a:srgbClr val="5B6372"/>
                </a:solidFill>
                <a:latin typeface="Arial"/>
              </a:rPr>
              <a:t>Outcome: Terminating an instance and running a FIS stop-instances experiment both leave the ALB serving HTTP 200 with zero sustained 5XX …</a:t>
            </a:r>
          </a:p>
          <a:p>
            <a:pPr algn="l">
              <a:spcAft>
                <a:spcPts val="300"/>
              </a:spcAft>
            </a:pPr>
            <a:r>
              <a:rPr sz="1050" b="0">
                <a:solidFill>
                  <a:srgbClr val="5B6372"/>
                </a:solidFill>
                <a:latin typeface="Arial"/>
              </a:rPr>
              <a:t>Evidence:  describe-scaling-activities output showing a successful 'Launching a new EC2 instance' after the manual termination.</a:t>
            </a:r>
          </a:p>
        </p:txBody>
      </p:sp>
      <p:sp>
        <p:nvSpPr>
          <p:cNvPr id="20" name="Rectangle 19"/>
          <p:cNvSpPr/>
          <p:nvPr/>
        </p:nvSpPr>
        <p:spPr>
          <a:xfrm>
            <a:off x="6446520" y="1783080"/>
            <a:ext cx="5029200" cy="2901403"/>
          </a:xfrm>
          <a:prstGeom prst="rect">
            <a:avLst/>
          </a:prstGeom>
          <a:solidFill>
            <a:srgbClr val="F5F8FC"/>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21" name="Picture 20" descr="lab-15-failure-injection-self-healing.jpg"/>
          <p:cNvPicPr>
            <a:picLocks noChangeAspect="1"/>
          </p:cNvPicPr>
          <p:nvPr/>
        </p:nvPicPr>
        <p:blipFill>
          <a:blip r:embed="rId2"/>
          <a:stretch>
            <a:fillRect/>
          </a:stretch>
        </p:blipFill>
        <p:spPr>
          <a:xfrm>
            <a:off x="6492240" y="1828800"/>
            <a:ext cx="4937760" cy="2809963"/>
          </a:xfrm>
          <a:prstGeom prst="rect">
            <a:avLst/>
          </a:prstGeom>
        </p:spPr>
      </p:pic>
      <p:sp>
        <p:nvSpPr>
          <p:cNvPr id="22" name="TextBox 21"/>
          <p:cNvSpPr txBox="1"/>
          <p:nvPr/>
        </p:nvSpPr>
        <p:spPr>
          <a:xfrm>
            <a:off x="6492240" y="4730203"/>
            <a:ext cx="4937760" cy="365760"/>
          </a:xfrm>
          <a:prstGeom prst="rect">
            <a:avLst/>
          </a:prstGeom>
          <a:noFill/>
        </p:spPr>
        <p:txBody>
          <a:bodyPr wrap="square" anchor="t">
            <a:spAutoFit/>
          </a:bodyPr>
          <a:lstStyle/>
          <a:p>
            <a:pPr algn="ctr">
              <a:spcAft>
                <a:spcPts val="400"/>
              </a:spcAft>
            </a:pPr>
            <a:r>
              <a:rPr sz="1100" b="1">
                <a:solidFill>
                  <a:srgbClr val="5B6372"/>
                </a:solidFill>
                <a:latin typeface="Arial"/>
              </a:rPr>
              <a:t>Reference architecture</a:t>
            </a:r>
          </a:p>
        </p:txBody>
      </p:sp>
      <p:sp>
        <p:nvSpPr>
          <p:cNvPr id="23" name="TextBox 22"/>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DevOps Engineering on AWS  ·  TGS-2023040474</a:t>
            </a:r>
          </a:p>
        </p:txBody>
      </p:sp>
      <p:sp>
        <p:nvSpPr>
          <p:cNvPr id="24" name="TextBox 23"/>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25" name="TextBox 24"/>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129</a:t>
            </a:r>
          </a:p>
        </p:txBody>
      </p:sp>
    </p:spTree>
  </p:cSld>
  <p:clrMapOvr>
    <a:masterClrMapping/>
  </p:clrMapOvr>
  <p:transition xmlns:p14="http://schemas.microsoft.com/office/powerpoint/2010/main" p14:dur="380">
    <p:fade/>
  </p:transition>
</p:sld>
</file>

<file path=ppt/slides/slide13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38912"/>
            <a:ext cx="10607040" cy="365760"/>
          </a:xfrm>
          <a:prstGeom prst="rect">
            <a:avLst/>
          </a:prstGeom>
          <a:noFill/>
        </p:spPr>
        <p:txBody>
          <a:bodyPr wrap="square" anchor="t">
            <a:spAutoFit/>
          </a:bodyPr>
          <a:lstStyle/>
          <a:p>
            <a:pPr algn="l">
              <a:spcAft>
                <a:spcPts val="400"/>
              </a:spcAft>
            </a:pPr>
            <a:r>
              <a:rPr sz="1400" b="1">
                <a:solidFill>
                  <a:srgbClr val="1F6FEB"/>
                </a:solidFill>
                <a:latin typeface="Arial"/>
              </a:rPr>
              <a:t>DOMAIN RECAP</a:t>
            </a:r>
          </a:p>
        </p:txBody>
      </p:sp>
      <p:sp>
        <p:nvSpPr>
          <p:cNvPr id="5" name="TextBox 4"/>
          <p:cNvSpPr txBox="1"/>
          <p:nvPr/>
        </p:nvSpPr>
        <p:spPr>
          <a:xfrm>
            <a:off x="777240" y="804672"/>
            <a:ext cx="10927080" cy="731520"/>
          </a:xfrm>
          <a:prstGeom prst="rect">
            <a:avLst/>
          </a:prstGeom>
          <a:noFill/>
        </p:spPr>
        <p:txBody>
          <a:bodyPr wrap="square" anchor="t">
            <a:spAutoFit/>
          </a:bodyPr>
          <a:lstStyle/>
          <a:p>
            <a:pPr algn="l">
              <a:spcAft>
                <a:spcPts val="400"/>
              </a:spcAft>
            </a:pPr>
            <a:r>
              <a:rPr sz="2900" b="1">
                <a:solidFill>
                  <a:srgbClr val="161B26"/>
                </a:solidFill>
                <a:latin typeface="Arial"/>
              </a:rPr>
              <a:t>Recap — Resilient Cloud Solutions</a:t>
            </a:r>
          </a:p>
        </p:txBody>
      </p:sp>
      <p:sp>
        <p:nvSpPr>
          <p:cNvPr id="6" name="Rectangle 5"/>
          <p:cNvSpPr/>
          <p:nvPr/>
        </p:nvSpPr>
        <p:spPr>
          <a:xfrm>
            <a:off x="777240" y="1572768"/>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777240" y="1783080"/>
            <a:ext cx="10607040" cy="4480560"/>
          </a:xfrm>
          <a:prstGeom prst="rect">
            <a:avLst/>
          </a:prstGeom>
          <a:noFill/>
        </p:spPr>
        <p:txBody>
          <a:bodyPr wrap="square">
            <a:spAutoFit/>
          </a:bodyPr>
          <a:lstStyle/>
          <a:p>
            <a:pPr>
              <a:spcAft>
                <a:spcPts val="1000"/>
              </a:spcAft>
            </a:pPr>
            <a:r>
              <a:rPr sz="1500" b="0">
                <a:solidFill>
                  <a:srgbClr val="161B26"/>
                </a:solidFill>
                <a:latin typeface="Arial"/>
              </a:rPr>
              <a:t>•  You can now: Deploy a highly available multi-AZ Application Load Balancer fronting an Auto Scaling group and prove requests are served from both Availability Zones (LO3, K2, K4, A2)</a:t>
            </a:r>
          </a:p>
          <a:p>
            <a:pPr>
              <a:spcAft>
                <a:spcPts val="1000"/>
              </a:spcAft>
            </a:pPr>
            <a:r>
              <a:rPr sz="1500" b="0">
                <a:solidFill>
                  <a:srgbClr val="161B26"/>
                </a:solidFill>
                <a:latin typeface="Arial"/>
              </a:rPr>
              <a:t>•  You can now: Attach a target-tracking scaling policy to an Auto Scaling group and validate automatic scale-out under generated load and scale-in when the load stops (LO3, K2, K4, A2)</a:t>
            </a:r>
          </a:p>
          <a:p>
            <a:pPr>
              <a:spcAft>
                <a:spcPts val="1000"/>
              </a:spcAft>
            </a:pPr>
            <a:r>
              <a:rPr sz="1500" b="0">
                <a:solidFill>
                  <a:srgbClr val="161B26"/>
                </a:solidFill>
                <a:latin typeface="Arial"/>
              </a:rPr>
              <a:t>•  You can now: Compare the four AWS disaster-recovery strategies against RTO/RPO targets, select an appropriate pattern, and implement a pilot-light skeleton in a second Region (LO3, K2, K4, A2)</a:t>
            </a:r>
          </a:p>
          <a:p>
            <a:pPr>
              <a:spcAft>
                <a:spcPts val="1000"/>
              </a:spcAft>
            </a:pPr>
            <a:r>
              <a:rPr sz="1500" b="0">
                <a:solidFill>
                  <a:srgbClr val="161B26"/>
                </a:solidFill>
                <a:latin typeface="Arial"/>
              </a:rPr>
              <a:t>•  You can now: Automate centralized backups with AWS Backup (plan + tag-based selection), test a restore, and add S3 versioning with cross-Region replication and RDS automated snapshots for defense in depth (LO3, K2, K4, A2)</a:t>
            </a:r>
          </a:p>
          <a:p>
            <a:pPr>
              <a:spcAft>
                <a:spcPts val="1000"/>
              </a:spcAft>
            </a:pPr>
            <a:r>
              <a:rPr sz="1500" b="0">
                <a:solidFill>
                  <a:srgbClr val="161B26"/>
                </a:solidFill>
                <a:latin typeface="Arial"/>
              </a:rPr>
              <a:t>•  You can now: Prove the multi-AZ tier self-heals by terminating an instance and watching the Auto Scaling group replace it, then run an AWS FIS experiment and confirm the ALB routes around the impaired instances (LO3, K2, K4, A2)</a:t>
            </a:r>
          </a:p>
          <a:p>
            <a:pPr>
              <a:spcAft>
                <a:spcPts val="1000"/>
              </a:spcAft>
            </a:pPr>
            <a:r>
              <a:rPr sz="1500" b="0">
                <a:solidFill>
                  <a:srgbClr val="161B26"/>
                </a:solidFill>
                <a:latin typeface="Arial"/>
              </a:rPr>
              <a:t>•  High availability — Spread compute across multiple Availability Zones behind an Elastic Load Balancer so one AZ failure is survivable.</a:t>
            </a:r>
          </a:p>
          <a:p>
            <a:pPr>
              <a:spcAft>
                <a:spcPts val="1000"/>
              </a:spcAft>
            </a:pPr>
            <a:r>
              <a:rPr sz="1500" b="0">
                <a:solidFill>
                  <a:srgbClr val="161B26"/>
                </a:solidFill>
                <a:latin typeface="Arial"/>
              </a:rPr>
              <a:t>•  Elasticity &amp; Auto Scaling — Auto Scaling groups add and remove capacity on demand using target-tracking and step scaling policies.</a:t>
            </a:r>
          </a:p>
          <a:p>
            <a:pPr>
              <a:spcAft>
                <a:spcPts val="1000"/>
              </a:spcAft>
            </a:pPr>
            <a:r>
              <a:rPr sz="1500" b="0">
                <a:solidFill>
                  <a:srgbClr val="161B26"/>
                </a:solidFill>
                <a:latin typeface="Arial"/>
              </a:rPr>
              <a:t>•  Decoupling — SQS, SNS and EventBridge decouple producers from consumers so components fail and scale independently.</a:t>
            </a:r>
          </a:p>
        </p:txBody>
      </p:sp>
      <p:sp>
        <p:nvSpPr>
          <p:cNvPr id="8" name="TextBox 7"/>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DevOps Engineering on AWS  ·  TGS-2023040474</a:t>
            </a:r>
          </a:p>
        </p:txBody>
      </p:sp>
      <p:sp>
        <p:nvSpPr>
          <p:cNvPr id="9" name="TextBox 8"/>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0" name="TextBox 9"/>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130</a:t>
            </a:r>
          </a:p>
        </p:txBody>
      </p:sp>
    </p:spTree>
  </p:cSld>
  <p:clrMapOvr>
    <a:masterClrMapping/>
  </p:clrMapOvr>
  <p:transition xmlns:p14="http://schemas.microsoft.com/office/powerpoint/2010/main" p14:dur="380">
    <p:fade/>
  </p:transition>
</p:sld>
</file>

<file path=ppt/slides/slide13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685800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777240" y="2286000"/>
            <a:ext cx="128016" cy="182880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1143000" y="2331720"/>
            <a:ext cx="10058400" cy="548640"/>
          </a:xfrm>
          <a:prstGeom prst="rect">
            <a:avLst/>
          </a:prstGeom>
          <a:noFill/>
        </p:spPr>
        <p:txBody>
          <a:bodyPr wrap="square" anchor="t">
            <a:spAutoFit/>
          </a:bodyPr>
          <a:lstStyle/>
          <a:p>
            <a:pPr algn="l">
              <a:spcAft>
                <a:spcPts val="400"/>
              </a:spcAft>
            </a:pPr>
            <a:r>
              <a:rPr sz="1800" b="1">
                <a:solidFill>
                  <a:srgbClr val="1F6FEB"/>
                </a:solidFill>
                <a:latin typeface="Arial"/>
              </a:rPr>
              <a:t>DOMAIN 04</a:t>
            </a:r>
          </a:p>
        </p:txBody>
      </p:sp>
      <p:sp>
        <p:nvSpPr>
          <p:cNvPr id="6" name="TextBox 5"/>
          <p:cNvSpPr txBox="1"/>
          <p:nvPr/>
        </p:nvSpPr>
        <p:spPr>
          <a:xfrm>
            <a:off x="1143000" y="2743200"/>
            <a:ext cx="10424160" cy="1463040"/>
          </a:xfrm>
          <a:prstGeom prst="rect">
            <a:avLst/>
          </a:prstGeom>
          <a:noFill/>
        </p:spPr>
        <p:txBody>
          <a:bodyPr wrap="square" anchor="t">
            <a:spAutoFit/>
          </a:bodyPr>
          <a:lstStyle/>
          <a:p>
            <a:pPr algn="l">
              <a:spcAft>
                <a:spcPts val="400"/>
              </a:spcAft>
            </a:pPr>
            <a:r>
              <a:rPr sz="4000" b="1">
                <a:solidFill>
                  <a:srgbClr val="161B26"/>
                </a:solidFill>
                <a:latin typeface="Arial"/>
              </a:rPr>
              <a:t>Monitoring and Logging</a:t>
            </a:r>
          </a:p>
        </p:txBody>
      </p:sp>
      <p:sp>
        <p:nvSpPr>
          <p:cNvPr id="7" name="TextBox 6"/>
          <p:cNvSpPr txBox="1"/>
          <p:nvPr/>
        </p:nvSpPr>
        <p:spPr>
          <a:xfrm>
            <a:off x="1161288" y="4160520"/>
            <a:ext cx="10058400" cy="731520"/>
          </a:xfrm>
          <a:prstGeom prst="rect">
            <a:avLst/>
          </a:prstGeom>
          <a:noFill/>
        </p:spPr>
        <p:txBody>
          <a:bodyPr wrap="square" anchor="t">
            <a:spAutoFit/>
          </a:bodyPr>
          <a:lstStyle/>
          <a:p>
            <a:pPr algn="l">
              <a:spcAft>
                <a:spcPts val="400"/>
              </a:spcAft>
            </a:pPr>
            <a:r>
              <a:rPr sz="1600" b="0">
                <a:solidFill>
                  <a:srgbClr val="5B6372"/>
                </a:solidFill>
                <a:latin typeface="Arial"/>
              </a:rPr>
              <a:t>Exam weighting 15%  ·  Metrics · logs · dashboards · alarms · automated event management</a:t>
            </a:r>
          </a:p>
        </p:txBody>
      </p:sp>
      <p:sp>
        <p:nvSpPr>
          <p:cNvPr id="8" name="TextBox 7"/>
          <p:cNvSpPr txBox="1"/>
          <p:nvPr/>
        </p:nvSpPr>
        <p:spPr>
          <a:xfrm>
            <a:off x="9144000" y="640080"/>
            <a:ext cx="2560320" cy="1463040"/>
          </a:xfrm>
          <a:prstGeom prst="rect">
            <a:avLst/>
          </a:prstGeom>
          <a:noFill/>
        </p:spPr>
        <p:txBody>
          <a:bodyPr wrap="square" anchor="t">
            <a:spAutoFit/>
          </a:bodyPr>
          <a:lstStyle/>
          <a:p>
            <a:pPr algn="r">
              <a:spcAft>
                <a:spcPts val="400"/>
              </a:spcAft>
            </a:pPr>
            <a:r>
              <a:rPr sz="7200" b="1">
                <a:solidFill>
                  <a:srgbClr val="E2E8F0"/>
                </a:solidFill>
                <a:latin typeface="Arial"/>
              </a:rPr>
              <a:t>04</a:t>
            </a:r>
          </a:p>
        </p:txBody>
      </p:sp>
      <p:sp>
        <p:nvSpPr>
          <p:cNvPr id="9" name="TextBox 8"/>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DevOps Engineering on AWS  ·  TGS-2023040474</a:t>
            </a:r>
          </a:p>
        </p:txBody>
      </p:sp>
      <p:sp>
        <p:nvSpPr>
          <p:cNvPr id="10" name="TextBox 9"/>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1" name="TextBox 10"/>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131</a:t>
            </a:r>
          </a:p>
        </p:txBody>
      </p:sp>
    </p:spTree>
  </p:cSld>
  <p:clrMapOvr>
    <a:masterClrMapping/>
  </p:clrMapOvr>
  <p:transition xmlns:p14="http://schemas.microsoft.com/office/powerpoint/2010/main" p14:dur="380">
    <p:fade/>
  </p:transition>
</p:sld>
</file>

<file path=ppt/slides/slide13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38912"/>
            <a:ext cx="10607040" cy="365760"/>
          </a:xfrm>
          <a:prstGeom prst="rect">
            <a:avLst/>
          </a:prstGeom>
          <a:noFill/>
        </p:spPr>
        <p:txBody>
          <a:bodyPr wrap="square" anchor="t">
            <a:spAutoFit/>
          </a:bodyPr>
          <a:lstStyle/>
          <a:p>
            <a:pPr algn="l">
              <a:spcAft>
                <a:spcPts val="400"/>
              </a:spcAft>
            </a:pPr>
            <a:r>
              <a:rPr sz="1400" b="1">
                <a:solidFill>
                  <a:srgbClr val="F59E0B"/>
                </a:solidFill>
                <a:latin typeface="Arial"/>
              </a:rPr>
              <a:t>RESILIENCE &amp; OBSERVABILITY</a:t>
            </a:r>
          </a:p>
        </p:txBody>
      </p:sp>
      <p:sp>
        <p:nvSpPr>
          <p:cNvPr id="5" name="TextBox 4"/>
          <p:cNvSpPr txBox="1"/>
          <p:nvPr/>
        </p:nvSpPr>
        <p:spPr>
          <a:xfrm>
            <a:off x="777240" y="804672"/>
            <a:ext cx="10927080" cy="731520"/>
          </a:xfrm>
          <a:prstGeom prst="rect">
            <a:avLst/>
          </a:prstGeom>
          <a:noFill/>
        </p:spPr>
        <p:txBody>
          <a:bodyPr wrap="square" anchor="t">
            <a:spAutoFit/>
          </a:bodyPr>
          <a:lstStyle/>
          <a:p>
            <a:pPr algn="l">
              <a:spcAft>
                <a:spcPts val="400"/>
              </a:spcAft>
            </a:pPr>
            <a:r>
              <a:rPr sz="2900" b="1">
                <a:solidFill>
                  <a:srgbClr val="161B26"/>
                </a:solidFill>
                <a:latin typeface="Arial"/>
              </a:rPr>
              <a:t>Monitoring and Logging</a:t>
            </a:r>
          </a:p>
        </p:txBody>
      </p:sp>
      <p:sp>
        <p:nvSpPr>
          <p:cNvPr id="6" name="Rectangle 5"/>
          <p:cNvSpPr/>
          <p:nvPr/>
        </p:nvSpPr>
        <p:spPr>
          <a:xfrm>
            <a:off x="777240" y="1572768"/>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2629037" y="1819655"/>
            <a:ext cx="6933620" cy="3950208"/>
          </a:xfrm>
          <a:prstGeom prst="rect">
            <a:avLst/>
          </a:prstGeom>
          <a:solidFill>
            <a:srgbClr val="F5F8FC"/>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8" name="Picture 7" descr="devops-resilience-observability.png"/>
          <p:cNvPicPr>
            <a:picLocks noChangeAspect="1"/>
          </p:cNvPicPr>
          <p:nvPr/>
        </p:nvPicPr>
        <p:blipFill>
          <a:blip r:embed="rId2"/>
          <a:stretch>
            <a:fillRect/>
          </a:stretch>
        </p:blipFill>
        <p:spPr>
          <a:xfrm>
            <a:off x="2683901" y="1874519"/>
            <a:ext cx="6823892" cy="3840480"/>
          </a:xfrm>
          <a:prstGeom prst="rect">
            <a:avLst/>
          </a:prstGeom>
        </p:spPr>
      </p:pic>
      <p:sp>
        <p:nvSpPr>
          <p:cNvPr id="9" name="Rectangle 8"/>
          <p:cNvSpPr/>
          <p:nvPr/>
        </p:nvSpPr>
        <p:spPr>
          <a:xfrm>
            <a:off x="777240" y="5852159"/>
            <a:ext cx="10634472" cy="64008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777240" y="5852159"/>
            <a:ext cx="91440" cy="640080"/>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1005840" y="5852159"/>
            <a:ext cx="10241280" cy="640080"/>
          </a:xfrm>
          <a:prstGeom prst="rect">
            <a:avLst/>
          </a:prstGeom>
          <a:noFill/>
        </p:spPr>
        <p:txBody>
          <a:bodyPr wrap="square" anchor="ctr">
            <a:spAutoFit/>
          </a:bodyPr>
          <a:lstStyle/>
          <a:p>
            <a:pPr algn="l">
              <a:spcAft>
                <a:spcPts val="400"/>
              </a:spcAft>
            </a:pPr>
            <a:r>
              <a:rPr sz="1300" b="1">
                <a:solidFill>
                  <a:srgbClr val="F59E0B"/>
                </a:solidFill>
                <a:latin typeface="Arial"/>
              </a:rPr>
              <a:t>▶  </a:t>
            </a:r>
            <a:r>
              <a:rPr sz="1350" b="0">
                <a:solidFill>
                  <a:srgbClr val="161B26"/>
                </a:solidFill>
                <a:latin typeface="Arial"/>
              </a:rPr>
              <a:t>Resilience and observability working together to keep services healthy</a:t>
            </a:r>
          </a:p>
        </p:txBody>
      </p:sp>
      <p:sp>
        <p:nvSpPr>
          <p:cNvPr id="12" name="TextBox 11"/>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DevOps Engineering on AWS  ·  TGS-2023040474</a:t>
            </a:r>
          </a:p>
        </p:txBody>
      </p:sp>
      <p:sp>
        <p:nvSpPr>
          <p:cNvPr id="13" name="TextBox 12"/>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4" name="TextBox 13"/>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132</a:t>
            </a:r>
          </a:p>
        </p:txBody>
      </p:sp>
    </p:spTree>
  </p:cSld>
  <p:clrMapOvr>
    <a:masterClrMapping/>
  </p:clrMapOvr>
  <p:transition xmlns:p14="http://schemas.microsoft.com/office/powerpoint/2010/main" p14:dur="380">
    <p:fade/>
  </p:transition>
</p:sld>
</file>

<file path=ppt/slides/slide13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38912"/>
            <a:ext cx="10607040" cy="365760"/>
          </a:xfrm>
          <a:prstGeom prst="rect">
            <a:avLst/>
          </a:prstGeom>
          <a:noFill/>
        </p:spPr>
        <p:txBody>
          <a:bodyPr wrap="square" anchor="t">
            <a:spAutoFit/>
          </a:bodyPr>
          <a:lstStyle/>
          <a:p>
            <a:pPr algn="l">
              <a:spcAft>
                <a:spcPts val="400"/>
              </a:spcAft>
            </a:pPr>
            <a:r>
              <a:rPr sz="1400" b="1">
                <a:solidFill>
                  <a:srgbClr val="F59E0B"/>
                </a:solidFill>
                <a:latin typeface="Arial"/>
              </a:rPr>
              <a:t>DOMAIN 04 · WEIGHTING 15%</a:t>
            </a:r>
          </a:p>
        </p:txBody>
      </p:sp>
      <p:sp>
        <p:nvSpPr>
          <p:cNvPr id="5" name="TextBox 4"/>
          <p:cNvSpPr txBox="1"/>
          <p:nvPr/>
        </p:nvSpPr>
        <p:spPr>
          <a:xfrm>
            <a:off x="777240" y="804672"/>
            <a:ext cx="10927080" cy="731520"/>
          </a:xfrm>
          <a:prstGeom prst="rect">
            <a:avLst/>
          </a:prstGeom>
          <a:noFill/>
        </p:spPr>
        <p:txBody>
          <a:bodyPr wrap="square" anchor="t">
            <a:spAutoFit/>
          </a:bodyPr>
          <a:lstStyle/>
          <a:p>
            <a:pPr algn="l">
              <a:spcAft>
                <a:spcPts val="400"/>
              </a:spcAft>
            </a:pPr>
            <a:r>
              <a:rPr sz="2900" b="1">
                <a:solidFill>
                  <a:srgbClr val="161B26"/>
                </a:solidFill>
                <a:latin typeface="Arial"/>
              </a:rPr>
              <a:t>Key Concepts — Monitoring and Logging</a:t>
            </a:r>
          </a:p>
        </p:txBody>
      </p:sp>
      <p:sp>
        <p:nvSpPr>
          <p:cNvPr id="6" name="Rectangle 5"/>
          <p:cNvSpPr/>
          <p:nvPr/>
        </p:nvSpPr>
        <p:spPr>
          <a:xfrm>
            <a:off x="777240" y="1572768"/>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783080"/>
            <a:ext cx="5180076" cy="131064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1783080"/>
            <a:ext cx="91440" cy="131064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1033272" y="2164080"/>
            <a:ext cx="548640" cy="548640"/>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033272" y="2164080"/>
            <a:ext cx="548640" cy="548640"/>
          </a:xfrm>
          <a:prstGeom prst="rect">
            <a:avLst/>
          </a:prstGeom>
          <a:noFill/>
        </p:spPr>
        <p:txBody>
          <a:bodyPr wrap="square" anchor="ctr">
            <a:spAutoFit/>
          </a:bodyPr>
          <a:lstStyle/>
          <a:p>
            <a:pPr algn="ctr">
              <a:spcAft>
                <a:spcPts val="400"/>
              </a:spcAft>
            </a:pPr>
            <a:r>
              <a:rPr sz="1800" b="1">
                <a:solidFill>
                  <a:srgbClr val="FFFFFF"/>
                </a:solidFill>
                <a:latin typeface="Arial"/>
              </a:rPr>
              <a:t>1</a:t>
            </a:r>
          </a:p>
        </p:txBody>
      </p:sp>
      <p:sp>
        <p:nvSpPr>
          <p:cNvPr id="11" name="TextBox 10"/>
          <p:cNvSpPr txBox="1"/>
          <p:nvPr/>
        </p:nvSpPr>
        <p:spPr>
          <a:xfrm>
            <a:off x="1764792" y="1892808"/>
            <a:ext cx="3973068" cy="1127760"/>
          </a:xfrm>
          <a:prstGeom prst="rect">
            <a:avLst/>
          </a:prstGeom>
          <a:noFill/>
        </p:spPr>
        <p:txBody>
          <a:bodyPr wrap="square" anchor="ctr">
            <a:spAutoFit/>
          </a:bodyPr>
          <a:lstStyle/>
          <a:p>
            <a:pPr algn="l">
              <a:spcAft>
                <a:spcPts val="300"/>
              </a:spcAft>
            </a:pPr>
            <a:r>
              <a:rPr sz="1550" b="1">
                <a:solidFill>
                  <a:srgbClr val="161B26"/>
                </a:solidFill>
                <a:latin typeface="Arial"/>
              </a:rPr>
              <a:t>CloudWatch metrics</a:t>
            </a:r>
          </a:p>
          <a:p>
            <a:pPr algn="l">
              <a:spcAft>
                <a:spcPts val="300"/>
              </a:spcAft>
            </a:pPr>
            <a:r>
              <a:rPr sz="1150" b="0">
                <a:solidFill>
                  <a:srgbClr val="5B6372"/>
                </a:solidFill>
                <a:latin typeface="Arial"/>
              </a:rPr>
              <a:t>Namespaces, dimensions and custom metrics measure system and application health over time.</a:t>
            </a:r>
          </a:p>
        </p:txBody>
      </p:sp>
      <p:sp>
        <p:nvSpPr>
          <p:cNvPr id="12" name="Rectangle 11"/>
          <p:cNvSpPr/>
          <p:nvPr/>
        </p:nvSpPr>
        <p:spPr>
          <a:xfrm>
            <a:off x="6231636" y="1783080"/>
            <a:ext cx="5180076" cy="131064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6231636" y="1783080"/>
            <a:ext cx="91440" cy="131064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Oval 13"/>
          <p:cNvSpPr/>
          <p:nvPr/>
        </p:nvSpPr>
        <p:spPr>
          <a:xfrm>
            <a:off x="6487668" y="2164080"/>
            <a:ext cx="548640" cy="54864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6487668" y="2164080"/>
            <a:ext cx="548640" cy="548640"/>
          </a:xfrm>
          <a:prstGeom prst="rect">
            <a:avLst/>
          </a:prstGeom>
          <a:noFill/>
        </p:spPr>
        <p:txBody>
          <a:bodyPr wrap="square" anchor="ctr">
            <a:spAutoFit/>
          </a:bodyPr>
          <a:lstStyle/>
          <a:p>
            <a:pPr algn="ctr">
              <a:spcAft>
                <a:spcPts val="400"/>
              </a:spcAft>
            </a:pPr>
            <a:r>
              <a:rPr sz="1800" b="1">
                <a:solidFill>
                  <a:srgbClr val="FFFFFF"/>
                </a:solidFill>
                <a:latin typeface="Arial"/>
              </a:rPr>
              <a:t>2</a:t>
            </a:r>
          </a:p>
        </p:txBody>
      </p:sp>
      <p:sp>
        <p:nvSpPr>
          <p:cNvPr id="16" name="TextBox 15"/>
          <p:cNvSpPr txBox="1"/>
          <p:nvPr/>
        </p:nvSpPr>
        <p:spPr>
          <a:xfrm>
            <a:off x="7219188" y="1892808"/>
            <a:ext cx="3973068" cy="1127760"/>
          </a:xfrm>
          <a:prstGeom prst="rect">
            <a:avLst/>
          </a:prstGeom>
          <a:noFill/>
        </p:spPr>
        <p:txBody>
          <a:bodyPr wrap="square" anchor="ctr">
            <a:spAutoFit/>
          </a:bodyPr>
          <a:lstStyle/>
          <a:p>
            <a:pPr algn="l">
              <a:spcAft>
                <a:spcPts val="300"/>
              </a:spcAft>
            </a:pPr>
            <a:r>
              <a:rPr sz="1550" b="1">
                <a:solidFill>
                  <a:srgbClr val="161B26"/>
                </a:solidFill>
                <a:latin typeface="Arial"/>
              </a:rPr>
              <a:t>CloudWatch Logs</a:t>
            </a:r>
          </a:p>
          <a:p>
            <a:pPr algn="l">
              <a:spcAft>
                <a:spcPts val="300"/>
              </a:spcAft>
            </a:pPr>
            <a:r>
              <a:rPr sz="1150" b="0">
                <a:solidFill>
                  <a:srgbClr val="5B6372"/>
                </a:solidFill>
                <a:latin typeface="Arial"/>
              </a:rPr>
              <a:t>Log groups, streams, subscription filters and metric filters turn raw logs into searchable, alertable signals.</a:t>
            </a:r>
          </a:p>
        </p:txBody>
      </p:sp>
      <p:sp>
        <p:nvSpPr>
          <p:cNvPr id="17" name="Rectangle 16"/>
          <p:cNvSpPr/>
          <p:nvPr/>
        </p:nvSpPr>
        <p:spPr>
          <a:xfrm>
            <a:off x="777240" y="3313176"/>
            <a:ext cx="5180076" cy="131064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777240" y="3313176"/>
            <a:ext cx="91440" cy="1310640"/>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Oval 18"/>
          <p:cNvSpPr/>
          <p:nvPr/>
        </p:nvSpPr>
        <p:spPr>
          <a:xfrm>
            <a:off x="1033272" y="3694176"/>
            <a:ext cx="548640" cy="548640"/>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1033272" y="3694176"/>
            <a:ext cx="548640" cy="548640"/>
          </a:xfrm>
          <a:prstGeom prst="rect">
            <a:avLst/>
          </a:prstGeom>
          <a:noFill/>
        </p:spPr>
        <p:txBody>
          <a:bodyPr wrap="square" anchor="ctr">
            <a:spAutoFit/>
          </a:bodyPr>
          <a:lstStyle/>
          <a:p>
            <a:pPr algn="ctr">
              <a:spcAft>
                <a:spcPts val="400"/>
              </a:spcAft>
            </a:pPr>
            <a:r>
              <a:rPr sz="1800" b="1">
                <a:solidFill>
                  <a:srgbClr val="FFFFFF"/>
                </a:solidFill>
                <a:latin typeface="Arial"/>
              </a:rPr>
              <a:t>3</a:t>
            </a:r>
          </a:p>
        </p:txBody>
      </p:sp>
      <p:sp>
        <p:nvSpPr>
          <p:cNvPr id="21" name="TextBox 20"/>
          <p:cNvSpPr txBox="1"/>
          <p:nvPr/>
        </p:nvSpPr>
        <p:spPr>
          <a:xfrm>
            <a:off x="1764792" y="3422904"/>
            <a:ext cx="3973068" cy="1127760"/>
          </a:xfrm>
          <a:prstGeom prst="rect">
            <a:avLst/>
          </a:prstGeom>
          <a:noFill/>
        </p:spPr>
        <p:txBody>
          <a:bodyPr wrap="square" anchor="ctr">
            <a:spAutoFit/>
          </a:bodyPr>
          <a:lstStyle/>
          <a:p>
            <a:pPr algn="l">
              <a:spcAft>
                <a:spcPts val="300"/>
              </a:spcAft>
            </a:pPr>
            <a:r>
              <a:rPr sz="1550" b="1">
                <a:solidFill>
                  <a:srgbClr val="161B26"/>
                </a:solidFill>
                <a:latin typeface="Arial"/>
              </a:rPr>
              <a:t>Dashboards</a:t>
            </a:r>
          </a:p>
          <a:p>
            <a:pPr algn="l">
              <a:spcAft>
                <a:spcPts val="300"/>
              </a:spcAft>
            </a:pPr>
            <a:r>
              <a:rPr sz="1150" b="0">
                <a:solidFill>
                  <a:srgbClr val="5B6372"/>
                </a:solidFill>
                <a:latin typeface="Arial"/>
              </a:rPr>
              <a:t>A single pane of glass correlates metrics, logs and alarms for fast troubleshooting.</a:t>
            </a:r>
          </a:p>
        </p:txBody>
      </p:sp>
      <p:sp>
        <p:nvSpPr>
          <p:cNvPr id="22" name="Rectangle 21"/>
          <p:cNvSpPr/>
          <p:nvPr/>
        </p:nvSpPr>
        <p:spPr>
          <a:xfrm>
            <a:off x="6231636" y="3313176"/>
            <a:ext cx="5180076" cy="131064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ectangle 22"/>
          <p:cNvSpPr/>
          <p:nvPr/>
        </p:nvSpPr>
        <p:spPr>
          <a:xfrm>
            <a:off x="6231636" y="3313176"/>
            <a:ext cx="91440" cy="1310640"/>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Oval 23"/>
          <p:cNvSpPr/>
          <p:nvPr/>
        </p:nvSpPr>
        <p:spPr>
          <a:xfrm>
            <a:off x="6487668" y="3694176"/>
            <a:ext cx="548640" cy="548640"/>
          </a:xfrm>
          <a:prstGeom prst="ellipse">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6487668" y="3694176"/>
            <a:ext cx="548640" cy="548640"/>
          </a:xfrm>
          <a:prstGeom prst="rect">
            <a:avLst/>
          </a:prstGeom>
          <a:noFill/>
        </p:spPr>
        <p:txBody>
          <a:bodyPr wrap="square" anchor="ctr">
            <a:spAutoFit/>
          </a:bodyPr>
          <a:lstStyle/>
          <a:p>
            <a:pPr algn="ctr">
              <a:spcAft>
                <a:spcPts val="400"/>
              </a:spcAft>
            </a:pPr>
            <a:r>
              <a:rPr sz="1800" b="1">
                <a:solidFill>
                  <a:srgbClr val="FFFFFF"/>
                </a:solidFill>
                <a:latin typeface="Arial"/>
              </a:rPr>
              <a:t>4</a:t>
            </a:r>
          </a:p>
        </p:txBody>
      </p:sp>
      <p:sp>
        <p:nvSpPr>
          <p:cNvPr id="26" name="TextBox 25"/>
          <p:cNvSpPr txBox="1"/>
          <p:nvPr/>
        </p:nvSpPr>
        <p:spPr>
          <a:xfrm>
            <a:off x="7219188" y="3422904"/>
            <a:ext cx="3973068" cy="1127760"/>
          </a:xfrm>
          <a:prstGeom prst="rect">
            <a:avLst/>
          </a:prstGeom>
          <a:noFill/>
        </p:spPr>
        <p:txBody>
          <a:bodyPr wrap="square" anchor="ctr">
            <a:spAutoFit/>
          </a:bodyPr>
          <a:lstStyle/>
          <a:p>
            <a:pPr algn="l">
              <a:spcAft>
                <a:spcPts val="300"/>
              </a:spcAft>
            </a:pPr>
            <a:r>
              <a:rPr sz="1550" b="1">
                <a:solidFill>
                  <a:srgbClr val="161B26"/>
                </a:solidFill>
                <a:latin typeface="Arial"/>
              </a:rPr>
              <a:t>Alarms &amp; composite alarms</a:t>
            </a:r>
          </a:p>
          <a:p>
            <a:pPr algn="l">
              <a:spcAft>
                <a:spcPts val="300"/>
              </a:spcAft>
            </a:pPr>
            <a:r>
              <a:rPr sz="1150" b="0">
                <a:solidFill>
                  <a:srgbClr val="5B6372"/>
                </a:solidFill>
                <a:latin typeface="Arial"/>
              </a:rPr>
              <a:t>Thresholds and anomaly detection notify SNS or trigger auto-remediation before users are affected.</a:t>
            </a:r>
          </a:p>
        </p:txBody>
      </p:sp>
      <p:sp>
        <p:nvSpPr>
          <p:cNvPr id="27" name="Rectangle 26"/>
          <p:cNvSpPr/>
          <p:nvPr/>
        </p:nvSpPr>
        <p:spPr>
          <a:xfrm>
            <a:off x="777240" y="4843272"/>
            <a:ext cx="5180076" cy="131064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Rectangle 27"/>
          <p:cNvSpPr/>
          <p:nvPr/>
        </p:nvSpPr>
        <p:spPr>
          <a:xfrm>
            <a:off x="777240" y="4843272"/>
            <a:ext cx="91440" cy="1310640"/>
          </a:xfrm>
          <a:prstGeom prst="rect">
            <a:avLst/>
          </a:prstGeom>
          <a:solidFill>
            <a:srgbClr val="EC711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Oval 28"/>
          <p:cNvSpPr/>
          <p:nvPr/>
        </p:nvSpPr>
        <p:spPr>
          <a:xfrm>
            <a:off x="1033272" y="5224272"/>
            <a:ext cx="548640" cy="548640"/>
          </a:xfrm>
          <a:prstGeom prst="ellipse">
            <a:avLst/>
          </a:prstGeom>
          <a:solidFill>
            <a:srgbClr val="EC711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1033272" y="5224272"/>
            <a:ext cx="548640" cy="548640"/>
          </a:xfrm>
          <a:prstGeom prst="rect">
            <a:avLst/>
          </a:prstGeom>
          <a:noFill/>
        </p:spPr>
        <p:txBody>
          <a:bodyPr wrap="square" anchor="ctr">
            <a:spAutoFit/>
          </a:bodyPr>
          <a:lstStyle/>
          <a:p>
            <a:pPr algn="ctr">
              <a:spcAft>
                <a:spcPts val="400"/>
              </a:spcAft>
            </a:pPr>
            <a:r>
              <a:rPr sz="1800" b="1">
                <a:solidFill>
                  <a:srgbClr val="FFFFFF"/>
                </a:solidFill>
                <a:latin typeface="Arial"/>
              </a:rPr>
              <a:t>5</a:t>
            </a:r>
          </a:p>
        </p:txBody>
      </p:sp>
      <p:sp>
        <p:nvSpPr>
          <p:cNvPr id="31" name="TextBox 30"/>
          <p:cNvSpPr txBox="1"/>
          <p:nvPr/>
        </p:nvSpPr>
        <p:spPr>
          <a:xfrm>
            <a:off x="1764792" y="4953000"/>
            <a:ext cx="3973068" cy="1127760"/>
          </a:xfrm>
          <a:prstGeom prst="rect">
            <a:avLst/>
          </a:prstGeom>
          <a:noFill/>
        </p:spPr>
        <p:txBody>
          <a:bodyPr wrap="square" anchor="ctr">
            <a:spAutoFit/>
          </a:bodyPr>
          <a:lstStyle/>
          <a:p>
            <a:pPr algn="l">
              <a:spcAft>
                <a:spcPts val="300"/>
              </a:spcAft>
            </a:pPr>
            <a:r>
              <a:rPr sz="1550" b="1">
                <a:solidFill>
                  <a:srgbClr val="161B26"/>
                </a:solidFill>
                <a:latin typeface="Arial"/>
              </a:rPr>
              <a:t>Tracing &amp; insights</a:t>
            </a:r>
          </a:p>
          <a:p>
            <a:pPr algn="l">
              <a:spcAft>
                <a:spcPts val="300"/>
              </a:spcAft>
            </a:pPr>
            <a:r>
              <a:rPr sz="1150" b="0">
                <a:solidFill>
                  <a:srgbClr val="5B6372"/>
                </a:solidFill>
                <a:latin typeface="Arial"/>
              </a:rPr>
              <a:t>X-Ray traces distributed requests; CloudWatch Logs Insights and Container/Lambda Insights find the root cause.</a:t>
            </a:r>
          </a:p>
        </p:txBody>
      </p:sp>
      <p:sp>
        <p:nvSpPr>
          <p:cNvPr id="32" name="Rectangle 31"/>
          <p:cNvSpPr/>
          <p:nvPr/>
        </p:nvSpPr>
        <p:spPr>
          <a:xfrm>
            <a:off x="6231636" y="4843272"/>
            <a:ext cx="5180076" cy="131064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Rectangle 32"/>
          <p:cNvSpPr/>
          <p:nvPr/>
        </p:nvSpPr>
        <p:spPr>
          <a:xfrm>
            <a:off x="6231636" y="4843272"/>
            <a:ext cx="91440" cy="1310640"/>
          </a:xfrm>
          <a:prstGeom prst="rect">
            <a:avLst/>
          </a:prstGeom>
          <a:solidFill>
            <a:srgbClr val="0E9EC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Oval 33"/>
          <p:cNvSpPr/>
          <p:nvPr/>
        </p:nvSpPr>
        <p:spPr>
          <a:xfrm>
            <a:off x="6487668" y="5224272"/>
            <a:ext cx="548640" cy="548640"/>
          </a:xfrm>
          <a:prstGeom prst="ellipse">
            <a:avLst/>
          </a:prstGeom>
          <a:solidFill>
            <a:srgbClr val="0E9EC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TextBox 34"/>
          <p:cNvSpPr txBox="1"/>
          <p:nvPr/>
        </p:nvSpPr>
        <p:spPr>
          <a:xfrm>
            <a:off x="6487668" y="5224272"/>
            <a:ext cx="548640" cy="548640"/>
          </a:xfrm>
          <a:prstGeom prst="rect">
            <a:avLst/>
          </a:prstGeom>
          <a:noFill/>
        </p:spPr>
        <p:txBody>
          <a:bodyPr wrap="square" anchor="ctr">
            <a:spAutoFit/>
          </a:bodyPr>
          <a:lstStyle/>
          <a:p>
            <a:pPr algn="ctr">
              <a:spcAft>
                <a:spcPts val="400"/>
              </a:spcAft>
            </a:pPr>
            <a:r>
              <a:rPr sz="1800" b="1">
                <a:solidFill>
                  <a:srgbClr val="FFFFFF"/>
                </a:solidFill>
                <a:latin typeface="Arial"/>
              </a:rPr>
              <a:t>6</a:t>
            </a:r>
          </a:p>
        </p:txBody>
      </p:sp>
      <p:sp>
        <p:nvSpPr>
          <p:cNvPr id="36" name="TextBox 35"/>
          <p:cNvSpPr txBox="1"/>
          <p:nvPr/>
        </p:nvSpPr>
        <p:spPr>
          <a:xfrm>
            <a:off x="7219188" y="4953000"/>
            <a:ext cx="3973068" cy="1127760"/>
          </a:xfrm>
          <a:prstGeom prst="rect">
            <a:avLst/>
          </a:prstGeom>
          <a:noFill/>
        </p:spPr>
        <p:txBody>
          <a:bodyPr wrap="square" anchor="ctr">
            <a:spAutoFit/>
          </a:bodyPr>
          <a:lstStyle/>
          <a:p>
            <a:pPr algn="l">
              <a:spcAft>
                <a:spcPts val="300"/>
              </a:spcAft>
            </a:pPr>
            <a:r>
              <a:rPr sz="1550" b="1">
                <a:solidFill>
                  <a:srgbClr val="161B26"/>
                </a:solidFill>
                <a:latin typeface="Arial"/>
              </a:rPr>
              <a:t>Aggregation at scale</a:t>
            </a:r>
          </a:p>
          <a:p>
            <a:pPr algn="l">
              <a:spcAft>
                <a:spcPts val="300"/>
              </a:spcAft>
            </a:pPr>
            <a:r>
              <a:rPr sz="1150" b="0">
                <a:solidFill>
                  <a:srgbClr val="5B6372"/>
                </a:solidFill>
                <a:latin typeface="Arial"/>
              </a:rPr>
              <a:t>Cross-account observability, the CloudWatch agent and OpenTelemetry centralise telemetry from many sources.</a:t>
            </a:r>
          </a:p>
        </p:txBody>
      </p:sp>
      <p:sp>
        <p:nvSpPr>
          <p:cNvPr id="37" name="TextBox 36"/>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DevOps Engineering on AWS  ·  TGS-2023040474</a:t>
            </a:r>
          </a:p>
        </p:txBody>
      </p:sp>
      <p:sp>
        <p:nvSpPr>
          <p:cNvPr id="38" name="TextBox 37"/>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39" name="TextBox 38"/>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133</a:t>
            </a:r>
          </a:p>
        </p:txBody>
      </p:sp>
    </p:spTree>
  </p:cSld>
  <p:clrMapOvr>
    <a:masterClrMapping/>
  </p:clrMapOvr>
  <p:transition xmlns:p14="http://schemas.microsoft.com/office/powerpoint/2010/main" p14:dur="380">
    <p:fade/>
  </p:transition>
</p:sld>
</file>

<file path=ppt/slides/slide13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38912"/>
            <a:ext cx="10607040" cy="365760"/>
          </a:xfrm>
          <a:prstGeom prst="rect">
            <a:avLst/>
          </a:prstGeom>
          <a:noFill/>
        </p:spPr>
        <p:txBody>
          <a:bodyPr wrap="square" anchor="t">
            <a:spAutoFit/>
          </a:bodyPr>
          <a:lstStyle/>
          <a:p>
            <a:pPr algn="l">
              <a:spcAft>
                <a:spcPts val="400"/>
              </a:spcAft>
            </a:pPr>
            <a:r>
              <a:rPr sz="1400" b="1">
                <a:solidFill>
                  <a:srgbClr val="F59E0B"/>
                </a:solidFill>
                <a:latin typeface="Arial"/>
              </a:rPr>
              <a:t>DOMAIN 04 · OBSERVABILITY</a:t>
            </a:r>
          </a:p>
        </p:txBody>
      </p:sp>
      <p:sp>
        <p:nvSpPr>
          <p:cNvPr id="5" name="TextBox 4"/>
          <p:cNvSpPr txBox="1"/>
          <p:nvPr/>
        </p:nvSpPr>
        <p:spPr>
          <a:xfrm>
            <a:off x="777240" y="804672"/>
            <a:ext cx="10927080" cy="731520"/>
          </a:xfrm>
          <a:prstGeom prst="rect">
            <a:avLst/>
          </a:prstGeom>
          <a:noFill/>
        </p:spPr>
        <p:txBody>
          <a:bodyPr wrap="square" anchor="t">
            <a:spAutoFit/>
          </a:bodyPr>
          <a:lstStyle/>
          <a:p>
            <a:pPr algn="l">
              <a:spcAft>
                <a:spcPts val="400"/>
              </a:spcAft>
            </a:pPr>
            <a:r>
              <a:rPr sz="2900" b="1">
                <a:solidFill>
                  <a:srgbClr val="161B26"/>
                </a:solidFill>
                <a:latin typeface="Arial"/>
              </a:rPr>
              <a:t>Monitoring &amp; Logging Pipeline</a:t>
            </a:r>
          </a:p>
        </p:txBody>
      </p:sp>
      <p:sp>
        <p:nvSpPr>
          <p:cNvPr id="6" name="Rectangle 5"/>
          <p:cNvSpPr/>
          <p:nvPr/>
        </p:nvSpPr>
        <p:spPr>
          <a:xfrm>
            <a:off x="777240" y="1572768"/>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ounded Rectangle 6"/>
          <p:cNvSpPr/>
          <p:nvPr/>
        </p:nvSpPr>
        <p:spPr>
          <a:xfrm>
            <a:off x="777240" y="1965960"/>
            <a:ext cx="2377440" cy="1051560"/>
          </a:xfrm>
          <a:prstGeom prst="roundRect">
            <a:avLst/>
          </a:prstGeom>
          <a:solidFill>
            <a:srgbClr val="F5F8FC"/>
          </a:solidFill>
          <a:ln w="15875">
            <a:solidFill>
              <a:srgbClr val="10B98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1965960"/>
            <a:ext cx="2377440" cy="82296"/>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868680" y="2075688"/>
            <a:ext cx="2194560" cy="868680"/>
          </a:xfrm>
          <a:prstGeom prst="rect">
            <a:avLst/>
          </a:prstGeom>
          <a:noFill/>
        </p:spPr>
        <p:txBody>
          <a:bodyPr wrap="square" anchor="ctr">
            <a:spAutoFit/>
          </a:bodyPr>
          <a:lstStyle/>
          <a:p>
            <a:pPr algn="ctr">
              <a:spcAft>
                <a:spcPts val="400"/>
              </a:spcAft>
            </a:pPr>
            <a:r>
              <a:rPr sz="1300" b="1">
                <a:solidFill>
                  <a:srgbClr val="161B26"/>
                </a:solidFill>
                <a:latin typeface="Arial"/>
              </a:rPr>
              <a:t>App + EC2
CloudWatch agent</a:t>
            </a:r>
          </a:p>
        </p:txBody>
      </p:sp>
      <p:sp>
        <p:nvSpPr>
          <p:cNvPr id="10" name="Rounded Rectangle 9"/>
          <p:cNvSpPr/>
          <p:nvPr/>
        </p:nvSpPr>
        <p:spPr>
          <a:xfrm>
            <a:off x="3520440" y="1965960"/>
            <a:ext cx="2377440" cy="1051560"/>
          </a:xfrm>
          <a:prstGeom prst="roundRect">
            <a:avLst/>
          </a:prstGeom>
          <a:solidFill>
            <a:srgbClr val="F5F8FC"/>
          </a:solidFill>
          <a:ln w="15875">
            <a:solidFill>
              <a:srgbClr val="1F6FE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ectangle 10"/>
          <p:cNvSpPr/>
          <p:nvPr/>
        </p:nvSpPr>
        <p:spPr>
          <a:xfrm>
            <a:off x="3520440" y="1965960"/>
            <a:ext cx="2377440" cy="82296"/>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3611880" y="2075688"/>
            <a:ext cx="2194560" cy="868680"/>
          </a:xfrm>
          <a:prstGeom prst="rect">
            <a:avLst/>
          </a:prstGeom>
          <a:noFill/>
        </p:spPr>
        <p:txBody>
          <a:bodyPr wrap="square" anchor="ctr">
            <a:spAutoFit/>
          </a:bodyPr>
          <a:lstStyle/>
          <a:p>
            <a:pPr algn="ctr">
              <a:spcAft>
                <a:spcPts val="400"/>
              </a:spcAft>
            </a:pPr>
            <a:r>
              <a:rPr sz="1300" b="1">
                <a:solidFill>
                  <a:srgbClr val="161B26"/>
                </a:solidFill>
                <a:latin typeface="Arial"/>
              </a:rPr>
              <a:t>CloudWatch Logs
log groups</a:t>
            </a:r>
          </a:p>
        </p:txBody>
      </p:sp>
      <p:sp>
        <p:nvSpPr>
          <p:cNvPr id="13" name="Rounded Rectangle 12"/>
          <p:cNvSpPr/>
          <p:nvPr/>
        </p:nvSpPr>
        <p:spPr>
          <a:xfrm>
            <a:off x="3520440" y="3657600"/>
            <a:ext cx="2377440" cy="1051560"/>
          </a:xfrm>
          <a:prstGeom prst="roundRect">
            <a:avLst/>
          </a:prstGeom>
          <a:solidFill>
            <a:srgbClr val="F5F8FC"/>
          </a:solidFill>
          <a:ln w="15875">
            <a:solidFill>
              <a:srgbClr val="1F6FE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ectangle 13"/>
          <p:cNvSpPr/>
          <p:nvPr/>
        </p:nvSpPr>
        <p:spPr>
          <a:xfrm>
            <a:off x="3520440" y="3657600"/>
            <a:ext cx="2377440" cy="82296"/>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3611880" y="3767328"/>
            <a:ext cx="2194560" cy="868680"/>
          </a:xfrm>
          <a:prstGeom prst="rect">
            <a:avLst/>
          </a:prstGeom>
          <a:noFill/>
        </p:spPr>
        <p:txBody>
          <a:bodyPr wrap="square" anchor="ctr">
            <a:spAutoFit/>
          </a:bodyPr>
          <a:lstStyle/>
          <a:p>
            <a:pPr algn="ctr">
              <a:spcAft>
                <a:spcPts val="400"/>
              </a:spcAft>
            </a:pPr>
            <a:r>
              <a:rPr sz="1300" b="1">
                <a:solidFill>
                  <a:srgbClr val="161B26"/>
                </a:solidFill>
                <a:latin typeface="Arial"/>
              </a:rPr>
              <a:t>CloudWatch Metrics
+ custom metrics</a:t>
            </a:r>
          </a:p>
        </p:txBody>
      </p:sp>
      <p:sp>
        <p:nvSpPr>
          <p:cNvPr id="16" name="Rounded Rectangle 15"/>
          <p:cNvSpPr/>
          <p:nvPr/>
        </p:nvSpPr>
        <p:spPr>
          <a:xfrm>
            <a:off x="6263640" y="1965960"/>
            <a:ext cx="2377440" cy="1051560"/>
          </a:xfrm>
          <a:prstGeom prst="roundRect">
            <a:avLst/>
          </a:prstGeom>
          <a:solidFill>
            <a:srgbClr val="F5F8FC"/>
          </a:solidFill>
          <a:ln w="15875">
            <a:solidFill>
              <a:srgbClr val="7C3AED"/>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ectangle 16"/>
          <p:cNvSpPr/>
          <p:nvPr/>
        </p:nvSpPr>
        <p:spPr>
          <a:xfrm>
            <a:off x="6263640" y="1965960"/>
            <a:ext cx="2377440" cy="82296"/>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6355080" y="2075688"/>
            <a:ext cx="2194560" cy="868680"/>
          </a:xfrm>
          <a:prstGeom prst="rect">
            <a:avLst/>
          </a:prstGeom>
          <a:noFill/>
        </p:spPr>
        <p:txBody>
          <a:bodyPr wrap="square" anchor="ctr">
            <a:spAutoFit/>
          </a:bodyPr>
          <a:lstStyle/>
          <a:p>
            <a:pPr algn="ctr">
              <a:spcAft>
                <a:spcPts val="400"/>
              </a:spcAft>
            </a:pPr>
            <a:r>
              <a:rPr sz="1300" b="1">
                <a:solidFill>
                  <a:srgbClr val="161B26"/>
                </a:solidFill>
                <a:latin typeface="Arial"/>
              </a:rPr>
              <a:t>Metric Filters
/ Logs Insights</a:t>
            </a:r>
          </a:p>
        </p:txBody>
      </p:sp>
      <p:sp>
        <p:nvSpPr>
          <p:cNvPr id="19" name="Rounded Rectangle 18"/>
          <p:cNvSpPr/>
          <p:nvPr/>
        </p:nvSpPr>
        <p:spPr>
          <a:xfrm>
            <a:off x="9006840" y="1965960"/>
            <a:ext cx="2377440" cy="1051560"/>
          </a:xfrm>
          <a:prstGeom prst="roundRect">
            <a:avLst/>
          </a:prstGeom>
          <a:solidFill>
            <a:srgbClr val="F5F8FC"/>
          </a:solidFill>
          <a:ln w="15875">
            <a:solidFill>
              <a:srgbClr val="F59E0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Rectangle 19"/>
          <p:cNvSpPr/>
          <p:nvPr/>
        </p:nvSpPr>
        <p:spPr>
          <a:xfrm>
            <a:off x="9006840" y="1965960"/>
            <a:ext cx="2377440" cy="82296"/>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9098280" y="2075688"/>
            <a:ext cx="2194560" cy="868680"/>
          </a:xfrm>
          <a:prstGeom prst="rect">
            <a:avLst/>
          </a:prstGeom>
          <a:noFill/>
        </p:spPr>
        <p:txBody>
          <a:bodyPr wrap="square" anchor="ctr">
            <a:spAutoFit/>
          </a:bodyPr>
          <a:lstStyle/>
          <a:p>
            <a:pPr algn="ctr">
              <a:spcAft>
                <a:spcPts val="400"/>
              </a:spcAft>
            </a:pPr>
            <a:r>
              <a:rPr sz="1300" b="1">
                <a:solidFill>
                  <a:srgbClr val="161B26"/>
                </a:solidFill>
                <a:latin typeface="Arial"/>
              </a:rPr>
              <a:t>Dashboards</a:t>
            </a:r>
          </a:p>
        </p:txBody>
      </p:sp>
      <p:sp>
        <p:nvSpPr>
          <p:cNvPr id="22" name="Rounded Rectangle 21"/>
          <p:cNvSpPr/>
          <p:nvPr/>
        </p:nvSpPr>
        <p:spPr>
          <a:xfrm>
            <a:off x="6263640" y="3657600"/>
            <a:ext cx="2377440" cy="1051560"/>
          </a:xfrm>
          <a:prstGeom prst="roundRect">
            <a:avLst/>
          </a:prstGeom>
          <a:solidFill>
            <a:srgbClr val="F5F8FC"/>
          </a:solidFill>
          <a:ln w="15875">
            <a:solidFill>
              <a:srgbClr val="EC711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ectangle 22"/>
          <p:cNvSpPr/>
          <p:nvPr/>
        </p:nvSpPr>
        <p:spPr>
          <a:xfrm>
            <a:off x="6263640" y="3657600"/>
            <a:ext cx="2377440" cy="82296"/>
          </a:xfrm>
          <a:prstGeom prst="rect">
            <a:avLst/>
          </a:prstGeom>
          <a:solidFill>
            <a:srgbClr val="EC711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6355080" y="3767328"/>
            <a:ext cx="2194560" cy="868680"/>
          </a:xfrm>
          <a:prstGeom prst="rect">
            <a:avLst/>
          </a:prstGeom>
          <a:noFill/>
        </p:spPr>
        <p:txBody>
          <a:bodyPr wrap="square" anchor="ctr">
            <a:spAutoFit/>
          </a:bodyPr>
          <a:lstStyle/>
          <a:p>
            <a:pPr algn="ctr">
              <a:spcAft>
                <a:spcPts val="400"/>
              </a:spcAft>
            </a:pPr>
            <a:r>
              <a:rPr sz="1300" b="1">
                <a:solidFill>
                  <a:srgbClr val="161B26"/>
                </a:solidFill>
                <a:latin typeface="Arial"/>
              </a:rPr>
              <a:t>Alarms</a:t>
            </a:r>
          </a:p>
        </p:txBody>
      </p:sp>
      <p:sp>
        <p:nvSpPr>
          <p:cNvPr id="25" name="Rounded Rectangle 24"/>
          <p:cNvSpPr/>
          <p:nvPr/>
        </p:nvSpPr>
        <p:spPr>
          <a:xfrm>
            <a:off x="9006840" y="3657600"/>
            <a:ext cx="2377440" cy="1051560"/>
          </a:xfrm>
          <a:prstGeom prst="roundRect">
            <a:avLst/>
          </a:prstGeom>
          <a:solidFill>
            <a:srgbClr val="F5F8FC"/>
          </a:solidFill>
          <a:ln w="15875">
            <a:solidFill>
              <a:srgbClr val="C0392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Rectangle 25"/>
          <p:cNvSpPr/>
          <p:nvPr/>
        </p:nvSpPr>
        <p:spPr>
          <a:xfrm>
            <a:off x="9006840" y="3657600"/>
            <a:ext cx="2377440" cy="82296"/>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TextBox 26"/>
          <p:cNvSpPr txBox="1"/>
          <p:nvPr/>
        </p:nvSpPr>
        <p:spPr>
          <a:xfrm>
            <a:off x="9098280" y="3767328"/>
            <a:ext cx="2194560" cy="868680"/>
          </a:xfrm>
          <a:prstGeom prst="rect">
            <a:avLst/>
          </a:prstGeom>
          <a:noFill/>
        </p:spPr>
        <p:txBody>
          <a:bodyPr wrap="square" anchor="ctr">
            <a:spAutoFit/>
          </a:bodyPr>
          <a:lstStyle/>
          <a:p>
            <a:pPr algn="ctr">
              <a:spcAft>
                <a:spcPts val="400"/>
              </a:spcAft>
            </a:pPr>
            <a:r>
              <a:rPr sz="1300" b="1">
                <a:solidFill>
                  <a:srgbClr val="161B26"/>
                </a:solidFill>
                <a:latin typeface="Arial"/>
              </a:rPr>
              <a:t>SNS notify</a:t>
            </a:r>
          </a:p>
        </p:txBody>
      </p:sp>
      <p:cxnSp>
        <p:nvCxnSpPr>
          <p:cNvPr id="28" name="Connector 27"/>
          <p:cNvCxnSpPr/>
          <p:nvPr/>
        </p:nvCxnSpPr>
        <p:spPr>
          <a:xfrm>
            <a:off x="3154680" y="2491740"/>
            <a:ext cx="365760" cy="0"/>
          </a:xfrm>
          <a:prstGeom prst="line">
            <a:avLst/>
          </a:prstGeom>
          <a:ln w="22225">
            <a:solidFill>
              <a:srgbClr val="5B6372"/>
            </a:solidFill>
            <a:tailEnd type="triangle" w="med" len="med"/>
          </a:ln>
          <a:effectLst/>
        </p:spPr>
        <p:style>
          <a:lnRef idx="2">
            <a:schemeClr val="accent1"/>
          </a:lnRef>
          <a:fillRef idx="0">
            <a:schemeClr val="accent1"/>
          </a:fillRef>
          <a:effectRef idx="1">
            <a:schemeClr val="accent1"/>
          </a:effectRef>
          <a:fontRef idx="minor">
            <a:schemeClr val="tx1"/>
          </a:fontRef>
        </p:style>
      </p:cxnSp>
      <p:cxnSp>
        <p:nvCxnSpPr>
          <p:cNvPr id="29" name="Connector 28"/>
          <p:cNvCxnSpPr/>
          <p:nvPr/>
        </p:nvCxnSpPr>
        <p:spPr>
          <a:xfrm>
            <a:off x="3154680" y="2491740"/>
            <a:ext cx="365760" cy="1691640"/>
          </a:xfrm>
          <a:prstGeom prst="line">
            <a:avLst/>
          </a:prstGeom>
          <a:ln w="22225">
            <a:solidFill>
              <a:srgbClr val="5B6372"/>
            </a:solidFill>
            <a:tailEnd type="triangle" w="med" len="med"/>
          </a:ln>
          <a:effectLst/>
        </p:spPr>
        <p:style>
          <a:lnRef idx="2">
            <a:schemeClr val="accent1"/>
          </a:lnRef>
          <a:fillRef idx="0">
            <a:schemeClr val="accent1"/>
          </a:fillRef>
          <a:effectRef idx="1">
            <a:schemeClr val="accent1"/>
          </a:effectRef>
          <a:fontRef idx="minor">
            <a:schemeClr val="tx1"/>
          </a:fontRef>
        </p:style>
      </p:cxnSp>
      <p:cxnSp>
        <p:nvCxnSpPr>
          <p:cNvPr id="30" name="Connector 29"/>
          <p:cNvCxnSpPr/>
          <p:nvPr/>
        </p:nvCxnSpPr>
        <p:spPr>
          <a:xfrm>
            <a:off x="5897880" y="2491740"/>
            <a:ext cx="365760" cy="0"/>
          </a:xfrm>
          <a:prstGeom prst="line">
            <a:avLst/>
          </a:prstGeom>
          <a:ln w="22225">
            <a:solidFill>
              <a:srgbClr val="5B6372"/>
            </a:solidFill>
            <a:tailEnd type="triangle" w="med" len="med"/>
          </a:ln>
          <a:effectLst/>
        </p:spPr>
        <p:style>
          <a:lnRef idx="2">
            <a:schemeClr val="accent1"/>
          </a:lnRef>
          <a:fillRef idx="0">
            <a:schemeClr val="accent1"/>
          </a:fillRef>
          <a:effectRef idx="1">
            <a:schemeClr val="accent1"/>
          </a:effectRef>
          <a:fontRef idx="minor">
            <a:schemeClr val="tx1"/>
          </a:fontRef>
        </p:style>
      </p:cxnSp>
      <p:cxnSp>
        <p:nvCxnSpPr>
          <p:cNvPr id="31" name="Connector 30"/>
          <p:cNvCxnSpPr/>
          <p:nvPr/>
        </p:nvCxnSpPr>
        <p:spPr>
          <a:xfrm>
            <a:off x="8641080" y="2491740"/>
            <a:ext cx="365760" cy="0"/>
          </a:xfrm>
          <a:prstGeom prst="line">
            <a:avLst/>
          </a:prstGeom>
          <a:ln w="22225">
            <a:solidFill>
              <a:srgbClr val="5B6372"/>
            </a:solidFill>
            <a:tailEnd type="triangle" w="med" len="med"/>
          </a:ln>
          <a:effectLst/>
        </p:spPr>
        <p:style>
          <a:lnRef idx="2">
            <a:schemeClr val="accent1"/>
          </a:lnRef>
          <a:fillRef idx="0">
            <a:schemeClr val="accent1"/>
          </a:fillRef>
          <a:effectRef idx="1">
            <a:schemeClr val="accent1"/>
          </a:effectRef>
          <a:fontRef idx="minor">
            <a:schemeClr val="tx1"/>
          </a:fontRef>
        </p:style>
      </p:cxnSp>
      <p:cxnSp>
        <p:nvCxnSpPr>
          <p:cNvPr id="32" name="Connector 31"/>
          <p:cNvCxnSpPr/>
          <p:nvPr/>
        </p:nvCxnSpPr>
        <p:spPr>
          <a:xfrm>
            <a:off x="5897880" y="4183380"/>
            <a:ext cx="365760" cy="0"/>
          </a:xfrm>
          <a:prstGeom prst="line">
            <a:avLst/>
          </a:prstGeom>
          <a:ln w="22225">
            <a:solidFill>
              <a:srgbClr val="5B6372"/>
            </a:solidFill>
            <a:tailEnd type="triangle" w="med" len="med"/>
          </a:ln>
          <a:effectLst/>
        </p:spPr>
        <p:style>
          <a:lnRef idx="2">
            <a:schemeClr val="accent1"/>
          </a:lnRef>
          <a:fillRef idx="0">
            <a:schemeClr val="accent1"/>
          </a:fillRef>
          <a:effectRef idx="1">
            <a:schemeClr val="accent1"/>
          </a:effectRef>
          <a:fontRef idx="minor">
            <a:schemeClr val="tx1"/>
          </a:fontRef>
        </p:style>
      </p:cxnSp>
      <p:cxnSp>
        <p:nvCxnSpPr>
          <p:cNvPr id="33" name="Connector 32"/>
          <p:cNvCxnSpPr/>
          <p:nvPr/>
        </p:nvCxnSpPr>
        <p:spPr>
          <a:xfrm>
            <a:off x="8641080" y="4183380"/>
            <a:ext cx="365760" cy="0"/>
          </a:xfrm>
          <a:prstGeom prst="line">
            <a:avLst/>
          </a:prstGeom>
          <a:ln w="22225">
            <a:solidFill>
              <a:srgbClr val="5B6372"/>
            </a:solidFill>
            <a:tailEnd type="triangle" w="med" len="med"/>
          </a:ln>
          <a:effectLst/>
        </p:spPr>
        <p:style>
          <a:lnRef idx="2">
            <a:schemeClr val="accent1"/>
          </a:lnRef>
          <a:fillRef idx="0">
            <a:schemeClr val="accent1"/>
          </a:fillRef>
          <a:effectRef idx="1">
            <a:schemeClr val="accent1"/>
          </a:effectRef>
          <a:fontRef idx="minor">
            <a:schemeClr val="tx1"/>
          </a:fontRef>
        </p:style>
      </p:cxnSp>
      <p:sp>
        <p:nvSpPr>
          <p:cNvPr id="34" name="Rectangle 33"/>
          <p:cNvSpPr/>
          <p:nvPr/>
        </p:nvSpPr>
        <p:spPr>
          <a:xfrm>
            <a:off x="777240" y="5669280"/>
            <a:ext cx="10634472" cy="54864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TextBox 34"/>
          <p:cNvSpPr txBox="1"/>
          <p:nvPr/>
        </p:nvSpPr>
        <p:spPr>
          <a:xfrm>
            <a:off x="1005840" y="5742432"/>
            <a:ext cx="10241280" cy="411480"/>
          </a:xfrm>
          <a:prstGeom prst="rect">
            <a:avLst/>
          </a:prstGeom>
          <a:noFill/>
        </p:spPr>
        <p:txBody>
          <a:bodyPr wrap="square" anchor="ctr">
            <a:spAutoFit/>
          </a:bodyPr>
          <a:lstStyle/>
          <a:p>
            <a:pPr algn="l">
              <a:spcAft>
                <a:spcPts val="400"/>
              </a:spcAft>
            </a:pPr>
            <a:r>
              <a:rPr sz="1300" b="1">
                <a:solidFill>
                  <a:srgbClr val="F59E0B"/>
                </a:solidFill>
                <a:latin typeface="Arial"/>
              </a:rPr>
              <a:t>▶  </a:t>
            </a:r>
            <a:r>
              <a:rPr sz="1300" b="0">
                <a:solidFill>
                  <a:srgbClr val="161B26"/>
                </a:solidFill>
                <a:latin typeface="Arial"/>
              </a:rPr>
              <a:t>Logs and metrics feed dashboards and alarms; alarms notify SNS and trigger the incident response in Domain 05.</a:t>
            </a:r>
          </a:p>
        </p:txBody>
      </p:sp>
      <p:sp>
        <p:nvSpPr>
          <p:cNvPr id="36" name="TextBox 35"/>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DevOps Engineering on AWS  ·  TGS-2023040474</a:t>
            </a:r>
          </a:p>
        </p:txBody>
      </p:sp>
      <p:sp>
        <p:nvSpPr>
          <p:cNvPr id="37" name="TextBox 36"/>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38" name="TextBox 37"/>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134</a:t>
            </a:r>
          </a:p>
        </p:txBody>
      </p:sp>
    </p:spTree>
  </p:cSld>
  <p:clrMapOvr>
    <a:masterClrMapping/>
  </p:clrMapOvr>
  <p:transition xmlns:p14="http://schemas.microsoft.com/office/powerpoint/2010/main" p14:dur="380">
    <p:fade/>
  </p:transition>
</p:sld>
</file>

<file path=ppt/slides/slide13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38912"/>
            <a:ext cx="10607040" cy="365760"/>
          </a:xfrm>
          <a:prstGeom prst="rect">
            <a:avLst/>
          </a:prstGeom>
          <a:noFill/>
        </p:spPr>
        <p:txBody>
          <a:bodyPr wrap="square" anchor="t">
            <a:spAutoFit/>
          </a:bodyPr>
          <a:lstStyle/>
          <a:p>
            <a:pPr algn="l">
              <a:spcAft>
                <a:spcPts val="400"/>
              </a:spcAft>
            </a:pPr>
            <a:r>
              <a:rPr sz="1400" b="1">
                <a:solidFill>
                  <a:srgbClr val="F59E0B"/>
                </a:solidFill>
                <a:latin typeface="Arial"/>
              </a:rPr>
              <a:t>KNOW YOUR SIGNALS</a:t>
            </a:r>
          </a:p>
        </p:txBody>
      </p:sp>
      <p:sp>
        <p:nvSpPr>
          <p:cNvPr id="5" name="TextBox 4"/>
          <p:cNvSpPr txBox="1"/>
          <p:nvPr/>
        </p:nvSpPr>
        <p:spPr>
          <a:xfrm>
            <a:off x="777240" y="804672"/>
            <a:ext cx="10927080" cy="731520"/>
          </a:xfrm>
          <a:prstGeom prst="rect">
            <a:avLst/>
          </a:prstGeom>
          <a:noFill/>
        </p:spPr>
        <p:txBody>
          <a:bodyPr wrap="square" anchor="t">
            <a:spAutoFit/>
          </a:bodyPr>
          <a:lstStyle/>
          <a:p>
            <a:pPr algn="l">
              <a:spcAft>
                <a:spcPts val="400"/>
              </a:spcAft>
            </a:pPr>
            <a:r>
              <a:rPr sz="2900" b="1">
                <a:solidFill>
                  <a:srgbClr val="161B26"/>
                </a:solidFill>
                <a:latin typeface="Arial"/>
              </a:rPr>
              <a:t>The Three Pillars of Observability</a:t>
            </a:r>
          </a:p>
        </p:txBody>
      </p:sp>
      <p:sp>
        <p:nvSpPr>
          <p:cNvPr id="6" name="Rectangle 5"/>
          <p:cNvSpPr/>
          <p:nvPr/>
        </p:nvSpPr>
        <p:spPr>
          <a:xfrm>
            <a:off x="777240" y="1572768"/>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783080"/>
            <a:ext cx="5180076" cy="207568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1783080"/>
            <a:ext cx="91440" cy="2075688"/>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1033272" y="2546604"/>
            <a:ext cx="548640" cy="548640"/>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033272" y="2546604"/>
            <a:ext cx="548640" cy="548640"/>
          </a:xfrm>
          <a:prstGeom prst="rect">
            <a:avLst/>
          </a:prstGeom>
          <a:noFill/>
        </p:spPr>
        <p:txBody>
          <a:bodyPr wrap="square" anchor="ctr">
            <a:spAutoFit/>
          </a:bodyPr>
          <a:lstStyle/>
          <a:p>
            <a:pPr algn="ctr">
              <a:spcAft>
                <a:spcPts val="400"/>
              </a:spcAft>
            </a:pPr>
            <a:r>
              <a:rPr sz="1800" b="1">
                <a:solidFill>
                  <a:srgbClr val="FFFFFF"/>
                </a:solidFill>
                <a:latin typeface="Arial"/>
              </a:rPr>
              <a:t>1</a:t>
            </a:r>
          </a:p>
        </p:txBody>
      </p:sp>
      <p:sp>
        <p:nvSpPr>
          <p:cNvPr id="11" name="TextBox 10"/>
          <p:cNvSpPr txBox="1"/>
          <p:nvPr/>
        </p:nvSpPr>
        <p:spPr>
          <a:xfrm>
            <a:off x="1764792" y="1892808"/>
            <a:ext cx="3973068" cy="1892808"/>
          </a:xfrm>
          <a:prstGeom prst="rect">
            <a:avLst/>
          </a:prstGeom>
          <a:noFill/>
        </p:spPr>
        <p:txBody>
          <a:bodyPr wrap="square" anchor="ctr">
            <a:spAutoFit/>
          </a:bodyPr>
          <a:lstStyle/>
          <a:p>
            <a:pPr algn="l">
              <a:spcAft>
                <a:spcPts val="300"/>
              </a:spcAft>
            </a:pPr>
            <a:r>
              <a:rPr sz="1600" b="1">
                <a:solidFill>
                  <a:srgbClr val="161B26"/>
                </a:solidFill>
                <a:latin typeface="Arial"/>
              </a:rPr>
              <a:t>Metrics</a:t>
            </a:r>
          </a:p>
          <a:p>
            <a:pPr algn="l">
              <a:spcAft>
                <a:spcPts val="300"/>
              </a:spcAft>
            </a:pPr>
            <a:r>
              <a:rPr sz="1200" b="0">
                <a:solidFill>
                  <a:srgbClr val="5B6372"/>
                </a:solidFill>
                <a:latin typeface="Arial"/>
              </a:rPr>
              <a:t>Numeric time-series — CPU, latency, error rate, request count.</a:t>
            </a:r>
          </a:p>
        </p:txBody>
      </p:sp>
      <p:sp>
        <p:nvSpPr>
          <p:cNvPr id="12" name="Rectangle 11"/>
          <p:cNvSpPr/>
          <p:nvPr/>
        </p:nvSpPr>
        <p:spPr>
          <a:xfrm>
            <a:off x="6231636" y="1783080"/>
            <a:ext cx="5180076" cy="207568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6231636" y="1783080"/>
            <a:ext cx="91440" cy="2075688"/>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Oval 13"/>
          <p:cNvSpPr/>
          <p:nvPr/>
        </p:nvSpPr>
        <p:spPr>
          <a:xfrm>
            <a:off x="6487668" y="2546604"/>
            <a:ext cx="548640" cy="54864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6487668" y="2546604"/>
            <a:ext cx="548640" cy="548640"/>
          </a:xfrm>
          <a:prstGeom prst="rect">
            <a:avLst/>
          </a:prstGeom>
          <a:noFill/>
        </p:spPr>
        <p:txBody>
          <a:bodyPr wrap="square" anchor="ctr">
            <a:spAutoFit/>
          </a:bodyPr>
          <a:lstStyle/>
          <a:p>
            <a:pPr algn="ctr">
              <a:spcAft>
                <a:spcPts val="400"/>
              </a:spcAft>
            </a:pPr>
            <a:r>
              <a:rPr sz="1800" b="1">
                <a:solidFill>
                  <a:srgbClr val="FFFFFF"/>
                </a:solidFill>
                <a:latin typeface="Arial"/>
              </a:rPr>
              <a:t>2</a:t>
            </a:r>
          </a:p>
        </p:txBody>
      </p:sp>
      <p:sp>
        <p:nvSpPr>
          <p:cNvPr id="16" name="TextBox 15"/>
          <p:cNvSpPr txBox="1"/>
          <p:nvPr/>
        </p:nvSpPr>
        <p:spPr>
          <a:xfrm>
            <a:off x="7219188" y="1892808"/>
            <a:ext cx="3973068" cy="1892808"/>
          </a:xfrm>
          <a:prstGeom prst="rect">
            <a:avLst/>
          </a:prstGeom>
          <a:noFill/>
        </p:spPr>
        <p:txBody>
          <a:bodyPr wrap="square" anchor="ctr">
            <a:spAutoFit/>
          </a:bodyPr>
          <a:lstStyle/>
          <a:p>
            <a:pPr algn="l">
              <a:spcAft>
                <a:spcPts val="300"/>
              </a:spcAft>
            </a:pPr>
            <a:r>
              <a:rPr sz="1600" b="1">
                <a:solidFill>
                  <a:srgbClr val="161B26"/>
                </a:solidFill>
                <a:latin typeface="Arial"/>
              </a:rPr>
              <a:t>Logs</a:t>
            </a:r>
          </a:p>
          <a:p>
            <a:pPr algn="l">
              <a:spcAft>
                <a:spcPts val="300"/>
              </a:spcAft>
            </a:pPr>
            <a:r>
              <a:rPr sz="1200" b="0">
                <a:solidFill>
                  <a:srgbClr val="5B6372"/>
                </a:solidFill>
                <a:latin typeface="Arial"/>
              </a:rPr>
              <a:t>Event records — application, system and access logs in CloudWatch Logs.</a:t>
            </a:r>
          </a:p>
        </p:txBody>
      </p:sp>
      <p:sp>
        <p:nvSpPr>
          <p:cNvPr id="17" name="Rectangle 16"/>
          <p:cNvSpPr/>
          <p:nvPr/>
        </p:nvSpPr>
        <p:spPr>
          <a:xfrm>
            <a:off x="777240" y="4078224"/>
            <a:ext cx="5180076" cy="207568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777240" y="4078224"/>
            <a:ext cx="91440" cy="2075688"/>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Oval 18"/>
          <p:cNvSpPr/>
          <p:nvPr/>
        </p:nvSpPr>
        <p:spPr>
          <a:xfrm>
            <a:off x="1033272" y="4841748"/>
            <a:ext cx="548640" cy="548640"/>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1033272" y="4841748"/>
            <a:ext cx="548640" cy="548640"/>
          </a:xfrm>
          <a:prstGeom prst="rect">
            <a:avLst/>
          </a:prstGeom>
          <a:noFill/>
        </p:spPr>
        <p:txBody>
          <a:bodyPr wrap="square" anchor="ctr">
            <a:spAutoFit/>
          </a:bodyPr>
          <a:lstStyle/>
          <a:p>
            <a:pPr algn="ctr">
              <a:spcAft>
                <a:spcPts val="400"/>
              </a:spcAft>
            </a:pPr>
            <a:r>
              <a:rPr sz="1800" b="1">
                <a:solidFill>
                  <a:srgbClr val="FFFFFF"/>
                </a:solidFill>
                <a:latin typeface="Arial"/>
              </a:rPr>
              <a:t>3</a:t>
            </a:r>
          </a:p>
        </p:txBody>
      </p:sp>
      <p:sp>
        <p:nvSpPr>
          <p:cNvPr id="21" name="TextBox 20"/>
          <p:cNvSpPr txBox="1"/>
          <p:nvPr/>
        </p:nvSpPr>
        <p:spPr>
          <a:xfrm>
            <a:off x="1764792" y="4187952"/>
            <a:ext cx="3973068" cy="1892808"/>
          </a:xfrm>
          <a:prstGeom prst="rect">
            <a:avLst/>
          </a:prstGeom>
          <a:noFill/>
        </p:spPr>
        <p:txBody>
          <a:bodyPr wrap="square" anchor="ctr">
            <a:spAutoFit/>
          </a:bodyPr>
          <a:lstStyle/>
          <a:p>
            <a:pPr algn="l">
              <a:spcAft>
                <a:spcPts val="300"/>
              </a:spcAft>
            </a:pPr>
            <a:r>
              <a:rPr sz="1600" b="1">
                <a:solidFill>
                  <a:srgbClr val="161B26"/>
                </a:solidFill>
                <a:latin typeface="Arial"/>
              </a:rPr>
              <a:t>Traces</a:t>
            </a:r>
          </a:p>
          <a:p>
            <a:pPr algn="l">
              <a:spcAft>
                <a:spcPts val="300"/>
              </a:spcAft>
            </a:pPr>
            <a:r>
              <a:rPr sz="1200" b="0">
                <a:solidFill>
                  <a:srgbClr val="5B6372"/>
                </a:solidFill>
                <a:latin typeface="Arial"/>
              </a:rPr>
              <a:t>Request paths across services with AWS X-Ray.</a:t>
            </a:r>
          </a:p>
        </p:txBody>
      </p:sp>
      <p:sp>
        <p:nvSpPr>
          <p:cNvPr id="22" name="Rectangle 21"/>
          <p:cNvSpPr/>
          <p:nvPr/>
        </p:nvSpPr>
        <p:spPr>
          <a:xfrm>
            <a:off x="6231636" y="4078224"/>
            <a:ext cx="5180076" cy="207568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ectangle 22"/>
          <p:cNvSpPr/>
          <p:nvPr/>
        </p:nvSpPr>
        <p:spPr>
          <a:xfrm>
            <a:off x="6231636" y="4078224"/>
            <a:ext cx="91440" cy="2075688"/>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Oval 23"/>
          <p:cNvSpPr/>
          <p:nvPr/>
        </p:nvSpPr>
        <p:spPr>
          <a:xfrm>
            <a:off x="6487668" y="4841748"/>
            <a:ext cx="548640" cy="548640"/>
          </a:xfrm>
          <a:prstGeom prst="ellipse">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6487668" y="4841748"/>
            <a:ext cx="548640" cy="548640"/>
          </a:xfrm>
          <a:prstGeom prst="rect">
            <a:avLst/>
          </a:prstGeom>
          <a:noFill/>
        </p:spPr>
        <p:txBody>
          <a:bodyPr wrap="square" anchor="ctr">
            <a:spAutoFit/>
          </a:bodyPr>
          <a:lstStyle/>
          <a:p>
            <a:pPr algn="ctr">
              <a:spcAft>
                <a:spcPts val="400"/>
              </a:spcAft>
            </a:pPr>
            <a:r>
              <a:rPr sz="1800" b="1">
                <a:solidFill>
                  <a:srgbClr val="FFFFFF"/>
                </a:solidFill>
                <a:latin typeface="Arial"/>
              </a:rPr>
              <a:t>4</a:t>
            </a:r>
          </a:p>
        </p:txBody>
      </p:sp>
      <p:sp>
        <p:nvSpPr>
          <p:cNvPr id="26" name="TextBox 25"/>
          <p:cNvSpPr txBox="1"/>
          <p:nvPr/>
        </p:nvSpPr>
        <p:spPr>
          <a:xfrm>
            <a:off x="7219188" y="4187952"/>
            <a:ext cx="3973068" cy="1892808"/>
          </a:xfrm>
          <a:prstGeom prst="rect">
            <a:avLst/>
          </a:prstGeom>
          <a:noFill/>
        </p:spPr>
        <p:txBody>
          <a:bodyPr wrap="square" anchor="ctr">
            <a:spAutoFit/>
          </a:bodyPr>
          <a:lstStyle/>
          <a:p>
            <a:pPr algn="l">
              <a:spcAft>
                <a:spcPts val="300"/>
              </a:spcAft>
            </a:pPr>
            <a:r>
              <a:rPr sz="1600" b="1">
                <a:solidFill>
                  <a:srgbClr val="161B26"/>
                </a:solidFill>
                <a:latin typeface="Arial"/>
              </a:rPr>
              <a:t>Dashboards &amp; alarms</a:t>
            </a:r>
          </a:p>
          <a:p>
            <a:pPr algn="l">
              <a:spcAft>
                <a:spcPts val="300"/>
              </a:spcAft>
            </a:pPr>
            <a:r>
              <a:rPr sz="1200" b="0">
                <a:solidFill>
                  <a:srgbClr val="5B6372"/>
                </a:solidFill>
                <a:latin typeface="Arial"/>
              </a:rPr>
              <a:t>Correlate all three; alarm on anomalies before users notice.</a:t>
            </a:r>
          </a:p>
        </p:txBody>
      </p:sp>
      <p:sp>
        <p:nvSpPr>
          <p:cNvPr id="27" name="TextBox 26"/>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DevOps Engineering on AWS  ·  TGS-2023040474</a:t>
            </a:r>
          </a:p>
        </p:txBody>
      </p:sp>
      <p:sp>
        <p:nvSpPr>
          <p:cNvPr id="28" name="TextBox 27"/>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29" name="TextBox 28"/>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135</a:t>
            </a:r>
          </a:p>
        </p:txBody>
      </p:sp>
    </p:spTree>
  </p:cSld>
  <p:clrMapOvr>
    <a:masterClrMapping/>
  </p:clrMapOvr>
  <p:transition xmlns:p14="http://schemas.microsoft.com/office/powerpoint/2010/main" p14:dur="380">
    <p:fade/>
  </p:transition>
</p:sld>
</file>

<file path=ppt/slides/slide13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38912"/>
            <a:ext cx="10607040" cy="365760"/>
          </a:xfrm>
          <a:prstGeom prst="rect">
            <a:avLst/>
          </a:prstGeom>
          <a:noFill/>
        </p:spPr>
        <p:txBody>
          <a:bodyPr wrap="square" anchor="t">
            <a:spAutoFit/>
          </a:bodyPr>
          <a:lstStyle/>
          <a:p>
            <a:pPr algn="l">
              <a:spcAft>
                <a:spcPts val="400"/>
              </a:spcAft>
            </a:pPr>
            <a:r>
              <a:rPr sz="1400" b="1">
                <a:solidFill>
                  <a:srgbClr val="F59E0B"/>
                </a:solidFill>
                <a:latin typeface="Arial"/>
              </a:rPr>
              <a:t>READING THE SIGNALS</a:t>
            </a:r>
          </a:p>
        </p:txBody>
      </p:sp>
      <p:sp>
        <p:nvSpPr>
          <p:cNvPr id="5" name="TextBox 4"/>
          <p:cNvSpPr txBox="1"/>
          <p:nvPr/>
        </p:nvSpPr>
        <p:spPr>
          <a:xfrm>
            <a:off x="777240" y="804672"/>
            <a:ext cx="10927080" cy="731520"/>
          </a:xfrm>
          <a:prstGeom prst="rect">
            <a:avLst/>
          </a:prstGeom>
          <a:noFill/>
        </p:spPr>
        <p:txBody>
          <a:bodyPr wrap="square" anchor="t">
            <a:spAutoFit/>
          </a:bodyPr>
          <a:lstStyle/>
          <a:p>
            <a:pPr algn="l">
              <a:spcAft>
                <a:spcPts val="400"/>
              </a:spcAft>
            </a:pPr>
            <a:r>
              <a:rPr sz="2900" b="1">
                <a:solidFill>
                  <a:srgbClr val="161B26"/>
                </a:solidFill>
                <a:latin typeface="Arial"/>
              </a:rPr>
              <a:t>Alarm Thresholds — Healthy vs Incident</a:t>
            </a:r>
          </a:p>
        </p:txBody>
      </p:sp>
      <p:sp>
        <p:nvSpPr>
          <p:cNvPr id="6" name="Rectangle 5"/>
          <p:cNvSpPr/>
          <p:nvPr/>
        </p:nvSpPr>
        <p:spPr>
          <a:xfrm>
            <a:off x="777240" y="1572768"/>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graphicFrame>
        <p:nvGraphicFramePr>
          <p:cNvPr id="7" name="Chart 6"/>
          <p:cNvGraphicFramePr>
            <a:graphicFrameLocks noGrp="1"/>
          </p:cNvGraphicFramePr>
          <p:nvPr/>
        </p:nvGraphicFramePr>
        <p:xfrm>
          <a:off x="777240" y="1828800"/>
          <a:ext cx="10634472" cy="3291840"/>
        </p:xfrm>
        <a:graphic>
          <a:graphicData uri="http://schemas.openxmlformats.org/drawingml/2006/chart">
            <c:chart xmlns:c="http://schemas.openxmlformats.org/drawingml/2006/chart" r:id="rId2"/>
          </a:graphicData>
        </a:graphic>
      </p:graphicFrame>
      <p:sp>
        <p:nvSpPr>
          <p:cNvPr id="8" name="Rectangle 7"/>
          <p:cNvSpPr/>
          <p:nvPr/>
        </p:nvSpPr>
        <p:spPr>
          <a:xfrm>
            <a:off x="777240" y="5349240"/>
            <a:ext cx="10634472" cy="86868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777240" y="5349240"/>
            <a:ext cx="91440" cy="868680"/>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005840" y="5440680"/>
            <a:ext cx="10241280" cy="320040"/>
          </a:xfrm>
          <a:prstGeom prst="rect">
            <a:avLst/>
          </a:prstGeom>
          <a:noFill/>
        </p:spPr>
        <p:txBody>
          <a:bodyPr wrap="square" anchor="t">
            <a:spAutoFit/>
          </a:bodyPr>
          <a:lstStyle/>
          <a:p>
            <a:pPr algn="l">
              <a:spcAft>
                <a:spcPts val="400"/>
              </a:spcAft>
            </a:pPr>
            <a:r>
              <a:rPr sz="1100" b="1">
                <a:solidFill>
                  <a:srgbClr val="F59E0B"/>
                </a:solidFill>
                <a:latin typeface="Arial"/>
              </a:rPr>
              <a:t>WHAT THE DATA SHOWS</a:t>
            </a:r>
          </a:p>
        </p:txBody>
      </p:sp>
      <p:sp>
        <p:nvSpPr>
          <p:cNvPr id="11" name="TextBox 10"/>
          <p:cNvSpPr txBox="1"/>
          <p:nvPr/>
        </p:nvSpPr>
        <p:spPr>
          <a:xfrm>
            <a:off x="1005840" y="5742432"/>
            <a:ext cx="10241280" cy="457200"/>
          </a:xfrm>
          <a:prstGeom prst="rect">
            <a:avLst/>
          </a:prstGeom>
          <a:noFill/>
        </p:spPr>
        <p:txBody>
          <a:bodyPr wrap="square" anchor="t">
            <a:spAutoFit/>
          </a:bodyPr>
          <a:lstStyle/>
          <a:p>
            <a:pPr algn="l">
              <a:spcAft>
                <a:spcPts val="400"/>
              </a:spcAft>
            </a:pPr>
            <a:r>
              <a:rPr sz="1350" b="0">
                <a:solidFill>
                  <a:srgbClr val="161B26"/>
                </a:solidFill>
                <a:latin typeface="Arial"/>
              </a:rPr>
              <a:t>When p90 latency crosses the alarm threshold, CloudWatch fires and the automated response kicks in.</a:t>
            </a:r>
          </a:p>
        </p:txBody>
      </p:sp>
      <p:sp>
        <p:nvSpPr>
          <p:cNvPr id="12" name="TextBox 11"/>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DevOps Engineering on AWS  ·  TGS-2023040474</a:t>
            </a:r>
          </a:p>
        </p:txBody>
      </p:sp>
      <p:sp>
        <p:nvSpPr>
          <p:cNvPr id="13" name="TextBox 12"/>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4" name="TextBox 13"/>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136</a:t>
            </a:r>
          </a:p>
        </p:txBody>
      </p:sp>
    </p:spTree>
  </p:cSld>
  <p:clrMapOvr>
    <a:masterClrMapping/>
  </p:clrMapOvr>
  <p:transition xmlns:p14="http://schemas.microsoft.com/office/powerpoint/2010/main" p14:dur="380">
    <p:fade/>
  </p:transition>
</p:sld>
</file>

<file path=ppt/slides/slide13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38912"/>
            <a:ext cx="10607040" cy="365760"/>
          </a:xfrm>
          <a:prstGeom prst="rect">
            <a:avLst/>
          </a:prstGeom>
          <a:noFill/>
        </p:spPr>
        <p:txBody>
          <a:bodyPr wrap="square" anchor="t">
            <a:spAutoFit/>
          </a:bodyPr>
          <a:lstStyle/>
          <a:p>
            <a:pPr algn="l">
              <a:spcAft>
                <a:spcPts val="400"/>
              </a:spcAft>
            </a:pPr>
            <a:r>
              <a:rPr sz="1400" b="1">
                <a:solidFill>
                  <a:srgbClr val="F59E0B"/>
                </a:solidFill>
                <a:latin typeface="Arial"/>
              </a:rPr>
              <a:t>THE METRICS MODEL</a:t>
            </a:r>
          </a:p>
        </p:txBody>
      </p:sp>
      <p:sp>
        <p:nvSpPr>
          <p:cNvPr id="5" name="TextBox 4"/>
          <p:cNvSpPr txBox="1"/>
          <p:nvPr/>
        </p:nvSpPr>
        <p:spPr>
          <a:xfrm>
            <a:off x="777240" y="804672"/>
            <a:ext cx="10927080" cy="731520"/>
          </a:xfrm>
          <a:prstGeom prst="rect">
            <a:avLst/>
          </a:prstGeom>
          <a:noFill/>
        </p:spPr>
        <p:txBody>
          <a:bodyPr wrap="square" anchor="t">
            <a:spAutoFit/>
          </a:bodyPr>
          <a:lstStyle/>
          <a:p>
            <a:pPr algn="l">
              <a:spcAft>
                <a:spcPts val="400"/>
              </a:spcAft>
            </a:pPr>
            <a:r>
              <a:rPr sz="2900" b="1">
                <a:solidFill>
                  <a:srgbClr val="161B26"/>
                </a:solidFill>
                <a:latin typeface="Arial"/>
              </a:rPr>
              <a:t>Anatomy of CloudWatch</a:t>
            </a:r>
          </a:p>
        </p:txBody>
      </p:sp>
      <p:sp>
        <p:nvSpPr>
          <p:cNvPr id="6" name="Rectangle 5"/>
          <p:cNvSpPr/>
          <p:nvPr/>
        </p:nvSpPr>
        <p:spPr>
          <a:xfrm>
            <a:off x="777240" y="1572768"/>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783080"/>
            <a:ext cx="5180076" cy="207568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1783080"/>
            <a:ext cx="91440" cy="2075688"/>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1033272" y="2546604"/>
            <a:ext cx="548640" cy="548640"/>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033272" y="2546604"/>
            <a:ext cx="548640" cy="548640"/>
          </a:xfrm>
          <a:prstGeom prst="rect">
            <a:avLst/>
          </a:prstGeom>
          <a:noFill/>
        </p:spPr>
        <p:txBody>
          <a:bodyPr wrap="square" anchor="ctr">
            <a:spAutoFit/>
          </a:bodyPr>
          <a:lstStyle/>
          <a:p>
            <a:pPr algn="ctr">
              <a:spcAft>
                <a:spcPts val="400"/>
              </a:spcAft>
            </a:pPr>
            <a:r>
              <a:rPr sz="1800" b="1">
                <a:solidFill>
                  <a:srgbClr val="FFFFFF"/>
                </a:solidFill>
                <a:latin typeface="Arial"/>
              </a:rPr>
              <a:t>1</a:t>
            </a:r>
          </a:p>
        </p:txBody>
      </p:sp>
      <p:sp>
        <p:nvSpPr>
          <p:cNvPr id="11" name="TextBox 10"/>
          <p:cNvSpPr txBox="1"/>
          <p:nvPr/>
        </p:nvSpPr>
        <p:spPr>
          <a:xfrm>
            <a:off x="1764792" y="1892808"/>
            <a:ext cx="3973068" cy="1892808"/>
          </a:xfrm>
          <a:prstGeom prst="rect">
            <a:avLst/>
          </a:prstGeom>
          <a:noFill/>
        </p:spPr>
        <p:txBody>
          <a:bodyPr wrap="square" anchor="ctr">
            <a:spAutoFit/>
          </a:bodyPr>
          <a:lstStyle/>
          <a:p>
            <a:pPr algn="l">
              <a:spcAft>
                <a:spcPts val="300"/>
              </a:spcAft>
            </a:pPr>
            <a:r>
              <a:rPr sz="1600" b="1">
                <a:solidFill>
                  <a:srgbClr val="161B26"/>
                </a:solidFill>
                <a:latin typeface="Arial"/>
              </a:rPr>
              <a:t>Namespaces</a:t>
            </a:r>
          </a:p>
          <a:p>
            <a:pPr algn="l">
              <a:spcAft>
                <a:spcPts val="300"/>
              </a:spcAft>
            </a:pPr>
            <a:r>
              <a:rPr sz="1200" b="0">
                <a:solidFill>
                  <a:srgbClr val="5B6372"/>
                </a:solidFill>
                <a:latin typeface="Arial"/>
              </a:rPr>
              <a:t>Group metrics by service (AWS/EC2, custom app namespaces).</a:t>
            </a:r>
          </a:p>
        </p:txBody>
      </p:sp>
      <p:sp>
        <p:nvSpPr>
          <p:cNvPr id="12" name="Rectangle 11"/>
          <p:cNvSpPr/>
          <p:nvPr/>
        </p:nvSpPr>
        <p:spPr>
          <a:xfrm>
            <a:off x="6231636" y="1783080"/>
            <a:ext cx="5180076" cy="207568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6231636" y="1783080"/>
            <a:ext cx="91440" cy="2075688"/>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Oval 13"/>
          <p:cNvSpPr/>
          <p:nvPr/>
        </p:nvSpPr>
        <p:spPr>
          <a:xfrm>
            <a:off x="6487668" y="2546604"/>
            <a:ext cx="548640" cy="54864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6487668" y="2546604"/>
            <a:ext cx="548640" cy="548640"/>
          </a:xfrm>
          <a:prstGeom prst="rect">
            <a:avLst/>
          </a:prstGeom>
          <a:noFill/>
        </p:spPr>
        <p:txBody>
          <a:bodyPr wrap="square" anchor="ctr">
            <a:spAutoFit/>
          </a:bodyPr>
          <a:lstStyle/>
          <a:p>
            <a:pPr algn="ctr">
              <a:spcAft>
                <a:spcPts val="400"/>
              </a:spcAft>
            </a:pPr>
            <a:r>
              <a:rPr sz="1800" b="1">
                <a:solidFill>
                  <a:srgbClr val="FFFFFF"/>
                </a:solidFill>
                <a:latin typeface="Arial"/>
              </a:rPr>
              <a:t>2</a:t>
            </a:r>
          </a:p>
        </p:txBody>
      </p:sp>
      <p:sp>
        <p:nvSpPr>
          <p:cNvPr id="16" name="TextBox 15"/>
          <p:cNvSpPr txBox="1"/>
          <p:nvPr/>
        </p:nvSpPr>
        <p:spPr>
          <a:xfrm>
            <a:off x="7219188" y="1892808"/>
            <a:ext cx="3973068" cy="1892808"/>
          </a:xfrm>
          <a:prstGeom prst="rect">
            <a:avLst/>
          </a:prstGeom>
          <a:noFill/>
        </p:spPr>
        <p:txBody>
          <a:bodyPr wrap="square" anchor="ctr">
            <a:spAutoFit/>
          </a:bodyPr>
          <a:lstStyle/>
          <a:p>
            <a:pPr algn="l">
              <a:spcAft>
                <a:spcPts val="300"/>
              </a:spcAft>
            </a:pPr>
            <a:r>
              <a:rPr sz="1600" b="1">
                <a:solidFill>
                  <a:srgbClr val="161B26"/>
                </a:solidFill>
                <a:latin typeface="Arial"/>
              </a:rPr>
              <a:t>Dimensions</a:t>
            </a:r>
          </a:p>
          <a:p>
            <a:pPr algn="l">
              <a:spcAft>
                <a:spcPts val="300"/>
              </a:spcAft>
            </a:pPr>
            <a:r>
              <a:rPr sz="1200" b="0">
                <a:solidFill>
                  <a:srgbClr val="5B6372"/>
                </a:solidFill>
                <a:latin typeface="Arial"/>
              </a:rPr>
              <a:t>Name/value pairs that identify a metric (InstanceId, etc.).</a:t>
            </a:r>
          </a:p>
        </p:txBody>
      </p:sp>
      <p:sp>
        <p:nvSpPr>
          <p:cNvPr id="17" name="Rectangle 16"/>
          <p:cNvSpPr/>
          <p:nvPr/>
        </p:nvSpPr>
        <p:spPr>
          <a:xfrm>
            <a:off x="777240" y="4078224"/>
            <a:ext cx="5180076" cy="207568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777240" y="4078224"/>
            <a:ext cx="91440" cy="2075688"/>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Oval 18"/>
          <p:cNvSpPr/>
          <p:nvPr/>
        </p:nvSpPr>
        <p:spPr>
          <a:xfrm>
            <a:off x="1033272" y="4841748"/>
            <a:ext cx="548640" cy="548640"/>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1033272" y="4841748"/>
            <a:ext cx="548640" cy="548640"/>
          </a:xfrm>
          <a:prstGeom prst="rect">
            <a:avLst/>
          </a:prstGeom>
          <a:noFill/>
        </p:spPr>
        <p:txBody>
          <a:bodyPr wrap="square" anchor="ctr">
            <a:spAutoFit/>
          </a:bodyPr>
          <a:lstStyle/>
          <a:p>
            <a:pPr algn="ctr">
              <a:spcAft>
                <a:spcPts val="400"/>
              </a:spcAft>
            </a:pPr>
            <a:r>
              <a:rPr sz="1800" b="1">
                <a:solidFill>
                  <a:srgbClr val="FFFFFF"/>
                </a:solidFill>
                <a:latin typeface="Arial"/>
              </a:rPr>
              <a:t>3</a:t>
            </a:r>
          </a:p>
        </p:txBody>
      </p:sp>
      <p:sp>
        <p:nvSpPr>
          <p:cNvPr id="21" name="TextBox 20"/>
          <p:cNvSpPr txBox="1"/>
          <p:nvPr/>
        </p:nvSpPr>
        <p:spPr>
          <a:xfrm>
            <a:off x="1764792" y="4187952"/>
            <a:ext cx="3973068" cy="1892808"/>
          </a:xfrm>
          <a:prstGeom prst="rect">
            <a:avLst/>
          </a:prstGeom>
          <a:noFill/>
        </p:spPr>
        <p:txBody>
          <a:bodyPr wrap="square" anchor="ctr">
            <a:spAutoFit/>
          </a:bodyPr>
          <a:lstStyle/>
          <a:p>
            <a:pPr algn="l">
              <a:spcAft>
                <a:spcPts val="300"/>
              </a:spcAft>
            </a:pPr>
            <a:r>
              <a:rPr sz="1600" b="1">
                <a:solidFill>
                  <a:srgbClr val="161B26"/>
                </a:solidFill>
                <a:latin typeface="Arial"/>
              </a:rPr>
              <a:t>Statistics &amp; periods</a:t>
            </a:r>
          </a:p>
          <a:p>
            <a:pPr algn="l">
              <a:spcAft>
                <a:spcPts val="300"/>
              </a:spcAft>
            </a:pPr>
            <a:r>
              <a:rPr sz="1200" b="0">
                <a:solidFill>
                  <a:srgbClr val="5B6372"/>
                </a:solidFill>
                <a:latin typeface="Arial"/>
              </a:rPr>
              <a:t>Aggregate over time — Average, Sum, p90, p99.</a:t>
            </a:r>
          </a:p>
        </p:txBody>
      </p:sp>
      <p:sp>
        <p:nvSpPr>
          <p:cNvPr id="22" name="Rectangle 21"/>
          <p:cNvSpPr/>
          <p:nvPr/>
        </p:nvSpPr>
        <p:spPr>
          <a:xfrm>
            <a:off x="6231636" y="4078224"/>
            <a:ext cx="5180076" cy="207568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ectangle 22"/>
          <p:cNvSpPr/>
          <p:nvPr/>
        </p:nvSpPr>
        <p:spPr>
          <a:xfrm>
            <a:off x="6231636" y="4078224"/>
            <a:ext cx="91440" cy="2075688"/>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Oval 23"/>
          <p:cNvSpPr/>
          <p:nvPr/>
        </p:nvSpPr>
        <p:spPr>
          <a:xfrm>
            <a:off x="6487668" y="4841748"/>
            <a:ext cx="548640" cy="548640"/>
          </a:xfrm>
          <a:prstGeom prst="ellipse">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6487668" y="4841748"/>
            <a:ext cx="548640" cy="548640"/>
          </a:xfrm>
          <a:prstGeom prst="rect">
            <a:avLst/>
          </a:prstGeom>
          <a:noFill/>
        </p:spPr>
        <p:txBody>
          <a:bodyPr wrap="square" anchor="ctr">
            <a:spAutoFit/>
          </a:bodyPr>
          <a:lstStyle/>
          <a:p>
            <a:pPr algn="ctr">
              <a:spcAft>
                <a:spcPts val="400"/>
              </a:spcAft>
            </a:pPr>
            <a:r>
              <a:rPr sz="1800" b="1">
                <a:solidFill>
                  <a:srgbClr val="FFFFFF"/>
                </a:solidFill>
                <a:latin typeface="Arial"/>
              </a:rPr>
              <a:t>4</a:t>
            </a:r>
          </a:p>
        </p:txBody>
      </p:sp>
      <p:sp>
        <p:nvSpPr>
          <p:cNvPr id="26" name="TextBox 25"/>
          <p:cNvSpPr txBox="1"/>
          <p:nvPr/>
        </p:nvSpPr>
        <p:spPr>
          <a:xfrm>
            <a:off x="7219188" y="4187952"/>
            <a:ext cx="3973068" cy="1892808"/>
          </a:xfrm>
          <a:prstGeom prst="rect">
            <a:avLst/>
          </a:prstGeom>
          <a:noFill/>
        </p:spPr>
        <p:txBody>
          <a:bodyPr wrap="square" anchor="ctr">
            <a:spAutoFit/>
          </a:bodyPr>
          <a:lstStyle/>
          <a:p>
            <a:pPr algn="l">
              <a:spcAft>
                <a:spcPts val="300"/>
              </a:spcAft>
            </a:pPr>
            <a:r>
              <a:rPr sz="1600" b="1">
                <a:solidFill>
                  <a:srgbClr val="161B26"/>
                </a:solidFill>
                <a:latin typeface="Arial"/>
              </a:rPr>
              <a:t>Alarms &amp; composite</a:t>
            </a:r>
          </a:p>
          <a:p>
            <a:pPr algn="l">
              <a:spcAft>
                <a:spcPts val="300"/>
              </a:spcAft>
            </a:pPr>
            <a:r>
              <a:rPr sz="1200" b="0">
                <a:solidFill>
                  <a:srgbClr val="5B6372"/>
                </a:solidFill>
                <a:latin typeface="Arial"/>
              </a:rPr>
              <a:t>Trigger on thresholds or anomaly detection; combine with AND/OR.</a:t>
            </a:r>
          </a:p>
        </p:txBody>
      </p:sp>
      <p:sp>
        <p:nvSpPr>
          <p:cNvPr id="27" name="TextBox 26"/>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DevOps Engineering on AWS  ·  TGS-2023040474</a:t>
            </a:r>
          </a:p>
        </p:txBody>
      </p:sp>
      <p:sp>
        <p:nvSpPr>
          <p:cNvPr id="28" name="TextBox 27"/>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29" name="TextBox 28"/>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137</a:t>
            </a:r>
          </a:p>
        </p:txBody>
      </p:sp>
    </p:spTree>
  </p:cSld>
  <p:clrMapOvr>
    <a:masterClrMapping/>
  </p:clrMapOvr>
  <p:transition xmlns:p14="http://schemas.microsoft.com/office/powerpoint/2010/main" p14:dur="380">
    <p:fade/>
  </p:transition>
</p:sld>
</file>

<file path=ppt/slides/slide13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38912"/>
            <a:ext cx="10607040" cy="365760"/>
          </a:xfrm>
          <a:prstGeom prst="rect">
            <a:avLst/>
          </a:prstGeom>
          <a:noFill/>
        </p:spPr>
        <p:txBody>
          <a:bodyPr wrap="square" anchor="t">
            <a:spAutoFit/>
          </a:bodyPr>
          <a:lstStyle/>
          <a:p>
            <a:pPr algn="l">
              <a:spcAft>
                <a:spcPts val="400"/>
              </a:spcAft>
            </a:pPr>
            <a:r>
              <a:rPr sz="1400" b="1">
                <a:solidFill>
                  <a:srgbClr val="F59E0B"/>
                </a:solidFill>
                <a:latin typeface="Arial"/>
              </a:rPr>
              <a:t>TURNING LOGS INTO SIGNALS</a:t>
            </a:r>
          </a:p>
        </p:txBody>
      </p:sp>
      <p:sp>
        <p:nvSpPr>
          <p:cNvPr id="5" name="TextBox 4"/>
          <p:cNvSpPr txBox="1"/>
          <p:nvPr/>
        </p:nvSpPr>
        <p:spPr>
          <a:xfrm>
            <a:off x="777240" y="804672"/>
            <a:ext cx="10927080" cy="731520"/>
          </a:xfrm>
          <a:prstGeom prst="rect">
            <a:avLst/>
          </a:prstGeom>
          <a:noFill/>
        </p:spPr>
        <p:txBody>
          <a:bodyPr wrap="square" anchor="t">
            <a:spAutoFit/>
          </a:bodyPr>
          <a:lstStyle/>
          <a:p>
            <a:pPr algn="l">
              <a:spcAft>
                <a:spcPts val="400"/>
              </a:spcAft>
            </a:pPr>
            <a:r>
              <a:rPr sz="2900" b="1">
                <a:solidFill>
                  <a:srgbClr val="161B26"/>
                </a:solidFill>
                <a:latin typeface="Arial"/>
              </a:rPr>
              <a:t>The Logs-to-Action Pipeline</a:t>
            </a:r>
          </a:p>
        </p:txBody>
      </p:sp>
      <p:sp>
        <p:nvSpPr>
          <p:cNvPr id="6" name="Rectangle 5"/>
          <p:cNvSpPr/>
          <p:nvPr/>
        </p:nvSpPr>
        <p:spPr>
          <a:xfrm>
            <a:off x="777240" y="1572768"/>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2331720"/>
            <a:ext cx="1513332" cy="288036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2331720"/>
            <a:ext cx="1513332" cy="91440"/>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1159002" y="2715768"/>
            <a:ext cx="749808" cy="749808"/>
          </a:xfrm>
          <a:prstGeom prst="ellipse">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159002" y="2715768"/>
            <a:ext cx="749808" cy="749808"/>
          </a:xfrm>
          <a:prstGeom prst="rect">
            <a:avLst/>
          </a:prstGeom>
          <a:noFill/>
        </p:spPr>
        <p:txBody>
          <a:bodyPr wrap="square" anchor="ctr">
            <a:spAutoFit/>
          </a:bodyPr>
          <a:lstStyle/>
          <a:p>
            <a:pPr algn="ctr">
              <a:spcAft>
                <a:spcPts val="400"/>
              </a:spcAft>
            </a:pPr>
            <a:r>
              <a:rPr sz="3000" b="1">
                <a:solidFill>
                  <a:srgbClr val="FFFFFF"/>
                </a:solidFill>
                <a:latin typeface="Arial"/>
              </a:rPr>
              <a:t>1</a:t>
            </a:r>
          </a:p>
        </p:txBody>
      </p:sp>
      <p:sp>
        <p:nvSpPr>
          <p:cNvPr id="11" name="TextBox 10"/>
          <p:cNvSpPr txBox="1"/>
          <p:nvPr/>
        </p:nvSpPr>
        <p:spPr>
          <a:xfrm>
            <a:off x="923544" y="3749040"/>
            <a:ext cx="1220724" cy="1325880"/>
          </a:xfrm>
          <a:prstGeom prst="rect">
            <a:avLst/>
          </a:prstGeom>
          <a:noFill/>
        </p:spPr>
        <p:txBody>
          <a:bodyPr wrap="square" anchor="t">
            <a:spAutoFit/>
          </a:bodyPr>
          <a:lstStyle/>
          <a:p>
            <a:pPr algn="ctr">
              <a:spcAft>
                <a:spcPts val="400"/>
              </a:spcAft>
            </a:pPr>
            <a:r>
              <a:rPr sz="1300" b="0">
                <a:solidFill>
                  <a:srgbClr val="161B26"/>
                </a:solidFill>
                <a:latin typeface="Arial"/>
              </a:rPr>
              <a:t>CloudWatch agent
collects</a:t>
            </a:r>
          </a:p>
        </p:txBody>
      </p:sp>
      <p:sp>
        <p:nvSpPr>
          <p:cNvPr id="12" name="TextBox 11"/>
          <p:cNvSpPr txBox="1"/>
          <p:nvPr/>
        </p:nvSpPr>
        <p:spPr>
          <a:xfrm>
            <a:off x="2253996" y="3497580"/>
            <a:ext cx="384048" cy="548640"/>
          </a:xfrm>
          <a:prstGeom prst="rect">
            <a:avLst/>
          </a:prstGeom>
          <a:noFill/>
        </p:spPr>
        <p:txBody>
          <a:bodyPr wrap="square" anchor="ctr">
            <a:spAutoFit/>
          </a:bodyPr>
          <a:lstStyle/>
          <a:p>
            <a:pPr algn="ctr">
              <a:spcAft>
                <a:spcPts val="400"/>
              </a:spcAft>
            </a:pPr>
            <a:r>
              <a:rPr sz="1500" b="1">
                <a:solidFill>
                  <a:srgbClr val="F59E0B"/>
                </a:solidFill>
                <a:latin typeface="Arial"/>
              </a:rPr>
              <a:t>▶</a:t>
            </a:r>
          </a:p>
        </p:txBody>
      </p:sp>
      <p:sp>
        <p:nvSpPr>
          <p:cNvPr id="13" name="Rectangle 12"/>
          <p:cNvSpPr/>
          <p:nvPr/>
        </p:nvSpPr>
        <p:spPr>
          <a:xfrm>
            <a:off x="2601468" y="2331720"/>
            <a:ext cx="1513332" cy="288036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ectangle 13"/>
          <p:cNvSpPr/>
          <p:nvPr/>
        </p:nvSpPr>
        <p:spPr>
          <a:xfrm>
            <a:off x="2601468" y="2331720"/>
            <a:ext cx="1513332" cy="91440"/>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Oval 14"/>
          <p:cNvSpPr/>
          <p:nvPr/>
        </p:nvSpPr>
        <p:spPr>
          <a:xfrm>
            <a:off x="2983230" y="2715768"/>
            <a:ext cx="749808" cy="749808"/>
          </a:xfrm>
          <a:prstGeom prst="ellipse">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2983230" y="2715768"/>
            <a:ext cx="749808" cy="749808"/>
          </a:xfrm>
          <a:prstGeom prst="rect">
            <a:avLst/>
          </a:prstGeom>
          <a:noFill/>
        </p:spPr>
        <p:txBody>
          <a:bodyPr wrap="square" anchor="ctr">
            <a:spAutoFit/>
          </a:bodyPr>
          <a:lstStyle/>
          <a:p>
            <a:pPr algn="ctr">
              <a:spcAft>
                <a:spcPts val="400"/>
              </a:spcAft>
            </a:pPr>
            <a:r>
              <a:rPr sz="3000" b="1">
                <a:solidFill>
                  <a:srgbClr val="FFFFFF"/>
                </a:solidFill>
                <a:latin typeface="Arial"/>
              </a:rPr>
              <a:t>2</a:t>
            </a:r>
          </a:p>
        </p:txBody>
      </p:sp>
      <p:sp>
        <p:nvSpPr>
          <p:cNvPr id="17" name="TextBox 16"/>
          <p:cNvSpPr txBox="1"/>
          <p:nvPr/>
        </p:nvSpPr>
        <p:spPr>
          <a:xfrm>
            <a:off x="2747772" y="3749040"/>
            <a:ext cx="1220724" cy="1325880"/>
          </a:xfrm>
          <a:prstGeom prst="rect">
            <a:avLst/>
          </a:prstGeom>
          <a:noFill/>
        </p:spPr>
        <p:txBody>
          <a:bodyPr wrap="square" anchor="t">
            <a:spAutoFit/>
          </a:bodyPr>
          <a:lstStyle/>
          <a:p>
            <a:pPr algn="ctr">
              <a:spcAft>
                <a:spcPts val="400"/>
              </a:spcAft>
            </a:pPr>
            <a:r>
              <a:rPr sz="1300" b="0">
                <a:solidFill>
                  <a:srgbClr val="161B26"/>
                </a:solidFill>
                <a:latin typeface="Arial"/>
              </a:rPr>
              <a:t>Log group
stores</a:t>
            </a:r>
          </a:p>
        </p:txBody>
      </p:sp>
      <p:sp>
        <p:nvSpPr>
          <p:cNvPr id="18" name="TextBox 17"/>
          <p:cNvSpPr txBox="1"/>
          <p:nvPr/>
        </p:nvSpPr>
        <p:spPr>
          <a:xfrm>
            <a:off x="4078224" y="3497580"/>
            <a:ext cx="384048" cy="548640"/>
          </a:xfrm>
          <a:prstGeom prst="rect">
            <a:avLst/>
          </a:prstGeom>
          <a:noFill/>
        </p:spPr>
        <p:txBody>
          <a:bodyPr wrap="square" anchor="ctr">
            <a:spAutoFit/>
          </a:bodyPr>
          <a:lstStyle/>
          <a:p>
            <a:pPr algn="ctr">
              <a:spcAft>
                <a:spcPts val="400"/>
              </a:spcAft>
            </a:pPr>
            <a:r>
              <a:rPr sz="1500" b="1">
                <a:solidFill>
                  <a:srgbClr val="F59E0B"/>
                </a:solidFill>
                <a:latin typeface="Arial"/>
              </a:rPr>
              <a:t>▶</a:t>
            </a:r>
          </a:p>
        </p:txBody>
      </p:sp>
      <p:sp>
        <p:nvSpPr>
          <p:cNvPr id="19" name="Rectangle 18"/>
          <p:cNvSpPr/>
          <p:nvPr/>
        </p:nvSpPr>
        <p:spPr>
          <a:xfrm>
            <a:off x="4425696" y="2331720"/>
            <a:ext cx="1513332" cy="288036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Rectangle 19"/>
          <p:cNvSpPr/>
          <p:nvPr/>
        </p:nvSpPr>
        <p:spPr>
          <a:xfrm>
            <a:off x="4425696" y="2331720"/>
            <a:ext cx="1513332" cy="91440"/>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Oval 20"/>
          <p:cNvSpPr/>
          <p:nvPr/>
        </p:nvSpPr>
        <p:spPr>
          <a:xfrm>
            <a:off x="4807458" y="2715768"/>
            <a:ext cx="749808" cy="749808"/>
          </a:xfrm>
          <a:prstGeom prst="ellipse">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4807458" y="2715768"/>
            <a:ext cx="749808" cy="749808"/>
          </a:xfrm>
          <a:prstGeom prst="rect">
            <a:avLst/>
          </a:prstGeom>
          <a:noFill/>
        </p:spPr>
        <p:txBody>
          <a:bodyPr wrap="square" anchor="ctr">
            <a:spAutoFit/>
          </a:bodyPr>
          <a:lstStyle/>
          <a:p>
            <a:pPr algn="ctr">
              <a:spcAft>
                <a:spcPts val="400"/>
              </a:spcAft>
            </a:pPr>
            <a:r>
              <a:rPr sz="3000" b="1">
                <a:solidFill>
                  <a:srgbClr val="FFFFFF"/>
                </a:solidFill>
                <a:latin typeface="Arial"/>
              </a:rPr>
              <a:t>3</a:t>
            </a:r>
          </a:p>
        </p:txBody>
      </p:sp>
      <p:sp>
        <p:nvSpPr>
          <p:cNvPr id="23" name="TextBox 22"/>
          <p:cNvSpPr txBox="1"/>
          <p:nvPr/>
        </p:nvSpPr>
        <p:spPr>
          <a:xfrm>
            <a:off x="4572000" y="3749040"/>
            <a:ext cx="1220724" cy="1325880"/>
          </a:xfrm>
          <a:prstGeom prst="rect">
            <a:avLst/>
          </a:prstGeom>
          <a:noFill/>
        </p:spPr>
        <p:txBody>
          <a:bodyPr wrap="square" anchor="t">
            <a:spAutoFit/>
          </a:bodyPr>
          <a:lstStyle/>
          <a:p>
            <a:pPr algn="ctr">
              <a:spcAft>
                <a:spcPts val="400"/>
              </a:spcAft>
            </a:pPr>
            <a:r>
              <a:rPr sz="1300" b="0">
                <a:solidFill>
                  <a:srgbClr val="161B26"/>
                </a:solidFill>
                <a:latin typeface="Arial"/>
              </a:rPr>
              <a:t>Metric filter
extracts</a:t>
            </a:r>
          </a:p>
        </p:txBody>
      </p:sp>
      <p:sp>
        <p:nvSpPr>
          <p:cNvPr id="24" name="TextBox 23"/>
          <p:cNvSpPr txBox="1"/>
          <p:nvPr/>
        </p:nvSpPr>
        <p:spPr>
          <a:xfrm>
            <a:off x="5902452" y="3497580"/>
            <a:ext cx="384048" cy="548640"/>
          </a:xfrm>
          <a:prstGeom prst="rect">
            <a:avLst/>
          </a:prstGeom>
          <a:noFill/>
        </p:spPr>
        <p:txBody>
          <a:bodyPr wrap="square" anchor="ctr">
            <a:spAutoFit/>
          </a:bodyPr>
          <a:lstStyle/>
          <a:p>
            <a:pPr algn="ctr">
              <a:spcAft>
                <a:spcPts val="400"/>
              </a:spcAft>
            </a:pPr>
            <a:r>
              <a:rPr sz="1500" b="1">
                <a:solidFill>
                  <a:srgbClr val="F59E0B"/>
                </a:solidFill>
                <a:latin typeface="Arial"/>
              </a:rPr>
              <a:t>▶</a:t>
            </a:r>
          </a:p>
        </p:txBody>
      </p:sp>
      <p:sp>
        <p:nvSpPr>
          <p:cNvPr id="25" name="Rectangle 24"/>
          <p:cNvSpPr/>
          <p:nvPr/>
        </p:nvSpPr>
        <p:spPr>
          <a:xfrm>
            <a:off x="6249924" y="2331720"/>
            <a:ext cx="1513332" cy="288036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Rectangle 25"/>
          <p:cNvSpPr/>
          <p:nvPr/>
        </p:nvSpPr>
        <p:spPr>
          <a:xfrm>
            <a:off x="6249924" y="2331720"/>
            <a:ext cx="1513332" cy="91440"/>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Oval 26"/>
          <p:cNvSpPr/>
          <p:nvPr/>
        </p:nvSpPr>
        <p:spPr>
          <a:xfrm>
            <a:off x="6631686" y="2715768"/>
            <a:ext cx="749808" cy="749808"/>
          </a:xfrm>
          <a:prstGeom prst="ellipse">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6631686" y="2715768"/>
            <a:ext cx="749808" cy="749808"/>
          </a:xfrm>
          <a:prstGeom prst="rect">
            <a:avLst/>
          </a:prstGeom>
          <a:noFill/>
        </p:spPr>
        <p:txBody>
          <a:bodyPr wrap="square" anchor="ctr">
            <a:spAutoFit/>
          </a:bodyPr>
          <a:lstStyle/>
          <a:p>
            <a:pPr algn="ctr">
              <a:spcAft>
                <a:spcPts val="400"/>
              </a:spcAft>
            </a:pPr>
            <a:r>
              <a:rPr sz="3000" b="1">
                <a:solidFill>
                  <a:srgbClr val="FFFFFF"/>
                </a:solidFill>
                <a:latin typeface="Arial"/>
              </a:rPr>
              <a:t>4</a:t>
            </a:r>
          </a:p>
        </p:txBody>
      </p:sp>
      <p:sp>
        <p:nvSpPr>
          <p:cNvPr id="29" name="TextBox 28"/>
          <p:cNvSpPr txBox="1"/>
          <p:nvPr/>
        </p:nvSpPr>
        <p:spPr>
          <a:xfrm>
            <a:off x="6396228" y="3749040"/>
            <a:ext cx="1220724" cy="1325880"/>
          </a:xfrm>
          <a:prstGeom prst="rect">
            <a:avLst/>
          </a:prstGeom>
          <a:noFill/>
        </p:spPr>
        <p:txBody>
          <a:bodyPr wrap="square" anchor="t">
            <a:spAutoFit/>
          </a:bodyPr>
          <a:lstStyle/>
          <a:p>
            <a:pPr algn="ctr">
              <a:spcAft>
                <a:spcPts val="400"/>
              </a:spcAft>
            </a:pPr>
            <a:r>
              <a:rPr sz="1300" b="0">
                <a:solidFill>
                  <a:srgbClr val="161B26"/>
                </a:solidFill>
                <a:latin typeface="Arial"/>
              </a:rPr>
              <a:t>Metric
published</a:t>
            </a:r>
          </a:p>
        </p:txBody>
      </p:sp>
      <p:sp>
        <p:nvSpPr>
          <p:cNvPr id="30" name="TextBox 29"/>
          <p:cNvSpPr txBox="1"/>
          <p:nvPr/>
        </p:nvSpPr>
        <p:spPr>
          <a:xfrm>
            <a:off x="7726680" y="3497580"/>
            <a:ext cx="384048" cy="548640"/>
          </a:xfrm>
          <a:prstGeom prst="rect">
            <a:avLst/>
          </a:prstGeom>
          <a:noFill/>
        </p:spPr>
        <p:txBody>
          <a:bodyPr wrap="square" anchor="ctr">
            <a:spAutoFit/>
          </a:bodyPr>
          <a:lstStyle/>
          <a:p>
            <a:pPr algn="ctr">
              <a:spcAft>
                <a:spcPts val="400"/>
              </a:spcAft>
            </a:pPr>
            <a:r>
              <a:rPr sz="1500" b="1">
                <a:solidFill>
                  <a:srgbClr val="F59E0B"/>
                </a:solidFill>
                <a:latin typeface="Arial"/>
              </a:rPr>
              <a:t>▶</a:t>
            </a:r>
          </a:p>
        </p:txBody>
      </p:sp>
      <p:sp>
        <p:nvSpPr>
          <p:cNvPr id="31" name="Rectangle 30"/>
          <p:cNvSpPr/>
          <p:nvPr/>
        </p:nvSpPr>
        <p:spPr>
          <a:xfrm>
            <a:off x="8074152" y="2331720"/>
            <a:ext cx="1513332" cy="288036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Rectangle 31"/>
          <p:cNvSpPr/>
          <p:nvPr/>
        </p:nvSpPr>
        <p:spPr>
          <a:xfrm>
            <a:off x="8074152" y="2331720"/>
            <a:ext cx="1513332" cy="91440"/>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Oval 32"/>
          <p:cNvSpPr/>
          <p:nvPr/>
        </p:nvSpPr>
        <p:spPr>
          <a:xfrm>
            <a:off x="8455914" y="2715768"/>
            <a:ext cx="749808" cy="749808"/>
          </a:xfrm>
          <a:prstGeom prst="ellipse">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TextBox 33"/>
          <p:cNvSpPr txBox="1"/>
          <p:nvPr/>
        </p:nvSpPr>
        <p:spPr>
          <a:xfrm>
            <a:off x="8455914" y="2715768"/>
            <a:ext cx="749808" cy="749808"/>
          </a:xfrm>
          <a:prstGeom prst="rect">
            <a:avLst/>
          </a:prstGeom>
          <a:noFill/>
        </p:spPr>
        <p:txBody>
          <a:bodyPr wrap="square" anchor="ctr">
            <a:spAutoFit/>
          </a:bodyPr>
          <a:lstStyle/>
          <a:p>
            <a:pPr algn="ctr">
              <a:spcAft>
                <a:spcPts val="400"/>
              </a:spcAft>
            </a:pPr>
            <a:r>
              <a:rPr sz="3000" b="1">
                <a:solidFill>
                  <a:srgbClr val="FFFFFF"/>
                </a:solidFill>
                <a:latin typeface="Arial"/>
              </a:rPr>
              <a:t>5</a:t>
            </a:r>
          </a:p>
        </p:txBody>
      </p:sp>
      <p:sp>
        <p:nvSpPr>
          <p:cNvPr id="35" name="TextBox 34"/>
          <p:cNvSpPr txBox="1"/>
          <p:nvPr/>
        </p:nvSpPr>
        <p:spPr>
          <a:xfrm>
            <a:off x="8220456" y="3749040"/>
            <a:ext cx="1220724" cy="1325880"/>
          </a:xfrm>
          <a:prstGeom prst="rect">
            <a:avLst/>
          </a:prstGeom>
          <a:noFill/>
        </p:spPr>
        <p:txBody>
          <a:bodyPr wrap="square" anchor="t">
            <a:spAutoFit/>
          </a:bodyPr>
          <a:lstStyle/>
          <a:p>
            <a:pPr algn="ctr">
              <a:spcAft>
                <a:spcPts val="400"/>
              </a:spcAft>
            </a:pPr>
            <a:r>
              <a:rPr sz="1300" b="0">
                <a:solidFill>
                  <a:srgbClr val="161B26"/>
                </a:solidFill>
                <a:latin typeface="Arial"/>
              </a:rPr>
              <a:t>Alarm
evaluates</a:t>
            </a:r>
          </a:p>
        </p:txBody>
      </p:sp>
      <p:sp>
        <p:nvSpPr>
          <p:cNvPr id="36" name="TextBox 35"/>
          <p:cNvSpPr txBox="1"/>
          <p:nvPr/>
        </p:nvSpPr>
        <p:spPr>
          <a:xfrm>
            <a:off x="9550908" y="3497580"/>
            <a:ext cx="384048" cy="548640"/>
          </a:xfrm>
          <a:prstGeom prst="rect">
            <a:avLst/>
          </a:prstGeom>
          <a:noFill/>
        </p:spPr>
        <p:txBody>
          <a:bodyPr wrap="square" anchor="ctr">
            <a:spAutoFit/>
          </a:bodyPr>
          <a:lstStyle/>
          <a:p>
            <a:pPr algn="ctr">
              <a:spcAft>
                <a:spcPts val="400"/>
              </a:spcAft>
            </a:pPr>
            <a:r>
              <a:rPr sz="1500" b="1">
                <a:solidFill>
                  <a:srgbClr val="F59E0B"/>
                </a:solidFill>
                <a:latin typeface="Arial"/>
              </a:rPr>
              <a:t>▶</a:t>
            </a:r>
          </a:p>
        </p:txBody>
      </p:sp>
      <p:sp>
        <p:nvSpPr>
          <p:cNvPr id="37" name="Rectangle 36"/>
          <p:cNvSpPr/>
          <p:nvPr/>
        </p:nvSpPr>
        <p:spPr>
          <a:xfrm>
            <a:off x="9898380" y="2331720"/>
            <a:ext cx="1513332" cy="288036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8" name="Rectangle 37"/>
          <p:cNvSpPr/>
          <p:nvPr/>
        </p:nvSpPr>
        <p:spPr>
          <a:xfrm>
            <a:off x="9898380" y="2331720"/>
            <a:ext cx="1513332" cy="91440"/>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9" name="Oval 38"/>
          <p:cNvSpPr/>
          <p:nvPr/>
        </p:nvSpPr>
        <p:spPr>
          <a:xfrm>
            <a:off x="10280142" y="2715768"/>
            <a:ext cx="749808" cy="749808"/>
          </a:xfrm>
          <a:prstGeom prst="ellipse">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0" name="TextBox 39"/>
          <p:cNvSpPr txBox="1"/>
          <p:nvPr/>
        </p:nvSpPr>
        <p:spPr>
          <a:xfrm>
            <a:off x="10280142" y="2715768"/>
            <a:ext cx="749808" cy="749808"/>
          </a:xfrm>
          <a:prstGeom prst="rect">
            <a:avLst/>
          </a:prstGeom>
          <a:noFill/>
        </p:spPr>
        <p:txBody>
          <a:bodyPr wrap="square" anchor="ctr">
            <a:spAutoFit/>
          </a:bodyPr>
          <a:lstStyle/>
          <a:p>
            <a:pPr algn="ctr">
              <a:spcAft>
                <a:spcPts val="400"/>
              </a:spcAft>
            </a:pPr>
            <a:r>
              <a:rPr sz="3000" b="1">
                <a:solidFill>
                  <a:srgbClr val="FFFFFF"/>
                </a:solidFill>
                <a:latin typeface="Arial"/>
              </a:rPr>
              <a:t>6</a:t>
            </a:r>
          </a:p>
        </p:txBody>
      </p:sp>
      <p:sp>
        <p:nvSpPr>
          <p:cNvPr id="41" name="TextBox 40"/>
          <p:cNvSpPr txBox="1"/>
          <p:nvPr/>
        </p:nvSpPr>
        <p:spPr>
          <a:xfrm>
            <a:off x="10044684" y="3749040"/>
            <a:ext cx="1220724" cy="1325880"/>
          </a:xfrm>
          <a:prstGeom prst="rect">
            <a:avLst/>
          </a:prstGeom>
          <a:noFill/>
        </p:spPr>
        <p:txBody>
          <a:bodyPr wrap="square" anchor="t">
            <a:spAutoFit/>
          </a:bodyPr>
          <a:lstStyle/>
          <a:p>
            <a:pPr algn="ctr">
              <a:spcAft>
                <a:spcPts val="400"/>
              </a:spcAft>
            </a:pPr>
            <a:r>
              <a:rPr sz="1300" b="0">
                <a:solidFill>
                  <a:srgbClr val="161B26"/>
                </a:solidFill>
                <a:latin typeface="Arial"/>
              </a:rPr>
              <a:t>SNS / action
notifies</a:t>
            </a:r>
          </a:p>
        </p:txBody>
      </p:sp>
      <p:sp>
        <p:nvSpPr>
          <p:cNvPr id="42" name="TextBox 41"/>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DevOps Engineering on AWS  ·  TGS-2023040474</a:t>
            </a:r>
          </a:p>
        </p:txBody>
      </p:sp>
      <p:sp>
        <p:nvSpPr>
          <p:cNvPr id="43" name="TextBox 42"/>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44" name="TextBox 43"/>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138</a:t>
            </a:r>
          </a:p>
        </p:txBody>
      </p:sp>
    </p:spTree>
  </p:cSld>
  <p:clrMapOvr>
    <a:masterClrMapping/>
  </p:clrMapOvr>
  <p:transition xmlns:p14="http://schemas.microsoft.com/office/powerpoint/2010/main" p14:dur="380">
    <p:fade/>
  </p:transition>
</p:sld>
</file>

<file path=ppt/slides/slide14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38912"/>
            <a:ext cx="10607040" cy="365760"/>
          </a:xfrm>
          <a:prstGeom prst="rect">
            <a:avLst/>
          </a:prstGeom>
          <a:noFill/>
        </p:spPr>
        <p:txBody>
          <a:bodyPr wrap="square" anchor="t">
            <a:spAutoFit/>
          </a:bodyPr>
          <a:lstStyle/>
          <a:p>
            <a:pPr algn="l">
              <a:spcAft>
                <a:spcPts val="400"/>
              </a:spcAft>
            </a:pPr>
            <a:r>
              <a:rPr sz="1400" b="1">
                <a:solidFill>
                  <a:srgbClr val="F59E0B"/>
                </a:solidFill>
                <a:latin typeface="Arial"/>
              </a:rPr>
              <a:t>DEEPER TROUBLESHOOTING</a:t>
            </a:r>
          </a:p>
        </p:txBody>
      </p:sp>
      <p:sp>
        <p:nvSpPr>
          <p:cNvPr id="5" name="TextBox 4"/>
          <p:cNvSpPr txBox="1"/>
          <p:nvPr/>
        </p:nvSpPr>
        <p:spPr>
          <a:xfrm>
            <a:off x="777240" y="804672"/>
            <a:ext cx="10927080" cy="731520"/>
          </a:xfrm>
          <a:prstGeom prst="rect">
            <a:avLst/>
          </a:prstGeom>
          <a:noFill/>
        </p:spPr>
        <p:txBody>
          <a:bodyPr wrap="square" anchor="t">
            <a:spAutoFit/>
          </a:bodyPr>
          <a:lstStyle/>
          <a:p>
            <a:pPr algn="l">
              <a:spcAft>
                <a:spcPts val="400"/>
              </a:spcAft>
            </a:pPr>
            <a:r>
              <a:rPr sz="2900" b="1">
                <a:solidFill>
                  <a:srgbClr val="161B26"/>
                </a:solidFill>
                <a:latin typeface="Arial"/>
              </a:rPr>
              <a:t>CloudWatch Insights Tools</a:t>
            </a:r>
          </a:p>
        </p:txBody>
      </p:sp>
      <p:sp>
        <p:nvSpPr>
          <p:cNvPr id="6" name="Rectangle 5"/>
          <p:cNvSpPr/>
          <p:nvPr/>
        </p:nvSpPr>
        <p:spPr>
          <a:xfrm>
            <a:off x="777240" y="1572768"/>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783080"/>
            <a:ext cx="3190341" cy="502920"/>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886968" y="1783080"/>
            <a:ext cx="3007461" cy="502920"/>
          </a:xfrm>
          <a:prstGeom prst="rect">
            <a:avLst/>
          </a:prstGeom>
          <a:noFill/>
        </p:spPr>
        <p:txBody>
          <a:bodyPr wrap="square" anchor="ctr">
            <a:spAutoFit/>
          </a:bodyPr>
          <a:lstStyle/>
          <a:p>
            <a:pPr algn="l">
              <a:spcAft>
                <a:spcPts val="400"/>
              </a:spcAft>
            </a:pPr>
            <a:r>
              <a:rPr sz="1400" b="1">
                <a:solidFill>
                  <a:srgbClr val="FFFFFF"/>
                </a:solidFill>
                <a:latin typeface="Arial"/>
              </a:rPr>
              <a:t>Tool</a:t>
            </a:r>
          </a:p>
        </p:txBody>
      </p:sp>
      <p:sp>
        <p:nvSpPr>
          <p:cNvPr id="9" name="Rectangle 8"/>
          <p:cNvSpPr/>
          <p:nvPr/>
        </p:nvSpPr>
        <p:spPr>
          <a:xfrm>
            <a:off x="3967581" y="1783080"/>
            <a:ext cx="7444130" cy="502920"/>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4077309" y="1783080"/>
            <a:ext cx="7261250" cy="502920"/>
          </a:xfrm>
          <a:prstGeom prst="rect">
            <a:avLst/>
          </a:prstGeom>
          <a:noFill/>
        </p:spPr>
        <p:txBody>
          <a:bodyPr wrap="square" anchor="ctr">
            <a:spAutoFit/>
          </a:bodyPr>
          <a:lstStyle/>
          <a:p>
            <a:pPr algn="ctr">
              <a:spcAft>
                <a:spcPts val="400"/>
              </a:spcAft>
            </a:pPr>
            <a:r>
              <a:rPr sz="1400" b="1">
                <a:solidFill>
                  <a:srgbClr val="FFFFFF"/>
                </a:solidFill>
                <a:latin typeface="Arial"/>
              </a:rPr>
              <a:t>What it shows</a:t>
            </a:r>
          </a:p>
        </p:txBody>
      </p:sp>
      <p:sp>
        <p:nvSpPr>
          <p:cNvPr id="11" name="Rectangle 10"/>
          <p:cNvSpPr/>
          <p:nvPr/>
        </p:nvSpPr>
        <p:spPr>
          <a:xfrm>
            <a:off x="777240" y="2286000"/>
            <a:ext cx="3190341" cy="822960"/>
          </a:xfrm>
          <a:prstGeom prst="rect">
            <a:avLst/>
          </a:prstGeom>
          <a:solidFill>
            <a:srgbClr val="F5F8FC"/>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886968" y="2286000"/>
            <a:ext cx="3007461" cy="822960"/>
          </a:xfrm>
          <a:prstGeom prst="rect">
            <a:avLst/>
          </a:prstGeom>
          <a:noFill/>
        </p:spPr>
        <p:txBody>
          <a:bodyPr wrap="square" anchor="ctr">
            <a:spAutoFit/>
          </a:bodyPr>
          <a:lstStyle/>
          <a:p>
            <a:pPr algn="l">
              <a:spcAft>
                <a:spcPts val="400"/>
              </a:spcAft>
            </a:pPr>
            <a:r>
              <a:rPr sz="1250" b="1">
                <a:solidFill>
                  <a:srgbClr val="161B26"/>
                </a:solidFill>
                <a:latin typeface="Arial"/>
              </a:rPr>
              <a:t>Logs Insights</a:t>
            </a:r>
          </a:p>
        </p:txBody>
      </p:sp>
      <p:sp>
        <p:nvSpPr>
          <p:cNvPr id="13" name="Rectangle 12"/>
          <p:cNvSpPr/>
          <p:nvPr/>
        </p:nvSpPr>
        <p:spPr>
          <a:xfrm>
            <a:off x="3967581" y="2286000"/>
            <a:ext cx="7444130" cy="822960"/>
          </a:xfrm>
          <a:prstGeom prst="rect">
            <a:avLst/>
          </a:prstGeom>
          <a:solidFill>
            <a:srgbClr val="F5F8FC"/>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4077309" y="2286000"/>
            <a:ext cx="7261250" cy="822960"/>
          </a:xfrm>
          <a:prstGeom prst="rect">
            <a:avLst/>
          </a:prstGeom>
          <a:noFill/>
        </p:spPr>
        <p:txBody>
          <a:bodyPr wrap="square" anchor="ctr">
            <a:spAutoFit/>
          </a:bodyPr>
          <a:lstStyle/>
          <a:p>
            <a:pPr algn="ctr">
              <a:spcAft>
                <a:spcPts val="400"/>
              </a:spcAft>
            </a:pPr>
            <a:r>
              <a:rPr sz="1250" b="0">
                <a:solidFill>
                  <a:srgbClr val="5B6372"/>
                </a:solidFill>
                <a:latin typeface="Arial"/>
              </a:rPr>
              <a:t>Query and analyse log data with a purpose-built language</a:t>
            </a:r>
          </a:p>
        </p:txBody>
      </p:sp>
      <p:sp>
        <p:nvSpPr>
          <p:cNvPr id="15" name="Rectangle 14"/>
          <p:cNvSpPr/>
          <p:nvPr/>
        </p:nvSpPr>
        <p:spPr>
          <a:xfrm>
            <a:off x="777240" y="3108960"/>
            <a:ext cx="3190341" cy="822960"/>
          </a:xfrm>
          <a:prstGeom prst="rect">
            <a:avLst/>
          </a:prstGeom>
          <a:solidFill>
            <a:srgbClr val="FFFFFF"/>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886968" y="3108960"/>
            <a:ext cx="3007461" cy="822960"/>
          </a:xfrm>
          <a:prstGeom prst="rect">
            <a:avLst/>
          </a:prstGeom>
          <a:noFill/>
        </p:spPr>
        <p:txBody>
          <a:bodyPr wrap="square" anchor="ctr">
            <a:spAutoFit/>
          </a:bodyPr>
          <a:lstStyle/>
          <a:p>
            <a:pPr algn="l">
              <a:spcAft>
                <a:spcPts val="400"/>
              </a:spcAft>
            </a:pPr>
            <a:r>
              <a:rPr sz="1250" b="1">
                <a:solidFill>
                  <a:srgbClr val="161B26"/>
                </a:solidFill>
                <a:latin typeface="Arial"/>
              </a:rPr>
              <a:t>Container Insights</a:t>
            </a:r>
          </a:p>
        </p:txBody>
      </p:sp>
      <p:sp>
        <p:nvSpPr>
          <p:cNvPr id="17" name="Rectangle 16"/>
          <p:cNvSpPr/>
          <p:nvPr/>
        </p:nvSpPr>
        <p:spPr>
          <a:xfrm>
            <a:off x="3967581" y="3108960"/>
            <a:ext cx="7444130" cy="822960"/>
          </a:xfrm>
          <a:prstGeom prst="rect">
            <a:avLst/>
          </a:prstGeom>
          <a:solidFill>
            <a:srgbClr val="FFFFFF"/>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4077309" y="3108960"/>
            <a:ext cx="7261250" cy="822960"/>
          </a:xfrm>
          <a:prstGeom prst="rect">
            <a:avLst/>
          </a:prstGeom>
          <a:noFill/>
        </p:spPr>
        <p:txBody>
          <a:bodyPr wrap="square" anchor="ctr">
            <a:spAutoFit/>
          </a:bodyPr>
          <a:lstStyle/>
          <a:p>
            <a:pPr algn="ctr">
              <a:spcAft>
                <a:spcPts val="400"/>
              </a:spcAft>
            </a:pPr>
            <a:r>
              <a:rPr sz="1250" b="0">
                <a:solidFill>
                  <a:srgbClr val="5B6372"/>
                </a:solidFill>
                <a:latin typeface="Arial"/>
              </a:rPr>
              <a:t>Metrics &amp; logs for ECS/EKS/Fargate</a:t>
            </a:r>
          </a:p>
        </p:txBody>
      </p:sp>
      <p:sp>
        <p:nvSpPr>
          <p:cNvPr id="19" name="Rectangle 18"/>
          <p:cNvSpPr/>
          <p:nvPr/>
        </p:nvSpPr>
        <p:spPr>
          <a:xfrm>
            <a:off x="777240" y="3931920"/>
            <a:ext cx="3190341" cy="822960"/>
          </a:xfrm>
          <a:prstGeom prst="rect">
            <a:avLst/>
          </a:prstGeom>
          <a:solidFill>
            <a:srgbClr val="F5F8FC"/>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886968" y="3931920"/>
            <a:ext cx="3007461" cy="822960"/>
          </a:xfrm>
          <a:prstGeom prst="rect">
            <a:avLst/>
          </a:prstGeom>
          <a:noFill/>
        </p:spPr>
        <p:txBody>
          <a:bodyPr wrap="square" anchor="ctr">
            <a:spAutoFit/>
          </a:bodyPr>
          <a:lstStyle/>
          <a:p>
            <a:pPr algn="l">
              <a:spcAft>
                <a:spcPts val="400"/>
              </a:spcAft>
            </a:pPr>
            <a:r>
              <a:rPr sz="1250" b="1">
                <a:solidFill>
                  <a:srgbClr val="161B26"/>
                </a:solidFill>
                <a:latin typeface="Arial"/>
              </a:rPr>
              <a:t>Lambda Insights</a:t>
            </a:r>
          </a:p>
        </p:txBody>
      </p:sp>
      <p:sp>
        <p:nvSpPr>
          <p:cNvPr id="21" name="Rectangle 20"/>
          <p:cNvSpPr/>
          <p:nvPr/>
        </p:nvSpPr>
        <p:spPr>
          <a:xfrm>
            <a:off x="3967581" y="3931920"/>
            <a:ext cx="7444130" cy="822960"/>
          </a:xfrm>
          <a:prstGeom prst="rect">
            <a:avLst/>
          </a:prstGeom>
          <a:solidFill>
            <a:srgbClr val="F5F8FC"/>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4077309" y="3931920"/>
            <a:ext cx="7261250" cy="822960"/>
          </a:xfrm>
          <a:prstGeom prst="rect">
            <a:avLst/>
          </a:prstGeom>
          <a:noFill/>
        </p:spPr>
        <p:txBody>
          <a:bodyPr wrap="square" anchor="ctr">
            <a:spAutoFit/>
          </a:bodyPr>
          <a:lstStyle/>
          <a:p>
            <a:pPr algn="ctr">
              <a:spcAft>
                <a:spcPts val="400"/>
              </a:spcAft>
            </a:pPr>
            <a:r>
              <a:rPr sz="1250" b="0">
                <a:solidFill>
                  <a:srgbClr val="5B6372"/>
                </a:solidFill>
                <a:latin typeface="Arial"/>
              </a:rPr>
              <a:t>Performance &amp; cold-start metrics for functions</a:t>
            </a:r>
          </a:p>
        </p:txBody>
      </p:sp>
      <p:sp>
        <p:nvSpPr>
          <p:cNvPr id="23" name="Rectangle 22"/>
          <p:cNvSpPr/>
          <p:nvPr/>
        </p:nvSpPr>
        <p:spPr>
          <a:xfrm>
            <a:off x="777240" y="4754880"/>
            <a:ext cx="3190341" cy="822960"/>
          </a:xfrm>
          <a:prstGeom prst="rect">
            <a:avLst/>
          </a:prstGeom>
          <a:solidFill>
            <a:srgbClr val="FFFFFF"/>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886968" y="4754880"/>
            <a:ext cx="3007461" cy="822960"/>
          </a:xfrm>
          <a:prstGeom prst="rect">
            <a:avLst/>
          </a:prstGeom>
          <a:noFill/>
        </p:spPr>
        <p:txBody>
          <a:bodyPr wrap="square" anchor="ctr">
            <a:spAutoFit/>
          </a:bodyPr>
          <a:lstStyle/>
          <a:p>
            <a:pPr algn="l">
              <a:spcAft>
                <a:spcPts val="400"/>
              </a:spcAft>
            </a:pPr>
            <a:r>
              <a:rPr sz="1250" b="1">
                <a:solidFill>
                  <a:srgbClr val="161B26"/>
                </a:solidFill>
                <a:latin typeface="Arial"/>
              </a:rPr>
              <a:t>AWS X-Ray</a:t>
            </a:r>
          </a:p>
        </p:txBody>
      </p:sp>
      <p:sp>
        <p:nvSpPr>
          <p:cNvPr id="25" name="Rectangle 24"/>
          <p:cNvSpPr/>
          <p:nvPr/>
        </p:nvSpPr>
        <p:spPr>
          <a:xfrm>
            <a:off x="3967581" y="4754880"/>
            <a:ext cx="7444130" cy="822960"/>
          </a:xfrm>
          <a:prstGeom prst="rect">
            <a:avLst/>
          </a:prstGeom>
          <a:solidFill>
            <a:srgbClr val="FFFFFF"/>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4077309" y="4754880"/>
            <a:ext cx="7261250" cy="822960"/>
          </a:xfrm>
          <a:prstGeom prst="rect">
            <a:avLst/>
          </a:prstGeom>
          <a:noFill/>
        </p:spPr>
        <p:txBody>
          <a:bodyPr wrap="square" anchor="ctr">
            <a:spAutoFit/>
          </a:bodyPr>
          <a:lstStyle/>
          <a:p>
            <a:pPr algn="ctr">
              <a:spcAft>
                <a:spcPts val="400"/>
              </a:spcAft>
            </a:pPr>
            <a:r>
              <a:rPr sz="1250" b="0">
                <a:solidFill>
                  <a:srgbClr val="5B6372"/>
                </a:solidFill>
                <a:latin typeface="Arial"/>
              </a:rPr>
              <a:t>Distributed traces across microservices</a:t>
            </a:r>
          </a:p>
        </p:txBody>
      </p:sp>
      <p:sp>
        <p:nvSpPr>
          <p:cNvPr id="27" name="TextBox 26"/>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DevOps Engineering on AWS  ·  TGS-2023040474</a:t>
            </a:r>
          </a:p>
        </p:txBody>
      </p:sp>
      <p:sp>
        <p:nvSpPr>
          <p:cNvPr id="28" name="TextBox 27"/>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29" name="TextBox 28"/>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139</a:t>
            </a:r>
          </a:p>
        </p:txBody>
      </p:sp>
    </p:spTree>
  </p:cSld>
  <p:clrMapOvr>
    <a:masterClrMapping/>
  </p:clrMapOvr>
  <p:transition xmlns:p14="http://schemas.microsoft.com/office/powerpoint/2010/main" p14:dur="380">
    <p:fade/>
  </p:transition>
</p:sld>
</file>

<file path=ppt/slides/slide14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38912"/>
            <a:ext cx="10607040" cy="365760"/>
          </a:xfrm>
          <a:prstGeom prst="rect">
            <a:avLst/>
          </a:prstGeom>
          <a:noFill/>
        </p:spPr>
        <p:txBody>
          <a:bodyPr wrap="square" anchor="t">
            <a:spAutoFit/>
          </a:bodyPr>
          <a:lstStyle/>
          <a:p>
            <a:pPr algn="l">
              <a:spcAft>
                <a:spcPts val="400"/>
              </a:spcAft>
            </a:pPr>
            <a:r>
              <a:rPr sz="1400" b="1">
                <a:solidFill>
                  <a:srgbClr val="F59E0B"/>
                </a:solidFill>
                <a:latin typeface="Arial"/>
              </a:rPr>
              <a:t>IN DEPTH</a:t>
            </a:r>
          </a:p>
        </p:txBody>
      </p:sp>
      <p:sp>
        <p:nvSpPr>
          <p:cNvPr id="5" name="TextBox 4"/>
          <p:cNvSpPr txBox="1"/>
          <p:nvPr/>
        </p:nvSpPr>
        <p:spPr>
          <a:xfrm>
            <a:off x="777240" y="896112"/>
            <a:ext cx="10927080" cy="731520"/>
          </a:xfrm>
          <a:prstGeom prst="rect">
            <a:avLst/>
          </a:prstGeom>
          <a:noFill/>
        </p:spPr>
        <p:txBody>
          <a:bodyPr wrap="square" anchor="t">
            <a:spAutoFit/>
          </a:bodyPr>
          <a:lstStyle/>
          <a:p>
            <a:pPr algn="l">
              <a:spcAft>
                <a:spcPts val="400"/>
              </a:spcAft>
            </a:pPr>
            <a:r>
              <a:rPr sz="2500" b="1">
                <a:solidFill>
                  <a:srgbClr val="161B26"/>
                </a:solidFill>
                <a:latin typeface="Arial"/>
              </a:rPr>
              <a:t>The three pillars — metrics, logs, traces</a:t>
            </a:r>
          </a:p>
        </p:txBody>
      </p:sp>
      <p:sp>
        <p:nvSpPr>
          <p:cNvPr id="6" name="Rectangle 5"/>
          <p:cNvSpPr/>
          <p:nvPr/>
        </p:nvSpPr>
        <p:spPr>
          <a:xfrm>
            <a:off x="777240" y="1572768"/>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783080"/>
            <a:ext cx="5212080" cy="425196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1783080"/>
            <a:ext cx="5212080" cy="91440"/>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1005840" y="1938528"/>
            <a:ext cx="4754880" cy="365760"/>
          </a:xfrm>
          <a:prstGeom prst="rect">
            <a:avLst/>
          </a:prstGeom>
          <a:noFill/>
        </p:spPr>
        <p:txBody>
          <a:bodyPr wrap="square" anchor="t">
            <a:spAutoFit/>
          </a:bodyPr>
          <a:lstStyle/>
          <a:p>
            <a:pPr algn="l">
              <a:spcAft>
                <a:spcPts val="400"/>
              </a:spcAft>
            </a:pPr>
            <a:r>
              <a:rPr sz="1200" b="1">
                <a:solidFill>
                  <a:srgbClr val="F59E0B"/>
                </a:solidFill>
                <a:latin typeface="Arial"/>
              </a:rPr>
              <a:t>IN DEPTH</a:t>
            </a:r>
          </a:p>
        </p:txBody>
      </p:sp>
      <p:sp>
        <p:nvSpPr>
          <p:cNvPr id="10" name="TextBox 9"/>
          <p:cNvSpPr txBox="1"/>
          <p:nvPr/>
        </p:nvSpPr>
        <p:spPr>
          <a:xfrm>
            <a:off x="1005840" y="2377440"/>
            <a:ext cx="4754880" cy="3566160"/>
          </a:xfrm>
          <a:prstGeom prst="rect">
            <a:avLst/>
          </a:prstGeom>
          <a:noFill/>
        </p:spPr>
        <p:txBody>
          <a:bodyPr wrap="square">
            <a:spAutoFit/>
          </a:bodyPr>
          <a:lstStyle/>
          <a:p>
            <a:pPr>
              <a:spcAft>
                <a:spcPts val="800"/>
              </a:spcAft>
            </a:pPr>
            <a:r>
              <a:rPr sz="1350" b="0">
                <a:solidFill>
                  <a:srgbClr val="161B26"/>
                </a:solidFill>
                <a:latin typeface="Arial"/>
              </a:rPr>
              <a:t>•  Metrics are cheap numeric time-series for trends and alarms; logs are detailed event records for context; traces follow one request across services.</a:t>
            </a:r>
          </a:p>
          <a:p>
            <a:pPr>
              <a:spcAft>
                <a:spcPts val="800"/>
              </a:spcAft>
            </a:pPr>
            <a:r>
              <a:rPr sz="1350" b="0">
                <a:solidFill>
                  <a:srgbClr val="161B26"/>
                </a:solidFill>
                <a:latin typeface="Arial"/>
              </a:rPr>
              <a:t>•  CloudWatch provides metrics and logs; X-Ray provides distributed traces.</a:t>
            </a:r>
          </a:p>
          <a:p>
            <a:pPr>
              <a:spcAft>
                <a:spcPts val="800"/>
              </a:spcAft>
            </a:pPr>
            <a:r>
              <a:rPr sz="1350" b="0">
                <a:solidFill>
                  <a:srgbClr val="161B26"/>
                </a:solidFill>
                <a:latin typeface="Arial"/>
              </a:rPr>
              <a:t>•  You alarm on metrics, investigate with logs, and localise with traces.</a:t>
            </a:r>
          </a:p>
        </p:txBody>
      </p:sp>
      <p:sp>
        <p:nvSpPr>
          <p:cNvPr id="11" name="Rectangle 10"/>
          <p:cNvSpPr/>
          <p:nvPr/>
        </p:nvSpPr>
        <p:spPr>
          <a:xfrm>
            <a:off x="6172200" y="1783080"/>
            <a:ext cx="5239512" cy="1325880"/>
          </a:xfrm>
          <a:prstGeom prst="rect">
            <a:avLst/>
          </a:prstGeom>
          <a:solidFill>
            <a:srgbClr val="FFFFFF"/>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ectangle 11"/>
          <p:cNvSpPr/>
          <p:nvPr/>
        </p:nvSpPr>
        <p:spPr>
          <a:xfrm>
            <a:off x="6172200" y="1783080"/>
            <a:ext cx="91440" cy="1325880"/>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6428232" y="1892808"/>
            <a:ext cx="4782312" cy="320040"/>
          </a:xfrm>
          <a:prstGeom prst="rect">
            <a:avLst/>
          </a:prstGeom>
          <a:noFill/>
        </p:spPr>
        <p:txBody>
          <a:bodyPr wrap="square" anchor="t">
            <a:spAutoFit/>
          </a:bodyPr>
          <a:lstStyle/>
          <a:p>
            <a:pPr algn="l">
              <a:spcAft>
                <a:spcPts val="400"/>
              </a:spcAft>
            </a:pPr>
            <a:r>
              <a:rPr sz="1150" b="1">
                <a:solidFill>
                  <a:srgbClr val="F59E0B"/>
                </a:solidFill>
                <a:latin typeface="Arial"/>
              </a:rPr>
              <a:t>WHY IT MATTERS</a:t>
            </a:r>
          </a:p>
        </p:txBody>
      </p:sp>
      <p:sp>
        <p:nvSpPr>
          <p:cNvPr id="14" name="TextBox 13"/>
          <p:cNvSpPr txBox="1"/>
          <p:nvPr/>
        </p:nvSpPr>
        <p:spPr>
          <a:xfrm>
            <a:off x="6428232" y="2221992"/>
            <a:ext cx="4782312" cy="822960"/>
          </a:xfrm>
          <a:prstGeom prst="rect">
            <a:avLst/>
          </a:prstGeom>
          <a:noFill/>
        </p:spPr>
        <p:txBody>
          <a:bodyPr wrap="square" anchor="t">
            <a:spAutoFit/>
          </a:bodyPr>
          <a:lstStyle/>
          <a:p>
            <a:pPr algn="l">
              <a:spcAft>
                <a:spcPts val="400"/>
              </a:spcAft>
            </a:pPr>
            <a:r>
              <a:rPr sz="1250" b="0">
                <a:solidFill>
                  <a:srgbClr val="161B26"/>
                </a:solidFill>
                <a:latin typeface="Arial"/>
              </a:rPr>
              <a:t>Each pillar answers a different question — 'is it broken?', 'why?', and 'where?' — and you need all three to troubleshoot fast.</a:t>
            </a:r>
          </a:p>
        </p:txBody>
      </p:sp>
      <p:sp>
        <p:nvSpPr>
          <p:cNvPr id="15" name="Rectangle 14"/>
          <p:cNvSpPr/>
          <p:nvPr/>
        </p:nvSpPr>
        <p:spPr>
          <a:xfrm>
            <a:off x="6172200" y="3246120"/>
            <a:ext cx="5239512" cy="1325880"/>
          </a:xfrm>
          <a:prstGeom prst="rect">
            <a:avLst/>
          </a:prstGeom>
          <a:solidFill>
            <a:srgbClr val="FFFFFF"/>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ectangle 15"/>
          <p:cNvSpPr/>
          <p:nvPr/>
        </p:nvSpPr>
        <p:spPr>
          <a:xfrm>
            <a:off x="6172200" y="3246120"/>
            <a:ext cx="91440" cy="1325880"/>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6428232" y="3355848"/>
            <a:ext cx="4782312" cy="320040"/>
          </a:xfrm>
          <a:prstGeom prst="rect">
            <a:avLst/>
          </a:prstGeom>
          <a:noFill/>
        </p:spPr>
        <p:txBody>
          <a:bodyPr wrap="square" anchor="t">
            <a:spAutoFit/>
          </a:bodyPr>
          <a:lstStyle/>
          <a:p>
            <a:pPr algn="l">
              <a:spcAft>
                <a:spcPts val="400"/>
              </a:spcAft>
            </a:pPr>
            <a:r>
              <a:rPr sz="1150" b="1">
                <a:solidFill>
                  <a:srgbClr val="C0392B"/>
                </a:solidFill>
                <a:latin typeface="Arial"/>
              </a:rPr>
              <a:t>FAILURE MODE</a:t>
            </a:r>
          </a:p>
        </p:txBody>
      </p:sp>
      <p:sp>
        <p:nvSpPr>
          <p:cNvPr id="18" name="TextBox 17"/>
          <p:cNvSpPr txBox="1"/>
          <p:nvPr/>
        </p:nvSpPr>
        <p:spPr>
          <a:xfrm>
            <a:off x="6428232" y="3685032"/>
            <a:ext cx="4782312" cy="822960"/>
          </a:xfrm>
          <a:prstGeom prst="rect">
            <a:avLst/>
          </a:prstGeom>
          <a:noFill/>
        </p:spPr>
        <p:txBody>
          <a:bodyPr wrap="square" anchor="t">
            <a:spAutoFit/>
          </a:bodyPr>
          <a:lstStyle/>
          <a:p>
            <a:pPr algn="l">
              <a:spcAft>
                <a:spcPts val="400"/>
              </a:spcAft>
            </a:pPr>
            <a:r>
              <a:rPr sz="1250" b="0">
                <a:solidFill>
                  <a:srgbClr val="161B26"/>
                </a:solidFill>
                <a:latin typeface="Arial"/>
              </a:rPr>
              <a:t>Logging everything but graphing nothing leaves you searching text during an outage instead of seeing the problem at a glance.</a:t>
            </a:r>
          </a:p>
        </p:txBody>
      </p:sp>
      <p:sp>
        <p:nvSpPr>
          <p:cNvPr id="19" name="Rectangle 18"/>
          <p:cNvSpPr/>
          <p:nvPr/>
        </p:nvSpPr>
        <p:spPr>
          <a:xfrm>
            <a:off x="6172200" y="4709160"/>
            <a:ext cx="5239512" cy="1325880"/>
          </a:xfrm>
          <a:prstGeom prst="rect">
            <a:avLst/>
          </a:prstGeom>
          <a:solidFill>
            <a:srgbClr val="FFFFFF"/>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Rectangle 19"/>
          <p:cNvSpPr/>
          <p:nvPr/>
        </p:nvSpPr>
        <p:spPr>
          <a:xfrm>
            <a:off x="6172200" y="4709160"/>
            <a:ext cx="91440" cy="1325880"/>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6428232" y="4818888"/>
            <a:ext cx="4782312" cy="320040"/>
          </a:xfrm>
          <a:prstGeom prst="rect">
            <a:avLst/>
          </a:prstGeom>
          <a:noFill/>
        </p:spPr>
        <p:txBody>
          <a:bodyPr wrap="square" anchor="t">
            <a:spAutoFit/>
          </a:bodyPr>
          <a:lstStyle/>
          <a:p>
            <a:pPr algn="l">
              <a:spcAft>
                <a:spcPts val="400"/>
              </a:spcAft>
            </a:pPr>
            <a:r>
              <a:rPr sz="1150" b="1">
                <a:solidFill>
                  <a:srgbClr val="F59E0B"/>
                </a:solidFill>
                <a:latin typeface="Arial"/>
              </a:rPr>
              <a:t>TRADE-OFF / DECISION</a:t>
            </a:r>
          </a:p>
        </p:txBody>
      </p:sp>
      <p:sp>
        <p:nvSpPr>
          <p:cNvPr id="22" name="TextBox 21"/>
          <p:cNvSpPr txBox="1"/>
          <p:nvPr/>
        </p:nvSpPr>
        <p:spPr>
          <a:xfrm>
            <a:off x="6428232" y="5148072"/>
            <a:ext cx="4782312" cy="822960"/>
          </a:xfrm>
          <a:prstGeom prst="rect">
            <a:avLst/>
          </a:prstGeom>
          <a:noFill/>
        </p:spPr>
        <p:txBody>
          <a:bodyPr wrap="square" anchor="t">
            <a:spAutoFit/>
          </a:bodyPr>
          <a:lstStyle/>
          <a:p>
            <a:pPr algn="l">
              <a:spcAft>
                <a:spcPts val="400"/>
              </a:spcAft>
            </a:pPr>
            <a:r>
              <a:rPr sz="1250" b="0">
                <a:solidFill>
                  <a:srgbClr val="161B26"/>
                </a:solidFill>
                <a:latin typeface="Arial"/>
              </a:rPr>
              <a:t>High-cardinality metrics and verbose logs cost money and can slow queries — sample and aggregate deliberately.</a:t>
            </a:r>
          </a:p>
        </p:txBody>
      </p:sp>
      <p:sp>
        <p:nvSpPr>
          <p:cNvPr id="23" name="TextBox 22"/>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DevOps Engineering on AWS  ·  TGS-2023040474</a:t>
            </a:r>
          </a:p>
        </p:txBody>
      </p:sp>
      <p:sp>
        <p:nvSpPr>
          <p:cNvPr id="24" name="TextBox 23"/>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25" name="TextBox 24"/>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140</a:t>
            </a:r>
          </a:p>
        </p:txBody>
      </p:sp>
    </p:spTree>
  </p:cSld>
  <p:clrMapOvr>
    <a:masterClrMapping/>
  </p:clrMapOvr>
  <p:transition xmlns:p14="http://schemas.microsoft.com/office/powerpoint/2010/main" p14:dur="380">
    <p:fade/>
  </p:transition>
</p:sld>
</file>

<file path=ppt/slides/slide14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38912"/>
            <a:ext cx="10607040" cy="365760"/>
          </a:xfrm>
          <a:prstGeom prst="rect">
            <a:avLst/>
          </a:prstGeom>
          <a:noFill/>
        </p:spPr>
        <p:txBody>
          <a:bodyPr wrap="square" anchor="t">
            <a:spAutoFit/>
          </a:bodyPr>
          <a:lstStyle/>
          <a:p>
            <a:pPr algn="l">
              <a:spcAft>
                <a:spcPts val="400"/>
              </a:spcAft>
            </a:pPr>
            <a:r>
              <a:rPr sz="1400" b="1">
                <a:solidFill>
                  <a:srgbClr val="F59E0B"/>
                </a:solidFill>
                <a:latin typeface="Arial"/>
              </a:rPr>
              <a:t>IN DEPTH</a:t>
            </a:r>
          </a:p>
        </p:txBody>
      </p:sp>
      <p:sp>
        <p:nvSpPr>
          <p:cNvPr id="5" name="TextBox 4"/>
          <p:cNvSpPr txBox="1"/>
          <p:nvPr/>
        </p:nvSpPr>
        <p:spPr>
          <a:xfrm>
            <a:off x="777240" y="896112"/>
            <a:ext cx="10927080" cy="731520"/>
          </a:xfrm>
          <a:prstGeom prst="rect">
            <a:avLst/>
          </a:prstGeom>
          <a:noFill/>
        </p:spPr>
        <p:txBody>
          <a:bodyPr wrap="square" anchor="t">
            <a:spAutoFit/>
          </a:bodyPr>
          <a:lstStyle/>
          <a:p>
            <a:pPr algn="l">
              <a:spcAft>
                <a:spcPts val="400"/>
              </a:spcAft>
            </a:pPr>
            <a:r>
              <a:rPr sz="2100" b="1">
                <a:solidFill>
                  <a:srgbClr val="161B26"/>
                </a:solidFill>
                <a:latin typeface="Arial"/>
              </a:rPr>
              <a:t>CloudWatch metrics model — namespaces, dimensions, statistics</a:t>
            </a:r>
          </a:p>
        </p:txBody>
      </p:sp>
      <p:sp>
        <p:nvSpPr>
          <p:cNvPr id="6" name="Rectangle 5"/>
          <p:cNvSpPr/>
          <p:nvPr/>
        </p:nvSpPr>
        <p:spPr>
          <a:xfrm>
            <a:off x="777240" y="1572768"/>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783080"/>
            <a:ext cx="5212080" cy="425196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1783080"/>
            <a:ext cx="5212080" cy="91440"/>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1005840" y="1938528"/>
            <a:ext cx="4754880" cy="365760"/>
          </a:xfrm>
          <a:prstGeom prst="rect">
            <a:avLst/>
          </a:prstGeom>
          <a:noFill/>
        </p:spPr>
        <p:txBody>
          <a:bodyPr wrap="square" anchor="t">
            <a:spAutoFit/>
          </a:bodyPr>
          <a:lstStyle/>
          <a:p>
            <a:pPr algn="l">
              <a:spcAft>
                <a:spcPts val="400"/>
              </a:spcAft>
            </a:pPr>
            <a:r>
              <a:rPr sz="1200" b="1">
                <a:solidFill>
                  <a:srgbClr val="F59E0B"/>
                </a:solidFill>
                <a:latin typeface="Arial"/>
              </a:rPr>
              <a:t>IN DEPTH</a:t>
            </a:r>
          </a:p>
        </p:txBody>
      </p:sp>
      <p:sp>
        <p:nvSpPr>
          <p:cNvPr id="10" name="TextBox 9"/>
          <p:cNvSpPr txBox="1"/>
          <p:nvPr/>
        </p:nvSpPr>
        <p:spPr>
          <a:xfrm>
            <a:off x="1005840" y="2377440"/>
            <a:ext cx="4754880" cy="3566160"/>
          </a:xfrm>
          <a:prstGeom prst="rect">
            <a:avLst/>
          </a:prstGeom>
          <a:noFill/>
        </p:spPr>
        <p:txBody>
          <a:bodyPr wrap="square">
            <a:spAutoFit/>
          </a:bodyPr>
          <a:lstStyle/>
          <a:p>
            <a:pPr>
              <a:spcAft>
                <a:spcPts val="800"/>
              </a:spcAft>
            </a:pPr>
            <a:r>
              <a:rPr sz="1350" b="0">
                <a:solidFill>
                  <a:srgbClr val="161B26"/>
                </a:solidFill>
                <a:latin typeface="Arial"/>
              </a:rPr>
              <a:t>•  Metrics live in namespaces (AWS/EC2, custom app namespaces) and are identified by dimensions such as InstanceId.</a:t>
            </a:r>
          </a:p>
          <a:p>
            <a:pPr>
              <a:spcAft>
                <a:spcPts val="800"/>
              </a:spcAft>
            </a:pPr>
            <a:r>
              <a:rPr sz="1350" b="0">
                <a:solidFill>
                  <a:srgbClr val="161B26"/>
                </a:solidFill>
                <a:latin typeface="Arial"/>
              </a:rPr>
              <a:t>•  Statistics (Average, Sum, p90, p99) and periods aggregate raw data points over time.</a:t>
            </a:r>
          </a:p>
          <a:p>
            <a:pPr>
              <a:spcAft>
                <a:spcPts val="800"/>
              </a:spcAft>
            </a:pPr>
            <a:r>
              <a:rPr sz="1350" b="0">
                <a:solidFill>
                  <a:srgbClr val="161B26"/>
                </a:solidFill>
                <a:latin typeface="Arial"/>
              </a:rPr>
              <a:t>•  Custom and high-resolution metrics capture application-level signals AWS can't see.</a:t>
            </a:r>
          </a:p>
        </p:txBody>
      </p:sp>
      <p:sp>
        <p:nvSpPr>
          <p:cNvPr id="11" name="Rectangle 10"/>
          <p:cNvSpPr/>
          <p:nvPr/>
        </p:nvSpPr>
        <p:spPr>
          <a:xfrm>
            <a:off x="6172200" y="1783080"/>
            <a:ext cx="5239512" cy="1325880"/>
          </a:xfrm>
          <a:prstGeom prst="rect">
            <a:avLst/>
          </a:prstGeom>
          <a:solidFill>
            <a:srgbClr val="FFFFFF"/>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ectangle 11"/>
          <p:cNvSpPr/>
          <p:nvPr/>
        </p:nvSpPr>
        <p:spPr>
          <a:xfrm>
            <a:off x="6172200" y="1783080"/>
            <a:ext cx="91440" cy="1325880"/>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6428232" y="1892808"/>
            <a:ext cx="4782312" cy="320040"/>
          </a:xfrm>
          <a:prstGeom prst="rect">
            <a:avLst/>
          </a:prstGeom>
          <a:noFill/>
        </p:spPr>
        <p:txBody>
          <a:bodyPr wrap="square" anchor="t">
            <a:spAutoFit/>
          </a:bodyPr>
          <a:lstStyle/>
          <a:p>
            <a:pPr algn="l">
              <a:spcAft>
                <a:spcPts val="400"/>
              </a:spcAft>
            </a:pPr>
            <a:r>
              <a:rPr sz="1150" b="1">
                <a:solidFill>
                  <a:srgbClr val="F59E0B"/>
                </a:solidFill>
                <a:latin typeface="Arial"/>
              </a:rPr>
              <a:t>WHY IT MATTERS</a:t>
            </a:r>
          </a:p>
        </p:txBody>
      </p:sp>
      <p:sp>
        <p:nvSpPr>
          <p:cNvPr id="14" name="TextBox 13"/>
          <p:cNvSpPr txBox="1"/>
          <p:nvPr/>
        </p:nvSpPr>
        <p:spPr>
          <a:xfrm>
            <a:off x="6428232" y="2221992"/>
            <a:ext cx="4782312" cy="822960"/>
          </a:xfrm>
          <a:prstGeom prst="rect">
            <a:avLst/>
          </a:prstGeom>
          <a:noFill/>
        </p:spPr>
        <p:txBody>
          <a:bodyPr wrap="square" anchor="t">
            <a:spAutoFit/>
          </a:bodyPr>
          <a:lstStyle/>
          <a:p>
            <a:pPr algn="l">
              <a:spcAft>
                <a:spcPts val="400"/>
              </a:spcAft>
            </a:pPr>
            <a:r>
              <a:rPr sz="1250" b="0">
                <a:solidFill>
                  <a:srgbClr val="161B26"/>
                </a:solidFill>
                <a:latin typeface="Arial"/>
              </a:rPr>
              <a:t>Understanding dimensions and percentiles is what separates 'average looks fine' from seeing the p99 pain real users feel.</a:t>
            </a:r>
          </a:p>
        </p:txBody>
      </p:sp>
      <p:sp>
        <p:nvSpPr>
          <p:cNvPr id="15" name="Rectangle 14"/>
          <p:cNvSpPr/>
          <p:nvPr/>
        </p:nvSpPr>
        <p:spPr>
          <a:xfrm>
            <a:off x="6172200" y="3246120"/>
            <a:ext cx="5239512" cy="1325880"/>
          </a:xfrm>
          <a:prstGeom prst="rect">
            <a:avLst/>
          </a:prstGeom>
          <a:solidFill>
            <a:srgbClr val="FFFFFF"/>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ectangle 15"/>
          <p:cNvSpPr/>
          <p:nvPr/>
        </p:nvSpPr>
        <p:spPr>
          <a:xfrm>
            <a:off x="6172200" y="3246120"/>
            <a:ext cx="91440" cy="1325880"/>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6428232" y="3355848"/>
            <a:ext cx="4782312" cy="320040"/>
          </a:xfrm>
          <a:prstGeom prst="rect">
            <a:avLst/>
          </a:prstGeom>
          <a:noFill/>
        </p:spPr>
        <p:txBody>
          <a:bodyPr wrap="square" anchor="t">
            <a:spAutoFit/>
          </a:bodyPr>
          <a:lstStyle/>
          <a:p>
            <a:pPr algn="l">
              <a:spcAft>
                <a:spcPts val="400"/>
              </a:spcAft>
            </a:pPr>
            <a:r>
              <a:rPr sz="1150" b="1">
                <a:solidFill>
                  <a:srgbClr val="C0392B"/>
                </a:solidFill>
                <a:latin typeface="Arial"/>
              </a:rPr>
              <a:t>FAILURE MODE</a:t>
            </a:r>
          </a:p>
        </p:txBody>
      </p:sp>
      <p:sp>
        <p:nvSpPr>
          <p:cNvPr id="18" name="TextBox 17"/>
          <p:cNvSpPr txBox="1"/>
          <p:nvPr/>
        </p:nvSpPr>
        <p:spPr>
          <a:xfrm>
            <a:off x="6428232" y="3685032"/>
            <a:ext cx="4782312" cy="822960"/>
          </a:xfrm>
          <a:prstGeom prst="rect">
            <a:avLst/>
          </a:prstGeom>
          <a:noFill/>
        </p:spPr>
        <p:txBody>
          <a:bodyPr wrap="square" anchor="t">
            <a:spAutoFit/>
          </a:bodyPr>
          <a:lstStyle/>
          <a:p>
            <a:pPr algn="l">
              <a:spcAft>
                <a:spcPts val="400"/>
              </a:spcAft>
            </a:pPr>
            <a:r>
              <a:rPr sz="1250" b="0">
                <a:solidFill>
                  <a:srgbClr val="161B26"/>
                </a:solidFill>
                <a:latin typeface="Arial"/>
              </a:rPr>
              <a:t>Alarming on Average hides tail latency — the average is healthy while your slowest 1% of users are timing out.</a:t>
            </a:r>
          </a:p>
        </p:txBody>
      </p:sp>
      <p:sp>
        <p:nvSpPr>
          <p:cNvPr id="19" name="Rectangle 18"/>
          <p:cNvSpPr/>
          <p:nvPr/>
        </p:nvSpPr>
        <p:spPr>
          <a:xfrm>
            <a:off x="6172200" y="4709160"/>
            <a:ext cx="5239512" cy="1325880"/>
          </a:xfrm>
          <a:prstGeom prst="rect">
            <a:avLst/>
          </a:prstGeom>
          <a:solidFill>
            <a:srgbClr val="FFFFFF"/>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Rectangle 19"/>
          <p:cNvSpPr/>
          <p:nvPr/>
        </p:nvSpPr>
        <p:spPr>
          <a:xfrm>
            <a:off x="6172200" y="4709160"/>
            <a:ext cx="91440" cy="1325880"/>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6428232" y="4818888"/>
            <a:ext cx="4782312" cy="320040"/>
          </a:xfrm>
          <a:prstGeom prst="rect">
            <a:avLst/>
          </a:prstGeom>
          <a:noFill/>
        </p:spPr>
        <p:txBody>
          <a:bodyPr wrap="square" anchor="t">
            <a:spAutoFit/>
          </a:bodyPr>
          <a:lstStyle/>
          <a:p>
            <a:pPr algn="l">
              <a:spcAft>
                <a:spcPts val="400"/>
              </a:spcAft>
            </a:pPr>
            <a:r>
              <a:rPr sz="1150" b="1">
                <a:solidFill>
                  <a:srgbClr val="F59E0B"/>
                </a:solidFill>
                <a:latin typeface="Arial"/>
              </a:rPr>
              <a:t>TRADE-OFF / DECISION</a:t>
            </a:r>
          </a:p>
        </p:txBody>
      </p:sp>
      <p:sp>
        <p:nvSpPr>
          <p:cNvPr id="22" name="TextBox 21"/>
          <p:cNvSpPr txBox="1"/>
          <p:nvPr/>
        </p:nvSpPr>
        <p:spPr>
          <a:xfrm>
            <a:off x="6428232" y="5148072"/>
            <a:ext cx="4782312" cy="822960"/>
          </a:xfrm>
          <a:prstGeom prst="rect">
            <a:avLst/>
          </a:prstGeom>
          <a:noFill/>
        </p:spPr>
        <p:txBody>
          <a:bodyPr wrap="square" anchor="t">
            <a:spAutoFit/>
          </a:bodyPr>
          <a:lstStyle/>
          <a:p>
            <a:pPr algn="l">
              <a:spcAft>
                <a:spcPts val="400"/>
              </a:spcAft>
            </a:pPr>
            <a:r>
              <a:rPr sz="1250" b="0">
                <a:solidFill>
                  <a:srgbClr val="161B26"/>
                </a:solidFill>
                <a:latin typeface="Arial"/>
              </a:rPr>
              <a:t>Percentiles and high-resolution metrics cost more but reveal problems averages mask.</a:t>
            </a:r>
          </a:p>
        </p:txBody>
      </p:sp>
      <p:sp>
        <p:nvSpPr>
          <p:cNvPr id="23" name="TextBox 22"/>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DevOps Engineering on AWS  ·  TGS-2023040474</a:t>
            </a:r>
          </a:p>
        </p:txBody>
      </p:sp>
      <p:sp>
        <p:nvSpPr>
          <p:cNvPr id="24" name="TextBox 23"/>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25" name="TextBox 24"/>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141</a:t>
            </a:r>
          </a:p>
        </p:txBody>
      </p:sp>
    </p:spTree>
  </p:cSld>
  <p:clrMapOvr>
    <a:masterClrMapping/>
  </p:clrMapOvr>
  <p:transition xmlns:p14="http://schemas.microsoft.com/office/powerpoint/2010/main" p14:dur="380">
    <p:fade/>
  </p:transition>
</p:sld>
</file>

<file path=ppt/slides/slide14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38912"/>
            <a:ext cx="10607040" cy="365760"/>
          </a:xfrm>
          <a:prstGeom prst="rect">
            <a:avLst/>
          </a:prstGeom>
          <a:noFill/>
        </p:spPr>
        <p:txBody>
          <a:bodyPr wrap="square" anchor="t">
            <a:spAutoFit/>
          </a:bodyPr>
          <a:lstStyle/>
          <a:p>
            <a:pPr algn="l">
              <a:spcAft>
                <a:spcPts val="400"/>
              </a:spcAft>
            </a:pPr>
            <a:r>
              <a:rPr sz="1400" b="1">
                <a:solidFill>
                  <a:srgbClr val="F59E0B"/>
                </a:solidFill>
                <a:latin typeface="Arial"/>
              </a:rPr>
              <a:t>IN DEPTH</a:t>
            </a:r>
          </a:p>
        </p:txBody>
      </p:sp>
      <p:sp>
        <p:nvSpPr>
          <p:cNvPr id="5" name="TextBox 4"/>
          <p:cNvSpPr txBox="1"/>
          <p:nvPr/>
        </p:nvSpPr>
        <p:spPr>
          <a:xfrm>
            <a:off x="777240" y="804672"/>
            <a:ext cx="10927080" cy="731520"/>
          </a:xfrm>
          <a:prstGeom prst="rect">
            <a:avLst/>
          </a:prstGeom>
          <a:noFill/>
        </p:spPr>
        <p:txBody>
          <a:bodyPr wrap="square" anchor="t">
            <a:spAutoFit/>
          </a:bodyPr>
          <a:lstStyle/>
          <a:p>
            <a:pPr algn="l">
              <a:spcAft>
                <a:spcPts val="400"/>
              </a:spcAft>
            </a:pPr>
            <a:r>
              <a:rPr sz="2900" b="1">
                <a:solidFill>
                  <a:srgbClr val="161B26"/>
                </a:solidFill>
                <a:latin typeface="Arial"/>
              </a:rPr>
              <a:t>Turning logs into signals</a:t>
            </a:r>
          </a:p>
        </p:txBody>
      </p:sp>
      <p:sp>
        <p:nvSpPr>
          <p:cNvPr id="6" name="Rectangle 5"/>
          <p:cNvSpPr/>
          <p:nvPr/>
        </p:nvSpPr>
        <p:spPr>
          <a:xfrm>
            <a:off x="777240" y="1572768"/>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783080"/>
            <a:ext cx="5212080" cy="425196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1783080"/>
            <a:ext cx="5212080" cy="91440"/>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1005840" y="1938528"/>
            <a:ext cx="4754880" cy="365760"/>
          </a:xfrm>
          <a:prstGeom prst="rect">
            <a:avLst/>
          </a:prstGeom>
          <a:noFill/>
        </p:spPr>
        <p:txBody>
          <a:bodyPr wrap="square" anchor="t">
            <a:spAutoFit/>
          </a:bodyPr>
          <a:lstStyle/>
          <a:p>
            <a:pPr algn="l">
              <a:spcAft>
                <a:spcPts val="400"/>
              </a:spcAft>
            </a:pPr>
            <a:r>
              <a:rPr sz="1200" b="1">
                <a:solidFill>
                  <a:srgbClr val="F59E0B"/>
                </a:solidFill>
                <a:latin typeface="Arial"/>
              </a:rPr>
              <a:t>IN DEPTH</a:t>
            </a:r>
          </a:p>
        </p:txBody>
      </p:sp>
      <p:sp>
        <p:nvSpPr>
          <p:cNvPr id="10" name="TextBox 9"/>
          <p:cNvSpPr txBox="1"/>
          <p:nvPr/>
        </p:nvSpPr>
        <p:spPr>
          <a:xfrm>
            <a:off x="1005840" y="2377440"/>
            <a:ext cx="4754880" cy="3566160"/>
          </a:xfrm>
          <a:prstGeom prst="rect">
            <a:avLst/>
          </a:prstGeom>
          <a:noFill/>
        </p:spPr>
        <p:txBody>
          <a:bodyPr wrap="square">
            <a:spAutoFit/>
          </a:bodyPr>
          <a:lstStyle/>
          <a:p>
            <a:pPr>
              <a:spcAft>
                <a:spcPts val="800"/>
              </a:spcAft>
            </a:pPr>
            <a:r>
              <a:rPr sz="1350" b="0">
                <a:solidFill>
                  <a:srgbClr val="161B26"/>
                </a:solidFill>
                <a:latin typeface="Arial"/>
              </a:rPr>
              <a:t>•  CloudWatch Logs stores log groups and streams; metric filters extract numbers (e.g. ERROR count) from log text.</a:t>
            </a:r>
          </a:p>
          <a:p>
            <a:pPr>
              <a:spcAft>
                <a:spcPts val="800"/>
              </a:spcAft>
            </a:pPr>
            <a:r>
              <a:rPr sz="1350" b="0">
                <a:solidFill>
                  <a:srgbClr val="161B26"/>
                </a:solidFill>
                <a:latin typeface="Arial"/>
              </a:rPr>
              <a:t>•  Subscription filters stream logs in real time to Lambda, OpenSearch or Kinesis for processing.</a:t>
            </a:r>
          </a:p>
          <a:p>
            <a:pPr>
              <a:spcAft>
                <a:spcPts val="800"/>
              </a:spcAft>
            </a:pPr>
            <a:r>
              <a:rPr sz="1350" b="0">
                <a:solidFill>
                  <a:srgbClr val="161B26"/>
                </a:solidFill>
                <a:latin typeface="Arial"/>
              </a:rPr>
              <a:t>•  Logs Insights queries large volumes with a purpose-built query language.</a:t>
            </a:r>
          </a:p>
        </p:txBody>
      </p:sp>
      <p:sp>
        <p:nvSpPr>
          <p:cNvPr id="11" name="Rectangle 10"/>
          <p:cNvSpPr/>
          <p:nvPr/>
        </p:nvSpPr>
        <p:spPr>
          <a:xfrm>
            <a:off x="6172200" y="1783080"/>
            <a:ext cx="5239512" cy="1325880"/>
          </a:xfrm>
          <a:prstGeom prst="rect">
            <a:avLst/>
          </a:prstGeom>
          <a:solidFill>
            <a:srgbClr val="FFFFFF"/>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ectangle 11"/>
          <p:cNvSpPr/>
          <p:nvPr/>
        </p:nvSpPr>
        <p:spPr>
          <a:xfrm>
            <a:off x="6172200" y="1783080"/>
            <a:ext cx="91440" cy="1325880"/>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6428232" y="1892808"/>
            <a:ext cx="4782312" cy="320040"/>
          </a:xfrm>
          <a:prstGeom prst="rect">
            <a:avLst/>
          </a:prstGeom>
          <a:noFill/>
        </p:spPr>
        <p:txBody>
          <a:bodyPr wrap="square" anchor="t">
            <a:spAutoFit/>
          </a:bodyPr>
          <a:lstStyle/>
          <a:p>
            <a:pPr algn="l">
              <a:spcAft>
                <a:spcPts val="400"/>
              </a:spcAft>
            </a:pPr>
            <a:r>
              <a:rPr sz="1150" b="1">
                <a:solidFill>
                  <a:srgbClr val="F59E0B"/>
                </a:solidFill>
                <a:latin typeface="Arial"/>
              </a:rPr>
              <a:t>WHY IT MATTERS</a:t>
            </a:r>
          </a:p>
        </p:txBody>
      </p:sp>
      <p:sp>
        <p:nvSpPr>
          <p:cNvPr id="14" name="TextBox 13"/>
          <p:cNvSpPr txBox="1"/>
          <p:nvPr/>
        </p:nvSpPr>
        <p:spPr>
          <a:xfrm>
            <a:off x="6428232" y="2221992"/>
            <a:ext cx="4782312" cy="822960"/>
          </a:xfrm>
          <a:prstGeom prst="rect">
            <a:avLst/>
          </a:prstGeom>
          <a:noFill/>
        </p:spPr>
        <p:txBody>
          <a:bodyPr wrap="square" anchor="t">
            <a:spAutoFit/>
          </a:bodyPr>
          <a:lstStyle/>
          <a:p>
            <a:pPr algn="l">
              <a:spcAft>
                <a:spcPts val="400"/>
              </a:spcAft>
            </a:pPr>
            <a:r>
              <a:rPr sz="1250" b="0">
                <a:solidFill>
                  <a:srgbClr val="161B26"/>
                </a:solidFill>
                <a:latin typeface="Arial"/>
              </a:rPr>
              <a:t>A metric filter converts unsearchable text into an alarmable metric, so logs drive automated response, not just post-hoc reading.</a:t>
            </a:r>
          </a:p>
        </p:txBody>
      </p:sp>
      <p:sp>
        <p:nvSpPr>
          <p:cNvPr id="15" name="Rectangle 14"/>
          <p:cNvSpPr/>
          <p:nvPr/>
        </p:nvSpPr>
        <p:spPr>
          <a:xfrm>
            <a:off x="6172200" y="3246120"/>
            <a:ext cx="5239512" cy="1325880"/>
          </a:xfrm>
          <a:prstGeom prst="rect">
            <a:avLst/>
          </a:prstGeom>
          <a:solidFill>
            <a:srgbClr val="FFFFFF"/>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ectangle 15"/>
          <p:cNvSpPr/>
          <p:nvPr/>
        </p:nvSpPr>
        <p:spPr>
          <a:xfrm>
            <a:off x="6172200" y="3246120"/>
            <a:ext cx="91440" cy="1325880"/>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6428232" y="3355848"/>
            <a:ext cx="4782312" cy="320040"/>
          </a:xfrm>
          <a:prstGeom prst="rect">
            <a:avLst/>
          </a:prstGeom>
          <a:noFill/>
        </p:spPr>
        <p:txBody>
          <a:bodyPr wrap="square" anchor="t">
            <a:spAutoFit/>
          </a:bodyPr>
          <a:lstStyle/>
          <a:p>
            <a:pPr algn="l">
              <a:spcAft>
                <a:spcPts val="400"/>
              </a:spcAft>
            </a:pPr>
            <a:r>
              <a:rPr sz="1150" b="1">
                <a:solidFill>
                  <a:srgbClr val="C0392B"/>
                </a:solidFill>
                <a:latin typeface="Arial"/>
              </a:rPr>
              <a:t>FAILURE MODE</a:t>
            </a:r>
          </a:p>
        </p:txBody>
      </p:sp>
      <p:sp>
        <p:nvSpPr>
          <p:cNvPr id="18" name="TextBox 17"/>
          <p:cNvSpPr txBox="1"/>
          <p:nvPr/>
        </p:nvSpPr>
        <p:spPr>
          <a:xfrm>
            <a:off x="6428232" y="3685032"/>
            <a:ext cx="4782312" cy="822960"/>
          </a:xfrm>
          <a:prstGeom prst="rect">
            <a:avLst/>
          </a:prstGeom>
          <a:noFill/>
        </p:spPr>
        <p:txBody>
          <a:bodyPr wrap="square" anchor="t">
            <a:spAutoFit/>
          </a:bodyPr>
          <a:lstStyle/>
          <a:p>
            <a:pPr algn="l">
              <a:spcAft>
                <a:spcPts val="400"/>
              </a:spcAft>
            </a:pPr>
            <a:r>
              <a:rPr sz="1250" b="0">
                <a:solidFill>
                  <a:srgbClr val="161B26"/>
                </a:solidFill>
                <a:latin typeface="Arial"/>
              </a:rPr>
              <a:t>Relying on humans to eyeball logs means problems are found only after users complain.</a:t>
            </a:r>
          </a:p>
        </p:txBody>
      </p:sp>
      <p:sp>
        <p:nvSpPr>
          <p:cNvPr id="19" name="Rectangle 18"/>
          <p:cNvSpPr/>
          <p:nvPr/>
        </p:nvSpPr>
        <p:spPr>
          <a:xfrm>
            <a:off x="6172200" y="4709160"/>
            <a:ext cx="5239512" cy="1325880"/>
          </a:xfrm>
          <a:prstGeom prst="rect">
            <a:avLst/>
          </a:prstGeom>
          <a:solidFill>
            <a:srgbClr val="FFFFFF"/>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Rectangle 19"/>
          <p:cNvSpPr/>
          <p:nvPr/>
        </p:nvSpPr>
        <p:spPr>
          <a:xfrm>
            <a:off x="6172200" y="4709160"/>
            <a:ext cx="91440" cy="1325880"/>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6428232" y="4818888"/>
            <a:ext cx="4782312" cy="320040"/>
          </a:xfrm>
          <a:prstGeom prst="rect">
            <a:avLst/>
          </a:prstGeom>
          <a:noFill/>
        </p:spPr>
        <p:txBody>
          <a:bodyPr wrap="square" anchor="t">
            <a:spAutoFit/>
          </a:bodyPr>
          <a:lstStyle/>
          <a:p>
            <a:pPr algn="l">
              <a:spcAft>
                <a:spcPts val="400"/>
              </a:spcAft>
            </a:pPr>
            <a:r>
              <a:rPr sz="1150" b="1">
                <a:solidFill>
                  <a:srgbClr val="F59E0B"/>
                </a:solidFill>
                <a:latin typeface="Arial"/>
              </a:rPr>
              <a:t>TRADE-OFF / DECISION</a:t>
            </a:r>
          </a:p>
        </p:txBody>
      </p:sp>
      <p:sp>
        <p:nvSpPr>
          <p:cNvPr id="22" name="TextBox 21"/>
          <p:cNvSpPr txBox="1"/>
          <p:nvPr/>
        </p:nvSpPr>
        <p:spPr>
          <a:xfrm>
            <a:off x="6428232" y="5148072"/>
            <a:ext cx="4782312" cy="822960"/>
          </a:xfrm>
          <a:prstGeom prst="rect">
            <a:avLst/>
          </a:prstGeom>
          <a:noFill/>
        </p:spPr>
        <p:txBody>
          <a:bodyPr wrap="square" anchor="t">
            <a:spAutoFit/>
          </a:bodyPr>
          <a:lstStyle/>
          <a:p>
            <a:pPr algn="l">
              <a:spcAft>
                <a:spcPts val="400"/>
              </a:spcAft>
            </a:pPr>
            <a:r>
              <a:rPr sz="1250" b="0">
                <a:solidFill>
                  <a:srgbClr val="161B26"/>
                </a:solidFill>
                <a:latin typeface="Arial"/>
              </a:rPr>
              <a:t>Extracting many metrics from logs adds cost and complexity — extract the few that drive alarms and dashboards.</a:t>
            </a:r>
          </a:p>
        </p:txBody>
      </p:sp>
      <p:sp>
        <p:nvSpPr>
          <p:cNvPr id="23" name="TextBox 22"/>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DevOps Engineering on AWS  ·  TGS-2023040474</a:t>
            </a:r>
          </a:p>
        </p:txBody>
      </p:sp>
      <p:sp>
        <p:nvSpPr>
          <p:cNvPr id="24" name="TextBox 23"/>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25" name="TextBox 24"/>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142</a:t>
            </a:r>
          </a:p>
        </p:txBody>
      </p:sp>
    </p:spTree>
  </p:cSld>
  <p:clrMapOvr>
    <a:masterClrMapping/>
  </p:clrMapOvr>
  <p:transition xmlns:p14="http://schemas.microsoft.com/office/powerpoint/2010/main" p14:dur="380">
    <p:fade/>
  </p:transition>
</p:sld>
</file>

<file path=ppt/slides/slide14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38912"/>
            <a:ext cx="10607040" cy="365760"/>
          </a:xfrm>
          <a:prstGeom prst="rect">
            <a:avLst/>
          </a:prstGeom>
          <a:noFill/>
        </p:spPr>
        <p:txBody>
          <a:bodyPr wrap="square" anchor="t">
            <a:spAutoFit/>
          </a:bodyPr>
          <a:lstStyle/>
          <a:p>
            <a:pPr algn="l">
              <a:spcAft>
                <a:spcPts val="400"/>
              </a:spcAft>
            </a:pPr>
            <a:r>
              <a:rPr sz="1400" b="1">
                <a:solidFill>
                  <a:srgbClr val="F59E0B"/>
                </a:solidFill>
                <a:latin typeface="Arial"/>
              </a:rPr>
              <a:t>IN DEPTH</a:t>
            </a:r>
          </a:p>
        </p:txBody>
      </p:sp>
      <p:sp>
        <p:nvSpPr>
          <p:cNvPr id="5" name="TextBox 4"/>
          <p:cNvSpPr txBox="1"/>
          <p:nvPr/>
        </p:nvSpPr>
        <p:spPr>
          <a:xfrm>
            <a:off x="777240" y="896112"/>
            <a:ext cx="10927080" cy="731520"/>
          </a:xfrm>
          <a:prstGeom prst="rect">
            <a:avLst/>
          </a:prstGeom>
          <a:noFill/>
        </p:spPr>
        <p:txBody>
          <a:bodyPr wrap="square" anchor="t">
            <a:spAutoFit/>
          </a:bodyPr>
          <a:lstStyle/>
          <a:p>
            <a:pPr algn="l">
              <a:spcAft>
                <a:spcPts val="400"/>
              </a:spcAft>
            </a:pPr>
            <a:r>
              <a:rPr sz="2500" b="1">
                <a:solidFill>
                  <a:srgbClr val="161B26"/>
                </a:solidFill>
                <a:latin typeface="Arial"/>
              </a:rPr>
              <a:t>Alarms, composite alarms and anomaly detection</a:t>
            </a:r>
          </a:p>
        </p:txBody>
      </p:sp>
      <p:sp>
        <p:nvSpPr>
          <p:cNvPr id="6" name="Rectangle 5"/>
          <p:cNvSpPr/>
          <p:nvPr/>
        </p:nvSpPr>
        <p:spPr>
          <a:xfrm>
            <a:off x="777240" y="1572768"/>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783080"/>
            <a:ext cx="5212080" cy="425196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1783080"/>
            <a:ext cx="5212080" cy="91440"/>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1005840" y="1938528"/>
            <a:ext cx="4754880" cy="365760"/>
          </a:xfrm>
          <a:prstGeom prst="rect">
            <a:avLst/>
          </a:prstGeom>
          <a:noFill/>
        </p:spPr>
        <p:txBody>
          <a:bodyPr wrap="square" anchor="t">
            <a:spAutoFit/>
          </a:bodyPr>
          <a:lstStyle/>
          <a:p>
            <a:pPr algn="l">
              <a:spcAft>
                <a:spcPts val="400"/>
              </a:spcAft>
            </a:pPr>
            <a:r>
              <a:rPr sz="1200" b="1">
                <a:solidFill>
                  <a:srgbClr val="F59E0B"/>
                </a:solidFill>
                <a:latin typeface="Arial"/>
              </a:rPr>
              <a:t>IN DEPTH</a:t>
            </a:r>
          </a:p>
        </p:txBody>
      </p:sp>
      <p:sp>
        <p:nvSpPr>
          <p:cNvPr id="10" name="TextBox 9"/>
          <p:cNvSpPr txBox="1"/>
          <p:nvPr/>
        </p:nvSpPr>
        <p:spPr>
          <a:xfrm>
            <a:off x="1005840" y="2377440"/>
            <a:ext cx="4754880" cy="3566160"/>
          </a:xfrm>
          <a:prstGeom prst="rect">
            <a:avLst/>
          </a:prstGeom>
          <a:noFill/>
        </p:spPr>
        <p:txBody>
          <a:bodyPr wrap="square">
            <a:spAutoFit/>
          </a:bodyPr>
          <a:lstStyle/>
          <a:p>
            <a:pPr>
              <a:spcAft>
                <a:spcPts val="800"/>
              </a:spcAft>
            </a:pPr>
            <a:r>
              <a:rPr sz="1350" b="0">
                <a:solidFill>
                  <a:srgbClr val="161B26"/>
                </a:solidFill>
                <a:latin typeface="Arial"/>
              </a:rPr>
              <a:t>•  Alarms evaluate a metric against a threshold over N periods and change state (OK/ALARM/INSUFFICIENT_DATA).</a:t>
            </a:r>
          </a:p>
          <a:p>
            <a:pPr>
              <a:spcAft>
                <a:spcPts val="800"/>
              </a:spcAft>
            </a:pPr>
            <a:r>
              <a:rPr sz="1350" b="0">
                <a:solidFill>
                  <a:srgbClr val="161B26"/>
                </a:solidFill>
                <a:latin typeface="Arial"/>
              </a:rPr>
              <a:t>•  Composite alarms combine several alarms with AND/OR to cut noise and express real conditions.</a:t>
            </a:r>
          </a:p>
          <a:p>
            <a:pPr>
              <a:spcAft>
                <a:spcPts val="800"/>
              </a:spcAft>
            </a:pPr>
            <a:r>
              <a:rPr sz="1350" b="0">
                <a:solidFill>
                  <a:srgbClr val="161B26"/>
                </a:solidFill>
                <a:latin typeface="Arial"/>
              </a:rPr>
              <a:t>•  Anomaly detection bands adapt to normal daily/weekly patterns instead of a fixed line.</a:t>
            </a:r>
          </a:p>
        </p:txBody>
      </p:sp>
      <p:sp>
        <p:nvSpPr>
          <p:cNvPr id="11" name="Rectangle 10"/>
          <p:cNvSpPr/>
          <p:nvPr/>
        </p:nvSpPr>
        <p:spPr>
          <a:xfrm>
            <a:off x="6172200" y="1783080"/>
            <a:ext cx="5239512" cy="1325880"/>
          </a:xfrm>
          <a:prstGeom prst="rect">
            <a:avLst/>
          </a:prstGeom>
          <a:solidFill>
            <a:srgbClr val="FFFFFF"/>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ectangle 11"/>
          <p:cNvSpPr/>
          <p:nvPr/>
        </p:nvSpPr>
        <p:spPr>
          <a:xfrm>
            <a:off x="6172200" y="1783080"/>
            <a:ext cx="91440" cy="1325880"/>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6428232" y="1892808"/>
            <a:ext cx="4782312" cy="320040"/>
          </a:xfrm>
          <a:prstGeom prst="rect">
            <a:avLst/>
          </a:prstGeom>
          <a:noFill/>
        </p:spPr>
        <p:txBody>
          <a:bodyPr wrap="square" anchor="t">
            <a:spAutoFit/>
          </a:bodyPr>
          <a:lstStyle/>
          <a:p>
            <a:pPr algn="l">
              <a:spcAft>
                <a:spcPts val="400"/>
              </a:spcAft>
            </a:pPr>
            <a:r>
              <a:rPr sz="1150" b="1">
                <a:solidFill>
                  <a:srgbClr val="F59E0B"/>
                </a:solidFill>
                <a:latin typeface="Arial"/>
              </a:rPr>
              <a:t>WHY IT MATTERS</a:t>
            </a:r>
          </a:p>
        </p:txBody>
      </p:sp>
      <p:sp>
        <p:nvSpPr>
          <p:cNvPr id="14" name="TextBox 13"/>
          <p:cNvSpPr txBox="1"/>
          <p:nvPr/>
        </p:nvSpPr>
        <p:spPr>
          <a:xfrm>
            <a:off x="6428232" y="2221992"/>
            <a:ext cx="4782312" cy="822960"/>
          </a:xfrm>
          <a:prstGeom prst="rect">
            <a:avLst/>
          </a:prstGeom>
          <a:noFill/>
        </p:spPr>
        <p:txBody>
          <a:bodyPr wrap="square" anchor="t">
            <a:spAutoFit/>
          </a:bodyPr>
          <a:lstStyle/>
          <a:p>
            <a:pPr algn="l">
              <a:spcAft>
                <a:spcPts val="400"/>
              </a:spcAft>
            </a:pPr>
            <a:r>
              <a:rPr sz="1250" b="0">
                <a:solidFill>
                  <a:srgbClr val="161B26"/>
                </a:solidFill>
                <a:latin typeface="Arial"/>
              </a:rPr>
              <a:t>Well-designed alarms notify on real, actionable conditions and feed the automated incident response in Domain 5.</a:t>
            </a:r>
          </a:p>
        </p:txBody>
      </p:sp>
      <p:sp>
        <p:nvSpPr>
          <p:cNvPr id="15" name="Rectangle 14"/>
          <p:cNvSpPr/>
          <p:nvPr/>
        </p:nvSpPr>
        <p:spPr>
          <a:xfrm>
            <a:off x="6172200" y="3246120"/>
            <a:ext cx="5239512" cy="1325880"/>
          </a:xfrm>
          <a:prstGeom prst="rect">
            <a:avLst/>
          </a:prstGeom>
          <a:solidFill>
            <a:srgbClr val="FFFFFF"/>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ectangle 15"/>
          <p:cNvSpPr/>
          <p:nvPr/>
        </p:nvSpPr>
        <p:spPr>
          <a:xfrm>
            <a:off x="6172200" y="3246120"/>
            <a:ext cx="91440" cy="1325880"/>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6428232" y="3355848"/>
            <a:ext cx="4782312" cy="320040"/>
          </a:xfrm>
          <a:prstGeom prst="rect">
            <a:avLst/>
          </a:prstGeom>
          <a:noFill/>
        </p:spPr>
        <p:txBody>
          <a:bodyPr wrap="square" anchor="t">
            <a:spAutoFit/>
          </a:bodyPr>
          <a:lstStyle/>
          <a:p>
            <a:pPr algn="l">
              <a:spcAft>
                <a:spcPts val="400"/>
              </a:spcAft>
            </a:pPr>
            <a:r>
              <a:rPr sz="1150" b="1">
                <a:solidFill>
                  <a:srgbClr val="C0392B"/>
                </a:solidFill>
                <a:latin typeface="Arial"/>
              </a:rPr>
              <a:t>FAILURE MODE</a:t>
            </a:r>
          </a:p>
        </p:txBody>
      </p:sp>
      <p:sp>
        <p:nvSpPr>
          <p:cNvPr id="18" name="TextBox 17"/>
          <p:cNvSpPr txBox="1"/>
          <p:nvPr/>
        </p:nvSpPr>
        <p:spPr>
          <a:xfrm>
            <a:off x="6428232" y="3685032"/>
            <a:ext cx="4782312" cy="822960"/>
          </a:xfrm>
          <a:prstGeom prst="rect">
            <a:avLst/>
          </a:prstGeom>
          <a:noFill/>
        </p:spPr>
        <p:txBody>
          <a:bodyPr wrap="square" anchor="t">
            <a:spAutoFit/>
          </a:bodyPr>
          <a:lstStyle/>
          <a:p>
            <a:pPr algn="l">
              <a:spcAft>
                <a:spcPts val="400"/>
              </a:spcAft>
            </a:pPr>
            <a:r>
              <a:rPr sz="1250" b="0">
                <a:solidFill>
                  <a:srgbClr val="161B26"/>
                </a:solidFill>
                <a:latin typeface="Arial"/>
              </a:rPr>
              <a:t>Too many noisy single-metric alarms cause alert fatigue; responders learn to ignore the pager.</a:t>
            </a:r>
          </a:p>
        </p:txBody>
      </p:sp>
      <p:sp>
        <p:nvSpPr>
          <p:cNvPr id="19" name="Rectangle 18"/>
          <p:cNvSpPr/>
          <p:nvPr/>
        </p:nvSpPr>
        <p:spPr>
          <a:xfrm>
            <a:off x="6172200" y="4709160"/>
            <a:ext cx="5239512" cy="1325880"/>
          </a:xfrm>
          <a:prstGeom prst="rect">
            <a:avLst/>
          </a:prstGeom>
          <a:solidFill>
            <a:srgbClr val="FFFFFF"/>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Rectangle 19"/>
          <p:cNvSpPr/>
          <p:nvPr/>
        </p:nvSpPr>
        <p:spPr>
          <a:xfrm>
            <a:off x="6172200" y="4709160"/>
            <a:ext cx="91440" cy="1325880"/>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6428232" y="4818888"/>
            <a:ext cx="4782312" cy="320040"/>
          </a:xfrm>
          <a:prstGeom prst="rect">
            <a:avLst/>
          </a:prstGeom>
          <a:noFill/>
        </p:spPr>
        <p:txBody>
          <a:bodyPr wrap="square" anchor="t">
            <a:spAutoFit/>
          </a:bodyPr>
          <a:lstStyle/>
          <a:p>
            <a:pPr algn="l">
              <a:spcAft>
                <a:spcPts val="400"/>
              </a:spcAft>
            </a:pPr>
            <a:r>
              <a:rPr sz="1150" b="1">
                <a:solidFill>
                  <a:srgbClr val="F59E0B"/>
                </a:solidFill>
                <a:latin typeface="Arial"/>
              </a:rPr>
              <a:t>TRADE-OFF / DECISION</a:t>
            </a:r>
          </a:p>
        </p:txBody>
      </p:sp>
      <p:sp>
        <p:nvSpPr>
          <p:cNvPr id="22" name="TextBox 21"/>
          <p:cNvSpPr txBox="1"/>
          <p:nvPr/>
        </p:nvSpPr>
        <p:spPr>
          <a:xfrm>
            <a:off x="6428232" y="5148072"/>
            <a:ext cx="4782312" cy="822960"/>
          </a:xfrm>
          <a:prstGeom prst="rect">
            <a:avLst/>
          </a:prstGeom>
          <a:noFill/>
        </p:spPr>
        <p:txBody>
          <a:bodyPr wrap="square" anchor="t">
            <a:spAutoFit/>
          </a:bodyPr>
          <a:lstStyle/>
          <a:p>
            <a:pPr algn="l">
              <a:spcAft>
                <a:spcPts val="400"/>
              </a:spcAft>
            </a:pPr>
            <a:r>
              <a:rPr sz="1250" b="0">
                <a:solidFill>
                  <a:srgbClr val="161B26"/>
                </a:solidFill>
                <a:latin typeface="Arial"/>
              </a:rPr>
              <a:t>Anomaly detection reduces false alarms but needs a learning period and can miss slow, gradual regressions.</a:t>
            </a:r>
          </a:p>
        </p:txBody>
      </p:sp>
      <p:sp>
        <p:nvSpPr>
          <p:cNvPr id="23" name="TextBox 22"/>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DevOps Engineering on AWS  ·  TGS-2023040474</a:t>
            </a:r>
          </a:p>
        </p:txBody>
      </p:sp>
      <p:sp>
        <p:nvSpPr>
          <p:cNvPr id="24" name="TextBox 23"/>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25" name="TextBox 24"/>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143</a:t>
            </a:r>
          </a:p>
        </p:txBody>
      </p:sp>
    </p:spTree>
  </p:cSld>
  <p:clrMapOvr>
    <a:masterClrMapping/>
  </p:clrMapOvr>
  <p:transition xmlns:p14="http://schemas.microsoft.com/office/powerpoint/2010/main" p14:dur="380">
    <p:fade/>
  </p:transition>
</p:sld>
</file>

<file path=ppt/slides/slide14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38912"/>
            <a:ext cx="10607040" cy="365760"/>
          </a:xfrm>
          <a:prstGeom prst="rect">
            <a:avLst/>
          </a:prstGeom>
          <a:noFill/>
        </p:spPr>
        <p:txBody>
          <a:bodyPr wrap="square" anchor="t">
            <a:spAutoFit/>
          </a:bodyPr>
          <a:lstStyle/>
          <a:p>
            <a:pPr algn="l">
              <a:spcAft>
                <a:spcPts val="400"/>
              </a:spcAft>
            </a:pPr>
            <a:r>
              <a:rPr sz="1400" b="1">
                <a:solidFill>
                  <a:srgbClr val="F59E0B"/>
                </a:solidFill>
                <a:latin typeface="Arial"/>
              </a:rPr>
              <a:t>IN DEPTH</a:t>
            </a:r>
          </a:p>
        </p:txBody>
      </p:sp>
      <p:sp>
        <p:nvSpPr>
          <p:cNvPr id="5" name="TextBox 4"/>
          <p:cNvSpPr txBox="1"/>
          <p:nvPr/>
        </p:nvSpPr>
        <p:spPr>
          <a:xfrm>
            <a:off x="777240" y="804672"/>
            <a:ext cx="10927080" cy="731520"/>
          </a:xfrm>
          <a:prstGeom prst="rect">
            <a:avLst/>
          </a:prstGeom>
          <a:noFill/>
        </p:spPr>
        <p:txBody>
          <a:bodyPr wrap="square" anchor="t">
            <a:spAutoFit/>
          </a:bodyPr>
          <a:lstStyle/>
          <a:p>
            <a:pPr algn="l">
              <a:spcAft>
                <a:spcPts val="400"/>
              </a:spcAft>
            </a:pPr>
            <a:r>
              <a:rPr sz="2900" b="1">
                <a:solidFill>
                  <a:srgbClr val="161B26"/>
                </a:solidFill>
                <a:latin typeface="Arial"/>
              </a:rPr>
              <a:t>Dashboards and the single pane of glass</a:t>
            </a:r>
          </a:p>
        </p:txBody>
      </p:sp>
      <p:sp>
        <p:nvSpPr>
          <p:cNvPr id="6" name="Rectangle 5"/>
          <p:cNvSpPr/>
          <p:nvPr/>
        </p:nvSpPr>
        <p:spPr>
          <a:xfrm>
            <a:off x="777240" y="1572768"/>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783080"/>
            <a:ext cx="5212080" cy="425196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1783080"/>
            <a:ext cx="5212080" cy="91440"/>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1005840" y="1938528"/>
            <a:ext cx="4754880" cy="365760"/>
          </a:xfrm>
          <a:prstGeom prst="rect">
            <a:avLst/>
          </a:prstGeom>
          <a:noFill/>
        </p:spPr>
        <p:txBody>
          <a:bodyPr wrap="square" anchor="t">
            <a:spAutoFit/>
          </a:bodyPr>
          <a:lstStyle/>
          <a:p>
            <a:pPr algn="l">
              <a:spcAft>
                <a:spcPts val="400"/>
              </a:spcAft>
            </a:pPr>
            <a:r>
              <a:rPr sz="1200" b="1">
                <a:solidFill>
                  <a:srgbClr val="F59E0B"/>
                </a:solidFill>
                <a:latin typeface="Arial"/>
              </a:rPr>
              <a:t>IN DEPTH</a:t>
            </a:r>
          </a:p>
        </p:txBody>
      </p:sp>
      <p:sp>
        <p:nvSpPr>
          <p:cNvPr id="10" name="TextBox 9"/>
          <p:cNvSpPr txBox="1"/>
          <p:nvPr/>
        </p:nvSpPr>
        <p:spPr>
          <a:xfrm>
            <a:off x="1005840" y="2377440"/>
            <a:ext cx="4754880" cy="3566160"/>
          </a:xfrm>
          <a:prstGeom prst="rect">
            <a:avLst/>
          </a:prstGeom>
          <a:noFill/>
        </p:spPr>
        <p:txBody>
          <a:bodyPr wrap="square">
            <a:spAutoFit/>
          </a:bodyPr>
          <a:lstStyle/>
          <a:p>
            <a:pPr>
              <a:spcAft>
                <a:spcPts val="800"/>
              </a:spcAft>
            </a:pPr>
            <a:r>
              <a:rPr sz="1350" b="0">
                <a:solidFill>
                  <a:srgbClr val="161B26"/>
                </a:solidFill>
                <a:latin typeface="Arial"/>
              </a:rPr>
              <a:t>•  Dashboards correlate metrics, logs and alarm state so responders see the whole system in one view.</a:t>
            </a:r>
          </a:p>
          <a:p>
            <a:pPr>
              <a:spcAft>
                <a:spcPts val="800"/>
              </a:spcAft>
            </a:pPr>
            <a:r>
              <a:rPr sz="1350" b="0">
                <a:solidFill>
                  <a:srgbClr val="161B26"/>
                </a:solidFill>
                <a:latin typeface="Arial"/>
              </a:rPr>
              <a:t>•  Service and cross-account dashboards aggregate telemetry from many sources.</a:t>
            </a:r>
          </a:p>
          <a:p>
            <a:pPr>
              <a:spcAft>
                <a:spcPts val="800"/>
              </a:spcAft>
            </a:pPr>
            <a:r>
              <a:rPr sz="1350" b="0">
                <a:solidFill>
                  <a:srgbClr val="161B26"/>
                </a:solidFill>
                <a:latin typeface="Arial"/>
              </a:rPr>
              <a:t>•  The best dashboards are organised around user journeys and the golden signals, not raw resource lists.</a:t>
            </a:r>
          </a:p>
        </p:txBody>
      </p:sp>
      <p:sp>
        <p:nvSpPr>
          <p:cNvPr id="11" name="Rectangle 10"/>
          <p:cNvSpPr/>
          <p:nvPr/>
        </p:nvSpPr>
        <p:spPr>
          <a:xfrm>
            <a:off x="6172200" y="1783080"/>
            <a:ext cx="5239512" cy="1325880"/>
          </a:xfrm>
          <a:prstGeom prst="rect">
            <a:avLst/>
          </a:prstGeom>
          <a:solidFill>
            <a:srgbClr val="FFFFFF"/>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ectangle 11"/>
          <p:cNvSpPr/>
          <p:nvPr/>
        </p:nvSpPr>
        <p:spPr>
          <a:xfrm>
            <a:off x="6172200" y="1783080"/>
            <a:ext cx="91440" cy="1325880"/>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6428232" y="1892808"/>
            <a:ext cx="4782312" cy="320040"/>
          </a:xfrm>
          <a:prstGeom prst="rect">
            <a:avLst/>
          </a:prstGeom>
          <a:noFill/>
        </p:spPr>
        <p:txBody>
          <a:bodyPr wrap="square" anchor="t">
            <a:spAutoFit/>
          </a:bodyPr>
          <a:lstStyle/>
          <a:p>
            <a:pPr algn="l">
              <a:spcAft>
                <a:spcPts val="400"/>
              </a:spcAft>
            </a:pPr>
            <a:r>
              <a:rPr sz="1150" b="1">
                <a:solidFill>
                  <a:srgbClr val="F59E0B"/>
                </a:solidFill>
                <a:latin typeface="Arial"/>
              </a:rPr>
              <a:t>WHY IT MATTERS</a:t>
            </a:r>
          </a:p>
        </p:txBody>
      </p:sp>
      <p:sp>
        <p:nvSpPr>
          <p:cNvPr id="14" name="TextBox 13"/>
          <p:cNvSpPr txBox="1"/>
          <p:nvPr/>
        </p:nvSpPr>
        <p:spPr>
          <a:xfrm>
            <a:off x="6428232" y="2221992"/>
            <a:ext cx="4782312" cy="822960"/>
          </a:xfrm>
          <a:prstGeom prst="rect">
            <a:avLst/>
          </a:prstGeom>
          <a:noFill/>
        </p:spPr>
        <p:txBody>
          <a:bodyPr wrap="square" anchor="t">
            <a:spAutoFit/>
          </a:bodyPr>
          <a:lstStyle/>
          <a:p>
            <a:pPr algn="l">
              <a:spcAft>
                <a:spcPts val="400"/>
              </a:spcAft>
            </a:pPr>
            <a:r>
              <a:rPr sz="1250" b="0">
                <a:solidFill>
                  <a:srgbClr val="161B26"/>
                </a:solidFill>
                <a:latin typeface="Arial"/>
              </a:rPr>
              <a:t>During an incident a good dashboard turns minutes of hunting into seconds of seeing — it is a force multiplier for MTTR.</a:t>
            </a:r>
          </a:p>
        </p:txBody>
      </p:sp>
      <p:sp>
        <p:nvSpPr>
          <p:cNvPr id="15" name="Rectangle 14"/>
          <p:cNvSpPr/>
          <p:nvPr/>
        </p:nvSpPr>
        <p:spPr>
          <a:xfrm>
            <a:off x="6172200" y="3246120"/>
            <a:ext cx="5239512" cy="1325880"/>
          </a:xfrm>
          <a:prstGeom prst="rect">
            <a:avLst/>
          </a:prstGeom>
          <a:solidFill>
            <a:srgbClr val="FFFFFF"/>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ectangle 15"/>
          <p:cNvSpPr/>
          <p:nvPr/>
        </p:nvSpPr>
        <p:spPr>
          <a:xfrm>
            <a:off x="6172200" y="3246120"/>
            <a:ext cx="91440" cy="1325880"/>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6428232" y="3355848"/>
            <a:ext cx="4782312" cy="320040"/>
          </a:xfrm>
          <a:prstGeom prst="rect">
            <a:avLst/>
          </a:prstGeom>
          <a:noFill/>
        </p:spPr>
        <p:txBody>
          <a:bodyPr wrap="square" anchor="t">
            <a:spAutoFit/>
          </a:bodyPr>
          <a:lstStyle/>
          <a:p>
            <a:pPr algn="l">
              <a:spcAft>
                <a:spcPts val="400"/>
              </a:spcAft>
            </a:pPr>
            <a:r>
              <a:rPr sz="1150" b="1">
                <a:solidFill>
                  <a:srgbClr val="C0392B"/>
                </a:solidFill>
                <a:latin typeface="Arial"/>
              </a:rPr>
              <a:t>FAILURE MODE</a:t>
            </a:r>
          </a:p>
        </p:txBody>
      </p:sp>
      <p:sp>
        <p:nvSpPr>
          <p:cNvPr id="18" name="TextBox 17"/>
          <p:cNvSpPr txBox="1"/>
          <p:nvPr/>
        </p:nvSpPr>
        <p:spPr>
          <a:xfrm>
            <a:off x="6428232" y="3685032"/>
            <a:ext cx="4782312" cy="822960"/>
          </a:xfrm>
          <a:prstGeom prst="rect">
            <a:avLst/>
          </a:prstGeom>
          <a:noFill/>
        </p:spPr>
        <p:txBody>
          <a:bodyPr wrap="square" anchor="t">
            <a:spAutoFit/>
          </a:bodyPr>
          <a:lstStyle/>
          <a:p>
            <a:pPr algn="l">
              <a:spcAft>
                <a:spcPts val="400"/>
              </a:spcAft>
            </a:pPr>
            <a:r>
              <a:rPr sz="1250" b="0">
                <a:solidFill>
                  <a:srgbClr val="161B26"/>
                </a:solidFill>
                <a:latin typeface="Arial"/>
              </a:rPr>
              <a:t>A wall of 200 unlabelled graphs is as useless as none — no one can spot the anomaly under pressure.</a:t>
            </a:r>
          </a:p>
        </p:txBody>
      </p:sp>
      <p:sp>
        <p:nvSpPr>
          <p:cNvPr id="19" name="Rectangle 18"/>
          <p:cNvSpPr/>
          <p:nvPr/>
        </p:nvSpPr>
        <p:spPr>
          <a:xfrm>
            <a:off x="6172200" y="4709160"/>
            <a:ext cx="5239512" cy="1325880"/>
          </a:xfrm>
          <a:prstGeom prst="rect">
            <a:avLst/>
          </a:prstGeom>
          <a:solidFill>
            <a:srgbClr val="FFFFFF"/>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Rectangle 19"/>
          <p:cNvSpPr/>
          <p:nvPr/>
        </p:nvSpPr>
        <p:spPr>
          <a:xfrm>
            <a:off x="6172200" y="4709160"/>
            <a:ext cx="91440" cy="1325880"/>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6428232" y="4818888"/>
            <a:ext cx="4782312" cy="320040"/>
          </a:xfrm>
          <a:prstGeom prst="rect">
            <a:avLst/>
          </a:prstGeom>
          <a:noFill/>
        </p:spPr>
        <p:txBody>
          <a:bodyPr wrap="square" anchor="t">
            <a:spAutoFit/>
          </a:bodyPr>
          <a:lstStyle/>
          <a:p>
            <a:pPr algn="l">
              <a:spcAft>
                <a:spcPts val="400"/>
              </a:spcAft>
            </a:pPr>
            <a:r>
              <a:rPr sz="1150" b="1">
                <a:solidFill>
                  <a:srgbClr val="F59E0B"/>
                </a:solidFill>
                <a:latin typeface="Arial"/>
              </a:rPr>
              <a:t>TRADE-OFF / DECISION</a:t>
            </a:r>
          </a:p>
        </p:txBody>
      </p:sp>
      <p:sp>
        <p:nvSpPr>
          <p:cNvPr id="22" name="TextBox 21"/>
          <p:cNvSpPr txBox="1"/>
          <p:nvPr/>
        </p:nvSpPr>
        <p:spPr>
          <a:xfrm>
            <a:off x="6428232" y="5148072"/>
            <a:ext cx="4782312" cy="822960"/>
          </a:xfrm>
          <a:prstGeom prst="rect">
            <a:avLst/>
          </a:prstGeom>
          <a:noFill/>
        </p:spPr>
        <p:txBody>
          <a:bodyPr wrap="square" anchor="t">
            <a:spAutoFit/>
          </a:bodyPr>
          <a:lstStyle/>
          <a:p>
            <a:pPr algn="l">
              <a:spcAft>
                <a:spcPts val="400"/>
              </a:spcAft>
            </a:pPr>
            <a:r>
              <a:rPr sz="1250" b="0">
                <a:solidFill>
                  <a:srgbClr val="161B26"/>
                </a:solidFill>
                <a:latin typeface="Arial"/>
              </a:rPr>
              <a:t>Curated dashboards need maintenance as the system changes — stale dashboards mislead.</a:t>
            </a:r>
          </a:p>
        </p:txBody>
      </p:sp>
      <p:sp>
        <p:nvSpPr>
          <p:cNvPr id="23" name="TextBox 22"/>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DevOps Engineering on AWS  ·  TGS-2023040474</a:t>
            </a:r>
          </a:p>
        </p:txBody>
      </p:sp>
      <p:sp>
        <p:nvSpPr>
          <p:cNvPr id="24" name="TextBox 23"/>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25" name="TextBox 24"/>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144</a:t>
            </a:r>
          </a:p>
        </p:txBody>
      </p:sp>
    </p:spTree>
  </p:cSld>
  <p:clrMapOvr>
    <a:masterClrMapping/>
  </p:clrMapOvr>
  <p:transition xmlns:p14="http://schemas.microsoft.com/office/powerpoint/2010/main" p14:dur="380">
    <p:fade/>
  </p:transition>
</p:sld>
</file>

<file path=ppt/slides/slide14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38912"/>
            <a:ext cx="10607040" cy="365760"/>
          </a:xfrm>
          <a:prstGeom prst="rect">
            <a:avLst/>
          </a:prstGeom>
          <a:noFill/>
        </p:spPr>
        <p:txBody>
          <a:bodyPr wrap="square" anchor="t">
            <a:spAutoFit/>
          </a:bodyPr>
          <a:lstStyle/>
          <a:p>
            <a:pPr algn="l">
              <a:spcAft>
                <a:spcPts val="400"/>
              </a:spcAft>
            </a:pPr>
            <a:r>
              <a:rPr sz="1400" b="1">
                <a:solidFill>
                  <a:srgbClr val="F59E0B"/>
                </a:solidFill>
                <a:latin typeface="Arial"/>
              </a:rPr>
              <a:t>IN DEPTH</a:t>
            </a:r>
          </a:p>
        </p:txBody>
      </p:sp>
      <p:sp>
        <p:nvSpPr>
          <p:cNvPr id="5" name="TextBox 4"/>
          <p:cNvSpPr txBox="1"/>
          <p:nvPr/>
        </p:nvSpPr>
        <p:spPr>
          <a:xfrm>
            <a:off x="777240" y="804672"/>
            <a:ext cx="10927080" cy="731520"/>
          </a:xfrm>
          <a:prstGeom prst="rect">
            <a:avLst/>
          </a:prstGeom>
          <a:noFill/>
        </p:spPr>
        <p:txBody>
          <a:bodyPr wrap="square" anchor="t">
            <a:spAutoFit/>
          </a:bodyPr>
          <a:lstStyle/>
          <a:p>
            <a:pPr algn="l">
              <a:spcAft>
                <a:spcPts val="400"/>
              </a:spcAft>
            </a:pPr>
            <a:r>
              <a:rPr sz="2900" b="1">
                <a:solidFill>
                  <a:srgbClr val="161B26"/>
                </a:solidFill>
                <a:latin typeface="Arial"/>
              </a:rPr>
              <a:t>Distributed tracing with X-Ray</a:t>
            </a:r>
          </a:p>
        </p:txBody>
      </p:sp>
      <p:sp>
        <p:nvSpPr>
          <p:cNvPr id="6" name="Rectangle 5"/>
          <p:cNvSpPr/>
          <p:nvPr/>
        </p:nvSpPr>
        <p:spPr>
          <a:xfrm>
            <a:off x="777240" y="1572768"/>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783080"/>
            <a:ext cx="5212080" cy="425196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1783080"/>
            <a:ext cx="5212080" cy="91440"/>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1005840" y="1938528"/>
            <a:ext cx="4754880" cy="365760"/>
          </a:xfrm>
          <a:prstGeom prst="rect">
            <a:avLst/>
          </a:prstGeom>
          <a:noFill/>
        </p:spPr>
        <p:txBody>
          <a:bodyPr wrap="square" anchor="t">
            <a:spAutoFit/>
          </a:bodyPr>
          <a:lstStyle/>
          <a:p>
            <a:pPr algn="l">
              <a:spcAft>
                <a:spcPts val="400"/>
              </a:spcAft>
            </a:pPr>
            <a:r>
              <a:rPr sz="1200" b="1">
                <a:solidFill>
                  <a:srgbClr val="F59E0B"/>
                </a:solidFill>
                <a:latin typeface="Arial"/>
              </a:rPr>
              <a:t>IN DEPTH</a:t>
            </a:r>
          </a:p>
        </p:txBody>
      </p:sp>
      <p:sp>
        <p:nvSpPr>
          <p:cNvPr id="10" name="TextBox 9"/>
          <p:cNvSpPr txBox="1"/>
          <p:nvPr/>
        </p:nvSpPr>
        <p:spPr>
          <a:xfrm>
            <a:off x="1005840" y="2377440"/>
            <a:ext cx="4754880" cy="3566160"/>
          </a:xfrm>
          <a:prstGeom prst="rect">
            <a:avLst/>
          </a:prstGeom>
          <a:noFill/>
        </p:spPr>
        <p:txBody>
          <a:bodyPr wrap="square">
            <a:spAutoFit/>
          </a:bodyPr>
          <a:lstStyle/>
          <a:p>
            <a:pPr>
              <a:spcAft>
                <a:spcPts val="800"/>
              </a:spcAft>
            </a:pPr>
            <a:r>
              <a:rPr sz="1350" b="0">
                <a:solidFill>
                  <a:srgbClr val="161B26"/>
                </a:solidFill>
                <a:latin typeface="Arial"/>
              </a:rPr>
              <a:t>•  X-Ray captures a trace per request and a service map of dependencies and latencies.</a:t>
            </a:r>
          </a:p>
          <a:p>
            <a:pPr>
              <a:spcAft>
                <a:spcPts val="800"/>
              </a:spcAft>
            </a:pPr>
            <a:r>
              <a:rPr sz="1350" b="0">
                <a:solidFill>
                  <a:srgbClr val="161B26"/>
                </a:solidFill>
                <a:latin typeface="Arial"/>
              </a:rPr>
              <a:t>•  Traces reveal which downstream call in a chain is slow or failing.</a:t>
            </a:r>
          </a:p>
          <a:p>
            <a:pPr>
              <a:spcAft>
                <a:spcPts val="800"/>
              </a:spcAft>
            </a:pPr>
            <a:r>
              <a:rPr sz="1350" b="0">
                <a:solidFill>
                  <a:srgbClr val="161B26"/>
                </a:solidFill>
                <a:latin typeface="Arial"/>
              </a:rPr>
              <a:t>•  Sampling keeps overhead and cost bounded on high-traffic services.</a:t>
            </a:r>
          </a:p>
        </p:txBody>
      </p:sp>
      <p:sp>
        <p:nvSpPr>
          <p:cNvPr id="11" name="Rectangle 10"/>
          <p:cNvSpPr/>
          <p:nvPr/>
        </p:nvSpPr>
        <p:spPr>
          <a:xfrm>
            <a:off x="6172200" y="1783080"/>
            <a:ext cx="5239512" cy="1325880"/>
          </a:xfrm>
          <a:prstGeom prst="rect">
            <a:avLst/>
          </a:prstGeom>
          <a:solidFill>
            <a:srgbClr val="FFFFFF"/>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ectangle 11"/>
          <p:cNvSpPr/>
          <p:nvPr/>
        </p:nvSpPr>
        <p:spPr>
          <a:xfrm>
            <a:off x="6172200" y="1783080"/>
            <a:ext cx="91440" cy="1325880"/>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6428232" y="1892808"/>
            <a:ext cx="4782312" cy="320040"/>
          </a:xfrm>
          <a:prstGeom prst="rect">
            <a:avLst/>
          </a:prstGeom>
          <a:noFill/>
        </p:spPr>
        <p:txBody>
          <a:bodyPr wrap="square" anchor="t">
            <a:spAutoFit/>
          </a:bodyPr>
          <a:lstStyle/>
          <a:p>
            <a:pPr algn="l">
              <a:spcAft>
                <a:spcPts val="400"/>
              </a:spcAft>
            </a:pPr>
            <a:r>
              <a:rPr sz="1150" b="1">
                <a:solidFill>
                  <a:srgbClr val="F59E0B"/>
                </a:solidFill>
                <a:latin typeface="Arial"/>
              </a:rPr>
              <a:t>WHY IT MATTERS</a:t>
            </a:r>
          </a:p>
        </p:txBody>
      </p:sp>
      <p:sp>
        <p:nvSpPr>
          <p:cNvPr id="14" name="TextBox 13"/>
          <p:cNvSpPr txBox="1"/>
          <p:nvPr/>
        </p:nvSpPr>
        <p:spPr>
          <a:xfrm>
            <a:off x="6428232" y="2221992"/>
            <a:ext cx="4782312" cy="822960"/>
          </a:xfrm>
          <a:prstGeom prst="rect">
            <a:avLst/>
          </a:prstGeom>
          <a:noFill/>
        </p:spPr>
        <p:txBody>
          <a:bodyPr wrap="square" anchor="t">
            <a:spAutoFit/>
          </a:bodyPr>
          <a:lstStyle/>
          <a:p>
            <a:pPr algn="l">
              <a:spcAft>
                <a:spcPts val="400"/>
              </a:spcAft>
            </a:pPr>
            <a:r>
              <a:rPr sz="1250" b="0">
                <a:solidFill>
                  <a:srgbClr val="161B26"/>
                </a:solidFill>
                <a:latin typeface="Arial"/>
              </a:rPr>
              <a:t>In microservices, a symptom (slow checkout) and its cause (a slow third-party call three hops away) are far apart — tracing connects them.</a:t>
            </a:r>
          </a:p>
        </p:txBody>
      </p:sp>
      <p:sp>
        <p:nvSpPr>
          <p:cNvPr id="15" name="Rectangle 14"/>
          <p:cNvSpPr/>
          <p:nvPr/>
        </p:nvSpPr>
        <p:spPr>
          <a:xfrm>
            <a:off x="6172200" y="3246120"/>
            <a:ext cx="5239512" cy="1325880"/>
          </a:xfrm>
          <a:prstGeom prst="rect">
            <a:avLst/>
          </a:prstGeom>
          <a:solidFill>
            <a:srgbClr val="FFFFFF"/>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ectangle 15"/>
          <p:cNvSpPr/>
          <p:nvPr/>
        </p:nvSpPr>
        <p:spPr>
          <a:xfrm>
            <a:off x="6172200" y="3246120"/>
            <a:ext cx="91440" cy="1325880"/>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6428232" y="3355848"/>
            <a:ext cx="4782312" cy="320040"/>
          </a:xfrm>
          <a:prstGeom prst="rect">
            <a:avLst/>
          </a:prstGeom>
          <a:noFill/>
        </p:spPr>
        <p:txBody>
          <a:bodyPr wrap="square" anchor="t">
            <a:spAutoFit/>
          </a:bodyPr>
          <a:lstStyle/>
          <a:p>
            <a:pPr algn="l">
              <a:spcAft>
                <a:spcPts val="400"/>
              </a:spcAft>
            </a:pPr>
            <a:r>
              <a:rPr sz="1150" b="1">
                <a:solidFill>
                  <a:srgbClr val="C0392B"/>
                </a:solidFill>
                <a:latin typeface="Arial"/>
              </a:rPr>
              <a:t>FAILURE MODE</a:t>
            </a:r>
          </a:p>
        </p:txBody>
      </p:sp>
      <p:sp>
        <p:nvSpPr>
          <p:cNvPr id="18" name="TextBox 17"/>
          <p:cNvSpPr txBox="1"/>
          <p:nvPr/>
        </p:nvSpPr>
        <p:spPr>
          <a:xfrm>
            <a:off x="6428232" y="3685032"/>
            <a:ext cx="4782312" cy="822960"/>
          </a:xfrm>
          <a:prstGeom prst="rect">
            <a:avLst/>
          </a:prstGeom>
          <a:noFill/>
        </p:spPr>
        <p:txBody>
          <a:bodyPr wrap="square" anchor="t">
            <a:spAutoFit/>
          </a:bodyPr>
          <a:lstStyle/>
          <a:p>
            <a:pPr algn="l">
              <a:spcAft>
                <a:spcPts val="400"/>
              </a:spcAft>
            </a:pPr>
            <a:r>
              <a:rPr sz="1250" b="0">
                <a:solidFill>
                  <a:srgbClr val="161B26"/>
                </a:solidFill>
                <a:latin typeface="Arial"/>
              </a:rPr>
              <a:t>Without tracing, teams blame each other's services because no one can see the end-to-end request path.</a:t>
            </a:r>
          </a:p>
        </p:txBody>
      </p:sp>
      <p:sp>
        <p:nvSpPr>
          <p:cNvPr id="19" name="Rectangle 18"/>
          <p:cNvSpPr/>
          <p:nvPr/>
        </p:nvSpPr>
        <p:spPr>
          <a:xfrm>
            <a:off x="6172200" y="4709160"/>
            <a:ext cx="5239512" cy="1325880"/>
          </a:xfrm>
          <a:prstGeom prst="rect">
            <a:avLst/>
          </a:prstGeom>
          <a:solidFill>
            <a:srgbClr val="FFFFFF"/>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Rectangle 19"/>
          <p:cNvSpPr/>
          <p:nvPr/>
        </p:nvSpPr>
        <p:spPr>
          <a:xfrm>
            <a:off x="6172200" y="4709160"/>
            <a:ext cx="91440" cy="1325880"/>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6428232" y="4818888"/>
            <a:ext cx="4782312" cy="320040"/>
          </a:xfrm>
          <a:prstGeom prst="rect">
            <a:avLst/>
          </a:prstGeom>
          <a:noFill/>
        </p:spPr>
        <p:txBody>
          <a:bodyPr wrap="square" anchor="t">
            <a:spAutoFit/>
          </a:bodyPr>
          <a:lstStyle/>
          <a:p>
            <a:pPr algn="l">
              <a:spcAft>
                <a:spcPts val="400"/>
              </a:spcAft>
            </a:pPr>
            <a:r>
              <a:rPr sz="1150" b="1">
                <a:solidFill>
                  <a:srgbClr val="F59E0B"/>
                </a:solidFill>
                <a:latin typeface="Arial"/>
              </a:rPr>
              <a:t>TRADE-OFF / DECISION</a:t>
            </a:r>
          </a:p>
        </p:txBody>
      </p:sp>
      <p:sp>
        <p:nvSpPr>
          <p:cNvPr id="22" name="TextBox 21"/>
          <p:cNvSpPr txBox="1"/>
          <p:nvPr/>
        </p:nvSpPr>
        <p:spPr>
          <a:xfrm>
            <a:off x="6428232" y="5148072"/>
            <a:ext cx="4782312" cy="822960"/>
          </a:xfrm>
          <a:prstGeom prst="rect">
            <a:avLst/>
          </a:prstGeom>
          <a:noFill/>
        </p:spPr>
        <p:txBody>
          <a:bodyPr wrap="square" anchor="t">
            <a:spAutoFit/>
          </a:bodyPr>
          <a:lstStyle/>
          <a:p>
            <a:pPr algn="l">
              <a:spcAft>
                <a:spcPts val="400"/>
              </a:spcAft>
            </a:pPr>
            <a:r>
              <a:rPr sz="1250" b="0">
                <a:solidFill>
                  <a:srgbClr val="161B26"/>
                </a:solidFill>
                <a:latin typeface="Arial"/>
              </a:rPr>
              <a:t>Full tracing is expensive at scale — sampling trades completeness for affordable, representative visibility.</a:t>
            </a:r>
          </a:p>
        </p:txBody>
      </p:sp>
      <p:sp>
        <p:nvSpPr>
          <p:cNvPr id="23" name="TextBox 22"/>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DevOps Engineering on AWS  ·  TGS-2023040474</a:t>
            </a:r>
          </a:p>
        </p:txBody>
      </p:sp>
      <p:sp>
        <p:nvSpPr>
          <p:cNvPr id="24" name="TextBox 23"/>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25" name="TextBox 24"/>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145</a:t>
            </a:r>
          </a:p>
        </p:txBody>
      </p:sp>
    </p:spTree>
  </p:cSld>
  <p:clrMapOvr>
    <a:masterClrMapping/>
  </p:clrMapOvr>
  <p:transition xmlns:p14="http://schemas.microsoft.com/office/powerpoint/2010/main" p14:dur="380">
    <p:fade/>
  </p:transition>
</p:sld>
</file>

<file path=ppt/slides/slide14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38912"/>
            <a:ext cx="10607040" cy="365760"/>
          </a:xfrm>
          <a:prstGeom prst="rect">
            <a:avLst/>
          </a:prstGeom>
          <a:noFill/>
        </p:spPr>
        <p:txBody>
          <a:bodyPr wrap="square" anchor="t">
            <a:spAutoFit/>
          </a:bodyPr>
          <a:lstStyle/>
          <a:p>
            <a:pPr algn="l">
              <a:spcAft>
                <a:spcPts val="400"/>
              </a:spcAft>
            </a:pPr>
            <a:r>
              <a:rPr sz="1400" b="1">
                <a:solidFill>
                  <a:srgbClr val="F59E0B"/>
                </a:solidFill>
                <a:latin typeface="Arial"/>
              </a:rPr>
              <a:t>IN DEPTH</a:t>
            </a:r>
          </a:p>
        </p:txBody>
      </p:sp>
      <p:sp>
        <p:nvSpPr>
          <p:cNvPr id="5" name="TextBox 4"/>
          <p:cNvSpPr txBox="1"/>
          <p:nvPr/>
        </p:nvSpPr>
        <p:spPr>
          <a:xfrm>
            <a:off x="777240" y="896112"/>
            <a:ext cx="10927080" cy="731520"/>
          </a:xfrm>
          <a:prstGeom prst="rect">
            <a:avLst/>
          </a:prstGeom>
          <a:noFill/>
        </p:spPr>
        <p:txBody>
          <a:bodyPr wrap="square" anchor="t">
            <a:spAutoFit/>
          </a:bodyPr>
          <a:lstStyle/>
          <a:p>
            <a:pPr algn="l">
              <a:spcAft>
                <a:spcPts val="400"/>
              </a:spcAft>
            </a:pPr>
            <a:r>
              <a:rPr sz="2100" b="1">
                <a:solidFill>
                  <a:srgbClr val="161B26"/>
                </a:solidFill>
                <a:latin typeface="Arial"/>
              </a:rPr>
              <a:t>Observability at scale — agents, OpenTelemetry, cross-account</a:t>
            </a:r>
          </a:p>
        </p:txBody>
      </p:sp>
      <p:sp>
        <p:nvSpPr>
          <p:cNvPr id="6" name="Rectangle 5"/>
          <p:cNvSpPr/>
          <p:nvPr/>
        </p:nvSpPr>
        <p:spPr>
          <a:xfrm>
            <a:off x="777240" y="1572768"/>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783080"/>
            <a:ext cx="5212080" cy="425196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1783080"/>
            <a:ext cx="5212080" cy="91440"/>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1005840" y="1938528"/>
            <a:ext cx="4754880" cy="365760"/>
          </a:xfrm>
          <a:prstGeom prst="rect">
            <a:avLst/>
          </a:prstGeom>
          <a:noFill/>
        </p:spPr>
        <p:txBody>
          <a:bodyPr wrap="square" anchor="t">
            <a:spAutoFit/>
          </a:bodyPr>
          <a:lstStyle/>
          <a:p>
            <a:pPr algn="l">
              <a:spcAft>
                <a:spcPts val="400"/>
              </a:spcAft>
            </a:pPr>
            <a:r>
              <a:rPr sz="1200" b="1">
                <a:solidFill>
                  <a:srgbClr val="F59E0B"/>
                </a:solidFill>
                <a:latin typeface="Arial"/>
              </a:rPr>
              <a:t>IN DEPTH</a:t>
            </a:r>
          </a:p>
        </p:txBody>
      </p:sp>
      <p:sp>
        <p:nvSpPr>
          <p:cNvPr id="10" name="TextBox 9"/>
          <p:cNvSpPr txBox="1"/>
          <p:nvPr/>
        </p:nvSpPr>
        <p:spPr>
          <a:xfrm>
            <a:off x="1005840" y="2377440"/>
            <a:ext cx="4754880" cy="3566160"/>
          </a:xfrm>
          <a:prstGeom prst="rect">
            <a:avLst/>
          </a:prstGeom>
          <a:noFill/>
        </p:spPr>
        <p:txBody>
          <a:bodyPr wrap="square">
            <a:spAutoFit/>
          </a:bodyPr>
          <a:lstStyle/>
          <a:p>
            <a:pPr>
              <a:spcAft>
                <a:spcPts val="800"/>
              </a:spcAft>
            </a:pPr>
            <a:r>
              <a:rPr sz="1350" b="0">
                <a:solidFill>
                  <a:srgbClr val="161B26"/>
                </a:solidFill>
                <a:latin typeface="Arial"/>
              </a:rPr>
              <a:t>•  The CloudWatch agent and the AWS Distro for OpenTelemetry collect host and application telemetry.</a:t>
            </a:r>
          </a:p>
          <a:p>
            <a:pPr>
              <a:spcAft>
                <a:spcPts val="800"/>
              </a:spcAft>
            </a:pPr>
            <a:r>
              <a:rPr sz="1350" b="0">
                <a:solidFill>
                  <a:srgbClr val="161B26"/>
                </a:solidFill>
                <a:latin typeface="Arial"/>
              </a:rPr>
              <a:t>•  Container Insights and Lambda Insights add curated metrics for ECS/EKS and functions.</a:t>
            </a:r>
          </a:p>
          <a:p>
            <a:pPr>
              <a:spcAft>
                <a:spcPts val="800"/>
              </a:spcAft>
            </a:pPr>
            <a:r>
              <a:rPr sz="1350" b="0">
                <a:solidFill>
                  <a:srgbClr val="161B26"/>
                </a:solidFill>
                <a:latin typeface="Arial"/>
              </a:rPr>
              <a:t>•  Cross-account observability centralises telemetry from many accounts into a monitoring account.</a:t>
            </a:r>
          </a:p>
        </p:txBody>
      </p:sp>
      <p:sp>
        <p:nvSpPr>
          <p:cNvPr id="11" name="Rectangle 10"/>
          <p:cNvSpPr/>
          <p:nvPr/>
        </p:nvSpPr>
        <p:spPr>
          <a:xfrm>
            <a:off x="6172200" y="1783080"/>
            <a:ext cx="5239512" cy="1325880"/>
          </a:xfrm>
          <a:prstGeom prst="rect">
            <a:avLst/>
          </a:prstGeom>
          <a:solidFill>
            <a:srgbClr val="FFFFFF"/>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ectangle 11"/>
          <p:cNvSpPr/>
          <p:nvPr/>
        </p:nvSpPr>
        <p:spPr>
          <a:xfrm>
            <a:off x="6172200" y="1783080"/>
            <a:ext cx="91440" cy="1325880"/>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6428232" y="1892808"/>
            <a:ext cx="4782312" cy="320040"/>
          </a:xfrm>
          <a:prstGeom prst="rect">
            <a:avLst/>
          </a:prstGeom>
          <a:noFill/>
        </p:spPr>
        <p:txBody>
          <a:bodyPr wrap="square" anchor="t">
            <a:spAutoFit/>
          </a:bodyPr>
          <a:lstStyle/>
          <a:p>
            <a:pPr algn="l">
              <a:spcAft>
                <a:spcPts val="400"/>
              </a:spcAft>
            </a:pPr>
            <a:r>
              <a:rPr sz="1150" b="1">
                <a:solidFill>
                  <a:srgbClr val="F59E0B"/>
                </a:solidFill>
                <a:latin typeface="Arial"/>
              </a:rPr>
              <a:t>WHY IT MATTERS</a:t>
            </a:r>
          </a:p>
        </p:txBody>
      </p:sp>
      <p:sp>
        <p:nvSpPr>
          <p:cNvPr id="14" name="TextBox 13"/>
          <p:cNvSpPr txBox="1"/>
          <p:nvPr/>
        </p:nvSpPr>
        <p:spPr>
          <a:xfrm>
            <a:off x="6428232" y="2221992"/>
            <a:ext cx="4782312" cy="822960"/>
          </a:xfrm>
          <a:prstGeom prst="rect">
            <a:avLst/>
          </a:prstGeom>
          <a:noFill/>
        </p:spPr>
        <p:txBody>
          <a:bodyPr wrap="square" anchor="t">
            <a:spAutoFit/>
          </a:bodyPr>
          <a:lstStyle/>
          <a:p>
            <a:pPr algn="l">
              <a:spcAft>
                <a:spcPts val="400"/>
              </a:spcAft>
            </a:pPr>
            <a:r>
              <a:rPr sz="1250" b="0">
                <a:solidFill>
                  <a:srgbClr val="161B26"/>
                </a:solidFill>
                <a:latin typeface="Arial"/>
              </a:rPr>
              <a:t>A consistent collection standard across a large estate makes telemetry comparable and centrally queryable.</a:t>
            </a:r>
          </a:p>
        </p:txBody>
      </p:sp>
      <p:sp>
        <p:nvSpPr>
          <p:cNvPr id="15" name="Rectangle 14"/>
          <p:cNvSpPr/>
          <p:nvPr/>
        </p:nvSpPr>
        <p:spPr>
          <a:xfrm>
            <a:off x="6172200" y="3246120"/>
            <a:ext cx="5239512" cy="1325880"/>
          </a:xfrm>
          <a:prstGeom prst="rect">
            <a:avLst/>
          </a:prstGeom>
          <a:solidFill>
            <a:srgbClr val="FFFFFF"/>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ectangle 15"/>
          <p:cNvSpPr/>
          <p:nvPr/>
        </p:nvSpPr>
        <p:spPr>
          <a:xfrm>
            <a:off x="6172200" y="3246120"/>
            <a:ext cx="91440" cy="1325880"/>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6428232" y="3355848"/>
            <a:ext cx="4782312" cy="320040"/>
          </a:xfrm>
          <a:prstGeom prst="rect">
            <a:avLst/>
          </a:prstGeom>
          <a:noFill/>
        </p:spPr>
        <p:txBody>
          <a:bodyPr wrap="square" anchor="t">
            <a:spAutoFit/>
          </a:bodyPr>
          <a:lstStyle/>
          <a:p>
            <a:pPr algn="l">
              <a:spcAft>
                <a:spcPts val="400"/>
              </a:spcAft>
            </a:pPr>
            <a:r>
              <a:rPr sz="1150" b="1">
                <a:solidFill>
                  <a:srgbClr val="C0392B"/>
                </a:solidFill>
                <a:latin typeface="Arial"/>
              </a:rPr>
              <a:t>FAILURE MODE</a:t>
            </a:r>
          </a:p>
        </p:txBody>
      </p:sp>
      <p:sp>
        <p:nvSpPr>
          <p:cNvPr id="18" name="TextBox 17"/>
          <p:cNvSpPr txBox="1"/>
          <p:nvPr/>
        </p:nvSpPr>
        <p:spPr>
          <a:xfrm>
            <a:off x="6428232" y="3685032"/>
            <a:ext cx="4782312" cy="822960"/>
          </a:xfrm>
          <a:prstGeom prst="rect">
            <a:avLst/>
          </a:prstGeom>
          <a:noFill/>
        </p:spPr>
        <p:txBody>
          <a:bodyPr wrap="square" anchor="t">
            <a:spAutoFit/>
          </a:bodyPr>
          <a:lstStyle/>
          <a:p>
            <a:pPr algn="l">
              <a:spcAft>
                <a:spcPts val="400"/>
              </a:spcAft>
            </a:pPr>
            <a:r>
              <a:rPr sz="1250" b="0">
                <a:solidFill>
                  <a:srgbClr val="161B26"/>
                </a:solidFill>
                <a:latin typeface="Arial"/>
              </a:rPr>
              <a:t>Every team inventing its own metrics and log formats makes cross-service correlation impossible.</a:t>
            </a:r>
          </a:p>
        </p:txBody>
      </p:sp>
      <p:sp>
        <p:nvSpPr>
          <p:cNvPr id="19" name="Rectangle 18"/>
          <p:cNvSpPr/>
          <p:nvPr/>
        </p:nvSpPr>
        <p:spPr>
          <a:xfrm>
            <a:off x="6172200" y="4709160"/>
            <a:ext cx="5239512" cy="1325880"/>
          </a:xfrm>
          <a:prstGeom prst="rect">
            <a:avLst/>
          </a:prstGeom>
          <a:solidFill>
            <a:srgbClr val="FFFFFF"/>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Rectangle 19"/>
          <p:cNvSpPr/>
          <p:nvPr/>
        </p:nvSpPr>
        <p:spPr>
          <a:xfrm>
            <a:off x="6172200" y="4709160"/>
            <a:ext cx="91440" cy="1325880"/>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6428232" y="4818888"/>
            <a:ext cx="4782312" cy="320040"/>
          </a:xfrm>
          <a:prstGeom prst="rect">
            <a:avLst/>
          </a:prstGeom>
          <a:noFill/>
        </p:spPr>
        <p:txBody>
          <a:bodyPr wrap="square" anchor="t">
            <a:spAutoFit/>
          </a:bodyPr>
          <a:lstStyle/>
          <a:p>
            <a:pPr algn="l">
              <a:spcAft>
                <a:spcPts val="400"/>
              </a:spcAft>
            </a:pPr>
            <a:r>
              <a:rPr sz="1150" b="1">
                <a:solidFill>
                  <a:srgbClr val="F59E0B"/>
                </a:solidFill>
                <a:latin typeface="Arial"/>
              </a:rPr>
              <a:t>TRADE-OFF / DECISION</a:t>
            </a:r>
          </a:p>
        </p:txBody>
      </p:sp>
      <p:sp>
        <p:nvSpPr>
          <p:cNvPr id="22" name="TextBox 21"/>
          <p:cNvSpPr txBox="1"/>
          <p:nvPr/>
        </p:nvSpPr>
        <p:spPr>
          <a:xfrm>
            <a:off x="6428232" y="5148072"/>
            <a:ext cx="4782312" cy="822960"/>
          </a:xfrm>
          <a:prstGeom prst="rect">
            <a:avLst/>
          </a:prstGeom>
          <a:noFill/>
        </p:spPr>
        <p:txBody>
          <a:bodyPr wrap="square" anchor="t">
            <a:spAutoFit/>
          </a:bodyPr>
          <a:lstStyle/>
          <a:p>
            <a:pPr algn="l">
              <a:spcAft>
                <a:spcPts val="400"/>
              </a:spcAft>
            </a:pPr>
            <a:r>
              <a:rPr sz="1250" b="0">
                <a:solidFill>
                  <a:srgbClr val="161B26"/>
                </a:solidFill>
                <a:latin typeface="Arial"/>
              </a:rPr>
              <a:t>Centralisation eases correlation but concentrates cost and access — govern the monitoring account carefully.</a:t>
            </a:r>
          </a:p>
        </p:txBody>
      </p:sp>
      <p:sp>
        <p:nvSpPr>
          <p:cNvPr id="23" name="TextBox 22"/>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DevOps Engineering on AWS  ·  TGS-2023040474</a:t>
            </a:r>
          </a:p>
        </p:txBody>
      </p:sp>
      <p:sp>
        <p:nvSpPr>
          <p:cNvPr id="24" name="TextBox 23"/>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25" name="TextBox 24"/>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146</a:t>
            </a:r>
          </a:p>
        </p:txBody>
      </p:sp>
    </p:spTree>
  </p:cSld>
  <p:clrMapOvr>
    <a:masterClrMapping/>
  </p:clrMapOvr>
  <p:transition xmlns:p14="http://schemas.microsoft.com/office/powerpoint/2010/main" p14:dur="380">
    <p:fade/>
  </p:transition>
</p:sld>
</file>

<file path=ppt/slides/slide14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38912"/>
            <a:ext cx="10607040" cy="365760"/>
          </a:xfrm>
          <a:prstGeom prst="rect">
            <a:avLst/>
          </a:prstGeom>
          <a:noFill/>
        </p:spPr>
        <p:txBody>
          <a:bodyPr wrap="square" anchor="t">
            <a:spAutoFit/>
          </a:bodyPr>
          <a:lstStyle/>
          <a:p>
            <a:pPr algn="l">
              <a:spcAft>
                <a:spcPts val="400"/>
              </a:spcAft>
            </a:pPr>
            <a:r>
              <a:rPr sz="1400" b="1">
                <a:solidFill>
                  <a:srgbClr val="F59E0B"/>
                </a:solidFill>
                <a:latin typeface="Arial"/>
              </a:rPr>
              <a:t>IN DEPTH</a:t>
            </a:r>
          </a:p>
        </p:txBody>
      </p:sp>
      <p:sp>
        <p:nvSpPr>
          <p:cNvPr id="5" name="TextBox 4"/>
          <p:cNvSpPr txBox="1"/>
          <p:nvPr/>
        </p:nvSpPr>
        <p:spPr>
          <a:xfrm>
            <a:off x="777240" y="804672"/>
            <a:ext cx="10927080" cy="731520"/>
          </a:xfrm>
          <a:prstGeom prst="rect">
            <a:avLst/>
          </a:prstGeom>
          <a:noFill/>
        </p:spPr>
        <p:txBody>
          <a:bodyPr wrap="square" anchor="t">
            <a:spAutoFit/>
          </a:bodyPr>
          <a:lstStyle/>
          <a:p>
            <a:pPr algn="l">
              <a:spcAft>
                <a:spcPts val="400"/>
              </a:spcAft>
            </a:pPr>
            <a:r>
              <a:rPr sz="2900" b="1">
                <a:solidFill>
                  <a:srgbClr val="161B26"/>
                </a:solidFill>
                <a:latin typeface="Arial"/>
              </a:rPr>
              <a:t>The golden signals and SLOs</a:t>
            </a:r>
          </a:p>
        </p:txBody>
      </p:sp>
      <p:sp>
        <p:nvSpPr>
          <p:cNvPr id="6" name="Rectangle 5"/>
          <p:cNvSpPr/>
          <p:nvPr/>
        </p:nvSpPr>
        <p:spPr>
          <a:xfrm>
            <a:off x="777240" y="1572768"/>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783080"/>
            <a:ext cx="5212080" cy="425196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1783080"/>
            <a:ext cx="5212080" cy="91440"/>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1005840" y="1938528"/>
            <a:ext cx="4754880" cy="365760"/>
          </a:xfrm>
          <a:prstGeom prst="rect">
            <a:avLst/>
          </a:prstGeom>
          <a:noFill/>
        </p:spPr>
        <p:txBody>
          <a:bodyPr wrap="square" anchor="t">
            <a:spAutoFit/>
          </a:bodyPr>
          <a:lstStyle/>
          <a:p>
            <a:pPr algn="l">
              <a:spcAft>
                <a:spcPts val="400"/>
              </a:spcAft>
            </a:pPr>
            <a:r>
              <a:rPr sz="1200" b="1">
                <a:solidFill>
                  <a:srgbClr val="F59E0B"/>
                </a:solidFill>
                <a:latin typeface="Arial"/>
              </a:rPr>
              <a:t>IN DEPTH</a:t>
            </a:r>
          </a:p>
        </p:txBody>
      </p:sp>
      <p:sp>
        <p:nvSpPr>
          <p:cNvPr id="10" name="TextBox 9"/>
          <p:cNvSpPr txBox="1"/>
          <p:nvPr/>
        </p:nvSpPr>
        <p:spPr>
          <a:xfrm>
            <a:off x="1005840" y="2377440"/>
            <a:ext cx="4754880" cy="3566160"/>
          </a:xfrm>
          <a:prstGeom prst="rect">
            <a:avLst/>
          </a:prstGeom>
          <a:noFill/>
        </p:spPr>
        <p:txBody>
          <a:bodyPr wrap="square">
            <a:spAutoFit/>
          </a:bodyPr>
          <a:lstStyle/>
          <a:p>
            <a:pPr>
              <a:spcAft>
                <a:spcPts val="800"/>
              </a:spcAft>
            </a:pPr>
            <a:r>
              <a:rPr sz="1350" b="0">
                <a:solidFill>
                  <a:srgbClr val="161B26"/>
                </a:solidFill>
                <a:latin typeface="Arial"/>
              </a:rPr>
              <a:t>•  Latency, traffic, errors and saturation are the golden signals that describe almost any service's health.</a:t>
            </a:r>
          </a:p>
          <a:p>
            <a:pPr>
              <a:spcAft>
                <a:spcPts val="800"/>
              </a:spcAft>
            </a:pPr>
            <a:r>
              <a:rPr sz="1350" b="0">
                <a:solidFill>
                  <a:srgbClr val="161B26"/>
                </a:solidFill>
                <a:latin typeface="Arial"/>
              </a:rPr>
              <a:t>•  Service Level Objectives set target thresholds (e.g. 99.9% of requests &lt; 300ms) and an error budget.</a:t>
            </a:r>
          </a:p>
          <a:p>
            <a:pPr>
              <a:spcAft>
                <a:spcPts val="800"/>
              </a:spcAft>
            </a:pPr>
            <a:r>
              <a:rPr sz="1350" b="0">
                <a:solidFill>
                  <a:srgbClr val="161B26"/>
                </a:solidFill>
                <a:latin typeface="Arial"/>
              </a:rPr>
              <a:t>•  Alarms and dashboards are built to protect the SLO, not to watch every raw resource metric.</a:t>
            </a:r>
          </a:p>
        </p:txBody>
      </p:sp>
      <p:sp>
        <p:nvSpPr>
          <p:cNvPr id="11" name="Rectangle 10"/>
          <p:cNvSpPr/>
          <p:nvPr/>
        </p:nvSpPr>
        <p:spPr>
          <a:xfrm>
            <a:off x="6172200" y="1783080"/>
            <a:ext cx="5239512" cy="1325880"/>
          </a:xfrm>
          <a:prstGeom prst="rect">
            <a:avLst/>
          </a:prstGeom>
          <a:solidFill>
            <a:srgbClr val="FFFFFF"/>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ectangle 11"/>
          <p:cNvSpPr/>
          <p:nvPr/>
        </p:nvSpPr>
        <p:spPr>
          <a:xfrm>
            <a:off x="6172200" y="1783080"/>
            <a:ext cx="91440" cy="1325880"/>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6428232" y="1892808"/>
            <a:ext cx="4782312" cy="320040"/>
          </a:xfrm>
          <a:prstGeom prst="rect">
            <a:avLst/>
          </a:prstGeom>
          <a:noFill/>
        </p:spPr>
        <p:txBody>
          <a:bodyPr wrap="square" anchor="t">
            <a:spAutoFit/>
          </a:bodyPr>
          <a:lstStyle/>
          <a:p>
            <a:pPr algn="l">
              <a:spcAft>
                <a:spcPts val="400"/>
              </a:spcAft>
            </a:pPr>
            <a:r>
              <a:rPr sz="1150" b="1">
                <a:solidFill>
                  <a:srgbClr val="F59E0B"/>
                </a:solidFill>
                <a:latin typeface="Arial"/>
              </a:rPr>
              <a:t>WHY IT MATTERS</a:t>
            </a:r>
          </a:p>
        </p:txBody>
      </p:sp>
      <p:sp>
        <p:nvSpPr>
          <p:cNvPr id="14" name="TextBox 13"/>
          <p:cNvSpPr txBox="1"/>
          <p:nvPr/>
        </p:nvSpPr>
        <p:spPr>
          <a:xfrm>
            <a:off x="6428232" y="2221992"/>
            <a:ext cx="4782312" cy="822960"/>
          </a:xfrm>
          <a:prstGeom prst="rect">
            <a:avLst/>
          </a:prstGeom>
          <a:noFill/>
        </p:spPr>
        <p:txBody>
          <a:bodyPr wrap="square" anchor="t">
            <a:spAutoFit/>
          </a:bodyPr>
          <a:lstStyle/>
          <a:p>
            <a:pPr algn="l">
              <a:spcAft>
                <a:spcPts val="400"/>
              </a:spcAft>
            </a:pPr>
            <a:r>
              <a:rPr sz="1250" b="0">
                <a:solidFill>
                  <a:srgbClr val="161B26"/>
                </a:solidFill>
                <a:latin typeface="Arial"/>
              </a:rPr>
              <a:t>Tying monitoring to SLOs focuses attention on what users actually experience and gives an objective 'are we healthy?' answer.</a:t>
            </a:r>
          </a:p>
        </p:txBody>
      </p:sp>
      <p:sp>
        <p:nvSpPr>
          <p:cNvPr id="15" name="Rectangle 14"/>
          <p:cNvSpPr/>
          <p:nvPr/>
        </p:nvSpPr>
        <p:spPr>
          <a:xfrm>
            <a:off x="6172200" y="3246120"/>
            <a:ext cx="5239512" cy="1325880"/>
          </a:xfrm>
          <a:prstGeom prst="rect">
            <a:avLst/>
          </a:prstGeom>
          <a:solidFill>
            <a:srgbClr val="FFFFFF"/>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ectangle 15"/>
          <p:cNvSpPr/>
          <p:nvPr/>
        </p:nvSpPr>
        <p:spPr>
          <a:xfrm>
            <a:off x="6172200" y="3246120"/>
            <a:ext cx="91440" cy="1325880"/>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6428232" y="3355848"/>
            <a:ext cx="4782312" cy="320040"/>
          </a:xfrm>
          <a:prstGeom prst="rect">
            <a:avLst/>
          </a:prstGeom>
          <a:noFill/>
        </p:spPr>
        <p:txBody>
          <a:bodyPr wrap="square" anchor="t">
            <a:spAutoFit/>
          </a:bodyPr>
          <a:lstStyle/>
          <a:p>
            <a:pPr algn="l">
              <a:spcAft>
                <a:spcPts val="400"/>
              </a:spcAft>
            </a:pPr>
            <a:r>
              <a:rPr sz="1150" b="1">
                <a:solidFill>
                  <a:srgbClr val="C0392B"/>
                </a:solidFill>
                <a:latin typeface="Arial"/>
              </a:rPr>
              <a:t>FAILURE MODE</a:t>
            </a:r>
          </a:p>
        </p:txBody>
      </p:sp>
      <p:sp>
        <p:nvSpPr>
          <p:cNvPr id="18" name="TextBox 17"/>
          <p:cNvSpPr txBox="1"/>
          <p:nvPr/>
        </p:nvSpPr>
        <p:spPr>
          <a:xfrm>
            <a:off x="6428232" y="3685032"/>
            <a:ext cx="4782312" cy="822960"/>
          </a:xfrm>
          <a:prstGeom prst="rect">
            <a:avLst/>
          </a:prstGeom>
          <a:noFill/>
        </p:spPr>
        <p:txBody>
          <a:bodyPr wrap="square" anchor="t">
            <a:spAutoFit/>
          </a:bodyPr>
          <a:lstStyle/>
          <a:p>
            <a:pPr algn="l">
              <a:spcAft>
                <a:spcPts val="400"/>
              </a:spcAft>
            </a:pPr>
            <a:r>
              <a:rPr sz="1250" b="0">
                <a:solidFill>
                  <a:srgbClr val="161B26"/>
                </a:solidFill>
                <a:latin typeface="Arial"/>
              </a:rPr>
              <a:t>Alerting on CPU while the SLO quietly burns means you page on non-issues and miss the user-facing failure.</a:t>
            </a:r>
          </a:p>
        </p:txBody>
      </p:sp>
      <p:sp>
        <p:nvSpPr>
          <p:cNvPr id="19" name="Rectangle 18"/>
          <p:cNvSpPr/>
          <p:nvPr/>
        </p:nvSpPr>
        <p:spPr>
          <a:xfrm>
            <a:off x="6172200" y="4709160"/>
            <a:ext cx="5239512" cy="1325880"/>
          </a:xfrm>
          <a:prstGeom prst="rect">
            <a:avLst/>
          </a:prstGeom>
          <a:solidFill>
            <a:srgbClr val="FFFFFF"/>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Rectangle 19"/>
          <p:cNvSpPr/>
          <p:nvPr/>
        </p:nvSpPr>
        <p:spPr>
          <a:xfrm>
            <a:off x="6172200" y="4709160"/>
            <a:ext cx="91440" cy="1325880"/>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6428232" y="4818888"/>
            <a:ext cx="4782312" cy="320040"/>
          </a:xfrm>
          <a:prstGeom prst="rect">
            <a:avLst/>
          </a:prstGeom>
          <a:noFill/>
        </p:spPr>
        <p:txBody>
          <a:bodyPr wrap="square" anchor="t">
            <a:spAutoFit/>
          </a:bodyPr>
          <a:lstStyle/>
          <a:p>
            <a:pPr algn="l">
              <a:spcAft>
                <a:spcPts val="400"/>
              </a:spcAft>
            </a:pPr>
            <a:r>
              <a:rPr sz="1150" b="1">
                <a:solidFill>
                  <a:srgbClr val="F59E0B"/>
                </a:solidFill>
                <a:latin typeface="Arial"/>
              </a:rPr>
              <a:t>TRADE-OFF / DECISION</a:t>
            </a:r>
          </a:p>
        </p:txBody>
      </p:sp>
      <p:sp>
        <p:nvSpPr>
          <p:cNvPr id="22" name="TextBox 21"/>
          <p:cNvSpPr txBox="1"/>
          <p:nvPr/>
        </p:nvSpPr>
        <p:spPr>
          <a:xfrm>
            <a:off x="6428232" y="5148072"/>
            <a:ext cx="4782312" cy="822960"/>
          </a:xfrm>
          <a:prstGeom prst="rect">
            <a:avLst/>
          </a:prstGeom>
          <a:noFill/>
        </p:spPr>
        <p:txBody>
          <a:bodyPr wrap="square" anchor="t">
            <a:spAutoFit/>
          </a:bodyPr>
          <a:lstStyle/>
          <a:p>
            <a:pPr algn="l">
              <a:spcAft>
                <a:spcPts val="400"/>
              </a:spcAft>
            </a:pPr>
            <a:r>
              <a:rPr sz="1250" b="0">
                <a:solidFill>
                  <a:srgbClr val="161B26"/>
                </a:solidFill>
                <a:latin typeface="Arial"/>
              </a:rPr>
              <a:t>Strict SLOs drive reliability work but can slow feature delivery — the error budget is the negotiated balance.</a:t>
            </a:r>
          </a:p>
        </p:txBody>
      </p:sp>
      <p:sp>
        <p:nvSpPr>
          <p:cNvPr id="23" name="TextBox 22"/>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DevOps Engineering on AWS  ·  TGS-2023040474</a:t>
            </a:r>
          </a:p>
        </p:txBody>
      </p:sp>
      <p:sp>
        <p:nvSpPr>
          <p:cNvPr id="24" name="TextBox 23"/>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25" name="TextBox 24"/>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147</a:t>
            </a:r>
          </a:p>
        </p:txBody>
      </p:sp>
    </p:spTree>
  </p:cSld>
  <p:clrMapOvr>
    <a:masterClrMapping/>
  </p:clrMapOvr>
  <p:transition xmlns:p14="http://schemas.microsoft.com/office/powerpoint/2010/main" p14:dur="380">
    <p:fade/>
  </p:transition>
</p:sld>
</file>

<file path=ppt/slides/slide14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38912"/>
            <a:ext cx="10607040" cy="365760"/>
          </a:xfrm>
          <a:prstGeom prst="rect">
            <a:avLst/>
          </a:prstGeom>
          <a:noFill/>
        </p:spPr>
        <p:txBody>
          <a:bodyPr wrap="square" anchor="t">
            <a:spAutoFit/>
          </a:bodyPr>
          <a:lstStyle/>
          <a:p>
            <a:pPr algn="l">
              <a:spcAft>
                <a:spcPts val="400"/>
              </a:spcAft>
            </a:pPr>
            <a:r>
              <a:rPr sz="1400" b="1">
                <a:solidFill>
                  <a:srgbClr val="F59E0B"/>
                </a:solidFill>
                <a:latin typeface="Arial"/>
              </a:rPr>
              <a:t>DEEPER TROUBLESHOOTING</a:t>
            </a:r>
          </a:p>
        </p:txBody>
      </p:sp>
      <p:sp>
        <p:nvSpPr>
          <p:cNvPr id="5" name="TextBox 4"/>
          <p:cNvSpPr txBox="1"/>
          <p:nvPr/>
        </p:nvSpPr>
        <p:spPr>
          <a:xfrm>
            <a:off x="777240" y="896112"/>
            <a:ext cx="10927080" cy="731520"/>
          </a:xfrm>
          <a:prstGeom prst="rect">
            <a:avLst/>
          </a:prstGeom>
          <a:noFill/>
        </p:spPr>
        <p:txBody>
          <a:bodyPr wrap="square" anchor="t">
            <a:spAutoFit/>
          </a:bodyPr>
          <a:lstStyle/>
          <a:p>
            <a:pPr algn="l">
              <a:spcAft>
                <a:spcPts val="400"/>
              </a:spcAft>
            </a:pPr>
            <a:r>
              <a:rPr sz="2500" b="1">
                <a:solidFill>
                  <a:srgbClr val="161B26"/>
                </a:solidFill>
                <a:latin typeface="Arial"/>
              </a:rPr>
              <a:t>CloudWatch Insight Tools — Pick the Right Lens</a:t>
            </a:r>
          </a:p>
        </p:txBody>
      </p:sp>
      <p:sp>
        <p:nvSpPr>
          <p:cNvPr id="6" name="Rectangle 5"/>
          <p:cNvSpPr/>
          <p:nvPr/>
        </p:nvSpPr>
        <p:spPr>
          <a:xfrm>
            <a:off x="777240" y="1572768"/>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783080"/>
            <a:ext cx="2552273" cy="502920"/>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886968" y="1783080"/>
            <a:ext cx="2369393" cy="502920"/>
          </a:xfrm>
          <a:prstGeom prst="rect">
            <a:avLst/>
          </a:prstGeom>
          <a:noFill/>
        </p:spPr>
        <p:txBody>
          <a:bodyPr wrap="square" anchor="ctr">
            <a:spAutoFit/>
          </a:bodyPr>
          <a:lstStyle/>
          <a:p>
            <a:pPr algn="l">
              <a:spcAft>
                <a:spcPts val="400"/>
              </a:spcAft>
            </a:pPr>
            <a:r>
              <a:rPr sz="1400" b="1">
                <a:solidFill>
                  <a:srgbClr val="FFFFFF"/>
                </a:solidFill>
                <a:latin typeface="Arial"/>
              </a:rPr>
              <a:t>Tool</a:t>
            </a:r>
          </a:p>
        </p:txBody>
      </p:sp>
      <p:sp>
        <p:nvSpPr>
          <p:cNvPr id="9" name="Rectangle 8"/>
          <p:cNvSpPr/>
          <p:nvPr/>
        </p:nvSpPr>
        <p:spPr>
          <a:xfrm>
            <a:off x="3329513" y="1783080"/>
            <a:ext cx="4253788" cy="502920"/>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3439241" y="1783080"/>
            <a:ext cx="4070908" cy="502920"/>
          </a:xfrm>
          <a:prstGeom prst="rect">
            <a:avLst/>
          </a:prstGeom>
          <a:noFill/>
        </p:spPr>
        <p:txBody>
          <a:bodyPr wrap="square" anchor="ctr">
            <a:spAutoFit/>
          </a:bodyPr>
          <a:lstStyle/>
          <a:p>
            <a:pPr algn="ctr">
              <a:spcAft>
                <a:spcPts val="400"/>
              </a:spcAft>
            </a:pPr>
            <a:r>
              <a:rPr sz="1400" b="1">
                <a:solidFill>
                  <a:srgbClr val="FFFFFF"/>
                </a:solidFill>
                <a:latin typeface="Arial"/>
              </a:rPr>
              <a:t>What it shows</a:t>
            </a:r>
          </a:p>
        </p:txBody>
      </p:sp>
      <p:sp>
        <p:nvSpPr>
          <p:cNvPr id="11" name="Rectangle 10"/>
          <p:cNvSpPr/>
          <p:nvPr/>
        </p:nvSpPr>
        <p:spPr>
          <a:xfrm>
            <a:off x="7583301" y="1783080"/>
            <a:ext cx="3828409" cy="502920"/>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7693029" y="1783080"/>
            <a:ext cx="3645529" cy="502920"/>
          </a:xfrm>
          <a:prstGeom prst="rect">
            <a:avLst/>
          </a:prstGeom>
          <a:noFill/>
        </p:spPr>
        <p:txBody>
          <a:bodyPr wrap="square" anchor="ctr">
            <a:spAutoFit/>
          </a:bodyPr>
          <a:lstStyle/>
          <a:p>
            <a:pPr algn="ctr">
              <a:spcAft>
                <a:spcPts val="400"/>
              </a:spcAft>
            </a:pPr>
            <a:r>
              <a:rPr sz="1400" b="1">
                <a:solidFill>
                  <a:srgbClr val="FFFFFF"/>
                </a:solidFill>
                <a:latin typeface="Arial"/>
              </a:rPr>
              <a:t>Reach for it when</a:t>
            </a:r>
          </a:p>
        </p:txBody>
      </p:sp>
      <p:sp>
        <p:nvSpPr>
          <p:cNvPr id="13" name="Rectangle 12"/>
          <p:cNvSpPr/>
          <p:nvPr/>
        </p:nvSpPr>
        <p:spPr>
          <a:xfrm>
            <a:off x="777240" y="2286000"/>
            <a:ext cx="2552273" cy="822960"/>
          </a:xfrm>
          <a:prstGeom prst="rect">
            <a:avLst/>
          </a:prstGeom>
          <a:solidFill>
            <a:srgbClr val="F5F8FC"/>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886968" y="2286000"/>
            <a:ext cx="2369393" cy="822960"/>
          </a:xfrm>
          <a:prstGeom prst="rect">
            <a:avLst/>
          </a:prstGeom>
          <a:noFill/>
        </p:spPr>
        <p:txBody>
          <a:bodyPr wrap="square" anchor="ctr">
            <a:spAutoFit/>
          </a:bodyPr>
          <a:lstStyle/>
          <a:p>
            <a:pPr algn="l">
              <a:spcAft>
                <a:spcPts val="400"/>
              </a:spcAft>
            </a:pPr>
            <a:r>
              <a:rPr sz="1250" b="1">
                <a:solidFill>
                  <a:srgbClr val="161B26"/>
                </a:solidFill>
                <a:latin typeface="Arial"/>
              </a:rPr>
              <a:t>Logs Insights</a:t>
            </a:r>
          </a:p>
        </p:txBody>
      </p:sp>
      <p:sp>
        <p:nvSpPr>
          <p:cNvPr id="15" name="Rectangle 14"/>
          <p:cNvSpPr/>
          <p:nvPr/>
        </p:nvSpPr>
        <p:spPr>
          <a:xfrm>
            <a:off x="3329513" y="2286000"/>
            <a:ext cx="4253788" cy="822960"/>
          </a:xfrm>
          <a:prstGeom prst="rect">
            <a:avLst/>
          </a:prstGeom>
          <a:solidFill>
            <a:srgbClr val="F5F8FC"/>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3439241" y="2286000"/>
            <a:ext cx="4070908" cy="822960"/>
          </a:xfrm>
          <a:prstGeom prst="rect">
            <a:avLst/>
          </a:prstGeom>
          <a:noFill/>
        </p:spPr>
        <p:txBody>
          <a:bodyPr wrap="square" anchor="ctr">
            <a:spAutoFit/>
          </a:bodyPr>
          <a:lstStyle/>
          <a:p>
            <a:pPr algn="ctr">
              <a:spcAft>
                <a:spcPts val="400"/>
              </a:spcAft>
            </a:pPr>
            <a:r>
              <a:rPr sz="1250" b="0">
                <a:solidFill>
                  <a:srgbClr val="5B6372"/>
                </a:solidFill>
                <a:latin typeface="Arial"/>
              </a:rPr>
              <a:t>Ad-hoc queries over log data</a:t>
            </a:r>
          </a:p>
        </p:txBody>
      </p:sp>
      <p:sp>
        <p:nvSpPr>
          <p:cNvPr id="17" name="Rectangle 16"/>
          <p:cNvSpPr/>
          <p:nvPr/>
        </p:nvSpPr>
        <p:spPr>
          <a:xfrm>
            <a:off x="7583301" y="2286000"/>
            <a:ext cx="3828409" cy="822960"/>
          </a:xfrm>
          <a:prstGeom prst="rect">
            <a:avLst/>
          </a:prstGeom>
          <a:solidFill>
            <a:srgbClr val="F5F8FC"/>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7693029" y="2286000"/>
            <a:ext cx="3645529" cy="822960"/>
          </a:xfrm>
          <a:prstGeom prst="rect">
            <a:avLst/>
          </a:prstGeom>
          <a:noFill/>
        </p:spPr>
        <p:txBody>
          <a:bodyPr wrap="square" anchor="ctr">
            <a:spAutoFit/>
          </a:bodyPr>
          <a:lstStyle/>
          <a:p>
            <a:pPr algn="ctr">
              <a:spcAft>
                <a:spcPts val="400"/>
              </a:spcAft>
            </a:pPr>
            <a:r>
              <a:rPr sz="1250" b="0">
                <a:solidFill>
                  <a:srgbClr val="5B6372"/>
                </a:solidFill>
                <a:latin typeface="Arial"/>
              </a:rPr>
              <a:t>You need the 'why' from raw events</a:t>
            </a:r>
          </a:p>
        </p:txBody>
      </p:sp>
      <p:sp>
        <p:nvSpPr>
          <p:cNvPr id="19" name="Rectangle 18"/>
          <p:cNvSpPr/>
          <p:nvPr/>
        </p:nvSpPr>
        <p:spPr>
          <a:xfrm>
            <a:off x="777240" y="3108960"/>
            <a:ext cx="2552273" cy="822960"/>
          </a:xfrm>
          <a:prstGeom prst="rect">
            <a:avLst/>
          </a:prstGeom>
          <a:solidFill>
            <a:srgbClr val="FFFFFF"/>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886968" y="3108960"/>
            <a:ext cx="2369393" cy="822960"/>
          </a:xfrm>
          <a:prstGeom prst="rect">
            <a:avLst/>
          </a:prstGeom>
          <a:noFill/>
        </p:spPr>
        <p:txBody>
          <a:bodyPr wrap="square" anchor="ctr">
            <a:spAutoFit/>
          </a:bodyPr>
          <a:lstStyle/>
          <a:p>
            <a:pPr algn="l">
              <a:spcAft>
                <a:spcPts val="400"/>
              </a:spcAft>
            </a:pPr>
            <a:r>
              <a:rPr sz="1250" b="1">
                <a:solidFill>
                  <a:srgbClr val="161B26"/>
                </a:solidFill>
                <a:latin typeface="Arial"/>
              </a:rPr>
              <a:t>Container Insights</a:t>
            </a:r>
          </a:p>
        </p:txBody>
      </p:sp>
      <p:sp>
        <p:nvSpPr>
          <p:cNvPr id="21" name="Rectangle 20"/>
          <p:cNvSpPr/>
          <p:nvPr/>
        </p:nvSpPr>
        <p:spPr>
          <a:xfrm>
            <a:off x="3329513" y="3108960"/>
            <a:ext cx="4253788" cy="822960"/>
          </a:xfrm>
          <a:prstGeom prst="rect">
            <a:avLst/>
          </a:prstGeom>
          <a:solidFill>
            <a:srgbClr val="FFFFFF"/>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3439241" y="3108960"/>
            <a:ext cx="4070908" cy="822960"/>
          </a:xfrm>
          <a:prstGeom prst="rect">
            <a:avLst/>
          </a:prstGeom>
          <a:noFill/>
        </p:spPr>
        <p:txBody>
          <a:bodyPr wrap="square" anchor="ctr">
            <a:spAutoFit/>
          </a:bodyPr>
          <a:lstStyle/>
          <a:p>
            <a:pPr algn="ctr">
              <a:spcAft>
                <a:spcPts val="400"/>
              </a:spcAft>
            </a:pPr>
            <a:r>
              <a:rPr sz="1250" b="0">
                <a:solidFill>
                  <a:srgbClr val="5B6372"/>
                </a:solidFill>
                <a:latin typeface="Arial"/>
              </a:rPr>
              <a:t>Curated ECS/EKS/Fargate metrics</a:t>
            </a:r>
          </a:p>
        </p:txBody>
      </p:sp>
      <p:sp>
        <p:nvSpPr>
          <p:cNvPr id="23" name="Rectangle 22"/>
          <p:cNvSpPr/>
          <p:nvPr/>
        </p:nvSpPr>
        <p:spPr>
          <a:xfrm>
            <a:off x="7583301" y="3108960"/>
            <a:ext cx="3828409" cy="822960"/>
          </a:xfrm>
          <a:prstGeom prst="rect">
            <a:avLst/>
          </a:prstGeom>
          <a:solidFill>
            <a:srgbClr val="FFFFFF"/>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7693029" y="3108960"/>
            <a:ext cx="3645529" cy="822960"/>
          </a:xfrm>
          <a:prstGeom prst="rect">
            <a:avLst/>
          </a:prstGeom>
          <a:noFill/>
        </p:spPr>
        <p:txBody>
          <a:bodyPr wrap="square" anchor="ctr">
            <a:spAutoFit/>
          </a:bodyPr>
          <a:lstStyle/>
          <a:p>
            <a:pPr algn="ctr">
              <a:spcAft>
                <a:spcPts val="400"/>
              </a:spcAft>
            </a:pPr>
            <a:r>
              <a:rPr sz="1250" b="0">
                <a:solidFill>
                  <a:srgbClr val="5B6372"/>
                </a:solidFill>
                <a:latin typeface="Arial"/>
              </a:rPr>
              <a:t>A container platform is slow</a:t>
            </a:r>
          </a:p>
        </p:txBody>
      </p:sp>
      <p:sp>
        <p:nvSpPr>
          <p:cNvPr id="25" name="Rectangle 24"/>
          <p:cNvSpPr/>
          <p:nvPr/>
        </p:nvSpPr>
        <p:spPr>
          <a:xfrm>
            <a:off x="777240" y="3931920"/>
            <a:ext cx="2552273" cy="822960"/>
          </a:xfrm>
          <a:prstGeom prst="rect">
            <a:avLst/>
          </a:prstGeom>
          <a:solidFill>
            <a:srgbClr val="F5F8FC"/>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886968" y="3931920"/>
            <a:ext cx="2369393" cy="822960"/>
          </a:xfrm>
          <a:prstGeom prst="rect">
            <a:avLst/>
          </a:prstGeom>
          <a:noFill/>
        </p:spPr>
        <p:txBody>
          <a:bodyPr wrap="square" anchor="ctr">
            <a:spAutoFit/>
          </a:bodyPr>
          <a:lstStyle/>
          <a:p>
            <a:pPr algn="l">
              <a:spcAft>
                <a:spcPts val="400"/>
              </a:spcAft>
            </a:pPr>
            <a:r>
              <a:rPr sz="1250" b="1">
                <a:solidFill>
                  <a:srgbClr val="161B26"/>
                </a:solidFill>
                <a:latin typeface="Arial"/>
              </a:rPr>
              <a:t>Lambda Insights</a:t>
            </a:r>
          </a:p>
        </p:txBody>
      </p:sp>
      <p:sp>
        <p:nvSpPr>
          <p:cNvPr id="27" name="Rectangle 26"/>
          <p:cNvSpPr/>
          <p:nvPr/>
        </p:nvSpPr>
        <p:spPr>
          <a:xfrm>
            <a:off x="3329513" y="3931920"/>
            <a:ext cx="4253788" cy="822960"/>
          </a:xfrm>
          <a:prstGeom prst="rect">
            <a:avLst/>
          </a:prstGeom>
          <a:solidFill>
            <a:srgbClr val="F5F8FC"/>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3439241" y="3931920"/>
            <a:ext cx="4070908" cy="822960"/>
          </a:xfrm>
          <a:prstGeom prst="rect">
            <a:avLst/>
          </a:prstGeom>
          <a:noFill/>
        </p:spPr>
        <p:txBody>
          <a:bodyPr wrap="square" anchor="ctr">
            <a:spAutoFit/>
          </a:bodyPr>
          <a:lstStyle/>
          <a:p>
            <a:pPr algn="ctr">
              <a:spcAft>
                <a:spcPts val="400"/>
              </a:spcAft>
            </a:pPr>
            <a:r>
              <a:rPr sz="1250" b="0">
                <a:solidFill>
                  <a:srgbClr val="5B6372"/>
                </a:solidFill>
                <a:latin typeface="Arial"/>
              </a:rPr>
              <a:t>Function perf &amp; cold starts</a:t>
            </a:r>
          </a:p>
        </p:txBody>
      </p:sp>
      <p:sp>
        <p:nvSpPr>
          <p:cNvPr id="29" name="Rectangle 28"/>
          <p:cNvSpPr/>
          <p:nvPr/>
        </p:nvSpPr>
        <p:spPr>
          <a:xfrm>
            <a:off x="7583301" y="3931920"/>
            <a:ext cx="3828409" cy="822960"/>
          </a:xfrm>
          <a:prstGeom prst="rect">
            <a:avLst/>
          </a:prstGeom>
          <a:solidFill>
            <a:srgbClr val="F5F8FC"/>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7693029" y="3931920"/>
            <a:ext cx="3645529" cy="822960"/>
          </a:xfrm>
          <a:prstGeom prst="rect">
            <a:avLst/>
          </a:prstGeom>
          <a:noFill/>
        </p:spPr>
        <p:txBody>
          <a:bodyPr wrap="square" anchor="ctr">
            <a:spAutoFit/>
          </a:bodyPr>
          <a:lstStyle/>
          <a:p>
            <a:pPr algn="ctr">
              <a:spcAft>
                <a:spcPts val="400"/>
              </a:spcAft>
            </a:pPr>
            <a:r>
              <a:rPr sz="1250" b="0">
                <a:solidFill>
                  <a:srgbClr val="5B6372"/>
                </a:solidFill>
                <a:latin typeface="Arial"/>
              </a:rPr>
              <a:t>Serverless latency/cost issues</a:t>
            </a:r>
          </a:p>
        </p:txBody>
      </p:sp>
      <p:sp>
        <p:nvSpPr>
          <p:cNvPr id="31" name="Rectangle 30"/>
          <p:cNvSpPr/>
          <p:nvPr/>
        </p:nvSpPr>
        <p:spPr>
          <a:xfrm>
            <a:off x="777240" y="4754880"/>
            <a:ext cx="2552273" cy="822960"/>
          </a:xfrm>
          <a:prstGeom prst="rect">
            <a:avLst/>
          </a:prstGeom>
          <a:solidFill>
            <a:srgbClr val="FFFFFF"/>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TextBox 31"/>
          <p:cNvSpPr txBox="1"/>
          <p:nvPr/>
        </p:nvSpPr>
        <p:spPr>
          <a:xfrm>
            <a:off x="886968" y="4754880"/>
            <a:ext cx="2369393" cy="822960"/>
          </a:xfrm>
          <a:prstGeom prst="rect">
            <a:avLst/>
          </a:prstGeom>
          <a:noFill/>
        </p:spPr>
        <p:txBody>
          <a:bodyPr wrap="square" anchor="ctr">
            <a:spAutoFit/>
          </a:bodyPr>
          <a:lstStyle/>
          <a:p>
            <a:pPr algn="l">
              <a:spcAft>
                <a:spcPts val="400"/>
              </a:spcAft>
            </a:pPr>
            <a:r>
              <a:rPr sz="1250" b="1">
                <a:solidFill>
                  <a:srgbClr val="161B26"/>
                </a:solidFill>
                <a:latin typeface="Arial"/>
              </a:rPr>
              <a:t>X-Ray</a:t>
            </a:r>
          </a:p>
        </p:txBody>
      </p:sp>
      <p:sp>
        <p:nvSpPr>
          <p:cNvPr id="33" name="Rectangle 32"/>
          <p:cNvSpPr/>
          <p:nvPr/>
        </p:nvSpPr>
        <p:spPr>
          <a:xfrm>
            <a:off x="3329513" y="4754880"/>
            <a:ext cx="4253788" cy="822960"/>
          </a:xfrm>
          <a:prstGeom prst="rect">
            <a:avLst/>
          </a:prstGeom>
          <a:solidFill>
            <a:srgbClr val="FFFFFF"/>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TextBox 33"/>
          <p:cNvSpPr txBox="1"/>
          <p:nvPr/>
        </p:nvSpPr>
        <p:spPr>
          <a:xfrm>
            <a:off x="3439241" y="4754880"/>
            <a:ext cx="4070908" cy="822960"/>
          </a:xfrm>
          <a:prstGeom prst="rect">
            <a:avLst/>
          </a:prstGeom>
          <a:noFill/>
        </p:spPr>
        <p:txBody>
          <a:bodyPr wrap="square" anchor="ctr">
            <a:spAutoFit/>
          </a:bodyPr>
          <a:lstStyle/>
          <a:p>
            <a:pPr algn="ctr">
              <a:spcAft>
                <a:spcPts val="400"/>
              </a:spcAft>
            </a:pPr>
            <a:r>
              <a:rPr sz="1250" b="0">
                <a:solidFill>
                  <a:srgbClr val="5B6372"/>
                </a:solidFill>
                <a:latin typeface="Arial"/>
              </a:rPr>
              <a:t>End-to-end request traces</a:t>
            </a:r>
          </a:p>
        </p:txBody>
      </p:sp>
      <p:sp>
        <p:nvSpPr>
          <p:cNvPr id="35" name="Rectangle 34"/>
          <p:cNvSpPr/>
          <p:nvPr/>
        </p:nvSpPr>
        <p:spPr>
          <a:xfrm>
            <a:off x="7583301" y="4754880"/>
            <a:ext cx="3828409" cy="822960"/>
          </a:xfrm>
          <a:prstGeom prst="rect">
            <a:avLst/>
          </a:prstGeom>
          <a:solidFill>
            <a:srgbClr val="FFFFFF"/>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TextBox 35"/>
          <p:cNvSpPr txBox="1"/>
          <p:nvPr/>
        </p:nvSpPr>
        <p:spPr>
          <a:xfrm>
            <a:off x="7693029" y="4754880"/>
            <a:ext cx="3645529" cy="822960"/>
          </a:xfrm>
          <a:prstGeom prst="rect">
            <a:avLst/>
          </a:prstGeom>
          <a:noFill/>
        </p:spPr>
        <p:txBody>
          <a:bodyPr wrap="square" anchor="ctr">
            <a:spAutoFit/>
          </a:bodyPr>
          <a:lstStyle/>
          <a:p>
            <a:pPr algn="ctr">
              <a:spcAft>
                <a:spcPts val="400"/>
              </a:spcAft>
            </a:pPr>
            <a:r>
              <a:rPr sz="1250" b="0">
                <a:solidFill>
                  <a:srgbClr val="5B6372"/>
                </a:solidFill>
                <a:latin typeface="Arial"/>
              </a:rPr>
              <a:t>Latency spans many services</a:t>
            </a:r>
          </a:p>
        </p:txBody>
      </p:sp>
      <p:sp>
        <p:nvSpPr>
          <p:cNvPr id="37" name="TextBox 36"/>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DevOps Engineering on AWS  ·  TGS-2023040474</a:t>
            </a:r>
          </a:p>
        </p:txBody>
      </p:sp>
      <p:sp>
        <p:nvSpPr>
          <p:cNvPr id="38" name="TextBox 37"/>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39" name="TextBox 38"/>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148</a:t>
            </a:r>
          </a:p>
        </p:txBody>
      </p:sp>
    </p:spTree>
  </p:cSld>
  <p:clrMapOvr>
    <a:masterClrMapping/>
  </p:clrMapOvr>
  <p:transition xmlns:p14="http://schemas.microsoft.com/office/powerpoint/2010/main" p14:dur="380">
    <p:fade/>
  </p:transition>
</p:sld>
</file>

<file path=ppt/slides/slide15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38912"/>
            <a:ext cx="10607040" cy="365760"/>
          </a:xfrm>
          <a:prstGeom prst="rect">
            <a:avLst/>
          </a:prstGeom>
          <a:noFill/>
        </p:spPr>
        <p:txBody>
          <a:bodyPr wrap="square" anchor="t">
            <a:spAutoFit/>
          </a:bodyPr>
          <a:lstStyle/>
          <a:p>
            <a:pPr algn="l">
              <a:spcAft>
                <a:spcPts val="400"/>
              </a:spcAft>
            </a:pPr>
            <a:r>
              <a:rPr sz="1400" b="1">
                <a:solidFill>
                  <a:srgbClr val="F59E0B"/>
                </a:solidFill>
                <a:latin typeface="Arial"/>
              </a:rPr>
              <a:t>WHY p99 MATTERS</a:t>
            </a:r>
          </a:p>
        </p:txBody>
      </p:sp>
      <p:sp>
        <p:nvSpPr>
          <p:cNvPr id="5" name="TextBox 4"/>
          <p:cNvSpPr txBox="1"/>
          <p:nvPr/>
        </p:nvSpPr>
        <p:spPr>
          <a:xfrm>
            <a:off x="777240" y="896112"/>
            <a:ext cx="10927080" cy="731520"/>
          </a:xfrm>
          <a:prstGeom prst="rect">
            <a:avLst/>
          </a:prstGeom>
          <a:noFill/>
        </p:spPr>
        <p:txBody>
          <a:bodyPr wrap="square" anchor="t">
            <a:spAutoFit/>
          </a:bodyPr>
          <a:lstStyle/>
          <a:p>
            <a:pPr algn="l">
              <a:spcAft>
                <a:spcPts val="400"/>
              </a:spcAft>
            </a:pPr>
            <a:r>
              <a:rPr sz="2500" b="1">
                <a:solidFill>
                  <a:srgbClr val="161B26"/>
                </a:solidFill>
                <a:latin typeface="Arial"/>
              </a:rPr>
              <a:t>Average Hides the Tail — Latency Percentiles</a:t>
            </a:r>
          </a:p>
        </p:txBody>
      </p:sp>
      <p:sp>
        <p:nvSpPr>
          <p:cNvPr id="6" name="Rectangle 5"/>
          <p:cNvSpPr/>
          <p:nvPr/>
        </p:nvSpPr>
        <p:spPr>
          <a:xfrm>
            <a:off x="777240" y="1572768"/>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graphicFrame>
        <p:nvGraphicFramePr>
          <p:cNvPr id="7" name="Chart 6"/>
          <p:cNvGraphicFramePr>
            <a:graphicFrameLocks noGrp="1"/>
          </p:cNvGraphicFramePr>
          <p:nvPr/>
        </p:nvGraphicFramePr>
        <p:xfrm>
          <a:off x="777240" y="1828800"/>
          <a:ext cx="10634472" cy="3291840"/>
        </p:xfrm>
        <a:graphic>
          <a:graphicData uri="http://schemas.openxmlformats.org/drawingml/2006/chart">
            <c:chart xmlns:c="http://schemas.openxmlformats.org/drawingml/2006/chart" r:id="rId2"/>
          </a:graphicData>
        </a:graphic>
      </p:graphicFrame>
      <p:sp>
        <p:nvSpPr>
          <p:cNvPr id="8" name="Rectangle 7"/>
          <p:cNvSpPr/>
          <p:nvPr/>
        </p:nvSpPr>
        <p:spPr>
          <a:xfrm>
            <a:off x="777240" y="5349240"/>
            <a:ext cx="10634472" cy="86868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777240" y="5349240"/>
            <a:ext cx="91440" cy="868680"/>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005840" y="5440680"/>
            <a:ext cx="10241280" cy="320040"/>
          </a:xfrm>
          <a:prstGeom prst="rect">
            <a:avLst/>
          </a:prstGeom>
          <a:noFill/>
        </p:spPr>
        <p:txBody>
          <a:bodyPr wrap="square" anchor="t">
            <a:spAutoFit/>
          </a:bodyPr>
          <a:lstStyle/>
          <a:p>
            <a:pPr algn="l">
              <a:spcAft>
                <a:spcPts val="400"/>
              </a:spcAft>
            </a:pPr>
            <a:r>
              <a:rPr sz="1100" b="1">
                <a:solidFill>
                  <a:srgbClr val="F59E0B"/>
                </a:solidFill>
                <a:latin typeface="Arial"/>
              </a:rPr>
              <a:t>WHAT THE DATA SHOWS</a:t>
            </a:r>
          </a:p>
        </p:txBody>
      </p:sp>
      <p:sp>
        <p:nvSpPr>
          <p:cNvPr id="11" name="TextBox 10"/>
          <p:cNvSpPr txBox="1"/>
          <p:nvPr/>
        </p:nvSpPr>
        <p:spPr>
          <a:xfrm>
            <a:off x="1005840" y="5742432"/>
            <a:ext cx="10241280" cy="457200"/>
          </a:xfrm>
          <a:prstGeom prst="rect">
            <a:avLst/>
          </a:prstGeom>
          <a:noFill/>
        </p:spPr>
        <p:txBody>
          <a:bodyPr wrap="square" anchor="t">
            <a:spAutoFit/>
          </a:bodyPr>
          <a:lstStyle/>
          <a:p>
            <a:pPr algn="l">
              <a:spcAft>
                <a:spcPts val="400"/>
              </a:spcAft>
            </a:pPr>
            <a:r>
              <a:rPr sz="1350" b="0">
                <a:solidFill>
                  <a:srgbClr val="161B26"/>
                </a:solidFill>
                <a:latin typeface="Arial"/>
              </a:rPr>
              <a:t>The average looks healthy at 140ms while the p99 user waits nearly a second — always alarm on the percentile your users feel.</a:t>
            </a:r>
          </a:p>
        </p:txBody>
      </p:sp>
      <p:sp>
        <p:nvSpPr>
          <p:cNvPr id="12" name="TextBox 11"/>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DevOps Engineering on AWS  ·  TGS-2023040474</a:t>
            </a:r>
          </a:p>
        </p:txBody>
      </p:sp>
      <p:sp>
        <p:nvSpPr>
          <p:cNvPr id="13" name="TextBox 12"/>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4" name="TextBox 13"/>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149</a:t>
            </a:r>
          </a:p>
        </p:txBody>
      </p:sp>
    </p:spTree>
  </p:cSld>
  <p:clrMapOvr>
    <a:masterClrMapping/>
  </p:clrMapOvr>
  <p:transition xmlns:p14="http://schemas.microsoft.com/office/powerpoint/2010/main" p14:dur="380">
    <p:fade/>
  </p:transition>
</p:sld>
</file>

<file path=ppt/slides/slide15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38912"/>
            <a:ext cx="10607040" cy="365760"/>
          </a:xfrm>
          <a:prstGeom prst="rect">
            <a:avLst/>
          </a:prstGeom>
          <a:noFill/>
        </p:spPr>
        <p:txBody>
          <a:bodyPr wrap="square" anchor="t">
            <a:spAutoFit/>
          </a:bodyPr>
          <a:lstStyle/>
          <a:p>
            <a:pPr algn="l">
              <a:spcAft>
                <a:spcPts val="400"/>
              </a:spcAft>
            </a:pPr>
            <a:r>
              <a:rPr sz="1400" b="1">
                <a:solidFill>
                  <a:srgbClr val="F59E0B"/>
                </a:solidFill>
                <a:latin typeface="Arial"/>
              </a:rPr>
              <a:t>BLIND SPOTS THAT HURT</a:t>
            </a:r>
          </a:p>
        </p:txBody>
      </p:sp>
      <p:sp>
        <p:nvSpPr>
          <p:cNvPr id="5" name="TextBox 4"/>
          <p:cNvSpPr txBox="1"/>
          <p:nvPr/>
        </p:nvSpPr>
        <p:spPr>
          <a:xfrm>
            <a:off x="777240" y="804672"/>
            <a:ext cx="10927080" cy="731520"/>
          </a:xfrm>
          <a:prstGeom prst="rect">
            <a:avLst/>
          </a:prstGeom>
          <a:noFill/>
        </p:spPr>
        <p:txBody>
          <a:bodyPr wrap="square" anchor="t">
            <a:spAutoFit/>
          </a:bodyPr>
          <a:lstStyle/>
          <a:p>
            <a:pPr algn="l">
              <a:spcAft>
                <a:spcPts val="400"/>
              </a:spcAft>
            </a:pPr>
            <a:r>
              <a:rPr sz="2900" b="1">
                <a:solidFill>
                  <a:srgbClr val="161B26"/>
                </a:solidFill>
                <a:latin typeface="Arial"/>
              </a:rPr>
              <a:t>Monitoring Failure Modes &amp; Anti-Patterns</a:t>
            </a:r>
          </a:p>
        </p:txBody>
      </p:sp>
      <p:sp>
        <p:nvSpPr>
          <p:cNvPr id="6" name="Rectangle 5"/>
          <p:cNvSpPr/>
          <p:nvPr/>
        </p:nvSpPr>
        <p:spPr>
          <a:xfrm>
            <a:off x="777240" y="1572768"/>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783080"/>
            <a:ext cx="5180076" cy="131064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1783080"/>
            <a:ext cx="91440" cy="131064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1033272" y="2164080"/>
            <a:ext cx="548640" cy="548640"/>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033272" y="2164080"/>
            <a:ext cx="548640" cy="548640"/>
          </a:xfrm>
          <a:prstGeom prst="rect">
            <a:avLst/>
          </a:prstGeom>
          <a:noFill/>
        </p:spPr>
        <p:txBody>
          <a:bodyPr wrap="square" anchor="ctr">
            <a:spAutoFit/>
          </a:bodyPr>
          <a:lstStyle/>
          <a:p>
            <a:pPr algn="ctr">
              <a:spcAft>
                <a:spcPts val="400"/>
              </a:spcAft>
            </a:pPr>
            <a:r>
              <a:rPr sz="1800" b="1">
                <a:solidFill>
                  <a:srgbClr val="FFFFFF"/>
                </a:solidFill>
                <a:latin typeface="Arial"/>
              </a:rPr>
              <a:t>1</a:t>
            </a:r>
          </a:p>
        </p:txBody>
      </p:sp>
      <p:sp>
        <p:nvSpPr>
          <p:cNvPr id="11" name="TextBox 10"/>
          <p:cNvSpPr txBox="1"/>
          <p:nvPr/>
        </p:nvSpPr>
        <p:spPr>
          <a:xfrm>
            <a:off x="1764792" y="1892808"/>
            <a:ext cx="3973068" cy="1127760"/>
          </a:xfrm>
          <a:prstGeom prst="rect">
            <a:avLst/>
          </a:prstGeom>
          <a:noFill/>
        </p:spPr>
        <p:txBody>
          <a:bodyPr wrap="square" anchor="ctr">
            <a:spAutoFit/>
          </a:bodyPr>
          <a:lstStyle/>
          <a:p>
            <a:pPr algn="l">
              <a:spcAft>
                <a:spcPts val="300"/>
              </a:spcAft>
            </a:pPr>
            <a:r>
              <a:rPr sz="1500" b="1">
                <a:solidFill>
                  <a:srgbClr val="161B26"/>
                </a:solidFill>
                <a:latin typeface="Arial"/>
              </a:rPr>
              <a:t>Alarm on average</a:t>
            </a:r>
          </a:p>
          <a:p>
            <a:pPr algn="l">
              <a:spcAft>
                <a:spcPts val="300"/>
              </a:spcAft>
            </a:pPr>
            <a:r>
              <a:rPr sz="1100" b="0">
                <a:solidFill>
                  <a:srgbClr val="5B6372"/>
                </a:solidFill>
                <a:latin typeface="Arial"/>
              </a:rPr>
              <a:t>Tail latency hidden → alarm on p90/p99.</a:t>
            </a:r>
          </a:p>
        </p:txBody>
      </p:sp>
      <p:sp>
        <p:nvSpPr>
          <p:cNvPr id="12" name="Rectangle 11"/>
          <p:cNvSpPr/>
          <p:nvPr/>
        </p:nvSpPr>
        <p:spPr>
          <a:xfrm>
            <a:off x="6231636" y="1783080"/>
            <a:ext cx="5180076" cy="131064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6231636" y="1783080"/>
            <a:ext cx="91440" cy="131064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Oval 13"/>
          <p:cNvSpPr/>
          <p:nvPr/>
        </p:nvSpPr>
        <p:spPr>
          <a:xfrm>
            <a:off x="6487668" y="2164080"/>
            <a:ext cx="548640" cy="54864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6487668" y="2164080"/>
            <a:ext cx="548640" cy="548640"/>
          </a:xfrm>
          <a:prstGeom prst="rect">
            <a:avLst/>
          </a:prstGeom>
          <a:noFill/>
        </p:spPr>
        <p:txBody>
          <a:bodyPr wrap="square" anchor="ctr">
            <a:spAutoFit/>
          </a:bodyPr>
          <a:lstStyle/>
          <a:p>
            <a:pPr algn="ctr">
              <a:spcAft>
                <a:spcPts val="400"/>
              </a:spcAft>
            </a:pPr>
            <a:r>
              <a:rPr sz="1800" b="1">
                <a:solidFill>
                  <a:srgbClr val="FFFFFF"/>
                </a:solidFill>
                <a:latin typeface="Arial"/>
              </a:rPr>
              <a:t>2</a:t>
            </a:r>
          </a:p>
        </p:txBody>
      </p:sp>
      <p:sp>
        <p:nvSpPr>
          <p:cNvPr id="16" name="TextBox 15"/>
          <p:cNvSpPr txBox="1"/>
          <p:nvPr/>
        </p:nvSpPr>
        <p:spPr>
          <a:xfrm>
            <a:off x="7219188" y="1892808"/>
            <a:ext cx="3973068" cy="1127760"/>
          </a:xfrm>
          <a:prstGeom prst="rect">
            <a:avLst/>
          </a:prstGeom>
          <a:noFill/>
        </p:spPr>
        <p:txBody>
          <a:bodyPr wrap="square" anchor="ctr">
            <a:spAutoFit/>
          </a:bodyPr>
          <a:lstStyle/>
          <a:p>
            <a:pPr algn="l">
              <a:spcAft>
                <a:spcPts val="300"/>
              </a:spcAft>
            </a:pPr>
            <a:r>
              <a:rPr sz="1500" b="1">
                <a:solidFill>
                  <a:srgbClr val="161B26"/>
                </a:solidFill>
                <a:latin typeface="Arial"/>
              </a:rPr>
              <a:t>Alert fatigue</a:t>
            </a:r>
          </a:p>
          <a:p>
            <a:pPr algn="l">
              <a:spcAft>
                <a:spcPts val="300"/>
              </a:spcAft>
            </a:pPr>
            <a:r>
              <a:rPr sz="1100" b="0">
                <a:solidFill>
                  <a:srgbClr val="5B6372"/>
                </a:solidFill>
                <a:latin typeface="Arial"/>
              </a:rPr>
              <a:t>Noisy alarms ignored → composite alarms, SLO-based alerting.</a:t>
            </a:r>
          </a:p>
        </p:txBody>
      </p:sp>
      <p:sp>
        <p:nvSpPr>
          <p:cNvPr id="17" name="Rectangle 16"/>
          <p:cNvSpPr/>
          <p:nvPr/>
        </p:nvSpPr>
        <p:spPr>
          <a:xfrm>
            <a:off x="777240" y="3313176"/>
            <a:ext cx="5180076" cy="131064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777240" y="3313176"/>
            <a:ext cx="91440" cy="1310640"/>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Oval 18"/>
          <p:cNvSpPr/>
          <p:nvPr/>
        </p:nvSpPr>
        <p:spPr>
          <a:xfrm>
            <a:off x="1033272" y="3694176"/>
            <a:ext cx="548640" cy="548640"/>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1033272" y="3694176"/>
            <a:ext cx="548640" cy="548640"/>
          </a:xfrm>
          <a:prstGeom prst="rect">
            <a:avLst/>
          </a:prstGeom>
          <a:noFill/>
        </p:spPr>
        <p:txBody>
          <a:bodyPr wrap="square" anchor="ctr">
            <a:spAutoFit/>
          </a:bodyPr>
          <a:lstStyle/>
          <a:p>
            <a:pPr algn="ctr">
              <a:spcAft>
                <a:spcPts val="400"/>
              </a:spcAft>
            </a:pPr>
            <a:r>
              <a:rPr sz="1800" b="1">
                <a:solidFill>
                  <a:srgbClr val="FFFFFF"/>
                </a:solidFill>
                <a:latin typeface="Arial"/>
              </a:rPr>
              <a:t>3</a:t>
            </a:r>
          </a:p>
        </p:txBody>
      </p:sp>
      <p:sp>
        <p:nvSpPr>
          <p:cNvPr id="21" name="TextBox 20"/>
          <p:cNvSpPr txBox="1"/>
          <p:nvPr/>
        </p:nvSpPr>
        <p:spPr>
          <a:xfrm>
            <a:off x="1764792" y="3422904"/>
            <a:ext cx="3973068" cy="1127760"/>
          </a:xfrm>
          <a:prstGeom prst="rect">
            <a:avLst/>
          </a:prstGeom>
          <a:noFill/>
        </p:spPr>
        <p:txBody>
          <a:bodyPr wrap="square" anchor="ctr">
            <a:spAutoFit/>
          </a:bodyPr>
          <a:lstStyle/>
          <a:p>
            <a:pPr algn="l">
              <a:spcAft>
                <a:spcPts val="300"/>
              </a:spcAft>
            </a:pPr>
            <a:r>
              <a:rPr sz="1500" b="1">
                <a:solidFill>
                  <a:srgbClr val="161B26"/>
                </a:solidFill>
                <a:latin typeface="Arial"/>
              </a:rPr>
              <a:t>Logs but no metrics</a:t>
            </a:r>
          </a:p>
          <a:p>
            <a:pPr algn="l">
              <a:spcAft>
                <a:spcPts val="300"/>
              </a:spcAft>
            </a:pPr>
            <a:r>
              <a:rPr sz="1100" b="0">
                <a:solidFill>
                  <a:srgbClr val="5B6372"/>
                </a:solidFill>
                <a:latin typeface="Arial"/>
              </a:rPr>
              <a:t>Manual searching in incidents → metric filters + dashboards.</a:t>
            </a:r>
          </a:p>
        </p:txBody>
      </p:sp>
      <p:sp>
        <p:nvSpPr>
          <p:cNvPr id="22" name="Rectangle 21"/>
          <p:cNvSpPr/>
          <p:nvPr/>
        </p:nvSpPr>
        <p:spPr>
          <a:xfrm>
            <a:off x="6231636" y="3313176"/>
            <a:ext cx="5180076" cy="131064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ectangle 22"/>
          <p:cNvSpPr/>
          <p:nvPr/>
        </p:nvSpPr>
        <p:spPr>
          <a:xfrm>
            <a:off x="6231636" y="3313176"/>
            <a:ext cx="91440" cy="1310640"/>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Oval 23"/>
          <p:cNvSpPr/>
          <p:nvPr/>
        </p:nvSpPr>
        <p:spPr>
          <a:xfrm>
            <a:off x="6487668" y="3694176"/>
            <a:ext cx="548640" cy="548640"/>
          </a:xfrm>
          <a:prstGeom prst="ellipse">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6487668" y="3694176"/>
            <a:ext cx="548640" cy="548640"/>
          </a:xfrm>
          <a:prstGeom prst="rect">
            <a:avLst/>
          </a:prstGeom>
          <a:noFill/>
        </p:spPr>
        <p:txBody>
          <a:bodyPr wrap="square" anchor="ctr">
            <a:spAutoFit/>
          </a:bodyPr>
          <a:lstStyle/>
          <a:p>
            <a:pPr algn="ctr">
              <a:spcAft>
                <a:spcPts val="400"/>
              </a:spcAft>
            </a:pPr>
            <a:r>
              <a:rPr sz="1800" b="1">
                <a:solidFill>
                  <a:srgbClr val="FFFFFF"/>
                </a:solidFill>
                <a:latin typeface="Arial"/>
              </a:rPr>
              <a:t>4</a:t>
            </a:r>
          </a:p>
        </p:txBody>
      </p:sp>
      <p:sp>
        <p:nvSpPr>
          <p:cNvPr id="26" name="TextBox 25"/>
          <p:cNvSpPr txBox="1"/>
          <p:nvPr/>
        </p:nvSpPr>
        <p:spPr>
          <a:xfrm>
            <a:off x="7219188" y="3422904"/>
            <a:ext cx="3973068" cy="1127760"/>
          </a:xfrm>
          <a:prstGeom prst="rect">
            <a:avLst/>
          </a:prstGeom>
          <a:noFill/>
        </p:spPr>
        <p:txBody>
          <a:bodyPr wrap="square" anchor="ctr">
            <a:spAutoFit/>
          </a:bodyPr>
          <a:lstStyle/>
          <a:p>
            <a:pPr algn="l">
              <a:spcAft>
                <a:spcPts val="300"/>
              </a:spcAft>
            </a:pPr>
            <a:r>
              <a:rPr sz="1500" b="1">
                <a:solidFill>
                  <a:srgbClr val="161B26"/>
                </a:solidFill>
                <a:latin typeface="Arial"/>
              </a:rPr>
              <a:t>No traces in microservices</a:t>
            </a:r>
          </a:p>
          <a:p>
            <a:pPr algn="l">
              <a:spcAft>
                <a:spcPts val="300"/>
              </a:spcAft>
            </a:pPr>
            <a:r>
              <a:rPr sz="1100" b="0">
                <a:solidFill>
                  <a:srgbClr val="5B6372"/>
                </a:solidFill>
                <a:latin typeface="Arial"/>
              </a:rPr>
              <a:t>Cross-team blame → adopt X-Ray/OTel.</a:t>
            </a:r>
          </a:p>
        </p:txBody>
      </p:sp>
      <p:sp>
        <p:nvSpPr>
          <p:cNvPr id="27" name="Rectangle 26"/>
          <p:cNvSpPr/>
          <p:nvPr/>
        </p:nvSpPr>
        <p:spPr>
          <a:xfrm>
            <a:off x="777240" y="4843272"/>
            <a:ext cx="5180076" cy="131064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Rectangle 27"/>
          <p:cNvSpPr/>
          <p:nvPr/>
        </p:nvSpPr>
        <p:spPr>
          <a:xfrm>
            <a:off x="777240" y="4843272"/>
            <a:ext cx="91440" cy="1310640"/>
          </a:xfrm>
          <a:prstGeom prst="rect">
            <a:avLst/>
          </a:prstGeom>
          <a:solidFill>
            <a:srgbClr val="EC711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Oval 28"/>
          <p:cNvSpPr/>
          <p:nvPr/>
        </p:nvSpPr>
        <p:spPr>
          <a:xfrm>
            <a:off x="1033272" y="5224272"/>
            <a:ext cx="548640" cy="548640"/>
          </a:xfrm>
          <a:prstGeom prst="ellipse">
            <a:avLst/>
          </a:prstGeom>
          <a:solidFill>
            <a:srgbClr val="EC711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1033272" y="5224272"/>
            <a:ext cx="548640" cy="548640"/>
          </a:xfrm>
          <a:prstGeom prst="rect">
            <a:avLst/>
          </a:prstGeom>
          <a:noFill/>
        </p:spPr>
        <p:txBody>
          <a:bodyPr wrap="square" anchor="ctr">
            <a:spAutoFit/>
          </a:bodyPr>
          <a:lstStyle/>
          <a:p>
            <a:pPr algn="ctr">
              <a:spcAft>
                <a:spcPts val="400"/>
              </a:spcAft>
            </a:pPr>
            <a:r>
              <a:rPr sz="1800" b="1">
                <a:solidFill>
                  <a:srgbClr val="FFFFFF"/>
                </a:solidFill>
                <a:latin typeface="Arial"/>
              </a:rPr>
              <a:t>5</a:t>
            </a:r>
          </a:p>
        </p:txBody>
      </p:sp>
      <p:sp>
        <p:nvSpPr>
          <p:cNvPr id="31" name="TextBox 30"/>
          <p:cNvSpPr txBox="1"/>
          <p:nvPr/>
        </p:nvSpPr>
        <p:spPr>
          <a:xfrm>
            <a:off x="1764792" y="4953000"/>
            <a:ext cx="3973068" cy="1127760"/>
          </a:xfrm>
          <a:prstGeom prst="rect">
            <a:avLst/>
          </a:prstGeom>
          <a:noFill/>
        </p:spPr>
        <p:txBody>
          <a:bodyPr wrap="square" anchor="ctr">
            <a:spAutoFit/>
          </a:bodyPr>
          <a:lstStyle/>
          <a:p>
            <a:pPr algn="l">
              <a:spcAft>
                <a:spcPts val="300"/>
              </a:spcAft>
            </a:pPr>
            <a:r>
              <a:rPr sz="1500" b="1">
                <a:solidFill>
                  <a:srgbClr val="161B26"/>
                </a:solidFill>
                <a:latin typeface="Arial"/>
              </a:rPr>
              <a:t>Vanity dashboards</a:t>
            </a:r>
          </a:p>
          <a:p>
            <a:pPr algn="l">
              <a:spcAft>
                <a:spcPts val="300"/>
              </a:spcAft>
            </a:pPr>
            <a:r>
              <a:rPr sz="1100" b="0">
                <a:solidFill>
                  <a:srgbClr val="5B6372"/>
                </a:solidFill>
                <a:latin typeface="Arial"/>
              </a:rPr>
              <a:t>200 graphs, no signal → golden-signals layout.</a:t>
            </a:r>
          </a:p>
        </p:txBody>
      </p:sp>
      <p:sp>
        <p:nvSpPr>
          <p:cNvPr id="32" name="Rectangle 31"/>
          <p:cNvSpPr/>
          <p:nvPr/>
        </p:nvSpPr>
        <p:spPr>
          <a:xfrm>
            <a:off x="6231636" y="4843272"/>
            <a:ext cx="5180076" cy="131064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Rectangle 32"/>
          <p:cNvSpPr/>
          <p:nvPr/>
        </p:nvSpPr>
        <p:spPr>
          <a:xfrm>
            <a:off x="6231636" y="4843272"/>
            <a:ext cx="91440" cy="1310640"/>
          </a:xfrm>
          <a:prstGeom prst="rect">
            <a:avLst/>
          </a:prstGeom>
          <a:solidFill>
            <a:srgbClr val="0E9EC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Oval 33"/>
          <p:cNvSpPr/>
          <p:nvPr/>
        </p:nvSpPr>
        <p:spPr>
          <a:xfrm>
            <a:off x="6487668" y="5224272"/>
            <a:ext cx="548640" cy="548640"/>
          </a:xfrm>
          <a:prstGeom prst="ellipse">
            <a:avLst/>
          </a:prstGeom>
          <a:solidFill>
            <a:srgbClr val="0E9EC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TextBox 34"/>
          <p:cNvSpPr txBox="1"/>
          <p:nvPr/>
        </p:nvSpPr>
        <p:spPr>
          <a:xfrm>
            <a:off x="6487668" y="5224272"/>
            <a:ext cx="548640" cy="548640"/>
          </a:xfrm>
          <a:prstGeom prst="rect">
            <a:avLst/>
          </a:prstGeom>
          <a:noFill/>
        </p:spPr>
        <p:txBody>
          <a:bodyPr wrap="square" anchor="ctr">
            <a:spAutoFit/>
          </a:bodyPr>
          <a:lstStyle/>
          <a:p>
            <a:pPr algn="ctr">
              <a:spcAft>
                <a:spcPts val="400"/>
              </a:spcAft>
            </a:pPr>
            <a:r>
              <a:rPr sz="1800" b="1">
                <a:solidFill>
                  <a:srgbClr val="FFFFFF"/>
                </a:solidFill>
                <a:latin typeface="Arial"/>
              </a:rPr>
              <a:t>6</a:t>
            </a:r>
          </a:p>
        </p:txBody>
      </p:sp>
      <p:sp>
        <p:nvSpPr>
          <p:cNvPr id="36" name="TextBox 35"/>
          <p:cNvSpPr txBox="1"/>
          <p:nvPr/>
        </p:nvSpPr>
        <p:spPr>
          <a:xfrm>
            <a:off x="7219188" y="4953000"/>
            <a:ext cx="3973068" cy="1127760"/>
          </a:xfrm>
          <a:prstGeom prst="rect">
            <a:avLst/>
          </a:prstGeom>
          <a:noFill/>
        </p:spPr>
        <p:txBody>
          <a:bodyPr wrap="square" anchor="ctr">
            <a:spAutoFit/>
          </a:bodyPr>
          <a:lstStyle/>
          <a:p>
            <a:pPr algn="l">
              <a:spcAft>
                <a:spcPts val="300"/>
              </a:spcAft>
            </a:pPr>
            <a:r>
              <a:rPr sz="1500" b="1">
                <a:solidFill>
                  <a:srgbClr val="161B26"/>
                </a:solidFill>
                <a:latin typeface="Arial"/>
              </a:rPr>
              <a:t>Unmonitored dependencies</a:t>
            </a:r>
          </a:p>
          <a:p>
            <a:pPr algn="l">
              <a:spcAft>
                <a:spcPts val="300"/>
              </a:spcAft>
            </a:pPr>
            <a:r>
              <a:rPr sz="1100" b="0">
                <a:solidFill>
                  <a:srgbClr val="5B6372"/>
                </a:solidFill>
                <a:latin typeface="Arial"/>
              </a:rPr>
              <a:t>Third-party outage invisible → synthetic canaries.</a:t>
            </a:r>
          </a:p>
        </p:txBody>
      </p:sp>
      <p:sp>
        <p:nvSpPr>
          <p:cNvPr id="37" name="TextBox 36"/>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DevOps Engineering on AWS  ·  TGS-2023040474</a:t>
            </a:r>
          </a:p>
        </p:txBody>
      </p:sp>
      <p:sp>
        <p:nvSpPr>
          <p:cNvPr id="38" name="TextBox 37"/>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39" name="TextBox 38"/>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150</a:t>
            </a:r>
          </a:p>
        </p:txBody>
      </p:sp>
    </p:spTree>
  </p:cSld>
  <p:clrMapOvr>
    <a:masterClrMapping/>
  </p:clrMapOvr>
  <p:transition xmlns:p14="http://schemas.microsoft.com/office/powerpoint/2010/main" p14:dur="380">
    <p:fade/>
  </p:transition>
</p:sld>
</file>

<file path=ppt/slides/slide15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38912"/>
            <a:ext cx="10607040" cy="365760"/>
          </a:xfrm>
          <a:prstGeom prst="rect">
            <a:avLst/>
          </a:prstGeom>
          <a:noFill/>
        </p:spPr>
        <p:txBody>
          <a:bodyPr wrap="square" anchor="t">
            <a:spAutoFit/>
          </a:bodyPr>
          <a:lstStyle/>
          <a:p>
            <a:pPr algn="l">
              <a:spcAft>
                <a:spcPts val="400"/>
              </a:spcAft>
            </a:pPr>
            <a:r>
              <a:rPr sz="1400" b="1">
                <a:solidFill>
                  <a:srgbClr val="F59E0B"/>
                </a:solidFill>
                <a:latin typeface="Arial"/>
              </a:rPr>
              <a:t>PROVEN PRACTICES</a:t>
            </a:r>
          </a:p>
        </p:txBody>
      </p:sp>
      <p:sp>
        <p:nvSpPr>
          <p:cNvPr id="5" name="TextBox 4"/>
          <p:cNvSpPr txBox="1"/>
          <p:nvPr/>
        </p:nvSpPr>
        <p:spPr>
          <a:xfrm>
            <a:off x="777240" y="804672"/>
            <a:ext cx="10927080" cy="731520"/>
          </a:xfrm>
          <a:prstGeom prst="rect">
            <a:avLst/>
          </a:prstGeom>
          <a:noFill/>
        </p:spPr>
        <p:txBody>
          <a:bodyPr wrap="square" anchor="t">
            <a:spAutoFit/>
          </a:bodyPr>
          <a:lstStyle/>
          <a:p>
            <a:pPr algn="l">
              <a:spcAft>
                <a:spcPts val="400"/>
              </a:spcAft>
            </a:pPr>
            <a:r>
              <a:rPr sz="2900" b="1">
                <a:solidFill>
                  <a:srgbClr val="161B26"/>
                </a:solidFill>
                <a:latin typeface="Arial"/>
              </a:rPr>
              <a:t>Observability Patterns Worth Adopting</a:t>
            </a:r>
          </a:p>
        </p:txBody>
      </p:sp>
      <p:sp>
        <p:nvSpPr>
          <p:cNvPr id="6" name="Rectangle 5"/>
          <p:cNvSpPr/>
          <p:nvPr/>
        </p:nvSpPr>
        <p:spPr>
          <a:xfrm>
            <a:off x="777240" y="1572768"/>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783080"/>
            <a:ext cx="5180076" cy="131064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1783080"/>
            <a:ext cx="91440" cy="131064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1033272" y="2164080"/>
            <a:ext cx="548640" cy="548640"/>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033272" y="2164080"/>
            <a:ext cx="548640" cy="548640"/>
          </a:xfrm>
          <a:prstGeom prst="rect">
            <a:avLst/>
          </a:prstGeom>
          <a:noFill/>
        </p:spPr>
        <p:txBody>
          <a:bodyPr wrap="square" anchor="ctr">
            <a:spAutoFit/>
          </a:bodyPr>
          <a:lstStyle/>
          <a:p>
            <a:pPr algn="ctr">
              <a:spcAft>
                <a:spcPts val="400"/>
              </a:spcAft>
            </a:pPr>
            <a:r>
              <a:rPr sz="1800" b="1">
                <a:solidFill>
                  <a:srgbClr val="FFFFFF"/>
                </a:solidFill>
                <a:latin typeface="Arial"/>
              </a:rPr>
              <a:t>1</a:t>
            </a:r>
          </a:p>
        </p:txBody>
      </p:sp>
      <p:sp>
        <p:nvSpPr>
          <p:cNvPr id="11" name="TextBox 10"/>
          <p:cNvSpPr txBox="1"/>
          <p:nvPr/>
        </p:nvSpPr>
        <p:spPr>
          <a:xfrm>
            <a:off x="1764792" y="1892808"/>
            <a:ext cx="3973068" cy="1127760"/>
          </a:xfrm>
          <a:prstGeom prst="rect">
            <a:avLst/>
          </a:prstGeom>
          <a:noFill/>
        </p:spPr>
        <p:txBody>
          <a:bodyPr wrap="square" anchor="ctr">
            <a:spAutoFit/>
          </a:bodyPr>
          <a:lstStyle/>
          <a:p>
            <a:pPr algn="l">
              <a:spcAft>
                <a:spcPts val="300"/>
              </a:spcAft>
            </a:pPr>
            <a:r>
              <a:rPr sz="1500" b="1">
                <a:solidFill>
                  <a:srgbClr val="161B26"/>
                </a:solidFill>
                <a:latin typeface="Arial"/>
              </a:rPr>
              <a:t>Golden-signals dashboards</a:t>
            </a:r>
          </a:p>
          <a:p>
            <a:pPr algn="l">
              <a:spcAft>
                <a:spcPts val="300"/>
              </a:spcAft>
            </a:pPr>
            <a:r>
              <a:rPr sz="1100" b="0">
                <a:solidFill>
                  <a:srgbClr val="5B6372"/>
                </a:solidFill>
                <a:latin typeface="Arial"/>
              </a:rPr>
              <a:t>Latency, traffic, errors, saturation per service.</a:t>
            </a:r>
          </a:p>
        </p:txBody>
      </p:sp>
      <p:sp>
        <p:nvSpPr>
          <p:cNvPr id="12" name="Rectangle 11"/>
          <p:cNvSpPr/>
          <p:nvPr/>
        </p:nvSpPr>
        <p:spPr>
          <a:xfrm>
            <a:off x="6231636" y="1783080"/>
            <a:ext cx="5180076" cy="131064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6231636" y="1783080"/>
            <a:ext cx="91440" cy="131064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Oval 13"/>
          <p:cNvSpPr/>
          <p:nvPr/>
        </p:nvSpPr>
        <p:spPr>
          <a:xfrm>
            <a:off x="6487668" y="2164080"/>
            <a:ext cx="548640" cy="54864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6487668" y="2164080"/>
            <a:ext cx="548640" cy="548640"/>
          </a:xfrm>
          <a:prstGeom prst="rect">
            <a:avLst/>
          </a:prstGeom>
          <a:noFill/>
        </p:spPr>
        <p:txBody>
          <a:bodyPr wrap="square" anchor="ctr">
            <a:spAutoFit/>
          </a:bodyPr>
          <a:lstStyle/>
          <a:p>
            <a:pPr algn="ctr">
              <a:spcAft>
                <a:spcPts val="400"/>
              </a:spcAft>
            </a:pPr>
            <a:r>
              <a:rPr sz="1800" b="1">
                <a:solidFill>
                  <a:srgbClr val="FFFFFF"/>
                </a:solidFill>
                <a:latin typeface="Arial"/>
              </a:rPr>
              <a:t>2</a:t>
            </a:r>
          </a:p>
        </p:txBody>
      </p:sp>
      <p:sp>
        <p:nvSpPr>
          <p:cNvPr id="16" name="TextBox 15"/>
          <p:cNvSpPr txBox="1"/>
          <p:nvPr/>
        </p:nvSpPr>
        <p:spPr>
          <a:xfrm>
            <a:off x="7219188" y="1892808"/>
            <a:ext cx="3973068" cy="1127760"/>
          </a:xfrm>
          <a:prstGeom prst="rect">
            <a:avLst/>
          </a:prstGeom>
          <a:noFill/>
        </p:spPr>
        <p:txBody>
          <a:bodyPr wrap="square" anchor="ctr">
            <a:spAutoFit/>
          </a:bodyPr>
          <a:lstStyle/>
          <a:p>
            <a:pPr algn="l">
              <a:spcAft>
                <a:spcPts val="300"/>
              </a:spcAft>
            </a:pPr>
            <a:r>
              <a:rPr sz="1500" b="1">
                <a:solidFill>
                  <a:srgbClr val="161B26"/>
                </a:solidFill>
                <a:latin typeface="Arial"/>
              </a:rPr>
              <a:t>SLOs + error budgets</a:t>
            </a:r>
          </a:p>
          <a:p>
            <a:pPr algn="l">
              <a:spcAft>
                <a:spcPts val="300"/>
              </a:spcAft>
            </a:pPr>
            <a:r>
              <a:rPr sz="1100" b="0">
                <a:solidFill>
                  <a:srgbClr val="5B6372"/>
                </a:solidFill>
                <a:latin typeface="Arial"/>
              </a:rPr>
              <a:t>Objective health and a delivery/reliability balance.</a:t>
            </a:r>
          </a:p>
        </p:txBody>
      </p:sp>
      <p:sp>
        <p:nvSpPr>
          <p:cNvPr id="17" name="Rectangle 16"/>
          <p:cNvSpPr/>
          <p:nvPr/>
        </p:nvSpPr>
        <p:spPr>
          <a:xfrm>
            <a:off x="777240" y="3313176"/>
            <a:ext cx="5180076" cy="131064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777240" y="3313176"/>
            <a:ext cx="91440" cy="1310640"/>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Oval 18"/>
          <p:cNvSpPr/>
          <p:nvPr/>
        </p:nvSpPr>
        <p:spPr>
          <a:xfrm>
            <a:off x="1033272" y="3694176"/>
            <a:ext cx="548640" cy="548640"/>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1033272" y="3694176"/>
            <a:ext cx="548640" cy="548640"/>
          </a:xfrm>
          <a:prstGeom prst="rect">
            <a:avLst/>
          </a:prstGeom>
          <a:noFill/>
        </p:spPr>
        <p:txBody>
          <a:bodyPr wrap="square" anchor="ctr">
            <a:spAutoFit/>
          </a:bodyPr>
          <a:lstStyle/>
          <a:p>
            <a:pPr algn="ctr">
              <a:spcAft>
                <a:spcPts val="400"/>
              </a:spcAft>
            </a:pPr>
            <a:r>
              <a:rPr sz="1800" b="1">
                <a:solidFill>
                  <a:srgbClr val="FFFFFF"/>
                </a:solidFill>
                <a:latin typeface="Arial"/>
              </a:rPr>
              <a:t>3</a:t>
            </a:r>
          </a:p>
        </p:txBody>
      </p:sp>
      <p:sp>
        <p:nvSpPr>
          <p:cNvPr id="21" name="TextBox 20"/>
          <p:cNvSpPr txBox="1"/>
          <p:nvPr/>
        </p:nvSpPr>
        <p:spPr>
          <a:xfrm>
            <a:off x="1764792" y="3422904"/>
            <a:ext cx="3973068" cy="1127760"/>
          </a:xfrm>
          <a:prstGeom prst="rect">
            <a:avLst/>
          </a:prstGeom>
          <a:noFill/>
        </p:spPr>
        <p:txBody>
          <a:bodyPr wrap="square" anchor="ctr">
            <a:spAutoFit/>
          </a:bodyPr>
          <a:lstStyle/>
          <a:p>
            <a:pPr algn="l">
              <a:spcAft>
                <a:spcPts val="300"/>
              </a:spcAft>
            </a:pPr>
            <a:r>
              <a:rPr sz="1500" b="1">
                <a:solidFill>
                  <a:srgbClr val="161B26"/>
                </a:solidFill>
                <a:latin typeface="Arial"/>
              </a:rPr>
              <a:t>Structured logging</a:t>
            </a:r>
          </a:p>
          <a:p>
            <a:pPr algn="l">
              <a:spcAft>
                <a:spcPts val="300"/>
              </a:spcAft>
            </a:pPr>
            <a:r>
              <a:rPr sz="1100" b="0">
                <a:solidFill>
                  <a:srgbClr val="5B6372"/>
                </a:solidFill>
                <a:latin typeface="Arial"/>
              </a:rPr>
              <a:t>JSON logs with correlation IDs for Logs Insights.</a:t>
            </a:r>
          </a:p>
        </p:txBody>
      </p:sp>
      <p:sp>
        <p:nvSpPr>
          <p:cNvPr id="22" name="Rectangle 21"/>
          <p:cNvSpPr/>
          <p:nvPr/>
        </p:nvSpPr>
        <p:spPr>
          <a:xfrm>
            <a:off x="6231636" y="3313176"/>
            <a:ext cx="5180076" cy="131064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ectangle 22"/>
          <p:cNvSpPr/>
          <p:nvPr/>
        </p:nvSpPr>
        <p:spPr>
          <a:xfrm>
            <a:off x="6231636" y="3313176"/>
            <a:ext cx="91440" cy="1310640"/>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Oval 23"/>
          <p:cNvSpPr/>
          <p:nvPr/>
        </p:nvSpPr>
        <p:spPr>
          <a:xfrm>
            <a:off x="6487668" y="3694176"/>
            <a:ext cx="548640" cy="548640"/>
          </a:xfrm>
          <a:prstGeom prst="ellipse">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6487668" y="3694176"/>
            <a:ext cx="548640" cy="548640"/>
          </a:xfrm>
          <a:prstGeom prst="rect">
            <a:avLst/>
          </a:prstGeom>
          <a:noFill/>
        </p:spPr>
        <p:txBody>
          <a:bodyPr wrap="square" anchor="ctr">
            <a:spAutoFit/>
          </a:bodyPr>
          <a:lstStyle/>
          <a:p>
            <a:pPr algn="ctr">
              <a:spcAft>
                <a:spcPts val="400"/>
              </a:spcAft>
            </a:pPr>
            <a:r>
              <a:rPr sz="1800" b="1">
                <a:solidFill>
                  <a:srgbClr val="FFFFFF"/>
                </a:solidFill>
                <a:latin typeface="Arial"/>
              </a:rPr>
              <a:t>4</a:t>
            </a:r>
          </a:p>
        </p:txBody>
      </p:sp>
      <p:sp>
        <p:nvSpPr>
          <p:cNvPr id="26" name="TextBox 25"/>
          <p:cNvSpPr txBox="1"/>
          <p:nvPr/>
        </p:nvSpPr>
        <p:spPr>
          <a:xfrm>
            <a:off x="7219188" y="3422904"/>
            <a:ext cx="3973068" cy="1127760"/>
          </a:xfrm>
          <a:prstGeom prst="rect">
            <a:avLst/>
          </a:prstGeom>
          <a:noFill/>
        </p:spPr>
        <p:txBody>
          <a:bodyPr wrap="square" anchor="ctr">
            <a:spAutoFit/>
          </a:bodyPr>
          <a:lstStyle/>
          <a:p>
            <a:pPr algn="l">
              <a:spcAft>
                <a:spcPts val="300"/>
              </a:spcAft>
            </a:pPr>
            <a:r>
              <a:rPr sz="1500" b="1">
                <a:solidFill>
                  <a:srgbClr val="161B26"/>
                </a:solidFill>
                <a:latin typeface="Arial"/>
              </a:rPr>
              <a:t>Synthetic canaries</a:t>
            </a:r>
          </a:p>
          <a:p>
            <a:pPr algn="l">
              <a:spcAft>
                <a:spcPts val="300"/>
              </a:spcAft>
            </a:pPr>
            <a:r>
              <a:rPr sz="1100" b="0">
                <a:solidFill>
                  <a:srgbClr val="5B6372"/>
                </a:solidFill>
                <a:latin typeface="Arial"/>
              </a:rPr>
              <a:t>Probe key journeys before real users hit failures.</a:t>
            </a:r>
          </a:p>
        </p:txBody>
      </p:sp>
      <p:sp>
        <p:nvSpPr>
          <p:cNvPr id="27" name="Rectangle 26"/>
          <p:cNvSpPr/>
          <p:nvPr/>
        </p:nvSpPr>
        <p:spPr>
          <a:xfrm>
            <a:off x="777240" y="4843272"/>
            <a:ext cx="5180076" cy="131064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Rectangle 27"/>
          <p:cNvSpPr/>
          <p:nvPr/>
        </p:nvSpPr>
        <p:spPr>
          <a:xfrm>
            <a:off x="777240" y="4843272"/>
            <a:ext cx="91440" cy="1310640"/>
          </a:xfrm>
          <a:prstGeom prst="rect">
            <a:avLst/>
          </a:prstGeom>
          <a:solidFill>
            <a:srgbClr val="EC711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Oval 28"/>
          <p:cNvSpPr/>
          <p:nvPr/>
        </p:nvSpPr>
        <p:spPr>
          <a:xfrm>
            <a:off x="1033272" y="5224272"/>
            <a:ext cx="548640" cy="548640"/>
          </a:xfrm>
          <a:prstGeom prst="ellipse">
            <a:avLst/>
          </a:prstGeom>
          <a:solidFill>
            <a:srgbClr val="EC711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1033272" y="5224272"/>
            <a:ext cx="548640" cy="548640"/>
          </a:xfrm>
          <a:prstGeom prst="rect">
            <a:avLst/>
          </a:prstGeom>
          <a:noFill/>
        </p:spPr>
        <p:txBody>
          <a:bodyPr wrap="square" anchor="ctr">
            <a:spAutoFit/>
          </a:bodyPr>
          <a:lstStyle/>
          <a:p>
            <a:pPr algn="ctr">
              <a:spcAft>
                <a:spcPts val="400"/>
              </a:spcAft>
            </a:pPr>
            <a:r>
              <a:rPr sz="1800" b="1">
                <a:solidFill>
                  <a:srgbClr val="FFFFFF"/>
                </a:solidFill>
                <a:latin typeface="Arial"/>
              </a:rPr>
              <a:t>5</a:t>
            </a:r>
          </a:p>
        </p:txBody>
      </p:sp>
      <p:sp>
        <p:nvSpPr>
          <p:cNvPr id="31" name="TextBox 30"/>
          <p:cNvSpPr txBox="1"/>
          <p:nvPr/>
        </p:nvSpPr>
        <p:spPr>
          <a:xfrm>
            <a:off x="1764792" y="4953000"/>
            <a:ext cx="3973068" cy="1127760"/>
          </a:xfrm>
          <a:prstGeom prst="rect">
            <a:avLst/>
          </a:prstGeom>
          <a:noFill/>
        </p:spPr>
        <p:txBody>
          <a:bodyPr wrap="square" anchor="ctr">
            <a:spAutoFit/>
          </a:bodyPr>
          <a:lstStyle/>
          <a:p>
            <a:pPr algn="l">
              <a:spcAft>
                <a:spcPts val="300"/>
              </a:spcAft>
            </a:pPr>
            <a:r>
              <a:rPr sz="1500" b="1">
                <a:solidFill>
                  <a:srgbClr val="161B26"/>
                </a:solidFill>
                <a:latin typeface="Arial"/>
              </a:rPr>
              <a:t>Metric filters → alarms</a:t>
            </a:r>
          </a:p>
          <a:p>
            <a:pPr algn="l">
              <a:spcAft>
                <a:spcPts val="300"/>
              </a:spcAft>
            </a:pPr>
            <a:r>
              <a:rPr sz="1100" b="0">
                <a:solidFill>
                  <a:srgbClr val="5B6372"/>
                </a:solidFill>
                <a:latin typeface="Arial"/>
              </a:rPr>
              <a:t>Turn log events into automated response.</a:t>
            </a:r>
          </a:p>
        </p:txBody>
      </p:sp>
      <p:sp>
        <p:nvSpPr>
          <p:cNvPr id="32" name="Rectangle 31"/>
          <p:cNvSpPr/>
          <p:nvPr/>
        </p:nvSpPr>
        <p:spPr>
          <a:xfrm>
            <a:off x="6231636" y="4843272"/>
            <a:ext cx="5180076" cy="131064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Rectangle 32"/>
          <p:cNvSpPr/>
          <p:nvPr/>
        </p:nvSpPr>
        <p:spPr>
          <a:xfrm>
            <a:off x="6231636" y="4843272"/>
            <a:ext cx="91440" cy="1310640"/>
          </a:xfrm>
          <a:prstGeom prst="rect">
            <a:avLst/>
          </a:prstGeom>
          <a:solidFill>
            <a:srgbClr val="0E9EC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Oval 33"/>
          <p:cNvSpPr/>
          <p:nvPr/>
        </p:nvSpPr>
        <p:spPr>
          <a:xfrm>
            <a:off x="6487668" y="5224272"/>
            <a:ext cx="548640" cy="548640"/>
          </a:xfrm>
          <a:prstGeom prst="ellipse">
            <a:avLst/>
          </a:prstGeom>
          <a:solidFill>
            <a:srgbClr val="0E9EC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TextBox 34"/>
          <p:cNvSpPr txBox="1"/>
          <p:nvPr/>
        </p:nvSpPr>
        <p:spPr>
          <a:xfrm>
            <a:off x="6487668" y="5224272"/>
            <a:ext cx="548640" cy="548640"/>
          </a:xfrm>
          <a:prstGeom prst="rect">
            <a:avLst/>
          </a:prstGeom>
          <a:noFill/>
        </p:spPr>
        <p:txBody>
          <a:bodyPr wrap="square" anchor="ctr">
            <a:spAutoFit/>
          </a:bodyPr>
          <a:lstStyle/>
          <a:p>
            <a:pPr algn="ctr">
              <a:spcAft>
                <a:spcPts val="400"/>
              </a:spcAft>
            </a:pPr>
            <a:r>
              <a:rPr sz="1800" b="1">
                <a:solidFill>
                  <a:srgbClr val="FFFFFF"/>
                </a:solidFill>
                <a:latin typeface="Arial"/>
              </a:rPr>
              <a:t>6</a:t>
            </a:r>
          </a:p>
        </p:txBody>
      </p:sp>
      <p:sp>
        <p:nvSpPr>
          <p:cNvPr id="36" name="TextBox 35"/>
          <p:cNvSpPr txBox="1"/>
          <p:nvPr/>
        </p:nvSpPr>
        <p:spPr>
          <a:xfrm>
            <a:off x="7219188" y="4953000"/>
            <a:ext cx="3973068" cy="1127760"/>
          </a:xfrm>
          <a:prstGeom prst="rect">
            <a:avLst/>
          </a:prstGeom>
          <a:noFill/>
        </p:spPr>
        <p:txBody>
          <a:bodyPr wrap="square" anchor="ctr">
            <a:spAutoFit/>
          </a:bodyPr>
          <a:lstStyle/>
          <a:p>
            <a:pPr algn="l">
              <a:spcAft>
                <a:spcPts val="300"/>
              </a:spcAft>
            </a:pPr>
            <a:r>
              <a:rPr sz="1500" b="1">
                <a:solidFill>
                  <a:srgbClr val="161B26"/>
                </a:solidFill>
                <a:latin typeface="Arial"/>
              </a:rPr>
              <a:t>Centralised observability</a:t>
            </a:r>
          </a:p>
          <a:p>
            <a:pPr algn="l">
              <a:spcAft>
                <a:spcPts val="300"/>
              </a:spcAft>
            </a:pPr>
            <a:r>
              <a:rPr sz="1100" b="0">
                <a:solidFill>
                  <a:srgbClr val="5B6372"/>
                </a:solidFill>
                <a:latin typeface="Arial"/>
              </a:rPr>
              <a:t>Cross-account monitoring account.</a:t>
            </a:r>
          </a:p>
        </p:txBody>
      </p:sp>
      <p:sp>
        <p:nvSpPr>
          <p:cNvPr id="37" name="TextBox 36"/>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DevOps Engineering on AWS  ·  TGS-2023040474</a:t>
            </a:r>
          </a:p>
        </p:txBody>
      </p:sp>
      <p:sp>
        <p:nvSpPr>
          <p:cNvPr id="38" name="TextBox 37"/>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39" name="TextBox 38"/>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151</a:t>
            </a:r>
          </a:p>
        </p:txBody>
      </p:sp>
    </p:spTree>
  </p:cSld>
  <p:clrMapOvr>
    <a:masterClrMapping/>
  </p:clrMapOvr>
  <p:transition xmlns:p14="http://schemas.microsoft.com/office/powerpoint/2010/main" p14:dur="380">
    <p:fade/>
  </p:transition>
</p:sld>
</file>

<file path=ppt/slides/slide15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38912"/>
            <a:ext cx="10607040" cy="365760"/>
          </a:xfrm>
          <a:prstGeom prst="rect">
            <a:avLst/>
          </a:prstGeom>
          <a:noFill/>
        </p:spPr>
        <p:txBody>
          <a:bodyPr wrap="square" anchor="t">
            <a:spAutoFit/>
          </a:bodyPr>
          <a:lstStyle/>
          <a:p>
            <a:pPr algn="l">
              <a:spcAft>
                <a:spcPts val="400"/>
              </a:spcAft>
            </a:pPr>
            <a:r>
              <a:rPr sz="1400" b="1">
                <a:solidFill>
                  <a:srgbClr val="F59E0B"/>
                </a:solidFill>
                <a:latin typeface="Arial"/>
              </a:rPr>
              <a:t>SIGNAL vs NOISE</a:t>
            </a:r>
          </a:p>
        </p:txBody>
      </p:sp>
      <p:sp>
        <p:nvSpPr>
          <p:cNvPr id="5" name="TextBox 4"/>
          <p:cNvSpPr txBox="1"/>
          <p:nvPr/>
        </p:nvSpPr>
        <p:spPr>
          <a:xfrm>
            <a:off x="777240" y="896112"/>
            <a:ext cx="10927080" cy="731520"/>
          </a:xfrm>
          <a:prstGeom prst="rect">
            <a:avLst/>
          </a:prstGeom>
          <a:noFill/>
        </p:spPr>
        <p:txBody>
          <a:bodyPr wrap="square" anchor="t">
            <a:spAutoFit/>
          </a:bodyPr>
          <a:lstStyle/>
          <a:p>
            <a:pPr algn="l">
              <a:spcAft>
                <a:spcPts val="400"/>
              </a:spcAft>
            </a:pPr>
            <a:r>
              <a:rPr sz="2500" b="1">
                <a:solidFill>
                  <a:srgbClr val="161B26"/>
                </a:solidFill>
                <a:latin typeface="Arial"/>
              </a:rPr>
              <a:t>Architecture Decision — What Should Page a Human?</a:t>
            </a:r>
          </a:p>
        </p:txBody>
      </p:sp>
      <p:sp>
        <p:nvSpPr>
          <p:cNvPr id="6" name="Rectangle 5"/>
          <p:cNvSpPr/>
          <p:nvPr/>
        </p:nvSpPr>
        <p:spPr>
          <a:xfrm>
            <a:off x="777240" y="1572768"/>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783080"/>
            <a:ext cx="3337560" cy="429768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1783080"/>
            <a:ext cx="3337560" cy="109728"/>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1033272" y="2057400"/>
            <a:ext cx="457200" cy="457200"/>
          </a:xfrm>
          <a:prstGeom prst="ellipse">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033272" y="2057400"/>
            <a:ext cx="457200" cy="457200"/>
          </a:xfrm>
          <a:prstGeom prst="rect">
            <a:avLst/>
          </a:prstGeom>
          <a:noFill/>
        </p:spPr>
        <p:txBody>
          <a:bodyPr wrap="square" anchor="ctr">
            <a:spAutoFit/>
          </a:bodyPr>
          <a:lstStyle/>
          <a:p>
            <a:pPr algn="ctr">
              <a:spcAft>
                <a:spcPts val="400"/>
              </a:spcAft>
            </a:pPr>
            <a:r>
              <a:rPr sz="2000" b="1">
                <a:solidFill>
                  <a:srgbClr val="FFFFFF"/>
                </a:solidFill>
                <a:latin typeface="Arial"/>
              </a:rPr>
              <a:t>A</a:t>
            </a:r>
          </a:p>
        </p:txBody>
      </p:sp>
      <p:sp>
        <p:nvSpPr>
          <p:cNvPr id="11" name="TextBox 10"/>
          <p:cNvSpPr txBox="1"/>
          <p:nvPr/>
        </p:nvSpPr>
        <p:spPr>
          <a:xfrm>
            <a:off x="1645920" y="2084831"/>
            <a:ext cx="2286000" cy="640080"/>
          </a:xfrm>
          <a:prstGeom prst="rect">
            <a:avLst/>
          </a:prstGeom>
          <a:noFill/>
        </p:spPr>
        <p:txBody>
          <a:bodyPr wrap="square" anchor="ctr">
            <a:spAutoFit/>
          </a:bodyPr>
          <a:lstStyle/>
          <a:p>
            <a:pPr algn="l">
              <a:spcAft>
                <a:spcPts val="400"/>
              </a:spcAft>
            </a:pPr>
            <a:r>
              <a:rPr sz="1450" b="1">
                <a:solidFill>
                  <a:srgbClr val="F59E0B"/>
                </a:solidFill>
                <a:latin typeface="Arial"/>
              </a:rPr>
              <a:t>Page immediately</a:t>
            </a:r>
          </a:p>
        </p:txBody>
      </p:sp>
      <p:sp>
        <p:nvSpPr>
          <p:cNvPr id="12" name="TextBox 11"/>
          <p:cNvSpPr txBox="1"/>
          <p:nvPr/>
        </p:nvSpPr>
        <p:spPr>
          <a:xfrm>
            <a:off x="1033272" y="2788920"/>
            <a:ext cx="2880360" cy="3108960"/>
          </a:xfrm>
          <a:prstGeom prst="rect">
            <a:avLst/>
          </a:prstGeom>
          <a:noFill/>
        </p:spPr>
        <p:txBody>
          <a:bodyPr wrap="square" anchor="t">
            <a:spAutoFit/>
          </a:bodyPr>
          <a:lstStyle/>
          <a:p>
            <a:pPr algn="l">
              <a:spcAft>
                <a:spcPts val="400"/>
              </a:spcAft>
            </a:pPr>
            <a:r>
              <a:rPr sz="1250" b="0">
                <a:solidFill>
                  <a:srgbClr val="161B26"/>
                </a:solidFill>
                <a:latin typeface="Arial"/>
              </a:rPr>
              <a:t>SLO-burning, user-facing symptoms (error rate, latency breach). Actionable now — keep these few and trustworthy.</a:t>
            </a:r>
          </a:p>
        </p:txBody>
      </p:sp>
      <p:sp>
        <p:nvSpPr>
          <p:cNvPr id="13" name="Rectangle 12"/>
          <p:cNvSpPr/>
          <p:nvPr/>
        </p:nvSpPr>
        <p:spPr>
          <a:xfrm>
            <a:off x="4572000" y="1783080"/>
            <a:ext cx="3337560" cy="429768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ectangle 13"/>
          <p:cNvSpPr/>
          <p:nvPr/>
        </p:nvSpPr>
        <p:spPr>
          <a:xfrm>
            <a:off x="4572000" y="1783080"/>
            <a:ext cx="3337560" cy="109728"/>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Oval 14"/>
          <p:cNvSpPr/>
          <p:nvPr/>
        </p:nvSpPr>
        <p:spPr>
          <a:xfrm>
            <a:off x="4828032" y="2057400"/>
            <a:ext cx="457200" cy="457200"/>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4828032" y="2057400"/>
            <a:ext cx="457200" cy="457200"/>
          </a:xfrm>
          <a:prstGeom prst="rect">
            <a:avLst/>
          </a:prstGeom>
          <a:noFill/>
        </p:spPr>
        <p:txBody>
          <a:bodyPr wrap="square" anchor="ctr">
            <a:spAutoFit/>
          </a:bodyPr>
          <a:lstStyle/>
          <a:p>
            <a:pPr algn="ctr">
              <a:spcAft>
                <a:spcPts val="400"/>
              </a:spcAft>
            </a:pPr>
            <a:r>
              <a:rPr sz="2000" b="1">
                <a:solidFill>
                  <a:srgbClr val="FFFFFF"/>
                </a:solidFill>
                <a:latin typeface="Arial"/>
              </a:rPr>
              <a:t>B</a:t>
            </a:r>
          </a:p>
        </p:txBody>
      </p:sp>
      <p:sp>
        <p:nvSpPr>
          <p:cNvPr id="17" name="TextBox 16"/>
          <p:cNvSpPr txBox="1"/>
          <p:nvPr/>
        </p:nvSpPr>
        <p:spPr>
          <a:xfrm>
            <a:off x="5440680" y="2084831"/>
            <a:ext cx="2286000" cy="640080"/>
          </a:xfrm>
          <a:prstGeom prst="rect">
            <a:avLst/>
          </a:prstGeom>
          <a:noFill/>
        </p:spPr>
        <p:txBody>
          <a:bodyPr wrap="square" anchor="ctr">
            <a:spAutoFit/>
          </a:bodyPr>
          <a:lstStyle/>
          <a:p>
            <a:pPr algn="l">
              <a:spcAft>
                <a:spcPts val="400"/>
              </a:spcAft>
            </a:pPr>
            <a:r>
              <a:rPr sz="1450" b="1">
                <a:solidFill>
                  <a:srgbClr val="7C3AED"/>
                </a:solidFill>
                <a:latin typeface="Arial"/>
              </a:rPr>
              <a:t>Ticket / review later</a:t>
            </a:r>
          </a:p>
        </p:txBody>
      </p:sp>
      <p:sp>
        <p:nvSpPr>
          <p:cNvPr id="18" name="TextBox 17"/>
          <p:cNvSpPr txBox="1"/>
          <p:nvPr/>
        </p:nvSpPr>
        <p:spPr>
          <a:xfrm>
            <a:off x="4828032" y="2788920"/>
            <a:ext cx="2880360" cy="3108960"/>
          </a:xfrm>
          <a:prstGeom prst="rect">
            <a:avLst/>
          </a:prstGeom>
          <a:noFill/>
        </p:spPr>
        <p:txBody>
          <a:bodyPr wrap="square" anchor="t">
            <a:spAutoFit/>
          </a:bodyPr>
          <a:lstStyle/>
          <a:p>
            <a:pPr algn="l">
              <a:spcAft>
                <a:spcPts val="400"/>
              </a:spcAft>
            </a:pPr>
            <a:r>
              <a:rPr sz="1250" b="0">
                <a:solidFill>
                  <a:srgbClr val="161B26"/>
                </a:solidFill>
                <a:latin typeface="Arial"/>
              </a:rPr>
              <a:t>Trends and capacity signals (rising saturation). Important but not urgent — dashboards and weekly review.</a:t>
            </a:r>
          </a:p>
        </p:txBody>
      </p:sp>
      <p:sp>
        <p:nvSpPr>
          <p:cNvPr id="19" name="Rectangle 18"/>
          <p:cNvSpPr/>
          <p:nvPr/>
        </p:nvSpPr>
        <p:spPr>
          <a:xfrm>
            <a:off x="8366760" y="1783080"/>
            <a:ext cx="3337560" cy="429768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Rectangle 19"/>
          <p:cNvSpPr/>
          <p:nvPr/>
        </p:nvSpPr>
        <p:spPr>
          <a:xfrm>
            <a:off x="8366760" y="1783080"/>
            <a:ext cx="3337560" cy="109728"/>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Oval 20"/>
          <p:cNvSpPr/>
          <p:nvPr/>
        </p:nvSpPr>
        <p:spPr>
          <a:xfrm>
            <a:off x="8622792" y="2057400"/>
            <a:ext cx="457200" cy="45720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8622792" y="2057400"/>
            <a:ext cx="457200" cy="457200"/>
          </a:xfrm>
          <a:prstGeom prst="rect">
            <a:avLst/>
          </a:prstGeom>
          <a:noFill/>
        </p:spPr>
        <p:txBody>
          <a:bodyPr wrap="square" anchor="ctr">
            <a:spAutoFit/>
          </a:bodyPr>
          <a:lstStyle/>
          <a:p>
            <a:pPr algn="ctr">
              <a:spcAft>
                <a:spcPts val="400"/>
              </a:spcAft>
            </a:pPr>
            <a:r>
              <a:rPr sz="2000" b="1">
                <a:solidFill>
                  <a:srgbClr val="FFFFFF"/>
                </a:solidFill>
                <a:latin typeface="Arial"/>
              </a:rPr>
              <a:t>C</a:t>
            </a:r>
          </a:p>
        </p:txBody>
      </p:sp>
      <p:sp>
        <p:nvSpPr>
          <p:cNvPr id="23" name="TextBox 22"/>
          <p:cNvSpPr txBox="1"/>
          <p:nvPr/>
        </p:nvSpPr>
        <p:spPr>
          <a:xfrm>
            <a:off x="9235440" y="2084831"/>
            <a:ext cx="2286000" cy="640080"/>
          </a:xfrm>
          <a:prstGeom prst="rect">
            <a:avLst/>
          </a:prstGeom>
          <a:noFill/>
        </p:spPr>
        <p:txBody>
          <a:bodyPr wrap="square" anchor="ctr">
            <a:spAutoFit/>
          </a:bodyPr>
          <a:lstStyle/>
          <a:p>
            <a:pPr algn="l">
              <a:spcAft>
                <a:spcPts val="400"/>
              </a:spcAft>
            </a:pPr>
            <a:r>
              <a:rPr sz="1450" b="1">
                <a:solidFill>
                  <a:srgbClr val="10B981"/>
                </a:solidFill>
                <a:latin typeface="Arial"/>
              </a:rPr>
              <a:t>Auto-remediate, don't page</a:t>
            </a:r>
          </a:p>
        </p:txBody>
      </p:sp>
      <p:sp>
        <p:nvSpPr>
          <p:cNvPr id="24" name="TextBox 23"/>
          <p:cNvSpPr txBox="1"/>
          <p:nvPr/>
        </p:nvSpPr>
        <p:spPr>
          <a:xfrm>
            <a:off x="8622792" y="2788920"/>
            <a:ext cx="2880360" cy="3108960"/>
          </a:xfrm>
          <a:prstGeom prst="rect">
            <a:avLst/>
          </a:prstGeom>
          <a:noFill/>
        </p:spPr>
        <p:txBody>
          <a:bodyPr wrap="square" anchor="t">
            <a:spAutoFit/>
          </a:bodyPr>
          <a:lstStyle/>
          <a:p>
            <a:pPr algn="l">
              <a:spcAft>
                <a:spcPts val="400"/>
              </a:spcAft>
            </a:pPr>
            <a:r>
              <a:rPr sz="1250" b="0">
                <a:solidFill>
                  <a:srgbClr val="161B26"/>
                </a:solidFill>
                <a:latin typeface="Arial"/>
              </a:rPr>
              <a:t>Known, safe fixes (restart, scale, isolate). Let EventBridge + Lambda handle it and notify, not wake, the team.</a:t>
            </a:r>
          </a:p>
        </p:txBody>
      </p:sp>
      <p:sp>
        <p:nvSpPr>
          <p:cNvPr id="25" name="TextBox 24"/>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DevOps Engineering on AWS  ·  TGS-2023040474</a:t>
            </a:r>
          </a:p>
        </p:txBody>
      </p:sp>
      <p:sp>
        <p:nvSpPr>
          <p:cNvPr id="26" name="TextBox 25"/>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27" name="TextBox 26"/>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152</a:t>
            </a:r>
          </a:p>
        </p:txBody>
      </p:sp>
    </p:spTree>
  </p:cSld>
  <p:clrMapOvr>
    <a:masterClrMapping/>
  </p:clrMapOvr>
  <p:transition xmlns:p14="http://schemas.microsoft.com/office/powerpoint/2010/main" p14:dur="380">
    <p:fade/>
  </p:transition>
</p:sld>
</file>

<file path=ppt/slides/slide15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38912"/>
            <a:ext cx="10607040" cy="365760"/>
          </a:xfrm>
          <a:prstGeom prst="rect">
            <a:avLst/>
          </a:prstGeom>
          <a:noFill/>
        </p:spPr>
        <p:txBody>
          <a:bodyPr wrap="square" anchor="t">
            <a:spAutoFit/>
          </a:bodyPr>
          <a:lstStyle/>
          <a:p>
            <a:pPr algn="l">
              <a:spcAft>
                <a:spcPts val="400"/>
              </a:spcAft>
            </a:pPr>
            <a:r>
              <a:rPr sz="1400" b="1">
                <a:solidFill>
                  <a:srgbClr val="F59E0B"/>
                </a:solidFill>
                <a:latin typeface="Arial"/>
              </a:rPr>
              <a:t>TRUST THE RIGHT SIGNAL</a:t>
            </a:r>
          </a:p>
        </p:txBody>
      </p:sp>
      <p:sp>
        <p:nvSpPr>
          <p:cNvPr id="5" name="TextBox 4"/>
          <p:cNvSpPr txBox="1"/>
          <p:nvPr/>
        </p:nvSpPr>
        <p:spPr>
          <a:xfrm>
            <a:off x="777240" y="896112"/>
            <a:ext cx="10927080" cy="731520"/>
          </a:xfrm>
          <a:prstGeom prst="rect">
            <a:avLst/>
          </a:prstGeom>
          <a:noFill/>
        </p:spPr>
        <p:txBody>
          <a:bodyPr wrap="square" anchor="t">
            <a:spAutoFit/>
          </a:bodyPr>
          <a:lstStyle/>
          <a:p>
            <a:pPr algn="l">
              <a:spcAft>
                <a:spcPts val="400"/>
              </a:spcAft>
            </a:pPr>
            <a:r>
              <a:rPr sz="2500" b="1">
                <a:solidFill>
                  <a:srgbClr val="161B26"/>
                </a:solidFill>
                <a:latin typeface="Arial"/>
              </a:rPr>
              <a:t>Scenario — 'Everything is green' but users complain</a:t>
            </a:r>
          </a:p>
        </p:txBody>
      </p:sp>
      <p:sp>
        <p:nvSpPr>
          <p:cNvPr id="6" name="Rectangle 5"/>
          <p:cNvSpPr/>
          <p:nvPr/>
        </p:nvSpPr>
        <p:spPr>
          <a:xfrm>
            <a:off x="777240" y="1572768"/>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755648"/>
            <a:ext cx="10634472" cy="91440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1755648"/>
            <a:ext cx="91440" cy="914400"/>
          </a:xfrm>
          <a:prstGeom prst="rect">
            <a:avLst/>
          </a:prstGeom>
          <a:solidFill>
            <a:srgbClr val="5B637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1033272" y="1847088"/>
            <a:ext cx="2194560" cy="320040"/>
          </a:xfrm>
          <a:prstGeom prst="rect">
            <a:avLst/>
          </a:prstGeom>
          <a:noFill/>
        </p:spPr>
        <p:txBody>
          <a:bodyPr wrap="square" anchor="t">
            <a:spAutoFit/>
          </a:bodyPr>
          <a:lstStyle/>
          <a:p>
            <a:pPr algn="l">
              <a:spcAft>
                <a:spcPts val="400"/>
              </a:spcAft>
            </a:pPr>
            <a:r>
              <a:rPr sz="1150" b="1">
                <a:solidFill>
                  <a:srgbClr val="5B6372"/>
                </a:solidFill>
                <a:latin typeface="Arial"/>
              </a:rPr>
              <a:t>SITUATION</a:t>
            </a:r>
          </a:p>
        </p:txBody>
      </p:sp>
      <p:sp>
        <p:nvSpPr>
          <p:cNvPr id="10" name="TextBox 9"/>
          <p:cNvSpPr txBox="1"/>
          <p:nvPr/>
        </p:nvSpPr>
        <p:spPr>
          <a:xfrm>
            <a:off x="1033272" y="2157984"/>
            <a:ext cx="10085832" cy="457200"/>
          </a:xfrm>
          <a:prstGeom prst="rect">
            <a:avLst/>
          </a:prstGeom>
          <a:noFill/>
        </p:spPr>
        <p:txBody>
          <a:bodyPr wrap="square" anchor="t">
            <a:spAutoFit/>
          </a:bodyPr>
          <a:lstStyle/>
          <a:p>
            <a:pPr algn="l">
              <a:spcAft>
                <a:spcPts val="400"/>
              </a:spcAft>
            </a:pPr>
            <a:r>
              <a:rPr sz="1300" b="0">
                <a:solidFill>
                  <a:srgbClr val="161B26"/>
                </a:solidFill>
                <a:latin typeface="Arial"/>
              </a:rPr>
              <a:t>Dashboards show CPU and memory healthy, yet support reports slow checkouts.</a:t>
            </a:r>
          </a:p>
        </p:txBody>
      </p:sp>
      <p:sp>
        <p:nvSpPr>
          <p:cNvPr id="11" name="Rectangle 10"/>
          <p:cNvSpPr/>
          <p:nvPr/>
        </p:nvSpPr>
        <p:spPr>
          <a:xfrm>
            <a:off x="777240" y="2788920"/>
            <a:ext cx="10634472" cy="2194560"/>
          </a:xfrm>
          <a:prstGeom prst="rect">
            <a:avLst/>
          </a:prstGeom>
          <a:solidFill>
            <a:srgbClr val="FFFFFF"/>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ectangle 11"/>
          <p:cNvSpPr/>
          <p:nvPr/>
        </p:nvSpPr>
        <p:spPr>
          <a:xfrm>
            <a:off x="777240" y="2788920"/>
            <a:ext cx="91440" cy="2194560"/>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1033272" y="2880360"/>
            <a:ext cx="2743200" cy="320040"/>
          </a:xfrm>
          <a:prstGeom prst="rect">
            <a:avLst/>
          </a:prstGeom>
          <a:noFill/>
        </p:spPr>
        <p:txBody>
          <a:bodyPr wrap="square" anchor="t">
            <a:spAutoFit/>
          </a:bodyPr>
          <a:lstStyle/>
          <a:p>
            <a:pPr algn="l">
              <a:spcAft>
                <a:spcPts val="400"/>
              </a:spcAft>
            </a:pPr>
            <a:r>
              <a:rPr sz="1150" b="1">
                <a:solidFill>
                  <a:srgbClr val="F59E0B"/>
                </a:solidFill>
                <a:latin typeface="Arial"/>
              </a:rPr>
              <a:t>ANALYSIS</a:t>
            </a:r>
          </a:p>
        </p:txBody>
      </p:sp>
      <p:sp>
        <p:nvSpPr>
          <p:cNvPr id="14" name="TextBox 13"/>
          <p:cNvSpPr txBox="1"/>
          <p:nvPr/>
        </p:nvSpPr>
        <p:spPr>
          <a:xfrm>
            <a:off x="1033272" y="3246120"/>
            <a:ext cx="9994392" cy="1645920"/>
          </a:xfrm>
          <a:prstGeom prst="rect">
            <a:avLst/>
          </a:prstGeom>
          <a:noFill/>
        </p:spPr>
        <p:txBody>
          <a:bodyPr wrap="square">
            <a:spAutoFit/>
          </a:bodyPr>
          <a:lstStyle/>
          <a:p>
            <a:pPr>
              <a:spcAft>
                <a:spcPts val="700"/>
              </a:spcAft>
            </a:pPr>
            <a:r>
              <a:rPr sz="1300" b="0">
                <a:solidFill>
                  <a:srgbClr val="161B26"/>
                </a:solidFill>
                <a:latin typeface="Arial"/>
              </a:rPr>
              <a:t>•  Resource metrics are averages and miss the user-facing symptom; the SLO is about request latency, not CPU.</a:t>
            </a:r>
          </a:p>
          <a:p>
            <a:pPr>
              <a:spcAft>
                <a:spcPts val="700"/>
              </a:spcAft>
            </a:pPr>
            <a:r>
              <a:rPr sz="1300" b="0">
                <a:solidFill>
                  <a:srgbClr val="161B26"/>
                </a:solidFill>
                <a:latin typeface="Arial"/>
              </a:rPr>
              <a:t>•  A p99 latency metric and a Logs Insights query on the checkout path would reveal the slow requests.</a:t>
            </a:r>
          </a:p>
          <a:p>
            <a:pPr>
              <a:spcAft>
                <a:spcPts val="700"/>
              </a:spcAft>
            </a:pPr>
            <a:r>
              <a:rPr sz="1300" b="0">
                <a:solidFill>
                  <a:srgbClr val="161B26"/>
                </a:solidFill>
                <a:latin typeface="Arial"/>
              </a:rPr>
              <a:t>•  An X-Ray service map would localise the slow downstream call.</a:t>
            </a:r>
          </a:p>
        </p:txBody>
      </p:sp>
      <p:sp>
        <p:nvSpPr>
          <p:cNvPr id="15" name="Rectangle 14"/>
          <p:cNvSpPr/>
          <p:nvPr/>
        </p:nvSpPr>
        <p:spPr>
          <a:xfrm>
            <a:off x="777240" y="5102352"/>
            <a:ext cx="10634472" cy="96012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ectangle 15"/>
          <p:cNvSpPr/>
          <p:nvPr/>
        </p:nvSpPr>
        <p:spPr>
          <a:xfrm>
            <a:off x="777240" y="5102352"/>
            <a:ext cx="91440" cy="9601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1033272" y="5193792"/>
            <a:ext cx="2743200" cy="320040"/>
          </a:xfrm>
          <a:prstGeom prst="rect">
            <a:avLst/>
          </a:prstGeom>
          <a:noFill/>
        </p:spPr>
        <p:txBody>
          <a:bodyPr wrap="square" anchor="t">
            <a:spAutoFit/>
          </a:bodyPr>
          <a:lstStyle/>
          <a:p>
            <a:pPr algn="l">
              <a:spcAft>
                <a:spcPts val="400"/>
              </a:spcAft>
            </a:pPr>
            <a:r>
              <a:rPr sz="1150" b="1">
                <a:solidFill>
                  <a:srgbClr val="10B981"/>
                </a:solidFill>
                <a:latin typeface="Arial"/>
              </a:rPr>
              <a:t>DECISION</a:t>
            </a:r>
          </a:p>
        </p:txBody>
      </p:sp>
      <p:sp>
        <p:nvSpPr>
          <p:cNvPr id="18" name="TextBox 17"/>
          <p:cNvSpPr txBox="1"/>
          <p:nvPr/>
        </p:nvSpPr>
        <p:spPr>
          <a:xfrm>
            <a:off x="1033272" y="5486400"/>
            <a:ext cx="10085832" cy="548640"/>
          </a:xfrm>
          <a:prstGeom prst="rect">
            <a:avLst/>
          </a:prstGeom>
          <a:noFill/>
        </p:spPr>
        <p:txBody>
          <a:bodyPr wrap="square" anchor="t">
            <a:spAutoFit/>
          </a:bodyPr>
          <a:lstStyle/>
          <a:p>
            <a:pPr algn="l">
              <a:spcAft>
                <a:spcPts val="400"/>
              </a:spcAft>
            </a:pPr>
            <a:r>
              <a:rPr sz="1300" b="1">
                <a:solidFill>
                  <a:srgbClr val="161B26"/>
                </a:solidFill>
                <a:latin typeface="Arial"/>
              </a:rPr>
              <a:t>Re-orient alerting around the golden signals and the SLO (p99 latency, error rate), and add tracing so the next 'green but slow' is visible and localisable in seconds.</a:t>
            </a:r>
          </a:p>
        </p:txBody>
      </p:sp>
      <p:sp>
        <p:nvSpPr>
          <p:cNvPr id="19" name="TextBox 18"/>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DevOps Engineering on AWS  ·  TGS-2023040474</a:t>
            </a:r>
          </a:p>
        </p:txBody>
      </p:sp>
      <p:sp>
        <p:nvSpPr>
          <p:cNvPr id="20" name="TextBox 19"/>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21" name="TextBox 20"/>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153</a:t>
            </a:r>
          </a:p>
        </p:txBody>
      </p:sp>
    </p:spTree>
  </p:cSld>
  <p:clrMapOvr>
    <a:masterClrMapping/>
  </p:clrMapOvr>
  <p:transition xmlns:p14="http://schemas.microsoft.com/office/powerpoint/2010/main" p14:dur="380">
    <p:fade/>
  </p:transition>
</p:sld>
</file>

<file path=ppt/slides/slide15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38912"/>
            <a:ext cx="10607040" cy="365760"/>
          </a:xfrm>
          <a:prstGeom prst="rect">
            <a:avLst/>
          </a:prstGeom>
          <a:noFill/>
        </p:spPr>
        <p:txBody>
          <a:bodyPr wrap="square" anchor="t">
            <a:spAutoFit/>
          </a:bodyPr>
          <a:lstStyle/>
          <a:p>
            <a:pPr algn="l">
              <a:spcAft>
                <a:spcPts val="400"/>
              </a:spcAft>
            </a:pPr>
            <a:r>
              <a:rPr sz="1400" b="1">
                <a:solidFill>
                  <a:srgbClr val="F59E0B"/>
                </a:solidFill>
                <a:latin typeface="Arial"/>
              </a:rPr>
              <a:t>REDUCING NOISE</a:t>
            </a:r>
          </a:p>
        </p:txBody>
      </p:sp>
      <p:sp>
        <p:nvSpPr>
          <p:cNvPr id="5" name="TextBox 4"/>
          <p:cNvSpPr txBox="1"/>
          <p:nvPr/>
        </p:nvSpPr>
        <p:spPr>
          <a:xfrm>
            <a:off x="777240" y="804672"/>
            <a:ext cx="10927080" cy="731520"/>
          </a:xfrm>
          <a:prstGeom prst="rect">
            <a:avLst/>
          </a:prstGeom>
          <a:noFill/>
        </p:spPr>
        <p:txBody>
          <a:bodyPr wrap="square" anchor="t">
            <a:spAutoFit/>
          </a:bodyPr>
          <a:lstStyle/>
          <a:p>
            <a:pPr algn="l">
              <a:spcAft>
                <a:spcPts val="400"/>
              </a:spcAft>
            </a:pPr>
            <a:r>
              <a:rPr sz="2900" b="1">
                <a:solidFill>
                  <a:srgbClr val="161B26"/>
                </a:solidFill>
                <a:latin typeface="Arial"/>
              </a:rPr>
              <a:t>Scenario — Taming an alert storm</a:t>
            </a:r>
          </a:p>
        </p:txBody>
      </p:sp>
      <p:sp>
        <p:nvSpPr>
          <p:cNvPr id="6" name="Rectangle 5"/>
          <p:cNvSpPr/>
          <p:nvPr/>
        </p:nvSpPr>
        <p:spPr>
          <a:xfrm>
            <a:off x="777240" y="1572768"/>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755648"/>
            <a:ext cx="10634472" cy="91440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1755648"/>
            <a:ext cx="91440" cy="914400"/>
          </a:xfrm>
          <a:prstGeom prst="rect">
            <a:avLst/>
          </a:prstGeom>
          <a:solidFill>
            <a:srgbClr val="5B637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1033272" y="1847088"/>
            <a:ext cx="2194560" cy="320040"/>
          </a:xfrm>
          <a:prstGeom prst="rect">
            <a:avLst/>
          </a:prstGeom>
          <a:noFill/>
        </p:spPr>
        <p:txBody>
          <a:bodyPr wrap="square" anchor="t">
            <a:spAutoFit/>
          </a:bodyPr>
          <a:lstStyle/>
          <a:p>
            <a:pPr algn="l">
              <a:spcAft>
                <a:spcPts val="400"/>
              </a:spcAft>
            </a:pPr>
            <a:r>
              <a:rPr sz="1150" b="1">
                <a:solidFill>
                  <a:srgbClr val="5B6372"/>
                </a:solidFill>
                <a:latin typeface="Arial"/>
              </a:rPr>
              <a:t>SITUATION</a:t>
            </a:r>
          </a:p>
        </p:txBody>
      </p:sp>
      <p:sp>
        <p:nvSpPr>
          <p:cNvPr id="10" name="TextBox 9"/>
          <p:cNvSpPr txBox="1"/>
          <p:nvPr/>
        </p:nvSpPr>
        <p:spPr>
          <a:xfrm>
            <a:off x="1033272" y="2157984"/>
            <a:ext cx="10085832" cy="457200"/>
          </a:xfrm>
          <a:prstGeom prst="rect">
            <a:avLst/>
          </a:prstGeom>
          <a:noFill/>
        </p:spPr>
        <p:txBody>
          <a:bodyPr wrap="square" anchor="t">
            <a:spAutoFit/>
          </a:bodyPr>
          <a:lstStyle/>
          <a:p>
            <a:pPr algn="l">
              <a:spcAft>
                <a:spcPts val="400"/>
              </a:spcAft>
            </a:pPr>
            <a:r>
              <a:rPr sz="1300" b="0">
                <a:solidFill>
                  <a:srgbClr val="161B26"/>
                </a:solidFill>
                <a:latin typeface="Arial"/>
              </a:rPr>
              <a:t>A single database blip fires 40 alarms across dependent services and the on-call mutes the channel.</a:t>
            </a:r>
          </a:p>
        </p:txBody>
      </p:sp>
      <p:sp>
        <p:nvSpPr>
          <p:cNvPr id="11" name="Rectangle 10"/>
          <p:cNvSpPr/>
          <p:nvPr/>
        </p:nvSpPr>
        <p:spPr>
          <a:xfrm>
            <a:off x="777240" y="2788920"/>
            <a:ext cx="10634472" cy="2194560"/>
          </a:xfrm>
          <a:prstGeom prst="rect">
            <a:avLst/>
          </a:prstGeom>
          <a:solidFill>
            <a:srgbClr val="FFFFFF"/>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ectangle 11"/>
          <p:cNvSpPr/>
          <p:nvPr/>
        </p:nvSpPr>
        <p:spPr>
          <a:xfrm>
            <a:off x="777240" y="2788920"/>
            <a:ext cx="91440" cy="2194560"/>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1033272" y="2880360"/>
            <a:ext cx="2743200" cy="320040"/>
          </a:xfrm>
          <a:prstGeom prst="rect">
            <a:avLst/>
          </a:prstGeom>
          <a:noFill/>
        </p:spPr>
        <p:txBody>
          <a:bodyPr wrap="square" anchor="t">
            <a:spAutoFit/>
          </a:bodyPr>
          <a:lstStyle/>
          <a:p>
            <a:pPr algn="l">
              <a:spcAft>
                <a:spcPts val="400"/>
              </a:spcAft>
            </a:pPr>
            <a:r>
              <a:rPr sz="1150" b="1">
                <a:solidFill>
                  <a:srgbClr val="F59E0B"/>
                </a:solidFill>
                <a:latin typeface="Arial"/>
              </a:rPr>
              <a:t>ANALYSIS</a:t>
            </a:r>
          </a:p>
        </p:txBody>
      </p:sp>
      <p:sp>
        <p:nvSpPr>
          <p:cNvPr id="14" name="TextBox 13"/>
          <p:cNvSpPr txBox="1"/>
          <p:nvPr/>
        </p:nvSpPr>
        <p:spPr>
          <a:xfrm>
            <a:off x="1033272" y="3246120"/>
            <a:ext cx="9994392" cy="1645920"/>
          </a:xfrm>
          <a:prstGeom prst="rect">
            <a:avLst/>
          </a:prstGeom>
          <a:noFill/>
        </p:spPr>
        <p:txBody>
          <a:bodyPr wrap="square">
            <a:spAutoFit/>
          </a:bodyPr>
          <a:lstStyle/>
          <a:p>
            <a:pPr>
              <a:spcAft>
                <a:spcPts val="700"/>
              </a:spcAft>
            </a:pPr>
            <a:r>
              <a:rPr sz="1300" b="0">
                <a:solidFill>
                  <a:srgbClr val="161B26"/>
                </a:solidFill>
                <a:latin typeface="Arial"/>
              </a:rPr>
              <a:t>•  Many single-metric alarms describe the same root cause, creating noise and fatigue.</a:t>
            </a:r>
          </a:p>
          <a:p>
            <a:pPr>
              <a:spcAft>
                <a:spcPts val="700"/>
              </a:spcAft>
            </a:pPr>
            <a:r>
              <a:rPr sz="1300" b="0">
                <a:solidFill>
                  <a:srgbClr val="161B26"/>
                </a:solidFill>
                <a:latin typeface="Arial"/>
              </a:rPr>
              <a:t>•  A composite alarm can express 'DB unhealthy AND app errors rising' and suppress the downstream chatter.</a:t>
            </a:r>
          </a:p>
          <a:p>
            <a:pPr>
              <a:spcAft>
                <a:spcPts val="700"/>
              </a:spcAft>
            </a:pPr>
            <a:r>
              <a:rPr sz="1300" b="0">
                <a:solidFill>
                  <a:srgbClr val="161B26"/>
                </a:solidFill>
                <a:latin typeface="Arial"/>
              </a:rPr>
              <a:t>•  SLO-based alerting pages on user impact, not on every correlated resource wobble.</a:t>
            </a:r>
          </a:p>
        </p:txBody>
      </p:sp>
      <p:sp>
        <p:nvSpPr>
          <p:cNvPr id="15" name="Rectangle 14"/>
          <p:cNvSpPr/>
          <p:nvPr/>
        </p:nvSpPr>
        <p:spPr>
          <a:xfrm>
            <a:off x="777240" y="5102352"/>
            <a:ext cx="10634472" cy="96012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ectangle 15"/>
          <p:cNvSpPr/>
          <p:nvPr/>
        </p:nvSpPr>
        <p:spPr>
          <a:xfrm>
            <a:off x="777240" y="5102352"/>
            <a:ext cx="91440" cy="9601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1033272" y="5193792"/>
            <a:ext cx="2743200" cy="320040"/>
          </a:xfrm>
          <a:prstGeom prst="rect">
            <a:avLst/>
          </a:prstGeom>
          <a:noFill/>
        </p:spPr>
        <p:txBody>
          <a:bodyPr wrap="square" anchor="t">
            <a:spAutoFit/>
          </a:bodyPr>
          <a:lstStyle/>
          <a:p>
            <a:pPr algn="l">
              <a:spcAft>
                <a:spcPts val="400"/>
              </a:spcAft>
            </a:pPr>
            <a:r>
              <a:rPr sz="1150" b="1">
                <a:solidFill>
                  <a:srgbClr val="10B981"/>
                </a:solidFill>
                <a:latin typeface="Arial"/>
              </a:rPr>
              <a:t>DECISION</a:t>
            </a:r>
          </a:p>
        </p:txBody>
      </p:sp>
      <p:sp>
        <p:nvSpPr>
          <p:cNvPr id="18" name="TextBox 17"/>
          <p:cNvSpPr txBox="1"/>
          <p:nvPr/>
        </p:nvSpPr>
        <p:spPr>
          <a:xfrm>
            <a:off x="1033272" y="5486400"/>
            <a:ext cx="10085832" cy="548640"/>
          </a:xfrm>
          <a:prstGeom prst="rect">
            <a:avLst/>
          </a:prstGeom>
          <a:noFill/>
        </p:spPr>
        <p:txBody>
          <a:bodyPr wrap="square" anchor="t">
            <a:spAutoFit/>
          </a:bodyPr>
          <a:lstStyle/>
          <a:p>
            <a:pPr algn="l">
              <a:spcAft>
                <a:spcPts val="400"/>
              </a:spcAft>
            </a:pPr>
            <a:r>
              <a:rPr sz="1300" b="1">
                <a:solidFill>
                  <a:srgbClr val="161B26"/>
                </a:solidFill>
                <a:latin typeface="Arial"/>
              </a:rPr>
              <a:t>Consolidate with composite alarms and alert on SLO burn, so one meaningful page fires instead of forty — restoring trust in the pager.</a:t>
            </a:r>
          </a:p>
        </p:txBody>
      </p:sp>
      <p:sp>
        <p:nvSpPr>
          <p:cNvPr id="19" name="TextBox 18"/>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DevOps Engineering on AWS  ·  TGS-2023040474</a:t>
            </a:r>
          </a:p>
        </p:txBody>
      </p:sp>
      <p:sp>
        <p:nvSpPr>
          <p:cNvPr id="20" name="TextBox 19"/>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21" name="TextBox 20"/>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154</a:t>
            </a:r>
          </a:p>
        </p:txBody>
      </p:sp>
    </p:spTree>
  </p:cSld>
  <p:clrMapOvr>
    <a:masterClrMapping/>
  </p:clrMapOvr>
  <p:transition xmlns:p14="http://schemas.microsoft.com/office/powerpoint/2010/main" p14:dur="380">
    <p:fade/>
  </p:transition>
</p:sld>
</file>

<file path=ppt/slides/slide15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38912"/>
            <a:ext cx="10607040" cy="365760"/>
          </a:xfrm>
          <a:prstGeom prst="rect">
            <a:avLst/>
          </a:prstGeom>
          <a:noFill/>
        </p:spPr>
        <p:txBody>
          <a:bodyPr wrap="square" anchor="t">
            <a:spAutoFit/>
          </a:bodyPr>
          <a:lstStyle/>
          <a:p>
            <a:pPr algn="l">
              <a:spcAft>
                <a:spcPts val="400"/>
              </a:spcAft>
            </a:pPr>
            <a:r>
              <a:rPr sz="1400" b="1">
                <a:solidFill>
                  <a:srgbClr val="F59E0B"/>
                </a:solidFill>
                <a:latin typeface="Arial"/>
              </a:rPr>
              <a:t>THE LOGS-TO-ACTION PATH</a:t>
            </a:r>
          </a:p>
        </p:txBody>
      </p:sp>
      <p:sp>
        <p:nvSpPr>
          <p:cNvPr id="5" name="TextBox 4"/>
          <p:cNvSpPr txBox="1"/>
          <p:nvPr/>
        </p:nvSpPr>
        <p:spPr>
          <a:xfrm>
            <a:off x="777240" y="804672"/>
            <a:ext cx="10927080" cy="731520"/>
          </a:xfrm>
          <a:prstGeom prst="rect">
            <a:avLst/>
          </a:prstGeom>
          <a:noFill/>
        </p:spPr>
        <p:txBody>
          <a:bodyPr wrap="square" anchor="t">
            <a:spAutoFit/>
          </a:bodyPr>
          <a:lstStyle/>
          <a:p>
            <a:pPr algn="l">
              <a:spcAft>
                <a:spcPts val="400"/>
              </a:spcAft>
            </a:pPr>
            <a:r>
              <a:rPr sz="2900" b="1">
                <a:solidFill>
                  <a:srgbClr val="161B26"/>
                </a:solidFill>
                <a:latin typeface="Arial"/>
              </a:rPr>
              <a:t>Worked Analysis — From Log Line to Alarm</a:t>
            </a:r>
          </a:p>
        </p:txBody>
      </p:sp>
      <p:sp>
        <p:nvSpPr>
          <p:cNvPr id="6" name="Rectangle 5"/>
          <p:cNvSpPr/>
          <p:nvPr/>
        </p:nvSpPr>
        <p:spPr>
          <a:xfrm>
            <a:off x="777240" y="1572768"/>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783080"/>
            <a:ext cx="4253788" cy="765810"/>
          </a:xfrm>
          <a:prstGeom prst="rect">
            <a:avLst/>
          </a:prstGeom>
          <a:solidFill>
            <a:srgbClr val="F5F8FC"/>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1783080"/>
            <a:ext cx="73152" cy="765810"/>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5031028" y="1783080"/>
            <a:ext cx="6380684" cy="765810"/>
          </a:xfrm>
          <a:prstGeom prst="rect">
            <a:avLst/>
          </a:prstGeom>
          <a:solidFill>
            <a:srgbClr val="F5F8FC"/>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978408" y="1783080"/>
            <a:ext cx="3933748" cy="765810"/>
          </a:xfrm>
          <a:prstGeom prst="rect">
            <a:avLst/>
          </a:prstGeom>
          <a:noFill/>
        </p:spPr>
        <p:txBody>
          <a:bodyPr wrap="square" anchor="ctr">
            <a:spAutoFit/>
          </a:bodyPr>
          <a:lstStyle/>
          <a:p>
            <a:pPr algn="l">
              <a:spcAft>
                <a:spcPts val="400"/>
              </a:spcAft>
            </a:pPr>
            <a:r>
              <a:rPr sz="1250" b="1">
                <a:solidFill>
                  <a:srgbClr val="161B26"/>
                </a:solidFill>
                <a:latin typeface="Arial"/>
              </a:rPr>
              <a:t>Raw log: 'ERROR checkout timeout'</a:t>
            </a:r>
          </a:p>
        </p:txBody>
      </p:sp>
      <p:sp>
        <p:nvSpPr>
          <p:cNvPr id="11" name="TextBox 10"/>
          <p:cNvSpPr txBox="1"/>
          <p:nvPr/>
        </p:nvSpPr>
        <p:spPr>
          <a:xfrm>
            <a:off x="5213908" y="1783080"/>
            <a:ext cx="6060644" cy="765810"/>
          </a:xfrm>
          <a:prstGeom prst="rect">
            <a:avLst/>
          </a:prstGeom>
          <a:noFill/>
        </p:spPr>
        <p:txBody>
          <a:bodyPr wrap="square" anchor="ctr">
            <a:spAutoFit/>
          </a:bodyPr>
          <a:lstStyle/>
          <a:p>
            <a:pPr algn="l">
              <a:spcAft>
                <a:spcPts val="400"/>
              </a:spcAft>
            </a:pPr>
            <a:r>
              <a:rPr sz="1200" b="0">
                <a:solidFill>
                  <a:srgbClr val="5B6372"/>
                </a:solidFill>
                <a:latin typeface="Arial"/>
              </a:rPr>
              <a:t>Unstructured text — invisible to metrics and alarms as-is.</a:t>
            </a:r>
          </a:p>
        </p:txBody>
      </p:sp>
      <p:sp>
        <p:nvSpPr>
          <p:cNvPr id="12" name="Rectangle 11"/>
          <p:cNvSpPr/>
          <p:nvPr/>
        </p:nvSpPr>
        <p:spPr>
          <a:xfrm>
            <a:off x="777240" y="2548890"/>
            <a:ext cx="4253788" cy="765810"/>
          </a:xfrm>
          <a:prstGeom prst="rect">
            <a:avLst/>
          </a:prstGeom>
          <a:solidFill>
            <a:srgbClr val="FFFFFF"/>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777240" y="2548890"/>
            <a:ext cx="73152" cy="765810"/>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ectangle 13"/>
          <p:cNvSpPr/>
          <p:nvPr/>
        </p:nvSpPr>
        <p:spPr>
          <a:xfrm>
            <a:off x="5031028" y="2548890"/>
            <a:ext cx="6380684" cy="765810"/>
          </a:xfrm>
          <a:prstGeom prst="rect">
            <a:avLst/>
          </a:prstGeom>
          <a:solidFill>
            <a:srgbClr val="FFFFFF"/>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978408" y="2548890"/>
            <a:ext cx="3933748" cy="765810"/>
          </a:xfrm>
          <a:prstGeom prst="rect">
            <a:avLst/>
          </a:prstGeom>
          <a:noFill/>
        </p:spPr>
        <p:txBody>
          <a:bodyPr wrap="square" anchor="ctr">
            <a:spAutoFit/>
          </a:bodyPr>
          <a:lstStyle/>
          <a:p>
            <a:pPr algn="l">
              <a:spcAft>
                <a:spcPts val="400"/>
              </a:spcAft>
            </a:pPr>
            <a:r>
              <a:rPr sz="1250" b="1">
                <a:solidFill>
                  <a:srgbClr val="161B26"/>
                </a:solidFill>
                <a:latin typeface="Arial"/>
              </a:rPr>
              <a:t>Metric filter extracts AppErrorCount</a:t>
            </a:r>
          </a:p>
        </p:txBody>
      </p:sp>
      <p:sp>
        <p:nvSpPr>
          <p:cNvPr id="16" name="TextBox 15"/>
          <p:cNvSpPr txBox="1"/>
          <p:nvPr/>
        </p:nvSpPr>
        <p:spPr>
          <a:xfrm>
            <a:off x="5213908" y="2548890"/>
            <a:ext cx="6060644" cy="765810"/>
          </a:xfrm>
          <a:prstGeom prst="rect">
            <a:avLst/>
          </a:prstGeom>
          <a:noFill/>
        </p:spPr>
        <p:txBody>
          <a:bodyPr wrap="square" anchor="ctr">
            <a:spAutoFit/>
          </a:bodyPr>
          <a:lstStyle/>
          <a:p>
            <a:pPr algn="l">
              <a:spcAft>
                <a:spcPts val="400"/>
              </a:spcAft>
            </a:pPr>
            <a:r>
              <a:rPr sz="1200" b="0">
                <a:solidFill>
                  <a:srgbClr val="5B6372"/>
                </a:solidFill>
                <a:latin typeface="Arial"/>
              </a:rPr>
              <a:t>A numeric metric now exists in a custom namespace.</a:t>
            </a:r>
          </a:p>
        </p:txBody>
      </p:sp>
      <p:sp>
        <p:nvSpPr>
          <p:cNvPr id="17" name="Rectangle 16"/>
          <p:cNvSpPr/>
          <p:nvPr/>
        </p:nvSpPr>
        <p:spPr>
          <a:xfrm>
            <a:off x="777240" y="3314700"/>
            <a:ext cx="4253788" cy="765810"/>
          </a:xfrm>
          <a:prstGeom prst="rect">
            <a:avLst/>
          </a:prstGeom>
          <a:solidFill>
            <a:srgbClr val="F5F8FC"/>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777240" y="3314700"/>
            <a:ext cx="73152" cy="765810"/>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Rectangle 18"/>
          <p:cNvSpPr/>
          <p:nvPr/>
        </p:nvSpPr>
        <p:spPr>
          <a:xfrm>
            <a:off x="5031028" y="3314700"/>
            <a:ext cx="6380684" cy="765810"/>
          </a:xfrm>
          <a:prstGeom prst="rect">
            <a:avLst/>
          </a:prstGeom>
          <a:solidFill>
            <a:srgbClr val="F5F8FC"/>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978408" y="3314700"/>
            <a:ext cx="3933748" cy="765810"/>
          </a:xfrm>
          <a:prstGeom prst="rect">
            <a:avLst/>
          </a:prstGeom>
          <a:noFill/>
        </p:spPr>
        <p:txBody>
          <a:bodyPr wrap="square" anchor="ctr">
            <a:spAutoFit/>
          </a:bodyPr>
          <a:lstStyle/>
          <a:p>
            <a:pPr algn="l">
              <a:spcAft>
                <a:spcPts val="400"/>
              </a:spcAft>
            </a:pPr>
            <a:r>
              <a:rPr sz="1250" b="1">
                <a:solidFill>
                  <a:srgbClr val="161B26"/>
                </a:solidFill>
                <a:latin typeface="Arial"/>
              </a:rPr>
              <a:t>Alarm: Sum &gt; 5 in 1 minute</a:t>
            </a:r>
          </a:p>
        </p:txBody>
      </p:sp>
      <p:sp>
        <p:nvSpPr>
          <p:cNvPr id="21" name="TextBox 20"/>
          <p:cNvSpPr txBox="1"/>
          <p:nvPr/>
        </p:nvSpPr>
        <p:spPr>
          <a:xfrm>
            <a:off x="5213908" y="3314700"/>
            <a:ext cx="6060644" cy="765810"/>
          </a:xfrm>
          <a:prstGeom prst="rect">
            <a:avLst/>
          </a:prstGeom>
          <a:noFill/>
        </p:spPr>
        <p:txBody>
          <a:bodyPr wrap="square" anchor="ctr">
            <a:spAutoFit/>
          </a:bodyPr>
          <a:lstStyle/>
          <a:p>
            <a:pPr algn="l">
              <a:spcAft>
                <a:spcPts val="400"/>
              </a:spcAft>
            </a:pPr>
            <a:r>
              <a:rPr sz="1200" b="0">
                <a:solidFill>
                  <a:srgbClr val="5B6372"/>
                </a:solidFill>
                <a:latin typeface="Arial"/>
              </a:rPr>
              <a:t>The metric becomes an actionable state change.</a:t>
            </a:r>
          </a:p>
        </p:txBody>
      </p:sp>
      <p:sp>
        <p:nvSpPr>
          <p:cNvPr id="22" name="Rectangle 21"/>
          <p:cNvSpPr/>
          <p:nvPr/>
        </p:nvSpPr>
        <p:spPr>
          <a:xfrm>
            <a:off x="777240" y="4080510"/>
            <a:ext cx="4253788" cy="765810"/>
          </a:xfrm>
          <a:prstGeom prst="rect">
            <a:avLst/>
          </a:prstGeom>
          <a:solidFill>
            <a:srgbClr val="FFFFFF"/>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ectangle 22"/>
          <p:cNvSpPr/>
          <p:nvPr/>
        </p:nvSpPr>
        <p:spPr>
          <a:xfrm>
            <a:off x="777240" y="4080510"/>
            <a:ext cx="73152" cy="765810"/>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Rectangle 23"/>
          <p:cNvSpPr/>
          <p:nvPr/>
        </p:nvSpPr>
        <p:spPr>
          <a:xfrm>
            <a:off x="5031028" y="4080510"/>
            <a:ext cx="6380684" cy="765810"/>
          </a:xfrm>
          <a:prstGeom prst="rect">
            <a:avLst/>
          </a:prstGeom>
          <a:solidFill>
            <a:srgbClr val="FFFFFF"/>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978408" y="4080510"/>
            <a:ext cx="3933748" cy="765810"/>
          </a:xfrm>
          <a:prstGeom prst="rect">
            <a:avLst/>
          </a:prstGeom>
          <a:noFill/>
        </p:spPr>
        <p:txBody>
          <a:bodyPr wrap="square" anchor="ctr">
            <a:spAutoFit/>
          </a:bodyPr>
          <a:lstStyle/>
          <a:p>
            <a:pPr algn="l">
              <a:spcAft>
                <a:spcPts val="400"/>
              </a:spcAft>
            </a:pPr>
            <a:r>
              <a:rPr sz="1250" b="1">
                <a:solidFill>
                  <a:srgbClr val="161B26"/>
                </a:solidFill>
                <a:latin typeface="Arial"/>
              </a:rPr>
              <a:t>Alarm → SNS/EventBridge</a:t>
            </a:r>
          </a:p>
        </p:txBody>
      </p:sp>
      <p:sp>
        <p:nvSpPr>
          <p:cNvPr id="26" name="TextBox 25"/>
          <p:cNvSpPr txBox="1"/>
          <p:nvPr/>
        </p:nvSpPr>
        <p:spPr>
          <a:xfrm>
            <a:off x="5213908" y="4080510"/>
            <a:ext cx="6060644" cy="765810"/>
          </a:xfrm>
          <a:prstGeom prst="rect">
            <a:avLst/>
          </a:prstGeom>
          <a:noFill/>
        </p:spPr>
        <p:txBody>
          <a:bodyPr wrap="square" anchor="ctr">
            <a:spAutoFit/>
          </a:bodyPr>
          <a:lstStyle/>
          <a:p>
            <a:pPr algn="l">
              <a:spcAft>
                <a:spcPts val="400"/>
              </a:spcAft>
            </a:pPr>
            <a:r>
              <a:rPr sz="1200" b="0">
                <a:solidFill>
                  <a:srgbClr val="5B6372"/>
                </a:solidFill>
                <a:latin typeface="Arial"/>
              </a:rPr>
              <a:t>Notifies responders and can trigger auto-remediation (Domain 5).</a:t>
            </a:r>
          </a:p>
        </p:txBody>
      </p:sp>
      <p:sp>
        <p:nvSpPr>
          <p:cNvPr id="27" name="Rectangle 26"/>
          <p:cNvSpPr/>
          <p:nvPr/>
        </p:nvSpPr>
        <p:spPr>
          <a:xfrm>
            <a:off x="777240" y="5010912"/>
            <a:ext cx="10634472" cy="86868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Rectangle 27"/>
          <p:cNvSpPr/>
          <p:nvPr/>
        </p:nvSpPr>
        <p:spPr>
          <a:xfrm>
            <a:off x="777240" y="5010912"/>
            <a:ext cx="91440" cy="86868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TextBox 28"/>
          <p:cNvSpPr txBox="1"/>
          <p:nvPr/>
        </p:nvSpPr>
        <p:spPr>
          <a:xfrm>
            <a:off x="1033272" y="5102352"/>
            <a:ext cx="2743200" cy="320040"/>
          </a:xfrm>
          <a:prstGeom prst="rect">
            <a:avLst/>
          </a:prstGeom>
          <a:noFill/>
        </p:spPr>
        <p:txBody>
          <a:bodyPr wrap="square" anchor="t">
            <a:spAutoFit/>
          </a:bodyPr>
          <a:lstStyle/>
          <a:p>
            <a:pPr algn="l">
              <a:spcAft>
                <a:spcPts val="400"/>
              </a:spcAft>
            </a:pPr>
            <a:r>
              <a:rPr sz="1150" b="1">
                <a:solidFill>
                  <a:srgbClr val="10B981"/>
                </a:solidFill>
                <a:latin typeface="Arial"/>
              </a:rPr>
              <a:t>TAKEAWAY</a:t>
            </a:r>
          </a:p>
        </p:txBody>
      </p:sp>
      <p:sp>
        <p:nvSpPr>
          <p:cNvPr id="30" name="TextBox 29"/>
          <p:cNvSpPr txBox="1"/>
          <p:nvPr/>
        </p:nvSpPr>
        <p:spPr>
          <a:xfrm>
            <a:off x="1033272" y="5394960"/>
            <a:ext cx="10085832" cy="457200"/>
          </a:xfrm>
          <a:prstGeom prst="rect">
            <a:avLst/>
          </a:prstGeom>
          <a:noFill/>
        </p:spPr>
        <p:txBody>
          <a:bodyPr wrap="square" anchor="t">
            <a:spAutoFit/>
          </a:bodyPr>
          <a:lstStyle/>
          <a:p>
            <a:pPr algn="l">
              <a:spcAft>
                <a:spcPts val="400"/>
              </a:spcAft>
            </a:pPr>
            <a:r>
              <a:rPr sz="1300" b="1">
                <a:solidFill>
                  <a:srgbClr val="161B26"/>
                </a:solidFill>
                <a:latin typeface="Arial"/>
              </a:rPr>
              <a:t>Observability is a pipeline: capture → extract → alarm → act. Each stage turns raw data into faster recovery.</a:t>
            </a:r>
          </a:p>
        </p:txBody>
      </p:sp>
      <p:sp>
        <p:nvSpPr>
          <p:cNvPr id="31" name="TextBox 30"/>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DevOps Engineering on AWS  ·  TGS-2023040474</a:t>
            </a:r>
          </a:p>
        </p:txBody>
      </p:sp>
      <p:sp>
        <p:nvSpPr>
          <p:cNvPr id="32" name="TextBox 31"/>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33" name="TextBox 32"/>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155</a:t>
            </a:r>
          </a:p>
        </p:txBody>
      </p:sp>
    </p:spTree>
  </p:cSld>
  <p:clrMapOvr>
    <a:masterClrMapping/>
  </p:clrMapOvr>
  <p:transition xmlns:p14="http://schemas.microsoft.com/office/powerpoint/2010/main" p14:dur="380">
    <p:fade/>
  </p:transition>
</p:sld>
</file>

<file path=ppt/slides/slide15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38912"/>
            <a:ext cx="10607040" cy="365760"/>
          </a:xfrm>
          <a:prstGeom prst="rect">
            <a:avLst/>
          </a:prstGeom>
          <a:noFill/>
        </p:spPr>
        <p:txBody>
          <a:bodyPr wrap="square" anchor="t">
            <a:spAutoFit/>
          </a:bodyPr>
          <a:lstStyle/>
          <a:p>
            <a:pPr algn="l">
              <a:spcAft>
                <a:spcPts val="400"/>
              </a:spcAft>
            </a:pPr>
            <a:r>
              <a:rPr sz="1400" b="1">
                <a:solidFill>
                  <a:srgbClr val="F59E0B"/>
                </a:solidFill>
                <a:latin typeface="Arial"/>
              </a:rPr>
              <a:t>LAB 16 · DAY 4 · LO4 · HANDS-ON</a:t>
            </a:r>
          </a:p>
        </p:txBody>
      </p:sp>
      <p:sp>
        <p:nvSpPr>
          <p:cNvPr id="5" name="TextBox 4"/>
          <p:cNvSpPr txBox="1"/>
          <p:nvPr/>
        </p:nvSpPr>
        <p:spPr>
          <a:xfrm>
            <a:off x="777240" y="896112"/>
            <a:ext cx="10927080" cy="731520"/>
          </a:xfrm>
          <a:prstGeom prst="rect">
            <a:avLst/>
          </a:prstGeom>
          <a:noFill/>
        </p:spPr>
        <p:txBody>
          <a:bodyPr wrap="square" anchor="t">
            <a:spAutoFit/>
          </a:bodyPr>
          <a:lstStyle/>
          <a:p>
            <a:pPr algn="l">
              <a:spcAft>
                <a:spcPts val="400"/>
              </a:spcAft>
            </a:pPr>
            <a:r>
              <a:rPr sz="2100" b="1">
                <a:solidFill>
                  <a:srgbClr val="161B26"/>
                </a:solidFill>
                <a:latin typeface="Arial"/>
              </a:rPr>
              <a:t>Collect Custom Metrics with the CloudWatch Agent and Build an Operations Dashboard</a:t>
            </a:r>
          </a:p>
        </p:txBody>
      </p:sp>
      <p:sp>
        <p:nvSpPr>
          <p:cNvPr id="6" name="Rectangle 5"/>
          <p:cNvSpPr/>
          <p:nvPr/>
        </p:nvSpPr>
        <p:spPr>
          <a:xfrm>
            <a:off x="777240" y="1572768"/>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737360"/>
            <a:ext cx="1737360" cy="457200"/>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77240" y="1783080"/>
            <a:ext cx="1737360" cy="365760"/>
          </a:xfrm>
          <a:prstGeom prst="rect">
            <a:avLst/>
          </a:prstGeom>
          <a:noFill/>
        </p:spPr>
        <p:txBody>
          <a:bodyPr wrap="square" anchor="t">
            <a:spAutoFit/>
          </a:bodyPr>
          <a:lstStyle/>
          <a:p>
            <a:pPr algn="ctr">
              <a:spcAft>
                <a:spcPts val="400"/>
              </a:spcAft>
            </a:pPr>
            <a:r>
              <a:rPr sz="1600" b="1">
                <a:solidFill>
                  <a:srgbClr val="FFFFFF"/>
                </a:solidFill>
                <a:latin typeface="Arial"/>
              </a:rPr>
              <a:t>LAB 16</a:t>
            </a:r>
          </a:p>
        </p:txBody>
      </p:sp>
      <p:sp>
        <p:nvSpPr>
          <p:cNvPr id="9" name="TextBox 8"/>
          <p:cNvSpPr txBox="1"/>
          <p:nvPr/>
        </p:nvSpPr>
        <p:spPr>
          <a:xfrm>
            <a:off x="2697480" y="1783080"/>
            <a:ext cx="3566160" cy="365760"/>
          </a:xfrm>
          <a:prstGeom prst="rect">
            <a:avLst/>
          </a:prstGeom>
          <a:noFill/>
        </p:spPr>
        <p:txBody>
          <a:bodyPr wrap="square" anchor="t">
            <a:spAutoFit/>
          </a:bodyPr>
          <a:lstStyle/>
          <a:p>
            <a:pPr algn="l">
              <a:spcAft>
                <a:spcPts val="400"/>
              </a:spcAft>
            </a:pPr>
            <a:r>
              <a:rPr sz="1200" b="1">
                <a:solidFill>
                  <a:srgbClr val="5B6372"/>
                </a:solidFill>
                <a:latin typeface="Arial"/>
              </a:rPr>
              <a:t>Day 4 · LO4 · K5, A6</a:t>
            </a:r>
          </a:p>
        </p:txBody>
      </p:sp>
      <p:sp>
        <p:nvSpPr>
          <p:cNvPr id="10" name="TextBox 9"/>
          <p:cNvSpPr txBox="1"/>
          <p:nvPr/>
        </p:nvSpPr>
        <p:spPr>
          <a:xfrm>
            <a:off x="777240" y="2286000"/>
            <a:ext cx="5486400" cy="1058545"/>
          </a:xfrm>
          <a:prstGeom prst="rect">
            <a:avLst/>
          </a:prstGeom>
          <a:noFill/>
        </p:spPr>
        <p:txBody>
          <a:bodyPr wrap="square" anchor="t">
            <a:spAutoFit/>
          </a:bodyPr>
          <a:lstStyle/>
          <a:p>
            <a:pPr algn="l">
              <a:spcAft>
                <a:spcPts val="400"/>
              </a:spcAft>
            </a:pPr>
            <a:r>
              <a:rPr sz="1350" b="0">
                <a:solidFill>
                  <a:srgbClr val="161B26"/>
                </a:solidFill>
                <a:latin typeface="Arial"/>
              </a:rPr>
              <a:t>Your team runs a web app on EC2 but only has the default hypervisor CPU metric — you are blind to memory pressure, disk usage and application latency. In this lab you install and configure the CloudWatch agent to publish memory and disk …</a:t>
            </a:r>
          </a:p>
        </p:txBody>
      </p:sp>
      <p:sp>
        <p:nvSpPr>
          <p:cNvPr id="11" name="Rectangle 10"/>
          <p:cNvSpPr/>
          <p:nvPr/>
        </p:nvSpPr>
        <p:spPr>
          <a:xfrm>
            <a:off x="777240" y="3454273"/>
            <a:ext cx="5486400" cy="1658366"/>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ectangle 11"/>
          <p:cNvSpPr/>
          <p:nvPr/>
        </p:nvSpPr>
        <p:spPr>
          <a:xfrm>
            <a:off x="777240" y="3454273"/>
            <a:ext cx="91440" cy="1658366"/>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960120" y="3582289"/>
            <a:ext cx="5120640" cy="274320"/>
          </a:xfrm>
          <a:prstGeom prst="rect">
            <a:avLst/>
          </a:prstGeom>
          <a:noFill/>
        </p:spPr>
        <p:txBody>
          <a:bodyPr wrap="square" anchor="t">
            <a:spAutoFit/>
          </a:bodyPr>
          <a:lstStyle/>
          <a:p>
            <a:pPr algn="l">
              <a:spcAft>
                <a:spcPts val="400"/>
              </a:spcAft>
            </a:pPr>
            <a:r>
              <a:rPr sz="1200" b="1">
                <a:solidFill>
                  <a:srgbClr val="F59E0B"/>
                </a:solidFill>
                <a:latin typeface="Arial"/>
              </a:rPr>
              <a:t>YOU'LL BUILD</a:t>
            </a:r>
          </a:p>
        </p:txBody>
      </p:sp>
      <p:sp>
        <p:nvSpPr>
          <p:cNvPr id="14" name="TextBox 13"/>
          <p:cNvSpPr txBox="1"/>
          <p:nvPr/>
        </p:nvSpPr>
        <p:spPr>
          <a:xfrm>
            <a:off x="960120" y="3856609"/>
            <a:ext cx="5166360" cy="726440"/>
          </a:xfrm>
          <a:prstGeom prst="rect">
            <a:avLst/>
          </a:prstGeom>
          <a:noFill/>
        </p:spPr>
        <p:txBody>
          <a:bodyPr wrap="square" anchor="t">
            <a:spAutoFit/>
          </a:bodyPr>
          <a:lstStyle/>
          <a:p>
            <a:pPr algn="l">
              <a:spcAft>
                <a:spcPts val="400"/>
              </a:spcAft>
            </a:pPr>
            <a:r>
              <a:rPr sz="1100" b="1">
                <a:solidFill>
                  <a:srgbClr val="161B26"/>
                </a:solidFill>
                <a:latin typeface="Arial"/>
              </a:rPr>
              <a:t>A running CloudWatch agent emitting memory/disk custom metrics, a script publishing app latency/request/error metrics, and a CloudWatch dashboard visualising CPU, p90 latency, errors and request count.</a:t>
            </a:r>
          </a:p>
        </p:txBody>
      </p:sp>
      <p:sp>
        <p:nvSpPr>
          <p:cNvPr id="15" name="TextBox 14"/>
          <p:cNvSpPr txBox="1"/>
          <p:nvPr/>
        </p:nvSpPr>
        <p:spPr>
          <a:xfrm>
            <a:off x="960120" y="4637913"/>
            <a:ext cx="5166360" cy="346710"/>
          </a:xfrm>
          <a:prstGeom prst="rect">
            <a:avLst/>
          </a:prstGeom>
          <a:noFill/>
        </p:spPr>
        <p:txBody>
          <a:bodyPr wrap="square" anchor="t">
            <a:spAutoFit/>
          </a:bodyPr>
          <a:lstStyle/>
          <a:p>
            <a:pPr algn="l">
              <a:spcAft>
                <a:spcPts val="400"/>
              </a:spcAft>
            </a:pPr>
            <a:r>
              <a:rPr sz="1050" b="0">
                <a:solidFill>
                  <a:srgbClr val="5B6372"/>
                </a:solidFill>
                <a:latin typeface="Arial"/>
              </a:rPr>
              <a:t>Tools:  Amazon CloudWatch, CloudWatch agent, Amazon EC2, AWS Systems Manager (SSM Parameter Store), IAM</a:t>
            </a:r>
          </a:p>
        </p:txBody>
      </p:sp>
      <p:sp>
        <p:nvSpPr>
          <p:cNvPr id="16" name="Rectangle 15"/>
          <p:cNvSpPr/>
          <p:nvPr/>
        </p:nvSpPr>
        <p:spPr>
          <a:xfrm>
            <a:off x="777240" y="5222367"/>
            <a:ext cx="5486400" cy="1105281"/>
          </a:xfrm>
          <a:prstGeom prst="rect">
            <a:avLst/>
          </a:prstGeom>
          <a:solidFill>
            <a:srgbClr val="FFFFFF"/>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ectangle 16"/>
          <p:cNvSpPr/>
          <p:nvPr/>
        </p:nvSpPr>
        <p:spPr>
          <a:xfrm>
            <a:off x="777240" y="5222367"/>
            <a:ext cx="91440" cy="1105281"/>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960120" y="5350383"/>
            <a:ext cx="5120640" cy="274320"/>
          </a:xfrm>
          <a:prstGeom prst="rect">
            <a:avLst/>
          </a:prstGeom>
          <a:noFill/>
        </p:spPr>
        <p:txBody>
          <a:bodyPr wrap="square" anchor="t">
            <a:spAutoFit/>
          </a:bodyPr>
          <a:lstStyle/>
          <a:p>
            <a:pPr algn="l">
              <a:spcAft>
                <a:spcPts val="400"/>
              </a:spcAft>
            </a:pPr>
            <a:r>
              <a:rPr sz="1200" b="1">
                <a:solidFill>
                  <a:srgbClr val="10B981"/>
                </a:solidFill>
                <a:latin typeface="Arial"/>
              </a:rPr>
              <a:t>OUTCOME &amp; EVIDENCE</a:t>
            </a:r>
          </a:p>
        </p:txBody>
      </p:sp>
      <p:sp>
        <p:nvSpPr>
          <p:cNvPr id="19" name="TextBox 18"/>
          <p:cNvSpPr txBox="1"/>
          <p:nvPr/>
        </p:nvSpPr>
        <p:spPr>
          <a:xfrm>
            <a:off x="960120" y="5624703"/>
            <a:ext cx="5166360" cy="520065"/>
          </a:xfrm>
          <a:prstGeom prst="rect">
            <a:avLst/>
          </a:prstGeom>
          <a:noFill/>
        </p:spPr>
        <p:txBody>
          <a:bodyPr wrap="square" anchor="t">
            <a:spAutoFit/>
          </a:bodyPr>
          <a:lstStyle/>
          <a:p>
            <a:pPr algn="l">
              <a:spcAft>
                <a:spcPts val="300"/>
              </a:spcAft>
            </a:pPr>
            <a:r>
              <a:rPr sz="1050" b="0">
                <a:solidFill>
                  <a:srgbClr val="5B6372"/>
                </a:solidFill>
                <a:latin typeface="Arial"/>
              </a:rPr>
              <a:t>Outcome: Publishing a fresh batch of samples with put-metric.sh causes the latency (p90), request-count and error-count widgets to move within one …</a:t>
            </a:r>
          </a:p>
          <a:p>
            <a:pPr algn="l">
              <a:spcAft>
                <a:spcPts val="300"/>
              </a:spcAft>
            </a:pPr>
            <a:r>
              <a:rPr sz="1050" b="0">
                <a:solidFill>
                  <a:srgbClr val="5B6372"/>
                </a:solidFill>
                <a:latin typeface="Arial"/>
              </a:rPr>
              <a:t>Evidence:  Output of showing the agent running.</a:t>
            </a:r>
          </a:p>
        </p:txBody>
      </p:sp>
      <p:sp>
        <p:nvSpPr>
          <p:cNvPr id="20" name="Rectangle 19"/>
          <p:cNvSpPr/>
          <p:nvPr/>
        </p:nvSpPr>
        <p:spPr>
          <a:xfrm>
            <a:off x="6446520" y="1783080"/>
            <a:ext cx="5029200" cy="2901403"/>
          </a:xfrm>
          <a:prstGeom prst="rect">
            <a:avLst/>
          </a:prstGeom>
          <a:solidFill>
            <a:srgbClr val="F5F8FC"/>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21" name="Picture 20" descr="lab-16-cloudwatch-metrics-dashboard.jpg"/>
          <p:cNvPicPr>
            <a:picLocks noChangeAspect="1"/>
          </p:cNvPicPr>
          <p:nvPr/>
        </p:nvPicPr>
        <p:blipFill>
          <a:blip r:embed="rId2"/>
          <a:stretch>
            <a:fillRect/>
          </a:stretch>
        </p:blipFill>
        <p:spPr>
          <a:xfrm>
            <a:off x="6492240" y="1828800"/>
            <a:ext cx="4937760" cy="2809963"/>
          </a:xfrm>
          <a:prstGeom prst="rect">
            <a:avLst/>
          </a:prstGeom>
        </p:spPr>
      </p:pic>
      <p:sp>
        <p:nvSpPr>
          <p:cNvPr id="22" name="TextBox 21"/>
          <p:cNvSpPr txBox="1"/>
          <p:nvPr/>
        </p:nvSpPr>
        <p:spPr>
          <a:xfrm>
            <a:off x="6492240" y="4730203"/>
            <a:ext cx="4937760" cy="365760"/>
          </a:xfrm>
          <a:prstGeom prst="rect">
            <a:avLst/>
          </a:prstGeom>
          <a:noFill/>
        </p:spPr>
        <p:txBody>
          <a:bodyPr wrap="square" anchor="t">
            <a:spAutoFit/>
          </a:bodyPr>
          <a:lstStyle/>
          <a:p>
            <a:pPr algn="ctr">
              <a:spcAft>
                <a:spcPts val="400"/>
              </a:spcAft>
            </a:pPr>
            <a:r>
              <a:rPr sz="1100" b="1">
                <a:solidFill>
                  <a:srgbClr val="5B6372"/>
                </a:solidFill>
                <a:latin typeface="Arial"/>
              </a:rPr>
              <a:t>Reference architecture</a:t>
            </a:r>
          </a:p>
        </p:txBody>
      </p:sp>
      <p:sp>
        <p:nvSpPr>
          <p:cNvPr id="23" name="TextBox 22"/>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DevOps Engineering on AWS  ·  TGS-2023040474</a:t>
            </a:r>
          </a:p>
        </p:txBody>
      </p:sp>
      <p:sp>
        <p:nvSpPr>
          <p:cNvPr id="24" name="TextBox 23"/>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25" name="TextBox 24"/>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156</a:t>
            </a:r>
          </a:p>
        </p:txBody>
      </p:sp>
    </p:spTree>
  </p:cSld>
  <p:clrMapOvr>
    <a:masterClrMapping/>
  </p:clrMapOvr>
  <p:transition xmlns:p14="http://schemas.microsoft.com/office/powerpoint/2010/main" p14:dur="380">
    <p:fade/>
  </p:transition>
</p:sld>
</file>

<file path=ppt/slides/slide15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38912"/>
            <a:ext cx="10607040" cy="365760"/>
          </a:xfrm>
          <a:prstGeom prst="rect">
            <a:avLst/>
          </a:prstGeom>
          <a:noFill/>
        </p:spPr>
        <p:txBody>
          <a:bodyPr wrap="square" anchor="t">
            <a:spAutoFit/>
          </a:bodyPr>
          <a:lstStyle/>
          <a:p>
            <a:pPr algn="l">
              <a:spcAft>
                <a:spcPts val="400"/>
              </a:spcAft>
            </a:pPr>
            <a:r>
              <a:rPr sz="1400" b="1">
                <a:solidFill>
                  <a:srgbClr val="F59E0B"/>
                </a:solidFill>
                <a:latin typeface="Arial"/>
              </a:rPr>
              <a:t>LAB 17 · DAY 4 · LO4 · HANDS-ON</a:t>
            </a:r>
          </a:p>
        </p:txBody>
      </p:sp>
      <p:sp>
        <p:nvSpPr>
          <p:cNvPr id="5" name="TextBox 4"/>
          <p:cNvSpPr txBox="1"/>
          <p:nvPr/>
        </p:nvSpPr>
        <p:spPr>
          <a:xfrm>
            <a:off x="777240" y="896112"/>
            <a:ext cx="10927080" cy="731520"/>
          </a:xfrm>
          <a:prstGeom prst="rect">
            <a:avLst/>
          </a:prstGeom>
          <a:noFill/>
        </p:spPr>
        <p:txBody>
          <a:bodyPr wrap="square" anchor="t">
            <a:spAutoFit/>
          </a:bodyPr>
          <a:lstStyle/>
          <a:p>
            <a:pPr algn="l">
              <a:spcAft>
                <a:spcPts val="400"/>
              </a:spcAft>
            </a:pPr>
            <a:r>
              <a:rPr sz="2100" b="1">
                <a:solidFill>
                  <a:srgbClr val="161B26"/>
                </a:solidFill>
                <a:latin typeface="Arial"/>
              </a:rPr>
              <a:t>Centralise Logs in CloudWatch Logs and Analyse Them with Logs Insights</a:t>
            </a:r>
          </a:p>
        </p:txBody>
      </p:sp>
      <p:sp>
        <p:nvSpPr>
          <p:cNvPr id="6" name="Rectangle 5"/>
          <p:cNvSpPr/>
          <p:nvPr/>
        </p:nvSpPr>
        <p:spPr>
          <a:xfrm>
            <a:off x="777240" y="1572768"/>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737360"/>
            <a:ext cx="1737360" cy="457200"/>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77240" y="1783080"/>
            <a:ext cx="1737360" cy="365760"/>
          </a:xfrm>
          <a:prstGeom prst="rect">
            <a:avLst/>
          </a:prstGeom>
          <a:noFill/>
        </p:spPr>
        <p:txBody>
          <a:bodyPr wrap="square" anchor="t">
            <a:spAutoFit/>
          </a:bodyPr>
          <a:lstStyle/>
          <a:p>
            <a:pPr algn="ctr">
              <a:spcAft>
                <a:spcPts val="400"/>
              </a:spcAft>
            </a:pPr>
            <a:r>
              <a:rPr sz="1600" b="1">
                <a:solidFill>
                  <a:srgbClr val="FFFFFF"/>
                </a:solidFill>
                <a:latin typeface="Arial"/>
              </a:rPr>
              <a:t>LAB 17</a:t>
            </a:r>
          </a:p>
        </p:txBody>
      </p:sp>
      <p:sp>
        <p:nvSpPr>
          <p:cNvPr id="9" name="TextBox 8"/>
          <p:cNvSpPr txBox="1"/>
          <p:nvPr/>
        </p:nvSpPr>
        <p:spPr>
          <a:xfrm>
            <a:off x="2697480" y="1783080"/>
            <a:ext cx="3566160" cy="365760"/>
          </a:xfrm>
          <a:prstGeom prst="rect">
            <a:avLst/>
          </a:prstGeom>
          <a:noFill/>
        </p:spPr>
        <p:txBody>
          <a:bodyPr wrap="square" anchor="t">
            <a:spAutoFit/>
          </a:bodyPr>
          <a:lstStyle/>
          <a:p>
            <a:pPr algn="l">
              <a:spcAft>
                <a:spcPts val="400"/>
              </a:spcAft>
            </a:pPr>
            <a:r>
              <a:rPr sz="1200" b="1">
                <a:solidFill>
                  <a:srgbClr val="5B6372"/>
                </a:solidFill>
                <a:latin typeface="Arial"/>
              </a:rPr>
              <a:t>Day 4 · LO4 · K5, A6</a:t>
            </a:r>
          </a:p>
        </p:txBody>
      </p:sp>
      <p:sp>
        <p:nvSpPr>
          <p:cNvPr id="10" name="TextBox 9"/>
          <p:cNvSpPr txBox="1"/>
          <p:nvPr/>
        </p:nvSpPr>
        <p:spPr>
          <a:xfrm>
            <a:off x="777240" y="2286000"/>
            <a:ext cx="5486400" cy="1017270"/>
          </a:xfrm>
          <a:prstGeom prst="rect">
            <a:avLst/>
          </a:prstGeom>
          <a:noFill/>
        </p:spPr>
        <p:txBody>
          <a:bodyPr wrap="square" anchor="t">
            <a:spAutoFit/>
          </a:bodyPr>
          <a:lstStyle/>
          <a:p>
            <a:pPr algn="l">
              <a:spcAft>
                <a:spcPts val="400"/>
              </a:spcAft>
            </a:pPr>
            <a:r>
              <a:rPr sz="1350" b="0">
                <a:solidFill>
                  <a:srgbClr val="161B26"/>
                </a:solidFill>
                <a:latin typeface="Arial"/>
              </a:rPr>
              <a:t>When an incident hits, grepping across scattered instances wastes precious minutes. In this lab you centralise your application and system logs into CloudWatch Logs — creating log groups with a sensible retention policy and extending the …</a:t>
            </a:r>
          </a:p>
        </p:txBody>
      </p:sp>
      <p:sp>
        <p:nvSpPr>
          <p:cNvPr id="11" name="Rectangle 10"/>
          <p:cNvSpPr/>
          <p:nvPr/>
        </p:nvSpPr>
        <p:spPr>
          <a:xfrm>
            <a:off x="777240" y="3412998"/>
            <a:ext cx="5486400" cy="1526286"/>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ectangle 11"/>
          <p:cNvSpPr/>
          <p:nvPr/>
        </p:nvSpPr>
        <p:spPr>
          <a:xfrm>
            <a:off x="777240" y="3412998"/>
            <a:ext cx="91440" cy="1526286"/>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960120" y="3541014"/>
            <a:ext cx="5120640" cy="274320"/>
          </a:xfrm>
          <a:prstGeom prst="rect">
            <a:avLst/>
          </a:prstGeom>
          <a:noFill/>
        </p:spPr>
        <p:txBody>
          <a:bodyPr wrap="square" anchor="t">
            <a:spAutoFit/>
          </a:bodyPr>
          <a:lstStyle/>
          <a:p>
            <a:pPr algn="l">
              <a:spcAft>
                <a:spcPts val="400"/>
              </a:spcAft>
            </a:pPr>
            <a:r>
              <a:rPr sz="1200" b="1">
                <a:solidFill>
                  <a:srgbClr val="F59E0B"/>
                </a:solidFill>
                <a:latin typeface="Arial"/>
              </a:rPr>
              <a:t>YOU'LL BUILD</a:t>
            </a:r>
          </a:p>
        </p:txBody>
      </p:sp>
      <p:sp>
        <p:nvSpPr>
          <p:cNvPr id="14" name="TextBox 13"/>
          <p:cNvSpPr txBox="1"/>
          <p:nvPr/>
        </p:nvSpPr>
        <p:spPr>
          <a:xfrm>
            <a:off x="960120" y="3815334"/>
            <a:ext cx="5166360" cy="594360"/>
          </a:xfrm>
          <a:prstGeom prst="rect">
            <a:avLst/>
          </a:prstGeom>
          <a:noFill/>
        </p:spPr>
        <p:txBody>
          <a:bodyPr wrap="square" anchor="t">
            <a:spAutoFit/>
          </a:bodyPr>
          <a:lstStyle/>
          <a:p>
            <a:pPr algn="l">
              <a:spcAft>
                <a:spcPts val="400"/>
              </a:spcAft>
            </a:pPr>
            <a:r>
              <a:rPr sz="1200" b="1">
                <a:solidFill>
                  <a:srgbClr val="161B26"/>
                </a:solidFill>
                <a:latin typeface="Arial"/>
              </a:rPr>
              <a:t>Centralised app and system log groups (with retention) fed by the CloudWatch agent, plus a set of saved Logs Insights queries that surface the slowest and most error-prone requests.</a:t>
            </a:r>
          </a:p>
        </p:txBody>
      </p:sp>
      <p:sp>
        <p:nvSpPr>
          <p:cNvPr id="15" name="TextBox 14"/>
          <p:cNvSpPr txBox="1"/>
          <p:nvPr/>
        </p:nvSpPr>
        <p:spPr>
          <a:xfrm>
            <a:off x="960120" y="4464558"/>
            <a:ext cx="5166360" cy="346710"/>
          </a:xfrm>
          <a:prstGeom prst="rect">
            <a:avLst/>
          </a:prstGeom>
          <a:noFill/>
        </p:spPr>
        <p:txBody>
          <a:bodyPr wrap="square" anchor="t">
            <a:spAutoFit/>
          </a:bodyPr>
          <a:lstStyle/>
          <a:p>
            <a:pPr algn="l">
              <a:spcAft>
                <a:spcPts val="400"/>
              </a:spcAft>
            </a:pPr>
            <a:r>
              <a:rPr sz="1050" b="0">
                <a:solidFill>
                  <a:srgbClr val="5B6372"/>
                </a:solidFill>
                <a:latin typeface="Arial"/>
              </a:rPr>
              <a:t>Tools:  Amazon CloudWatch Logs, CloudWatch Logs Insights, CloudWatch agent, Amazon EC2, IAM</a:t>
            </a:r>
          </a:p>
        </p:txBody>
      </p:sp>
      <p:sp>
        <p:nvSpPr>
          <p:cNvPr id="16" name="Rectangle 15"/>
          <p:cNvSpPr/>
          <p:nvPr/>
        </p:nvSpPr>
        <p:spPr>
          <a:xfrm>
            <a:off x="777240" y="5049012"/>
            <a:ext cx="5486400" cy="1278636"/>
          </a:xfrm>
          <a:prstGeom prst="rect">
            <a:avLst/>
          </a:prstGeom>
          <a:solidFill>
            <a:srgbClr val="FFFFFF"/>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ectangle 16"/>
          <p:cNvSpPr/>
          <p:nvPr/>
        </p:nvSpPr>
        <p:spPr>
          <a:xfrm>
            <a:off x="777240" y="5049012"/>
            <a:ext cx="91440" cy="1278636"/>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960120" y="5177028"/>
            <a:ext cx="5120640" cy="274320"/>
          </a:xfrm>
          <a:prstGeom prst="rect">
            <a:avLst/>
          </a:prstGeom>
          <a:noFill/>
        </p:spPr>
        <p:txBody>
          <a:bodyPr wrap="square" anchor="t">
            <a:spAutoFit/>
          </a:bodyPr>
          <a:lstStyle/>
          <a:p>
            <a:pPr algn="l">
              <a:spcAft>
                <a:spcPts val="400"/>
              </a:spcAft>
            </a:pPr>
            <a:r>
              <a:rPr sz="1200" b="1">
                <a:solidFill>
                  <a:srgbClr val="10B981"/>
                </a:solidFill>
                <a:latin typeface="Arial"/>
              </a:rPr>
              <a:t>OUTCOME &amp; EVIDENCE</a:t>
            </a:r>
          </a:p>
        </p:txBody>
      </p:sp>
      <p:sp>
        <p:nvSpPr>
          <p:cNvPr id="19" name="TextBox 18"/>
          <p:cNvSpPr txBox="1"/>
          <p:nvPr/>
        </p:nvSpPr>
        <p:spPr>
          <a:xfrm>
            <a:off x="960120" y="5451348"/>
            <a:ext cx="5166360" cy="693420"/>
          </a:xfrm>
          <a:prstGeom prst="rect">
            <a:avLst/>
          </a:prstGeom>
          <a:noFill/>
        </p:spPr>
        <p:txBody>
          <a:bodyPr wrap="square" anchor="t">
            <a:spAutoFit/>
          </a:bodyPr>
          <a:lstStyle/>
          <a:p>
            <a:pPr algn="l">
              <a:spcAft>
                <a:spcPts val="300"/>
              </a:spcAft>
            </a:pPr>
            <a:r>
              <a:rPr sz="1050" b="0">
                <a:solidFill>
                  <a:srgbClr val="5B6372"/>
                </a:solidFill>
                <a:latin typeface="Arial"/>
              </a:rPr>
              <a:t>Outcome: Running the 'slowest requests' and 'errors by path' Insights queries over the last 30 minutes returns concrete endpoints ordered by …</a:t>
            </a:r>
          </a:p>
          <a:p>
            <a:pPr algn="l">
              <a:spcAft>
                <a:spcPts val="300"/>
              </a:spcAft>
            </a:pPr>
            <a:r>
              <a:rPr sz="1050" b="0">
                <a:solidFill>
                  <a:srgbClr val="5B6372"/>
                </a:solidFill>
                <a:latin typeface="Arial"/>
              </a:rPr>
              <a:t>Evidence:  output showing /devops/app and /devops/system with retentionInDays 14.</a:t>
            </a:r>
          </a:p>
        </p:txBody>
      </p:sp>
      <p:sp>
        <p:nvSpPr>
          <p:cNvPr id="20" name="Rectangle 19"/>
          <p:cNvSpPr/>
          <p:nvPr/>
        </p:nvSpPr>
        <p:spPr>
          <a:xfrm>
            <a:off x="6446520" y="1783080"/>
            <a:ext cx="5029200" cy="2901403"/>
          </a:xfrm>
          <a:prstGeom prst="rect">
            <a:avLst/>
          </a:prstGeom>
          <a:solidFill>
            <a:srgbClr val="F5F8FC"/>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21" name="Picture 20" descr="lab-17-centralized-logs-insights.jpg"/>
          <p:cNvPicPr>
            <a:picLocks noChangeAspect="1"/>
          </p:cNvPicPr>
          <p:nvPr/>
        </p:nvPicPr>
        <p:blipFill>
          <a:blip r:embed="rId2"/>
          <a:stretch>
            <a:fillRect/>
          </a:stretch>
        </p:blipFill>
        <p:spPr>
          <a:xfrm>
            <a:off x="6492240" y="1828800"/>
            <a:ext cx="4937760" cy="2809963"/>
          </a:xfrm>
          <a:prstGeom prst="rect">
            <a:avLst/>
          </a:prstGeom>
        </p:spPr>
      </p:pic>
      <p:sp>
        <p:nvSpPr>
          <p:cNvPr id="22" name="TextBox 21"/>
          <p:cNvSpPr txBox="1"/>
          <p:nvPr/>
        </p:nvSpPr>
        <p:spPr>
          <a:xfrm>
            <a:off x="6492240" y="4730203"/>
            <a:ext cx="4937760" cy="365760"/>
          </a:xfrm>
          <a:prstGeom prst="rect">
            <a:avLst/>
          </a:prstGeom>
          <a:noFill/>
        </p:spPr>
        <p:txBody>
          <a:bodyPr wrap="square" anchor="t">
            <a:spAutoFit/>
          </a:bodyPr>
          <a:lstStyle/>
          <a:p>
            <a:pPr algn="ctr">
              <a:spcAft>
                <a:spcPts val="400"/>
              </a:spcAft>
            </a:pPr>
            <a:r>
              <a:rPr sz="1100" b="1">
                <a:solidFill>
                  <a:srgbClr val="5B6372"/>
                </a:solidFill>
                <a:latin typeface="Arial"/>
              </a:rPr>
              <a:t>Reference architecture</a:t>
            </a:r>
          </a:p>
        </p:txBody>
      </p:sp>
      <p:sp>
        <p:nvSpPr>
          <p:cNvPr id="23" name="TextBox 22"/>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DevOps Engineering on AWS  ·  TGS-2023040474</a:t>
            </a:r>
          </a:p>
        </p:txBody>
      </p:sp>
      <p:sp>
        <p:nvSpPr>
          <p:cNvPr id="24" name="TextBox 23"/>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25" name="TextBox 24"/>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157</a:t>
            </a:r>
          </a:p>
        </p:txBody>
      </p:sp>
    </p:spTree>
  </p:cSld>
  <p:clrMapOvr>
    <a:masterClrMapping/>
  </p:clrMapOvr>
  <p:transition xmlns:p14="http://schemas.microsoft.com/office/powerpoint/2010/main" p14:dur="380">
    <p:fade/>
  </p:transition>
</p:sld>
</file>

<file path=ppt/slides/slide15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38912"/>
            <a:ext cx="10607040" cy="365760"/>
          </a:xfrm>
          <a:prstGeom prst="rect">
            <a:avLst/>
          </a:prstGeom>
          <a:noFill/>
        </p:spPr>
        <p:txBody>
          <a:bodyPr wrap="square" anchor="t">
            <a:spAutoFit/>
          </a:bodyPr>
          <a:lstStyle/>
          <a:p>
            <a:pPr algn="l">
              <a:spcAft>
                <a:spcPts val="400"/>
              </a:spcAft>
            </a:pPr>
            <a:r>
              <a:rPr sz="1400" b="1">
                <a:solidFill>
                  <a:srgbClr val="F59E0B"/>
                </a:solidFill>
                <a:latin typeface="Arial"/>
              </a:rPr>
              <a:t>LAB 18 · DAY 4 · LO4 · HANDS-ON</a:t>
            </a:r>
          </a:p>
        </p:txBody>
      </p:sp>
      <p:sp>
        <p:nvSpPr>
          <p:cNvPr id="5" name="TextBox 4"/>
          <p:cNvSpPr txBox="1"/>
          <p:nvPr/>
        </p:nvSpPr>
        <p:spPr>
          <a:xfrm>
            <a:off x="777240" y="896112"/>
            <a:ext cx="10927080" cy="731520"/>
          </a:xfrm>
          <a:prstGeom prst="rect">
            <a:avLst/>
          </a:prstGeom>
          <a:noFill/>
        </p:spPr>
        <p:txBody>
          <a:bodyPr wrap="square" anchor="t">
            <a:spAutoFit/>
          </a:bodyPr>
          <a:lstStyle/>
          <a:p>
            <a:pPr algn="l">
              <a:spcAft>
                <a:spcPts val="400"/>
              </a:spcAft>
            </a:pPr>
            <a:r>
              <a:rPr sz="2100" b="1">
                <a:solidFill>
                  <a:srgbClr val="161B26"/>
                </a:solidFill>
                <a:latin typeface="Arial"/>
              </a:rPr>
              <a:t>Turn Logs into Signals: Metric Filters, CloudWatch Alarms and SNS Notifications</a:t>
            </a:r>
          </a:p>
        </p:txBody>
      </p:sp>
      <p:sp>
        <p:nvSpPr>
          <p:cNvPr id="6" name="Rectangle 5"/>
          <p:cNvSpPr/>
          <p:nvPr/>
        </p:nvSpPr>
        <p:spPr>
          <a:xfrm>
            <a:off x="777240" y="1572768"/>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737360"/>
            <a:ext cx="1737360" cy="457200"/>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77240" y="1783080"/>
            <a:ext cx="1737360" cy="365760"/>
          </a:xfrm>
          <a:prstGeom prst="rect">
            <a:avLst/>
          </a:prstGeom>
          <a:noFill/>
        </p:spPr>
        <p:txBody>
          <a:bodyPr wrap="square" anchor="t">
            <a:spAutoFit/>
          </a:bodyPr>
          <a:lstStyle/>
          <a:p>
            <a:pPr algn="ctr">
              <a:spcAft>
                <a:spcPts val="400"/>
              </a:spcAft>
            </a:pPr>
            <a:r>
              <a:rPr sz="1600" b="1">
                <a:solidFill>
                  <a:srgbClr val="FFFFFF"/>
                </a:solidFill>
                <a:latin typeface="Arial"/>
              </a:rPr>
              <a:t>LAB 18</a:t>
            </a:r>
          </a:p>
        </p:txBody>
      </p:sp>
      <p:sp>
        <p:nvSpPr>
          <p:cNvPr id="9" name="TextBox 8"/>
          <p:cNvSpPr txBox="1"/>
          <p:nvPr/>
        </p:nvSpPr>
        <p:spPr>
          <a:xfrm>
            <a:off x="2697480" y="1783080"/>
            <a:ext cx="3566160" cy="365760"/>
          </a:xfrm>
          <a:prstGeom prst="rect">
            <a:avLst/>
          </a:prstGeom>
          <a:noFill/>
        </p:spPr>
        <p:txBody>
          <a:bodyPr wrap="square" anchor="t">
            <a:spAutoFit/>
          </a:bodyPr>
          <a:lstStyle/>
          <a:p>
            <a:pPr algn="l">
              <a:spcAft>
                <a:spcPts val="400"/>
              </a:spcAft>
            </a:pPr>
            <a:r>
              <a:rPr sz="1200" b="1">
                <a:solidFill>
                  <a:srgbClr val="5B6372"/>
                </a:solidFill>
                <a:latin typeface="Arial"/>
              </a:rPr>
              <a:t>Day 4 · LO4 · K5, A6</a:t>
            </a:r>
          </a:p>
        </p:txBody>
      </p:sp>
      <p:sp>
        <p:nvSpPr>
          <p:cNvPr id="10" name="TextBox 9"/>
          <p:cNvSpPr txBox="1"/>
          <p:nvPr/>
        </p:nvSpPr>
        <p:spPr>
          <a:xfrm>
            <a:off x="777240" y="2286000"/>
            <a:ext cx="5486400" cy="1058545"/>
          </a:xfrm>
          <a:prstGeom prst="rect">
            <a:avLst/>
          </a:prstGeom>
          <a:noFill/>
        </p:spPr>
        <p:txBody>
          <a:bodyPr wrap="square" anchor="t">
            <a:spAutoFit/>
          </a:bodyPr>
          <a:lstStyle/>
          <a:p>
            <a:pPr algn="l">
              <a:spcAft>
                <a:spcPts val="400"/>
              </a:spcAft>
            </a:pPr>
            <a:r>
              <a:rPr sz="1350" b="0">
                <a:solidFill>
                  <a:srgbClr val="161B26"/>
                </a:solidFill>
                <a:latin typeface="Arial"/>
              </a:rPr>
              <a:t>Logs are only useful if they page someone when things go wrong. In this lab you turn the centralised app logs from Lab 17 into a signal: a CloudWatch Logs metric filter counts ERROR lines into a metric, then two alarms — one on the error metric …</a:t>
            </a:r>
          </a:p>
        </p:txBody>
      </p:sp>
      <p:sp>
        <p:nvSpPr>
          <p:cNvPr id="11" name="Rectangle 10"/>
          <p:cNvSpPr/>
          <p:nvPr/>
        </p:nvSpPr>
        <p:spPr>
          <a:xfrm>
            <a:off x="777240" y="3454273"/>
            <a:ext cx="5486400" cy="1658366"/>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ectangle 11"/>
          <p:cNvSpPr/>
          <p:nvPr/>
        </p:nvSpPr>
        <p:spPr>
          <a:xfrm>
            <a:off x="777240" y="3454273"/>
            <a:ext cx="91440" cy="1658366"/>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960120" y="3582289"/>
            <a:ext cx="5120640" cy="274320"/>
          </a:xfrm>
          <a:prstGeom prst="rect">
            <a:avLst/>
          </a:prstGeom>
          <a:noFill/>
        </p:spPr>
        <p:txBody>
          <a:bodyPr wrap="square" anchor="t">
            <a:spAutoFit/>
          </a:bodyPr>
          <a:lstStyle/>
          <a:p>
            <a:pPr algn="l">
              <a:spcAft>
                <a:spcPts val="400"/>
              </a:spcAft>
            </a:pPr>
            <a:r>
              <a:rPr sz="1200" b="1">
                <a:solidFill>
                  <a:srgbClr val="F59E0B"/>
                </a:solidFill>
                <a:latin typeface="Arial"/>
              </a:rPr>
              <a:t>YOU'LL BUILD</a:t>
            </a:r>
          </a:p>
        </p:txBody>
      </p:sp>
      <p:sp>
        <p:nvSpPr>
          <p:cNvPr id="14" name="TextBox 13"/>
          <p:cNvSpPr txBox="1"/>
          <p:nvPr/>
        </p:nvSpPr>
        <p:spPr>
          <a:xfrm>
            <a:off x="960120" y="3856609"/>
            <a:ext cx="5166360" cy="726440"/>
          </a:xfrm>
          <a:prstGeom prst="rect">
            <a:avLst/>
          </a:prstGeom>
          <a:noFill/>
        </p:spPr>
        <p:txBody>
          <a:bodyPr wrap="square" anchor="t">
            <a:spAutoFit/>
          </a:bodyPr>
          <a:lstStyle/>
          <a:p>
            <a:pPr algn="l">
              <a:spcAft>
                <a:spcPts val="400"/>
              </a:spcAft>
            </a:pPr>
            <a:r>
              <a:rPr sz="1100" b="1">
                <a:solidFill>
                  <a:srgbClr val="161B26"/>
                </a:solidFill>
                <a:latin typeface="Arial"/>
              </a:rPr>
              <a:t>A metric filter converting ERROR log lines into a CloudWatch metric, two alarms (errors and high CPU) wired to an SNS topic with a confirmed email subscription, and a demonstrated ALARM-state email notification.</a:t>
            </a:r>
          </a:p>
        </p:txBody>
      </p:sp>
      <p:sp>
        <p:nvSpPr>
          <p:cNvPr id="15" name="TextBox 14"/>
          <p:cNvSpPr txBox="1"/>
          <p:nvPr/>
        </p:nvSpPr>
        <p:spPr>
          <a:xfrm>
            <a:off x="960120" y="4637913"/>
            <a:ext cx="5166360" cy="346710"/>
          </a:xfrm>
          <a:prstGeom prst="rect">
            <a:avLst/>
          </a:prstGeom>
          <a:noFill/>
        </p:spPr>
        <p:txBody>
          <a:bodyPr wrap="square" anchor="t">
            <a:spAutoFit/>
          </a:bodyPr>
          <a:lstStyle/>
          <a:p>
            <a:pPr algn="l">
              <a:spcAft>
                <a:spcPts val="400"/>
              </a:spcAft>
            </a:pPr>
            <a:r>
              <a:rPr sz="1050" b="0">
                <a:solidFill>
                  <a:srgbClr val="5B6372"/>
                </a:solidFill>
                <a:latin typeface="Arial"/>
              </a:rPr>
              <a:t>Tools:  Amazon CloudWatch (metric filters + alarms), Amazon CloudWatch Logs, Amazon SNS, AWS CloudFormation, IAM</a:t>
            </a:r>
          </a:p>
        </p:txBody>
      </p:sp>
      <p:sp>
        <p:nvSpPr>
          <p:cNvPr id="16" name="Rectangle 15"/>
          <p:cNvSpPr/>
          <p:nvPr/>
        </p:nvSpPr>
        <p:spPr>
          <a:xfrm>
            <a:off x="777240" y="5222367"/>
            <a:ext cx="5486400" cy="1105281"/>
          </a:xfrm>
          <a:prstGeom prst="rect">
            <a:avLst/>
          </a:prstGeom>
          <a:solidFill>
            <a:srgbClr val="FFFFFF"/>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ectangle 16"/>
          <p:cNvSpPr/>
          <p:nvPr/>
        </p:nvSpPr>
        <p:spPr>
          <a:xfrm>
            <a:off x="777240" y="5222367"/>
            <a:ext cx="91440" cy="1105281"/>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960120" y="5350383"/>
            <a:ext cx="5120640" cy="274320"/>
          </a:xfrm>
          <a:prstGeom prst="rect">
            <a:avLst/>
          </a:prstGeom>
          <a:noFill/>
        </p:spPr>
        <p:txBody>
          <a:bodyPr wrap="square" anchor="t">
            <a:spAutoFit/>
          </a:bodyPr>
          <a:lstStyle/>
          <a:p>
            <a:pPr algn="l">
              <a:spcAft>
                <a:spcPts val="400"/>
              </a:spcAft>
            </a:pPr>
            <a:r>
              <a:rPr sz="1200" b="1">
                <a:solidFill>
                  <a:srgbClr val="10B981"/>
                </a:solidFill>
                <a:latin typeface="Arial"/>
              </a:rPr>
              <a:t>OUTCOME &amp; EVIDENCE</a:t>
            </a:r>
          </a:p>
        </p:txBody>
      </p:sp>
      <p:sp>
        <p:nvSpPr>
          <p:cNvPr id="19" name="TextBox 18"/>
          <p:cNvSpPr txBox="1"/>
          <p:nvPr/>
        </p:nvSpPr>
        <p:spPr>
          <a:xfrm>
            <a:off x="960120" y="5624703"/>
            <a:ext cx="5166360" cy="520065"/>
          </a:xfrm>
          <a:prstGeom prst="rect">
            <a:avLst/>
          </a:prstGeom>
          <a:noFill/>
        </p:spPr>
        <p:txBody>
          <a:bodyPr wrap="square" anchor="t">
            <a:spAutoFit/>
          </a:bodyPr>
          <a:lstStyle/>
          <a:p>
            <a:pPr algn="l">
              <a:spcAft>
                <a:spcPts val="300"/>
              </a:spcAft>
            </a:pPr>
            <a:r>
              <a:rPr sz="1050" b="0">
                <a:solidFill>
                  <a:srgbClr val="5B6372"/>
                </a:solidFill>
                <a:latin typeface="Arial"/>
              </a:rPr>
              <a:t>Outcome: After you generate ERROR log lines, the metric filter increments AppErrorCount, the devops-app-errors alarm transitions to ALARM, and …</a:t>
            </a:r>
          </a:p>
          <a:p>
            <a:pPr algn="l">
              <a:spcAft>
                <a:spcPts val="300"/>
              </a:spcAft>
            </a:pPr>
            <a:r>
              <a:rPr sz="1050" b="0">
                <a:solidFill>
                  <a:srgbClr val="5B6372"/>
                </a:solidFill>
                <a:latin typeface="Arial"/>
              </a:rPr>
              <a:t>Evidence:  output showing app-error-count attached to /devops/app.</a:t>
            </a:r>
          </a:p>
        </p:txBody>
      </p:sp>
      <p:sp>
        <p:nvSpPr>
          <p:cNvPr id="20" name="Rectangle 19"/>
          <p:cNvSpPr/>
          <p:nvPr/>
        </p:nvSpPr>
        <p:spPr>
          <a:xfrm>
            <a:off x="6446520" y="1783080"/>
            <a:ext cx="5029200" cy="2901403"/>
          </a:xfrm>
          <a:prstGeom prst="rect">
            <a:avLst/>
          </a:prstGeom>
          <a:solidFill>
            <a:srgbClr val="F5F8FC"/>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21" name="Picture 20" descr="lab-18-metric-filters-alarms-sns.jpg"/>
          <p:cNvPicPr>
            <a:picLocks noChangeAspect="1"/>
          </p:cNvPicPr>
          <p:nvPr/>
        </p:nvPicPr>
        <p:blipFill>
          <a:blip r:embed="rId2"/>
          <a:stretch>
            <a:fillRect/>
          </a:stretch>
        </p:blipFill>
        <p:spPr>
          <a:xfrm>
            <a:off x="6492240" y="1828800"/>
            <a:ext cx="4937760" cy="2809963"/>
          </a:xfrm>
          <a:prstGeom prst="rect">
            <a:avLst/>
          </a:prstGeom>
        </p:spPr>
      </p:pic>
      <p:sp>
        <p:nvSpPr>
          <p:cNvPr id="22" name="TextBox 21"/>
          <p:cNvSpPr txBox="1"/>
          <p:nvPr/>
        </p:nvSpPr>
        <p:spPr>
          <a:xfrm>
            <a:off x="6492240" y="4730203"/>
            <a:ext cx="4937760" cy="365760"/>
          </a:xfrm>
          <a:prstGeom prst="rect">
            <a:avLst/>
          </a:prstGeom>
          <a:noFill/>
        </p:spPr>
        <p:txBody>
          <a:bodyPr wrap="square" anchor="t">
            <a:spAutoFit/>
          </a:bodyPr>
          <a:lstStyle/>
          <a:p>
            <a:pPr algn="ctr">
              <a:spcAft>
                <a:spcPts val="400"/>
              </a:spcAft>
            </a:pPr>
            <a:r>
              <a:rPr sz="1100" b="1">
                <a:solidFill>
                  <a:srgbClr val="5B6372"/>
                </a:solidFill>
                <a:latin typeface="Arial"/>
              </a:rPr>
              <a:t>Reference architecture</a:t>
            </a:r>
          </a:p>
        </p:txBody>
      </p:sp>
      <p:sp>
        <p:nvSpPr>
          <p:cNvPr id="23" name="TextBox 22"/>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DevOps Engineering on AWS  ·  TGS-2023040474</a:t>
            </a:r>
          </a:p>
        </p:txBody>
      </p:sp>
      <p:sp>
        <p:nvSpPr>
          <p:cNvPr id="24" name="TextBox 23"/>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25" name="TextBox 24"/>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158</a:t>
            </a:r>
          </a:p>
        </p:txBody>
      </p:sp>
    </p:spTree>
  </p:cSld>
  <p:clrMapOvr>
    <a:masterClrMapping/>
  </p:clrMapOvr>
  <p:transition xmlns:p14="http://schemas.microsoft.com/office/powerpoint/2010/main" p14:dur="380">
    <p:fade/>
  </p:transition>
</p:sld>
</file>

<file path=ppt/slides/slide16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38912"/>
            <a:ext cx="10607040" cy="365760"/>
          </a:xfrm>
          <a:prstGeom prst="rect">
            <a:avLst/>
          </a:prstGeom>
          <a:noFill/>
        </p:spPr>
        <p:txBody>
          <a:bodyPr wrap="square" anchor="t">
            <a:spAutoFit/>
          </a:bodyPr>
          <a:lstStyle/>
          <a:p>
            <a:pPr algn="l">
              <a:spcAft>
                <a:spcPts val="400"/>
              </a:spcAft>
            </a:pPr>
            <a:r>
              <a:rPr sz="1400" b="1">
                <a:solidFill>
                  <a:srgbClr val="1F6FEB"/>
                </a:solidFill>
                <a:latin typeface="Arial"/>
              </a:rPr>
              <a:t>DOMAIN RECAP</a:t>
            </a:r>
          </a:p>
        </p:txBody>
      </p:sp>
      <p:sp>
        <p:nvSpPr>
          <p:cNvPr id="5" name="TextBox 4"/>
          <p:cNvSpPr txBox="1"/>
          <p:nvPr/>
        </p:nvSpPr>
        <p:spPr>
          <a:xfrm>
            <a:off x="777240" y="804672"/>
            <a:ext cx="10927080" cy="731520"/>
          </a:xfrm>
          <a:prstGeom prst="rect">
            <a:avLst/>
          </a:prstGeom>
          <a:noFill/>
        </p:spPr>
        <p:txBody>
          <a:bodyPr wrap="square" anchor="t">
            <a:spAutoFit/>
          </a:bodyPr>
          <a:lstStyle/>
          <a:p>
            <a:pPr algn="l">
              <a:spcAft>
                <a:spcPts val="400"/>
              </a:spcAft>
            </a:pPr>
            <a:r>
              <a:rPr sz="2900" b="1">
                <a:solidFill>
                  <a:srgbClr val="161B26"/>
                </a:solidFill>
                <a:latin typeface="Arial"/>
              </a:rPr>
              <a:t>Recap — Monitoring and Logging</a:t>
            </a:r>
          </a:p>
        </p:txBody>
      </p:sp>
      <p:sp>
        <p:nvSpPr>
          <p:cNvPr id="6" name="Rectangle 5"/>
          <p:cNvSpPr/>
          <p:nvPr/>
        </p:nvSpPr>
        <p:spPr>
          <a:xfrm>
            <a:off x="777240" y="1572768"/>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777240" y="1783080"/>
            <a:ext cx="10607040" cy="4480560"/>
          </a:xfrm>
          <a:prstGeom prst="rect">
            <a:avLst/>
          </a:prstGeom>
          <a:noFill/>
        </p:spPr>
        <p:txBody>
          <a:bodyPr wrap="square">
            <a:spAutoFit/>
          </a:bodyPr>
          <a:lstStyle/>
          <a:p>
            <a:pPr>
              <a:spcAft>
                <a:spcPts val="1000"/>
              </a:spcAft>
            </a:pPr>
            <a:r>
              <a:rPr sz="1500" b="0">
                <a:solidFill>
                  <a:srgbClr val="161B26"/>
                </a:solidFill>
                <a:latin typeface="Arial"/>
              </a:rPr>
              <a:t>•  You can now: Instrument an EC2 workload with memory/disk and application metrics, then visualise CPU, latency, errors and request count on a CloudWatch dashboard (LO4, K5, A6)</a:t>
            </a:r>
          </a:p>
          <a:p>
            <a:pPr>
              <a:spcAft>
                <a:spcPts val="1000"/>
              </a:spcAft>
            </a:pPr>
            <a:r>
              <a:rPr sz="1500" b="0">
                <a:solidFill>
                  <a:srgbClr val="161B26"/>
                </a:solidFill>
                <a:latin typeface="Arial"/>
              </a:rPr>
              <a:t>•  You can now: Ship application and system logs into CloudWatch Logs with retention, then use Logs Insights queries to find the slowest and most error-prone requests (LO4, K5, A6)</a:t>
            </a:r>
          </a:p>
          <a:p>
            <a:pPr>
              <a:spcAft>
                <a:spcPts val="1000"/>
              </a:spcAft>
            </a:pPr>
            <a:r>
              <a:rPr sz="1500" b="0">
                <a:solidFill>
                  <a:srgbClr val="161B26"/>
                </a:solidFill>
                <a:latin typeface="Arial"/>
              </a:rPr>
              <a:t>•  You can now: Create a metric filter that counts ERROR log lines, alarm on that metric and on high CPU, and notify an on-call engineer by email via SNS (LO4, K5, A6)</a:t>
            </a:r>
          </a:p>
          <a:p>
            <a:pPr>
              <a:spcAft>
                <a:spcPts val="1000"/>
              </a:spcAft>
            </a:pPr>
            <a:r>
              <a:rPr sz="1500" b="0">
                <a:solidFill>
                  <a:srgbClr val="161B26"/>
                </a:solidFill>
                <a:latin typeface="Arial"/>
              </a:rPr>
              <a:t>•  CloudWatch metrics — Namespaces, dimensions and custom metrics measure system and application health over time.</a:t>
            </a:r>
          </a:p>
          <a:p>
            <a:pPr>
              <a:spcAft>
                <a:spcPts val="1000"/>
              </a:spcAft>
            </a:pPr>
            <a:r>
              <a:rPr sz="1500" b="0">
                <a:solidFill>
                  <a:srgbClr val="161B26"/>
                </a:solidFill>
                <a:latin typeface="Arial"/>
              </a:rPr>
              <a:t>•  CloudWatch Logs — Log groups, streams, subscription filters and metric filters turn raw logs into searchable, alertable signals.</a:t>
            </a:r>
          </a:p>
          <a:p>
            <a:pPr>
              <a:spcAft>
                <a:spcPts val="1000"/>
              </a:spcAft>
            </a:pPr>
            <a:r>
              <a:rPr sz="1500" b="0">
                <a:solidFill>
                  <a:srgbClr val="161B26"/>
                </a:solidFill>
                <a:latin typeface="Arial"/>
              </a:rPr>
              <a:t>•  Dashboards — A single pane of glass correlates metrics, logs and alarms for fast troubleshooting.</a:t>
            </a:r>
          </a:p>
        </p:txBody>
      </p:sp>
      <p:sp>
        <p:nvSpPr>
          <p:cNvPr id="8" name="TextBox 7"/>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DevOps Engineering on AWS  ·  TGS-2023040474</a:t>
            </a:r>
          </a:p>
        </p:txBody>
      </p:sp>
      <p:sp>
        <p:nvSpPr>
          <p:cNvPr id="9" name="TextBox 8"/>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0" name="TextBox 9"/>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159</a:t>
            </a:r>
          </a:p>
        </p:txBody>
      </p:sp>
    </p:spTree>
  </p:cSld>
  <p:clrMapOvr>
    <a:masterClrMapping/>
  </p:clrMapOvr>
  <p:transition xmlns:p14="http://schemas.microsoft.com/office/powerpoint/2010/main" p14:dur="380">
    <p:fade/>
  </p:transition>
</p:sld>
</file>

<file path=ppt/slides/slide16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685800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777240" y="2286000"/>
            <a:ext cx="128016" cy="182880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1143000" y="2331720"/>
            <a:ext cx="10058400" cy="548640"/>
          </a:xfrm>
          <a:prstGeom prst="rect">
            <a:avLst/>
          </a:prstGeom>
          <a:noFill/>
        </p:spPr>
        <p:txBody>
          <a:bodyPr wrap="square" anchor="t">
            <a:spAutoFit/>
          </a:bodyPr>
          <a:lstStyle/>
          <a:p>
            <a:pPr algn="l">
              <a:spcAft>
                <a:spcPts val="400"/>
              </a:spcAft>
            </a:pPr>
            <a:r>
              <a:rPr sz="1800" b="1">
                <a:solidFill>
                  <a:srgbClr val="1F6FEB"/>
                </a:solidFill>
                <a:latin typeface="Arial"/>
              </a:rPr>
              <a:t>DOMAIN 05</a:t>
            </a:r>
          </a:p>
        </p:txBody>
      </p:sp>
      <p:sp>
        <p:nvSpPr>
          <p:cNvPr id="6" name="TextBox 5"/>
          <p:cNvSpPr txBox="1"/>
          <p:nvPr/>
        </p:nvSpPr>
        <p:spPr>
          <a:xfrm>
            <a:off x="1143000" y="2743200"/>
            <a:ext cx="10424160" cy="1463040"/>
          </a:xfrm>
          <a:prstGeom prst="rect">
            <a:avLst/>
          </a:prstGeom>
          <a:noFill/>
        </p:spPr>
        <p:txBody>
          <a:bodyPr wrap="square" anchor="t">
            <a:spAutoFit/>
          </a:bodyPr>
          <a:lstStyle/>
          <a:p>
            <a:pPr algn="l">
              <a:spcAft>
                <a:spcPts val="400"/>
              </a:spcAft>
            </a:pPr>
            <a:r>
              <a:rPr sz="4000" b="1">
                <a:solidFill>
                  <a:srgbClr val="161B26"/>
                </a:solidFill>
                <a:latin typeface="Arial"/>
              </a:rPr>
              <a:t>Incident and Event Response</a:t>
            </a:r>
          </a:p>
        </p:txBody>
      </p:sp>
      <p:sp>
        <p:nvSpPr>
          <p:cNvPr id="7" name="TextBox 6"/>
          <p:cNvSpPr txBox="1"/>
          <p:nvPr/>
        </p:nvSpPr>
        <p:spPr>
          <a:xfrm>
            <a:off x="1161288" y="4160520"/>
            <a:ext cx="10058400" cy="731520"/>
          </a:xfrm>
          <a:prstGeom prst="rect">
            <a:avLst/>
          </a:prstGeom>
          <a:noFill/>
        </p:spPr>
        <p:txBody>
          <a:bodyPr wrap="square" anchor="t">
            <a:spAutoFit/>
          </a:bodyPr>
          <a:lstStyle/>
          <a:p>
            <a:pPr algn="l">
              <a:spcAft>
                <a:spcPts val="400"/>
              </a:spcAft>
            </a:pPr>
            <a:r>
              <a:rPr sz="1600" b="0">
                <a:solidFill>
                  <a:srgbClr val="5B6372"/>
                </a:solidFill>
                <a:latin typeface="Arial"/>
              </a:rPr>
              <a:t>Exam weighting 14%  ·  Event sources · automated response · configuration change · troubleshooting</a:t>
            </a:r>
          </a:p>
        </p:txBody>
      </p:sp>
      <p:sp>
        <p:nvSpPr>
          <p:cNvPr id="8" name="TextBox 7"/>
          <p:cNvSpPr txBox="1"/>
          <p:nvPr/>
        </p:nvSpPr>
        <p:spPr>
          <a:xfrm>
            <a:off x="9144000" y="640080"/>
            <a:ext cx="2560320" cy="1463040"/>
          </a:xfrm>
          <a:prstGeom prst="rect">
            <a:avLst/>
          </a:prstGeom>
          <a:noFill/>
        </p:spPr>
        <p:txBody>
          <a:bodyPr wrap="square" anchor="t">
            <a:spAutoFit/>
          </a:bodyPr>
          <a:lstStyle/>
          <a:p>
            <a:pPr algn="r">
              <a:spcAft>
                <a:spcPts val="400"/>
              </a:spcAft>
            </a:pPr>
            <a:r>
              <a:rPr sz="7200" b="1">
                <a:solidFill>
                  <a:srgbClr val="E2E8F0"/>
                </a:solidFill>
                <a:latin typeface="Arial"/>
              </a:rPr>
              <a:t>05</a:t>
            </a:r>
          </a:p>
        </p:txBody>
      </p:sp>
      <p:sp>
        <p:nvSpPr>
          <p:cNvPr id="9" name="TextBox 8"/>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DevOps Engineering on AWS  ·  TGS-2023040474</a:t>
            </a:r>
          </a:p>
        </p:txBody>
      </p:sp>
      <p:sp>
        <p:nvSpPr>
          <p:cNvPr id="10" name="TextBox 9"/>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1" name="TextBox 10"/>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160</a:t>
            </a:r>
          </a:p>
        </p:txBody>
      </p:sp>
    </p:spTree>
  </p:cSld>
  <p:clrMapOvr>
    <a:masterClrMapping/>
  </p:clrMapOvr>
  <p:transition xmlns:p14="http://schemas.microsoft.com/office/powerpoint/2010/main" p14:dur="380">
    <p:fade/>
  </p:transition>
</p:sld>
</file>

<file path=ppt/slides/slide16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EC711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38912"/>
            <a:ext cx="10607040" cy="365760"/>
          </a:xfrm>
          <a:prstGeom prst="rect">
            <a:avLst/>
          </a:prstGeom>
          <a:noFill/>
        </p:spPr>
        <p:txBody>
          <a:bodyPr wrap="square" anchor="t">
            <a:spAutoFit/>
          </a:bodyPr>
          <a:lstStyle/>
          <a:p>
            <a:pPr algn="l">
              <a:spcAft>
                <a:spcPts val="400"/>
              </a:spcAft>
            </a:pPr>
            <a:r>
              <a:rPr sz="1400" b="1">
                <a:solidFill>
                  <a:srgbClr val="EC711E"/>
                </a:solidFill>
                <a:latin typeface="Arial"/>
              </a:rPr>
              <a:t>DOMAIN 05 · WEIGHTING 14%</a:t>
            </a:r>
          </a:p>
        </p:txBody>
      </p:sp>
      <p:sp>
        <p:nvSpPr>
          <p:cNvPr id="5" name="TextBox 4"/>
          <p:cNvSpPr txBox="1"/>
          <p:nvPr/>
        </p:nvSpPr>
        <p:spPr>
          <a:xfrm>
            <a:off x="777240" y="896112"/>
            <a:ext cx="10927080" cy="731520"/>
          </a:xfrm>
          <a:prstGeom prst="rect">
            <a:avLst/>
          </a:prstGeom>
          <a:noFill/>
        </p:spPr>
        <p:txBody>
          <a:bodyPr wrap="square" anchor="t">
            <a:spAutoFit/>
          </a:bodyPr>
          <a:lstStyle/>
          <a:p>
            <a:pPr algn="l">
              <a:spcAft>
                <a:spcPts val="400"/>
              </a:spcAft>
            </a:pPr>
            <a:r>
              <a:rPr sz="2500" b="1">
                <a:solidFill>
                  <a:srgbClr val="161B26"/>
                </a:solidFill>
                <a:latin typeface="Arial"/>
              </a:rPr>
              <a:t>Key Concepts — Incident and Event Response</a:t>
            </a:r>
          </a:p>
        </p:txBody>
      </p:sp>
      <p:sp>
        <p:nvSpPr>
          <p:cNvPr id="6" name="Rectangle 5"/>
          <p:cNvSpPr/>
          <p:nvPr/>
        </p:nvSpPr>
        <p:spPr>
          <a:xfrm>
            <a:off x="777240" y="1572768"/>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783080"/>
            <a:ext cx="5180076" cy="131064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1783080"/>
            <a:ext cx="91440" cy="131064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1033272" y="2164080"/>
            <a:ext cx="548640" cy="548640"/>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033272" y="2164080"/>
            <a:ext cx="548640" cy="548640"/>
          </a:xfrm>
          <a:prstGeom prst="rect">
            <a:avLst/>
          </a:prstGeom>
          <a:noFill/>
        </p:spPr>
        <p:txBody>
          <a:bodyPr wrap="square" anchor="ctr">
            <a:spAutoFit/>
          </a:bodyPr>
          <a:lstStyle/>
          <a:p>
            <a:pPr algn="ctr">
              <a:spcAft>
                <a:spcPts val="400"/>
              </a:spcAft>
            </a:pPr>
            <a:r>
              <a:rPr sz="1800" b="1">
                <a:solidFill>
                  <a:srgbClr val="FFFFFF"/>
                </a:solidFill>
                <a:latin typeface="Arial"/>
              </a:rPr>
              <a:t>1</a:t>
            </a:r>
          </a:p>
        </p:txBody>
      </p:sp>
      <p:sp>
        <p:nvSpPr>
          <p:cNvPr id="11" name="TextBox 10"/>
          <p:cNvSpPr txBox="1"/>
          <p:nvPr/>
        </p:nvSpPr>
        <p:spPr>
          <a:xfrm>
            <a:off x="1764792" y="1892808"/>
            <a:ext cx="3973068" cy="1127760"/>
          </a:xfrm>
          <a:prstGeom prst="rect">
            <a:avLst/>
          </a:prstGeom>
          <a:noFill/>
        </p:spPr>
        <p:txBody>
          <a:bodyPr wrap="square" anchor="ctr">
            <a:spAutoFit/>
          </a:bodyPr>
          <a:lstStyle/>
          <a:p>
            <a:pPr algn="l">
              <a:spcAft>
                <a:spcPts val="300"/>
              </a:spcAft>
            </a:pPr>
            <a:r>
              <a:rPr sz="1550" b="1">
                <a:solidFill>
                  <a:srgbClr val="161B26"/>
                </a:solidFill>
                <a:latin typeface="Arial"/>
              </a:rPr>
              <a:t>Event-driven operations</a:t>
            </a:r>
          </a:p>
          <a:p>
            <a:pPr algn="l">
              <a:spcAft>
                <a:spcPts val="300"/>
              </a:spcAft>
            </a:pPr>
            <a:r>
              <a:rPr sz="1150" b="0">
                <a:solidFill>
                  <a:srgbClr val="5B6372"/>
                </a:solidFill>
                <a:latin typeface="Arial"/>
              </a:rPr>
              <a:t>EventBridge routes events from AWS services and applications to targets that act automatically.</a:t>
            </a:r>
          </a:p>
        </p:txBody>
      </p:sp>
      <p:sp>
        <p:nvSpPr>
          <p:cNvPr id="12" name="Rectangle 11"/>
          <p:cNvSpPr/>
          <p:nvPr/>
        </p:nvSpPr>
        <p:spPr>
          <a:xfrm>
            <a:off x="6231636" y="1783080"/>
            <a:ext cx="5180076" cy="131064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6231636" y="1783080"/>
            <a:ext cx="91440" cy="131064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Oval 13"/>
          <p:cNvSpPr/>
          <p:nvPr/>
        </p:nvSpPr>
        <p:spPr>
          <a:xfrm>
            <a:off x="6487668" y="2164080"/>
            <a:ext cx="548640" cy="54864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6487668" y="2164080"/>
            <a:ext cx="548640" cy="548640"/>
          </a:xfrm>
          <a:prstGeom prst="rect">
            <a:avLst/>
          </a:prstGeom>
          <a:noFill/>
        </p:spPr>
        <p:txBody>
          <a:bodyPr wrap="square" anchor="ctr">
            <a:spAutoFit/>
          </a:bodyPr>
          <a:lstStyle/>
          <a:p>
            <a:pPr algn="ctr">
              <a:spcAft>
                <a:spcPts val="400"/>
              </a:spcAft>
            </a:pPr>
            <a:r>
              <a:rPr sz="1800" b="1">
                <a:solidFill>
                  <a:srgbClr val="FFFFFF"/>
                </a:solidFill>
                <a:latin typeface="Arial"/>
              </a:rPr>
              <a:t>2</a:t>
            </a:r>
          </a:p>
        </p:txBody>
      </p:sp>
      <p:sp>
        <p:nvSpPr>
          <p:cNvPr id="16" name="TextBox 15"/>
          <p:cNvSpPr txBox="1"/>
          <p:nvPr/>
        </p:nvSpPr>
        <p:spPr>
          <a:xfrm>
            <a:off x="7219188" y="1892808"/>
            <a:ext cx="3973068" cy="1127760"/>
          </a:xfrm>
          <a:prstGeom prst="rect">
            <a:avLst/>
          </a:prstGeom>
          <a:noFill/>
        </p:spPr>
        <p:txBody>
          <a:bodyPr wrap="square" anchor="ctr">
            <a:spAutoFit/>
          </a:bodyPr>
          <a:lstStyle/>
          <a:p>
            <a:pPr algn="l">
              <a:spcAft>
                <a:spcPts val="300"/>
              </a:spcAft>
            </a:pPr>
            <a:r>
              <a:rPr sz="1550" b="1">
                <a:solidFill>
                  <a:srgbClr val="161B26"/>
                </a:solidFill>
                <a:latin typeface="Arial"/>
              </a:rPr>
              <a:t>Notify &amp; act</a:t>
            </a:r>
          </a:p>
          <a:p>
            <a:pPr algn="l">
              <a:spcAft>
                <a:spcPts val="300"/>
              </a:spcAft>
            </a:pPr>
            <a:r>
              <a:rPr sz="1150" b="0">
                <a:solidFill>
                  <a:srgbClr val="5B6372"/>
                </a:solidFill>
                <a:latin typeface="Arial"/>
              </a:rPr>
              <a:t>SNS notifies people; Lambda, Systems Manager Automation and Step Functions take the remediating action.</a:t>
            </a:r>
          </a:p>
        </p:txBody>
      </p:sp>
      <p:sp>
        <p:nvSpPr>
          <p:cNvPr id="17" name="Rectangle 16"/>
          <p:cNvSpPr/>
          <p:nvPr/>
        </p:nvSpPr>
        <p:spPr>
          <a:xfrm>
            <a:off x="777240" y="3313176"/>
            <a:ext cx="5180076" cy="131064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777240" y="3313176"/>
            <a:ext cx="91440" cy="1310640"/>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Oval 18"/>
          <p:cNvSpPr/>
          <p:nvPr/>
        </p:nvSpPr>
        <p:spPr>
          <a:xfrm>
            <a:off x="1033272" y="3694176"/>
            <a:ext cx="548640" cy="548640"/>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1033272" y="3694176"/>
            <a:ext cx="548640" cy="548640"/>
          </a:xfrm>
          <a:prstGeom prst="rect">
            <a:avLst/>
          </a:prstGeom>
          <a:noFill/>
        </p:spPr>
        <p:txBody>
          <a:bodyPr wrap="square" anchor="ctr">
            <a:spAutoFit/>
          </a:bodyPr>
          <a:lstStyle/>
          <a:p>
            <a:pPr algn="ctr">
              <a:spcAft>
                <a:spcPts val="400"/>
              </a:spcAft>
            </a:pPr>
            <a:r>
              <a:rPr sz="1800" b="1">
                <a:solidFill>
                  <a:srgbClr val="FFFFFF"/>
                </a:solidFill>
                <a:latin typeface="Arial"/>
              </a:rPr>
              <a:t>3</a:t>
            </a:r>
          </a:p>
        </p:txBody>
      </p:sp>
      <p:sp>
        <p:nvSpPr>
          <p:cNvPr id="21" name="TextBox 20"/>
          <p:cNvSpPr txBox="1"/>
          <p:nvPr/>
        </p:nvSpPr>
        <p:spPr>
          <a:xfrm>
            <a:off x="1764792" y="3422904"/>
            <a:ext cx="3973068" cy="1127760"/>
          </a:xfrm>
          <a:prstGeom prst="rect">
            <a:avLst/>
          </a:prstGeom>
          <a:noFill/>
        </p:spPr>
        <p:txBody>
          <a:bodyPr wrap="square" anchor="ctr">
            <a:spAutoFit/>
          </a:bodyPr>
          <a:lstStyle/>
          <a:p>
            <a:pPr algn="l">
              <a:spcAft>
                <a:spcPts val="300"/>
              </a:spcAft>
            </a:pPr>
            <a:r>
              <a:rPr sz="1550" b="1">
                <a:solidFill>
                  <a:srgbClr val="161B26"/>
                </a:solidFill>
                <a:latin typeface="Arial"/>
              </a:rPr>
              <a:t>Auto-remediation</a:t>
            </a:r>
          </a:p>
          <a:p>
            <a:pPr algn="l">
              <a:spcAft>
                <a:spcPts val="300"/>
              </a:spcAft>
            </a:pPr>
            <a:r>
              <a:rPr sz="1150" b="0">
                <a:solidFill>
                  <a:srgbClr val="5B6372"/>
                </a:solidFill>
                <a:latin typeface="Arial"/>
              </a:rPr>
              <a:t>AWS Config rules and EventBridge patterns detect drift and fix it — tag, isolate, restart or roll back.</a:t>
            </a:r>
          </a:p>
        </p:txBody>
      </p:sp>
      <p:sp>
        <p:nvSpPr>
          <p:cNvPr id="22" name="Rectangle 21"/>
          <p:cNvSpPr/>
          <p:nvPr/>
        </p:nvSpPr>
        <p:spPr>
          <a:xfrm>
            <a:off x="6231636" y="3313176"/>
            <a:ext cx="5180076" cy="131064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ectangle 22"/>
          <p:cNvSpPr/>
          <p:nvPr/>
        </p:nvSpPr>
        <p:spPr>
          <a:xfrm>
            <a:off x="6231636" y="3313176"/>
            <a:ext cx="91440" cy="1310640"/>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Oval 23"/>
          <p:cNvSpPr/>
          <p:nvPr/>
        </p:nvSpPr>
        <p:spPr>
          <a:xfrm>
            <a:off x="6487668" y="3694176"/>
            <a:ext cx="548640" cy="548640"/>
          </a:xfrm>
          <a:prstGeom prst="ellipse">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6487668" y="3694176"/>
            <a:ext cx="548640" cy="548640"/>
          </a:xfrm>
          <a:prstGeom prst="rect">
            <a:avLst/>
          </a:prstGeom>
          <a:noFill/>
        </p:spPr>
        <p:txBody>
          <a:bodyPr wrap="square" anchor="ctr">
            <a:spAutoFit/>
          </a:bodyPr>
          <a:lstStyle/>
          <a:p>
            <a:pPr algn="ctr">
              <a:spcAft>
                <a:spcPts val="400"/>
              </a:spcAft>
            </a:pPr>
            <a:r>
              <a:rPr sz="1800" b="1">
                <a:solidFill>
                  <a:srgbClr val="FFFFFF"/>
                </a:solidFill>
                <a:latin typeface="Arial"/>
              </a:rPr>
              <a:t>4</a:t>
            </a:r>
          </a:p>
        </p:txBody>
      </p:sp>
      <p:sp>
        <p:nvSpPr>
          <p:cNvPr id="26" name="TextBox 25"/>
          <p:cNvSpPr txBox="1"/>
          <p:nvPr/>
        </p:nvSpPr>
        <p:spPr>
          <a:xfrm>
            <a:off x="7219188" y="3422904"/>
            <a:ext cx="3973068" cy="1127760"/>
          </a:xfrm>
          <a:prstGeom prst="rect">
            <a:avLst/>
          </a:prstGeom>
          <a:noFill/>
        </p:spPr>
        <p:txBody>
          <a:bodyPr wrap="square" anchor="ctr">
            <a:spAutoFit/>
          </a:bodyPr>
          <a:lstStyle/>
          <a:p>
            <a:pPr algn="l">
              <a:spcAft>
                <a:spcPts val="300"/>
              </a:spcAft>
            </a:pPr>
            <a:r>
              <a:rPr sz="1550" b="1">
                <a:solidFill>
                  <a:srgbClr val="161B26"/>
                </a:solidFill>
                <a:latin typeface="Arial"/>
              </a:rPr>
              <a:t>Runbooks &amp; playbooks</a:t>
            </a:r>
          </a:p>
          <a:p>
            <a:pPr algn="l">
              <a:spcAft>
                <a:spcPts val="300"/>
              </a:spcAft>
            </a:pPr>
            <a:r>
              <a:rPr sz="1150" b="0">
                <a:solidFill>
                  <a:srgbClr val="5B6372"/>
                </a:solidFill>
                <a:latin typeface="Arial"/>
              </a:rPr>
              <a:t>Systems Manager documents codify the response so incidents are handled consistently and fast.</a:t>
            </a:r>
          </a:p>
        </p:txBody>
      </p:sp>
      <p:sp>
        <p:nvSpPr>
          <p:cNvPr id="27" name="Rectangle 26"/>
          <p:cNvSpPr/>
          <p:nvPr/>
        </p:nvSpPr>
        <p:spPr>
          <a:xfrm>
            <a:off x="777240" y="4843272"/>
            <a:ext cx="5180076" cy="131064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Rectangle 27"/>
          <p:cNvSpPr/>
          <p:nvPr/>
        </p:nvSpPr>
        <p:spPr>
          <a:xfrm>
            <a:off x="777240" y="4843272"/>
            <a:ext cx="91440" cy="1310640"/>
          </a:xfrm>
          <a:prstGeom prst="rect">
            <a:avLst/>
          </a:prstGeom>
          <a:solidFill>
            <a:srgbClr val="EC711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Oval 28"/>
          <p:cNvSpPr/>
          <p:nvPr/>
        </p:nvSpPr>
        <p:spPr>
          <a:xfrm>
            <a:off x="1033272" y="5224272"/>
            <a:ext cx="548640" cy="548640"/>
          </a:xfrm>
          <a:prstGeom prst="ellipse">
            <a:avLst/>
          </a:prstGeom>
          <a:solidFill>
            <a:srgbClr val="EC711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1033272" y="5224272"/>
            <a:ext cx="548640" cy="548640"/>
          </a:xfrm>
          <a:prstGeom prst="rect">
            <a:avLst/>
          </a:prstGeom>
          <a:noFill/>
        </p:spPr>
        <p:txBody>
          <a:bodyPr wrap="square" anchor="ctr">
            <a:spAutoFit/>
          </a:bodyPr>
          <a:lstStyle/>
          <a:p>
            <a:pPr algn="ctr">
              <a:spcAft>
                <a:spcPts val="400"/>
              </a:spcAft>
            </a:pPr>
            <a:r>
              <a:rPr sz="1800" b="1">
                <a:solidFill>
                  <a:srgbClr val="FFFFFF"/>
                </a:solidFill>
                <a:latin typeface="Arial"/>
              </a:rPr>
              <a:t>5</a:t>
            </a:r>
          </a:p>
        </p:txBody>
      </p:sp>
      <p:sp>
        <p:nvSpPr>
          <p:cNvPr id="31" name="TextBox 30"/>
          <p:cNvSpPr txBox="1"/>
          <p:nvPr/>
        </p:nvSpPr>
        <p:spPr>
          <a:xfrm>
            <a:off x="1764792" y="4953000"/>
            <a:ext cx="3973068" cy="1127760"/>
          </a:xfrm>
          <a:prstGeom prst="rect">
            <a:avLst/>
          </a:prstGeom>
          <a:noFill/>
        </p:spPr>
        <p:txBody>
          <a:bodyPr wrap="square" anchor="ctr">
            <a:spAutoFit/>
          </a:bodyPr>
          <a:lstStyle/>
          <a:p>
            <a:pPr algn="l">
              <a:spcAft>
                <a:spcPts val="300"/>
              </a:spcAft>
            </a:pPr>
            <a:r>
              <a:rPr sz="1550" b="1">
                <a:solidFill>
                  <a:srgbClr val="161B26"/>
                </a:solidFill>
                <a:latin typeface="Arial"/>
              </a:rPr>
              <a:t>Deployment failure response</a:t>
            </a:r>
          </a:p>
          <a:p>
            <a:pPr algn="l">
              <a:spcAft>
                <a:spcPts val="300"/>
              </a:spcAft>
            </a:pPr>
            <a:r>
              <a:rPr sz="1150" b="0">
                <a:solidFill>
                  <a:srgbClr val="5B6372"/>
                </a:solidFill>
                <a:latin typeface="Arial"/>
              </a:rPr>
              <a:t>CloudWatch alarms roll back CodeDeploy; pipeline stages stop and alert on failure.</a:t>
            </a:r>
          </a:p>
        </p:txBody>
      </p:sp>
      <p:sp>
        <p:nvSpPr>
          <p:cNvPr id="32" name="Rectangle 31"/>
          <p:cNvSpPr/>
          <p:nvPr/>
        </p:nvSpPr>
        <p:spPr>
          <a:xfrm>
            <a:off x="6231636" y="4843272"/>
            <a:ext cx="5180076" cy="131064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Rectangle 32"/>
          <p:cNvSpPr/>
          <p:nvPr/>
        </p:nvSpPr>
        <p:spPr>
          <a:xfrm>
            <a:off x="6231636" y="4843272"/>
            <a:ext cx="91440" cy="1310640"/>
          </a:xfrm>
          <a:prstGeom prst="rect">
            <a:avLst/>
          </a:prstGeom>
          <a:solidFill>
            <a:srgbClr val="0E9EC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Oval 33"/>
          <p:cNvSpPr/>
          <p:nvPr/>
        </p:nvSpPr>
        <p:spPr>
          <a:xfrm>
            <a:off x="6487668" y="5224272"/>
            <a:ext cx="548640" cy="548640"/>
          </a:xfrm>
          <a:prstGeom prst="ellipse">
            <a:avLst/>
          </a:prstGeom>
          <a:solidFill>
            <a:srgbClr val="0E9EC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TextBox 34"/>
          <p:cNvSpPr txBox="1"/>
          <p:nvPr/>
        </p:nvSpPr>
        <p:spPr>
          <a:xfrm>
            <a:off x="6487668" y="5224272"/>
            <a:ext cx="548640" cy="548640"/>
          </a:xfrm>
          <a:prstGeom prst="rect">
            <a:avLst/>
          </a:prstGeom>
          <a:noFill/>
        </p:spPr>
        <p:txBody>
          <a:bodyPr wrap="square" anchor="ctr">
            <a:spAutoFit/>
          </a:bodyPr>
          <a:lstStyle/>
          <a:p>
            <a:pPr algn="ctr">
              <a:spcAft>
                <a:spcPts val="400"/>
              </a:spcAft>
            </a:pPr>
            <a:r>
              <a:rPr sz="1800" b="1">
                <a:solidFill>
                  <a:srgbClr val="FFFFFF"/>
                </a:solidFill>
                <a:latin typeface="Arial"/>
              </a:rPr>
              <a:t>6</a:t>
            </a:r>
          </a:p>
        </p:txBody>
      </p:sp>
      <p:sp>
        <p:nvSpPr>
          <p:cNvPr id="36" name="TextBox 35"/>
          <p:cNvSpPr txBox="1"/>
          <p:nvPr/>
        </p:nvSpPr>
        <p:spPr>
          <a:xfrm>
            <a:off x="7219188" y="4953000"/>
            <a:ext cx="3973068" cy="1127760"/>
          </a:xfrm>
          <a:prstGeom prst="rect">
            <a:avLst/>
          </a:prstGeom>
          <a:noFill/>
        </p:spPr>
        <p:txBody>
          <a:bodyPr wrap="square" anchor="ctr">
            <a:spAutoFit/>
          </a:bodyPr>
          <a:lstStyle/>
          <a:p>
            <a:pPr algn="l">
              <a:spcAft>
                <a:spcPts val="300"/>
              </a:spcAft>
            </a:pPr>
            <a:r>
              <a:rPr sz="1550" b="1">
                <a:solidFill>
                  <a:srgbClr val="161B26"/>
                </a:solidFill>
                <a:latin typeface="Arial"/>
              </a:rPr>
              <a:t>Troubleshooting</a:t>
            </a:r>
          </a:p>
          <a:p>
            <a:pPr algn="l">
              <a:spcAft>
                <a:spcPts val="300"/>
              </a:spcAft>
            </a:pPr>
            <a:r>
              <a:rPr sz="1150" b="0">
                <a:solidFill>
                  <a:srgbClr val="5B6372"/>
                </a:solidFill>
                <a:latin typeface="Arial"/>
              </a:rPr>
              <a:t>Correlate metrics, logs, traces and CloudTrail events to find and fix system and application failures.</a:t>
            </a:r>
          </a:p>
        </p:txBody>
      </p:sp>
      <p:sp>
        <p:nvSpPr>
          <p:cNvPr id="37" name="TextBox 36"/>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DevOps Engineering on AWS  ·  TGS-2023040474</a:t>
            </a:r>
          </a:p>
        </p:txBody>
      </p:sp>
      <p:sp>
        <p:nvSpPr>
          <p:cNvPr id="38" name="TextBox 37"/>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39" name="TextBox 38"/>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161</a:t>
            </a:r>
          </a:p>
        </p:txBody>
      </p:sp>
    </p:spTree>
  </p:cSld>
  <p:clrMapOvr>
    <a:masterClrMapping/>
  </p:clrMapOvr>
  <p:transition xmlns:p14="http://schemas.microsoft.com/office/powerpoint/2010/main" p14:dur="380">
    <p:fade/>
  </p:transition>
</p:sld>
</file>

<file path=ppt/slides/slide16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EC711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38912"/>
            <a:ext cx="10607040" cy="365760"/>
          </a:xfrm>
          <a:prstGeom prst="rect">
            <a:avLst/>
          </a:prstGeom>
          <a:noFill/>
        </p:spPr>
        <p:txBody>
          <a:bodyPr wrap="square" anchor="t">
            <a:spAutoFit/>
          </a:bodyPr>
          <a:lstStyle/>
          <a:p>
            <a:pPr algn="l">
              <a:spcAft>
                <a:spcPts val="400"/>
              </a:spcAft>
            </a:pPr>
            <a:r>
              <a:rPr sz="1400" b="1">
                <a:solidFill>
                  <a:srgbClr val="EC711E"/>
                </a:solidFill>
                <a:latin typeface="Arial"/>
              </a:rPr>
              <a:t>DOMAIN 05 · RESPOND</a:t>
            </a:r>
          </a:p>
        </p:txBody>
      </p:sp>
      <p:sp>
        <p:nvSpPr>
          <p:cNvPr id="5" name="TextBox 4"/>
          <p:cNvSpPr txBox="1"/>
          <p:nvPr/>
        </p:nvSpPr>
        <p:spPr>
          <a:xfrm>
            <a:off x="777240" y="804672"/>
            <a:ext cx="10927080" cy="731520"/>
          </a:xfrm>
          <a:prstGeom prst="rect">
            <a:avLst/>
          </a:prstGeom>
          <a:noFill/>
        </p:spPr>
        <p:txBody>
          <a:bodyPr wrap="square" anchor="t">
            <a:spAutoFit/>
          </a:bodyPr>
          <a:lstStyle/>
          <a:p>
            <a:pPr algn="l">
              <a:spcAft>
                <a:spcPts val="400"/>
              </a:spcAft>
            </a:pPr>
            <a:r>
              <a:rPr sz="2900" b="1">
                <a:solidFill>
                  <a:srgbClr val="161B26"/>
                </a:solidFill>
                <a:latin typeface="Arial"/>
              </a:rPr>
              <a:t>Event-Driven Incident Response</a:t>
            </a:r>
          </a:p>
        </p:txBody>
      </p:sp>
      <p:sp>
        <p:nvSpPr>
          <p:cNvPr id="6" name="Rectangle 5"/>
          <p:cNvSpPr/>
          <p:nvPr/>
        </p:nvSpPr>
        <p:spPr>
          <a:xfrm>
            <a:off x="777240" y="1572768"/>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ounded Rectangle 6"/>
          <p:cNvSpPr/>
          <p:nvPr/>
        </p:nvSpPr>
        <p:spPr>
          <a:xfrm>
            <a:off x="777240" y="1965960"/>
            <a:ext cx="1828800" cy="1051560"/>
          </a:xfrm>
          <a:prstGeom prst="roundRect">
            <a:avLst/>
          </a:prstGeom>
          <a:solidFill>
            <a:srgbClr val="F5F8FC"/>
          </a:solidFill>
          <a:ln w="15875">
            <a:solidFill>
              <a:srgbClr val="EC711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1965960"/>
            <a:ext cx="1828800" cy="82296"/>
          </a:xfrm>
          <a:prstGeom prst="rect">
            <a:avLst/>
          </a:prstGeom>
          <a:solidFill>
            <a:srgbClr val="EC711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868680" y="2075688"/>
            <a:ext cx="1645920" cy="868680"/>
          </a:xfrm>
          <a:prstGeom prst="rect">
            <a:avLst/>
          </a:prstGeom>
          <a:noFill/>
        </p:spPr>
        <p:txBody>
          <a:bodyPr wrap="square" anchor="ctr">
            <a:spAutoFit/>
          </a:bodyPr>
          <a:lstStyle/>
          <a:p>
            <a:pPr algn="ctr">
              <a:spcAft>
                <a:spcPts val="400"/>
              </a:spcAft>
            </a:pPr>
            <a:r>
              <a:rPr sz="1200" b="1">
                <a:solidFill>
                  <a:srgbClr val="161B26"/>
                </a:solidFill>
                <a:latin typeface="Arial"/>
              </a:rPr>
              <a:t>Event source
CloudWatch / EC2 / Config</a:t>
            </a:r>
          </a:p>
        </p:txBody>
      </p:sp>
      <p:sp>
        <p:nvSpPr>
          <p:cNvPr id="10" name="Rounded Rectangle 9"/>
          <p:cNvSpPr/>
          <p:nvPr/>
        </p:nvSpPr>
        <p:spPr>
          <a:xfrm>
            <a:off x="2971800" y="1965960"/>
            <a:ext cx="1828800" cy="1051560"/>
          </a:xfrm>
          <a:prstGeom prst="roundRect">
            <a:avLst/>
          </a:prstGeom>
          <a:solidFill>
            <a:srgbClr val="F5F8FC"/>
          </a:solidFill>
          <a:ln w="15875">
            <a:solidFill>
              <a:srgbClr val="1F6FE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ectangle 10"/>
          <p:cNvSpPr/>
          <p:nvPr/>
        </p:nvSpPr>
        <p:spPr>
          <a:xfrm>
            <a:off x="2971800" y="1965960"/>
            <a:ext cx="1828800" cy="82296"/>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3063240" y="2075688"/>
            <a:ext cx="1645920" cy="868680"/>
          </a:xfrm>
          <a:prstGeom prst="rect">
            <a:avLst/>
          </a:prstGeom>
          <a:noFill/>
        </p:spPr>
        <p:txBody>
          <a:bodyPr wrap="square" anchor="ctr">
            <a:spAutoFit/>
          </a:bodyPr>
          <a:lstStyle/>
          <a:p>
            <a:pPr algn="ctr">
              <a:spcAft>
                <a:spcPts val="400"/>
              </a:spcAft>
            </a:pPr>
            <a:r>
              <a:rPr sz="1200" b="1">
                <a:solidFill>
                  <a:srgbClr val="161B26"/>
                </a:solidFill>
                <a:latin typeface="Arial"/>
              </a:rPr>
              <a:t>EventBridge
rule + pattern</a:t>
            </a:r>
          </a:p>
        </p:txBody>
      </p:sp>
      <p:sp>
        <p:nvSpPr>
          <p:cNvPr id="13" name="Rounded Rectangle 12"/>
          <p:cNvSpPr/>
          <p:nvPr/>
        </p:nvSpPr>
        <p:spPr>
          <a:xfrm>
            <a:off x="5166360" y="1965960"/>
            <a:ext cx="1828800" cy="1051560"/>
          </a:xfrm>
          <a:prstGeom prst="roundRect">
            <a:avLst/>
          </a:prstGeom>
          <a:solidFill>
            <a:srgbClr val="F5F8FC"/>
          </a:solidFill>
          <a:ln w="15875">
            <a:solidFill>
              <a:srgbClr val="10B98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ectangle 13"/>
          <p:cNvSpPr/>
          <p:nvPr/>
        </p:nvSpPr>
        <p:spPr>
          <a:xfrm>
            <a:off x="5166360" y="1965960"/>
            <a:ext cx="1828800" cy="82296"/>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5257800" y="2075688"/>
            <a:ext cx="1645920" cy="868680"/>
          </a:xfrm>
          <a:prstGeom prst="rect">
            <a:avLst/>
          </a:prstGeom>
          <a:noFill/>
        </p:spPr>
        <p:txBody>
          <a:bodyPr wrap="square" anchor="ctr">
            <a:spAutoFit/>
          </a:bodyPr>
          <a:lstStyle/>
          <a:p>
            <a:pPr algn="ctr">
              <a:spcAft>
                <a:spcPts val="400"/>
              </a:spcAft>
            </a:pPr>
            <a:r>
              <a:rPr sz="1200" b="1">
                <a:solidFill>
                  <a:srgbClr val="161B26"/>
                </a:solidFill>
                <a:latin typeface="Arial"/>
              </a:rPr>
              <a:t>SNS
notify responders</a:t>
            </a:r>
          </a:p>
        </p:txBody>
      </p:sp>
      <p:sp>
        <p:nvSpPr>
          <p:cNvPr id="16" name="Rounded Rectangle 15"/>
          <p:cNvSpPr/>
          <p:nvPr/>
        </p:nvSpPr>
        <p:spPr>
          <a:xfrm>
            <a:off x="5166360" y="3657600"/>
            <a:ext cx="1828800" cy="1051560"/>
          </a:xfrm>
          <a:prstGeom prst="roundRect">
            <a:avLst/>
          </a:prstGeom>
          <a:solidFill>
            <a:srgbClr val="F5F8FC"/>
          </a:solidFill>
          <a:ln w="15875">
            <a:solidFill>
              <a:srgbClr val="7C3AED"/>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ectangle 16"/>
          <p:cNvSpPr/>
          <p:nvPr/>
        </p:nvSpPr>
        <p:spPr>
          <a:xfrm>
            <a:off x="5166360" y="3657600"/>
            <a:ext cx="1828800" cy="82296"/>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5257800" y="3767328"/>
            <a:ext cx="1645920" cy="868680"/>
          </a:xfrm>
          <a:prstGeom prst="rect">
            <a:avLst/>
          </a:prstGeom>
          <a:noFill/>
        </p:spPr>
        <p:txBody>
          <a:bodyPr wrap="square" anchor="ctr">
            <a:spAutoFit/>
          </a:bodyPr>
          <a:lstStyle/>
          <a:p>
            <a:pPr algn="ctr">
              <a:spcAft>
                <a:spcPts val="400"/>
              </a:spcAft>
            </a:pPr>
            <a:r>
              <a:rPr sz="1200" b="1">
                <a:solidFill>
                  <a:srgbClr val="161B26"/>
                </a:solidFill>
                <a:latin typeface="Arial"/>
              </a:rPr>
              <a:t>Lambda
auto-remediate</a:t>
            </a:r>
          </a:p>
        </p:txBody>
      </p:sp>
      <p:sp>
        <p:nvSpPr>
          <p:cNvPr id="19" name="Rounded Rectangle 18"/>
          <p:cNvSpPr/>
          <p:nvPr/>
        </p:nvSpPr>
        <p:spPr>
          <a:xfrm>
            <a:off x="7360920" y="3657600"/>
            <a:ext cx="1828800" cy="1051560"/>
          </a:xfrm>
          <a:prstGeom prst="roundRect">
            <a:avLst/>
          </a:prstGeom>
          <a:solidFill>
            <a:srgbClr val="F5F8FC"/>
          </a:solidFill>
          <a:ln w="15875">
            <a:solidFill>
              <a:srgbClr val="7C3AED"/>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Rectangle 19"/>
          <p:cNvSpPr/>
          <p:nvPr/>
        </p:nvSpPr>
        <p:spPr>
          <a:xfrm>
            <a:off x="7360920" y="3657600"/>
            <a:ext cx="1828800" cy="82296"/>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7452360" y="3767328"/>
            <a:ext cx="1645920" cy="868680"/>
          </a:xfrm>
          <a:prstGeom prst="rect">
            <a:avLst/>
          </a:prstGeom>
          <a:noFill/>
        </p:spPr>
        <p:txBody>
          <a:bodyPr wrap="square" anchor="ctr">
            <a:spAutoFit/>
          </a:bodyPr>
          <a:lstStyle/>
          <a:p>
            <a:pPr algn="ctr">
              <a:spcAft>
                <a:spcPts val="400"/>
              </a:spcAft>
            </a:pPr>
            <a:r>
              <a:rPr sz="1200" b="1">
                <a:solidFill>
                  <a:srgbClr val="161B26"/>
                </a:solidFill>
                <a:latin typeface="Arial"/>
              </a:rPr>
              <a:t>SSM Automation
runbook</a:t>
            </a:r>
          </a:p>
        </p:txBody>
      </p:sp>
      <p:sp>
        <p:nvSpPr>
          <p:cNvPr id="22" name="Rounded Rectangle 21"/>
          <p:cNvSpPr/>
          <p:nvPr/>
        </p:nvSpPr>
        <p:spPr>
          <a:xfrm>
            <a:off x="9555480" y="3657600"/>
            <a:ext cx="1828800" cy="1051560"/>
          </a:xfrm>
          <a:prstGeom prst="roundRect">
            <a:avLst/>
          </a:prstGeom>
          <a:solidFill>
            <a:srgbClr val="F5F8FC"/>
          </a:solidFill>
          <a:ln w="15875">
            <a:solidFill>
              <a:srgbClr val="10B98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ectangle 22"/>
          <p:cNvSpPr/>
          <p:nvPr/>
        </p:nvSpPr>
        <p:spPr>
          <a:xfrm>
            <a:off x="9555480" y="3657600"/>
            <a:ext cx="1828800" cy="82296"/>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9646920" y="3767328"/>
            <a:ext cx="1645920" cy="868680"/>
          </a:xfrm>
          <a:prstGeom prst="rect">
            <a:avLst/>
          </a:prstGeom>
          <a:noFill/>
        </p:spPr>
        <p:txBody>
          <a:bodyPr wrap="square" anchor="ctr">
            <a:spAutoFit/>
          </a:bodyPr>
          <a:lstStyle/>
          <a:p>
            <a:pPr algn="ctr">
              <a:spcAft>
                <a:spcPts val="400"/>
              </a:spcAft>
            </a:pPr>
            <a:r>
              <a:rPr sz="1200" b="1">
                <a:solidFill>
                  <a:srgbClr val="161B26"/>
                </a:solidFill>
                <a:latin typeface="Arial"/>
              </a:rPr>
              <a:t>Healthy state
restored</a:t>
            </a:r>
          </a:p>
        </p:txBody>
      </p:sp>
      <p:cxnSp>
        <p:nvCxnSpPr>
          <p:cNvPr id="25" name="Connector 24"/>
          <p:cNvCxnSpPr/>
          <p:nvPr/>
        </p:nvCxnSpPr>
        <p:spPr>
          <a:xfrm>
            <a:off x="2606040" y="2491740"/>
            <a:ext cx="365760" cy="0"/>
          </a:xfrm>
          <a:prstGeom prst="line">
            <a:avLst/>
          </a:prstGeom>
          <a:ln w="22225">
            <a:solidFill>
              <a:srgbClr val="5B6372"/>
            </a:solidFill>
            <a:tailEnd type="triangle" w="med" len="med"/>
          </a:ln>
          <a:effectLst/>
        </p:spPr>
        <p:style>
          <a:lnRef idx="2">
            <a:schemeClr val="accent1"/>
          </a:lnRef>
          <a:fillRef idx="0">
            <a:schemeClr val="accent1"/>
          </a:fillRef>
          <a:effectRef idx="1">
            <a:schemeClr val="accent1"/>
          </a:effectRef>
          <a:fontRef idx="minor">
            <a:schemeClr val="tx1"/>
          </a:fontRef>
        </p:style>
      </p:cxnSp>
      <p:cxnSp>
        <p:nvCxnSpPr>
          <p:cNvPr id="26" name="Connector 25"/>
          <p:cNvCxnSpPr/>
          <p:nvPr/>
        </p:nvCxnSpPr>
        <p:spPr>
          <a:xfrm>
            <a:off x="4800600" y="2491740"/>
            <a:ext cx="365760" cy="0"/>
          </a:xfrm>
          <a:prstGeom prst="line">
            <a:avLst/>
          </a:prstGeom>
          <a:ln w="22225">
            <a:solidFill>
              <a:srgbClr val="5B6372"/>
            </a:solidFill>
            <a:tailEnd type="triangle" w="med" len="med"/>
          </a:ln>
          <a:effectLst/>
        </p:spPr>
        <p:style>
          <a:lnRef idx="2">
            <a:schemeClr val="accent1"/>
          </a:lnRef>
          <a:fillRef idx="0">
            <a:schemeClr val="accent1"/>
          </a:fillRef>
          <a:effectRef idx="1">
            <a:schemeClr val="accent1"/>
          </a:effectRef>
          <a:fontRef idx="minor">
            <a:schemeClr val="tx1"/>
          </a:fontRef>
        </p:style>
      </p:cxnSp>
      <p:cxnSp>
        <p:nvCxnSpPr>
          <p:cNvPr id="27" name="Connector 26"/>
          <p:cNvCxnSpPr/>
          <p:nvPr/>
        </p:nvCxnSpPr>
        <p:spPr>
          <a:xfrm>
            <a:off x="4800600" y="2491740"/>
            <a:ext cx="365760" cy="1691640"/>
          </a:xfrm>
          <a:prstGeom prst="line">
            <a:avLst/>
          </a:prstGeom>
          <a:ln w="22225">
            <a:solidFill>
              <a:srgbClr val="5B6372"/>
            </a:solidFill>
            <a:tailEnd type="triangle" w="med" len="med"/>
          </a:ln>
          <a:effectLst/>
        </p:spPr>
        <p:style>
          <a:lnRef idx="2">
            <a:schemeClr val="accent1"/>
          </a:lnRef>
          <a:fillRef idx="0">
            <a:schemeClr val="accent1"/>
          </a:fillRef>
          <a:effectRef idx="1">
            <a:schemeClr val="accent1"/>
          </a:effectRef>
          <a:fontRef idx="minor">
            <a:schemeClr val="tx1"/>
          </a:fontRef>
        </p:style>
      </p:cxnSp>
      <p:cxnSp>
        <p:nvCxnSpPr>
          <p:cNvPr id="28" name="Connector 27"/>
          <p:cNvCxnSpPr/>
          <p:nvPr/>
        </p:nvCxnSpPr>
        <p:spPr>
          <a:xfrm>
            <a:off x="6995160" y="4183380"/>
            <a:ext cx="365760" cy="0"/>
          </a:xfrm>
          <a:prstGeom prst="line">
            <a:avLst/>
          </a:prstGeom>
          <a:ln w="22225">
            <a:solidFill>
              <a:srgbClr val="5B6372"/>
            </a:solidFill>
            <a:tailEnd type="triangle" w="med" len="med"/>
          </a:ln>
          <a:effectLst/>
        </p:spPr>
        <p:style>
          <a:lnRef idx="2">
            <a:schemeClr val="accent1"/>
          </a:lnRef>
          <a:fillRef idx="0">
            <a:schemeClr val="accent1"/>
          </a:fillRef>
          <a:effectRef idx="1">
            <a:schemeClr val="accent1"/>
          </a:effectRef>
          <a:fontRef idx="minor">
            <a:schemeClr val="tx1"/>
          </a:fontRef>
        </p:style>
      </p:cxnSp>
      <p:cxnSp>
        <p:nvCxnSpPr>
          <p:cNvPr id="29" name="Connector 28"/>
          <p:cNvCxnSpPr/>
          <p:nvPr/>
        </p:nvCxnSpPr>
        <p:spPr>
          <a:xfrm>
            <a:off x="9189720" y="4183380"/>
            <a:ext cx="365760" cy="0"/>
          </a:xfrm>
          <a:prstGeom prst="line">
            <a:avLst/>
          </a:prstGeom>
          <a:ln w="22225">
            <a:solidFill>
              <a:srgbClr val="5B6372"/>
            </a:solidFill>
            <a:tailEnd type="triangle" w="med" len="med"/>
          </a:ln>
          <a:effectLst/>
        </p:spPr>
        <p:style>
          <a:lnRef idx="2">
            <a:schemeClr val="accent1"/>
          </a:lnRef>
          <a:fillRef idx="0">
            <a:schemeClr val="accent1"/>
          </a:fillRef>
          <a:effectRef idx="1">
            <a:schemeClr val="accent1"/>
          </a:effectRef>
          <a:fontRef idx="minor">
            <a:schemeClr val="tx1"/>
          </a:fontRef>
        </p:style>
      </p:cxnSp>
      <p:sp>
        <p:nvSpPr>
          <p:cNvPr id="30" name="Rectangle 29"/>
          <p:cNvSpPr/>
          <p:nvPr/>
        </p:nvSpPr>
        <p:spPr>
          <a:xfrm>
            <a:off x="777240" y="5669280"/>
            <a:ext cx="10634472" cy="54864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TextBox 30"/>
          <p:cNvSpPr txBox="1"/>
          <p:nvPr/>
        </p:nvSpPr>
        <p:spPr>
          <a:xfrm>
            <a:off x="1005840" y="5742432"/>
            <a:ext cx="10241280" cy="411480"/>
          </a:xfrm>
          <a:prstGeom prst="rect">
            <a:avLst/>
          </a:prstGeom>
          <a:noFill/>
        </p:spPr>
        <p:txBody>
          <a:bodyPr wrap="square" anchor="ctr">
            <a:spAutoFit/>
          </a:bodyPr>
          <a:lstStyle/>
          <a:p>
            <a:pPr algn="l">
              <a:spcAft>
                <a:spcPts val="400"/>
              </a:spcAft>
            </a:pPr>
            <a:r>
              <a:rPr sz="1300" b="1">
                <a:solidFill>
                  <a:srgbClr val="EC711E"/>
                </a:solidFill>
                <a:latin typeface="Arial"/>
              </a:rPr>
              <a:t>▶  </a:t>
            </a:r>
            <a:r>
              <a:rPr sz="1300" b="0">
                <a:solidFill>
                  <a:srgbClr val="161B26"/>
                </a:solidFill>
                <a:latin typeface="Arial"/>
              </a:rPr>
              <a:t>EventBridge routes the event to notify people and trigger a Lambda/SSM runbook that fixes the issue automatically.</a:t>
            </a:r>
          </a:p>
        </p:txBody>
      </p:sp>
      <p:sp>
        <p:nvSpPr>
          <p:cNvPr id="32" name="TextBox 31"/>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DevOps Engineering on AWS  ·  TGS-2023040474</a:t>
            </a:r>
          </a:p>
        </p:txBody>
      </p:sp>
      <p:sp>
        <p:nvSpPr>
          <p:cNvPr id="33" name="TextBox 32"/>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34" name="TextBox 33"/>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162</a:t>
            </a:r>
          </a:p>
        </p:txBody>
      </p:sp>
    </p:spTree>
  </p:cSld>
  <p:clrMapOvr>
    <a:masterClrMapping/>
  </p:clrMapOvr>
  <p:transition xmlns:p14="http://schemas.microsoft.com/office/powerpoint/2010/main" p14:dur="380">
    <p:fade/>
  </p:transition>
</p:sld>
</file>

<file path=ppt/slides/slide16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EC711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38912"/>
            <a:ext cx="10607040" cy="365760"/>
          </a:xfrm>
          <a:prstGeom prst="rect">
            <a:avLst/>
          </a:prstGeom>
          <a:noFill/>
        </p:spPr>
        <p:txBody>
          <a:bodyPr wrap="square" anchor="t">
            <a:spAutoFit/>
          </a:bodyPr>
          <a:lstStyle/>
          <a:p>
            <a:pPr algn="l">
              <a:spcAft>
                <a:spcPts val="400"/>
              </a:spcAft>
            </a:pPr>
            <a:r>
              <a:rPr sz="1400" b="1">
                <a:solidFill>
                  <a:srgbClr val="EC711E"/>
                </a:solidFill>
                <a:latin typeface="Arial"/>
              </a:rPr>
              <a:t>THE RESPONSE LOOP</a:t>
            </a:r>
          </a:p>
        </p:txBody>
      </p:sp>
      <p:sp>
        <p:nvSpPr>
          <p:cNvPr id="5" name="TextBox 4"/>
          <p:cNvSpPr txBox="1"/>
          <p:nvPr/>
        </p:nvSpPr>
        <p:spPr>
          <a:xfrm>
            <a:off x="777240" y="804672"/>
            <a:ext cx="10927080" cy="731520"/>
          </a:xfrm>
          <a:prstGeom prst="rect">
            <a:avLst/>
          </a:prstGeom>
          <a:noFill/>
        </p:spPr>
        <p:txBody>
          <a:bodyPr wrap="square" anchor="t">
            <a:spAutoFit/>
          </a:bodyPr>
          <a:lstStyle/>
          <a:p>
            <a:pPr algn="l">
              <a:spcAft>
                <a:spcPts val="400"/>
              </a:spcAft>
            </a:pPr>
            <a:r>
              <a:rPr sz="2900" b="1">
                <a:solidFill>
                  <a:srgbClr val="161B26"/>
                </a:solidFill>
                <a:latin typeface="Arial"/>
              </a:rPr>
              <a:t>From Detection to Remediation</a:t>
            </a:r>
          </a:p>
        </p:txBody>
      </p:sp>
      <p:sp>
        <p:nvSpPr>
          <p:cNvPr id="6" name="Rectangle 5"/>
          <p:cNvSpPr/>
          <p:nvPr/>
        </p:nvSpPr>
        <p:spPr>
          <a:xfrm>
            <a:off x="777240" y="1572768"/>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783080"/>
            <a:ext cx="5180076" cy="131064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1783080"/>
            <a:ext cx="91440" cy="131064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1033272" y="2164080"/>
            <a:ext cx="548640" cy="548640"/>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033272" y="2164080"/>
            <a:ext cx="548640" cy="548640"/>
          </a:xfrm>
          <a:prstGeom prst="rect">
            <a:avLst/>
          </a:prstGeom>
          <a:noFill/>
        </p:spPr>
        <p:txBody>
          <a:bodyPr wrap="square" anchor="ctr">
            <a:spAutoFit/>
          </a:bodyPr>
          <a:lstStyle/>
          <a:p>
            <a:pPr algn="ctr">
              <a:spcAft>
                <a:spcPts val="400"/>
              </a:spcAft>
            </a:pPr>
            <a:r>
              <a:rPr sz="1800" b="1">
                <a:solidFill>
                  <a:srgbClr val="FFFFFF"/>
                </a:solidFill>
                <a:latin typeface="Arial"/>
              </a:rPr>
              <a:t>1</a:t>
            </a:r>
          </a:p>
        </p:txBody>
      </p:sp>
      <p:sp>
        <p:nvSpPr>
          <p:cNvPr id="11" name="TextBox 10"/>
          <p:cNvSpPr txBox="1"/>
          <p:nvPr/>
        </p:nvSpPr>
        <p:spPr>
          <a:xfrm>
            <a:off x="1764792" y="1892808"/>
            <a:ext cx="3973068" cy="1127760"/>
          </a:xfrm>
          <a:prstGeom prst="rect">
            <a:avLst/>
          </a:prstGeom>
          <a:noFill/>
        </p:spPr>
        <p:txBody>
          <a:bodyPr wrap="square" anchor="ctr">
            <a:spAutoFit/>
          </a:bodyPr>
          <a:lstStyle/>
          <a:p>
            <a:pPr algn="l">
              <a:spcAft>
                <a:spcPts val="300"/>
              </a:spcAft>
            </a:pPr>
            <a:r>
              <a:rPr sz="1550" b="1">
                <a:solidFill>
                  <a:srgbClr val="161B26"/>
                </a:solidFill>
                <a:latin typeface="Arial"/>
              </a:rPr>
              <a:t>Detect</a:t>
            </a:r>
          </a:p>
          <a:p>
            <a:pPr algn="l">
              <a:spcAft>
                <a:spcPts val="300"/>
              </a:spcAft>
            </a:pPr>
            <a:r>
              <a:rPr sz="1150" b="0">
                <a:solidFill>
                  <a:srgbClr val="5B6372"/>
                </a:solidFill>
                <a:latin typeface="Arial"/>
              </a:rPr>
              <a:t>CloudWatch alarms, Config rules and service events signal a problem.</a:t>
            </a:r>
          </a:p>
        </p:txBody>
      </p:sp>
      <p:sp>
        <p:nvSpPr>
          <p:cNvPr id="12" name="Rectangle 11"/>
          <p:cNvSpPr/>
          <p:nvPr/>
        </p:nvSpPr>
        <p:spPr>
          <a:xfrm>
            <a:off x="6231636" y="1783080"/>
            <a:ext cx="5180076" cy="131064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6231636" y="1783080"/>
            <a:ext cx="91440" cy="131064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Oval 13"/>
          <p:cNvSpPr/>
          <p:nvPr/>
        </p:nvSpPr>
        <p:spPr>
          <a:xfrm>
            <a:off x="6487668" y="2164080"/>
            <a:ext cx="548640" cy="54864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6487668" y="2164080"/>
            <a:ext cx="548640" cy="548640"/>
          </a:xfrm>
          <a:prstGeom prst="rect">
            <a:avLst/>
          </a:prstGeom>
          <a:noFill/>
        </p:spPr>
        <p:txBody>
          <a:bodyPr wrap="square" anchor="ctr">
            <a:spAutoFit/>
          </a:bodyPr>
          <a:lstStyle/>
          <a:p>
            <a:pPr algn="ctr">
              <a:spcAft>
                <a:spcPts val="400"/>
              </a:spcAft>
            </a:pPr>
            <a:r>
              <a:rPr sz="1800" b="1">
                <a:solidFill>
                  <a:srgbClr val="FFFFFF"/>
                </a:solidFill>
                <a:latin typeface="Arial"/>
              </a:rPr>
              <a:t>2</a:t>
            </a:r>
          </a:p>
        </p:txBody>
      </p:sp>
      <p:sp>
        <p:nvSpPr>
          <p:cNvPr id="16" name="TextBox 15"/>
          <p:cNvSpPr txBox="1"/>
          <p:nvPr/>
        </p:nvSpPr>
        <p:spPr>
          <a:xfrm>
            <a:off x="7219188" y="1892808"/>
            <a:ext cx="3973068" cy="1127760"/>
          </a:xfrm>
          <a:prstGeom prst="rect">
            <a:avLst/>
          </a:prstGeom>
          <a:noFill/>
        </p:spPr>
        <p:txBody>
          <a:bodyPr wrap="square" anchor="ctr">
            <a:spAutoFit/>
          </a:bodyPr>
          <a:lstStyle/>
          <a:p>
            <a:pPr algn="l">
              <a:spcAft>
                <a:spcPts val="300"/>
              </a:spcAft>
            </a:pPr>
            <a:r>
              <a:rPr sz="1550" b="1">
                <a:solidFill>
                  <a:srgbClr val="161B26"/>
                </a:solidFill>
                <a:latin typeface="Arial"/>
              </a:rPr>
              <a:t>Route</a:t>
            </a:r>
          </a:p>
          <a:p>
            <a:pPr algn="l">
              <a:spcAft>
                <a:spcPts val="300"/>
              </a:spcAft>
            </a:pPr>
            <a:r>
              <a:rPr sz="1150" b="0">
                <a:solidFill>
                  <a:srgbClr val="5B6372"/>
                </a:solidFill>
                <a:latin typeface="Arial"/>
              </a:rPr>
              <a:t>EventBridge matches the event pattern and fans out to targets.</a:t>
            </a:r>
          </a:p>
        </p:txBody>
      </p:sp>
      <p:sp>
        <p:nvSpPr>
          <p:cNvPr id="17" name="Rectangle 16"/>
          <p:cNvSpPr/>
          <p:nvPr/>
        </p:nvSpPr>
        <p:spPr>
          <a:xfrm>
            <a:off x="777240" y="3313176"/>
            <a:ext cx="5180076" cy="131064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777240" y="3313176"/>
            <a:ext cx="91440" cy="1310640"/>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Oval 18"/>
          <p:cNvSpPr/>
          <p:nvPr/>
        </p:nvSpPr>
        <p:spPr>
          <a:xfrm>
            <a:off x="1033272" y="3694176"/>
            <a:ext cx="548640" cy="548640"/>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1033272" y="3694176"/>
            <a:ext cx="548640" cy="548640"/>
          </a:xfrm>
          <a:prstGeom prst="rect">
            <a:avLst/>
          </a:prstGeom>
          <a:noFill/>
        </p:spPr>
        <p:txBody>
          <a:bodyPr wrap="square" anchor="ctr">
            <a:spAutoFit/>
          </a:bodyPr>
          <a:lstStyle/>
          <a:p>
            <a:pPr algn="ctr">
              <a:spcAft>
                <a:spcPts val="400"/>
              </a:spcAft>
            </a:pPr>
            <a:r>
              <a:rPr sz="1800" b="1">
                <a:solidFill>
                  <a:srgbClr val="FFFFFF"/>
                </a:solidFill>
                <a:latin typeface="Arial"/>
              </a:rPr>
              <a:t>3</a:t>
            </a:r>
          </a:p>
        </p:txBody>
      </p:sp>
      <p:sp>
        <p:nvSpPr>
          <p:cNvPr id="21" name="TextBox 20"/>
          <p:cNvSpPr txBox="1"/>
          <p:nvPr/>
        </p:nvSpPr>
        <p:spPr>
          <a:xfrm>
            <a:off x="1764792" y="3422904"/>
            <a:ext cx="3973068" cy="1127760"/>
          </a:xfrm>
          <a:prstGeom prst="rect">
            <a:avLst/>
          </a:prstGeom>
          <a:noFill/>
        </p:spPr>
        <p:txBody>
          <a:bodyPr wrap="square" anchor="ctr">
            <a:spAutoFit/>
          </a:bodyPr>
          <a:lstStyle/>
          <a:p>
            <a:pPr algn="l">
              <a:spcAft>
                <a:spcPts val="300"/>
              </a:spcAft>
            </a:pPr>
            <a:r>
              <a:rPr sz="1550" b="1">
                <a:solidFill>
                  <a:srgbClr val="161B26"/>
                </a:solidFill>
                <a:latin typeface="Arial"/>
              </a:rPr>
              <a:t>Notify</a:t>
            </a:r>
          </a:p>
          <a:p>
            <a:pPr algn="l">
              <a:spcAft>
                <a:spcPts val="300"/>
              </a:spcAft>
            </a:pPr>
            <a:r>
              <a:rPr sz="1150" b="0">
                <a:solidFill>
                  <a:srgbClr val="5B6372"/>
                </a:solidFill>
                <a:latin typeface="Arial"/>
              </a:rPr>
              <a:t>SNS alerts on-call responders by email / chat / SMS.</a:t>
            </a:r>
          </a:p>
        </p:txBody>
      </p:sp>
      <p:sp>
        <p:nvSpPr>
          <p:cNvPr id="22" name="Rectangle 21"/>
          <p:cNvSpPr/>
          <p:nvPr/>
        </p:nvSpPr>
        <p:spPr>
          <a:xfrm>
            <a:off x="6231636" y="3313176"/>
            <a:ext cx="5180076" cy="131064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ectangle 22"/>
          <p:cNvSpPr/>
          <p:nvPr/>
        </p:nvSpPr>
        <p:spPr>
          <a:xfrm>
            <a:off x="6231636" y="3313176"/>
            <a:ext cx="91440" cy="1310640"/>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Oval 23"/>
          <p:cNvSpPr/>
          <p:nvPr/>
        </p:nvSpPr>
        <p:spPr>
          <a:xfrm>
            <a:off x="6487668" y="3694176"/>
            <a:ext cx="548640" cy="548640"/>
          </a:xfrm>
          <a:prstGeom prst="ellipse">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6487668" y="3694176"/>
            <a:ext cx="548640" cy="548640"/>
          </a:xfrm>
          <a:prstGeom prst="rect">
            <a:avLst/>
          </a:prstGeom>
          <a:noFill/>
        </p:spPr>
        <p:txBody>
          <a:bodyPr wrap="square" anchor="ctr">
            <a:spAutoFit/>
          </a:bodyPr>
          <a:lstStyle/>
          <a:p>
            <a:pPr algn="ctr">
              <a:spcAft>
                <a:spcPts val="400"/>
              </a:spcAft>
            </a:pPr>
            <a:r>
              <a:rPr sz="1800" b="1">
                <a:solidFill>
                  <a:srgbClr val="FFFFFF"/>
                </a:solidFill>
                <a:latin typeface="Arial"/>
              </a:rPr>
              <a:t>4</a:t>
            </a:r>
          </a:p>
        </p:txBody>
      </p:sp>
      <p:sp>
        <p:nvSpPr>
          <p:cNvPr id="26" name="TextBox 25"/>
          <p:cNvSpPr txBox="1"/>
          <p:nvPr/>
        </p:nvSpPr>
        <p:spPr>
          <a:xfrm>
            <a:off x="7219188" y="3422904"/>
            <a:ext cx="3973068" cy="1127760"/>
          </a:xfrm>
          <a:prstGeom prst="rect">
            <a:avLst/>
          </a:prstGeom>
          <a:noFill/>
        </p:spPr>
        <p:txBody>
          <a:bodyPr wrap="square" anchor="ctr">
            <a:spAutoFit/>
          </a:bodyPr>
          <a:lstStyle/>
          <a:p>
            <a:pPr algn="l">
              <a:spcAft>
                <a:spcPts val="300"/>
              </a:spcAft>
            </a:pPr>
            <a:r>
              <a:rPr sz="1550" b="1">
                <a:solidFill>
                  <a:srgbClr val="161B26"/>
                </a:solidFill>
                <a:latin typeface="Arial"/>
              </a:rPr>
              <a:t>Remediate</a:t>
            </a:r>
          </a:p>
          <a:p>
            <a:pPr algn="l">
              <a:spcAft>
                <a:spcPts val="300"/>
              </a:spcAft>
            </a:pPr>
            <a:r>
              <a:rPr sz="1150" b="0">
                <a:solidFill>
                  <a:srgbClr val="5B6372"/>
                </a:solidFill>
                <a:latin typeface="Arial"/>
              </a:rPr>
              <a:t>Lambda or SSM Automation runs the runbook — restart, isolate, roll back.</a:t>
            </a:r>
          </a:p>
        </p:txBody>
      </p:sp>
      <p:sp>
        <p:nvSpPr>
          <p:cNvPr id="27" name="Rectangle 26"/>
          <p:cNvSpPr/>
          <p:nvPr/>
        </p:nvSpPr>
        <p:spPr>
          <a:xfrm>
            <a:off x="777240" y="4843272"/>
            <a:ext cx="5180076" cy="131064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Rectangle 27"/>
          <p:cNvSpPr/>
          <p:nvPr/>
        </p:nvSpPr>
        <p:spPr>
          <a:xfrm>
            <a:off x="777240" y="4843272"/>
            <a:ext cx="91440" cy="1310640"/>
          </a:xfrm>
          <a:prstGeom prst="rect">
            <a:avLst/>
          </a:prstGeom>
          <a:solidFill>
            <a:srgbClr val="EC711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Oval 28"/>
          <p:cNvSpPr/>
          <p:nvPr/>
        </p:nvSpPr>
        <p:spPr>
          <a:xfrm>
            <a:off x="1033272" y="5224272"/>
            <a:ext cx="548640" cy="548640"/>
          </a:xfrm>
          <a:prstGeom prst="ellipse">
            <a:avLst/>
          </a:prstGeom>
          <a:solidFill>
            <a:srgbClr val="EC711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1033272" y="5224272"/>
            <a:ext cx="548640" cy="548640"/>
          </a:xfrm>
          <a:prstGeom prst="rect">
            <a:avLst/>
          </a:prstGeom>
          <a:noFill/>
        </p:spPr>
        <p:txBody>
          <a:bodyPr wrap="square" anchor="ctr">
            <a:spAutoFit/>
          </a:bodyPr>
          <a:lstStyle/>
          <a:p>
            <a:pPr algn="ctr">
              <a:spcAft>
                <a:spcPts val="400"/>
              </a:spcAft>
            </a:pPr>
            <a:r>
              <a:rPr sz="1800" b="1">
                <a:solidFill>
                  <a:srgbClr val="FFFFFF"/>
                </a:solidFill>
                <a:latin typeface="Arial"/>
              </a:rPr>
              <a:t>5</a:t>
            </a:r>
          </a:p>
        </p:txBody>
      </p:sp>
      <p:sp>
        <p:nvSpPr>
          <p:cNvPr id="31" name="TextBox 30"/>
          <p:cNvSpPr txBox="1"/>
          <p:nvPr/>
        </p:nvSpPr>
        <p:spPr>
          <a:xfrm>
            <a:off x="1764792" y="4953000"/>
            <a:ext cx="3973068" cy="1127760"/>
          </a:xfrm>
          <a:prstGeom prst="rect">
            <a:avLst/>
          </a:prstGeom>
          <a:noFill/>
        </p:spPr>
        <p:txBody>
          <a:bodyPr wrap="square" anchor="ctr">
            <a:spAutoFit/>
          </a:bodyPr>
          <a:lstStyle/>
          <a:p>
            <a:pPr algn="l">
              <a:spcAft>
                <a:spcPts val="300"/>
              </a:spcAft>
            </a:pPr>
            <a:r>
              <a:rPr sz="1550" b="1">
                <a:solidFill>
                  <a:srgbClr val="161B26"/>
                </a:solidFill>
                <a:latin typeface="Arial"/>
              </a:rPr>
              <a:t>Roll back</a:t>
            </a:r>
          </a:p>
          <a:p>
            <a:pPr algn="l">
              <a:spcAft>
                <a:spcPts val="300"/>
              </a:spcAft>
            </a:pPr>
            <a:r>
              <a:rPr sz="1150" b="0">
                <a:solidFill>
                  <a:srgbClr val="5B6372"/>
                </a:solidFill>
                <a:latin typeface="Arial"/>
              </a:rPr>
              <a:t>CloudWatch alarms auto-roll-back a bad CodeDeploy deployment.</a:t>
            </a:r>
          </a:p>
        </p:txBody>
      </p:sp>
      <p:sp>
        <p:nvSpPr>
          <p:cNvPr id="32" name="Rectangle 31"/>
          <p:cNvSpPr/>
          <p:nvPr/>
        </p:nvSpPr>
        <p:spPr>
          <a:xfrm>
            <a:off x="6231636" y="4843272"/>
            <a:ext cx="5180076" cy="131064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Rectangle 32"/>
          <p:cNvSpPr/>
          <p:nvPr/>
        </p:nvSpPr>
        <p:spPr>
          <a:xfrm>
            <a:off x="6231636" y="4843272"/>
            <a:ext cx="91440" cy="1310640"/>
          </a:xfrm>
          <a:prstGeom prst="rect">
            <a:avLst/>
          </a:prstGeom>
          <a:solidFill>
            <a:srgbClr val="0E9EC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Oval 33"/>
          <p:cNvSpPr/>
          <p:nvPr/>
        </p:nvSpPr>
        <p:spPr>
          <a:xfrm>
            <a:off x="6487668" y="5224272"/>
            <a:ext cx="548640" cy="548640"/>
          </a:xfrm>
          <a:prstGeom prst="ellipse">
            <a:avLst/>
          </a:prstGeom>
          <a:solidFill>
            <a:srgbClr val="0E9EC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TextBox 34"/>
          <p:cNvSpPr txBox="1"/>
          <p:nvPr/>
        </p:nvSpPr>
        <p:spPr>
          <a:xfrm>
            <a:off x="6487668" y="5224272"/>
            <a:ext cx="548640" cy="548640"/>
          </a:xfrm>
          <a:prstGeom prst="rect">
            <a:avLst/>
          </a:prstGeom>
          <a:noFill/>
        </p:spPr>
        <p:txBody>
          <a:bodyPr wrap="square" anchor="ctr">
            <a:spAutoFit/>
          </a:bodyPr>
          <a:lstStyle/>
          <a:p>
            <a:pPr algn="ctr">
              <a:spcAft>
                <a:spcPts val="400"/>
              </a:spcAft>
            </a:pPr>
            <a:r>
              <a:rPr sz="1800" b="1">
                <a:solidFill>
                  <a:srgbClr val="FFFFFF"/>
                </a:solidFill>
                <a:latin typeface="Arial"/>
              </a:rPr>
              <a:t>6</a:t>
            </a:r>
          </a:p>
        </p:txBody>
      </p:sp>
      <p:sp>
        <p:nvSpPr>
          <p:cNvPr id="36" name="TextBox 35"/>
          <p:cNvSpPr txBox="1"/>
          <p:nvPr/>
        </p:nvSpPr>
        <p:spPr>
          <a:xfrm>
            <a:off x="7219188" y="4953000"/>
            <a:ext cx="3973068" cy="1127760"/>
          </a:xfrm>
          <a:prstGeom prst="rect">
            <a:avLst/>
          </a:prstGeom>
          <a:noFill/>
        </p:spPr>
        <p:txBody>
          <a:bodyPr wrap="square" anchor="ctr">
            <a:spAutoFit/>
          </a:bodyPr>
          <a:lstStyle/>
          <a:p>
            <a:pPr algn="l">
              <a:spcAft>
                <a:spcPts val="300"/>
              </a:spcAft>
            </a:pPr>
            <a:r>
              <a:rPr sz="1550" b="1">
                <a:solidFill>
                  <a:srgbClr val="161B26"/>
                </a:solidFill>
                <a:latin typeface="Arial"/>
              </a:rPr>
              <a:t>Learn</a:t>
            </a:r>
          </a:p>
          <a:p>
            <a:pPr algn="l">
              <a:spcAft>
                <a:spcPts val="300"/>
              </a:spcAft>
            </a:pPr>
            <a:r>
              <a:rPr sz="1150" b="0">
                <a:solidFill>
                  <a:srgbClr val="5B6372"/>
                </a:solidFill>
                <a:latin typeface="Arial"/>
              </a:rPr>
              <a:t>Blameless review; codify the fix into the runbook.</a:t>
            </a:r>
          </a:p>
        </p:txBody>
      </p:sp>
      <p:sp>
        <p:nvSpPr>
          <p:cNvPr id="37" name="TextBox 36"/>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DevOps Engineering on AWS  ·  TGS-2023040474</a:t>
            </a:r>
          </a:p>
        </p:txBody>
      </p:sp>
      <p:sp>
        <p:nvSpPr>
          <p:cNvPr id="38" name="TextBox 37"/>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39" name="TextBox 38"/>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163</a:t>
            </a:r>
          </a:p>
        </p:txBody>
      </p:sp>
    </p:spTree>
  </p:cSld>
  <p:clrMapOvr>
    <a:masterClrMapping/>
  </p:clrMapOvr>
  <p:transition xmlns:p14="http://schemas.microsoft.com/office/powerpoint/2010/main" p14:dur="380">
    <p:fade/>
  </p:transition>
</p:sld>
</file>

<file path=ppt/slides/slide16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EC711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38912"/>
            <a:ext cx="10607040" cy="365760"/>
          </a:xfrm>
          <a:prstGeom prst="rect">
            <a:avLst/>
          </a:prstGeom>
          <a:noFill/>
        </p:spPr>
        <p:txBody>
          <a:bodyPr wrap="square" anchor="t">
            <a:spAutoFit/>
          </a:bodyPr>
          <a:lstStyle/>
          <a:p>
            <a:pPr algn="l">
              <a:spcAft>
                <a:spcPts val="400"/>
              </a:spcAft>
            </a:pPr>
            <a:r>
              <a:rPr sz="1400" b="1">
                <a:solidFill>
                  <a:srgbClr val="EC711E"/>
                </a:solidFill>
                <a:latin typeface="Arial"/>
              </a:rPr>
              <a:t>WHY AUTOMATE RESPONSE</a:t>
            </a:r>
          </a:p>
        </p:txBody>
      </p:sp>
      <p:sp>
        <p:nvSpPr>
          <p:cNvPr id="5" name="TextBox 4"/>
          <p:cNvSpPr txBox="1"/>
          <p:nvPr/>
        </p:nvSpPr>
        <p:spPr>
          <a:xfrm>
            <a:off x="777240" y="804672"/>
            <a:ext cx="10927080" cy="731520"/>
          </a:xfrm>
          <a:prstGeom prst="rect">
            <a:avLst/>
          </a:prstGeom>
          <a:noFill/>
        </p:spPr>
        <p:txBody>
          <a:bodyPr wrap="square" anchor="t">
            <a:spAutoFit/>
          </a:bodyPr>
          <a:lstStyle/>
          <a:p>
            <a:pPr algn="l">
              <a:spcAft>
                <a:spcPts val="400"/>
              </a:spcAft>
            </a:pPr>
            <a:r>
              <a:rPr sz="2900" b="1">
                <a:solidFill>
                  <a:srgbClr val="161B26"/>
                </a:solidFill>
                <a:latin typeface="Arial"/>
              </a:rPr>
              <a:t>Automation Cuts Mean Time To Recover</a:t>
            </a:r>
          </a:p>
        </p:txBody>
      </p:sp>
      <p:sp>
        <p:nvSpPr>
          <p:cNvPr id="6" name="Rectangle 5"/>
          <p:cNvSpPr/>
          <p:nvPr/>
        </p:nvSpPr>
        <p:spPr>
          <a:xfrm>
            <a:off x="777240" y="1572768"/>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graphicFrame>
        <p:nvGraphicFramePr>
          <p:cNvPr id="7" name="Chart 6"/>
          <p:cNvGraphicFramePr>
            <a:graphicFrameLocks noGrp="1"/>
          </p:cNvGraphicFramePr>
          <p:nvPr/>
        </p:nvGraphicFramePr>
        <p:xfrm>
          <a:off x="777240" y="1828800"/>
          <a:ext cx="10634472" cy="3291840"/>
        </p:xfrm>
        <a:graphic>
          <a:graphicData uri="http://schemas.openxmlformats.org/drawingml/2006/chart">
            <c:chart xmlns:c="http://schemas.openxmlformats.org/drawingml/2006/chart" r:id="rId2"/>
          </a:graphicData>
        </a:graphic>
      </p:graphicFrame>
      <p:sp>
        <p:nvSpPr>
          <p:cNvPr id="8" name="Rectangle 7"/>
          <p:cNvSpPr/>
          <p:nvPr/>
        </p:nvSpPr>
        <p:spPr>
          <a:xfrm>
            <a:off x="777240" y="5349240"/>
            <a:ext cx="10634472" cy="86868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777240" y="5349240"/>
            <a:ext cx="91440" cy="868680"/>
          </a:xfrm>
          <a:prstGeom prst="rect">
            <a:avLst/>
          </a:prstGeom>
          <a:solidFill>
            <a:srgbClr val="EC711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005840" y="5440680"/>
            <a:ext cx="10241280" cy="320040"/>
          </a:xfrm>
          <a:prstGeom prst="rect">
            <a:avLst/>
          </a:prstGeom>
          <a:noFill/>
        </p:spPr>
        <p:txBody>
          <a:bodyPr wrap="square" anchor="t">
            <a:spAutoFit/>
          </a:bodyPr>
          <a:lstStyle/>
          <a:p>
            <a:pPr algn="l">
              <a:spcAft>
                <a:spcPts val="400"/>
              </a:spcAft>
            </a:pPr>
            <a:r>
              <a:rPr sz="1100" b="1">
                <a:solidFill>
                  <a:srgbClr val="EC711E"/>
                </a:solidFill>
                <a:latin typeface="Arial"/>
              </a:rPr>
              <a:t>WHAT THE DATA SHOWS</a:t>
            </a:r>
          </a:p>
        </p:txBody>
      </p:sp>
      <p:sp>
        <p:nvSpPr>
          <p:cNvPr id="11" name="TextBox 10"/>
          <p:cNvSpPr txBox="1"/>
          <p:nvPr/>
        </p:nvSpPr>
        <p:spPr>
          <a:xfrm>
            <a:off x="1005840" y="5742432"/>
            <a:ext cx="10241280" cy="457200"/>
          </a:xfrm>
          <a:prstGeom prst="rect">
            <a:avLst/>
          </a:prstGeom>
          <a:noFill/>
        </p:spPr>
        <p:txBody>
          <a:bodyPr wrap="square" anchor="t">
            <a:spAutoFit/>
          </a:bodyPr>
          <a:lstStyle/>
          <a:p>
            <a:pPr algn="l">
              <a:spcAft>
                <a:spcPts val="400"/>
              </a:spcAft>
            </a:pPr>
            <a:r>
              <a:rPr sz="1350" b="0">
                <a:solidFill>
                  <a:srgbClr val="161B26"/>
                </a:solidFill>
                <a:latin typeface="Arial"/>
              </a:rPr>
              <a:t>Event-driven automation collapses MTTR from over an hour to a few minutes across every phase.</a:t>
            </a:r>
          </a:p>
        </p:txBody>
      </p:sp>
      <p:sp>
        <p:nvSpPr>
          <p:cNvPr id="12" name="TextBox 11"/>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DevOps Engineering on AWS  ·  TGS-2023040474</a:t>
            </a:r>
          </a:p>
        </p:txBody>
      </p:sp>
      <p:sp>
        <p:nvSpPr>
          <p:cNvPr id="13" name="TextBox 12"/>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4" name="TextBox 13"/>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164</a:t>
            </a:r>
          </a:p>
        </p:txBody>
      </p:sp>
    </p:spTree>
  </p:cSld>
  <p:clrMapOvr>
    <a:masterClrMapping/>
  </p:clrMapOvr>
  <p:transition xmlns:p14="http://schemas.microsoft.com/office/powerpoint/2010/main" p14:dur="380">
    <p:fade/>
  </p:transition>
</p:sld>
</file>

<file path=ppt/slides/slide16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EC711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38912"/>
            <a:ext cx="10607040" cy="365760"/>
          </a:xfrm>
          <a:prstGeom prst="rect">
            <a:avLst/>
          </a:prstGeom>
          <a:noFill/>
        </p:spPr>
        <p:txBody>
          <a:bodyPr wrap="square" anchor="t">
            <a:spAutoFit/>
          </a:bodyPr>
          <a:lstStyle/>
          <a:p>
            <a:pPr algn="l">
              <a:spcAft>
                <a:spcPts val="400"/>
              </a:spcAft>
            </a:pPr>
            <a:r>
              <a:rPr sz="1400" b="1">
                <a:solidFill>
                  <a:srgbClr val="EC711E"/>
                </a:solidFill>
                <a:latin typeface="Arial"/>
              </a:rPr>
              <a:t>THE EVENT ROUTER</a:t>
            </a:r>
          </a:p>
        </p:txBody>
      </p:sp>
      <p:sp>
        <p:nvSpPr>
          <p:cNvPr id="5" name="TextBox 4"/>
          <p:cNvSpPr txBox="1"/>
          <p:nvPr/>
        </p:nvSpPr>
        <p:spPr>
          <a:xfrm>
            <a:off x="777240" y="804672"/>
            <a:ext cx="10927080" cy="731520"/>
          </a:xfrm>
          <a:prstGeom prst="rect">
            <a:avLst/>
          </a:prstGeom>
          <a:noFill/>
        </p:spPr>
        <p:txBody>
          <a:bodyPr wrap="square" anchor="t">
            <a:spAutoFit/>
          </a:bodyPr>
          <a:lstStyle/>
          <a:p>
            <a:pPr algn="l">
              <a:spcAft>
                <a:spcPts val="400"/>
              </a:spcAft>
            </a:pPr>
            <a:r>
              <a:rPr sz="2900" b="1">
                <a:solidFill>
                  <a:srgbClr val="161B26"/>
                </a:solidFill>
                <a:latin typeface="Arial"/>
              </a:rPr>
              <a:t>Amazon EventBridge Concepts</a:t>
            </a:r>
          </a:p>
        </p:txBody>
      </p:sp>
      <p:sp>
        <p:nvSpPr>
          <p:cNvPr id="6" name="Rectangle 5"/>
          <p:cNvSpPr/>
          <p:nvPr/>
        </p:nvSpPr>
        <p:spPr>
          <a:xfrm>
            <a:off x="777240" y="1572768"/>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783080"/>
            <a:ext cx="5180076" cy="207568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1783080"/>
            <a:ext cx="91440" cy="2075688"/>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1033272" y="2546604"/>
            <a:ext cx="548640" cy="548640"/>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033272" y="2546604"/>
            <a:ext cx="548640" cy="548640"/>
          </a:xfrm>
          <a:prstGeom prst="rect">
            <a:avLst/>
          </a:prstGeom>
          <a:noFill/>
        </p:spPr>
        <p:txBody>
          <a:bodyPr wrap="square" anchor="ctr">
            <a:spAutoFit/>
          </a:bodyPr>
          <a:lstStyle/>
          <a:p>
            <a:pPr algn="ctr">
              <a:spcAft>
                <a:spcPts val="400"/>
              </a:spcAft>
            </a:pPr>
            <a:r>
              <a:rPr sz="1800" b="1">
                <a:solidFill>
                  <a:srgbClr val="FFFFFF"/>
                </a:solidFill>
                <a:latin typeface="Arial"/>
              </a:rPr>
              <a:t>1</a:t>
            </a:r>
          </a:p>
        </p:txBody>
      </p:sp>
      <p:sp>
        <p:nvSpPr>
          <p:cNvPr id="11" name="TextBox 10"/>
          <p:cNvSpPr txBox="1"/>
          <p:nvPr/>
        </p:nvSpPr>
        <p:spPr>
          <a:xfrm>
            <a:off x="1764792" y="1892808"/>
            <a:ext cx="3973068" cy="1892808"/>
          </a:xfrm>
          <a:prstGeom prst="rect">
            <a:avLst/>
          </a:prstGeom>
          <a:noFill/>
        </p:spPr>
        <p:txBody>
          <a:bodyPr wrap="square" anchor="ctr">
            <a:spAutoFit/>
          </a:bodyPr>
          <a:lstStyle/>
          <a:p>
            <a:pPr algn="l">
              <a:spcAft>
                <a:spcPts val="300"/>
              </a:spcAft>
            </a:pPr>
            <a:r>
              <a:rPr sz="1600" b="1">
                <a:solidFill>
                  <a:srgbClr val="161B26"/>
                </a:solidFill>
                <a:latin typeface="Arial"/>
              </a:rPr>
              <a:t>Event bus</a:t>
            </a:r>
          </a:p>
          <a:p>
            <a:pPr algn="l">
              <a:spcAft>
                <a:spcPts val="300"/>
              </a:spcAft>
            </a:pPr>
            <a:r>
              <a:rPr sz="1200" b="0">
                <a:solidFill>
                  <a:srgbClr val="5B6372"/>
                </a:solidFill>
                <a:latin typeface="Arial"/>
              </a:rPr>
              <a:t>Receives events from AWS services, SaaS and your apps.</a:t>
            </a:r>
          </a:p>
        </p:txBody>
      </p:sp>
      <p:sp>
        <p:nvSpPr>
          <p:cNvPr id="12" name="Rectangle 11"/>
          <p:cNvSpPr/>
          <p:nvPr/>
        </p:nvSpPr>
        <p:spPr>
          <a:xfrm>
            <a:off x="6231636" y="1783080"/>
            <a:ext cx="5180076" cy="207568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6231636" y="1783080"/>
            <a:ext cx="91440" cy="2075688"/>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Oval 13"/>
          <p:cNvSpPr/>
          <p:nvPr/>
        </p:nvSpPr>
        <p:spPr>
          <a:xfrm>
            <a:off x="6487668" y="2546604"/>
            <a:ext cx="548640" cy="54864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6487668" y="2546604"/>
            <a:ext cx="548640" cy="548640"/>
          </a:xfrm>
          <a:prstGeom prst="rect">
            <a:avLst/>
          </a:prstGeom>
          <a:noFill/>
        </p:spPr>
        <p:txBody>
          <a:bodyPr wrap="square" anchor="ctr">
            <a:spAutoFit/>
          </a:bodyPr>
          <a:lstStyle/>
          <a:p>
            <a:pPr algn="ctr">
              <a:spcAft>
                <a:spcPts val="400"/>
              </a:spcAft>
            </a:pPr>
            <a:r>
              <a:rPr sz="1800" b="1">
                <a:solidFill>
                  <a:srgbClr val="FFFFFF"/>
                </a:solidFill>
                <a:latin typeface="Arial"/>
              </a:rPr>
              <a:t>2</a:t>
            </a:r>
          </a:p>
        </p:txBody>
      </p:sp>
      <p:sp>
        <p:nvSpPr>
          <p:cNvPr id="16" name="TextBox 15"/>
          <p:cNvSpPr txBox="1"/>
          <p:nvPr/>
        </p:nvSpPr>
        <p:spPr>
          <a:xfrm>
            <a:off x="7219188" y="1892808"/>
            <a:ext cx="3973068" cy="1892808"/>
          </a:xfrm>
          <a:prstGeom prst="rect">
            <a:avLst/>
          </a:prstGeom>
          <a:noFill/>
        </p:spPr>
        <p:txBody>
          <a:bodyPr wrap="square" anchor="ctr">
            <a:spAutoFit/>
          </a:bodyPr>
          <a:lstStyle/>
          <a:p>
            <a:pPr algn="l">
              <a:spcAft>
                <a:spcPts val="300"/>
              </a:spcAft>
            </a:pPr>
            <a:r>
              <a:rPr sz="1600" b="1">
                <a:solidFill>
                  <a:srgbClr val="161B26"/>
                </a:solidFill>
                <a:latin typeface="Arial"/>
              </a:rPr>
              <a:t>Rules &amp; patterns</a:t>
            </a:r>
          </a:p>
          <a:p>
            <a:pPr algn="l">
              <a:spcAft>
                <a:spcPts val="300"/>
              </a:spcAft>
            </a:pPr>
            <a:r>
              <a:rPr sz="1200" b="0">
                <a:solidFill>
                  <a:srgbClr val="5B6372"/>
                </a:solidFill>
                <a:latin typeface="Arial"/>
              </a:rPr>
              <a:t>Match events by source, type and detail.</a:t>
            </a:r>
          </a:p>
        </p:txBody>
      </p:sp>
      <p:sp>
        <p:nvSpPr>
          <p:cNvPr id="17" name="Rectangle 16"/>
          <p:cNvSpPr/>
          <p:nvPr/>
        </p:nvSpPr>
        <p:spPr>
          <a:xfrm>
            <a:off x="777240" y="4078224"/>
            <a:ext cx="5180076" cy="207568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777240" y="4078224"/>
            <a:ext cx="91440" cy="2075688"/>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Oval 18"/>
          <p:cNvSpPr/>
          <p:nvPr/>
        </p:nvSpPr>
        <p:spPr>
          <a:xfrm>
            <a:off x="1033272" y="4841748"/>
            <a:ext cx="548640" cy="548640"/>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1033272" y="4841748"/>
            <a:ext cx="548640" cy="548640"/>
          </a:xfrm>
          <a:prstGeom prst="rect">
            <a:avLst/>
          </a:prstGeom>
          <a:noFill/>
        </p:spPr>
        <p:txBody>
          <a:bodyPr wrap="square" anchor="ctr">
            <a:spAutoFit/>
          </a:bodyPr>
          <a:lstStyle/>
          <a:p>
            <a:pPr algn="ctr">
              <a:spcAft>
                <a:spcPts val="400"/>
              </a:spcAft>
            </a:pPr>
            <a:r>
              <a:rPr sz="1800" b="1">
                <a:solidFill>
                  <a:srgbClr val="FFFFFF"/>
                </a:solidFill>
                <a:latin typeface="Arial"/>
              </a:rPr>
              <a:t>3</a:t>
            </a:r>
          </a:p>
        </p:txBody>
      </p:sp>
      <p:sp>
        <p:nvSpPr>
          <p:cNvPr id="21" name="TextBox 20"/>
          <p:cNvSpPr txBox="1"/>
          <p:nvPr/>
        </p:nvSpPr>
        <p:spPr>
          <a:xfrm>
            <a:off x="1764792" y="4187952"/>
            <a:ext cx="3973068" cy="1892808"/>
          </a:xfrm>
          <a:prstGeom prst="rect">
            <a:avLst/>
          </a:prstGeom>
          <a:noFill/>
        </p:spPr>
        <p:txBody>
          <a:bodyPr wrap="square" anchor="ctr">
            <a:spAutoFit/>
          </a:bodyPr>
          <a:lstStyle/>
          <a:p>
            <a:pPr algn="l">
              <a:spcAft>
                <a:spcPts val="300"/>
              </a:spcAft>
            </a:pPr>
            <a:r>
              <a:rPr sz="1600" b="1">
                <a:solidFill>
                  <a:srgbClr val="161B26"/>
                </a:solidFill>
                <a:latin typeface="Arial"/>
              </a:rPr>
              <a:t>Targets</a:t>
            </a:r>
          </a:p>
          <a:p>
            <a:pPr algn="l">
              <a:spcAft>
                <a:spcPts val="300"/>
              </a:spcAft>
            </a:pPr>
            <a:r>
              <a:rPr sz="1200" b="0">
                <a:solidFill>
                  <a:srgbClr val="5B6372"/>
                </a:solidFill>
                <a:latin typeface="Arial"/>
              </a:rPr>
              <a:t>Route matched events to Lambda, SNS, SQS, Step Functions…</a:t>
            </a:r>
          </a:p>
        </p:txBody>
      </p:sp>
      <p:sp>
        <p:nvSpPr>
          <p:cNvPr id="22" name="Rectangle 21"/>
          <p:cNvSpPr/>
          <p:nvPr/>
        </p:nvSpPr>
        <p:spPr>
          <a:xfrm>
            <a:off x="6231636" y="4078224"/>
            <a:ext cx="5180076" cy="207568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ectangle 22"/>
          <p:cNvSpPr/>
          <p:nvPr/>
        </p:nvSpPr>
        <p:spPr>
          <a:xfrm>
            <a:off x="6231636" y="4078224"/>
            <a:ext cx="91440" cy="2075688"/>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Oval 23"/>
          <p:cNvSpPr/>
          <p:nvPr/>
        </p:nvSpPr>
        <p:spPr>
          <a:xfrm>
            <a:off x="6487668" y="4841748"/>
            <a:ext cx="548640" cy="548640"/>
          </a:xfrm>
          <a:prstGeom prst="ellipse">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6487668" y="4841748"/>
            <a:ext cx="548640" cy="548640"/>
          </a:xfrm>
          <a:prstGeom prst="rect">
            <a:avLst/>
          </a:prstGeom>
          <a:noFill/>
        </p:spPr>
        <p:txBody>
          <a:bodyPr wrap="square" anchor="ctr">
            <a:spAutoFit/>
          </a:bodyPr>
          <a:lstStyle/>
          <a:p>
            <a:pPr algn="ctr">
              <a:spcAft>
                <a:spcPts val="400"/>
              </a:spcAft>
            </a:pPr>
            <a:r>
              <a:rPr sz="1800" b="1">
                <a:solidFill>
                  <a:srgbClr val="FFFFFF"/>
                </a:solidFill>
                <a:latin typeface="Arial"/>
              </a:rPr>
              <a:t>4</a:t>
            </a:r>
          </a:p>
        </p:txBody>
      </p:sp>
      <p:sp>
        <p:nvSpPr>
          <p:cNvPr id="26" name="TextBox 25"/>
          <p:cNvSpPr txBox="1"/>
          <p:nvPr/>
        </p:nvSpPr>
        <p:spPr>
          <a:xfrm>
            <a:off x="7219188" y="4187952"/>
            <a:ext cx="3973068" cy="1892808"/>
          </a:xfrm>
          <a:prstGeom prst="rect">
            <a:avLst/>
          </a:prstGeom>
          <a:noFill/>
        </p:spPr>
        <p:txBody>
          <a:bodyPr wrap="square" anchor="ctr">
            <a:spAutoFit/>
          </a:bodyPr>
          <a:lstStyle/>
          <a:p>
            <a:pPr algn="l">
              <a:spcAft>
                <a:spcPts val="300"/>
              </a:spcAft>
            </a:pPr>
            <a:r>
              <a:rPr sz="1600" b="1">
                <a:solidFill>
                  <a:srgbClr val="161B26"/>
                </a:solidFill>
                <a:latin typeface="Arial"/>
              </a:rPr>
              <a:t>Scheduler</a:t>
            </a:r>
          </a:p>
          <a:p>
            <a:pPr algn="l">
              <a:spcAft>
                <a:spcPts val="300"/>
              </a:spcAft>
            </a:pPr>
            <a:r>
              <a:rPr sz="1200" b="0">
                <a:solidFill>
                  <a:srgbClr val="5B6372"/>
                </a:solidFill>
                <a:latin typeface="Arial"/>
              </a:rPr>
              <a:t>Run tasks on a cron/rate schedule at scale.</a:t>
            </a:r>
          </a:p>
        </p:txBody>
      </p:sp>
      <p:sp>
        <p:nvSpPr>
          <p:cNvPr id="27" name="TextBox 26"/>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DevOps Engineering on AWS  ·  TGS-2023040474</a:t>
            </a:r>
          </a:p>
        </p:txBody>
      </p:sp>
      <p:sp>
        <p:nvSpPr>
          <p:cNvPr id="28" name="TextBox 27"/>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29" name="TextBox 28"/>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165</a:t>
            </a:r>
          </a:p>
        </p:txBody>
      </p:sp>
    </p:spTree>
  </p:cSld>
  <p:clrMapOvr>
    <a:masterClrMapping/>
  </p:clrMapOvr>
  <p:transition xmlns:p14="http://schemas.microsoft.com/office/powerpoint/2010/main" p14:dur="380">
    <p:fade/>
  </p:transition>
</p:sld>
</file>

<file path=ppt/slides/slide16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38912"/>
            <a:ext cx="10607040" cy="365760"/>
          </a:xfrm>
          <a:prstGeom prst="rect">
            <a:avLst/>
          </a:prstGeom>
          <a:noFill/>
        </p:spPr>
        <p:txBody>
          <a:bodyPr wrap="square" anchor="t">
            <a:spAutoFit/>
          </a:bodyPr>
          <a:lstStyle/>
          <a:p>
            <a:pPr algn="l">
              <a:spcAft>
                <a:spcPts val="400"/>
              </a:spcAft>
            </a:pPr>
            <a:r>
              <a:rPr sz="1400" b="1">
                <a:solidFill>
                  <a:srgbClr val="1F6FEB"/>
                </a:solidFill>
                <a:latin typeface="Arial"/>
              </a:rPr>
              <a:t>CODIFYING THE RESPONSE</a:t>
            </a:r>
          </a:p>
        </p:txBody>
      </p:sp>
      <p:sp>
        <p:nvSpPr>
          <p:cNvPr id="5" name="TextBox 4"/>
          <p:cNvSpPr txBox="1"/>
          <p:nvPr/>
        </p:nvSpPr>
        <p:spPr>
          <a:xfrm>
            <a:off x="777240" y="804672"/>
            <a:ext cx="10927080" cy="731520"/>
          </a:xfrm>
          <a:prstGeom prst="rect">
            <a:avLst/>
          </a:prstGeom>
          <a:noFill/>
        </p:spPr>
        <p:txBody>
          <a:bodyPr wrap="square" anchor="t">
            <a:spAutoFit/>
          </a:bodyPr>
          <a:lstStyle/>
          <a:p>
            <a:pPr algn="l">
              <a:spcAft>
                <a:spcPts val="400"/>
              </a:spcAft>
            </a:pPr>
            <a:r>
              <a:rPr sz="2900" b="1">
                <a:solidFill>
                  <a:srgbClr val="161B26"/>
                </a:solidFill>
                <a:latin typeface="Arial"/>
              </a:rPr>
              <a:t>Runbooks vs Playbooks</a:t>
            </a:r>
          </a:p>
        </p:txBody>
      </p:sp>
      <p:sp>
        <p:nvSpPr>
          <p:cNvPr id="6" name="Rectangle 5"/>
          <p:cNvSpPr/>
          <p:nvPr/>
        </p:nvSpPr>
        <p:spPr>
          <a:xfrm>
            <a:off x="777240" y="1572768"/>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783080"/>
            <a:ext cx="5212080" cy="429768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6355080" y="1783080"/>
            <a:ext cx="5074920" cy="429768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1005840" y="1965960"/>
            <a:ext cx="4754880" cy="365760"/>
          </a:xfrm>
          <a:prstGeom prst="rect">
            <a:avLst/>
          </a:prstGeom>
          <a:noFill/>
        </p:spPr>
        <p:txBody>
          <a:bodyPr wrap="square" anchor="t">
            <a:spAutoFit/>
          </a:bodyPr>
          <a:lstStyle/>
          <a:p>
            <a:pPr algn="l">
              <a:spcAft>
                <a:spcPts val="400"/>
              </a:spcAft>
            </a:pPr>
            <a:r>
              <a:rPr sz="1600" b="1">
                <a:solidFill>
                  <a:srgbClr val="1F6FEB"/>
                </a:solidFill>
                <a:latin typeface="Arial"/>
              </a:rPr>
              <a:t>Automate the known</a:t>
            </a:r>
          </a:p>
        </p:txBody>
      </p:sp>
      <p:sp>
        <p:nvSpPr>
          <p:cNvPr id="10" name="TextBox 9"/>
          <p:cNvSpPr txBox="1"/>
          <p:nvPr/>
        </p:nvSpPr>
        <p:spPr>
          <a:xfrm>
            <a:off x="6583680" y="1965960"/>
            <a:ext cx="4572000" cy="365760"/>
          </a:xfrm>
          <a:prstGeom prst="rect">
            <a:avLst/>
          </a:prstGeom>
          <a:noFill/>
        </p:spPr>
        <p:txBody>
          <a:bodyPr wrap="square" anchor="t">
            <a:spAutoFit/>
          </a:bodyPr>
          <a:lstStyle/>
          <a:p>
            <a:pPr algn="l">
              <a:spcAft>
                <a:spcPts val="400"/>
              </a:spcAft>
            </a:pPr>
            <a:r>
              <a:rPr sz="1600" b="1">
                <a:solidFill>
                  <a:srgbClr val="10B981"/>
                </a:solidFill>
                <a:latin typeface="Arial"/>
              </a:rPr>
              <a:t>Guide the unknown</a:t>
            </a:r>
          </a:p>
        </p:txBody>
      </p:sp>
      <p:sp>
        <p:nvSpPr>
          <p:cNvPr id="11" name="TextBox 10"/>
          <p:cNvSpPr txBox="1"/>
          <p:nvPr/>
        </p:nvSpPr>
        <p:spPr>
          <a:xfrm>
            <a:off x="1005840" y="2468880"/>
            <a:ext cx="4754880" cy="3474720"/>
          </a:xfrm>
          <a:prstGeom prst="rect">
            <a:avLst/>
          </a:prstGeom>
          <a:noFill/>
        </p:spPr>
        <p:txBody>
          <a:bodyPr wrap="square">
            <a:spAutoFit/>
          </a:bodyPr>
          <a:lstStyle/>
          <a:p>
            <a:pPr>
              <a:spcAft>
                <a:spcPts val="1000"/>
              </a:spcAft>
            </a:pPr>
            <a:r>
              <a:rPr sz="1500" b="0">
                <a:solidFill>
                  <a:srgbClr val="161B26"/>
                </a:solidFill>
                <a:latin typeface="Arial"/>
              </a:rPr>
              <a:t>•  Runbook</a:t>
            </a:r>
          </a:p>
          <a:p>
            <a:pPr>
              <a:spcAft>
                <a:spcPts val="1000"/>
              </a:spcAft>
            </a:pPr>
            <a:r>
              <a:rPr sz="1300" b="0">
                <a:solidFill>
                  <a:srgbClr val="5B6372"/>
                </a:solidFill>
                <a:latin typeface="Arial"/>
              </a:rPr>
              <a:t>–  Step-by-step operational procedure</a:t>
            </a:r>
          </a:p>
          <a:p>
            <a:pPr>
              <a:spcAft>
                <a:spcPts val="1000"/>
              </a:spcAft>
            </a:pPr>
            <a:r>
              <a:rPr sz="1300" b="0">
                <a:solidFill>
                  <a:srgbClr val="5B6372"/>
                </a:solidFill>
                <a:latin typeface="Arial"/>
              </a:rPr>
              <a:t>–  Often codified as SSM Automation documents</a:t>
            </a:r>
          </a:p>
          <a:p>
            <a:pPr>
              <a:spcAft>
                <a:spcPts val="1000"/>
              </a:spcAft>
            </a:pPr>
            <a:r>
              <a:rPr sz="1300" b="0">
                <a:solidFill>
                  <a:srgbClr val="5B6372"/>
                </a:solidFill>
                <a:latin typeface="Arial"/>
              </a:rPr>
              <a:t>–  Automates a known, repeatable fix</a:t>
            </a:r>
          </a:p>
        </p:txBody>
      </p:sp>
      <p:sp>
        <p:nvSpPr>
          <p:cNvPr id="12" name="TextBox 11"/>
          <p:cNvSpPr txBox="1"/>
          <p:nvPr/>
        </p:nvSpPr>
        <p:spPr>
          <a:xfrm>
            <a:off x="6583680" y="2468880"/>
            <a:ext cx="4617720" cy="3474720"/>
          </a:xfrm>
          <a:prstGeom prst="rect">
            <a:avLst/>
          </a:prstGeom>
          <a:noFill/>
        </p:spPr>
        <p:txBody>
          <a:bodyPr wrap="square">
            <a:spAutoFit/>
          </a:bodyPr>
          <a:lstStyle/>
          <a:p>
            <a:pPr>
              <a:spcAft>
                <a:spcPts val="1000"/>
              </a:spcAft>
            </a:pPr>
            <a:r>
              <a:rPr sz="1500" b="0">
                <a:solidFill>
                  <a:srgbClr val="161B26"/>
                </a:solidFill>
                <a:latin typeface="Arial"/>
              </a:rPr>
              <a:t>•  Playbook</a:t>
            </a:r>
          </a:p>
          <a:p>
            <a:pPr>
              <a:spcAft>
                <a:spcPts val="1000"/>
              </a:spcAft>
            </a:pPr>
            <a:r>
              <a:rPr sz="1300" b="0">
                <a:solidFill>
                  <a:srgbClr val="5B6372"/>
                </a:solidFill>
                <a:latin typeface="Arial"/>
              </a:rPr>
              <a:t>–  Broader incident-response guidance</a:t>
            </a:r>
          </a:p>
          <a:p>
            <a:pPr>
              <a:spcAft>
                <a:spcPts val="1000"/>
              </a:spcAft>
            </a:pPr>
            <a:r>
              <a:rPr sz="1300" b="0">
                <a:solidFill>
                  <a:srgbClr val="5B6372"/>
                </a:solidFill>
                <a:latin typeface="Arial"/>
              </a:rPr>
              <a:t>–  Roles, comms and decision points</a:t>
            </a:r>
          </a:p>
          <a:p>
            <a:pPr>
              <a:spcAft>
                <a:spcPts val="1000"/>
              </a:spcAft>
            </a:pPr>
            <a:r>
              <a:rPr sz="1300" b="0">
                <a:solidFill>
                  <a:srgbClr val="5B6372"/>
                </a:solidFill>
                <a:latin typeface="Arial"/>
              </a:rPr>
              <a:t>–  Used for novel or major incidents</a:t>
            </a:r>
          </a:p>
        </p:txBody>
      </p:sp>
      <p:sp>
        <p:nvSpPr>
          <p:cNvPr id="13" name="TextBox 12"/>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DevOps Engineering on AWS  ·  TGS-2023040474</a:t>
            </a:r>
          </a:p>
        </p:txBody>
      </p:sp>
      <p:sp>
        <p:nvSpPr>
          <p:cNvPr id="14" name="TextBox 13"/>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5" name="TextBox 14"/>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166</a:t>
            </a:r>
          </a:p>
        </p:txBody>
      </p:sp>
    </p:spTree>
  </p:cSld>
  <p:clrMapOvr>
    <a:masterClrMapping/>
  </p:clrMapOvr>
  <p:transition xmlns:p14="http://schemas.microsoft.com/office/powerpoint/2010/main" p14:dur="380">
    <p:fade/>
  </p:transition>
</p:sld>
</file>

<file path=ppt/slides/slide16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EC711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38912"/>
            <a:ext cx="10607040" cy="365760"/>
          </a:xfrm>
          <a:prstGeom prst="rect">
            <a:avLst/>
          </a:prstGeom>
          <a:noFill/>
        </p:spPr>
        <p:txBody>
          <a:bodyPr wrap="square" anchor="t">
            <a:spAutoFit/>
          </a:bodyPr>
          <a:lstStyle/>
          <a:p>
            <a:pPr algn="l">
              <a:spcAft>
                <a:spcPts val="400"/>
              </a:spcAft>
            </a:pPr>
            <a:r>
              <a:rPr sz="1400" b="1">
                <a:solidFill>
                  <a:srgbClr val="EC711E"/>
                </a:solidFill>
                <a:latin typeface="Arial"/>
              </a:rPr>
              <a:t>FAIL SAFELY</a:t>
            </a:r>
          </a:p>
        </p:txBody>
      </p:sp>
      <p:sp>
        <p:nvSpPr>
          <p:cNvPr id="5" name="TextBox 4"/>
          <p:cNvSpPr txBox="1"/>
          <p:nvPr/>
        </p:nvSpPr>
        <p:spPr>
          <a:xfrm>
            <a:off x="777240" y="804672"/>
            <a:ext cx="10927080" cy="731520"/>
          </a:xfrm>
          <a:prstGeom prst="rect">
            <a:avLst/>
          </a:prstGeom>
          <a:noFill/>
        </p:spPr>
        <p:txBody>
          <a:bodyPr wrap="square" anchor="t">
            <a:spAutoFit/>
          </a:bodyPr>
          <a:lstStyle/>
          <a:p>
            <a:pPr algn="l">
              <a:spcAft>
                <a:spcPts val="400"/>
              </a:spcAft>
            </a:pPr>
            <a:r>
              <a:rPr sz="2900" b="1">
                <a:solidFill>
                  <a:srgbClr val="161B26"/>
                </a:solidFill>
                <a:latin typeface="Arial"/>
              </a:rPr>
              <a:t>Responding to Deployment Failures</a:t>
            </a:r>
          </a:p>
        </p:txBody>
      </p:sp>
      <p:sp>
        <p:nvSpPr>
          <p:cNvPr id="6" name="Rectangle 5"/>
          <p:cNvSpPr/>
          <p:nvPr/>
        </p:nvSpPr>
        <p:spPr>
          <a:xfrm>
            <a:off x="777240" y="1572768"/>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783080"/>
            <a:ext cx="5180076" cy="207568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1783080"/>
            <a:ext cx="91440" cy="2075688"/>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1033272" y="2546604"/>
            <a:ext cx="548640" cy="548640"/>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033272" y="2546604"/>
            <a:ext cx="548640" cy="548640"/>
          </a:xfrm>
          <a:prstGeom prst="rect">
            <a:avLst/>
          </a:prstGeom>
          <a:noFill/>
        </p:spPr>
        <p:txBody>
          <a:bodyPr wrap="square" anchor="ctr">
            <a:spAutoFit/>
          </a:bodyPr>
          <a:lstStyle/>
          <a:p>
            <a:pPr algn="ctr">
              <a:spcAft>
                <a:spcPts val="400"/>
              </a:spcAft>
            </a:pPr>
            <a:r>
              <a:rPr sz="1800" b="1">
                <a:solidFill>
                  <a:srgbClr val="FFFFFF"/>
                </a:solidFill>
                <a:latin typeface="Arial"/>
              </a:rPr>
              <a:t>1</a:t>
            </a:r>
          </a:p>
        </p:txBody>
      </p:sp>
      <p:sp>
        <p:nvSpPr>
          <p:cNvPr id="11" name="TextBox 10"/>
          <p:cNvSpPr txBox="1"/>
          <p:nvPr/>
        </p:nvSpPr>
        <p:spPr>
          <a:xfrm>
            <a:off x="1764792" y="1892808"/>
            <a:ext cx="3973068" cy="1892808"/>
          </a:xfrm>
          <a:prstGeom prst="rect">
            <a:avLst/>
          </a:prstGeom>
          <a:noFill/>
        </p:spPr>
        <p:txBody>
          <a:bodyPr wrap="square" anchor="ctr">
            <a:spAutoFit/>
          </a:bodyPr>
          <a:lstStyle/>
          <a:p>
            <a:pPr algn="l">
              <a:spcAft>
                <a:spcPts val="300"/>
              </a:spcAft>
            </a:pPr>
            <a:r>
              <a:rPr sz="1550" b="1">
                <a:solidFill>
                  <a:srgbClr val="161B26"/>
                </a:solidFill>
                <a:latin typeface="Arial"/>
              </a:rPr>
              <a:t>Alarm-based rollback</a:t>
            </a:r>
          </a:p>
          <a:p>
            <a:pPr algn="l">
              <a:spcAft>
                <a:spcPts val="300"/>
              </a:spcAft>
            </a:pPr>
            <a:r>
              <a:rPr sz="1150" b="0">
                <a:solidFill>
                  <a:srgbClr val="5B6372"/>
                </a:solidFill>
                <a:latin typeface="Arial"/>
              </a:rPr>
              <a:t>CloudWatch alarms auto-roll-back a bad CodeDeploy deployment.</a:t>
            </a:r>
          </a:p>
        </p:txBody>
      </p:sp>
      <p:sp>
        <p:nvSpPr>
          <p:cNvPr id="12" name="Rectangle 11"/>
          <p:cNvSpPr/>
          <p:nvPr/>
        </p:nvSpPr>
        <p:spPr>
          <a:xfrm>
            <a:off x="6231636" y="1783080"/>
            <a:ext cx="5180076" cy="207568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6231636" y="1783080"/>
            <a:ext cx="91440" cy="2075688"/>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Oval 13"/>
          <p:cNvSpPr/>
          <p:nvPr/>
        </p:nvSpPr>
        <p:spPr>
          <a:xfrm>
            <a:off x="6487668" y="2546604"/>
            <a:ext cx="548640" cy="54864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6487668" y="2546604"/>
            <a:ext cx="548640" cy="548640"/>
          </a:xfrm>
          <a:prstGeom prst="rect">
            <a:avLst/>
          </a:prstGeom>
          <a:noFill/>
        </p:spPr>
        <p:txBody>
          <a:bodyPr wrap="square" anchor="ctr">
            <a:spAutoFit/>
          </a:bodyPr>
          <a:lstStyle/>
          <a:p>
            <a:pPr algn="ctr">
              <a:spcAft>
                <a:spcPts val="400"/>
              </a:spcAft>
            </a:pPr>
            <a:r>
              <a:rPr sz="1800" b="1">
                <a:solidFill>
                  <a:srgbClr val="FFFFFF"/>
                </a:solidFill>
                <a:latin typeface="Arial"/>
              </a:rPr>
              <a:t>2</a:t>
            </a:r>
          </a:p>
        </p:txBody>
      </p:sp>
      <p:sp>
        <p:nvSpPr>
          <p:cNvPr id="16" name="TextBox 15"/>
          <p:cNvSpPr txBox="1"/>
          <p:nvPr/>
        </p:nvSpPr>
        <p:spPr>
          <a:xfrm>
            <a:off x="7219188" y="1892808"/>
            <a:ext cx="3973068" cy="1892808"/>
          </a:xfrm>
          <a:prstGeom prst="rect">
            <a:avLst/>
          </a:prstGeom>
          <a:noFill/>
        </p:spPr>
        <p:txBody>
          <a:bodyPr wrap="square" anchor="ctr">
            <a:spAutoFit/>
          </a:bodyPr>
          <a:lstStyle/>
          <a:p>
            <a:pPr algn="l">
              <a:spcAft>
                <a:spcPts val="300"/>
              </a:spcAft>
            </a:pPr>
            <a:r>
              <a:rPr sz="1550" b="1">
                <a:solidFill>
                  <a:srgbClr val="161B26"/>
                </a:solidFill>
                <a:latin typeface="Arial"/>
              </a:rPr>
              <a:t>Pipeline stop</a:t>
            </a:r>
          </a:p>
          <a:p>
            <a:pPr algn="l">
              <a:spcAft>
                <a:spcPts val="300"/>
              </a:spcAft>
            </a:pPr>
            <a:r>
              <a:rPr sz="1150" b="0">
                <a:solidFill>
                  <a:srgbClr val="5B6372"/>
                </a:solidFill>
                <a:latin typeface="Arial"/>
              </a:rPr>
              <a:t>A failed stage halts CodePipeline and alerts the team.</a:t>
            </a:r>
          </a:p>
        </p:txBody>
      </p:sp>
      <p:sp>
        <p:nvSpPr>
          <p:cNvPr id="17" name="Rectangle 16"/>
          <p:cNvSpPr/>
          <p:nvPr/>
        </p:nvSpPr>
        <p:spPr>
          <a:xfrm>
            <a:off x="777240" y="4078224"/>
            <a:ext cx="5180076" cy="207568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777240" y="4078224"/>
            <a:ext cx="91440" cy="2075688"/>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Oval 18"/>
          <p:cNvSpPr/>
          <p:nvPr/>
        </p:nvSpPr>
        <p:spPr>
          <a:xfrm>
            <a:off x="1033272" y="4841748"/>
            <a:ext cx="548640" cy="548640"/>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1033272" y="4841748"/>
            <a:ext cx="548640" cy="548640"/>
          </a:xfrm>
          <a:prstGeom prst="rect">
            <a:avLst/>
          </a:prstGeom>
          <a:noFill/>
        </p:spPr>
        <p:txBody>
          <a:bodyPr wrap="square" anchor="ctr">
            <a:spAutoFit/>
          </a:bodyPr>
          <a:lstStyle/>
          <a:p>
            <a:pPr algn="ctr">
              <a:spcAft>
                <a:spcPts val="400"/>
              </a:spcAft>
            </a:pPr>
            <a:r>
              <a:rPr sz="1800" b="1">
                <a:solidFill>
                  <a:srgbClr val="FFFFFF"/>
                </a:solidFill>
                <a:latin typeface="Arial"/>
              </a:rPr>
              <a:t>3</a:t>
            </a:r>
          </a:p>
        </p:txBody>
      </p:sp>
      <p:sp>
        <p:nvSpPr>
          <p:cNvPr id="21" name="TextBox 20"/>
          <p:cNvSpPr txBox="1"/>
          <p:nvPr/>
        </p:nvSpPr>
        <p:spPr>
          <a:xfrm>
            <a:off x="1764792" y="4187952"/>
            <a:ext cx="3973068" cy="1892808"/>
          </a:xfrm>
          <a:prstGeom prst="rect">
            <a:avLst/>
          </a:prstGeom>
          <a:noFill/>
        </p:spPr>
        <p:txBody>
          <a:bodyPr wrap="square" anchor="ctr">
            <a:spAutoFit/>
          </a:bodyPr>
          <a:lstStyle/>
          <a:p>
            <a:pPr algn="l">
              <a:spcAft>
                <a:spcPts val="300"/>
              </a:spcAft>
            </a:pPr>
            <a:r>
              <a:rPr sz="1550" b="1">
                <a:solidFill>
                  <a:srgbClr val="161B26"/>
                </a:solidFill>
                <a:latin typeface="Arial"/>
              </a:rPr>
              <a:t>Circuit breaker</a:t>
            </a:r>
          </a:p>
          <a:p>
            <a:pPr algn="l">
              <a:spcAft>
                <a:spcPts val="300"/>
              </a:spcAft>
            </a:pPr>
            <a:r>
              <a:rPr sz="1150" b="0">
                <a:solidFill>
                  <a:srgbClr val="5B6372"/>
                </a:solidFill>
                <a:latin typeface="Arial"/>
              </a:rPr>
              <a:t>ECS deployment circuit breaker reverts failed rollouts.</a:t>
            </a:r>
          </a:p>
        </p:txBody>
      </p:sp>
      <p:sp>
        <p:nvSpPr>
          <p:cNvPr id="22" name="Rectangle 21"/>
          <p:cNvSpPr/>
          <p:nvPr/>
        </p:nvSpPr>
        <p:spPr>
          <a:xfrm>
            <a:off x="6231636" y="4078224"/>
            <a:ext cx="5180076" cy="207568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ectangle 22"/>
          <p:cNvSpPr/>
          <p:nvPr/>
        </p:nvSpPr>
        <p:spPr>
          <a:xfrm>
            <a:off x="6231636" y="4078224"/>
            <a:ext cx="91440" cy="2075688"/>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Oval 23"/>
          <p:cNvSpPr/>
          <p:nvPr/>
        </p:nvSpPr>
        <p:spPr>
          <a:xfrm>
            <a:off x="6487668" y="4841748"/>
            <a:ext cx="548640" cy="548640"/>
          </a:xfrm>
          <a:prstGeom prst="ellipse">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6487668" y="4841748"/>
            <a:ext cx="548640" cy="548640"/>
          </a:xfrm>
          <a:prstGeom prst="rect">
            <a:avLst/>
          </a:prstGeom>
          <a:noFill/>
        </p:spPr>
        <p:txBody>
          <a:bodyPr wrap="square" anchor="ctr">
            <a:spAutoFit/>
          </a:bodyPr>
          <a:lstStyle/>
          <a:p>
            <a:pPr algn="ctr">
              <a:spcAft>
                <a:spcPts val="400"/>
              </a:spcAft>
            </a:pPr>
            <a:r>
              <a:rPr sz="1800" b="1">
                <a:solidFill>
                  <a:srgbClr val="FFFFFF"/>
                </a:solidFill>
                <a:latin typeface="Arial"/>
              </a:rPr>
              <a:t>4</a:t>
            </a:r>
          </a:p>
        </p:txBody>
      </p:sp>
      <p:sp>
        <p:nvSpPr>
          <p:cNvPr id="26" name="TextBox 25"/>
          <p:cNvSpPr txBox="1"/>
          <p:nvPr/>
        </p:nvSpPr>
        <p:spPr>
          <a:xfrm>
            <a:off x="7219188" y="4187952"/>
            <a:ext cx="3973068" cy="1892808"/>
          </a:xfrm>
          <a:prstGeom prst="rect">
            <a:avLst/>
          </a:prstGeom>
          <a:noFill/>
        </p:spPr>
        <p:txBody>
          <a:bodyPr wrap="square" anchor="ctr">
            <a:spAutoFit/>
          </a:bodyPr>
          <a:lstStyle/>
          <a:p>
            <a:pPr algn="l">
              <a:spcAft>
                <a:spcPts val="300"/>
              </a:spcAft>
            </a:pPr>
            <a:r>
              <a:rPr sz="1550" b="1">
                <a:solidFill>
                  <a:srgbClr val="161B26"/>
                </a:solidFill>
                <a:latin typeface="Arial"/>
              </a:rPr>
              <a:t>Blue/green switch-back</a:t>
            </a:r>
          </a:p>
          <a:p>
            <a:pPr algn="l">
              <a:spcAft>
                <a:spcPts val="300"/>
              </a:spcAft>
            </a:pPr>
            <a:r>
              <a:rPr sz="1150" b="0">
                <a:solidFill>
                  <a:srgbClr val="5B6372"/>
                </a:solidFill>
                <a:latin typeface="Arial"/>
              </a:rPr>
              <a:t>Instantly shift traffic back to the last good fleet.</a:t>
            </a:r>
          </a:p>
        </p:txBody>
      </p:sp>
      <p:sp>
        <p:nvSpPr>
          <p:cNvPr id="27" name="TextBox 26"/>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DevOps Engineering on AWS  ·  TGS-2023040474</a:t>
            </a:r>
          </a:p>
        </p:txBody>
      </p:sp>
      <p:sp>
        <p:nvSpPr>
          <p:cNvPr id="28" name="TextBox 27"/>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29" name="TextBox 28"/>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167</a:t>
            </a:r>
          </a:p>
        </p:txBody>
      </p:sp>
    </p:spTree>
  </p:cSld>
  <p:clrMapOvr>
    <a:masterClrMapping/>
  </p:clrMapOvr>
  <p:transition xmlns:p14="http://schemas.microsoft.com/office/powerpoint/2010/main" p14:dur="380">
    <p:fade/>
  </p:transition>
</p:sld>
</file>

<file path=ppt/slides/slide16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EC711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38912"/>
            <a:ext cx="10607040" cy="365760"/>
          </a:xfrm>
          <a:prstGeom prst="rect">
            <a:avLst/>
          </a:prstGeom>
          <a:noFill/>
        </p:spPr>
        <p:txBody>
          <a:bodyPr wrap="square" anchor="t">
            <a:spAutoFit/>
          </a:bodyPr>
          <a:lstStyle/>
          <a:p>
            <a:pPr algn="l">
              <a:spcAft>
                <a:spcPts val="400"/>
              </a:spcAft>
            </a:pPr>
            <a:r>
              <a:rPr sz="1400" b="1">
                <a:solidFill>
                  <a:srgbClr val="EC711E"/>
                </a:solidFill>
                <a:latin typeface="Arial"/>
              </a:rPr>
              <a:t>IN DEPTH</a:t>
            </a:r>
          </a:p>
        </p:txBody>
      </p:sp>
      <p:sp>
        <p:nvSpPr>
          <p:cNvPr id="5" name="TextBox 4"/>
          <p:cNvSpPr txBox="1"/>
          <p:nvPr/>
        </p:nvSpPr>
        <p:spPr>
          <a:xfrm>
            <a:off x="777240" y="804672"/>
            <a:ext cx="10927080" cy="731520"/>
          </a:xfrm>
          <a:prstGeom prst="rect">
            <a:avLst/>
          </a:prstGeom>
          <a:noFill/>
        </p:spPr>
        <p:txBody>
          <a:bodyPr wrap="square" anchor="t">
            <a:spAutoFit/>
          </a:bodyPr>
          <a:lstStyle/>
          <a:p>
            <a:pPr algn="l">
              <a:spcAft>
                <a:spcPts val="400"/>
              </a:spcAft>
            </a:pPr>
            <a:r>
              <a:rPr sz="2900" b="1">
                <a:solidFill>
                  <a:srgbClr val="161B26"/>
                </a:solidFill>
                <a:latin typeface="Arial"/>
              </a:rPr>
              <a:t>Event-driven operations with EventBridge</a:t>
            </a:r>
          </a:p>
        </p:txBody>
      </p:sp>
      <p:sp>
        <p:nvSpPr>
          <p:cNvPr id="6" name="Rectangle 5"/>
          <p:cNvSpPr/>
          <p:nvPr/>
        </p:nvSpPr>
        <p:spPr>
          <a:xfrm>
            <a:off x="777240" y="1572768"/>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783080"/>
            <a:ext cx="5212080" cy="425196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1783080"/>
            <a:ext cx="5212080" cy="91440"/>
          </a:xfrm>
          <a:prstGeom prst="rect">
            <a:avLst/>
          </a:prstGeom>
          <a:solidFill>
            <a:srgbClr val="EC711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1005840" y="1938528"/>
            <a:ext cx="4754880" cy="365760"/>
          </a:xfrm>
          <a:prstGeom prst="rect">
            <a:avLst/>
          </a:prstGeom>
          <a:noFill/>
        </p:spPr>
        <p:txBody>
          <a:bodyPr wrap="square" anchor="t">
            <a:spAutoFit/>
          </a:bodyPr>
          <a:lstStyle/>
          <a:p>
            <a:pPr algn="l">
              <a:spcAft>
                <a:spcPts val="400"/>
              </a:spcAft>
            </a:pPr>
            <a:r>
              <a:rPr sz="1200" b="1">
                <a:solidFill>
                  <a:srgbClr val="EC711E"/>
                </a:solidFill>
                <a:latin typeface="Arial"/>
              </a:rPr>
              <a:t>IN DEPTH</a:t>
            </a:r>
          </a:p>
        </p:txBody>
      </p:sp>
      <p:sp>
        <p:nvSpPr>
          <p:cNvPr id="10" name="TextBox 9"/>
          <p:cNvSpPr txBox="1"/>
          <p:nvPr/>
        </p:nvSpPr>
        <p:spPr>
          <a:xfrm>
            <a:off x="1005840" y="2377440"/>
            <a:ext cx="4754880" cy="3566160"/>
          </a:xfrm>
          <a:prstGeom prst="rect">
            <a:avLst/>
          </a:prstGeom>
          <a:noFill/>
        </p:spPr>
        <p:txBody>
          <a:bodyPr wrap="square">
            <a:spAutoFit/>
          </a:bodyPr>
          <a:lstStyle/>
          <a:p>
            <a:pPr>
              <a:spcAft>
                <a:spcPts val="800"/>
              </a:spcAft>
            </a:pPr>
            <a:r>
              <a:rPr sz="1350" b="0">
                <a:solidFill>
                  <a:srgbClr val="161B26"/>
                </a:solidFill>
                <a:latin typeface="Arial"/>
              </a:rPr>
              <a:t>•  EventBridge receives events from AWS services, SaaS partners and your applications on event buses.</a:t>
            </a:r>
          </a:p>
          <a:p>
            <a:pPr>
              <a:spcAft>
                <a:spcPts val="800"/>
              </a:spcAft>
            </a:pPr>
            <a:r>
              <a:rPr sz="1350" b="0">
                <a:solidFill>
                  <a:srgbClr val="161B26"/>
                </a:solidFill>
                <a:latin typeface="Arial"/>
              </a:rPr>
              <a:t>•  Rules match events by source, detail-type and content pattern and route them to targets.</a:t>
            </a:r>
          </a:p>
          <a:p>
            <a:pPr>
              <a:spcAft>
                <a:spcPts val="800"/>
              </a:spcAft>
            </a:pPr>
            <a:r>
              <a:rPr sz="1350" b="0">
                <a:solidFill>
                  <a:srgbClr val="161B26"/>
                </a:solidFill>
                <a:latin typeface="Arial"/>
              </a:rPr>
              <a:t>•  Targets include Lambda, SNS, SQS, Step Functions and Systems Manager Automation.</a:t>
            </a:r>
          </a:p>
        </p:txBody>
      </p:sp>
      <p:sp>
        <p:nvSpPr>
          <p:cNvPr id="11" name="Rectangle 10"/>
          <p:cNvSpPr/>
          <p:nvPr/>
        </p:nvSpPr>
        <p:spPr>
          <a:xfrm>
            <a:off x="6172200" y="1783080"/>
            <a:ext cx="5239512" cy="1325880"/>
          </a:xfrm>
          <a:prstGeom prst="rect">
            <a:avLst/>
          </a:prstGeom>
          <a:solidFill>
            <a:srgbClr val="FFFFFF"/>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ectangle 11"/>
          <p:cNvSpPr/>
          <p:nvPr/>
        </p:nvSpPr>
        <p:spPr>
          <a:xfrm>
            <a:off x="6172200" y="1783080"/>
            <a:ext cx="91440" cy="1325880"/>
          </a:xfrm>
          <a:prstGeom prst="rect">
            <a:avLst/>
          </a:prstGeom>
          <a:solidFill>
            <a:srgbClr val="EC711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6428232" y="1892808"/>
            <a:ext cx="4782312" cy="320040"/>
          </a:xfrm>
          <a:prstGeom prst="rect">
            <a:avLst/>
          </a:prstGeom>
          <a:noFill/>
        </p:spPr>
        <p:txBody>
          <a:bodyPr wrap="square" anchor="t">
            <a:spAutoFit/>
          </a:bodyPr>
          <a:lstStyle/>
          <a:p>
            <a:pPr algn="l">
              <a:spcAft>
                <a:spcPts val="400"/>
              </a:spcAft>
            </a:pPr>
            <a:r>
              <a:rPr sz="1150" b="1">
                <a:solidFill>
                  <a:srgbClr val="EC711E"/>
                </a:solidFill>
                <a:latin typeface="Arial"/>
              </a:rPr>
              <a:t>WHY IT MATTERS</a:t>
            </a:r>
          </a:p>
        </p:txBody>
      </p:sp>
      <p:sp>
        <p:nvSpPr>
          <p:cNvPr id="14" name="TextBox 13"/>
          <p:cNvSpPr txBox="1"/>
          <p:nvPr/>
        </p:nvSpPr>
        <p:spPr>
          <a:xfrm>
            <a:off x="6428232" y="2221992"/>
            <a:ext cx="4782312" cy="822960"/>
          </a:xfrm>
          <a:prstGeom prst="rect">
            <a:avLst/>
          </a:prstGeom>
          <a:noFill/>
        </p:spPr>
        <p:txBody>
          <a:bodyPr wrap="square" anchor="t">
            <a:spAutoFit/>
          </a:bodyPr>
          <a:lstStyle/>
          <a:p>
            <a:pPr algn="l">
              <a:spcAft>
                <a:spcPts val="400"/>
              </a:spcAft>
            </a:pPr>
            <a:r>
              <a:rPr sz="1250" b="0">
                <a:solidFill>
                  <a:srgbClr val="161B26"/>
                </a:solidFill>
                <a:latin typeface="Arial"/>
              </a:rPr>
              <a:t>Events let operations react the instant something changes, instead of polling or waiting for a human to notice.</a:t>
            </a:r>
          </a:p>
        </p:txBody>
      </p:sp>
      <p:sp>
        <p:nvSpPr>
          <p:cNvPr id="15" name="Rectangle 14"/>
          <p:cNvSpPr/>
          <p:nvPr/>
        </p:nvSpPr>
        <p:spPr>
          <a:xfrm>
            <a:off x="6172200" y="3246120"/>
            <a:ext cx="5239512" cy="1325880"/>
          </a:xfrm>
          <a:prstGeom prst="rect">
            <a:avLst/>
          </a:prstGeom>
          <a:solidFill>
            <a:srgbClr val="FFFFFF"/>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ectangle 15"/>
          <p:cNvSpPr/>
          <p:nvPr/>
        </p:nvSpPr>
        <p:spPr>
          <a:xfrm>
            <a:off x="6172200" y="3246120"/>
            <a:ext cx="91440" cy="1325880"/>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6428232" y="3355848"/>
            <a:ext cx="4782312" cy="320040"/>
          </a:xfrm>
          <a:prstGeom prst="rect">
            <a:avLst/>
          </a:prstGeom>
          <a:noFill/>
        </p:spPr>
        <p:txBody>
          <a:bodyPr wrap="square" anchor="t">
            <a:spAutoFit/>
          </a:bodyPr>
          <a:lstStyle/>
          <a:p>
            <a:pPr algn="l">
              <a:spcAft>
                <a:spcPts val="400"/>
              </a:spcAft>
            </a:pPr>
            <a:r>
              <a:rPr sz="1150" b="1">
                <a:solidFill>
                  <a:srgbClr val="C0392B"/>
                </a:solidFill>
                <a:latin typeface="Arial"/>
              </a:rPr>
              <a:t>FAILURE MODE</a:t>
            </a:r>
          </a:p>
        </p:txBody>
      </p:sp>
      <p:sp>
        <p:nvSpPr>
          <p:cNvPr id="18" name="TextBox 17"/>
          <p:cNvSpPr txBox="1"/>
          <p:nvPr/>
        </p:nvSpPr>
        <p:spPr>
          <a:xfrm>
            <a:off x="6428232" y="3685032"/>
            <a:ext cx="4782312" cy="822960"/>
          </a:xfrm>
          <a:prstGeom prst="rect">
            <a:avLst/>
          </a:prstGeom>
          <a:noFill/>
        </p:spPr>
        <p:txBody>
          <a:bodyPr wrap="square" anchor="t">
            <a:spAutoFit/>
          </a:bodyPr>
          <a:lstStyle/>
          <a:p>
            <a:pPr algn="l">
              <a:spcAft>
                <a:spcPts val="400"/>
              </a:spcAft>
            </a:pPr>
            <a:r>
              <a:rPr sz="1250" b="0">
                <a:solidFill>
                  <a:srgbClr val="161B26"/>
                </a:solidFill>
                <a:latin typeface="Arial"/>
              </a:rPr>
              <a:t>Over-broad event patterns match far more than intended and trigger remediation on benign events.</a:t>
            </a:r>
          </a:p>
        </p:txBody>
      </p:sp>
      <p:sp>
        <p:nvSpPr>
          <p:cNvPr id="19" name="Rectangle 18"/>
          <p:cNvSpPr/>
          <p:nvPr/>
        </p:nvSpPr>
        <p:spPr>
          <a:xfrm>
            <a:off x="6172200" y="4709160"/>
            <a:ext cx="5239512" cy="1325880"/>
          </a:xfrm>
          <a:prstGeom prst="rect">
            <a:avLst/>
          </a:prstGeom>
          <a:solidFill>
            <a:srgbClr val="FFFFFF"/>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Rectangle 19"/>
          <p:cNvSpPr/>
          <p:nvPr/>
        </p:nvSpPr>
        <p:spPr>
          <a:xfrm>
            <a:off x="6172200" y="4709160"/>
            <a:ext cx="91440" cy="1325880"/>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6428232" y="4818888"/>
            <a:ext cx="4782312" cy="320040"/>
          </a:xfrm>
          <a:prstGeom prst="rect">
            <a:avLst/>
          </a:prstGeom>
          <a:noFill/>
        </p:spPr>
        <p:txBody>
          <a:bodyPr wrap="square" anchor="t">
            <a:spAutoFit/>
          </a:bodyPr>
          <a:lstStyle/>
          <a:p>
            <a:pPr algn="l">
              <a:spcAft>
                <a:spcPts val="400"/>
              </a:spcAft>
            </a:pPr>
            <a:r>
              <a:rPr sz="1150" b="1">
                <a:solidFill>
                  <a:srgbClr val="F59E0B"/>
                </a:solidFill>
                <a:latin typeface="Arial"/>
              </a:rPr>
              <a:t>TRADE-OFF / DECISION</a:t>
            </a:r>
          </a:p>
        </p:txBody>
      </p:sp>
      <p:sp>
        <p:nvSpPr>
          <p:cNvPr id="22" name="TextBox 21"/>
          <p:cNvSpPr txBox="1"/>
          <p:nvPr/>
        </p:nvSpPr>
        <p:spPr>
          <a:xfrm>
            <a:off x="6428232" y="5148072"/>
            <a:ext cx="4782312" cy="822960"/>
          </a:xfrm>
          <a:prstGeom prst="rect">
            <a:avLst/>
          </a:prstGeom>
          <a:noFill/>
        </p:spPr>
        <p:txBody>
          <a:bodyPr wrap="square" anchor="t">
            <a:spAutoFit/>
          </a:bodyPr>
          <a:lstStyle/>
          <a:p>
            <a:pPr algn="l">
              <a:spcAft>
                <a:spcPts val="400"/>
              </a:spcAft>
            </a:pPr>
            <a:r>
              <a:rPr sz="1250" b="0">
                <a:solidFill>
                  <a:srgbClr val="161B26"/>
                </a:solidFill>
                <a:latin typeface="Arial"/>
              </a:rPr>
              <a:t>Fine-grained rules are precise but numerous to manage; broad rules are simple but risk false triggers.</a:t>
            </a:r>
          </a:p>
        </p:txBody>
      </p:sp>
      <p:sp>
        <p:nvSpPr>
          <p:cNvPr id="23" name="TextBox 22"/>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DevOps Engineering on AWS  ·  TGS-2023040474</a:t>
            </a:r>
          </a:p>
        </p:txBody>
      </p:sp>
      <p:sp>
        <p:nvSpPr>
          <p:cNvPr id="24" name="TextBox 23"/>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25" name="TextBox 24"/>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168</a:t>
            </a:r>
          </a:p>
        </p:txBody>
      </p:sp>
    </p:spTree>
  </p:cSld>
  <p:clrMapOvr>
    <a:masterClrMapping/>
  </p:clrMapOvr>
  <p:transition xmlns:p14="http://schemas.microsoft.com/office/powerpoint/2010/main" p14:dur="380">
    <p:fade/>
  </p:transition>
</p:sld>
</file>

<file path=ppt/slides/slide17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EC711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38912"/>
            <a:ext cx="10607040" cy="365760"/>
          </a:xfrm>
          <a:prstGeom prst="rect">
            <a:avLst/>
          </a:prstGeom>
          <a:noFill/>
        </p:spPr>
        <p:txBody>
          <a:bodyPr wrap="square" anchor="t">
            <a:spAutoFit/>
          </a:bodyPr>
          <a:lstStyle/>
          <a:p>
            <a:pPr algn="l">
              <a:spcAft>
                <a:spcPts val="400"/>
              </a:spcAft>
            </a:pPr>
            <a:r>
              <a:rPr sz="1400" b="1">
                <a:solidFill>
                  <a:srgbClr val="EC711E"/>
                </a:solidFill>
                <a:latin typeface="Arial"/>
              </a:rPr>
              <a:t>IN DEPTH</a:t>
            </a:r>
          </a:p>
        </p:txBody>
      </p:sp>
      <p:sp>
        <p:nvSpPr>
          <p:cNvPr id="5" name="TextBox 4"/>
          <p:cNvSpPr txBox="1"/>
          <p:nvPr/>
        </p:nvSpPr>
        <p:spPr>
          <a:xfrm>
            <a:off x="777240" y="804672"/>
            <a:ext cx="10927080" cy="731520"/>
          </a:xfrm>
          <a:prstGeom prst="rect">
            <a:avLst/>
          </a:prstGeom>
          <a:noFill/>
        </p:spPr>
        <p:txBody>
          <a:bodyPr wrap="square" anchor="t">
            <a:spAutoFit/>
          </a:bodyPr>
          <a:lstStyle/>
          <a:p>
            <a:pPr algn="l">
              <a:spcAft>
                <a:spcPts val="400"/>
              </a:spcAft>
            </a:pPr>
            <a:r>
              <a:rPr sz="2900" b="1">
                <a:solidFill>
                  <a:srgbClr val="161B26"/>
                </a:solidFill>
                <a:latin typeface="Arial"/>
              </a:rPr>
              <a:t>Notify people, trigger machines</a:t>
            </a:r>
          </a:p>
        </p:txBody>
      </p:sp>
      <p:sp>
        <p:nvSpPr>
          <p:cNvPr id="6" name="Rectangle 5"/>
          <p:cNvSpPr/>
          <p:nvPr/>
        </p:nvSpPr>
        <p:spPr>
          <a:xfrm>
            <a:off x="777240" y="1572768"/>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783080"/>
            <a:ext cx="5212080" cy="425196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1783080"/>
            <a:ext cx="5212080" cy="91440"/>
          </a:xfrm>
          <a:prstGeom prst="rect">
            <a:avLst/>
          </a:prstGeom>
          <a:solidFill>
            <a:srgbClr val="EC711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1005840" y="1938528"/>
            <a:ext cx="4754880" cy="365760"/>
          </a:xfrm>
          <a:prstGeom prst="rect">
            <a:avLst/>
          </a:prstGeom>
          <a:noFill/>
        </p:spPr>
        <p:txBody>
          <a:bodyPr wrap="square" anchor="t">
            <a:spAutoFit/>
          </a:bodyPr>
          <a:lstStyle/>
          <a:p>
            <a:pPr algn="l">
              <a:spcAft>
                <a:spcPts val="400"/>
              </a:spcAft>
            </a:pPr>
            <a:r>
              <a:rPr sz="1200" b="1">
                <a:solidFill>
                  <a:srgbClr val="EC711E"/>
                </a:solidFill>
                <a:latin typeface="Arial"/>
              </a:rPr>
              <a:t>IN DEPTH</a:t>
            </a:r>
          </a:p>
        </p:txBody>
      </p:sp>
      <p:sp>
        <p:nvSpPr>
          <p:cNvPr id="10" name="TextBox 9"/>
          <p:cNvSpPr txBox="1"/>
          <p:nvPr/>
        </p:nvSpPr>
        <p:spPr>
          <a:xfrm>
            <a:off x="1005840" y="2377440"/>
            <a:ext cx="4754880" cy="3566160"/>
          </a:xfrm>
          <a:prstGeom prst="rect">
            <a:avLst/>
          </a:prstGeom>
          <a:noFill/>
        </p:spPr>
        <p:txBody>
          <a:bodyPr wrap="square">
            <a:spAutoFit/>
          </a:bodyPr>
          <a:lstStyle/>
          <a:p>
            <a:pPr>
              <a:spcAft>
                <a:spcPts val="800"/>
              </a:spcAft>
            </a:pPr>
            <a:r>
              <a:rPr sz="1350" b="0">
                <a:solidFill>
                  <a:srgbClr val="161B26"/>
                </a:solidFill>
                <a:latin typeface="Arial"/>
              </a:rPr>
              <a:t>•  SNS notifies humans by email, SMS or chat; it also fans out to multiple subscribers.</a:t>
            </a:r>
          </a:p>
          <a:p>
            <a:pPr>
              <a:spcAft>
                <a:spcPts val="800"/>
              </a:spcAft>
            </a:pPr>
            <a:r>
              <a:rPr sz="1350" b="0">
                <a:solidFill>
                  <a:srgbClr val="161B26"/>
                </a:solidFill>
                <a:latin typeface="Arial"/>
              </a:rPr>
              <a:t>•  Lambda, Systems Manager Automation and Step Functions take the actual remediating action.</a:t>
            </a:r>
          </a:p>
          <a:p>
            <a:pPr>
              <a:spcAft>
                <a:spcPts val="800"/>
              </a:spcAft>
            </a:pPr>
            <a:r>
              <a:rPr sz="1350" b="0">
                <a:solidFill>
                  <a:srgbClr val="161B26"/>
                </a:solidFill>
                <a:latin typeface="Arial"/>
              </a:rPr>
              <a:t>•  The two paths run in parallel: tell the responders and start the fix simultaneously.</a:t>
            </a:r>
          </a:p>
        </p:txBody>
      </p:sp>
      <p:sp>
        <p:nvSpPr>
          <p:cNvPr id="11" name="Rectangle 10"/>
          <p:cNvSpPr/>
          <p:nvPr/>
        </p:nvSpPr>
        <p:spPr>
          <a:xfrm>
            <a:off x="6172200" y="1783080"/>
            <a:ext cx="5239512" cy="1325880"/>
          </a:xfrm>
          <a:prstGeom prst="rect">
            <a:avLst/>
          </a:prstGeom>
          <a:solidFill>
            <a:srgbClr val="FFFFFF"/>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ectangle 11"/>
          <p:cNvSpPr/>
          <p:nvPr/>
        </p:nvSpPr>
        <p:spPr>
          <a:xfrm>
            <a:off x="6172200" y="1783080"/>
            <a:ext cx="91440" cy="1325880"/>
          </a:xfrm>
          <a:prstGeom prst="rect">
            <a:avLst/>
          </a:prstGeom>
          <a:solidFill>
            <a:srgbClr val="EC711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6428232" y="1892808"/>
            <a:ext cx="4782312" cy="320040"/>
          </a:xfrm>
          <a:prstGeom prst="rect">
            <a:avLst/>
          </a:prstGeom>
          <a:noFill/>
        </p:spPr>
        <p:txBody>
          <a:bodyPr wrap="square" anchor="t">
            <a:spAutoFit/>
          </a:bodyPr>
          <a:lstStyle/>
          <a:p>
            <a:pPr algn="l">
              <a:spcAft>
                <a:spcPts val="400"/>
              </a:spcAft>
            </a:pPr>
            <a:r>
              <a:rPr sz="1150" b="1">
                <a:solidFill>
                  <a:srgbClr val="EC711E"/>
                </a:solidFill>
                <a:latin typeface="Arial"/>
              </a:rPr>
              <a:t>WHY IT MATTERS</a:t>
            </a:r>
          </a:p>
        </p:txBody>
      </p:sp>
      <p:sp>
        <p:nvSpPr>
          <p:cNvPr id="14" name="TextBox 13"/>
          <p:cNvSpPr txBox="1"/>
          <p:nvPr/>
        </p:nvSpPr>
        <p:spPr>
          <a:xfrm>
            <a:off x="6428232" y="2221992"/>
            <a:ext cx="4782312" cy="822960"/>
          </a:xfrm>
          <a:prstGeom prst="rect">
            <a:avLst/>
          </a:prstGeom>
          <a:noFill/>
        </p:spPr>
        <p:txBody>
          <a:bodyPr wrap="square" anchor="t">
            <a:spAutoFit/>
          </a:bodyPr>
          <a:lstStyle/>
          <a:p>
            <a:pPr algn="l">
              <a:spcAft>
                <a:spcPts val="400"/>
              </a:spcAft>
            </a:pPr>
            <a:r>
              <a:rPr sz="1250" b="0">
                <a:solidFill>
                  <a:srgbClr val="161B26"/>
                </a:solidFill>
                <a:latin typeface="Arial"/>
              </a:rPr>
              <a:t>Separating 'notify' from 'act' means the automated fix starts immediately while humans stay informed and can intervene.</a:t>
            </a:r>
          </a:p>
        </p:txBody>
      </p:sp>
      <p:sp>
        <p:nvSpPr>
          <p:cNvPr id="15" name="Rectangle 14"/>
          <p:cNvSpPr/>
          <p:nvPr/>
        </p:nvSpPr>
        <p:spPr>
          <a:xfrm>
            <a:off x="6172200" y="3246120"/>
            <a:ext cx="5239512" cy="1325880"/>
          </a:xfrm>
          <a:prstGeom prst="rect">
            <a:avLst/>
          </a:prstGeom>
          <a:solidFill>
            <a:srgbClr val="FFFFFF"/>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ectangle 15"/>
          <p:cNvSpPr/>
          <p:nvPr/>
        </p:nvSpPr>
        <p:spPr>
          <a:xfrm>
            <a:off x="6172200" y="3246120"/>
            <a:ext cx="91440" cy="1325880"/>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6428232" y="3355848"/>
            <a:ext cx="4782312" cy="320040"/>
          </a:xfrm>
          <a:prstGeom prst="rect">
            <a:avLst/>
          </a:prstGeom>
          <a:noFill/>
        </p:spPr>
        <p:txBody>
          <a:bodyPr wrap="square" anchor="t">
            <a:spAutoFit/>
          </a:bodyPr>
          <a:lstStyle/>
          <a:p>
            <a:pPr algn="l">
              <a:spcAft>
                <a:spcPts val="400"/>
              </a:spcAft>
            </a:pPr>
            <a:r>
              <a:rPr sz="1150" b="1">
                <a:solidFill>
                  <a:srgbClr val="C0392B"/>
                </a:solidFill>
                <a:latin typeface="Arial"/>
              </a:rPr>
              <a:t>FAILURE MODE</a:t>
            </a:r>
          </a:p>
        </p:txBody>
      </p:sp>
      <p:sp>
        <p:nvSpPr>
          <p:cNvPr id="18" name="TextBox 17"/>
          <p:cNvSpPr txBox="1"/>
          <p:nvPr/>
        </p:nvSpPr>
        <p:spPr>
          <a:xfrm>
            <a:off x="6428232" y="3685032"/>
            <a:ext cx="4782312" cy="822960"/>
          </a:xfrm>
          <a:prstGeom prst="rect">
            <a:avLst/>
          </a:prstGeom>
          <a:noFill/>
        </p:spPr>
        <p:txBody>
          <a:bodyPr wrap="square" anchor="t">
            <a:spAutoFit/>
          </a:bodyPr>
          <a:lstStyle/>
          <a:p>
            <a:pPr algn="l">
              <a:spcAft>
                <a:spcPts val="400"/>
              </a:spcAft>
            </a:pPr>
            <a:r>
              <a:rPr sz="1250" b="0">
                <a:solidFill>
                  <a:srgbClr val="161B26"/>
                </a:solidFill>
                <a:latin typeface="Arial"/>
              </a:rPr>
              <a:t>Notifying without automating leaves recovery gated on human reaction time at 3am.</a:t>
            </a:r>
          </a:p>
        </p:txBody>
      </p:sp>
      <p:sp>
        <p:nvSpPr>
          <p:cNvPr id="19" name="Rectangle 18"/>
          <p:cNvSpPr/>
          <p:nvPr/>
        </p:nvSpPr>
        <p:spPr>
          <a:xfrm>
            <a:off x="6172200" y="4709160"/>
            <a:ext cx="5239512" cy="1325880"/>
          </a:xfrm>
          <a:prstGeom prst="rect">
            <a:avLst/>
          </a:prstGeom>
          <a:solidFill>
            <a:srgbClr val="FFFFFF"/>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Rectangle 19"/>
          <p:cNvSpPr/>
          <p:nvPr/>
        </p:nvSpPr>
        <p:spPr>
          <a:xfrm>
            <a:off x="6172200" y="4709160"/>
            <a:ext cx="91440" cy="1325880"/>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6428232" y="4818888"/>
            <a:ext cx="4782312" cy="320040"/>
          </a:xfrm>
          <a:prstGeom prst="rect">
            <a:avLst/>
          </a:prstGeom>
          <a:noFill/>
        </p:spPr>
        <p:txBody>
          <a:bodyPr wrap="square" anchor="t">
            <a:spAutoFit/>
          </a:bodyPr>
          <a:lstStyle/>
          <a:p>
            <a:pPr algn="l">
              <a:spcAft>
                <a:spcPts val="400"/>
              </a:spcAft>
            </a:pPr>
            <a:r>
              <a:rPr sz="1150" b="1">
                <a:solidFill>
                  <a:srgbClr val="F59E0B"/>
                </a:solidFill>
                <a:latin typeface="Arial"/>
              </a:rPr>
              <a:t>TRADE-OFF / DECISION</a:t>
            </a:r>
          </a:p>
        </p:txBody>
      </p:sp>
      <p:sp>
        <p:nvSpPr>
          <p:cNvPr id="22" name="TextBox 21"/>
          <p:cNvSpPr txBox="1"/>
          <p:nvPr/>
        </p:nvSpPr>
        <p:spPr>
          <a:xfrm>
            <a:off x="6428232" y="5148072"/>
            <a:ext cx="4782312" cy="822960"/>
          </a:xfrm>
          <a:prstGeom prst="rect">
            <a:avLst/>
          </a:prstGeom>
          <a:noFill/>
        </p:spPr>
        <p:txBody>
          <a:bodyPr wrap="square" anchor="t">
            <a:spAutoFit/>
          </a:bodyPr>
          <a:lstStyle/>
          <a:p>
            <a:pPr algn="l">
              <a:spcAft>
                <a:spcPts val="400"/>
              </a:spcAft>
            </a:pPr>
            <a:r>
              <a:rPr sz="1250" b="0">
                <a:solidFill>
                  <a:srgbClr val="161B26"/>
                </a:solidFill>
                <a:latin typeface="Arial"/>
              </a:rPr>
              <a:t>Automating actions demands tight IAM scoping and validation so a bad event can't trigger a harmful action.</a:t>
            </a:r>
          </a:p>
        </p:txBody>
      </p:sp>
      <p:sp>
        <p:nvSpPr>
          <p:cNvPr id="23" name="TextBox 22"/>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DevOps Engineering on AWS  ·  TGS-2023040474</a:t>
            </a:r>
          </a:p>
        </p:txBody>
      </p:sp>
      <p:sp>
        <p:nvSpPr>
          <p:cNvPr id="24" name="TextBox 23"/>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25" name="TextBox 24"/>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169</a:t>
            </a:r>
          </a:p>
        </p:txBody>
      </p:sp>
    </p:spTree>
  </p:cSld>
  <p:clrMapOvr>
    <a:masterClrMapping/>
  </p:clrMapOvr>
  <p:transition xmlns:p14="http://schemas.microsoft.com/office/powerpoint/2010/main" p14:dur="380">
    <p:fade/>
  </p:transition>
</p:sld>
</file>

<file path=ppt/slides/slide17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EC711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38912"/>
            <a:ext cx="10607040" cy="365760"/>
          </a:xfrm>
          <a:prstGeom prst="rect">
            <a:avLst/>
          </a:prstGeom>
          <a:noFill/>
        </p:spPr>
        <p:txBody>
          <a:bodyPr wrap="square" anchor="t">
            <a:spAutoFit/>
          </a:bodyPr>
          <a:lstStyle/>
          <a:p>
            <a:pPr algn="l">
              <a:spcAft>
                <a:spcPts val="400"/>
              </a:spcAft>
            </a:pPr>
            <a:r>
              <a:rPr sz="1400" b="1">
                <a:solidFill>
                  <a:srgbClr val="EC711E"/>
                </a:solidFill>
                <a:latin typeface="Arial"/>
              </a:rPr>
              <a:t>IN DEPTH</a:t>
            </a:r>
          </a:p>
        </p:txBody>
      </p:sp>
      <p:sp>
        <p:nvSpPr>
          <p:cNvPr id="5" name="TextBox 4"/>
          <p:cNvSpPr txBox="1"/>
          <p:nvPr/>
        </p:nvSpPr>
        <p:spPr>
          <a:xfrm>
            <a:off x="777240" y="896112"/>
            <a:ext cx="10927080" cy="731520"/>
          </a:xfrm>
          <a:prstGeom prst="rect">
            <a:avLst/>
          </a:prstGeom>
          <a:noFill/>
        </p:spPr>
        <p:txBody>
          <a:bodyPr wrap="square" anchor="t">
            <a:spAutoFit/>
          </a:bodyPr>
          <a:lstStyle/>
          <a:p>
            <a:pPr algn="l">
              <a:spcAft>
                <a:spcPts val="400"/>
              </a:spcAft>
            </a:pPr>
            <a:r>
              <a:rPr sz="2500" b="1">
                <a:solidFill>
                  <a:srgbClr val="161B26"/>
                </a:solidFill>
                <a:latin typeface="Arial"/>
              </a:rPr>
              <a:t>Auto-remediation with Config and Automation</a:t>
            </a:r>
          </a:p>
        </p:txBody>
      </p:sp>
      <p:sp>
        <p:nvSpPr>
          <p:cNvPr id="6" name="Rectangle 5"/>
          <p:cNvSpPr/>
          <p:nvPr/>
        </p:nvSpPr>
        <p:spPr>
          <a:xfrm>
            <a:off x="777240" y="1572768"/>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783080"/>
            <a:ext cx="5212080" cy="425196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1783080"/>
            <a:ext cx="5212080" cy="91440"/>
          </a:xfrm>
          <a:prstGeom prst="rect">
            <a:avLst/>
          </a:prstGeom>
          <a:solidFill>
            <a:srgbClr val="EC711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1005840" y="1938528"/>
            <a:ext cx="4754880" cy="365760"/>
          </a:xfrm>
          <a:prstGeom prst="rect">
            <a:avLst/>
          </a:prstGeom>
          <a:noFill/>
        </p:spPr>
        <p:txBody>
          <a:bodyPr wrap="square" anchor="t">
            <a:spAutoFit/>
          </a:bodyPr>
          <a:lstStyle/>
          <a:p>
            <a:pPr algn="l">
              <a:spcAft>
                <a:spcPts val="400"/>
              </a:spcAft>
            </a:pPr>
            <a:r>
              <a:rPr sz="1200" b="1">
                <a:solidFill>
                  <a:srgbClr val="EC711E"/>
                </a:solidFill>
                <a:latin typeface="Arial"/>
              </a:rPr>
              <a:t>IN DEPTH</a:t>
            </a:r>
          </a:p>
        </p:txBody>
      </p:sp>
      <p:sp>
        <p:nvSpPr>
          <p:cNvPr id="10" name="TextBox 9"/>
          <p:cNvSpPr txBox="1"/>
          <p:nvPr/>
        </p:nvSpPr>
        <p:spPr>
          <a:xfrm>
            <a:off x="1005840" y="2377440"/>
            <a:ext cx="4754880" cy="3566160"/>
          </a:xfrm>
          <a:prstGeom prst="rect">
            <a:avLst/>
          </a:prstGeom>
          <a:noFill/>
        </p:spPr>
        <p:txBody>
          <a:bodyPr wrap="square">
            <a:spAutoFit/>
          </a:bodyPr>
          <a:lstStyle/>
          <a:p>
            <a:pPr>
              <a:spcAft>
                <a:spcPts val="800"/>
              </a:spcAft>
            </a:pPr>
            <a:r>
              <a:rPr sz="1350" b="0">
                <a:solidFill>
                  <a:srgbClr val="161B26"/>
                </a:solidFill>
                <a:latin typeface="Arial"/>
              </a:rPr>
              <a:t>•  AWS Config detects non-compliant or drifted resources and can invoke an SSM Automation remediation.</a:t>
            </a:r>
          </a:p>
          <a:p>
            <a:pPr>
              <a:spcAft>
                <a:spcPts val="800"/>
              </a:spcAft>
            </a:pPr>
            <a:r>
              <a:rPr sz="1350" b="0">
                <a:solidFill>
                  <a:srgbClr val="161B26"/>
                </a:solidFill>
                <a:latin typeface="Arial"/>
              </a:rPr>
              <a:t>•  Common auto-fixes: re-enable encryption, remove a public S3 setting, isolate an instance, re-tag resources.</a:t>
            </a:r>
          </a:p>
          <a:p>
            <a:pPr>
              <a:spcAft>
                <a:spcPts val="800"/>
              </a:spcAft>
            </a:pPr>
            <a:r>
              <a:rPr sz="1350" b="0">
                <a:solidFill>
                  <a:srgbClr val="161B26"/>
                </a:solidFill>
                <a:latin typeface="Arial"/>
              </a:rPr>
              <a:t>•  Every remediation is logged for audit and can require approval for higher-risk actions.</a:t>
            </a:r>
          </a:p>
        </p:txBody>
      </p:sp>
      <p:sp>
        <p:nvSpPr>
          <p:cNvPr id="11" name="Rectangle 10"/>
          <p:cNvSpPr/>
          <p:nvPr/>
        </p:nvSpPr>
        <p:spPr>
          <a:xfrm>
            <a:off x="6172200" y="1783080"/>
            <a:ext cx="5239512" cy="1325880"/>
          </a:xfrm>
          <a:prstGeom prst="rect">
            <a:avLst/>
          </a:prstGeom>
          <a:solidFill>
            <a:srgbClr val="FFFFFF"/>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ectangle 11"/>
          <p:cNvSpPr/>
          <p:nvPr/>
        </p:nvSpPr>
        <p:spPr>
          <a:xfrm>
            <a:off x="6172200" y="1783080"/>
            <a:ext cx="91440" cy="1325880"/>
          </a:xfrm>
          <a:prstGeom prst="rect">
            <a:avLst/>
          </a:prstGeom>
          <a:solidFill>
            <a:srgbClr val="EC711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6428232" y="1892808"/>
            <a:ext cx="4782312" cy="320040"/>
          </a:xfrm>
          <a:prstGeom prst="rect">
            <a:avLst/>
          </a:prstGeom>
          <a:noFill/>
        </p:spPr>
        <p:txBody>
          <a:bodyPr wrap="square" anchor="t">
            <a:spAutoFit/>
          </a:bodyPr>
          <a:lstStyle/>
          <a:p>
            <a:pPr algn="l">
              <a:spcAft>
                <a:spcPts val="400"/>
              </a:spcAft>
            </a:pPr>
            <a:r>
              <a:rPr sz="1150" b="1">
                <a:solidFill>
                  <a:srgbClr val="EC711E"/>
                </a:solidFill>
                <a:latin typeface="Arial"/>
              </a:rPr>
              <a:t>WHY IT MATTERS</a:t>
            </a:r>
          </a:p>
        </p:txBody>
      </p:sp>
      <p:sp>
        <p:nvSpPr>
          <p:cNvPr id="14" name="TextBox 13"/>
          <p:cNvSpPr txBox="1"/>
          <p:nvPr/>
        </p:nvSpPr>
        <p:spPr>
          <a:xfrm>
            <a:off x="6428232" y="2221992"/>
            <a:ext cx="4782312" cy="822960"/>
          </a:xfrm>
          <a:prstGeom prst="rect">
            <a:avLst/>
          </a:prstGeom>
          <a:noFill/>
        </p:spPr>
        <p:txBody>
          <a:bodyPr wrap="square" anchor="t">
            <a:spAutoFit/>
          </a:bodyPr>
          <a:lstStyle/>
          <a:p>
            <a:pPr algn="l">
              <a:spcAft>
                <a:spcPts val="400"/>
              </a:spcAft>
            </a:pPr>
            <a:r>
              <a:rPr sz="1250" b="0">
                <a:solidFill>
                  <a:srgbClr val="161B26"/>
                </a:solidFill>
                <a:latin typeface="Arial"/>
              </a:rPr>
              <a:t>Continuous detection plus automated remediation keeps the environment compliant without waiting for a human review cycle.</a:t>
            </a:r>
          </a:p>
        </p:txBody>
      </p:sp>
      <p:sp>
        <p:nvSpPr>
          <p:cNvPr id="15" name="Rectangle 14"/>
          <p:cNvSpPr/>
          <p:nvPr/>
        </p:nvSpPr>
        <p:spPr>
          <a:xfrm>
            <a:off x="6172200" y="3246120"/>
            <a:ext cx="5239512" cy="1325880"/>
          </a:xfrm>
          <a:prstGeom prst="rect">
            <a:avLst/>
          </a:prstGeom>
          <a:solidFill>
            <a:srgbClr val="FFFFFF"/>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ectangle 15"/>
          <p:cNvSpPr/>
          <p:nvPr/>
        </p:nvSpPr>
        <p:spPr>
          <a:xfrm>
            <a:off x="6172200" y="3246120"/>
            <a:ext cx="91440" cy="1325880"/>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6428232" y="3355848"/>
            <a:ext cx="4782312" cy="320040"/>
          </a:xfrm>
          <a:prstGeom prst="rect">
            <a:avLst/>
          </a:prstGeom>
          <a:noFill/>
        </p:spPr>
        <p:txBody>
          <a:bodyPr wrap="square" anchor="t">
            <a:spAutoFit/>
          </a:bodyPr>
          <a:lstStyle/>
          <a:p>
            <a:pPr algn="l">
              <a:spcAft>
                <a:spcPts val="400"/>
              </a:spcAft>
            </a:pPr>
            <a:r>
              <a:rPr sz="1150" b="1">
                <a:solidFill>
                  <a:srgbClr val="C0392B"/>
                </a:solidFill>
                <a:latin typeface="Arial"/>
              </a:rPr>
              <a:t>FAILURE MODE</a:t>
            </a:r>
          </a:p>
        </p:txBody>
      </p:sp>
      <p:sp>
        <p:nvSpPr>
          <p:cNvPr id="18" name="TextBox 17"/>
          <p:cNvSpPr txBox="1"/>
          <p:nvPr/>
        </p:nvSpPr>
        <p:spPr>
          <a:xfrm>
            <a:off x="6428232" y="3685032"/>
            <a:ext cx="4782312" cy="822960"/>
          </a:xfrm>
          <a:prstGeom prst="rect">
            <a:avLst/>
          </a:prstGeom>
          <a:noFill/>
        </p:spPr>
        <p:txBody>
          <a:bodyPr wrap="square" anchor="t">
            <a:spAutoFit/>
          </a:bodyPr>
          <a:lstStyle/>
          <a:p>
            <a:pPr algn="l">
              <a:spcAft>
                <a:spcPts val="400"/>
              </a:spcAft>
            </a:pPr>
            <a:r>
              <a:rPr sz="1250" b="0">
                <a:solidFill>
                  <a:srgbClr val="161B26"/>
                </a:solidFill>
                <a:latin typeface="Arial"/>
              </a:rPr>
              <a:t>Auto-remediating without guardrails can fight a legitimate change or mask a deeper problem instead of fixing it.</a:t>
            </a:r>
          </a:p>
        </p:txBody>
      </p:sp>
      <p:sp>
        <p:nvSpPr>
          <p:cNvPr id="19" name="Rectangle 18"/>
          <p:cNvSpPr/>
          <p:nvPr/>
        </p:nvSpPr>
        <p:spPr>
          <a:xfrm>
            <a:off x="6172200" y="4709160"/>
            <a:ext cx="5239512" cy="1325880"/>
          </a:xfrm>
          <a:prstGeom prst="rect">
            <a:avLst/>
          </a:prstGeom>
          <a:solidFill>
            <a:srgbClr val="FFFFFF"/>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Rectangle 19"/>
          <p:cNvSpPr/>
          <p:nvPr/>
        </p:nvSpPr>
        <p:spPr>
          <a:xfrm>
            <a:off x="6172200" y="4709160"/>
            <a:ext cx="91440" cy="1325880"/>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6428232" y="4818888"/>
            <a:ext cx="4782312" cy="320040"/>
          </a:xfrm>
          <a:prstGeom prst="rect">
            <a:avLst/>
          </a:prstGeom>
          <a:noFill/>
        </p:spPr>
        <p:txBody>
          <a:bodyPr wrap="square" anchor="t">
            <a:spAutoFit/>
          </a:bodyPr>
          <a:lstStyle/>
          <a:p>
            <a:pPr algn="l">
              <a:spcAft>
                <a:spcPts val="400"/>
              </a:spcAft>
            </a:pPr>
            <a:r>
              <a:rPr sz="1150" b="1">
                <a:solidFill>
                  <a:srgbClr val="F59E0B"/>
                </a:solidFill>
                <a:latin typeface="Arial"/>
              </a:rPr>
              <a:t>TRADE-OFF / DECISION</a:t>
            </a:r>
          </a:p>
        </p:txBody>
      </p:sp>
      <p:sp>
        <p:nvSpPr>
          <p:cNvPr id="22" name="TextBox 21"/>
          <p:cNvSpPr txBox="1"/>
          <p:nvPr/>
        </p:nvSpPr>
        <p:spPr>
          <a:xfrm>
            <a:off x="6428232" y="5148072"/>
            <a:ext cx="4782312" cy="822960"/>
          </a:xfrm>
          <a:prstGeom prst="rect">
            <a:avLst/>
          </a:prstGeom>
          <a:noFill/>
        </p:spPr>
        <p:txBody>
          <a:bodyPr wrap="square" anchor="t">
            <a:spAutoFit/>
          </a:bodyPr>
          <a:lstStyle/>
          <a:p>
            <a:pPr algn="l">
              <a:spcAft>
                <a:spcPts val="400"/>
              </a:spcAft>
            </a:pPr>
            <a:r>
              <a:rPr sz="1250" b="0">
                <a:solidFill>
                  <a:srgbClr val="161B26"/>
                </a:solidFill>
                <a:latin typeface="Arial"/>
              </a:rPr>
              <a:t>Immediate auto-fix is fast but can hide recurring root causes — track remediation frequency as a signal.</a:t>
            </a:r>
          </a:p>
        </p:txBody>
      </p:sp>
      <p:sp>
        <p:nvSpPr>
          <p:cNvPr id="23" name="TextBox 22"/>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DevOps Engineering on AWS  ·  TGS-2023040474</a:t>
            </a:r>
          </a:p>
        </p:txBody>
      </p:sp>
      <p:sp>
        <p:nvSpPr>
          <p:cNvPr id="24" name="TextBox 23"/>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25" name="TextBox 24"/>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170</a:t>
            </a:r>
          </a:p>
        </p:txBody>
      </p:sp>
    </p:spTree>
  </p:cSld>
  <p:clrMapOvr>
    <a:masterClrMapping/>
  </p:clrMapOvr>
  <p:transition xmlns:p14="http://schemas.microsoft.com/office/powerpoint/2010/main" p14:dur="380">
    <p:fade/>
  </p:transition>
</p:sld>
</file>

<file path=ppt/slides/slide17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EC711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38912"/>
            <a:ext cx="10607040" cy="365760"/>
          </a:xfrm>
          <a:prstGeom prst="rect">
            <a:avLst/>
          </a:prstGeom>
          <a:noFill/>
        </p:spPr>
        <p:txBody>
          <a:bodyPr wrap="square" anchor="t">
            <a:spAutoFit/>
          </a:bodyPr>
          <a:lstStyle/>
          <a:p>
            <a:pPr algn="l">
              <a:spcAft>
                <a:spcPts val="400"/>
              </a:spcAft>
            </a:pPr>
            <a:r>
              <a:rPr sz="1400" b="1">
                <a:solidFill>
                  <a:srgbClr val="EC711E"/>
                </a:solidFill>
                <a:latin typeface="Arial"/>
              </a:rPr>
              <a:t>IN DEPTH</a:t>
            </a:r>
          </a:p>
        </p:txBody>
      </p:sp>
      <p:sp>
        <p:nvSpPr>
          <p:cNvPr id="5" name="TextBox 4"/>
          <p:cNvSpPr txBox="1"/>
          <p:nvPr/>
        </p:nvSpPr>
        <p:spPr>
          <a:xfrm>
            <a:off x="777240" y="804672"/>
            <a:ext cx="10927080" cy="731520"/>
          </a:xfrm>
          <a:prstGeom prst="rect">
            <a:avLst/>
          </a:prstGeom>
          <a:noFill/>
        </p:spPr>
        <p:txBody>
          <a:bodyPr wrap="square" anchor="t">
            <a:spAutoFit/>
          </a:bodyPr>
          <a:lstStyle/>
          <a:p>
            <a:pPr algn="l">
              <a:spcAft>
                <a:spcPts val="400"/>
              </a:spcAft>
            </a:pPr>
            <a:r>
              <a:rPr sz="2900" b="1">
                <a:solidFill>
                  <a:srgbClr val="161B26"/>
                </a:solidFill>
                <a:latin typeface="Arial"/>
              </a:rPr>
              <a:t>Runbooks and playbooks</a:t>
            </a:r>
          </a:p>
        </p:txBody>
      </p:sp>
      <p:sp>
        <p:nvSpPr>
          <p:cNvPr id="6" name="Rectangle 5"/>
          <p:cNvSpPr/>
          <p:nvPr/>
        </p:nvSpPr>
        <p:spPr>
          <a:xfrm>
            <a:off x="777240" y="1572768"/>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783080"/>
            <a:ext cx="5212080" cy="425196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1783080"/>
            <a:ext cx="5212080" cy="91440"/>
          </a:xfrm>
          <a:prstGeom prst="rect">
            <a:avLst/>
          </a:prstGeom>
          <a:solidFill>
            <a:srgbClr val="EC711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1005840" y="1938528"/>
            <a:ext cx="4754880" cy="365760"/>
          </a:xfrm>
          <a:prstGeom prst="rect">
            <a:avLst/>
          </a:prstGeom>
          <a:noFill/>
        </p:spPr>
        <p:txBody>
          <a:bodyPr wrap="square" anchor="t">
            <a:spAutoFit/>
          </a:bodyPr>
          <a:lstStyle/>
          <a:p>
            <a:pPr algn="l">
              <a:spcAft>
                <a:spcPts val="400"/>
              </a:spcAft>
            </a:pPr>
            <a:r>
              <a:rPr sz="1200" b="1">
                <a:solidFill>
                  <a:srgbClr val="EC711E"/>
                </a:solidFill>
                <a:latin typeface="Arial"/>
              </a:rPr>
              <a:t>IN DEPTH</a:t>
            </a:r>
          </a:p>
        </p:txBody>
      </p:sp>
      <p:sp>
        <p:nvSpPr>
          <p:cNvPr id="10" name="TextBox 9"/>
          <p:cNvSpPr txBox="1"/>
          <p:nvPr/>
        </p:nvSpPr>
        <p:spPr>
          <a:xfrm>
            <a:off x="1005840" y="2377440"/>
            <a:ext cx="4754880" cy="3566160"/>
          </a:xfrm>
          <a:prstGeom prst="rect">
            <a:avLst/>
          </a:prstGeom>
          <a:noFill/>
        </p:spPr>
        <p:txBody>
          <a:bodyPr wrap="square">
            <a:spAutoFit/>
          </a:bodyPr>
          <a:lstStyle/>
          <a:p>
            <a:pPr>
              <a:spcAft>
                <a:spcPts val="800"/>
              </a:spcAft>
            </a:pPr>
            <a:r>
              <a:rPr sz="1350" b="0">
                <a:solidFill>
                  <a:srgbClr val="161B26"/>
                </a:solidFill>
                <a:latin typeface="Arial"/>
              </a:rPr>
              <a:t>•  A runbook is a precise, often-automated procedure for a known problem (SSM Automation documents encode these).</a:t>
            </a:r>
          </a:p>
          <a:p>
            <a:pPr>
              <a:spcAft>
                <a:spcPts val="800"/>
              </a:spcAft>
            </a:pPr>
            <a:r>
              <a:rPr sz="1350" b="0">
                <a:solidFill>
                  <a:srgbClr val="161B26"/>
                </a:solidFill>
                <a:latin typeface="Arial"/>
              </a:rPr>
              <a:t>•  A playbook is broader human guidance for novel or major incidents — roles, comms and decision points.</a:t>
            </a:r>
          </a:p>
          <a:p>
            <a:pPr>
              <a:spcAft>
                <a:spcPts val="800"/>
              </a:spcAft>
            </a:pPr>
            <a:r>
              <a:rPr sz="1350" b="0">
                <a:solidFill>
                  <a:srgbClr val="161B26"/>
                </a:solidFill>
                <a:latin typeface="Arial"/>
              </a:rPr>
              <a:t>•  Codifying responses makes them consistent, fast and improvable after every incident.</a:t>
            </a:r>
          </a:p>
        </p:txBody>
      </p:sp>
      <p:sp>
        <p:nvSpPr>
          <p:cNvPr id="11" name="Rectangle 10"/>
          <p:cNvSpPr/>
          <p:nvPr/>
        </p:nvSpPr>
        <p:spPr>
          <a:xfrm>
            <a:off x="6172200" y="1783080"/>
            <a:ext cx="5239512" cy="1325880"/>
          </a:xfrm>
          <a:prstGeom prst="rect">
            <a:avLst/>
          </a:prstGeom>
          <a:solidFill>
            <a:srgbClr val="FFFFFF"/>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ectangle 11"/>
          <p:cNvSpPr/>
          <p:nvPr/>
        </p:nvSpPr>
        <p:spPr>
          <a:xfrm>
            <a:off x="6172200" y="1783080"/>
            <a:ext cx="91440" cy="1325880"/>
          </a:xfrm>
          <a:prstGeom prst="rect">
            <a:avLst/>
          </a:prstGeom>
          <a:solidFill>
            <a:srgbClr val="EC711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6428232" y="1892808"/>
            <a:ext cx="4782312" cy="320040"/>
          </a:xfrm>
          <a:prstGeom prst="rect">
            <a:avLst/>
          </a:prstGeom>
          <a:noFill/>
        </p:spPr>
        <p:txBody>
          <a:bodyPr wrap="square" anchor="t">
            <a:spAutoFit/>
          </a:bodyPr>
          <a:lstStyle/>
          <a:p>
            <a:pPr algn="l">
              <a:spcAft>
                <a:spcPts val="400"/>
              </a:spcAft>
            </a:pPr>
            <a:r>
              <a:rPr sz="1150" b="1">
                <a:solidFill>
                  <a:srgbClr val="EC711E"/>
                </a:solidFill>
                <a:latin typeface="Arial"/>
              </a:rPr>
              <a:t>WHY IT MATTERS</a:t>
            </a:r>
          </a:p>
        </p:txBody>
      </p:sp>
      <p:sp>
        <p:nvSpPr>
          <p:cNvPr id="14" name="TextBox 13"/>
          <p:cNvSpPr txBox="1"/>
          <p:nvPr/>
        </p:nvSpPr>
        <p:spPr>
          <a:xfrm>
            <a:off x="6428232" y="2221992"/>
            <a:ext cx="4782312" cy="822960"/>
          </a:xfrm>
          <a:prstGeom prst="rect">
            <a:avLst/>
          </a:prstGeom>
          <a:noFill/>
        </p:spPr>
        <p:txBody>
          <a:bodyPr wrap="square" anchor="t">
            <a:spAutoFit/>
          </a:bodyPr>
          <a:lstStyle/>
          <a:p>
            <a:pPr algn="l">
              <a:spcAft>
                <a:spcPts val="400"/>
              </a:spcAft>
            </a:pPr>
            <a:r>
              <a:rPr sz="1250" b="0">
                <a:solidFill>
                  <a:srgbClr val="161B26"/>
                </a:solidFill>
                <a:latin typeface="Arial"/>
              </a:rPr>
              <a:t>Runbooks turn hard-won incident knowledge into repeatable automation; playbooks coordinate the human response to the unknown.</a:t>
            </a:r>
          </a:p>
        </p:txBody>
      </p:sp>
      <p:sp>
        <p:nvSpPr>
          <p:cNvPr id="15" name="Rectangle 14"/>
          <p:cNvSpPr/>
          <p:nvPr/>
        </p:nvSpPr>
        <p:spPr>
          <a:xfrm>
            <a:off x="6172200" y="3246120"/>
            <a:ext cx="5239512" cy="1325880"/>
          </a:xfrm>
          <a:prstGeom prst="rect">
            <a:avLst/>
          </a:prstGeom>
          <a:solidFill>
            <a:srgbClr val="FFFFFF"/>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ectangle 15"/>
          <p:cNvSpPr/>
          <p:nvPr/>
        </p:nvSpPr>
        <p:spPr>
          <a:xfrm>
            <a:off x="6172200" y="3246120"/>
            <a:ext cx="91440" cy="1325880"/>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6428232" y="3355848"/>
            <a:ext cx="4782312" cy="320040"/>
          </a:xfrm>
          <a:prstGeom prst="rect">
            <a:avLst/>
          </a:prstGeom>
          <a:noFill/>
        </p:spPr>
        <p:txBody>
          <a:bodyPr wrap="square" anchor="t">
            <a:spAutoFit/>
          </a:bodyPr>
          <a:lstStyle/>
          <a:p>
            <a:pPr algn="l">
              <a:spcAft>
                <a:spcPts val="400"/>
              </a:spcAft>
            </a:pPr>
            <a:r>
              <a:rPr sz="1150" b="1">
                <a:solidFill>
                  <a:srgbClr val="C0392B"/>
                </a:solidFill>
                <a:latin typeface="Arial"/>
              </a:rPr>
              <a:t>FAILURE MODE</a:t>
            </a:r>
          </a:p>
        </p:txBody>
      </p:sp>
      <p:sp>
        <p:nvSpPr>
          <p:cNvPr id="18" name="TextBox 17"/>
          <p:cNvSpPr txBox="1"/>
          <p:nvPr/>
        </p:nvSpPr>
        <p:spPr>
          <a:xfrm>
            <a:off x="6428232" y="3685032"/>
            <a:ext cx="4782312" cy="822960"/>
          </a:xfrm>
          <a:prstGeom prst="rect">
            <a:avLst/>
          </a:prstGeom>
          <a:noFill/>
        </p:spPr>
        <p:txBody>
          <a:bodyPr wrap="square" anchor="t">
            <a:spAutoFit/>
          </a:bodyPr>
          <a:lstStyle/>
          <a:p>
            <a:pPr algn="l">
              <a:spcAft>
                <a:spcPts val="400"/>
              </a:spcAft>
            </a:pPr>
            <a:r>
              <a:rPr sz="1250" b="0">
                <a:solidFill>
                  <a:srgbClr val="161B26"/>
                </a:solidFill>
                <a:latin typeface="Arial"/>
              </a:rPr>
              <a:t>Tribal knowledge in one engineer's head fails the moment that person is on leave during an incident.</a:t>
            </a:r>
          </a:p>
        </p:txBody>
      </p:sp>
      <p:sp>
        <p:nvSpPr>
          <p:cNvPr id="19" name="Rectangle 18"/>
          <p:cNvSpPr/>
          <p:nvPr/>
        </p:nvSpPr>
        <p:spPr>
          <a:xfrm>
            <a:off x="6172200" y="4709160"/>
            <a:ext cx="5239512" cy="1325880"/>
          </a:xfrm>
          <a:prstGeom prst="rect">
            <a:avLst/>
          </a:prstGeom>
          <a:solidFill>
            <a:srgbClr val="FFFFFF"/>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Rectangle 19"/>
          <p:cNvSpPr/>
          <p:nvPr/>
        </p:nvSpPr>
        <p:spPr>
          <a:xfrm>
            <a:off x="6172200" y="4709160"/>
            <a:ext cx="91440" cy="1325880"/>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6428232" y="4818888"/>
            <a:ext cx="4782312" cy="320040"/>
          </a:xfrm>
          <a:prstGeom prst="rect">
            <a:avLst/>
          </a:prstGeom>
          <a:noFill/>
        </p:spPr>
        <p:txBody>
          <a:bodyPr wrap="square" anchor="t">
            <a:spAutoFit/>
          </a:bodyPr>
          <a:lstStyle/>
          <a:p>
            <a:pPr algn="l">
              <a:spcAft>
                <a:spcPts val="400"/>
              </a:spcAft>
            </a:pPr>
            <a:r>
              <a:rPr sz="1150" b="1">
                <a:solidFill>
                  <a:srgbClr val="F59E0B"/>
                </a:solidFill>
                <a:latin typeface="Arial"/>
              </a:rPr>
              <a:t>TRADE-OFF / DECISION</a:t>
            </a:r>
          </a:p>
        </p:txBody>
      </p:sp>
      <p:sp>
        <p:nvSpPr>
          <p:cNvPr id="22" name="TextBox 21"/>
          <p:cNvSpPr txBox="1"/>
          <p:nvPr/>
        </p:nvSpPr>
        <p:spPr>
          <a:xfrm>
            <a:off x="6428232" y="5148072"/>
            <a:ext cx="4782312" cy="822960"/>
          </a:xfrm>
          <a:prstGeom prst="rect">
            <a:avLst/>
          </a:prstGeom>
          <a:noFill/>
        </p:spPr>
        <p:txBody>
          <a:bodyPr wrap="square" anchor="t">
            <a:spAutoFit/>
          </a:bodyPr>
          <a:lstStyle/>
          <a:p>
            <a:pPr algn="l">
              <a:spcAft>
                <a:spcPts val="400"/>
              </a:spcAft>
            </a:pPr>
            <a:r>
              <a:rPr sz="1250" b="0">
                <a:solidFill>
                  <a:srgbClr val="161B26"/>
                </a:solidFill>
                <a:latin typeface="Arial"/>
              </a:rPr>
              <a:t>Automated runbooks must be maintained as the system changes, or they confidently do the wrong thing.</a:t>
            </a:r>
          </a:p>
        </p:txBody>
      </p:sp>
      <p:sp>
        <p:nvSpPr>
          <p:cNvPr id="23" name="TextBox 22"/>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DevOps Engineering on AWS  ·  TGS-2023040474</a:t>
            </a:r>
          </a:p>
        </p:txBody>
      </p:sp>
      <p:sp>
        <p:nvSpPr>
          <p:cNvPr id="24" name="TextBox 23"/>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25" name="TextBox 24"/>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171</a:t>
            </a:r>
          </a:p>
        </p:txBody>
      </p:sp>
    </p:spTree>
  </p:cSld>
  <p:clrMapOvr>
    <a:masterClrMapping/>
  </p:clrMapOvr>
  <p:transition xmlns:p14="http://schemas.microsoft.com/office/powerpoint/2010/main" p14:dur="380">
    <p:fade/>
  </p:transition>
</p:sld>
</file>

<file path=ppt/slides/slide17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EC711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38912"/>
            <a:ext cx="10607040" cy="365760"/>
          </a:xfrm>
          <a:prstGeom prst="rect">
            <a:avLst/>
          </a:prstGeom>
          <a:noFill/>
        </p:spPr>
        <p:txBody>
          <a:bodyPr wrap="square" anchor="t">
            <a:spAutoFit/>
          </a:bodyPr>
          <a:lstStyle/>
          <a:p>
            <a:pPr algn="l">
              <a:spcAft>
                <a:spcPts val="400"/>
              </a:spcAft>
            </a:pPr>
            <a:r>
              <a:rPr sz="1400" b="1">
                <a:solidFill>
                  <a:srgbClr val="EC711E"/>
                </a:solidFill>
                <a:latin typeface="Arial"/>
              </a:rPr>
              <a:t>IN DEPTH</a:t>
            </a:r>
          </a:p>
        </p:txBody>
      </p:sp>
      <p:sp>
        <p:nvSpPr>
          <p:cNvPr id="5" name="TextBox 4"/>
          <p:cNvSpPr txBox="1"/>
          <p:nvPr/>
        </p:nvSpPr>
        <p:spPr>
          <a:xfrm>
            <a:off x="777240" y="804672"/>
            <a:ext cx="10927080" cy="731520"/>
          </a:xfrm>
          <a:prstGeom prst="rect">
            <a:avLst/>
          </a:prstGeom>
          <a:noFill/>
        </p:spPr>
        <p:txBody>
          <a:bodyPr wrap="square" anchor="t">
            <a:spAutoFit/>
          </a:bodyPr>
          <a:lstStyle/>
          <a:p>
            <a:pPr algn="l">
              <a:spcAft>
                <a:spcPts val="400"/>
              </a:spcAft>
            </a:pPr>
            <a:r>
              <a:rPr sz="2900" b="1">
                <a:solidFill>
                  <a:srgbClr val="161B26"/>
                </a:solidFill>
                <a:latin typeface="Arial"/>
              </a:rPr>
              <a:t>Deployment-failure response</a:t>
            </a:r>
          </a:p>
        </p:txBody>
      </p:sp>
      <p:sp>
        <p:nvSpPr>
          <p:cNvPr id="6" name="Rectangle 5"/>
          <p:cNvSpPr/>
          <p:nvPr/>
        </p:nvSpPr>
        <p:spPr>
          <a:xfrm>
            <a:off x="777240" y="1572768"/>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783080"/>
            <a:ext cx="5212080" cy="425196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1783080"/>
            <a:ext cx="5212080" cy="91440"/>
          </a:xfrm>
          <a:prstGeom prst="rect">
            <a:avLst/>
          </a:prstGeom>
          <a:solidFill>
            <a:srgbClr val="EC711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1005840" y="1938528"/>
            <a:ext cx="4754880" cy="365760"/>
          </a:xfrm>
          <a:prstGeom prst="rect">
            <a:avLst/>
          </a:prstGeom>
          <a:noFill/>
        </p:spPr>
        <p:txBody>
          <a:bodyPr wrap="square" anchor="t">
            <a:spAutoFit/>
          </a:bodyPr>
          <a:lstStyle/>
          <a:p>
            <a:pPr algn="l">
              <a:spcAft>
                <a:spcPts val="400"/>
              </a:spcAft>
            </a:pPr>
            <a:r>
              <a:rPr sz="1200" b="1">
                <a:solidFill>
                  <a:srgbClr val="EC711E"/>
                </a:solidFill>
                <a:latin typeface="Arial"/>
              </a:rPr>
              <a:t>IN DEPTH</a:t>
            </a:r>
          </a:p>
        </p:txBody>
      </p:sp>
      <p:sp>
        <p:nvSpPr>
          <p:cNvPr id="10" name="TextBox 9"/>
          <p:cNvSpPr txBox="1"/>
          <p:nvPr/>
        </p:nvSpPr>
        <p:spPr>
          <a:xfrm>
            <a:off x="1005840" y="2377440"/>
            <a:ext cx="4754880" cy="3566160"/>
          </a:xfrm>
          <a:prstGeom prst="rect">
            <a:avLst/>
          </a:prstGeom>
          <a:noFill/>
        </p:spPr>
        <p:txBody>
          <a:bodyPr wrap="square">
            <a:spAutoFit/>
          </a:bodyPr>
          <a:lstStyle/>
          <a:p>
            <a:pPr>
              <a:spcAft>
                <a:spcPts val="800"/>
              </a:spcAft>
            </a:pPr>
            <a:r>
              <a:rPr sz="1350" b="0">
                <a:solidFill>
                  <a:srgbClr val="161B26"/>
                </a:solidFill>
                <a:latin typeface="Arial"/>
              </a:rPr>
              <a:t>•  CloudWatch alarms can trigger CodeDeploy automatic rollback when a new release misbehaves.</a:t>
            </a:r>
          </a:p>
          <a:p>
            <a:pPr>
              <a:spcAft>
                <a:spcPts val="800"/>
              </a:spcAft>
            </a:pPr>
            <a:r>
              <a:rPr sz="1350" b="0">
                <a:solidFill>
                  <a:srgbClr val="161B26"/>
                </a:solidFill>
                <a:latin typeface="Arial"/>
              </a:rPr>
              <a:t>•  A failed pipeline stage halts CodePipeline and alerts the team rather than continuing to prod.</a:t>
            </a:r>
          </a:p>
          <a:p>
            <a:pPr>
              <a:spcAft>
                <a:spcPts val="800"/>
              </a:spcAft>
            </a:pPr>
            <a:r>
              <a:rPr sz="1350" b="0">
                <a:solidFill>
                  <a:srgbClr val="161B26"/>
                </a:solidFill>
                <a:latin typeface="Arial"/>
              </a:rPr>
              <a:t>•  The ECS deployment circuit breaker reverts a failed rollout; blue/green switches traffic back instantly.</a:t>
            </a:r>
          </a:p>
        </p:txBody>
      </p:sp>
      <p:sp>
        <p:nvSpPr>
          <p:cNvPr id="11" name="Rectangle 10"/>
          <p:cNvSpPr/>
          <p:nvPr/>
        </p:nvSpPr>
        <p:spPr>
          <a:xfrm>
            <a:off x="6172200" y="1783080"/>
            <a:ext cx="5239512" cy="1325880"/>
          </a:xfrm>
          <a:prstGeom prst="rect">
            <a:avLst/>
          </a:prstGeom>
          <a:solidFill>
            <a:srgbClr val="FFFFFF"/>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ectangle 11"/>
          <p:cNvSpPr/>
          <p:nvPr/>
        </p:nvSpPr>
        <p:spPr>
          <a:xfrm>
            <a:off x="6172200" y="1783080"/>
            <a:ext cx="91440" cy="1325880"/>
          </a:xfrm>
          <a:prstGeom prst="rect">
            <a:avLst/>
          </a:prstGeom>
          <a:solidFill>
            <a:srgbClr val="EC711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6428232" y="1892808"/>
            <a:ext cx="4782312" cy="320040"/>
          </a:xfrm>
          <a:prstGeom prst="rect">
            <a:avLst/>
          </a:prstGeom>
          <a:noFill/>
        </p:spPr>
        <p:txBody>
          <a:bodyPr wrap="square" anchor="t">
            <a:spAutoFit/>
          </a:bodyPr>
          <a:lstStyle/>
          <a:p>
            <a:pPr algn="l">
              <a:spcAft>
                <a:spcPts val="400"/>
              </a:spcAft>
            </a:pPr>
            <a:r>
              <a:rPr sz="1150" b="1">
                <a:solidFill>
                  <a:srgbClr val="EC711E"/>
                </a:solidFill>
                <a:latin typeface="Arial"/>
              </a:rPr>
              <a:t>WHY IT MATTERS</a:t>
            </a:r>
          </a:p>
        </p:txBody>
      </p:sp>
      <p:sp>
        <p:nvSpPr>
          <p:cNvPr id="14" name="TextBox 13"/>
          <p:cNvSpPr txBox="1"/>
          <p:nvPr/>
        </p:nvSpPr>
        <p:spPr>
          <a:xfrm>
            <a:off x="6428232" y="2221992"/>
            <a:ext cx="4782312" cy="822960"/>
          </a:xfrm>
          <a:prstGeom prst="rect">
            <a:avLst/>
          </a:prstGeom>
          <a:noFill/>
        </p:spPr>
        <p:txBody>
          <a:bodyPr wrap="square" anchor="t">
            <a:spAutoFit/>
          </a:bodyPr>
          <a:lstStyle/>
          <a:p>
            <a:pPr algn="l">
              <a:spcAft>
                <a:spcPts val="400"/>
              </a:spcAft>
            </a:pPr>
            <a:r>
              <a:rPr sz="1250" b="0">
                <a:solidFill>
                  <a:srgbClr val="161B26"/>
                </a:solidFill>
                <a:latin typeface="Arial"/>
              </a:rPr>
              <a:t>Wiring release health into automated rollback keeps a bad deployment from becoming a prolonged outage.</a:t>
            </a:r>
          </a:p>
        </p:txBody>
      </p:sp>
      <p:sp>
        <p:nvSpPr>
          <p:cNvPr id="15" name="Rectangle 14"/>
          <p:cNvSpPr/>
          <p:nvPr/>
        </p:nvSpPr>
        <p:spPr>
          <a:xfrm>
            <a:off x="6172200" y="3246120"/>
            <a:ext cx="5239512" cy="1325880"/>
          </a:xfrm>
          <a:prstGeom prst="rect">
            <a:avLst/>
          </a:prstGeom>
          <a:solidFill>
            <a:srgbClr val="FFFFFF"/>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ectangle 15"/>
          <p:cNvSpPr/>
          <p:nvPr/>
        </p:nvSpPr>
        <p:spPr>
          <a:xfrm>
            <a:off x="6172200" y="3246120"/>
            <a:ext cx="91440" cy="1325880"/>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6428232" y="3355848"/>
            <a:ext cx="4782312" cy="320040"/>
          </a:xfrm>
          <a:prstGeom prst="rect">
            <a:avLst/>
          </a:prstGeom>
          <a:noFill/>
        </p:spPr>
        <p:txBody>
          <a:bodyPr wrap="square" anchor="t">
            <a:spAutoFit/>
          </a:bodyPr>
          <a:lstStyle/>
          <a:p>
            <a:pPr algn="l">
              <a:spcAft>
                <a:spcPts val="400"/>
              </a:spcAft>
            </a:pPr>
            <a:r>
              <a:rPr sz="1150" b="1">
                <a:solidFill>
                  <a:srgbClr val="C0392B"/>
                </a:solidFill>
                <a:latin typeface="Arial"/>
              </a:rPr>
              <a:t>FAILURE MODE</a:t>
            </a:r>
          </a:p>
        </p:txBody>
      </p:sp>
      <p:sp>
        <p:nvSpPr>
          <p:cNvPr id="18" name="TextBox 17"/>
          <p:cNvSpPr txBox="1"/>
          <p:nvPr/>
        </p:nvSpPr>
        <p:spPr>
          <a:xfrm>
            <a:off x="6428232" y="3685032"/>
            <a:ext cx="4782312" cy="822960"/>
          </a:xfrm>
          <a:prstGeom prst="rect">
            <a:avLst/>
          </a:prstGeom>
          <a:noFill/>
        </p:spPr>
        <p:txBody>
          <a:bodyPr wrap="square" anchor="t">
            <a:spAutoFit/>
          </a:bodyPr>
          <a:lstStyle/>
          <a:p>
            <a:pPr algn="l">
              <a:spcAft>
                <a:spcPts val="400"/>
              </a:spcAft>
            </a:pPr>
            <a:r>
              <a:rPr sz="1250" b="0">
                <a:solidFill>
                  <a:srgbClr val="161B26"/>
                </a:solidFill>
                <a:latin typeface="Arial"/>
              </a:rPr>
              <a:t>Deployments with no health signal or rollback path require a manual, stressful, error-prone recovery.</a:t>
            </a:r>
          </a:p>
        </p:txBody>
      </p:sp>
      <p:sp>
        <p:nvSpPr>
          <p:cNvPr id="19" name="Rectangle 18"/>
          <p:cNvSpPr/>
          <p:nvPr/>
        </p:nvSpPr>
        <p:spPr>
          <a:xfrm>
            <a:off x="6172200" y="4709160"/>
            <a:ext cx="5239512" cy="1325880"/>
          </a:xfrm>
          <a:prstGeom prst="rect">
            <a:avLst/>
          </a:prstGeom>
          <a:solidFill>
            <a:srgbClr val="FFFFFF"/>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Rectangle 19"/>
          <p:cNvSpPr/>
          <p:nvPr/>
        </p:nvSpPr>
        <p:spPr>
          <a:xfrm>
            <a:off x="6172200" y="4709160"/>
            <a:ext cx="91440" cy="1325880"/>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6428232" y="4818888"/>
            <a:ext cx="4782312" cy="320040"/>
          </a:xfrm>
          <a:prstGeom prst="rect">
            <a:avLst/>
          </a:prstGeom>
          <a:noFill/>
        </p:spPr>
        <p:txBody>
          <a:bodyPr wrap="square" anchor="t">
            <a:spAutoFit/>
          </a:bodyPr>
          <a:lstStyle/>
          <a:p>
            <a:pPr algn="l">
              <a:spcAft>
                <a:spcPts val="400"/>
              </a:spcAft>
            </a:pPr>
            <a:r>
              <a:rPr sz="1150" b="1">
                <a:solidFill>
                  <a:srgbClr val="F59E0B"/>
                </a:solidFill>
                <a:latin typeface="Arial"/>
              </a:rPr>
              <a:t>TRADE-OFF / DECISION</a:t>
            </a:r>
          </a:p>
        </p:txBody>
      </p:sp>
      <p:sp>
        <p:nvSpPr>
          <p:cNvPr id="22" name="TextBox 21"/>
          <p:cNvSpPr txBox="1"/>
          <p:nvPr/>
        </p:nvSpPr>
        <p:spPr>
          <a:xfrm>
            <a:off x="6428232" y="5148072"/>
            <a:ext cx="4782312" cy="822960"/>
          </a:xfrm>
          <a:prstGeom prst="rect">
            <a:avLst/>
          </a:prstGeom>
          <a:noFill/>
        </p:spPr>
        <p:txBody>
          <a:bodyPr wrap="square" anchor="t">
            <a:spAutoFit/>
          </a:bodyPr>
          <a:lstStyle/>
          <a:p>
            <a:pPr algn="l">
              <a:spcAft>
                <a:spcPts val="400"/>
              </a:spcAft>
            </a:pPr>
            <a:r>
              <a:rPr sz="1250" b="0">
                <a:solidFill>
                  <a:srgbClr val="161B26"/>
                </a:solidFill>
                <a:latin typeface="Arial"/>
              </a:rPr>
              <a:t>Fast auto-rollback is safe but can oscillate if the health signal is noisy — tune alarm sensitivity.</a:t>
            </a:r>
          </a:p>
        </p:txBody>
      </p:sp>
      <p:sp>
        <p:nvSpPr>
          <p:cNvPr id="23" name="TextBox 22"/>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DevOps Engineering on AWS  ·  TGS-2023040474</a:t>
            </a:r>
          </a:p>
        </p:txBody>
      </p:sp>
      <p:sp>
        <p:nvSpPr>
          <p:cNvPr id="24" name="TextBox 23"/>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25" name="TextBox 24"/>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172</a:t>
            </a:r>
          </a:p>
        </p:txBody>
      </p:sp>
    </p:spTree>
  </p:cSld>
  <p:clrMapOvr>
    <a:masterClrMapping/>
  </p:clrMapOvr>
  <p:transition xmlns:p14="http://schemas.microsoft.com/office/powerpoint/2010/main" p14:dur="380">
    <p:fade/>
  </p:transition>
</p:sld>
</file>

<file path=ppt/slides/slide17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EC711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38912"/>
            <a:ext cx="10607040" cy="365760"/>
          </a:xfrm>
          <a:prstGeom prst="rect">
            <a:avLst/>
          </a:prstGeom>
          <a:noFill/>
        </p:spPr>
        <p:txBody>
          <a:bodyPr wrap="square" anchor="t">
            <a:spAutoFit/>
          </a:bodyPr>
          <a:lstStyle/>
          <a:p>
            <a:pPr algn="l">
              <a:spcAft>
                <a:spcPts val="400"/>
              </a:spcAft>
            </a:pPr>
            <a:r>
              <a:rPr sz="1400" b="1">
                <a:solidFill>
                  <a:srgbClr val="EC711E"/>
                </a:solidFill>
                <a:latin typeface="Arial"/>
              </a:rPr>
              <a:t>IN DEPTH</a:t>
            </a:r>
          </a:p>
        </p:txBody>
      </p:sp>
      <p:sp>
        <p:nvSpPr>
          <p:cNvPr id="5" name="TextBox 4"/>
          <p:cNvSpPr txBox="1"/>
          <p:nvPr/>
        </p:nvSpPr>
        <p:spPr>
          <a:xfrm>
            <a:off x="777240" y="896112"/>
            <a:ext cx="10927080" cy="731520"/>
          </a:xfrm>
          <a:prstGeom prst="rect">
            <a:avLst/>
          </a:prstGeom>
          <a:noFill/>
        </p:spPr>
        <p:txBody>
          <a:bodyPr wrap="square" anchor="t">
            <a:spAutoFit/>
          </a:bodyPr>
          <a:lstStyle/>
          <a:p>
            <a:pPr algn="l">
              <a:spcAft>
                <a:spcPts val="400"/>
              </a:spcAft>
            </a:pPr>
            <a:r>
              <a:rPr sz="2500" b="1">
                <a:solidFill>
                  <a:srgbClr val="161B26"/>
                </a:solidFill>
                <a:latin typeface="Arial"/>
              </a:rPr>
              <a:t>Troubleshooting methodically across signals</a:t>
            </a:r>
          </a:p>
        </p:txBody>
      </p:sp>
      <p:sp>
        <p:nvSpPr>
          <p:cNvPr id="6" name="Rectangle 5"/>
          <p:cNvSpPr/>
          <p:nvPr/>
        </p:nvSpPr>
        <p:spPr>
          <a:xfrm>
            <a:off x="777240" y="1572768"/>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783080"/>
            <a:ext cx="5212080" cy="425196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1783080"/>
            <a:ext cx="5212080" cy="91440"/>
          </a:xfrm>
          <a:prstGeom prst="rect">
            <a:avLst/>
          </a:prstGeom>
          <a:solidFill>
            <a:srgbClr val="EC711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1005840" y="1938528"/>
            <a:ext cx="4754880" cy="365760"/>
          </a:xfrm>
          <a:prstGeom prst="rect">
            <a:avLst/>
          </a:prstGeom>
          <a:noFill/>
        </p:spPr>
        <p:txBody>
          <a:bodyPr wrap="square" anchor="t">
            <a:spAutoFit/>
          </a:bodyPr>
          <a:lstStyle/>
          <a:p>
            <a:pPr algn="l">
              <a:spcAft>
                <a:spcPts val="400"/>
              </a:spcAft>
            </a:pPr>
            <a:r>
              <a:rPr sz="1200" b="1">
                <a:solidFill>
                  <a:srgbClr val="EC711E"/>
                </a:solidFill>
                <a:latin typeface="Arial"/>
              </a:rPr>
              <a:t>IN DEPTH</a:t>
            </a:r>
          </a:p>
        </p:txBody>
      </p:sp>
      <p:sp>
        <p:nvSpPr>
          <p:cNvPr id="10" name="TextBox 9"/>
          <p:cNvSpPr txBox="1"/>
          <p:nvPr/>
        </p:nvSpPr>
        <p:spPr>
          <a:xfrm>
            <a:off x="1005840" y="2377440"/>
            <a:ext cx="4754880" cy="3566160"/>
          </a:xfrm>
          <a:prstGeom prst="rect">
            <a:avLst/>
          </a:prstGeom>
          <a:noFill/>
        </p:spPr>
        <p:txBody>
          <a:bodyPr wrap="square">
            <a:spAutoFit/>
          </a:bodyPr>
          <a:lstStyle/>
          <a:p>
            <a:pPr>
              <a:spcAft>
                <a:spcPts val="800"/>
              </a:spcAft>
            </a:pPr>
            <a:r>
              <a:rPr sz="1350" b="0">
                <a:solidFill>
                  <a:srgbClr val="161B26"/>
                </a:solidFill>
                <a:latin typeface="Arial"/>
              </a:rPr>
              <a:t>•  Correlate metrics (what changed), logs (what the app said), traces (where it slowed) and CloudTrail (who changed what).</a:t>
            </a:r>
          </a:p>
          <a:p>
            <a:pPr>
              <a:spcAft>
                <a:spcPts val="800"/>
              </a:spcAft>
            </a:pPr>
            <a:r>
              <a:rPr sz="1350" b="0">
                <a:solidFill>
                  <a:srgbClr val="161B26"/>
                </a:solidFill>
                <a:latin typeface="Arial"/>
              </a:rPr>
              <a:t>•  Start from the user-facing symptom and the SLO, then narrow by time and by service.</a:t>
            </a:r>
          </a:p>
          <a:p>
            <a:pPr>
              <a:spcAft>
                <a:spcPts val="800"/>
              </a:spcAft>
            </a:pPr>
            <a:r>
              <a:rPr sz="1350" b="0">
                <a:solidFill>
                  <a:srgbClr val="161B26"/>
                </a:solidFill>
                <a:latin typeface="Arial"/>
              </a:rPr>
              <a:t>•  CloudTrail often reveals that an incident began with a configuration or permission change.</a:t>
            </a:r>
          </a:p>
        </p:txBody>
      </p:sp>
      <p:sp>
        <p:nvSpPr>
          <p:cNvPr id="11" name="Rectangle 10"/>
          <p:cNvSpPr/>
          <p:nvPr/>
        </p:nvSpPr>
        <p:spPr>
          <a:xfrm>
            <a:off x="6172200" y="1783080"/>
            <a:ext cx="5239512" cy="1325880"/>
          </a:xfrm>
          <a:prstGeom prst="rect">
            <a:avLst/>
          </a:prstGeom>
          <a:solidFill>
            <a:srgbClr val="FFFFFF"/>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ectangle 11"/>
          <p:cNvSpPr/>
          <p:nvPr/>
        </p:nvSpPr>
        <p:spPr>
          <a:xfrm>
            <a:off x="6172200" y="1783080"/>
            <a:ext cx="91440" cy="1325880"/>
          </a:xfrm>
          <a:prstGeom prst="rect">
            <a:avLst/>
          </a:prstGeom>
          <a:solidFill>
            <a:srgbClr val="EC711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6428232" y="1892808"/>
            <a:ext cx="4782312" cy="320040"/>
          </a:xfrm>
          <a:prstGeom prst="rect">
            <a:avLst/>
          </a:prstGeom>
          <a:noFill/>
        </p:spPr>
        <p:txBody>
          <a:bodyPr wrap="square" anchor="t">
            <a:spAutoFit/>
          </a:bodyPr>
          <a:lstStyle/>
          <a:p>
            <a:pPr algn="l">
              <a:spcAft>
                <a:spcPts val="400"/>
              </a:spcAft>
            </a:pPr>
            <a:r>
              <a:rPr sz="1150" b="1">
                <a:solidFill>
                  <a:srgbClr val="EC711E"/>
                </a:solidFill>
                <a:latin typeface="Arial"/>
              </a:rPr>
              <a:t>WHY IT MATTERS</a:t>
            </a:r>
          </a:p>
        </p:txBody>
      </p:sp>
      <p:sp>
        <p:nvSpPr>
          <p:cNvPr id="14" name="TextBox 13"/>
          <p:cNvSpPr txBox="1"/>
          <p:nvPr/>
        </p:nvSpPr>
        <p:spPr>
          <a:xfrm>
            <a:off x="6428232" y="2221992"/>
            <a:ext cx="4782312" cy="822960"/>
          </a:xfrm>
          <a:prstGeom prst="rect">
            <a:avLst/>
          </a:prstGeom>
          <a:noFill/>
        </p:spPr>
        <p:txBody>
          <a:bodyPr wrap="square" anchor="t">
            <a:spAutoFit/>
          </a:bodyPr>
          <a:lstStyle/>
          <a:p>
            <a:pPr algn="l">
              <a:spcAft>
                <a:spcPts val="400"/>
              </a:spcAft>
            </a:pPr>
            <a:r>
              <a:rPr sz="1250" b="0">
                <a:solidFill>
                  <a:srgbClr val="161B26"/>
                </a:solidFill>
                <a:latin typeface="Arial"/>
              </a:rPr>
              <a:t>A disciplined, signal-driven method finds root cause faster than guessing and prevents fixing symptoms only.</a:t>
            </a:r>
          </a:p>
        </p:txBody>
      </p:sp>
      <p:sp>
        <p:nvSpPr>
          <p:cNvPr id="15" name="Rectangle 14"/>
          <p:cNvSpPr/>
          <p:nvPr/>
        </p:nvSpPr>
        <p:spPr>
          <a:xfrm>
            <a:off x="6172200" y="3246120"/>
            <a:ext cx="5239512" cy="1325880"/>
          </a:xfrm>
          <a:prstGeom prst="rect">
            <a:avLst/>
          </a:prstGeom>
          <a:solidFill>
            <a:srgbClr val="FFFFFF"/>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ectangle 15"/>
          <p:cNvSpPr/>
          <p:nvPr/>
        </p:nvSpPr>
        <p:spPr>
          <a:xfrm>
            <a:off x="6172200" y="3246120"/>
            <a:ext cx="91440" cy="1325880"/>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6428232" y="3355848"/>
            <a:ext cx="4782312" cy="320040"/>
          </a:xfrm>
          <a:prstGeom prst="rect">
            <a:avLst/>
          </a:prstGeom>
          <a:noFill/>
        </p:spPr>
        <p:txBody>
          <a:bodyPr wrap="square" anchor="t">
            <a:spAutoFit/>
          </a:bodyPr>
          <a:lstStyle/>
          <a:p>
            <a:pPr algn="l">
              <a:spcAft>
                <a:spcPts val="400"/>
              </a:spcAft>
            </a:pPr>
            <a:r>
              <a:rPr sz="1150" b="1">
                <a:solidFill>
                  <a:srgbClr val="C0392B"/>
                </a:solidFill>
                <a:latin typeface="Arial"/>
              </a:rPr>
              <a:t>FAILURE MODE</a:t>
            </a:r>
          </a:p>
        </p:txBody>
      </p:sp>
      <p:sp>
        <p:nvSpPr>
          <p:cNvPr id="18" name="TextBox 17"/>
          <p:cNvSpPr txBox="1"/>
          <p:nvPr/>
        </p:nvSpPr>
        <p:spPr>
          <a:xfrm>
            <a:off x="6428232" y="3685032"/>
            <a:ext cx="4782312" cy="822960"/>
          </a:xfrm>
          <a:prstGeom prst="rect">
            <a:avLst/>
          </a:prstGeom>
          <a:noFill/>
        </p:spPr>
        <p:txBody>
          <a:bodyPr wrap="square" anchor="t">
            <a:spAutoFit/>
          </a:bodyPr>
          <a:lstStyle/>
          <a:p>
            <a:pPr algn="l">
              <a:spcAft>
                <a:spcPts val="400"/>
              </a:spcAft>
            </a:pPr>
            <a:r>
              <a:rPr sz="1250" b="0">
                <a:solidFill>
                  <a:srgbClr val="161B26"/>
                </a:solidFill>
                <a:latin typeface="Arial"/>
              </a:rPr>
              <a:t>Restarting things at random during an incident can clear the symptom while leaving the cause to recur.</a:t>
            </a:r>
          </a:p>
        </p:txBody>
      </p:sp>
      <p:sp>
        <p:nvSpPr>
          <p:cNvPr id="19" name="Rectangle 18"/>
          <p:cNvSpPr/>
          <p:nvPr/>
        </p:nvSpPr>
        <p:spPr>
          <a:xfrm>
            <a:off x="6172200" y="4709160"/>
            <a:ext cx="5239512" cy="1325880"/>
          </a:xfrm>
          <a:prstGeom prst="rect">
            <a:avLst/>
          </a:prstGeom>
          <a:solidFill>
            <a:srgbClr val="FFFFFF"/>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Rectangle 19"/>
          <p:cNvSpPr/>
          <p:nvPr/>
        </p:nvSpPr>
        <p:spPr>
          <a:xfrm>
            <a:off x="6172200" y="4709160"/>
            <a:ext cx="91440" cy="1325880"/>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6428232" y="4818888"/>
            <a:ext cx="4782312" cy="320040"/>
          </a:xfrm>
          <a:prstGeom prst="rect">
            <a:avLst/>
          </a:prstGeom>
          <a:noFill/>
        </p:spPr>
        <p:txBody>
          <a:bodyPr wrap="square" anchor="t">
            <a:spAutoFit/>
          </a:bodyPr>
          <a:lstStyle/>
          <a:p>
            <a:pPr algn="l">
              <a:spcAft>
                <a:spcPts val="400"/>
              </a:spcAft>
            </a:pPr>
            <a:r>
              <a:rPr sz="1150" b="1">
                <a:solidFill>
                  <a:srgbClr val="F59E0B"/>
                </a:solidFill>
                <a:latin typeface="Arial"/>
              </a:rPr>
              <a:t>TRADE-OFF / DECISION</a:t>
            </a:r>
          </a:p>
        </p:txBody>
      </p:sp>
      <p:sp>
        <p:nvSpPr>
          <p:cNvPr id="22" name="TextBox 21"/>
          <p:cNvSpPr txBox="1"/>
          <p:nvPr/>
        </p:nvSpPr>
        <p:spPr>
          <a:xfrm>
            <a:off x="6428232" y="5148072"/>
            <a:ext cx="4782312" cy="822960"/>
          </a:xfrm>
          <a:prstGeom prst="rect">
            <a:avLst/>
          </a:prstGeom>
          <a:noFill/>
        </p:spPr>
        <p:txBody>
          <a:bodyPr wrap="square" anchor="t">
            <a:spAutoFit/>
          </a:bodyPr>
          <a:lstStyle/>
          <a:p>
            <a:pPr algn="l">
              <a:spcAft>
                <a:spcPts val="400"/>
              </a:spcAft>
            </a:pPr>
            <a:r>
              <a:rPr sz="1250" b="0">
                <a:solidFill>
                  <a:srgbClr val="161B26"/>
                </a:solidFill>
                <a:latin typeface="Arial"/>
              </a:rPr>
              <a:t>Thorough diagnosis takes minutes you may feel you don't have — but mis-diagnosis costs more.</a:t>
            </a:r>
          </a:p>
        </p:txBody>
      </p:sp>
      <p:sp>
        <p:nvSpPr>
          <p:cNvPr id="23" name="TextBox 22"/>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DevOps Engineering on AWS  ·  TGS-2023040474</a:t>
            </a:r>
          </a:p>
        </p:txBody>
      </p:sp>
      <p:sp>
        <p:nvSpPr>
          <p:cNvPr id="24" name="TextBox 23"/>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25" name="TextBox 24"/>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173</a:t>
            </a:r>
          </a:p>
        </p:txBody>
      </p:sp>
    </p:spTree>
  </p:cSld>
  <p:clrMapOvr>
    <a:masterClrMapping/>
  </p:clrMapOvr>
  <p:transition xmlns:p14="http://schemas.microsoft.com/office/powerpoint/2010/main" p14:dur="380">
    <p:fade/>
  </p:transition>
</p:sld>
</file>

<file path=ppt/slides/slide17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EC711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38912"/>
            <a:ext cx="10607040" cy="365760"/>
          </a:xfrm>
          <a:prstGeom prst="rect">
            <a:avLst/>
          </a:prstGeom>
          <a:noFill/>
        </p:spPr>
        <p:txBody>
          <a:bodyPr wrap="square" anchor="t">
            <a:spAutoFit/>
          </a:bodyPr>
          <a:lstStyle/>
          <a:p>
            <a:pPr algn="l">
              <a:spcAft>
                <a:spcPts val="400"/>
              </a:spcAft>
            </a:pPr>
            <a:r>
              <a:rPr sz="1400" b="1">
                <a:solidFill>
                  <a:srgbClr val="EC711E"/>
                </a:solidFill>
                <a:latin typeface="Arial"/>
              </a:rPr>
              <a:t>IN DEPTH</a:t>
            </a:r>
          </a:p>
        </p:txBody>
      </p:sp>
      <p:sp>
        <p:nvSpPr>
          <p:cNvPr id="5" name="TextBox 4"/>
          <p:cNvSpPr txBox="1"/>
          <p:nvPr/>
        </p:nvSpPr>
        <p:spPr>
          <a:xfrm>
            <a:off x="777240" y="804672"/>
            <a:ext cx="10927080" cy="731520"/>
          </a:xfrm>
          <a:prstGeom prst="rect">
            <a:avLst/>
          </a:prstGeom>
          <a:noFill/>
        </p:spPr>
        <p:txBody>
          <a:bodyPr wrap="square" anchor="t">
            <a:spAutoFit/>
          </a:bodyPr>
          <a:lstStyle/>
          <a:p>
            <a:pPr algn="l">
              <a:spcAft>
                <a:spcPts val="400"/>
              </a:spcAft>
            </a:pPr>
            <a:r>
              <a:rPr sz="2900" b="1">
                <a:solidFill>
                  <a:srgbClr val="161B26"/>
                </a:solidFill>
                <a:latin typeface="Arial"/>
              </a:rPr>
              <a:t>Blameless post-incident review</a:t>
            </a:r>
          </a:p>
        </p:txBody>
      </p:sp>
      <p:sp>
        <p:nvSpPr>
          <p:cNvPr id="6" name="Rectangle 5"/>
          <p:cNvSpPr/>
          <p:nvPr/>
        </p:nvSpPr>
        <p:spPr>
          <a:xfrm>
            <a:off x="777240" y="1572768"/>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783080"/>
            <a:ext cx="5212080" cy="425196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1783080"/>
            <a:ext cx="5212080" cy="91440"/>
          </a:xfrm>
          <a:prstGeom prst="rect">
            <a:avLst/>
          </a:prstGeom>
          <a:solidFill>
            <a:srgbClr val="EC711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1005840" y="1938528"/>
            <a:ext cx="4754880" cy="365760"/>
          </a:xfrm>
          <a:prstGeom prst="rect">
            <a:avLst/>
          </a:prstGeom>
          <a:noFill/>
        </p:spPr>
        <p:txBody>
          <a:bodyPr wrap="square" anchor="t">
            <a:spAutoFit/>
          </a:bodyPr>
          <a:lstStyle/>
          <a:p>
            <a:pPr algn="l">
              <a:spcAft>
                <a:spcPts val="400"/>
              </a:spcAft>
            </a:pPr>
            <a:r>
              <a:rPr sz="1200" b="1">
                <a:solidFill>
                  <a:srgbClr val="EC711E"/>
                </a:solidFill>
                <a:latin typeface="Arial"/>
              </a:rPr>
              <a:t>IN DEPTH</a:t>
            </a:r>
          </a:p>
        </p:txBody>
      </p:sp>
      <p:sp>
        <p:nvSpPr>
          <p:cNvPr id="10" name="TextBox 9"/>
          <p:cNvSpPr txBox="1"/>
          <p:nvPr/>
        </p:nvSpPr>
        <p:spPr>
          <a:xfrm>
            <a:off x="1005840" y="2377440"/>
            <a:ext cx="4754880" cy="3566160"/>
          </a:xfrm>
          <a:prstGeom prst="rect">
            <a:avLst/>
          </a:prstGeom>
          <a:noFill/>
        </p:spPr>
        <p:txBody>
          <a:bodyPr wrap="square">
            <a:spAutoFit/>
          </a:bodyPr>
          <a:lstStyle/>
          <a:p>
            <a:pPr>
              <a:spcAft>
                <a:spcPts val="800"/>
              </a:spcAft>
            </a:pPr>
            <a:r>
              <a:rPr sz="1350" b="0">
                <a:solidFill>
                  <a:srgbClr val="161B26"/>
                </a:solidFill>
                <a:latin typeface="Arial"/>
              </a:rPr>
              <a:t>•  After recovery, a blameless review reconstructs the timeline and identifies systemic causes.</a:t>
            </a:r>
          </a:p>
          <a:p>
            <a:pPr>
              <a:spcAft>
                <a:spcPts val="800"/>
              </a:spcAft>
            </a:pPr>
            <a:r>
              <a:rPr sz="1350" b="0">
                <a:solidFill>
                  <a:srgbClr val="161B26"/>
                </a:solidFill>
                <a:latin typeface="Arial"/>
              </a:rPr>
              <a:t>•  Action items harden the system: new alarms, a new runbook, a guardrail, or a design change.</a:t>
            </a:r>
          </a:p>
          <a:p>
            <a:pPr>
              <a:spcAft>
                <a:spcPts val="800"/>
              </a:spcAft>
            </a:pPr>
            <a:r>
              <a:rPr sz="1350" b="0">
                <a:solidFill>
                  <a:srgbClr val="161B26"/>
                </a:solidFill>
                <a:latin typeface="Arial"/>
              </a:rPr>
              <a:t>•  The fix is codified so the same incident cannot recur silently.</a:t>
            </a:r>
          </a:p>
        </p:txBody>
      </p:sp>
      <p:sp>
        <p:nvSpPr>
          <p:cNvPr id="11" name="Rectangle 10"/>
          <p:cNvSpPr/>
          <p:nvPr/>
        </p:nvSpPr>
        <p:spPr>
          <a:xfrm>
            <a:off x="6172200" y="1783080"/>
            <a:ext cx="5239512" cy="1325880"/>
          </a:xfrm>
          <a:prstGeom prst="rect">
            <a:avLst/>
          </a:prstGeom>
          <a:solidFill>
            <a:srgbClr val="FFFFFF"/>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ectangle 11"/>
          <p:cNvSpPr/>
          <p:nvPr/>
        </p:nvSpPr>
        <p:spPr>
          <a:xfrm>
            <a:off x="6172200" y="1783080"/>
            <a:ext cx="91440" cy="1325880"/>
          </a:xfrm>
          <a:prstGeom prst="rect">
            <a:avLst/>
          </a:prstGeom>
          <a:solidFill>
            <a:srgbClr val="EC711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6428232" y="1892808"/>
            <a:ext cx="4782312" cy="320040"/>
          </a:xfrm>
          <a:prstGeom prst="rect">
            <a:avLst/>
          </a:prstGeom>
          <a:noFill/>
        </p:spPr>
        <p:txBody>
          <a:bodyPr wrap="square" anchor="t">
            <a:spAutoFit/>
          </a:bodyPr>
          <a:lstStyle/>
          <a:p>
            <a:pPr algn="l">
              <a:spcAft>
                <a:spcPts val="400"/>
              </a:spcAft>
            </a:pPr>
            <a:r>
              <a:rPr sz="1150" b="1">
                <a:solidFill>
                  <a:srgbClr val="EC711E"/>
                </a:solidFill>
                <a:latin typeface="Arial"/>
              </a:rPr>
              <a:t>WHY IT MATTERS</a:t>
            </a:r>
          </a:p>
        </p:txBody>
      </p:sp>
      <p:sp>
        <p:nvSpPr>
          <p:cNvPr id="14" name="TextBox 13"/>
          <p:cNvSpPr txBox="1"/>
          <p:nvPr/>
        </p:nvSpPr>
        <p:spPr>
          <a:xfrm>
            <a:off x="6428232" y="2221992"/>
            <a:ext cx="4782312" cy="822960"/>
          </a:xfrm>
          <a:prstGeom prst="rect">
            <a:avLst/>
          </a:prstGeom>
          <a:noFill/>
        </p:spPr>
        <p:txBody>
          <a:bodyPr wrap="square" anchor="t">
            <a:spAutoFit/>
          </a:bodyPr>
          <a:lstStyle/>
          <a:p>
            <a:pPr algn="l">
              <a:spcAft>
                <a:spcPts val="400"/>
              </a:spcAft>
            </a:pPr>
            <a:r>
              <a:rPr sz="1250" b="0">
                <a:solidFill>
                  <a:srgbClr val="161B26"/>
                </a:solidFill>
                <a:latin typeface="Arial"/>
              </a:rPr>
              <a:t>Treating incidents as learning — not fault — turns each outage into durable resilience and better automation.</a:t>
            </a:r>
          </a:p>
        </p:txBody>
      </p:sp>
      <p:sp>
        <p:nvSpPr>
          <p:cNvPr id="15" name="Rectangle 14"/>
          <p:cNvSpPr/>
          <p:nvPr/>
        </p:nvSpPr>
        <p:spPr>
          <a:xfrm>
            <a:off x="6172200" y="3246120"/>
            <a:ext cx="5239512" cy="1325880"/>
          </a:xfrm>
          <a:prstGeom prst="rect">
            <a:avLst/>
          </a:prstGeom>
          <a:solidFill>
            <a:srgbClr val="FFFFFF"/>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ectangle 15"/>
          <p:cNvSpPr/>
          <p:nvPr/>
        </p:nvSpPr>
        <p:spPr>
          <a:xfrm>
            <a:off x="6172200" y="3246120"/>
            <a:ext cx="91440" cy="1325880"/>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6428232" y="3355848"/>
            <a:ext cx="4782312" cy="320040"/>
          </a:xfrm>
          <a:prstGeom prst="rect">
            <a:avLst/>
          </a:prstGeom>
          <a:noFill/>
        </p:spPr>
        <p:txBody>
          <a:bodyPr wrap="square" anchor="t">
            <a:spAutoFit/>
          </a:bodyPr>
          <a:lstStyle/>
          <a:p>
            <a:pPr algn="l">
              <a:spcAft>
                <a:spcPts val="400"/>
              </a:spcAft>
            </a:pPr>
            <a:r>
              <a:rPr sz="1150" b="1">
                <a:solidFill>
                  <a:srgbClr val="C0392B"/>
                </a:solidFill>
                <a:latin typeface="Arial"/>
              </a:rPr>
              <a:t>FAILURE MODE</a:t>
            </a:r>
          </a:p>
        </p:txBody>
      </p:sp>
      <p:sp>
        <p:nvSpPr>
          <p:cNvPr id="18" name="TextBox 17"/>
          <p:cNvSpPr txBox="1"/>
          <p:nvPr/>
        </p:nvSpPr>
        <p:spPr>
          <a:xfrm>
            <a:off x="6428232" y="3685032"/>
            <a:ext cx="4782312" cy="822960"/>
          </a:xfrm>
          <a:prstGeom prst="rect">
            <a:avLst/>
          </a:prstGeom>
          <a:noFill/>
        </p:spPr>
        <p:txBody>
          <a:bodyPr wrap="square" anchor="t">
            <a:spAutoFit/>
          </a:bodyPr>
          <a:lstStyle/>
          <a:p>
            <a:pPr algn="l">
              <a:spcAft>
                <a:spcPts val="400"/>
              </a:spcAft>
            </a:pPr>
            <a:r>
              <a:rPr sz="1250" b="0">
                <a:solidFill>
                  <a:srgbClr val="161B26"/>
                </a:solidFill>
                <a:latin typeface="Arial"/>
              </a:rPr>
              <a:t>Blaming individuals drives problems underground; people stop reporting near-misses and the system stops improving.</a:t>
            </a:r>
          </a:p>
        </p:txBody>
      </p:sp>
      <p:sp>
        <p:nvSpPr>
          <p:cNvPr id="19" name="Rectangle 18"/>
          <p:cNvSpPr/>
          <p:nvPr/>
        </p:nvSpPr>
        <p:spPr>
          <a:xfrm>
            <a:off x="6172200" y="4709160"/>
            <a:ext cx="5239512" cy="1325880"/>
          </a:xfrm>
          <a:prstGeom prst="rect">
            <a:avLst/>
          </a:prstGeom>
          <a:solidFill>
            <a:srgbClr val="FFFFFF"/>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Rectangle 19"/>
          <p:cNvSpPr/>
          <p:nvPr/>
        </p:nvSpPr>
        <p:spPr>
          <a:xfrm>
            <a:off x="6172200" y="4709160"/>
            <a:ext cx="91440" cy="1325880"/>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6428232" y="4818888"/>
            <a:ext cx="4782312" cy="320040"/>
          </a:xfrm>
          <a:prstGeom prst="rect">
            <a:avLst/>
          </a:prstGeom>
          <a:noFill/>
        </p:spPr>
        <p:txBody>
          <a:bodyPr wrap="square" anchor="t">
            <a:spAutoFit/>
          </a:bodyPr>
          <a:lstStyle/>
          <a:p>
            <a:pPr algn="l">
              <a:spcAft>
                <a:spcPts val="400"/>
              </a:spcAft>
            </a:pPr>
            <a:r>
              <a:rPr sz="1150" b="1">
                <a:solidFill>
                  <a:srgbClr val="F59E0B"/>
                </a:solidFill>
                <a:latin typeface="Arial"/>
              </a:rPr>
              <a:t>TRADE-OFF / DECISION</a:t>
            </a:r>
          </a:p>
        </p:txBody>
      </p:sp>
      <p:sp>
        <p:nvSpPr>
          <p:cNvPr id="22" name="TextBox 21"/>
          <p:cNvSpPr txBox="1"/>
          <p:nvPr/>
        </p:nvSpPr>
        <p:spPr>
          <a:xfrm>
            <a:off x="6428232" y="5148072"/>
            <a:ext cx="4782312" cy="822960"/>
          </a:xfrm>
          <a:prstGeom prst="rect">
            <a:avLst/>
          </a:prstGeom>
          <a:noFill/>
        </p:spPr>
        <p:txBody>
          <a:bodyPr wrap="square" anchor="t">
            <a:spAutoFit/>
          </a:bodyPr>
          <a:lstStyle/>
          <a:p>
            <a:pPr algn="l">
              <a:spcAft>
                <a:spcPts val="400"/>
              </a:spcAft>
            </a:pPr>
            <a:r>
              <a:rPr sz="1250" b="0">
                <a:solidFill>
                  <a:srgbClr val="161B26"/>
                </a:solidFill>
                <a:latin typeface="Arial"/>
              </a:rPr>
              <a:t>Reviews cost time and candour — the payoff is compounding reliability over many incidents.</a:t>
            </a:r>
          </a:p>
        </p:txBody>
      </p:sp>
      <p:sp>
        <p:nvSpPr>
          <p:cNvPr id="23" name="TextBox 22"/>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DevOps Engineering on AWS  ·  TGS-2023040474</a:t>
            </a:r>
          </a:p>
        </p:txBody>
      </p:sp>
      <p:sp>
        <p:nvSpPr>
          <p:cNvPr id="24" name="TextBox 23"/>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25" name="TextBox 24"/>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174</a:t>
            </a:r>
          </a:p>
        </p:txBody>
      </p:sp>
    </p:spTree>
  </p:cSld>
  <p:clrMapOvr>
    <a:masterClrMapping/>
  </p:clrMapOvr>
  <p:transition xmlns:p14="http://schemas.microsoft.com/office/powerpoint/2010/main" p14:dur="380">
    <p:fade/>
  </p:transition>
</p:sld>
</file>

<file path=ppt/slides/slide17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EC711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38912"/>
            <a:ext cx="10607040" cy="365760"/>
          </a:xfrm>
          <a:prstGeom prst="rect">
            <a:avLst/>
          </a:prstGeom>
          <a:noFill/>
        </p:spPr>
        <p:txBody>
          <a:bodyPr wrap="square" anchor="t">
            <a:spAutoFit/>
          </a:bodyPr>
          <a:lstStyle/>
          <a:p>
            <a:pPr algn="l">
              <a:spcAft>
                <a:spcPts val="400"/>
              </a:spcAft>
            </a:pPr>
            <a:r>
              <a:rPr sz="1400" b="1">
                <a:solidFill>
                  <a:srgbClr val="EC711E"/>
                </a:solidFill>
                <a:latin typeface="Arial"/>
              </a:rPr>
              <a:t>IN DEPTH</a:t>
            </a:r>
          </a:p>
        </p:txBody>
      </p:sp>
      <p:sp>
        <p:nvSpPr>
          <p:cNvPr id="5" name="TextBox 4"/>
          <p:cNvSpPr txBox="1"/>
          <p:nvPr/>
        </p:nvSpPr>
        <p:spPr>
          <a:xfrm>
            <a:off x="777240" y="896112"/>
            <a:ext cx="10927080" cy="731520"/>
          </a:xfrm>
          <a:prstGeom prst="rect">
            <a:avLst/>
          </a:prstGeom>
          <a:noFill/>
        </p:spPr>
        <p:txBody>
          <a:bodyPr wrap="square" anchor="t">
            <a:spAutoFit/>
          </a:bodyPr>
          <a:lstStyle/>
          <a:p>
            <a:pPr algn="l">
              <a:spcAft>
                <a:spcPts val="400"/>
              </a:spcAft>
            </a:pPr>
            <a:r>
              <a:rPr sz="2500" b="1">
                <a:solidFill>
                  <a:srgbClr val="161B26"/>
                </a:solidFill>
                <a:latin typeface="Arial"/>
              </a:rPr>
              <a:t>Orchestrating complex responses with Step Functions</a:t>
            </a:r>
          </a:p>
        </p:txBody>
      </p:sp>
      <p:sp>
        <p:nvSpPr>
          <p:cNvPr id="6" name="Rectangle 5"/>
          <p:cNvSpPr/>
          <p:nvPr/>
        </p:nvSpPr>
        <p:spPr>
          <a:xfrm>
            <a:off x="777240" y="1572768"/>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783080"/>
            <a:ext cx="5212080" cy="425196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1783080"/>
            <a:ext cx="5212080" cy="91440"/>
          </a:xfrm>
          <a:prstGeom prst="rect">
            <a:avLst/>
          </a:prstGeom>
          <a:solidFill>
            <a:srgbClr val="EC711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1005840" y="1938528"/>
            <a:ext cx="4754880" cy="365760"/>
          </a:xfrm>
          <a:prstGeom prst="rect">
            <a:avLst/>
          </a:prstGeom>
          <a:noFill/>
        </p:spPr>
        <p:txBody>
          <a:bodyPr wrap="square" anchor="t">
            <a:spAutoFit/>
          </a:bodyPr>
          <a:lstStyle/>
          <a:p>
            <a:pPr algn="l">
              <a:spcAft>
                <a:spcPts val="400"/>
              </a:spcAft>
            </a:pPr>
            <a:r>
              <a:rPr sz="1200" b="1">
                <a:solidFill>
                  <a:srgbClr val="EC711E"/>
                </a:solidFill>
                <a:latin typeface="Arial"/>
              </a:rPr>
              <a:t>IN DEPTH</a:t>
            </a:r>
          </a:p>
        </p:txBody>
      </p:sp>
      <p:sp>
        <p:nvSpPr>
          <p:cNvPr id="10" name="TextBox 9"/>
          <p:cNvSpPr txBox="1"/>
          <p:nvPr/>
        </p:nvSpPr>
        <p:spPr>
          <a:xfrm>
            <a:off x="1005840" y="2377440"/>
            <a:ext cx="4754880" cy="3566160"/>
          </a:xfrm>
          <a:prstGeom prst="rect">
            <a:avLst/>
          </a:prstGeom>
          <a:noFill/>
        </p:spPr>
        <p:txBody>
          <a:bodyPr wrap="square">
            <a:spAutoFit/>
          </a:bodyPr>
          <a:lstStyle/>
          <a:p>
            <a:pPr>
              <a:spcAft>
                <a:spcPts val="800"/>
              </a:spcAft>
            </a:pPr>
            <a:r>
              <a:rPr sz="1350" b="0">
                <a:solidFill>
                  <a:srgbClr val="161B26"/>
                </a:solidFill>
                <a:latin typeface="Arial"/>
              </a:rPr>
              <a:t>•  Step Functions coordinate multi-step remediations with retries, branching and error handling.</a:t>
            </a:r>
          </a:p>
          <a:p>
            <a:pPr>
              <a:spcAft>
                <a:spcPts val="800"/>
              </a:spcAft>
            </a:pPr>
            <a:r>
              <a:rPr sz="1350" b="0">
                <a:solidFill>
                  <a:srgbClr val="161B26"/>
                </a:solidFill>
                <a:latin typeface="Arial"/>
              </a:rPr>
              <a:t>•  State machines make a response auditable and resumable rather than a fragile chain of Lambdas.</a:t>
            </a:r>
          </a:p>
          <a:p>
            <a:pPr>
              <a:spcAft>
                <a:spcPts val="800"/>
              </a:spcAft>
            </a:pPr>
            <a:r>
              <a:rPr sz="1350" b="0">
                <a:solidFill>
                  <a:srgbClr val="161B26"/>
                </a:solidFill>
                <a:latin typeface="Arial"/>
              </a:rPr>
              <a:t>•  Human-approval states can pause automation for a decision on higher-risk actions.</a:t>
            </a:r>
          </a:p>
        </p:txBody>
      </p:sp>
      <p:sp>
        <p:nvSpPr>
          <p:cNvPr id="11" name="Rectangle 10"/>
          <p:cNvSpPr/>
          <p:nvPr/>
        </p:nvSpPr>
        <p:spPr>
          <a:xfrm>
            <a:off x="6172200" y="1783080"/>
            <a:ext cx="5239512" cy="1325880"/>
          </a:xfrm>
          <a:prstGeom prst="rect">
            <a:avLst/>
          </a:prstGeom>
          <a:solidFill>
            <a:srgbClr val="FFFFFF"/>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ectangle 11"/>
          <p:cNvSpPr/>
          <p:nvPr/>
        </p:nvSpPr>
        <p:spPr>
          <a:xfrm>
            <a:off x="6172200" y="1783080"/>
            <a:ext cx="91440" cy="1325880"/>
          </a:xfrm>
          <a:prstGeom prst="rect">
            <a:avLst/>
          </a:prstGeom>
          <a:solidFill>
            <a:srgbClr val="EC711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6428232" y="1892808"/>
            <a:ext cx="4782312" cy="320040"/>
          </a:xfrm>
          <a:prstGeom prst="rect">
            <a:avLst/>
          </a:prstGeom>
          <a:noFill/>
        </p:spPr>
        <p:txBody>
          <a:bodyPr wrap="square" anchor="t">
            <a:spAutoFit/>
          </a:bodyPr>
          <a:lstStyle/>
          <a:p>
            <a:pPr algn="l">
              <a:spcAft>
                <a:spcPts val="400"/>
              </a:spcAft>
            </a:pPr>
            <a:r>
              <a:rPr sz="1150" b="1">
                <a:solidFill>
                  <a:srgbClr val="EC711E"/>
                </a:solidFill>
                <a:latin typeface="Arial"/>
              </a:rPr>
              <a:t>WHY IT MATTERS</a:t>
            </a:r>
          </a:p>
        </p:txBody>
      </p:sp>
      <p:sp>
        <p:nvSpPr>
          <p:cNvPr id="14" name="TextBox 13"/>
          <p:cNvSpPr txBox="1"/>
          <p:nvPr/>
        </p:nvSpPr>
        <p:spPr>
          <a:xfrm>
            <a:off x="6428232" y="2221992"/>
            <a:ext cx="4782312" cy="822960"/>
          </a:xfrm>
          <a:prstGeom prst="rect">
            <a:avLst/>
          </a:prstGeom>
          <a:noFill/>
        </p:spPr>
        <p:txBody>
          <a:bodyPr wrap="square" anchor="t">
            <a:spAutoFit/>
          </a:bodyPr>
          <a:lstStyle/>
          <a:p>
            <a:pPr algn="l">
              <a:spcAft>
                <a:spcPts val="400"/>
              </a:spcAft>
            </a:pPr>
            <a:r>
              <a:rPr sz="1250" b="0">
                <a:solidFill>
                  <a:srgbClr val="161B26"/>
                </a:solidFill>
                <a:latin typeface="Arial"/>
              </a:rPr>
              <a:t>Some incidents need a workflow, not a single action — orchestration gives reliable, observable, multi-step recovery.</a:t>
            </a:r>
          </a:p>
        </p:txBody>
      </p:sp>
      <p:sp>
        <p:nvSpPr>
          <p:cNvPr id="15" name="Rectangle 14"/>
          <p:cNvSpPr/>
          <p:nvPr/>
        </p:nvSpPr>
        <p:spPr>
          <a:xfrm>
            <a:off x="6172200" y="3246120"/>
            <a:ext cx="5239512" cy="1325880"/>
          </a:xfrm>
          <a:prstGeom prst="rect">
            <a:avLst/>
          </a:prstGeom>
          <a:solidFill>
            <a:srgbClr val="FFFFFF"/>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ectangle 15"/>
          <p:cNvSpPr/>
          <p:nvPr/>
        </p:nvSpPr>
        <p:spPr>
          <a:xfrm>
            <a:off x="6172200" y="3246120"/>
            <a:ext cx="91440" cy="1325880"/>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6428232" y="3355848"/>
            <a:ext cx="4782312" cy="320040"/>
          </a:xfrm>
          <a:prstGeom prst="rect">
            <a:avLst/>
          </a:prstGeom>
          <a:noFill/>
        </p:spPr>
        <p:txBody>
          <a:bodyPr wrap="square" anchor="t">
            <a:spAutoFit/>
          </a:bodyPr>
          <a:lstStyle/>
          <a:p>
            <a:pPr algn="l">
              <a:spcAft>
                <a:spcPts val="400"/>
              </a:spcAft>
            </a:pPr>
            <a:r>
              <a:rPr sz="1150" b="1">
                <a:solidFill>
                  <a:srgbClr val="C0392B"/>
                </a:solidFill>
                <a:latin typeface="Arial"/>
              </a:rPr>
              <a:t>FAILURE MODE</a:t>
            </a:r>
          </a:p>
        </p:txBody>
      </p:sp>
      <p:sp>
        <p:nvSpPr>
          <p:cNvPr id="18" name="TextBox 17"/>
          <p:cNvSpPr txBox="1"/>
          <p:nvPr/>
        </p:nvSpPr>
        <p:spPr>
          <a:xfrm>
            <a:off x="6428232" y="3685032"/>
            <a:ext cx="4782312" cy="822960"/>
          </a:xfrm>
          <a:prstGeom prst="rect">
            <a:avLst/>
          </a:prstGeom>
          <a:noFill/>
        </p:spPr>
        <p:txBody>
          <a:bodyPr wrap="square" anchor="t">
            <a:spAutoFit/>
          </a:bodyPr>
          <a:lstStyle/>
          <a:p>
            <a:pPr algn="l">
              <a:spcAft>
                <a:spcPts val="400"/>
              </a:spcAft>
            </a:pPr>
            <a:r>
              <a:rPr sz="1250" b="0">
                <a:solidFill>
                  <a:srgbClr val="161B26"/>
                </a:solidFill>
                <a:latin typeface="Arial"/>
              </a:rPr>
              <a:t>A tangle of Lambdas invoking Lambdas becomes impossible to trace or safely modify.</a:t>
            </a:r>
          </a:p>
        </p:txBody>
      </p:sp>
      <p:sp>
        <p:nvSpPr>
          <p:cNvPr id="19" name="Rectangle 18"/>
          <p:cNvSpPr/>
          <p:nvPr/>
        </p:nvSpPr>
        <p:spPr>
          <a:xfrm>
            <a:off x="6172200" y="4709160"/>
            <a:ext cx="5239512" cy="1325880"/>
          </a:xfrm>
          <a:prstGeom prst="rect">
            <a:avLst/>
          </a:prstGeom>
          <a:solidFill>
            <a:srgbClr val="FFFFFF"/>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Rectangle 19"/>
          <p:cNvSpPr/>
          <p:nvPr/>
        </p:nvSpPr>
        <p:spPr>
          <a:xfrm>
            <a:off x="6172200" y="4709160"/>
            <a:ext cx="91440" cy="1325880"/>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6428232" y="4818888"/>
            <a:ext cx="4782312" cy="320040"/>
          </a:xfrm>
          <a:prstGeom prst="rect">
            <a:avLst/>
          </a:prstGeom>
          <a:noFill/>
        </p:spPr>
        <p:txBody>
          <a:bodyPr wrap="square" anchor="t">
            <a:spAutoFit/>
          </a:bodyPr>
          <a:lstStyle/>
          <a:p>
            <a:pPr algn="l">
              <a:spcAft>
                <a:spcPts val="400"/>
              </a:spcAft>
            </a:pPr>
            <a:r>
              <a:rPr sz="1150" b="1">
                <a:solidFill>
                  <a:srgbClr val="F59E0B"/>
                </a:solidFill>
                <a:latin typeface="Arial"/>
              </a:rPr>
              <a:t>TRADE-OFF / DECISION</a:t>
            </a:r>
          </a:p>
        </p:txBody>
      </p:sp>
      <p:sp>
        <p:nvSpPr>
          <p:cNvPr id="22" name="TextBox 21"/>
          <p:cNvSpPr txBox="1"/>
          <p:nvPr/>
        </p:nvSpPr>
        <p:spPr>
          <a:xfrm>
            <a:off x="6428232" y="5148072"/>
            <a:ext cx="4782312" cy="822960"/>
          </a:xfrm>
          <a:prstGeom prst="rect">
            <a:avLst/>
          </a:prstGeom>
          <a:noFill/>
        </p:spPr>
        <p:txBody>
          <a:bodyPr wrap="square" anchor="t">
            <a:spAutoFit/>
          </a:bodyPr>
          <a:lstStyle/>
          <a:p>
            <a:pPr algn="l">
              <a:spcAft>
                <a:spcPts val="400"/>
              </a:spcAft>
            </a:pPr>
            <a:r>
              <a:rPr sz="1250" b="0">
                <a:solidFill>
                  <a:srgbClr val="161B26"/>
                </a:solidFill>
                <a:latin typeface="Arial"/>
              </a:rPr>
              <a:t>Orchestration adds a service to design and cost, justified when the response has real branching and steps.</a:t>
            </a:r>
          </a:p>
        </p:txBody>
      </p:sp>
      <p:sp>
        <p:nvSpPr>
          <p:cNvPr id="23" name="TextBox 22"/>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DevOps Engineering on AWS  ·  TGS-2023040474</a:t>
            </a:r>
          </a:p>
        </p:txBody>
      </p:sp>
      <p:sp>
        <p:nvSpPr>
          <p:cNvPr id="24" name="TextBox 23"/>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25" name="TextBox 24"/>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175</a:t>
            </a:r>
          </a:p>
        </p:txBody>
      </p:sp>
    </p:spTree>
  </p:cSld>
  <p:clrMapOvr>
    <a:masterClrMapping/>
  </p:clrMapOvr>
  <p:transition xmlns:p14="http://schemas.microsoft.com/office/powerpoint/2010/main" p14:dur="380">
    <p:fade/>
  </p:transition>
</p:sld>
</file>

<file path=ppt/slides/slide17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EC711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38912"/>
            <a:ext cx="10607040" cy="365760"/>
          </a:xfrm>
          <a:prstGeom prst="rect">
            <a:avLst/>
          </a:prstGeom>
          <a:noFill/>
        </p:spPr>
        <p:txBody>
          <a:bodyPr wrap="square" anchor="t">
            <a:spAutoFit/>
          </a:bodyPr>
          <a:lstStyle/>
          <a:p>
            <a:pPr algn="l">
              <a:spcAft>
                <a:spcPts val="400"/>
              </a:spcAft>
            </a:pPr>
            <a:r>
              <a:rPr sz="1400" b="1">
                <a:solidFill>
                  <a:srgbClr val="EC711E"/>
                </a:solidFill>
                <a:latin typeface="Arial"/>
              </a:rPr>
              <a:t>CODIFYING THE RESPONSE</a:t>
            </a:r>
          </a:p>
        </p:txBody>
      </p:sp>
      <p:sp>
        <p:nvSpPr>
          <p:cNvPr id="5" name="TextBox 4"/>
          <p:cNvSpPr txBox="1"/>
          <p:nvPr/>
        </p:nvSpPr>
        <p:spPr>
          <a:xfrm>
            <a:off x="777240" y="896112"/>
            <a:ext cx="10927080" cy="731520"/>
          </a:xfrm>
          <a:prstGeom prst="rect">
            <a:avLst/>
          </a:prstGeom>
          <a:noFill/>
        </p:spPr>
        <p:txBody>
          <a:bodyPr wrap="square" anchor="t">
            <a:spAutoFit/>
          </a:bodyPr>
          <a:lstStyle/>
          <a:p>
            <a:pPr algn="l">
              <a:spcAft>
                <a:spcPts val="400"/>
              </a:spcAft>
            </a:pPr>
            <a:r>
              <a:rPr sz="2500" b="1">
                <a:solidFill>
                  <a:srgbClr val="161B26"/>
                </a:solidFill>
                <a:latin typeface="Arial"/>
              </a:rPr>
              <a:t>Runbook vs Playbook — Know the Difference</a:t>
            </a:r>
          </a:p>
        </p:txBody>
      </p:sp>
      <p:sp>
        <p:nvSpPr>
          <p:cNvPr id="6" name="Rectangle 5"/>
          <p:cNvSpPr/>
          <p:nvPr/>
        </p:nvSpPr>
        <p:spPr>
          <a:xfrm>
            <a:off x="777240" y="1572768"/>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783080"/>
            <a:ext cx="2126894" cy="502920"/>
          </a:xfrm>
          <a:prstGeom prst="rect">
            <a:avLst/>
          </a:prstGeom>
          <a:solidFill>
            <a:srgbClr val="EC711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886968" y="1783080"/>
            <a:ext cx="1944014" cy="502920"/>
          </a:xfrm>
          <a:prstGeom prst="rect">
            <a:avLst/>
          </a:prstGeom>
          <a:noFill/>
        </p:spPr>
        <p:txBody>
          <a:bodyPr wrap="square" anchor="ctr">
            <a:spAutoFit/>
          </a:bodyPr>
          <a:lstStyle/>
          <a:p>
            <a:pPr algn="l">
              <a:spcAft>
                <a:spcPts val="400"/>
              </a:spcAft>
            </a:pPr>
            <a:r>
              <a:rPr sz="1400" b="1">
                <a:solidFill>
                  <a:srgbClr val="FFFFFF"/>
                </a:solidFill>
                <a:latin typeface="Arial"/>
              </a:rPr>
              <a:t>Aspect</a:t>
            </a:r>
          </a:p>
        </p:txBody>
      </p:sp>
      <p:sp>
        <p:nvSpPr>
          <p:cNvPr id="9" name="Rectangle 8"/>
          <p:cNvSpPr/>
          <p:nvPr/>
        </p:nvSpPr>
        <p:spPr>
          <a:xfrm>
            <a:off x="2904134" y="1783080"/>
            <a:ext cx="4253788" cy="502920"/>
          </a:xfrm>
          <a:prstGeom prst="rect">
            <a:avLst/>
          </a:prstGeom>
          <a:solidFill>
            <a:srgbClr val="EC711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3013862" y="1783080"/>
            <a:ext cx="4070908" cy="502920"/>
          </a:xfrm>
          <a:prstGeom prst="rect">
            <a:avLst/>
          </a:prstGeom>
          <a:noFill/>
        </p:spPr>
        <p:txBody>
          <a:bodyPr wrap="square" anchor="ctr">
            <a:spAutoFit/>
          </a:bodyPr>
          <a:lstStyle/>
          <a:p>
            <a:pPr algn="ctr">
              <a:spcAft>
                <a:spcPts val="400"/>
              </a:spcAft>
            </a:pPr>
            <a:r>
              <a:rPr sz="1400" b="1">
                <a:solidFill>
                  <a:srgbClr val="FFFFFF"/>
                </a:solidFill>
                <a:latin typeface="Arial"/>
              </a:rPr>
              <a:t>Runbook</a:t>
            </a:r>
          </a:p>
        </p:txBody>
      </p:sp>
      <p:sp>
        <p:nvSpPr>
          <p:cNvPr id="11" name="Rectangle 10"/>
          <p:cNvSpPr/>
          <p:nvPr/>
        </p:nvSpPr>
        <p:spPr>
          <a:xfrm>
            <a:off x="7157922" y="1783080"/>
            <a:ext cx="4253788" cy="502920"/>
          </a:xfrm>
          <a:prstGeom prst="rect">
            <a:avLst/>
          </a:prstGeom>
          <a:solidFill>
            <a:srgbClr val="EC711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7267650" y="1783080"/>
            <a:ext cx="4070908" cy="502920"/>
          </a:xfrm>
          <a:prstGeom prst="rect">
            <a:avLst/>
          </a:prstGeom>
          <a:noFill/>
        </p:spPr>
        <p:txBody>
          <a:bodyPr wrap="square" anchor="ctr">
            <a:spAutoFit/>
          </a:bodyPr>
          <a:lstStyle/>
          <a:p>
            <a:pPr algn="ctr">
              <a:spcAft>
                <a:spcPts val="400"/>
              </a:spcAft>
            </a:pPr>
            <a:r>
              <a:rPr sz="1400" b="1">
                <a:solidFill>
                  <a:srgbClr val="FFFFFF"/>
                </a:solidFill>
                <a:latin typeface="Arial"/>
              </a:rPr>
              <a:t>Playbook</a:t>
            </a:r>
          </a:p>
        </p:txBody>
      </p:sp>
      <p:sp>
        <p:nvSpPr>
          <p:cNvPr id="13" name="Rectangle 12"/>
          <p:cNvSpPr/>
          <p:nvPr/>
        </p:nvSpPr>
        <p:spPr>
          <a:xfrm>
            <a:off x="777240" y="2286000"/>
            <a:ext cx="2126894" cy="822960"/>
          </a:xfrm>
          <a:prstGeom prst="rect">
            <a:avLst/>
          </a:prstGeom>
          <a:solidFill>
            <a:srgbClr val="F5F8FC"/>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886968" y="2286000"/>
            <a:ext cx="1944014" cy="822960"/>
          </a:xfrm>
          <a:prstGeom prst="rect">
            <a:avLst/>
          </a:prstGeom>
          <a:noFill/>
        </p:spPr>
        <p:txBody>
          <a:bodyPr wrap="square" anchor="ctr">
            <a:spAutoFit/>
          </a:bodyPr>
          <a:lstStyle/>
          <a:p>
            <a:pPr algn="l">
              <a:spcAft>
                <a:spcPts val="400"/>
              </a:spcAft>
            </a:pPr>
            <a:r>
              <a:rPr sz="1250" b="1">
                <a:solidFill>
                  <a:srgbClr val="161B26"/>
                </a:solidFill>
                <a:latin typeface="Arial"/>
              </a:rPr>
              <a:t>Scope</a:t>
            </a:r>
          </a:p>
        </p:txBody>
      </p:sp>
      <p:sp>
        <p:nvSpPr>
          <p:cNvPr id="15" name="Rectangle 14"/>
          <p:cNvSpPr/>
          <p:nvPr/>
        </p:nvSpPr>
        <p:spPr>
          <a:xfrm>
            <a:off x="2904134" y="2286000"/>
            <a:ext cx="4253788" cy="822960"/>
          </a:xfrm>
          <a:prstGeom prst="rect">
            <a:avLst/>
          </a:prstGeom>
          <a:solidFill>
            <a:srgbClr val="F5F8FC"/>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3013862" y="2286000"/>
            <a:ext cx="4070908" cy="822960"/>
          </a:xfrm>
          <a:prstGeom prst="rect">
            <a:avLst/>
          </a:prstGeom>
          <a:noFill/>
        </p:spPr>
        <p:txBody>
          <a:bodyPr wrap="square" anchor="ctr">
            <a:spAutoFit/>
          </a:bodyPr>
          <a:lstStyle/>
          <a:p>
            <a:pPr algn="ctr">
              <a:spcAft>
                <a:spcPts val="400"/>
              </a:spcAft>
            </a:pPr>
            <a:r>
              <a:rPr sz="1250" b="0">
                <a:solidFill>
                  <a:srgbClr val="5B6372"/>
                </a:solidFill>
                <a:latin typeface="Arial"/>
              </a:rPr>
              <a:t>One known, repeatable fix</a:t>
            </a:r>
          </a:p>
        </p:txBody>
      </p:sp>
      <p:sp>
        <p:nvSpPr>
          <p:cNvPr id="17" name="Rectangle 16"/>
          <p:cNvSpPr/>
          <p:nvPr/>
        </p:nvSpPr>
        <p:spPr>
          <a:xfrm>
            <a:off x="7157922" y="2286000"/>
            <a:ext cx="4253788" cy="822960"/>
          </a:xfrm>
          <a:prstGeom prst="rect">
            <a:avLst/>
          </a:prstGeom>
          <a:solidFill>
            <a:srgbClr val="F5F8FC"/>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7267650" y="2286000"/>
            <a:ext cx="4070908" cy="822960"/>
          </a:xfrm>
          <a:prstGeom prst="rect">
            <a:avLst/>
          </a:prstGeom>
          <a:noFill/>
        </p:spPr>
        <p:txBody>
          <a:bodyPr wrap="square" anchor="ctr">
            <a:spAutoFit/>
          </a:bodyPr>
          <a:lstStyle/>
          <a:p>
            <a:pPr algn="ctr">
              <a:spcAft>
                <a:spcPts val="400"/>
              </a:spcAft>
            </a:pPr>
            <a:r>
              <a:rPr sz="1250" b="0">
                <a:solidFill>
                  <a:srgbClr val="5B6372"/>
                </a:solidFill>
                <a:latin typeface="Arial"/>
              </a:rPr>
              <a:t>Broader incident guidance</a:t>
            </a:r>
          </a:p>
        </p:txBody>
      </p:sp>
      <p:sp>
        <p:nvSpPr>
          <p:cNvPr id="19" name="Rectangle 18"/>
          <p:cNvSpPr/>
          <p:nvPr/>
        </p:nvSpPr>
        <p:spPr>
          <a:xfrm>
            <a:off x="777240" y="3108960"/>
            <a:ext cx="2126894" cy="822960"/>
          </a:xfrm>
          <a:prstGeom prst="rect">
            <a:avLst/>
          </a:prstGeom>
          <a:solidFill>
            <a:srgbClr val="FFFFFF"/>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886968" y="3108960"/>
            <a:ext cx="1944014" cy="822960"/>
          </a:xfrm>
          <a:prstGeom prst="rect">
            <a:avLst/>
          </a:prstGeom>
          <a:noFill/>
        </p:spPr>
        <p:txBody>
          <a:bodyPr wrap="square" anchor="ctr">
            <a:spAutoFit/>
          </a:bodyPr>
          <a:lstStyle/>
          <a:p>
            <a:pPr algn="l">
              <a:spcAft>
                <a:spcPts val="400"/>
              </a:spcAft>
            </a:pPr>
            <a:r>
              <a:rPr sz="1250" b="1">
                <a:solidFill>
                  <a:srgbClr val="161B26"/>
                </a:solidFill>
                <a:latin typeface="Arial"/>
              </a:rPr>
              <a:t>Form</a:t>
            </a:r>
          </a:p>
        </p:txBody>
      </p:sp>
      <p:sp>
        <p:nvSpPr>
          <p:cNvPr id="21" name="Rectangle 20"/>
          <p:cNvSpPr/>
          <p:nvPr/>
        </p:nvSpPr>
        <p:spPr>
          <a:xfrm>
            <a:off x="2904134" y="3108960"/>
            <a:ext cx="4253788" cy="822960"/>
          </a:xfrm>
          <a:prstGeom prst="rect">
            <a:avLst/>
          </a:prstGeom>
          <a:solidFill>
            <a:srgbClr val="FFFFFF"/>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3013862" y="3108960"/>
            <a:ext cx="4070908" cy="822960"/>
          </a:xfrm>
          <a:prstGeom prst="rect">
            <a:avLst/>
          </a:prstGeom>
          <a:noFill/>
        </p:spPr>
        <p:txBody>
          <a:bodyPr wrap="square" anchor="ctr">
            <a:spAutoFit/>
          </a:bodyPr>
          <a:lstStyle/>
          <a:p>
            <a:pPr algn="ctr">
              <a:spcAft>
                <a:spcPts val="400"/>
              </a:spcAft>
            </a:pPr>
            <a:r>
              <a:rPr sz="1250" b="0">
                <a:solidFill>
                  <a:srgbClr val="5B6372"/>
                </a:solidFill>
                <a:latin typeface="Arial"/>
              </a:rPr>
              <a:t>Often automated (SSM Automation)</a:t>
            </a:r>
          </a:p>
        </p:txBody>
      </p:sp>
      <p:sp>
        <p:nvSpPr>
          <p:cNvPr id="23" name="Rectangle 22"/>
          <p:cNvSpPr/>
          <p:nvPr/>
        </p:nvSpPr>
        <p:spPr>
          <a:xfrm>
            <a:off x="7157922" y="3108960"/>
            <a:ext cx="4253788" cy="822960"/>
          </a:xfrm>
          <a:prstGeom prst="rect">
            <a:avLst/>
          </a:prstGeom>
          <a:solidFill>
            <a:srgbClr val="FFFFFF"/>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7267650" y="3108960"/>
            <a:ext cx="4070908" cy="822960"/>
          </a:xfrm>
          <a:prstGeom prst="rect">
            <a:avLst/>
          </a:prstGeom>
          <a:noFill/>
        </p:spPr>
        <p:txBody>
          <a:bodyPr wrap="square" anchor="ctr">
            <a:spAutoFit/>
          </a:bodyPr>
          <a:lstStyle/>
          <a:p>
            <a:pPr algn="ctr">
              <a:spcAft>
                <a:spcPts val="400"/>
              </a:spcAft>
            </a:pPr>
            <a:r>
              <a:rPr sz="1250" b="0">
                <a:solidFill>
                  <a:srgbClr val="5B6372"/>
                </a:solidFill>
                <a:latin typeface="Arial"/>
              </a:rPr>
              <a:t>Human roles, comms, decisions</a:t>
            </a:r>
          </a:p>
        </p:txBody>
      </p:sp>
      <p:sp>
        <p:nvSpPr>
          <p:cNvPr id="25" name="Rectangle 24"/>
          <p:cNvSpPr/>
          <p:nvPr/>
        </p:nvSpPr>
        <p:spPr>
          <a:xfrm>
            <a:off x="777240" y="3931920"/>
            <a:ext cx="2126894" cy="822960"/>
          </a:xfrm>
          <a:prstGeom prst="rect">
            <a:avLst/>
          </a:prstGeom>
          <a:solidFill>
            <a:srgbClr val="F5F8FC"/>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886968" y="3931920"/>
            <a:ext cx="1944014" cy="822960"/>
          </a:xfrm>
          <a:prstGeom prst="rect">
            <a:avLst/>
          </a:prstGeom>
          <a:noFill/>
        </p:spPr>
        <p:txBody>
          <a:bodyPr wrap="square" anchor="ctr">
            <a:spAutoFit/>
          </a:bodyPr>
          <a:lstStyle/>
          <a:p>
            <a:pPr algn="l">
              <a:spcAft>
                <a:spcPts val="400"/>
              </a:spcAft>
            </a:pPr>
            <a:r>
              <a:rPr sz="1250" b="1">
                <a:solidFill>
                  <a:srgbClr val="161B26"/>
                </a:solidFill>
                <a:latin typeface="Arial"/>
              </a:rPr>
              <a:t>Best for</a:t>
            </a:r>
          </a:p>
        </p:txBody>
      </p:sp>
      <p:sp>
        <p:nvSpPr>
          <p:cNvPr id="27" name="Rectangle 26"/>
          <p:cNvSpPr/>
          <p:nvPr/>
        </p:nvSpPr>
        <p:spPr>
          <a:xfrm>
            <a:off x="2904134" y="3931920"/>
            <a:ext cx="4253788" cy="822960"/>
          </a:xfrm>
          <a:prstGeom prst="rect">
            <a:avLst/>
          </a:prstGeom>
          <a:solidFill>
            <a:srgbClr val="F5F8FC"/>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3013862" y="3931920"/>
            <a:ext cx="4070908" cy="822960"/>
          </a:xfrm>
          <a:prstGeom prst="rect">
            <a:avLst/>
          </a:prstGeom>
          <a:noFill/>
        </p:spPr>
        <p:txBody>
          <a:bodyPr wrap="square" anchor="ctr">
            <a:spAutoFit/>
          </a:bodyPr>
          <a:lstStyle/>
          <a:p>
            <a:pPr algn="ctr">
              <a:spcAft>
                <a:spcPts val="400"/>
              </a:spcAft>
            </a:pPr>
            <a:r>
              <a:rPr sz="1250" b="0">
                <a:solidFill>
                  <a:srgbClr val="5B6372"/>
                </a:solidFill>
                <a:latin typeface="Arial"/>
              </a:rPr>
              <a:t>'Disk full → expand volume'</a:t>
            </a:r>
          </a:p>
        </p:txBody>
      </p:sp>
      <p:sp>
        <p:nvSpPr>
          <p:cNvPr id="29" name="Rectangle 28"/>
          <p:cNvSpPr/>
          <p:nvPr/>
        </p:nvSpPr>
        <p:spPr>
          <a:xfrm>
            <a:off x="7157922" y="3931920"/>
            <a:ext cx="4253788" cy="822960"/>
          </a:xfrm>
          <a:prstGeom prst="rect">
            <a:avLst/>
          </a:prstGeom>
          <a:solidFill>
            <a:srgbClr val="F5F8FC"/>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7267650" y="3931920"/>
            <a:ext cx="4070908" cy="822960"/>
          </a:xfrm>
          <a:prstGeom prst="rect">
            <a:avLst/>
          </a:prstGeom>
          <a:noFill/>
        </p:spPr>
        <p:txBody>
          <a:bodyPr wrap="square" anchor="ctr">
            <a:spAutoFit/>
          </a:bodyPr>
          <a:lstStyle/>
          <a:p>
            <a:pPr algn="ctr">
              <a:spcAft>
                <a:spcPts val="400"/>
              </a:spcAft>
            </a:pPr>
            <a:r>
              <a:rPr sz="1250" b="0">
                <a:solidFill>
                  <a:srgbClr val="5B6372"/>
                </a:solidFill>
                <a:latin typeface="Arial"/>
              </a:rPr>
              <a:t>Novel or major incidents</a:t>
            </a:r>
          </a:p>
        </p:txBody>
      </p:sp>
      <p:sp>
        <p:nvSpPr>
          <p:cNvPr id="31" name="Rectangle 30"/>
          <p:cNvSpPr/>
          <p:nvPr/>
        </p:nvSpPr>
        <p:spPr>
          <a:xfrm>
            <a:off x="777240" y="4754880"/>
            <a:ext cx="2126894" cy="822960"/>
          </a:xfrm>
          <a:prstGeom prst="rect">
            <a:avLst/>
          </a:prstGeom>
          <a:solidFill>
            <a:srgbClr val="FFFFFF"/>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TextBox 31"/>
          <p:cNvSpPr txBox="1"/>
          <p:nvPr/>
        </p:nvSpPr>
        <p:spPr>
          <a:xfrm>
            <a:off x="886968" y="4754880"/>
            <a:ext cx="1944014" cy="822960"/>
          </a:xfrm>
          <a:prstGeom prst="rect">
            <a:avLst/>
          </a:prstGeom>
          <a:noFill/>
        </p:spPr>
        <p:txBody>
          <a:bodyPr wrap="square" anchor="ctr">
            <a:spAutoFit/>
          </a:bodyPr>
          <a:lstStyle/>
          <a:p>
            <a:pPr algn="l">
              <a:spcAft>
                <a:spcPts val="400"/>
              </a:spcAft>
            </a:pPr>
            <a:r>
              <a:rPr sz="1250" b="1">
                <a:solidFill>
                  <a:srgbClr val="161B26"/>
                </a:solidFill>
                <a:latin typeface="Arial"/>
              </a:rPr>
              <a:t>Outcome</a:t>
            </a:r>
          </a:p>
        </p:txBody>
      </p:sp>
      <p:sp>
        <p:nvSpPr>
          <p:cNvPr id="33" name="Rectangle 32"/>
          <p:cNvSpPr/>
          <p:nvPr/>
        </p:nvSpPr>
        <p:spPr>
          <a:xfrm>
            <a:off x="2904134" y="4754880"/>
            <a:ext cx="4253788" cy="822960"/>
          </a:xfrm>
          <a:prstGeom prst="rect">
            <a:avLst/>
          </a:prstGeom>
          <a:solidFill>
            <a:srgbClr val="FFFFFF"/>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TextBox 33"/>
          <p:cNvSpPr txBox="1"/>
          <p:nvPr/>
        </p:nvSpPr>
        <p:spPr>
          <a:xfrm>
            <a:off x="3013862" y="4754880"/>
            <a:ext cx="4070908" cy="822960"/>
          </a:xfrm>
          <a:prstGeom prst="rect">
            <a:avLst/>
          </a:prstGeom>
          <a:noFill/>
        </p:spPr>
        <p:txBody>
          <a:bodyPr wrap="square" anchor="ctr">
            <a:spAutoFit/>
          </a:bodyPr>
          <a:lstStyle/>
          <a:p>
            <a:pPr algn="ctr">
              <a:spcAft>
                <a:spcPts val="400"/>
              </a:spcAft>
            </a:pPr>
            <a:r>
              <a:rPr sz="1250" b="0">
                <a:solidFill>
                  <a:srgbClr val="5B6372"/>
                </a:solidFill>
                <a:latin typeface="Arial"/>
              </a:rPr>
              <a:t>Fast, consistent auto-recovery</a:t>
            </a:r>
          </a:p>
        </p:txBody>
      </p:sp>
      <p:sp>
        <p:nvSpPr>
          <p:cNvPr id="35" name="Rectangle 34"/>
          <p:cNvSpPr/>
          <p:nvPr/>
        </p:nvSpPr>
        <p:spPr>
          <a:xfrm>
            <a:off x="7157922" y="4754880"/>
            <a:ext cx="4253788" cy="822960"/>
          </a:xfrm>
          <a:prstGeom prst="rect">
            <a:avLst/>
          </a:prstGeom>
          <a:solidFill>
            <a:srgbClr val="FFFFFF"/>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TextBox 35"/>
          <p:cNvSpPr txBox="1"/>
          <p:nvPr/>
        </p:nvSpPr>
        <p:spPr>
          <a:xfrm>
            <a:off x="7267650" y="4754880"/>
            <a:ext cx="4070908" cy="822960"/>
          </a:xfrm>
          <a:prstGeom prst="rect">
            <a:avLst/>
          </a:prstGeom>
          <a:noFill/>
        </p:spPr>
        <p:txBody>
          <a:bodyPr wrap="square" anchor="ctr">
            <a:spAutoFit/>
          </a:bodyPr>
          <a:lstStyle/>
          <a:p>
            <a:pPr algn="ctr">
              <a:spcAft>
                <a:spcPts val="400"/>
              </a:spcAft>
            </a:pPr>
            <a:r>
              <a:rPr sz="1250" b="0">
                <a:solidFill>
                  <a:srgbClr val="5B6372"/>
                </a:solidFill>
                <a:latin typeface="Arial"/>
              </a:rPr>
              <a:t>Coordinated human response</a:t>
            </a:r>
          </a:p>
        </p:txBody>
      </p:sp>
      <p:sp>
        <p:nvSpPr>
          <p:cNvPr id="37" name="TextBox 36"/>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DevOps Engineering on AWS  ·  TGS-2023040474</a:t>
            </a:r>
          </a:p>
        </p:txBody>
      </p:sp>
      <p:sp>
        <p:nvSpPr>
          <p:cNvPr id="38" name="TextBox 37"/>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39" name="TextBox 38"/>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176</a:t>
            </a:r>
          </a:p>
        </p:txBody>
      </p:sp>
    </p:spTree>
  </p:cSld>
  <p:clrMapOvr>
    <a:masterClrMapping/>
  </p:clrMapOvr>
  <p:transition xmlns:p14="http://schemas.microsoft.com/office/powerpoint/2010/main" p14:dur="380">
    <p:fade/>
  </p:transition>
</p:sld>
</file>

<file path=ppt/slides/slide17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EC711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38912"/>
            <a:ext cx="10607040" cy="365760"/>
          </a:xfrm>
          <a:prstGeom prst="rect">
            <a:avLst/>
          </a:prstGeom>
          <a:noFill/>
        </p:spPr>
        <p:txBody>
          <a:bodyPr wrap="square" anchor="t">
            <a:spAutoFit/>
          </a:bodyPr>
          <a:lstStyle/>
          <a:p>
            <a:pPr algn="l">
              <a:spcAft>
                <a:spcPts val="400"/>
              </a:spcAft>
            </a:pPr>
            <a:r>
              <a:rPr sz="1400" b="1">
                <a:solidFill>
                  <a:srgbClr val="EC711E"/>
                </a:solidFill>
                <a:latin typeface="Arial"/>
              </a:rPr>
              <a:t>WHY AUTOMATE RESPONSE</a:t>
            </a:r>
          </a:p>
        </p:txBody>
      </p:sp>
      <p:sp>
        <p:nvSpPr>
          <p:cNvPr id="5" name="TextBox 4"/>
          <p:cNvSpPr txBox="1"/>
          <p:nvPr/>
        </p:nvSpPr>
        <p:spPr>
          <a:xfrm>
            <a:off x="777240" y="804672"/>
            <a:ext cx="10927080" cy="731520"/>
          </a:xfrm>
          <a:prstGeom prst="rect">
            <a:avLst/>
          </a:prstGeom>
          <a:noFill/>
        </p:spPr>
        <p:txBody>
          <a:bodyPr wrap="square" anchor="t">
            <a:spAutoFit/>
          </a:bodyPr>
          <a:lstStyle/>
          <a:p>
            <a:pPr algn="l">
              <a:spcAft>
                <a:spcPts val="400"/>
              </a:spcAft>
            </a:pPr>
            <a:r>
              <a:rPr sz="2900" b="1">
                <a:solidFill>
                  <a:srgbClr val="161B26"/>
                </a:solidFill>
                <a:latin typeface="Arial"/>
              </a:rPr>
              <a:t>Automation Cuts MTTR Across Every Phase</a:t>
            </a:r>
          </a:p>
        </p:txBody>
      </p:sp>
      <p:sp>
        <p:nvSpPr>
          <p:cNvPr id="6" name="Rectangle 5"/>
          <p:cNvSpPr/>
          <p:nvPr/>
        </p:nvSpPr>
        <p:spPr>
          <a:xfrm>
            <a:off x="777240" y="1572768"/>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graphicFrame>
        <p:nvGraphicFramePr>
          <p:cNvPr id="7" name="Chart 6"/>
          <p:cNvGraphicFramePr>
            <a:graphicFrameLocks noGrp="1"/>
          </p:cNvGraphicFramePr>
          <p:nvPr/>
        </p:nvGraphicFramePr>
        <p:xfrm>
          <a:off x="777240" y="1828800"/>
          <a:ext cx="10634472" cy="3291840"/>
        </p:xfrm>
        <a:graphic>
          <a:graphicData uri="http://schemas.openxmlformats.org/drawingml/2006/chart">
            <c:chart xmlns:c="http://schemas.openxmlformats.org/drawingml/2006/chart" r:id="rId2"/>
          </a:graphicData>
        </a:graphic>
      </p:graphicFrame>
      <p:sp>
        <p:nvSpPr>
          <p:cNvPr id="8" name="Rectangle 7"/>
          <p:cNvSpPr/>
          <p:nvPr/>
        </p:nvSpPr>
        <p:spPr>
          <a:xfrm>
            <a:off x="777240" y="5349240"/>
            <a:ext cx="10634472" cy="86868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777240" y="5349240"/>
            <a:ext cx="91440" cy="868680"/>
          </a:xfrm>
          <a:prstGeom prst="rect">
            <a:avLst/>
          </a:prstGeom>
          <a:solidFill>
            <a:srgbClr val="EC711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005840" y="5440680"/>
            <a:ext cx="10241280" cy="320040"/>
          </a:xfrm>
          <a:prstGeom prst="rect">
            <a:avLst/>
          </a:prstGeom>
          <a:noFill/>
        </p:spPr>
        <p:txBody>
          <a:bodyPr wrap="square" anchor="t">
            <a:spAutoFit/>
          </a:bodyPr>
          <a:lstStyle/>
          <a:p>
            <a:pPr algn="l">
              <a:spcAft>
                <a:spcPts val="400"/>
              </a:spcAft>
            </a:pPr>
            <a:r>
              <a:rPr sz="1100" b="1">
                <a:solidFill>
                  <a:srgbClr val="EC711E"/>
                </a:solidFill>
                <a:latin typeface="Arial"/>
              </a:rPr>
              <a:t>WHAT THE DATA SHOWS</a:t>
            </a:r>
          </a:p>
        </p:txBody>
      </p:sp>
      <p:sp>
        <p:nvSpPr>
          <p:cNvPr id="11" name="TextBox 10"/>
          <p:cNvSpPr txBox="1"/>
          <p:nvPr/>
        </p:nvSpPr>
        <p:spPr>
          <a:xfrm>
            <a:off x="1005840" y="5742432"/>
            <a:ext cx="10241280" cy="457200"/>
          </a:xfrm>
          <a:prstGeom prst="rect">
            <a:avLst/>
          </a:prstGeom>
          <a:noFill/>
        </p:spPr>
        <p:txBody>
          <a:bodyPr wrap="square" anchor="t">
            <a:spAutoFit/>
          </a:bodyPr>
          <a:lstStyle/>
          <a:p>
            <a:pPr algn="l">
              <a:spcAft>
                <a:spcPts val="400"/>
              </a:spcAft>
            </a:pPr>
            <a:r>
              <a:rPr sz="1350" b="0">
                <a:solidFill>
                  <a:srgbClr val="161B26"/>
                </a:solidFill>
                <a:latin typeface="Arial"/>
              </a:rPr>
              <a:t>Event-driven automation collapses mean-time-to-recover from over an hour to a few minutes — most of the saving is in detection and remediation.</a:t>
            </a:r>
          </a:p>
        </p:txBody>
      </p:sp>
      <p:sp>
        <p:nvSpPr>
          <p:cNvPr id="12" name="TextBox 11"/>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DevOps Engineering on AWS  ·  TGS-2023040474</a:t>
            </a:r>
          </a:p>
        </p:txBody>
      </p:sp>
      <p:sp>
        <p:nvSpPr>
          <p:cNvPr id="13" name="TextBox 12"/>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4" name="TextBox 13"/>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177</a:t>
            </a:r>
          </a:p>
        </p:txBody>
      </p:sp>
    </p:spTree>
  </p:cSld>
  <p:clrMapOvr>
    <a:masterClrMapping/>
  </p:clrMapOvr>
  <p:transition xmlns:p14="http://schemas.microsoft.com/office/powerpoint/2010/main" p14:dur="380">
    <p:fade/>
  </p:transition>
</p:sld>
</file>

<file path=ppt/slides/slide17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EC711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38912"/>
            <a:ext cx="10607040" cy="365760"/>
          </a:xfrm>
          <a:prstGeom prst="rect">
            <a:avLst/>
          </a:prstGeom>
          <a:noFill/>
        </p:spPr>
        <p:txBody>
          <a:bodyPr wrap="square" anchor="t">
            <a:spAutoFit/>
          </a:bodyPr>
          <a:lstStyle/>
          <a:p>
            <a:pPr algn="l">
              <a:spcAft>
                <a:spcPts val="400"/>
              </a:spcAft>
            </a:pPr>
            <a:r>
              <a:rPr sz="1400" b="1">
                <a:solidFill>
                  <a:srgbClr val="EC711E"/>
                </a:solidFill>
                <a:latin typeface="Arial"/>
              </a:rPr>
              <a:t>WHAT SLOWS RECOVERY</a:t>
            </a:r>
          </a:p>
        </p:txBody>
      </p:sp>
      <p:sp>
        <p:nvSpPr>
          <p:cNvPr id="5" name="TextBox 4"/>
          <p:cNvSpPr txBox="1"/>
          <p:nvPr/>
        </p:nvSpPr>
        <p:spPr>
          <a:xfrm>
            <a:off x="777240" y="896112"/>
            <a:ext cx="10927080" cy="731520"/>
          </a:xfrm>
          <a:prstGeom prst="rect">
            <a:avLst/>
          </a:prstGeom>
          <a:noFill/>
        </p:spPr>
        <p:txBody>
          <a:bodyPr wrap="square" anchor="t">
            <a:spAutoFit/>
          </a:bodyPr>
          <a:lstStyle/>
          <a:p>
            <a:pPr algn="l">
              <a:spcAft>
                <a:spcPts val="400"/>
              </a:spcAft>
            </a:pPr>
            <a:r>
              <a:rPr sz="2500" b="1">
                <a:solidFill>
                  <a:srgbClr val="161B26"/>
                </a:solidFill>
                <a:latin typeface="Arial"/>
              </a:rPr>
              <a:t>Incident-Response Failure Modes &amp; Anti-Patterns</a:t>
            </a:r>
          </a:p>
        </p:txBody>
      </p:sp>
      <p:sp>
        <p:nvSpPr>
          <p:cNvPr id="6" name="Rectangle 5"/>
          <p:cNvSpPr/>
          <p:nvPr/>
        </p:nvSpPr>
        <p:spPr>
          <a:xfrm>
            <a:off x="777240" y="1572768"/>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783080"/>
            <a:ext cx="5180076" cy="131064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1783080"/>
            <a:ext cx="91440" cy="131064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1033272" y="2164080"/>
            <a:ext cx="548640" cy="548640"/>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033272" y="2164080"/>
            <a:ext cx="548640" cy="548640"/>
          </a:xfrm>
          <a:prstGeom prst="rect">
            <a:avLst/>
          </a:prstGeom>
          <a:noFill/>
        </p:spPr>
        <p:txBody>
          <a:bodyPr wrap="square" anchor="ctr">
            <a:spAutoFit/>
          </a:bodyPr>
          <a:lstStyle/>
          <a:p>
            <a:pPr algn="ctr">
              <a:spcAft>
                <a:spcPts val="400"/>
              </a:spcAft>
            </a:pPr>
            <a:r>
              <a:rPr sz="1800" b="1">
                <a:solidFill>
                  <a:srgbClr val="FFFFFF"/>
                </a:solidFill>
                <a:latin typeface="Arial"/>
              </a:rPr>
              <a:t>1</a:t>
            </a:r>
          </a:p>
        </p:txBody>
      </p:sp>
      <p:sp>
        <p:nvSpPr>
          <p:cNvPr id="11" name="TextBox 10"/>
          <p:cNvSpPr txBox="1"/>
          <p:nvPr/>
        </p:nvSpPr>
        <p:spPr>
          <a:xfrm>
            <a:off x="1764792" y="1892808"/>
            <a:ext cx="3973068" cy="1127760"/>
          </a:xfrm>
          <a:prstGeom prst="rect">
            <a:avLst/>
          </a:prstGeom>
          <a:noFill/>
        </p:spPr>
        <p:txBody>
          <a:bodyPr wrap="square" anchor="ctr">
            <a:spAutoFit/>
          </a:bodyPr>
          <a:lstStyle/>
          <a:p>
            <a:pPr algn="l">
              <a:spcAft>
                <a:spcPts val="300"/>
              </a:spcAft>
            </a:pPr>
            <a:r>
              <a:rPr sz="1500" b="1">
                <a:solidFill>
                  <a:srgbClr val="161B26"/>
                </a:solidFill>
                <a:latin typeface="Arial"/>
              </a:rPr>
              <a:t>Over-broad event patterns</a:t>
            </a:r>
          </a:p>
          <a:p>
            <a:pPr algn="l">
              <a:spcAft>
                <a:spcPts val="300"/>
              </a:spcAft>
            </a:pPr>
            <a:r>
              <a:rPr sz="1100" b="0">
                <a:solidFill>
                  <a:srgbClr val="5B6372"/>
                </a:solidFill>
                <a:latin typeface="Arial"/>
              </a:rPr>
              <a:t>Remediation on benign events → precise patterns, test them.</a:t>
            </a:r>
          </a:p>
        </p:txBody>
      </p:sp>
      <p:sp>
        <p:nvSpPr>
          <p:cNvPr id="12" name="Rectangle 11"/>
          <p:cNvSpPr/>
          <p:nvPr/>
        </p:nvSpPr>
        <p:spPr>
          <a:xfrm>
            <a:off x="6231636" y="1783080"/>
            <a:ext cx="5180076" cy="131064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6231636" y="1783080"/>
            <a:ext cx="91440" cy="131064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Oval 13"/>
          <p:cNvSpPr/>
          <p:nvPr/>
        </p:nvSpPr>
        <p:spPr>
          <a:xfrm>
            <a:off x="6487668" y="2164080"/>
            <a:ext cx="548640" cy="54864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6487668" y="2164080"/>
            <a:ext cx="548640" cy="548640"/>
          </a:xfrm>
          <a:prstGeom prst="rect">
            <a:avLst/>
          </a:prstGeom>
          <a:noFill/>
        </p:spPr>
        <p:txBody>
          <a:bodyPr wrap="square" anchor="ctr">
            <a:spAutoFit/>
          </a:bodyPr>
          <a:lstStyle/>
          <a:p>
            <a:pPr algn="ctr">
              <a:spcAft>
                <a:spcPts val="400"/>
              </a:spcAft>
            </a:pPr>
            <a:r>
              <a:rPr sz="1800" b="1">
                <a:solidFill>
                  <a:srgbClr val="FFFFFF"/>
                </a:solidFill>
                <a:latin typeface="Arial"/>
              </a:rPr>
              <a:t>2</a:t>
            </a:r>
          </a:p>
        </p:txBody>
      </p:sp>
      <p:sp>
        <p:nvSpPr>
          <p:cNvPr id="16" name="TextBox 15"/>
          <p:cNvSpPr txBox="1"/>
          <p:nvPr/>
        </p:nvSpPr>
        <p:spPr>
          <a:xfrm>
            <a:off x="7219188" y="1892808"/>
            <a:ext cx="3973068" cy="1127760"/>
          </a:xfrm>
          <a:prstGeom prst="rect">
            <a:avLst/>
          </a:prstGeom>
          <a:noFill/>
        </p:spPr>
        <p:txBody>
          <a:bodyPr wrap="square" anchor="ctr">
            <a:spAutoFit/>
          </a:bodyPr>
          <a:lstStyle/>
          <a:p>
            <a:pPr algn="l">
              <a:spcAft>
                <a:spcPts val="300"/>
              </a:spcAft>
            </a:pPr>
            <a:r>
              <a:rPr sz="1500" b="1">
                <a:solidFill>
                  <a:srgbClr val="161B26"/>
                </a:solidFill>
                <a:latin typeface="Arial"/>
              </a:rPr>
              <a:t>Notify-only, no automation</a:t>
            </a:r>
          </a:p>
          <a:p>
            <a:pPr algn="l">
              <a:spcAft>
                <a:spcPts val="300"/>
              </a:spcAft>
            </a:pPr>
            <a:r>
              <a:rPr sz="1100" b="0">
                <a:solidFill>
                  <a:srgbClr val="5B6372"/>
                </a:solidFill>
                <a:latin typeface="Arial"/>
              </a:rPr>
              <a:t>Recovery gated on human reaction → wire the fix.</a:t>
            </a:r>
          </a:p>
        </p:txBody>
      </p:sp>
      <p:sp>
        <p:nvSpPr>
          <p:cNvPr id="17" name="Rectangle 16"/>
          <p:cNvSpPr/>
          <p:nvPr/>
        </p:nvSpPr>
        <p:spPr>
          <a:xfrm>
            <a:off x="777240" y="3313176"/>
            <a:ext cx="5180076" cy="131064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777240" y="3313176"/>
            <a:ext cx="91440" cy="1310640"/>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Oval 18"/>
          <p:cNvSpPr/>
          <p:nvPr/>
        </p:nvSpPr>
        <p:spPr>
          <a:xfrm>
            <a:off x="1033272" y="3694176"/>
            <a:ext cx="548640" cy="548640"/>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1033272" y="3694176"/>
            <a:ext cx="548640" cy="548640"/>
          </a:xfrm>
          <a:prstGeom prst="rect">
            <a:avLst/>
          </a:prstGeom>
          <a:noFill/>
        </p:spPr>
        <p:txBody>
          <a:bodyPr wrap="square" anchor="ctr">
            <a:spAutoFit/>
          </a:bodyPr>
          <a:lstStyle/>
          <a:p>
            <a:pPr algn="ctr">
              <a:spcAft>
                <a:spcPts val="400"/>
              </a:spcAft>
            </a:pPr>
            <a:r>
              <a:rPr sz="1800" b="1">
                <a:solidFill>
                  <a:srgbClr val="FFFFFF"/>
                </a:solidFill>
                <a:latin typeface="Arial"/>
              </a:rPr>
              <a:t>3</a:t>
            </a:r>
          </a:p>
        </p:txBody>
      </p:sp>
      <p:sp>
        <p:nvSpPr>
          <p:cNvPr id="21" name="TextBox 20"/>
          <p:cNvSpPr txBox="1"/>
          <p:nvPr/>
        </p:nvSpPr>
        <p:spPr>
          <a:xfrm>
            <a:off x="1764792" y="3422904"/>
            <a:ext cx="3973068" cy="1127760"/>
          </a:xfrm>
          <a:prstGeom prst="rect">
            <a:avLst/>
          </a:prstGeom>
          <a:noFill/>
        </p:spPr>
        <p:txBody>
          <a:bodyPr wrap="square" anchor="ctr">
            <a:spAutoFit/>
          </a:bodyPr>
          <a:lstStyle/>
          <a:p>
            <a:pPr algn="l">
              <a:spcAft>
                <a:spcPts val="300"/>
              </a:spcAft>
            </a:pPr>
            <a:r>
              <a:rPr sz="1500" b="1">
                <a:solidFill>
                  <a:srgbClr val="161B26"/>
                </a:solidFill>
                <a:latin typeface="Arial"/>
              </a:rPr>
              <a:t>Unscoped remediation IAM</a:t>
            </a:r>
          </a:p>
          <a:p>
            <a:pPr algn="l">
              <a:spcAft>
                <a:spcPts val="300"/>
              </a:spcAft>
            </a:pPr>
            <a:r>
              <a:rPr sz="1100" b="0">
                <a:solidFill>
                  <a:srgbClr val="5B6372"/>
                </a:solidFill>
                <a:latin typeface="Arial"/>
              </a:rPr>
              <a:t>A bad event does damage → least-privilege action roles.</a:t>
            </a:r>
          </a:p>
        </p:txBody>
      </p:sp>
      <p:sp>
        <p:nvSpPr>
          <p:cNvPr id="22" name="Rectangle 21"/>
          <p:cNvSpPr/>
          <p:nvPr/>
        </p:nvSpPr>
        <p:spPr>
          <a:xfrm>
            <a:off x="6231636" y="3313176"/>
            <a:ext cx="5180076" cy="131064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ectangle 22"/>
          <p:cNvSpPr/>
          <p:nvPr/>
        </p:nvSpPr>
        <p:spPr>
          <a:xfrm>
            <a:off x="6231636" y="3313176"/>
            <a:ext cx="91440" cy="1310640"/>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Oval 23"/>
          <p:cNvSpPr/>
          <p:nvPr/>
        </p:nvSpPr>
        <p:spPr>
          <a:xfrm>
            <a:off x="6487668" y="3694176"/>
            <a:ext cx="548640" cy="548640"/>
          </a:xfrm>
          <a:prstGeom prst="ellipse">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6487668" y="3694176"/>
            <a:ext cx="548640" cy="548640"/>
          </a:xfrm>
          <a:prstGeom prst="rect">
            <a:avLst/>
          </a:prstGeom>
          <a:noFill/>
        </p:spPr>
        <p:txBody>
          <a:bodyPr wrap="square" anchor="ctr">
            <a:spAutoFit/>
          </a:bodyPr>
          <a:lstStyle/>
          <a:p>
            <a:pPr algn="ctr">
              <a:spcAft>
                <a:spcPts val="400"/>
              </a:spcAft>
            </a:pPr>
            <a:r>
              <a:rPr sz="1800" b="1">
                <a:solidFill>
                  <a:srgbClr val="FFFFFF"/>
                </a:solidFill>
                <a:latin typeface="Arial"/>
              </a:rPr>
              <a:t>4</a:t>
            </a:r>
          </a:p>
        </p:txBody>
      </p:sp>
      <p:sp>
        <p:nvSpPr>
          <p:cNvPr id="26" name="TextBox 25"/>
          <p:cNvSpPr txBox="1"/>
          <p:nvPr/>
        </p:nvSpPr>
        <p:spPr>
          <a:xfrm>
            <a:off x="7219188" y="3422904"/>
            <a:ext cx="3973068" cy="1127760"/>
          </a:xfrm>
          <a:prstGeom prst="rect">
            <a:avLst/>
          </a:prstGeom>
          <a:noFill/>
        </p:spPr>
        <p:txBody>
          <a:bodyPr wrap="square" anchor="ctr">
            <a:spAutoFit/>
          </a:bodyPr>
          <a:lstStyle/>
          <a:p>
            <a:pPr algn="l">
              <a:spcAft>
                <a:spcPts val="300"/>
              </a:spcAft>
            </a:pPr>
            <a:r>
              <a:rPr sz="1500" b="1">
                <a:solidFill>
                  <a:srgbClr val="161B26"/>
                </a:solidFill>
                <a:latin typeface="Arial"/>
              </a:rPr>
              <a:t>Tribal knowledge</a:t>
            </a:r>
          </a:p>
          <a:p>
            <a:pPr algn="l">
              <a:spcAft>
                <a:spcPts val="300"/>
              </a:spcAft>
            </a:pPr>
            <a:r>
              <a:rPr sz="1100" b="0">
                <a:solidFill>
                  <a:srgbClr val="5B6372"/>
                </a:solidFill>
                <a:latin typeface="Arial"/>
              </a:rPr>
              <a:t>Fix lives in one head → codify runbooks.</a:t>
            </a:r>
          </a:p>
        </p:txBody>
      </p:sp>
      <p:sp>
        <p:nvSpPr>
          <p:cNvPr id="27" name="Rectangle 26"/>
          <p:cNvSpPr/>
          <p:nvPr/>
        </p:nvSpPr>
        <p:spPr>
          <a:xfrm>
            <a:off x="777240" y="4843272"/>
            <a:ext cx="5180076" cy="131064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Rectangle 27"/>
          <p:cNvSpPr/>
          <p:nvPr/>
        </p:nvSpPr>
        <p:spPr>
          <a:xfrm>
            <a:off x="777240" y="4843272"/>
            <a:ext cx="91440" cy="1310640"/>
          </a:xfrm>
          <a:prstGeom prst="rect">
            <a:avLst/>
          </a:prstGeom>
          <a:solidFill>
            <a:srgbClr val="EC711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Oval 28"/>
          <p:cNvSpPr/>
          <p:nvPr/>
        </p:nvSpPr>
        <p:spPr>
          <a:xfrm>
            <a:off x="1033272" y="5224272"/>
            <a:ext cx="548640" cy="548640"/>
          </a:xfrm>
          <a:prstGeom prst="ellipse">
            <a:avLst/>
          </a:prstGeom>
          <a:solidFill>
            <a:srgbClr val="EC711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1033272" y="5224272"/>
            <a:ext cx="548640" cy="548640"/>
          </a:xfrm>
          <a:prstGeom prst="rect">
            <a:avLst/>
          </a:prstGeom>
          <a:noFill/>
        </p:spPr>
        <p:txBody>
          <a:bodyPr wrap="square" anchor="ctr">
            <a:spAutoFit/>
          </a:bodyPr>
          <a:lstStyle/>
          <a:p>
            <a:pPr algn="ctr">
              <a:spcAft>
                <a:spcPts val="400"/>
              </a:spcAft>
            </a:pPr>
            <a:r>
              <a:rPr sz="1800" b="1">
                <a:solidFill>
                  <a:srgbClr val="FFFFFF"/>
                </a:solidFill>
                <a:latin typeface="Arial"/>
              </a:rPr>
              <a:t>5</a:t>
            </a:r>
          </a:p>
        </p:txBody>
      </p:sp>
      <p:sp>
        <p:nvSpPr>
          <p:cNvPr id="31" name="TextBox 30"/>
          <p:cNvSpPr txBox="1"/>
          <p:nvPr/>
        </p:nvSpPr>
        <p:spPr>
          <a:xfrm>
            <a:off x="1764792" y="4953000"/>
            <a:ext cx="3973068" cy="1127760"/>
          </a:xfrm>
          <a:prstGeom prst="rect">
            <a:avLst/>
          </a:prstGeom>
          <a:noFill/>
        </p:spPr>
        <p:txBody>
          <a:bodyPr wrap="square" anchor="ctr">
            <a:spAutoFit/>
          </a:bodyPr>
          <a:lstStyle/>
          <a:p>
            <a:pPr algn="l">
              <a:spcAft>
                <a:spcPts val="300"/>
              </a:spcAft>
            </a:pPr>
            <a:r>
              <a:rPr sz="1500" b="1">
                <a:solidFill>
                  <a:srgbClr val="161B26"/>
                </a:solidFill>
                <a:latin typeface="Arial"/>
              </a:rPr>
              <a:t>Random restarts</a:t>
            </a:r>
          </a:p>
          <a:p>
            <a:pPr algn="l">
              <a:spcAft>
                <a:spcPts val="300"/>
              </a:spcAft>
            </a:pPr>
            <a:r>
              <a:rPr sz="1100" b="0">
                <a:solidFill>
                  <a:srgbClr val="5B6372"/>
                </a:solidFill>
                <a:latin typeface="Arial"/>
              </a:rPr>
              <a:t>Symptom cleared, cause remains → signal-driven diagnosis.</a:t>
            </a:r>
          </a:p>
        </p:txBody>
      </p:sp>
      <p:sp>
        <p:nvSpPr>
          <p:cNvPr id="32" name="Rectangle 31"/>
          <p:cNvSpPr/>
          <p:nvPr/>
        </p:nvSpPr>
        <p:spPr>
          <a:xfrm>
            <a:off x="6231636" y="4843272"/>
            <a:ext cx="5180076" cy="131064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Rectangle 32"/>
          <p:cNvSpPr/>
          <p:nvPr/>
        </p:nvSpPr>
        <p:spPr>
          <a:xfrm>
            <a:off x="6231636" y="4843272"/>
            <a:ext cx="91440" cy="1310640"/>
          </a:xfrm>
          <a:prstGeom prst="rect">
            <a:avLst/>
          </a:prstGeom>
          <a:solidFill>
            <a:srgbClr val="0E9EC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Oval 33"/>
          <p:cNvSpPr/>
          <p:nvPr/>
        </p:nvSpPr>
        <p:spPr>
          <a:xfrm>
            <a:off x="6487668" y="5224272"/>
            <a:ext cx="548640" cy="548640"/>
          </a:xfrm>
          <a:prstGeom prst="ellipse">
            <a:avLst/>
          </a:prstGeom>
          <a:solidFill>
            <a:srgbClr val="0E9EC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TextBox 34"/>
          <p:cNvSpPr txBox="1"/>
          <p:nvPr/>
        </p:nvSpPr>
        <p:spPr>
          <a:xfrm>
            <a:off x="6487668" y="5224272"/>
            <a:ext cx="548640" cy="548640"/>
          </a:xfrm>
          <a:prstGeom prst="rect">
            <a:avLst/>
          </a:prstGeom>
          <a:noFill/>
        </p:spPr>
        <p:txBody>
          <a:bodyPr wrap="square" anchor="ctr">
            <a:spAutoFit/>
          </a:bodyPr>
          <a:lstStyle/>
          <a:p>
            <a:pPr algn="ctr">
              <a:spcAft>
                <a:spcPts val="400"/>
              </a:spcAft>
            </a:pPr>
            <a:r>
              <a:rPr sz="1800" b="1">
                <a:solidFill>
                  <a:srgbClr val="FFFFFF"/>
                </a:solidFill>
                <a:latin typeface="Arial"/>
              </a:rPr>
              <a:t>6</a:t>
            </a:r>
          </a:p>
        </p:txBody>
      </p:sp>
      <p:sp>
        <p:nvSpPr>
          <p:cNvPr id="36" name="TextBox 35"/>
          <p:cNvSpPr txBox="1"/>
          <p:nvPr/>
        </p:nvSpPr>
        <p:spPr>
          <a:xfrm>
            <a:off x="7219188" y="4953000"/>
            <a:ext cx="3973068" cy="1127760"/>
          </a:xfrm>
          <a:prstGeom prst="rect">
            <a:avLst/>
          </a:prstGeom>
          <a:noFill/>
        </p:spPr>
        <p:txBody>
          <a:bodyPr wrap="square" anchor="ctr">
            <a:spAutoFit/>
          </a:bodyPr>
          <a:lstStyle/>
          <a:p>
            <a:pPr algn="l">
              <a:spcAft>
                <a:spcPts val="300"/>
              </a:spcAft>
            </a:pPr>
            <a:r>
              <a:rPr sz="1500" b="1">
                <a:solidFill>
                  <a:srgbClr val="161B26"/>
                </a:solidFill>
                <a:latin typeface="Arial"/>
              </a:rPr>
              <a:t>No post-incident learning</a:t>
            </a:r>
          </a:p>
          <a:p>
            <a:pPr algn="l">
              <a:spcAft>
                <a:spcPts val="300"/>
              </a:spcAft>
            </a:pPr>
            <a:r>
              <a:rPr sz="1100" b="0">
                <a:solidFill>
                  <a:srgbClr val="5B6372"/>
                </a:solidFill>
                <a:latin typeface="Arial"/>
              </a:rPr>
              <a:t>Same outage recurs → blameless review + action items.</a:t>
            </a:r>
          </a:p>
        </p:txBody>
      </p:sp>
      <p:sp>
        <p:nvSpPr>
          <p:cNvPr id="37" name="TextBox 36"/>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DevOps Engineering on AWS  ·  TGS-2023040474</a:t>
            </a:r>
          </a:p>
        </p:txBody>
      </p:sp>
      <p:sp>
        <p:nvSpPr>
          <p:cNvPr id="38" name="TextBox 37"/>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39" name="TextBox 38"/>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178</a:t>
            </a:r>
          </a:p>
        </p:txBody>
      </p:sp>
    </p:spTree>
  </p:cSld>
  <p:clrMapOvr>
    <a:masterClrMapping/>
  </p:clrMapOvr>
  <p:transition xmlns:p14="http://schemas.microsoft.com/office/powerpoint/2010/main" p14:dur="380">
    <p:fade/>
  </p:transition>
</p:sld>
</file>

<file path=ppt/slides/slide18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EC711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38912"/>
            <a:ext cx="10607040" cy="365760"/>
          </a:xfrm>
          <a:prstGeom prst="rect">
            <a:avLst/>
          </a:prstGeom>
          <a:noFill/>
        </p:spPr>
        <p:txBody>
          <a:bodyPr wrap="square" anchor="t">
            <a:spAutoFit/>
          </a:bodyPr>
          <a:lstStyle/>
          <a:p>
            <a:pPr algn="l">
              <a:spcAft>
                <a:spcPts val="400"/>
              </a:spcAft>
            </a:pPr>
            <a:r>
              <a:rPr sz="1400" b="1">
                <a:solidFill>
                  <a:srgbClr val="EC711E"/>
                </a:solidFill>
                <a:latin typeface="Arial"/>
              </a:rPr>
              <a:t>PROVEN PRACTICES</a:t>
            </a:r>
          </a:p>
        </p:txBody>
      </p:sp>
      <p:sp>
        <p:nvSpPr>
          <p:cNvPr id="5" name="TextBox 4"/>
          <p:cNvSpPr txBox="1"/>
          <p:nvPr/>
        </p:nvSpPr>
        <p:spPr>
          <a:xfrm>
            <a:off x="777240" y="804672"/>
            <a:ext cx="10927080" cy="731520"/>
          </a:xfrm>
          <a:prstGeom prst="rect">
            <a:avLst/>
          </a:prstGeom>
          <a:noFill/>
        </p:spPr>
        <p:txBody>
          <a:bodyPr wrap="square" anchor="t">
            <a:spAutoFit/>
          </a:bodyPr>
          <a:lstStyle/>
          <a:p>
            <a:pPr algn="l">
              <a:spcAft>
                <a:spcPts val="400"/>
              </a:spcAft>
            </a:pPr>
            <a:r>
              <a:rPr sz="2900" b="1">
                <a:solidFill>
                  <a:srgbClr val="161B26"/>
                </a:solidFill>
                <a:latin typeface="Arial"/>
              </a:rPr>
              <a:t>Response Patterns Worth Adopting</a:t>
            </a:r>
          </a:p>
        </p:txBody>
      </p:sp>
      <p:sp>
        <p:nvSpPr>
          <p:cNvPr id="6" name="Rectangle 5"/>
          <p:cNvSpPr/>
          <p:nvPr/>
        </p:nvSpPr>
        <p:spPr>
          <a:xfrm>
            <a:off x="777240" y="1572768"/>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783080"/>
            <a:ext cx="5180076" cy="131064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1783080"/>
            <a:ext cx="91440" cy="131064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1033272" y="2164080"/>
            <a:ext cx="548640" cy="548640"/>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033272" y="2164080"/>
            <a:ext cx="548640" cy="548640"/>
          </a:xfrm>
          <a:prstGeom prst="rect">
            <a:avLst/>
          </a:prstGeom>
          <a:noFill/>
        </p:spPr>
        <p:txBody>
          <a:bodyPr wrap="square" anchor="ctr">
            <a:spAutoFit/>
          </a:bodyPr>
          <a:lstStyle/>
          <a:p>
            <a:pPr algn="ctr">
              <a:spcAft>
                <a:spcPts val="400"/>
              </a:spcAft>
            </a:pPr>
            <a:r>
              <a:rPr sz="1800" b="1">
                <a:solidFill>
                  <a:srgbClr val="FFFFFF"/>
                </a:solidFill>
                <a:latin typeface="Arial"/>
              </a:rPr>
              <a:t>1</a:t>
            </a:r>
          </a:p>
        </p:txBody>
      </p:sp>
      <p:sp>
        <p:nvSpPr>
          <p:cNvPr id="11" name="TextBox 10"/>
          <p:cNvSpPr txBox="1"/>
          <p:nvPr/>
        </p:nvSpPr>
        <p:spPr>
          <a:xfrm>
            <a:off x="1764792" y="1892808"/>
            <a:ext cx="3973068" cy="1127760"/>
          </a:xfrm>
          <a:prstGeom prst="rect">
            <a:avLst/>
          </a:prstGeom>
          <a:noFill/>
        </p:spPr>
        <p:txBody>
          <a:bodyPr wrap="square" anchor="ctr">
            <a:spAutoFit/>
          </a:bodyPr>
          <a:lstStyle/>
          <a:p>
            <a:pPr algn="l">
              <a:spcAft>
                <a:spcPts val="300"/>
              </a:spcAft>
            </a:pPr>
            <a:r>
              <a:rPr sz="1500" b="1">
                <a:solidFill>
                  <a:srgbClr val="161B26"/>
                </a:solidFill>
                <a:latin typeface="Arial"/>
              </a:rPr>
              <a:t>Detect → route → notify+act</a:t>
            </a:r>
          </a:p>
          <a:p>
            <a:pPr algn="l">
              <a:spcAft>
                <a:spcPts val="300"/>
              </a:spcAft>
            </a:pPr>
            <a:r>
              <a:rPr sz="1100" b="0">
                <a:solidFill>
                  <a:srgbClr val="5B6372"/>
                </a:solidFill>
                <a:latin typeface="Arial"/>
              </a:rPr>
              <a:t>EventBridge fans out to people and automation.</a:t>
            </a:r>
          </a:p>
        </p:txBody>
      </p:sp>
      <p:sp>
        <p:nvSpPr>
          <p:cNvPr id="12" name="Rectangle 11"/>
          <p:cNvSpPr/>
          <p:nvPr/>
        </p:nvSpPr>
        <p:spPr>
          <a:xfrm>
            <a:off x="6231636" y="1783080"/>
            <a:ext cx="5180076" cy="131064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6231636" y="1783080"/>
            <a:ext cx="91440" cy="131064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Oval 13"/>
          <p:cNvSpPr/>
          <p:nvPr/>
        </p:nvSpPr>
        <p:spPr>
          <a:xfrm>
            <a:off x="6487668" y="2164080"/>
            <a:ext cx="548640" cy="54864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6487668" y="2164080"/>
            <a:ext cx="548640" cy="548640"/>
          </a:xfrm>
          <a:prstGeom prst="rect">
            <a:avLst/>
          </a:prstGeom>
          <a:noFill/>
        </p:spPr>
        <p:txBody>
          <a:bodyPr wrap="square" anchor="ctr">
            <a:spAutoFit/>
          </a:bodyPr>
          <a:lstStyle/>
          <a:p>
            <a:pPr algn="ctr">
              <a:spcAft>
                <a:spcPts val="400"/>
              </a:spcAft>
            </a:pPr>
            <a:r>
              <a:rPr sz="1800" b="1">
                <a:solidFill>
                  <a:srgbClr val="FFFFFF"/>
                </a:solidFill>
                <a:latin typeface="Arial"/>
              </a:rPr>
              <a:t>2</a:t>
            </a:r>
          </a:p>
        </p:txBody>
      </p:sp>
      <p:sp>
        <p:nvSpPr>
          <p:cNvPr id="16" name="TextBox 15"/>
          <p:cNvSpPr txBox="1"/>
          <p:nvPr/>
        </p:nvSpPr>
        <p:spPr>
          <a:xfrm>
            <a:off x="7219188" y="1892808"/>
            <a:ext cx="3973068" cy="1127760"/>
          </a:xfrm>
          <a:prstGeom prst="rect">
            <a:avLst/>
          </a:prstGeom>
          <a:noFill/>
        </p:spPr>
        <p:txBody>
          <a:bodyPr wrap="square" anchor="ctr">
            <a:spAutoFit/>
          </a:bodyPr>
          <a:lstStyle/>
          <a:p>
            <a:pPr algn="l">
              <a:spcAft>
                <a:spcPts val="300"/>
              </a:spcAft>
            </a:pPr>
            <a:r>
              <a:rPr sz="1500" b="1">
                <a:solidFill>
                  <a:srgbClr val="161B26"/>
                </a:solidFill>
                <a:latin typeface="Arial"/>
              </a:rPr>
              <a:t>Alarm-based rollback</a:t>
            </a:r>
          </a:p>
          <a:p>
            <a:pPr algn="l">
              <a:spcAft>
                <a:spcPts val="300"/>
              </a:spcAft>
            </a:pPr>
            <a:r>
              <a:rPr sz="1100" b="0">
                <a:solidFill>
                  <a:srgbClr val="5B6372"/>
                </a:solidFill>
                <a:latin typeface="Arial"/>
              </a:rPr>
              <a:t>Release health auto-reverts bad deploys.</a:t>
            </a:r>
          </a:p>
        </p:txBody>
      </p:sp>
      <p:sp>
        <p:nvSpPr>
          <p:cNvPr id="17" name="Rectangle 16"/>
          <p:cNvSpPr/>
          <p:nvPr/>
        </p:nvSpPr>
        <p:spPr>
          <a:xfrm>
            <a:off x="777240" y="3313176"/>
            <a:ext cx="5180076" cy="131064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777240" y="3313176"/>
            <a:ext cx="91440" cy="1310640"/>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Oval 18"/>
          <p:cNvSpPr/>
          <p:nvPr/>
        </p:nvSpPr>
        <p:spPr>
          <a:xfrm>
            <a:off x="1033272" y="3694176"/>
            <a:ext cx="548640" cy="548640"/>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1033272" y="3694176"/>
            <a:ext cx="548640" cy="548640"/>
          </a:xfrm>
          <a:prstGeom prst="rect">
            <a:avLst/>
          </a:prstGeom>
          <a:noFill/>
        </p:spPr>
        <p:txBody>
          <a:bodyPr wrap="square" anchor="ctr">
            <a:spAutoFit/>
          </a:bodyPr>
          <a:lstStyle/>
          <a:p>
            <a:pPr algn="ctr">
              <a:spcAft>
                <a:spcPts val="400"/>
              </a:spcAft>
            </a:pPr>
            <a:r>
              <a:rPr sz="1800" b="1">
                <a:solidFill>
                  <a:srgbClr val="FFFFFF"/>
                </a:solidFill>
                <a:latin typeface="Arial"/>
              </a:rPr>
              <a:t>3</a:t>
            </a:r>
          </a:p>
        </p:txBody>
      </p:sp>
      <p:sp>
        <p:nvSpPr>
          <p:cNvPr id="21" name="TextBox 20"/>
          <p:cNvSpPr txBox="1"/>
          <p:nvPr/>
        </p:nvSpPr>
        <p:spPr>
          <a:xfrm>
            <a:off x="1764792" y="3422904"/>
            <a:ext cx="3973068" cy="1127760"/>
          </a:xfrm>
          <a:prstGeom prst="rect">
            <a:avLst/>
          </a:prstGeom>
          <a:noFill/>
        </p:spPr>
        <p:txBody>
          <a:bodyPr wrap="square" anchor="ctr">
            <a:spAutoFit/>
          </a:bodyPr>
          <a:lstStyle/>
          <a:p>
            <a:pPr algn="l">
              <a:spcAft>
                <a:spcPts val="300"/>
              </a:spcAft>
            </a:pPr>
            <a:r>
              <a:rPr sz="1500" b="1">
                <a:solidFill>
                  <a:srgbClr val="161B26"/>
                </a:solidFill>
                <a:latin typeface="Arial"/>
              </a:rPr>
              <a:t>Automated runbooks</a:t>
            </a:r>
          </a:p>
          <a:p>
            <a:pPr algn="l">
              <a:spcAft>
                <a:spcPts val="300"/>
              </a:spcAft>
            </a:pPr>
            <a:r>
              <a:rPr sz="1100" b="0">
                <a:solidFill>
                  <a:srgbClr val="5B6372"/>
                </a:solidFill>
                <a:latin typeface="Arial"/>
              </a:rPr>
              <a:t>SSM Automation for known fixes.</a:t>
            </a:r>
          </a:p>
        </p:txBody>
      </p:sp>
      <p:sp>
        <p:nvSpPr>
          <p:cNvPr id="22" name="Rectangle 21"/>
          <p:cNvSpPr/>
          <p:nvPr/>
        </p:nvSpPr>
        <p:spPr>
          <a:xfrm>
            <a:off x="6231636" y="3313176"/>
            <a:ext cx="5180076" cy="131064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ectangle 22"/>
          <p:cNvSpPr/>
          <p:nvPr/>
        </p:nvSpPr>
        <p:spPr>
          <a:xfrm>
            <a:off x="6231636" y="3313176"/>
            <a:ext cx="91440" cy="1310640"/>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Oval 23"/>
          <p:cNvSpPr/>
          <p:nvPr/>
        </p:nvSpPr>
        <p:spPr>
          <a:xfrm>
            <a:off x="6487668" y="3694176"/>
            <a:ext cx="548640" cy="548640"/>
          </a:xfrm>
          <a:prstGeom prst="ellipse">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6487668" y="3694176"/>
            <a:ext cx="548640" cy="548640"/>
          </a:xfrm>
          <a:prstGeom prst="rect">
            <a:avLst/>
          </a:prstGeom>
          <a:noFill/>
        </p:spPr>
        <p:txBody>
          <a:bodyPr wrap="square" anchor="ctr">
            <a:spAutoFit/>
          </a:bodyPr>
          <a:lstStyle/>
          <a:p>
            <a:pPr algn="ctr">
              <a:spcAft>
                <a:spcPts val="400"/>
              </a:spcAft>
            </a:pPr>
            <a:r>
              <a:rPr sz="1800" b="1">
                <a:solidFill>
                  <a:srgbClr val="FFFFFF"/>
                </a:solidFill>
                <a:latin typeface="Arial"/>
              </a:rPr>
              <a:t>4</a:t>
            </a:r>
          </a:p>
        </p:txBody>
      </p:sp>
      <p:sp>
        <p:nvSpPr>
          <p:cNvPr id="26" name="TextBox 25"/>
          <p:cNvSpPr txBox="1"/>
          <p:nvPr/>
        </p:nvSpPr>
        <p:spPr>
          <a:xfrm>
            <a:off x="7219188" y="3422904"/>
            <a:ext cx="3973068" cy="1127760"/>
          </a:xfrm>
          <a:prstGeom prst="rect">
            <a:avLst/>
          </a:prstGeom>
          <a:noFill/>
        </p:spPr>
        <p:txBody>
          <a:bodyPr wrap="square" anchor="ctr">
            <a:spAutoFit/>
          </a:bodyPr>
          <a:lstStyle/>
          <a:p>
            <a:pPr algn="l">
              <a:spcAft>
                <a:spcPts val="300"/>
              </a:spcAft>
            </a:pPr>
            <a:r>
              <a:rPr sz="1500" b="1">
                <a:solidFill>
                  <a:srgbClr val="161B26"/>
                </a:solidFill>
                <a:latin typeface="Arial"/>
              </a:rPr>
              <a:t>Guarded auto-remediation</a:t>
            </a:r>
          </a:p>
          <a:p>
            <a:pPr algn="l">
              <a:spcAft>
                <a:spcPts val="300"/>
              </a:spcAft>
            </a:pPr>
            <a:r>
              <a:rPr sz="1100" b="0">
                <a:solidFill>
                  <a:srgbClr val="5B6372"/>
                </a:solidFill>
                <a:latin typeface="Arial"/>
              </a:rPr>
              <a:t>Config → remediation with approval for risky actions.</a:t>
            </a:r>
          </a:p>
        </p:txBody>
      </p:sp>
      <p:sp>
        <p:nvSpPr>
          <p:cNvPr id="27" name="Rectangle 26"/>
          <p:cNvSpPr/>
          <p:nvPr/>
        </p:nvSpPr>
        <p:spPr>
          <a:xfrm>
            <a:off x="777240" y="4843272"/>
            <a:ext cx="5180076" cy="131064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Rectangle 27"/>
          <p:cNvSpPr/>
          <p:nvPr/>
        </p:nvSpPr>
        <p:spPr>
          <a:xfrm>
            <a:off x="777240" y="4843272"/>
            <a:ext cx="91440" cy="1310640"/>
          </a:xfrm>
          <a:prstGeom prst="rect">
            <a:avLst/>
          </a:prstGeom>
          <a:solidFill>
            <a:srgbClr val="EC711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Oval 28"/>
          <p:cNvSpPr/>
          <p:nvPr/>
        </p:nvSpPr>
        <p:spPr>
          <a:xfrm>
            <a:off x="1033272" y="5224272"/>
            <a:ext cx="548640" cy="548640"/>
          </a:xfrm>
          <a:prstGeom prst="ellipse">
            <a:avLst/>
          </a:prstGeom>
          <a:solidFill>
            <a:srgbClr val="EC711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1033272" y="5224272"/>
            <a:ext cx="548640" cy="548640"/>
          </a:xfrm>
          <a:prstGeom prst="rect">
            <a:avLst/>
          </a:prstGeom>
          <a:noFill/>
        </p:spPr>
        <p:txBody>
          <a:bodyPr wrap="square" anchor="ctr">
            <a:spAutoFit/>
          </a:bodyPr>
          <a:lstStyle/>
          <a:p>
            <a:pPr algn="ctr">
              <a:spcAft>
                <a:spcPts val="400"/>
              </a:spcAft>
            </a:pPr>
            <a:r>
              <a:rPr sz="1800" b="1">
                <a:solidFill>
                  <a:srgbClr val="FFFFFF"/>
                </a:solidFill>
                <a:latin typeface="Arial"/>
              </a:rPr>
              <a:t>5</a:t>
            </a:r>
          </a:p>
        </p:txBody>
      </p:sp>
      <p:sp>
        <p:nvSpPr>
          <p:cNvPr id="31" name="TextBox 30"/>
          <p:cNvSpPr txBox="1"/>
          <p:nvPr/>
        </p:nvSpPr>
        <p:spPr>
          <a:xfrm>
            <a:off x="1764792" y="4953000"/>
            <a:ext cx="3973068" cy="1127760"/>
          </a:xfrm>
          <a:prstGeom prst="rect">
            <a:avLst/>
          </a:prstGeom>
          <a:noFill/>
        </p:spPr>
        <p:txBody>
          <a:bodyPr wrap="square" anchor="ctr">
            <a:spAutoFit/>
          </a:bodyPr>
          <a:lstStyle/>
          <a:p>
            <a:pPr algn="l">
              <a:spcAft>
                <a:spcPts val="300"/>
              </a:spcAft>
            </a:pPr>
            <a:r>
              <a:rPr sz="1500" b="1">
                <a:solidFill>
                  <a:srgbClr val="161B26"/>
                </a:solidFill>
                <a:latin typeface="Arial"/>
              </a:rPr>
              <a:t>Orchestrated recovery</a:t>
            </a:r>
          </a:p>
          <a:p>
            <a:pPr algn="l">
              <a:spcAft>
                <a:spcPts val="300"/>
              </a:spcAft>
            </a:pPr>
            <a:r>
              <a:rPr sz="1100" b="0">
                <a:solidFill>
                  <a:srgbClr val="5B6372"/>
                </a:solidFill>
                <a:latin typeface="Arial"/>
              </a:rPr>
              <a:t>Step Functions for multi-step responses.</a:t>
            </a:r>
          </a:p>
        </p:txBody>
      </p:sp>
      <p:sp>
        <p:nvSpPr>
          <p:cNvPr id="32" name="Rectangle 31"/>
          <p:cNvSpPr/>
          <p:nvPr/>
        </p:nvSpPr>
        <p:spPr>
          <a:xfrm>
            <a:off x="6231636" y="4843272"/>
            <a:ext cx="5180076" cy="131064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Rectangle 32"/>
          <p:cNvSpPr/>
          <p:nvPr/>
        </p:nvSpPr>
        <p:spPr>
          <a:xfrm>
            <a:off x="6231636" y="4843272"/>
            <a:ext cx="91440" cy="1310640"/>
          </a:xfrm>
          <a:prstGeom prst="rect">
            <a:avLst/>
          </a:prstGeom>
          <a:solidFill>
            <a:srgbClr val="0E9EC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Oval 33"/>
          <p:cNvSpPr/>
          <p:nvPr/>
        </p:nvSpPr>
        <p:spPr>
          <a:xfrm>
            <a:off x="6487668" y="5224272"/>
            <a:ext cx="548640" cy="548640"/>
          </a:xfrm>
          <a:prstGeom prst="ellipse">
            <a:avLst/>
          </a:prstGeom>
          <a:solidFill>
            <a:srgbClr val="0E9EC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TextBox 34"/>
          <p:cNvSpPr txBox="1"/>
          <p:nvPr/>
        </p:nvSpPr>
        <p:spPr>
          <a:xfrm>
            <a:off x="6487668" y="5224272"/>
            <a:ext cx="548640" cy="548640"/>
          </a:xfrm>
          <a:prstGeom prst="rect">
            <a:avLst/>
          </a:prstGeom>
          <a:noFill/>
        </p:spPr>
        <p:txBody>
          <a:bodyPr wrap="square" anchor="ctr">
            <a:spAutoFit/>
          </a:bodyPr>
          <a:lstStyle/>
          <a:p>
            <a:pPr algn="ctr">
              <a:spcAft>
                <a:spcPts val="400"/>
              </a:spcAft>
            </a:pPr>
            <a:r>
              <a:rPr sz="1800" b="1">
                <a:solidFill>
                  <a:srgbClr val="FFFFFF"/>
                </a:solidFill>
                <a:latin typeface="Arial"/>
              </a:rPr>
              <a:t>6</a:t>
            </a:r>
          </a:p>
        </p:txBody>
      </p:sp>
      <p:sp>
        <p:nvSpPr>
          <p:cNvPr id="36" name="TextBox 35"/>
          <p:cNvSpPr txBox="1"/>
          <p:nvPr/>
        </p:nvSpPr>
        <p:spPr>
          <a:xfrm>
            <a:off x="7219188" y="4953000"/>
            <a:ext cx="3973068" cy="1127760"/>
          </a:xfrm>
          <a:prstGeom prst="rect">
            <a:avLst/>
          </a:prstGeom>
          <a:noFill/>
        </p:spPr>
        <p:txBody>
          <a:bodyPr wrap="square" anchor="ctr">
            <a:spAutoFit/>
          </a:bodyPr>
          <a:lstStyle/>
          <a:p>
            <a:pPr algn="l">
              <a:spcAft>
                <a:spcPts val="300"/>
              </a:spcAft>
            </a:pPr>
            <a:r>
              <a:rPr sz="1500" b="1">
                <a:solidFill>
                  <a:srgbClr val="161B26"/>
                </a:solidFill>
                <a:latin typeface="Arial"/>
              </a:rPr>
              <a:t>Blameless reviews</a:t>
            </a:r>
          </a:p>
          <a:p>
            <a:pPr algn="l">
              <a:spcAft>
                <a:spcPts val="300"/>
              </a:spcAft>
            </a:pPr>
            <a:r>
              <a:rPr sz="1100" b="0">
                <a:solidFill>
                  <a:srgbClr val="5B6372"/>
                </a:solidFill>
                <a:latin typeface="Arial"/>
              </a:rPr>
              <a:t>Every incident hardens the system.</a:t>
            </a:r>
          </a:p>
        </p:txBody>
      </p:sp>
      <p:sp>
        <p:nvSpPr>
          <p:cNvPr id="37" name="TextBox 36"/>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DevOps Engineering on AWS  ·  TGS-2023040474</a:t>
            </a:r>
          </a:p>
        </p:txBody>
      </p:sp>
      <p:sp>
        <p:nvSpPr>
          <p:cNvPr id="38" name="TextBox 37"/>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39" name="TextBox 38"/>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179</a:t>
            </a:r>
          </a:p>
        </p:txBody>
      </p:sp>
    </p:spTree>
  </p:cSld>
  <p:clrMapOvr>
    <a:masterClrMapping/>
  </p:clrMapOvr>
  <p:transition xmlns:p14="http://schemas.microsoft.com/office/powerpoint/2010/main" p14:dur="380">
    <p:fade/>
  </p:transition>
</p:sld>
</file>

<file path=ppt/slides/slide18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EC711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38912"/>
            <a:ext cx="10607040" cy="365760"/>
          </a:xfrm>
          <a:prstGeom prst="rect">
            <a:avLst/>
          </a:prstGeom>
          <a:noFill/>
        </p:spPr>
        <p:txBody>
          <a:bodyPr wrap="square" anchor="t">
            <a:spAutoFit/>
          </a:bodyPr>
          <a:lstStyle/>
          <a:p>
            <a:pPr algn="l">
              <a:spcAft>
                <a:spcPts val="400"/>
              </a:spcAft>
            </a:pPr>
            <a:r>
              <a:rPr sz="1400" b="1">
                <a:solidFill>
                  <a:srgbClr val="EC711E"/>
                </a:solidFill>
                <a:latin typeface="Arial"/>
              </a:rPr>
              <a:t>RESPONSE STRATEGY</a:t>
            </a:r>
          </a:p>
        </p:txBody>
      </p:sp>
      <p:sp>
        <p:nvSpPr>
          <p:cNvPr id="5" name="TextBox 4"/>
          <p:cNvSpPr txBox="1"/>
          <p:nvPr/>
        </p:nvSpPr>
        <p:spPr>
          <a:xfrm>
            <a:off x="777240" y="896112"/>
            <a:ext cx="10927080" cy="731520"/>
          </a:xfrm>
          <a:prstGeom prst="rect">
            <a:avLst/>
          </a:prstGeom>
          <a:noFill/>
        </p:spPr>
        <p:txBody>
          <a:bodyPr wrap="square" anchor="t">
            <a:spAutoFit/>
          </a:bodyPr>
          <a:lstStyle/>
          <a:p>
            <a:pPr algn="l">
              <a:spcAft>
                <a:spcPts val="400"/>
              </a:spcAft>
            </a:pPr>
            <a:r>
              <a:rPr sz="2100" b="1">
                <a:solidFill>
                  <a:srgbClr val="161B26"/>
                </a:solidFill>
                <a:latin typeface="Arial"/>
              </a:rPr>
              <a:t>Architecture Decision — Automate the Fix or Page a Human?</a:t>
            </a:r>
          </a:p>
        </p:txBody>
      </p:sp>
      <p:sp>
        <p:nvSpPr>
          <p:cNvPr id="6" name="Rectangle 5"/>
          <p:cNvSpPr/>
          <p:nvPr/>
        </p:nvSpPr>
        <p:spPr>
          <a:xfrm>
            <a:off x="777240" y="1572768"/>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783080"/>
            <a:ext cx="3337560" cy="429768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1783080"/>
            <a:ext cx="3337560" cy="109728"/>
          </a:xfrm>
          <a:prstGeom prst="rect">
            <a:avLst/>
          </a:prstGeom>
          <a:solidFill>
            <a:srgbClr val="EC711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1033272" y="2057400"/>
            <a:ext cx="457200" cy="457200"/>
          </a:xfrm>
          <a:prstGeom prst="ellipse">
            <a:avLst/>
          </a:prstGeom>
          <a:solidFill>
            <a:srgbClr val="EC711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033272" y="2057400"/>
            <a:ext cx="457200" cy="457200"/>
          </a:xfrm>
          <a:prstGeom prst="rect">
            <a:avLst/>
          </a:prstGeom>
          <a:noFill/>
        </p:spPr>
        <p:txBody>
          <a:bodyPr wrap="square" anchor="ctr">
            <a:spAutoFit/>
          </a:bodyPr>
          <a:lstStyle/>
          <a:p>
            <a:pPr algn="ctr">
              <a:spcAft>
                <a:spcPts val="400"/>
              </a:spcAft>
            </a:pPr>
            <a:r>
              <a:rPr sz="2000" b="1">
                <a:solidFill>
                  <a:srgbClr val="FFFFFF"/>
                </a:solidFill>
                <a:latin typeface="Arial"/>
              </a:rPr>
              <a:t>A</a:t>
            </a:r>
          </a:p>
        </p:txBody>
      </p:sp>
      <p:sp>
        <p:nvSpPr>
          <p:cNvPr id="11" name="TextBox 10"/>
          <p:cNvSpPr txBox="1"/>
          <p:nvPr/>
        </p:nvSpPr>
        <p:spPr>
          <a:xfrm>
            <a:off x="1645920" y="2084831"/>
            <a:ext cx="2286000" cy="640080"/>
          </a:xfrm>
          <a:prstGeom prst="rect">
            <a:avLst/>
          </a:prstGeom>
          <a:noFill/>
        </p:spPr>
        <p:txBody>
          <a:bodyPr wrap="square" anchor="ctr">
            <a:spAutoFit/>
          </a:bodyPr>
          <a:lstStyle/>
          <a:p>
            <a:pPr algn="l">
              <a:spcAft>
                <a:spcPts val="400"/>
              </a:spcAft>
            </a:pPr>
            <a:r>
              <a:rPr sz="1450" b="1">
                <a:solidFill>
                  <a:srgbClr val="EC711E"/>
                </a:solidFill>
                <a:latin typeface="Arial"/>
              </a:rPr>
              <a:t>Fully automate</a:t>
            </a:r>
          </a:p>
        </p:txBody>
      </p:sp>
      <p:sp>
        <p:nvSpPr>
          <p:cNvPr id="12" name="TextBox 11"/>
          <p:cNvSpPr txBox="1"/>
          <p:nvPr/>
        </p:nvSpPr>
        <p:spPr>
          <a:xfrm>
            <a:off x="1033272" y="2788920"/>
            <a:ext cx="2880360" cy="3108960"/>
          </a:xfrm>
          <a:prstGeom prst="rect">
            <a:avLst/>
          </a:prstGeom>
          <a:noFill/>
        </p:spPr>
        <p:txBody>
          <a:bodyPr wrap="square" anchor="t">
            <a:spAutoFit/>
          </a:bodyPr>
          <a:lstStyle/>
          <a:p>
            <a:pPr algn="l">
              <a:spcAft>
                <a:spcPts val="400"/>
              </a:spcAft>
            </a:pPr>
            <a:r>
              <a:rPr sz="1250" b="0">
                <a:solidFill>
                  <a:srgbClr val="161B26"/>
                </a:solidFill>
                <a:latin typeface="Arial"/>
              </a:rPr>
              <a:t>Known cause, safe and reversible fix, frequent occurrence. Fastest recovery — needs tight IAM and validation.</a:t>
            </a:r>
          </a:p>
        </p:txBody>
      </p:sp>
      <p:sp>
        <p:nvSpPr>
          <p:cNvPr id="13" name="Rectangle 12"/>
          <p:cNvSpPr/>
          <p:nvPr/>
        </p:nvSpPr>
        <p:spPr>
          <a:xfrm>
            <a:off x="4572000" y="1783080"/>
            <a:ext cx="3337560" cy="429768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ectangle 13"/>
          <p:cNvSpPr/>
          <p:nvPr/>
        </p:nvSpPr>
        <p:spPr>
          <a:xfrm>
            <a:off x="4572000" y="1783080"/>
            <a:ext cx="3337560" cy="109728"/>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Oval 14"/>
          <p:cNvSpPr/>
          <p:nvPr/>
        </p:nvSpPr>
        <p:spPr>
          <a:xfrm>
            <a:off x="4828032" y="2057400"/>
            <a:ext cx="457200" cy="457200"/>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4828032" y="2057400"/>
            <a:ext cx="457200" cy="457200"/>
          </a:xfrm>
          <a:prstGeom prst="rect">
            <a:avLst/>
          </a:prstGeom>
          <a:noFill/>
        </p:spPr>
        <p:txBody>
          <a:bodyPr wrap="square" anchor="ctr">
            <a:spAutoFit/>
          </a:bodyPr>
          <a:lstStyle/>
          <a:p>
            <a:pPr algn="ctr">
              <a:spcAft>
                <a:spcPts val="400"/>
              </a:spcAft>
            </a:pPr>
            <a:r>
              <a:rPr sz="2000" b="1">
                <a:solidFill>
                  <a:srgbClr val="FFFFFF"/>
                </a:solidFill>
                <a:latin typeface="Arial"/>
              </a:rPr>
              <a:t>B</a:t>
            </a:r>
          </a:p>
        </p:txBody>
      </p:sp>
      <p:sp>
        <p:nvSpPr>
          <p:cNvPr id="17" name="TextBox 16"/>
          <p:cNvSpPr txBox="1"/>
          <p:nvPr/>
        </p:nvSpPr>
        <p:spPr>
          <a:xfrm>
            <a:off x="5440680" y="2084831"/>
            <a:ext cx="2286000" cy="640080"/>
          </a:xfrm>
          <a:prstGeom prst="rect">
            <a:avLst/>
          </a:prstGeom>
          <a:noFill/>
        </p:spPr>
        <p:txBody>
          <a:bodyPr wrap="square" anchor="ctr">
            <a:spAutoFit/>
          </a:bodyPr>
          <a:lstStyle/>
          <a:p>
            <a:pPr algn="l">
              <a:spcAft>
                <a:spcPts val="400"/>
              </a:spcAft>
            </a:pPr>
            <a:r>
              <a:rPr sz="1450" b="1">
                <a:solidFill>
                  <a:srgbClr val="7C3AED"/>
                </a:solidFill>
                <a:latin typeface="Arial"/>
              </a:rPr>
              <a:t>Automate with approval</a:t>
            </a:r>
          </a:p>
        </p:txBody>
      </p:sp>
      <p:sp>
        <p:nvSpPr>
          <p:cNvPr id="18" name="TextBox 17"/>
          <p:cNvSpPr txBox="1"/>
          <p:nvPr/>
        </p:nvSpPr>
        <p:spPr>
          <a:xfrm>
            <a:off x="4828032" y="2788920"/>
            <a:ext cx="2880360" cy="3108960"/>
          </a:xfrm>
          <a:prstGeom prst="rect">
            <a:avLst/>
          </a:prstGeom>
          <a:noFill/>
        </p:spPr>
        <p:txBody>
          <a:bodyPr wrap="square" anchor="t">
            <a:spAutoFit/>
          </a:bodyPr>
          <a:lstStyle/>
          <a:p>
            <a:pPr algn="l">
              <a:spcAft>
                <a:spcPts val="400"/>
              </a:spcAft>
            </a:pPr>
            <a:r>
              <a:rPr sz="1250" b="0">
                <a:solidFill>
                  <a:srgbClr val="161B26"/>
                </a:solidFill>
                <a:latin typeface="Arial"/>
              </a:rPr>
              <a:t>Higher-risk action or ambiguous trigger. Step Functions pauses for a human yes/no before acting.</a:t>
            </a:r>
          </a:p>
        </p:txBody>
      </p:sp>
      <p:sp>
        <p:nvSpPr>
          <p:cNvPr id="19" name="Rectangle 18"/>
          <p:cNvSpPr/>
          <p:nvPr/>
        </p:nvSpPr>
        <p:spPr>
          <a:xfrm>
            <a:off x="8366760" y="1783080"/>
            <a:ext cx="3337560" cy="429768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Rectangle 19"/>
          <p:cNvSpPr/>
          <p:nvPr/>
        </p:nvSpPr>
        <p:spPr>
          <a:xfrm>
            <a:off x="8366760" y="1783080"/>
            <a:ext cx="3337560" cy="109728"/>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Oval 20"/>
          <p:cNvSpPr/>
          <p:nvPr/>
        </p:nvSpPr>
        <p:spPr>
          <a:xfrm>
            <a:off x="8622792" y="2057400"/>
            <a:ext cx="457200" cy="45720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8622792" y="2057400"/>
            <a:ext cx="457200" cy="457200"/>
          </a:xfrm>
          <a:prstGeom prst="rect">
            <a:avLst/>
          </a:prstGeom>
          <a:noFill/>
        </p:spPr>
        <p:txBody>
          <a:bodyPr wrap="square" anchor="ctr">
            <a:spAutoFit/>
          </a:bodyPr>
          <a:lstStyle/>
          <a:p>
            <a:pPr algn="ctr">
              <a:spcAft>
                <a:spcPts val="400"/>
              </a:spcAft>
            </a:pPr>
            <a:r>
              <a:rPr sz="2000" b="1">
                <a:solidFill>
                  <a:srgbClr val="FFFFFF"/>
                </a:solidFill>
                <a:latin typeface="Arial"/>
              </a:rPr>
              <a:t>C</a:t>
            </a:r>
          </a:p>
        </p:txBody>
      </p:sp>
      <p:sp>
        <p:nvSpPr>
          <p:cNvPr id="23" name="TextBox 22"/>
          <p:cNvSpPr txBox="1"/>
          <p:nvPr/>
        </p:nvSpPr>
        <p:spPr>
          <a:xfrm>
            <a:off x="9235440" y="2084831"/>
            <a:ext cx="2286000" cy="640080"/>
          </a:xfrm>
          <a:prstGeom prst="rect">
            <a:avLst/>
          </a:prstGeom>
          <a:noFill/>
        </p:spPr>
        <p:txBody>
          <a:bodyPr wrap="square" anchor="ctr">
            <a:spAutoFit/>
          </a:bodyPr>
          <a:lstStyle/>
          <a:p>
            <a:pPr algn="l">
              <a:spcAft>
                <a:spcPts val="400"/>
              </a:spcAft>
            </a:pPr>
            <a:r>
              <a:rPr sz="1450" b="1">
                <a:solidFill>
                  <a:srgbClr val="10B981"/>
                </a:solidFill>
                <a:latin typeface="Arial"/>
              </a:rPr>
              <a:t>Notify only</a:t>
            </a:r>
          </a:p>
        </p:txBody>
      </p:sp>
      <p:sp>
        <p:nvSpPr>
          <p:cNvPr id="24" name="TextBox 23"/>
          <p:cNvSpPr txBox="1"/>
          <p:nvPr/>
        </p:nvSpPr>
        <p:spPr>
          <a:xfrm>
            <a:off x="8622792" y="2788920"/>
            <a:ext cx="2880360" cy="3108960"/>
          </a:xfrm>
          <a:prstGeom prst="rect">
            <a:avLst/>
          </a:prstGeom>
          <a:noFill/>
        </p:spPr>
        <p:txBody>
          <a:bodyPr wrap="square" anchor="t">
            <a:spAutoFit/>
          </a:bodyPr>
          <a:lstStyle/>
          <a:p>
            <a:pPr algn="l">
              <a:spcAft>
                <a:spcPts val="400"/>
              </a:spcAft>
            </a:pPr>
            <a:r>
              <a:rPr sz="1250" b="0">
                <a:solidFill>
                  <a:srgbClr val="161B26"/>
                </a:solidFill>
                <a:latin typeface="Arial"/>
              </a:rPr>
              <a:t>Novel or unclear incidents. Page the on-call with rich context; automation isn't safe until the pattern is understood.</a:t>
            </a:r>
          </a:p>
        </p:txBody>
      </p:sp>
      <p:sp>
        <p:nvSpPr>
          <p:cNvPr id="25" name="TextBox 24"/>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DevOps Engineering on AWS  ·  TGS-2023040474</a:t>
            </a:r>
          </a:p>
        </p:txBody>
      </p:sp>
      <p:sp>
        <p:nvSpPr>
          <p:cNvPr id="26" name="TextBox 25"/>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27" name="TextBox 26"/>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180</a:t>
            </a:r>
          </a:p>
        </p:txBody>
      </p:sp>
    </p:spTree>
  </p:cSld>
  <p:clrMapOvr>
    <a:masterClrMapping/>
  </p:clrMapOvr>
  <p:transition xmlns:p14="http://schemas.microsoft.com/office/powerpoint/2010/main" p14:dur="380">
    <p:fade/>
  </p:transition>
</p:sld>
</file>

<file path=ppt/slides/slide18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EC711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38912"/>
            <a:ext cx="10607040" cy="365760"/>
          </a:xfrm>
          <a:prstGeom prst="rect">
            <a:avLst/>
          </a:prstGeom>
          <a:noFill/>
        </p:spPr>
        <p:txBody>
          <a:bodyPr wrap="square" anchor="t">
            <a:spAutoFit/>
          </a:bodyPr>
          <a:lstStyle/>
          <a:p>
            <a:pPr algn="l">
              <a:spcAft>
                <a:spcPts val="400"/>
              </a:spcAft>
            </a:pPr>
            <a:r>
              <a:rPr sz="1400" b="1">
                <a:solidFill>
                  <a:srgbClr val="EC711E"/>
                </a:solidFill>
                <a:latin typeface="Arial"/>
              </a:rPr>
              <a:t>DETECT AND AUTO-REMEDIATE</a:t>
            </a:r>
          </a:p>
        </p:txBody>
      </p:sp>
      <p:sp>
        <p:nvSpPr>
          <p:cNvPr id="5" name="TextBox 4"/>
          <p:cNvSpPr txBox="1"/>
          <p:nvPr/>
        </p:nvSpPr>
        <p:spPr>
          <a:xfrm>
            <a:off x="777240" y="896112"/>
            <a:ext cx="10927080" cy="731520"/>
          </a:xfrm>
          <a:prstGeom prst="rect">
            <a:avLst/>
          </a:prstGeom>
          <a:noFill/>
        </p:spPr>
        <p:txBody>
          <a:bodyPr wrap="square" anchor="t">
            <a:spAutoFit/>
          </a:bodyPr>
          <a:lstStyle/>
          <a:p>
            <a:pPr algn="l">
              <a:spcAft>
                <a:spcPts val="400"/>
              </a:spcAft>
            </a:pPr>
            <a:r>
              <a:rPr sz="2500" b="1">
                <a:solidFill>
                  <a:srgbClr val="161B26"/>
                </a:solidFill>
                <a:latin typeface="Arial"/>
              </a:rPr>
              <a:t>Scenario — A public S3 bucket appears at 2am</a:t>
            </a:r>
          </a:p>
        </p:txBody>
      </p:sp>
      <p:sp>
        <p:nvSpPr>
          <p:cNvPr id="6" name="Rectangle 5"/>
          <p:cNvSpPr/>
          <p:nvPr/>
        </p:nvSpPr>
        <p:spPr>
          <a:xfrm>
            <a:off x="777240" y="1572768"/>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755648"/>
            <a:ext cx="10634472" cy="91440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1755648"/>
            <a:ext cx="91440" cy="914400"/>
          </a:xfrm>
          <a:prstGeom prst="rect">
            <a:avLst/>
          </a:prstGeom>
          <a:solidFill>
            <a:srgbClr val="5B637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1033272" y="1847088"/>
            <a:ext cx="2194560" cy="320040"/>
          </a:xfrm>
          <a:prstGeom prst="rect">
            <a:avLst/>
          </a:prstGeom>
          <a:noFill/>
        </p:spPr>
        <p:txBody>
          <a:bodyPr wrap="square" anchor="t">
            <a:spAutoFit/>
          </a:bodyPr>
          <a:lstStyle/>
          <a:p>
            <a:pPr algn="l">
              <a:spcAft>
                <a:spcPts val="400"/>
              </a:spcAft>
            </a:pPr>
            <a:r>
              <a:rPr sz="1150" b="1">
                <a:solidFill>
                  <a:srgbClr val="5B6372"/>
                </a:solidFill>
                <a:latin typeface="Arial"/>
              </a:rPr>
              <a:t>SITUATION</a:t>
            </a:r>
          </a:p>
        </p:txBody>
      </p:sp>
      <p:sp>
        <p:nvSpPr>
          <p:cNvPr id="10" name="TextBox 9"/>
          <p:cNvSpPr txBox="1"/>
          <p:nvPr/>
        </p:nvSpPr>
        <p:spPr>
          <a:xfrm>
            <a:off x="1033272" y="2157984"/>
            <a:ext cx="10085832" cy="457200"/>
          </a:xfrm>
          <a:prstGeom prst="rect">
            <a:avLst/>
          </a:prstGeom>
          <a:noFill/>
        </p:spPr>
        <p:txBody>
          <a:bodyPr wrap="square" anchor="t">
            <a:spAutoFit/>
          </a:bodyPr>
          <a:lstStyle/>
          <a:p>
            <a:pPr algn="l">
              <a:spcAft>
                <a:spcPts val="400"/>
              </a:spcAft>
            </a:pPr>
            <a:r>
              <a:rPr sz="1300" b="0">
                <a:solidFill>
                  <a:srgbClr val="161B26"/>
                </a:solidFill>
                <a:latin typeface="Arial"/>
              </a:rPr>
              <a:t>Someone changes a bucket to public. Data exposure risk is immediate; no engineer is awake.</a:t>
            </a:r>
          </a:p>
        </p:txBody>
      </p:sp>
      <p:sp>
        <p:nvSpPr>
          <p:cNvPr id="11" name="Rectangle 10"/>
          <p:cNvSpPr/>
          <p:nvPr/>
        </p:nvSpPr>
        <p:spPr>
          <a:xfrm>
            <a:off x="777240" y="2788920"/>
            <a:ext cx="10634472" cy="2194560"/>
          </a:xfrm>
          <a:prstGeom prst="rect">
            <a:avLst/>
          </a:prstGeom>
          <a:solidFill>
            <a:srgbClr val="FFFFFF"/>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ectangle 11"/>
          <p:cNvSpPr/>
          <p:nvPr/>
        </p:nvSpPr>
        <p:spPr>
          <a:xfrm>
            <a:off x="777240" y="2788920"/>
            <a:ext cx="91440" cy="2194560"/>
          </a:xfrm>
          <a:prstGeom prst="rect">
            <a:avLst/>
          </a:prstGeom>
          <a:solidFill>
            <a:srgbClr val="EC711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1033272" y="2880360"/>
            <a:ext cx="2743200" cy="320040"/>
          </a:xfrm>
          <a:prstGeom prst="rect">
            <a:avLst/>
          </a:prstGeom>
          <a:noFill/>
        </p:spPr>
        <p:txBody>
          <a:bodyPr wrap="square" anchor="t">
            <a:spAutoFit/>
          </a:bodyPr>
          <a:lstStyle/>
          <a:p>
            <a:pPr algn="l">
              <a:spcAft>
                <a:spcPts val="400"/>
              </a:spcAft>
            </a:pPr>
            <a:r>
              <a:rPr sz="1150" b="1">
                <a:solidFill>
                  <a:srgbClr val="EC711E"/>
                </a:solidFill>
                <a:latin typeface="Arial"/>
              </a:rPr>
              <a:t>ANALYSIS</a:t>
            </a:r>
          </a:p>
        </p:txBody>
      </p:sp>
      <p:sp>
        <p:nvSpPr>
          <p:cNvPr id="14" name="TextBox 13"/>
          <p:cNvSpPr txBox="1"/>
          <p:nvPr/>
        </p:nvSpPr>
        <p:spPr>
          <a:xfrm>
            <a:off x="1033272" y="3246120"/>
            <a:ext cx="9994392" cy="1645920"/>
          </a:xfrm>
          <a:prstGeom prst="rect">
            <a:avLst/>
          </a:prstGeom>
          <a:noFill/>
        </p:spPr>
        <p:txBody>
          <a:bodyPr wrap="square">
            <a:spAutoFit/>
          </a:bodyPr>
          <a:lstStyle/>
          <a:p>
            <a:pPr>
              <a:spcAft>
                <a:spcPts val="700"/>
              </a:spcAft>
            </a:pPr>
            <a:r>
              <a:rPr sz="1300" b="0">
                <a:solidFill>
                  <a:srgbClr val="161B26"/>
                </a:solidFill>
                <a:latin typeface="Arial"/>
              </a:rPr>
              <a:t>•  AWS Config's s3-bucket-public-read-prohibited rule detects the non-compliant state within minutes.</a:t>
            </a:r>
          </a:p>
          <a:p>
            <a:pPr>
              <a:spcAft>
                <a:spcPts val="700"/>
              </a:spcAft>
            </a:pPr>
            <a:r>
              <a:rPr sz="1300" b="0">
                <a:solidFill>
                  <a:srgbClr val="161B26"/>
                </a:solidFill>
                <a:latin typeface="Arial"/>
              </a:rPr>
              <a:t>•  An EventBridge rule on the Config compliance-change event can trigger an SSM Automation remediation.</a:t>
            </a:r>
          </a:p>
          <a:p>
            <a:pPr>
              <a:spcAft>
                <a:spcPts val="700"/>
              </a:spcAft>
            </a:pPr>
            <a:r>
              <a:rPr sz="1300" b="0">
                <a:solidFill>
                  <a:srgbClr val="161B26"/>
                </a:solidFill>
                <a:latin typeface="Arial"/>
              </a:rPr>
              <a:t>•  The remediation re-applies Block Public Access and SNS notifies the security channel.</a:t>
            </a:r>
          </a:p>
        </p:txBody>
      </p:sp>
      <p:sp>
        <p:nvSpPr>
          <p:cNvPr id="15" name="Rectangle 14"/>
          <p:cNvSpPr/>
          <p:nvPr/>
        </p:nvSpPr>
        <p:spPr>
          <a:xfrm>
            <a:off x="777240" y="5102352"/>
            <a:ext cx="10634472" cy="96012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ectangle 15"/>
          <p:cNvSpPr/>
          <p:nvPr/>
        </p:nvSpPr>
        <p:spPr>
          <a:xfrm>
            <a:off x="777240" y="5102352"/>
            <a:ext cx="91440" cy="9601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1033272" y="5193792"/>
            <a:ext cx="2743200" cy="320040"/>
          </a:xfrm>
          <a:prstGeom prst="rect">
            <a:avLst/>
          </a:prstGeom>
          <a:noFill/>
        </p:spPr>
        <p:txBody>
          <a:bodyPr wrap="square" anchor="t">
            <a:spAutoFit/>
          </a:bodyPr>
          <a:lstStyle/>
          <a:p>
            <a:pPr algn="l">
              <a:spcAft>
                <a:spcPts val="400"/>
              </a:spcAft>
            </a:pPr>
            <a:r>
              <a:rPr sz="1150" b="1">
                <a:solidFill>
                  <a:srgbClr val="10B981"/>
                </a:solidFill>
                <a:latin typeface="Arial"/>
              </a:rPr>
              <a:t>DECISION</a:t>
            </a:r>
          </a:p>
        </p:txBody>
      </p:sp>
      <p:sp>
        <p:nvSpPr>
          <p:cNvPr id="18" name="TextBox 17"/>
          <p:cNvSpPr txBox="1"/>
          <p:nvPr/>
        </p:nvSpPr>
        <p:spPr>
          <a:xfrm>
            <a:off x="1033272" y="5486400"/>
            <a:ext cx="10085832" cy="548640"/>
          </a:xfrm>
          <a:prstGeom prst="rect">
            <a:avLst/>
          </a:prstGeom>
          <a:noFill/>
        </p:spPr>
        <p:txBody>
          <a:bodyPr wrap="square" anchor="t">
            <a:spAutoFit/>
          </a:bodyPr>
          <a:lstStyle/>
          <a:p>
            <a:pPr algn="l">
              <a:spcAft>
                <a:spcPts val="400"/>
              </a:spcAft>
            </a:pPr>
            <a:r>
              <a:rPr sz="1300" b="1">
                <a:solidFill>
                  <a:srgbClr val="161B26"/>
                </a:solidFill>
                <a:latin typeface="Arial"/>
              </a:rPr>
              <a:t>Wire Config → EventBridge → SSM Automation to auto-remediate and notify, so the exposure window is minutes and unattended — with the action logged for the morning review.</a:t>
            </a:r>
          </a:p>
        </p:txBody>
      </p:sp>
      <p:sp>
        <p:nvSpPr>
          <p:cNvPr id="19" name="TextBox 18"/>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DevOps Engineering on AWS  ·  TGS-2023040474</a:t>
            </a:r>
          </a:p>
        </p:txBody>
      </p:sp>
      <p:sp>
        <p:nvSpPr>
          <p:cNvPr id="20" name="TextBox 19"/>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21" name="TextBox 20"/>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181</a:t>
            </a:r>
          </a:p>
        </p:txBody>
      </p:sp>
    </p:spTree>
  </p:cSld>
  <p:clrMapOvr>
    <a:masterClrMapping/>
  </p:clrMapOvr>
  <p:transition xmlns:p14="http://schemas.microsoft.com/office/powerpoint/2010/main" p14:dur="380">
    <p:fade/>
  </p:transition>
</p:sld>
</file>

<file path=ppt/slides/slide18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EC711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38912"/>
            <a:ext cx="10607040" cy="365760"/>
          </a:xfrm>
          <a:prstGeom prst="rect">
            <a:avLst/>
          </a:prstGeom>
          <a:noFill/>
        </p:spPr>
        <p:txBody>
          <a:bodyPr wrap="square" anchor="t">
            <a:spAutoFit/>
          </a:bodyPr>
          <a:lstStyle/>
          <a:p>
            <a:pPr algn="l">
              <a:spcAft>
                <a:spcPts val="400"/>
              </a:spcAft>
            </a:pPr>
            <a:r>
              <a:rPr sz="1400" b="1">
                <a:solidFill>
                  <a:srgbClr val="EC711E"/>
                </a:solidFill>
                <a:latin typeface="Arial"/>
              </a:rPr>
              <a:t>RELEASE-HEALTH AUTOMATION</a:t>
            </a:r>
          </a:p>
        </p:txBody>
      </p:sp>
      <p:sp>
        <p:nvSpPr>
          <p:cNvPr id="5" name="TextBox 4"/>
          <p:cNvSpPr txBox="1"/>
          <p:nvPr/>
        </p:nvSpPr>
        <p:spPr>
          <a:xfrm>
            <a:off x="777240" y="804672"/>
            <a:ext cx="10927080" cy="731520"/>
          </a:xfrm>
          <a:prstGeom prst="rect">
            <a:avLst/>
          </a:prstGeom>
          <a:noFill/>
        </p:spPr>
        <p:txBody>
          <a:bodyPr wrap="square" anchor="t">
            <a:spAutoFit/>
          </a:bodyPr>
          <a:lstStyle/>
          <a:p>
            <a:pPr algn="l">
              <a:spcAft>
                <a:spcPts val="400"/>
              </a:spcAft>
            </a:pPr>
            <a:r>
              <a:rPr sz="2900" b="1">
                <a:solidFill>
                  <a:srgbClr val="161B26"/>
                </a:solidFill>
                <a:latin typeface="Arial"/>
              </a:rPr>
              <a:t>Scenario — A deploy degrades error rate</a:t>
            </a:r>
          </a:p>
        </p:txBody>
      </p:sp>
      <p:sp>
        <p:nvSpPr>
          <p:cNvPr id="6" name="Rectangle 5"/>
          <p:cNvSpPr/>
          <p:nvPr/>
        </p:nvSpPr>
        <p:spPr>
          <a:xfrm>
            <a:off x="777240" y="1572768"/>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755648"/>
            <a:ext cx="10634472" cy="91440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1755648"/>
            <a:ext cx="91440" cy="914400"/>
          </a:xfrm>
          <a:prstGeom prst="rect">
            <a:avLst/>
          </a:prstGeom>
          <a:solidFill>
            <a:srgbClr val="5B637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1033272" y="1847088"/>
            <a:ext cx="2194560" cy="320040"/>
          </a:xfrm>
          <a:prstGeom prst="rect">
            <a:avLst/>
          </a:prstGeom>
          <a:noFill/>
        </p:spPr>
        <p:txBody>
          <a:bodyPr wrap="square" anchor="t">
            <a:spAutoFit/>
          </a:bodyPr>
          <a:lstStyle/>
          <a:p>
            <a:pPr algn="l">
              <a:spcAft>
                <a:spcPts val="400"/>
              </a:spcAft>
            </a:pPr>
            <a:r>
              <a:rPr sz="1150" b="1">
                <a:solidFill>
                  <a:srgbClr val="5B6372"/>
                </a:solidFill>
                <a:latin typeface="Arial"/>
              </a:rPr>
              <a:t>SITUATION</a:t>
            </a:r>
          </a:p>
        </p:txBody>
      </p:sp>
      <p:sp>
        <p:nvSpPr>
          <p:cNvPr id="10" name="TextBox 9"/>
          <p:cNvSpPr txBox="1"/>
          <p:nvPr/>
        </p:nvSpPr>
        <p:spPr>
          <a:xfrm>
            <a:off x="1033272" y="2157984"/>
            <a:ext cx="10085832" cy="457200"/>
          </a:xfrm>
          <a:prstGeom prst="rect">
            <a:avLst/>
          </a:prstGeom>
          <a:noFill/>
        </p:spPr>
        <p:txBody>
          <a:bodyPr wrap="square" anchor="t">
            <a:spAutoFit/>
          </a:bodyPr>
          <a:lstStyle/>
          <a:p>
            <a:pPr algn="l">
              <a:spcAft>
                <a:spcPts val="400"/>
              </a:spcAft>
            </a:pPr>
            <a:r>
              <a:rPr sz="1300" b="0">
                <a:solidFill>
                  <a:srgbClr val="161B26"/>
                </a:solidFill>
                <a:latin typeface="Arial"/>
              </a:rPr>
              <a:t>Minutes after a rollout, the error-rate alarm crosses threshold.</a:t>
            </a:r>
          </a:p>
        </p:txBody>
      </p:sp>
      <p:sp>
        <p:nvSpPr>
          <p:cNvPr id="11" name="Rectangle 10"/>
          <p:cNvSpPr/>
          <p:nvPr/>
        </p:nvSpPr>
        <p:spPr>
          <a:xfrm>
            <a:off x="777240" y="2788920"/>
            <a:ext cx="10634472" cy="2194560"/>
          </a:xfrm>
          <a:prstGeom prst="rect">
            <a:avLst/>
          </a:prstGeom>
          <a:solidFill>
            <a:srgbClr val="FFFFFF"/>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ectangle 11"/>
          <p:cNvSpPr/>
          <p:nvPr/>
        </p:nvSpPr>
        <p:spPr>
          <a:xfrm>
            <a:off x="777240" y="2788920"/>
            <a:ext cx="91440" cy="2194560"/>
          </a:xfrm>
          <a:prstGeom prst="rect">
            <a:avLst/>
          </a:prstGeom>
          <a:solidFill>
            <a:srgbClr val="EC711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1033272" y="2880360"/>
            <a:ext cx="2743200" cy="320040"/>
          </a:xfrm>
          <a:prstGeom prst="rect">
            <a:avLst/>
          </a:prstGeom>
          <a:noFill/>
        </p:spPr>
        <p:txBody>
          <a:bodyPr wrap="square" anchor="t">
            <a:spAutoFit/>
          </a:bodyPr>
          <a:lstStyle/>
          <a:p>
            <a:pPr algn="l">
              <a:spcAft>
                <a:spcPts val="400"/>
              </a:spcAft>
            </a:pPr>
            <a:r>
              <a:rPr sz="1150" b="1">
                <a:solidFill>
                  <a:srgbClr val="EC711E"/>
                </a:solidFill>
                <a:latin typeface="Arial"/>
              </a:rPr>
              <a:t>ANALYSIS</a:t>
            </a:r>
          </a:p>
        </p:txBody>
      </p:sp>
      <p:sp>
        <p:nvSpPr>
          <p:cNvPr id="14" name="TextBox 13"/>
          <p:cNvSpPr txBox="1"/>
          <p:nvPr/>
        </p:nvSpPr>
        <p:spPr>
          <a:xfrm>
            <a:off x="1033272" y="3246120"/>
            <a:ext cx="9994392" cy="1645920"/>
          </a:xfrm>
          <a:prstGeom prst="rect">
            <a:avLst/>
          </a:prstGeom>
          <a:noFill/>
        </p:spPr>
        <p:txBody>
          <a:bodyPr wrap="square">
            <a:spAutoFit/>
          </a:bodyPr>
          <a:lstStyle/>
          <a:p>
            <a:pPr>
              <a:spcAft>
                <a:spcPts val="700"/>
              </a:spcAft>
            </a:pPr>
            <a:r>
              <a:rPr sz="1300" b="0">
                <a:solidFill>
                  <a:srgbClr val="161B26"/>
                </a:solidFill>
                <a:latin typeface="Arial"/>
              </a:rPr>
              <a:t>•  The alarm can be an automatic rollback trigger for the CodeDeploy deployment, no human needed.</a:t>
            </a:r>
          </a:p>
          <a:p>
            <a:pPr>
              <a:spcAft>
                <a:spcPts val="700"/>
              </a:spcAft>
            </a:pPr>
            <a:r>
              <a:rPr sz="1300" b="0">
                <a:solidFill>
                  <a:srgbClr val="161B26"/>
                </a:solidFill>
                <a:latin typeface="Arial"/>
              </a:rPr>
              <a:t>•  EventBridge can also notify the team and open an incident record for context.</a:t>
            </a:r>
          </a:p>
          <a:p>
            <a:pPr>
              <a:spcAft>
                <a:spcPts val="700"/>
              </a:spcAft>
            </a:pPr>
            <a:r>
              <a:rPr sz="1300" b="0">
                <a:solidFill>
                  <a:srgbClr val="161B26"/>
                </a:solidFill>
                <a:latin typeface="Arial"/>
              </a:rPr>
              <a:t>•  A post-incident action is to move the service to canary so 5% catches this next time.</a:t>
            </a:r>
          </a:p>
        </p:txBody>
      </p:sp>
      <p:sp>
        <p:nvSpPr>
          <p:cNvPr id="15" name="Rectangle 14"/>
          <p:cNvSpPr/>
          <p:nvPr/>
        </p:nvSpPr>
        <p:spPr>
          <a:xfrm>
            <a:off x="777240" y="5102352"/>
            <a:ext cx="10634472" cy="96012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ectangle 15"/>
          <p:cNvSpPr/>
          <p:nvPr/>
        </p:nvSpPr>
        <p:spPr>
          <a:xfrm>
            <a:off x="777240" y="5102352"/>
            <a:ext cx="91440" cy="9601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1033272" y="5193792"/>
            <a:ext cx="2743200" cy="320040"/>
          </a:xfrm>
          <a:prstGeom prst="rect">
            <a:avLst/>
          </a:prstGeom>
          <a:noFill/>
        </p:spPr>
        <p:txBody>
          <a:bodyPr wrap="square" anchor="t">
            <a:spAutoFit/>
          </a:bodyPr>
          <a:lstStyle/>
          <a:p>
            <a:pPr algn="l">
              <a:spcAft>
                <a:spcPts val="400"/>
              </a:spcAft>
            </a:pPr>
            <a:r>
              <a:rPr sz="1150" b="1">
                <a:solidFill>
                  <a:srgbClr val="10B981"/>
                </a:solidFill>
                <a:latin typeface="Arial"/>
              </a:rPr>
              <a:t>DECISION</a:t>
            </a:r>
          </a:p>
        </p:txBody>
      </p:sp>
      <p:sp>
        <p:nvSpPr>
          <p:cNvPr id="18" name="TextBox 17"/>
          <p:cNvSpPr txBox="1"/>
          <p:nvPr/>
        </p:nvSpPr>
        <p:spPr>
          <a:xfrm>
            <a:off x="1033272" y="5486400"/>
            <a:ext cx="10085832" cy="548640"/>
          </a:xfrm>
          <a:prstGeom prst="rect">
            <a:avLst/>
          </a:prstGeom>
          <a:noFill/>
        </p:spPr>
        <p:txBody>
          <a:bodyPr wrap="square" anchor="t">
            <a:spAutoFit/>
          </a:bodyPr>
          <a:lstStyle/>
          <a:p>
            <a:pPr algn="l">
              <a:spcAft>
                <a:spcPts val="400"/>
              </a:spcAft>
            </a:pPr>
            <a:r>
              <a:rPr sz="1300" b="1">
                <a:solidFill>
                  <a:srgbClr val="161B26"/>
                </a:solidFill>
                <a:latin typeface="Arial"/>
              </a:rPr>
              <a:t>Bind the error-rate alarm to CodeDeploy auto-rollback and notify in parallel; recovery becomes automatic and the follow-up hardens the pipeline.</a:t>
            </a:r>
          </a:p>
        </p:txBody>
      </p:sp>
      <p:sp>
        <p:nvSpPr>
          <p:cNvPr id="19" name="TextBox 18"/>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DevOps Engineering on AWS  ·  TGS-2023040474</a:t>
            </a:r>
          </a:p>
        </p:txBody>
      </p:sp>
      <p:sp>
        <p:nvSpPr>
          <p:cNvPr id="20" name="TextBox 19"/>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21" name="TextBox 20"/>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182</a:t>
            </a:r>
          </a:p>
        </p:txBody>
      </p:sp>
    </p:spTree>
  </p:cSld>
  <p:clrMapOvr>
    <a:masterClrMapping/>
  </p:clrMapOvr>
  <p:transition xmlns:p14="http://schemas.microsoft.com/office/powerpoint/2010/main" p14:dur="380">
    <p:fade/>
  </p:transition>
</p:sld>
</file>

<file path=ppt/slides/slide18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EC711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38912"/>
            <a:ext cx="10607040" cy="365760"/>
          </a:xfrm>
          <a:prstGeom prst="rect">
            <a:avLst/>
          </a:prstGeom>
          <a:noFill/>
        </p:spPr>
        <p:txBody>
          <a:bodyPr wrap="square" anchor="t">
            <a:spAutoFit/>
          </a:bodyPr>
          <a:lstStyle/>
          <a:p>
            <a:pPr algn="l">
              <a:spcAft>
                <a:spcPts val="400"/>
              </a:spcAft>
            </a:pPr>
            <a:r>
              <a:rPr sz="1400" b="1">
                <a:solidFill>
                  <a:srgbClr val="EC711E"/>
                </a:solidFill>
                <a:latin typeface="Arial"/>
              </a:rPr>
              <a:t>EVENT TO RECOVERY</a:t>
            </a:r>
          </a:p>
        </p:txBody>
      </p:sp>
      <p:sp>
        <p:nvSpPr>
          <p:cNvPr id="5" name="TextBox 4"/>
          <p:cNvSpPr txBox="1"/>
          <p:nvPr/>
        </p:nvSpPr>
        <p:spPr>
          <a:xfrm>
            <a:off x="777240" y="896112"/>
            <a:ext cx="10927080" cy="731520"/>
          </a:xfrm>
          <a:prstGeom prst="rect">
            <a:avLst/>
          </a:prstGeom>
          <a:noFill/>
        </p:spPr>
        <p:txBody>
          <a:bodyPr wrap="square" anchor="t">
            <a:spAutoFit/>
          </a:bodyPr>
          <a:lstStyle/>
          <a:p>
            <a:pPr algn="l">
              <a:spcAft>
                <a:spcPts val="400"/>
              </a:spcAft>
            </a:pPr>
            <a:r>
              <a:rPr sz="2500" b="1">
                <a:solidFill>
                  <a:srgbClr val="161B26"/>
                </a:solidFill>
                <a:latin typeface="Arial"/>
              </a:rPr>
              <a:t>Worked Analysis — Anatomy of an Automated Response</a:t>
            </a:r>
          </a:p>
        </p:txBody>
      </p:sp>
      <p:sp>
        <p:nvSpPr>
          <p:cNvPr id="6" name="Rectangle 5"/>
          <p:cNvSpPr/>
          <p:nvPr/>
        </p:nvSpPr>
        <p:spPr>
          <a:xfrm>
            <a:off x="777240" y="1572768"/>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783080"/>
            <a:ext cx="4253788" cy="765810"/>
          </a:xfrm>
          <a:prstGeom prst="rect">
            <a:avLst/>
          </a:prstGeom>
          <a:solidFill>
            <a:srgbClr val="F5F8FC"/>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1783080"/>
            <a:ext cx="73152" cy="765810"/>
          </a:xfrm>
          <a:prstGeom prst="rect">
            <a:avLst/>
          </a:prstGeom>
          <a:solidFill>
            <a:srgbClr val="EC711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5031028" y="1783080"/>
            <a:ext cx="6380684" cy="765810"/>
          </a:xfrm>
          <a:prstGeom prst="rect">
            <a:avLst/>
          </a:prstGeom>
          <a:solidFill>
            <a:srgbClr val="F5F8FC"/>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978408" y="1783080"/>
            <a:ext cx="3933748" cy="765810"/>
          </a:xfrm>
          <a:prstGeom prst="rect">
            <a:avLst/>
          </a:prstGeom>
          <a:noFill/>
        </p:spPr>
        <p:txBody>
          <a:bodyPr wrap="square" anchor="ctr">
            <a:spAutoFit/>
          </a:bodyPr>
          <a:lstStyle/>
          <a:p>
            <a:pPr algn="l">
              <a:spcAft>
                <a:spcPts val="400"/>
              </a:spcAft>
            </a:pPr>
            <a:r>
              <a:rPr sz="1250" b="1">
                <a:solidFill>
                  <a:srgbClr val="161B26"/>
                </a:solidFill>
                <a:latin typeface="Arial"/>
              </a:rPr>
              <a:t>Signal</a:t>
            </a:r>
          </a:p>
        </p:txBody>
      </p:sp>
      <p:sp>
        <p:nvSpPr>
          <p:cNvPr id="11" name="TextBox 10"/>
          <p:cNvSpPr txBox="1"/>
          <p:nvPr/>
        </p:nvSpPr>
        <p:spPr>
          <a:xfrm>
            <a:off x="5213908" y="1783080"/>
            <a:ext cx="6060644" cy="765810"/>
          </a:xfrm>
          <a:prstGeom prst="rect">
            <a:avLst/>
          </a:prstGeom>
          <a:noFill/>
        </p:spPr>
        <p:txBody>
          <a:bodyPr wrap="square" anchor="ctr">
            <a:spAutoFit/>
          </a:bodyPr>
          <a:lstStyle/>
          <a:p>
            <a:pPr algn="l">
              <a:spcAft>
                <a:spcPts val="400"/>
              </a:spcAft>
            </a:pPr>
            <a:r>
              <a:rPr sz="1200" b="0">
                <a:solidFill>
                  <a:srgbClr val="5B6372"/>
                </a:solidFill>
                <a:latin typeface="Arial"/>
              </a:rPr>
              <a:t>CloudWatch alarm / Config finding / service event fires.</a:t>
            </a:r>
          </a:p>
        </p:txBody>
      </p:sp>
      <p:sp>
        <p:nvSpPr>
          <p:cNvPr id="12" name="Rectangle 11"/>
          <p:cNvSpPr/>
          <p:nvPr/>
        </p:nvSpPr>
        <p:spPr>
          <a:xfrm>
            <a:off x="777240" y="2548890"/>
            <a:ext cx="4253788" cy="765810"/>
          </a:xfrm>
          <a:prstGeom prst="rect">
            <a:avLst/>
          </a:prstGeom>
          <a:solidFill>
            <a:srgbClr val="FFFFFF"/>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777240" y="2548890"/>
            <a:ext cx="73152" cy="765810"/>
          </a:xfrm>
          <a:prstGeom prst="rect">
            <a:avLst/>
          </a:prstGeom>
          <a:solidFill>
            <a:srgbClr val="EC711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ectangle 13"/>
          <p:cNvSpPr/>
          <p:nvPr/>
        </p:nvSpPr>
        <p:spPr>
          <a:xfrm>
            <a:off x="5031028" y="2548890"/>
            <a:ext cx="6380684" cy="765810"/>
          </a:xfrm>
          <a:prstGeom prst="rect">
            <a:avLst/>
          </a:prstGeom>
          <a:solidFill>
            <a:srgbClr val="FFFFFF"/>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978408" y="2548890"/>
            <a:ext cx="3933748" cy="765810"/>
          </a:xfrm>
          <a:prstGeom prst="rect">
            <a:avLst/>
          </a:prstGeom>
          <a:noFill/>
        </p:spPr>
        <p:txBody>
          <a:bodyPr wrap="square" anchor="ctr">
            <a:spAutoFit/>
          </a:bodyPr>
          <a:lstStyle/>
          <a:p>
            <a:pPr algn="l">
              <a:spcAft>
                <a:spcPts val="400"/>
              </a:spcAft>
            </a:pPr>
            <a:r>
              <a:rPr sz="1250" b="1">
                <a:solidFill>
                  <a:srgbClr val="161B26"/>
                </a:solidFill>
                <a:latin typeface="Arial"/>
              </a:rPr>
              <a:t>Route</a:t>
            </a:r>
          </a:p>
        </p:txBody>
      </p:sp>
      <p:sp>
        <p:nvSpPr>
          <p:cNvPr id="16" name="TextBox 15"/>
          <p:cNvSpPr txBox="1"/>
          <p:nvPr/>
        </p:nvSpPr>
        <p:spPr>
          <a:xfrm>
            <a:off x="5213908" y="2548890"/>
            <a:ext cx="6060644" cy="765810"/>
          </a:xfrm>
          <a:prstGeom prst="rect">
            <a:avLst/>
          </a:prstGeom>
          <a:noFill/>
        </p:spPr>
        <p:txBody>
          <a:bodyPr wrap="square" anchor="ctr">
            <a:spAutoFit/>
          </a:bodyPr>
          <a:lstStyle/>
          <a:p>
            <a:pPr algn="l">
              <a:spcAft>
                <a:spcPts val="400"/>
              </a:spcAft>
            </a:pPr>
            <a:r>
              <a:rPr sz="1200" b="0">
                <a:solidFill>
                  <a:srgbClr val="5B6372"/>
                </a:solidFill>
                <a:latin typeface="Arial"/>
              </a:rPr>
              <a:t>EventBridge rule matches the event pattern precisely.</a:t>
            </a:r>
          </a:p>
        </p:txBody>
      </p:sp>
      <p:sp>
        <p:nvSpPr>
          <p:cNvPr id="17" name="Rectangle 16"/>
          <p:cNvSpPr/>
          <p:nvPr/>
        </p:nvSpPr>
        <p:spPr>
          <a:xfrm>
            <a:off x="777240" y="3314700"/>
            <a:ext cx="4253788" cy="765810"/>
          </a:xfrm>
          <a:prstGeom prst="rect">
            <a:avLst/>
          </a:prstGeom>
          <a:solidFill>
            <a:srgbClr val="F5F8FC"/>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777240" y="3314700"/>
            <a:ext cx="73152" cy="765810"/>
          </a:xfrm>
          <a:prstGeom prst="rect">
            <a:avLst/>
          </a:prstGeom>
          <a:solidFill>
            <a:srgbClr val="EC711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Rectangle 18"/>
          <p:cNvSpPr/>
          <p:nvPr/>
        </p:nvSpPr>
        <p:spPr>
          <a:xfrm>
            <a:off x="5031028" y="3314700"/>
            <a:ext cx="6380684" cy="765810"/>
          </a:xfrm>
          <a:prstGeom prst="rect">
            <a:avLst/>
          </a:prstGeom>
          <a:solidFill>
            <a:srgbClr val="F5F8FC"/>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978408" y="3314700"/>
            <a:ext cx="3933748" cy="765810"/>
          </a:xfrm>
          <a:prstGeom prst="rect">
            <a:avLst/>
          </a:prstGeom>
          <a:noFill/>
        </p:spPr>
        <p:txBody>
          <a:bodyPr wrap="square" anchor="ctr">
            <a:spAutoFit/>
          </a:bodyPr>
          <a:lstStyle/>
          <a:p>
            <a:pPr algn="l">
              <a:spcAft>
                <a:spcPts val="400"/>
              </a:spcAft>
            </a:pPr>
            <a:r>
              <a:rPr sz="1250" b="1">
                <a:solidFill>
                  <a:srgbClr val="161B26"/>
                </a:solidFill>
                <a:latin typeface="Arial"/>
              </a:rPr>
              <a:t>Notify</a:t>
            </a:r>
          </a:p>
        </p:txBody>
      </p:sp>
      <p:sp>
        <p:nvSpPr>
          <p:cNvPr id="21" name="TextBox 20"/>
          <p:cNvSpPr txBox="1"/>
          <p:nvPr/>
        </p:nvSpPr>
        <p:spPr>
          <a:xfrm>
            <a:off x="5213908" y="3314700"/>
            <a:ext cx="6060644" cy="765810"/>
          </a:xfrm>
          <a:prstGeom prst="rect">
            <a:avLst/>
          </a:prstGeom>
          <a:noFill/>
        </p:spPr>
        <p:txBody>
          <a:bodyPr wrap="square" anchor="ctr">
            <a:spAutoFit/>
          </a:bodyPr>
          <a:lstStyle/>
          <a:p>
            <a:pPr algn="l">
              <a:spcAft>
                <a:spcPts val="400"/>
              </a:spcAft>
            </a:pPr>
            <a:r>
              <a:rPr sz="1200" b="0">
                <a:solidFill>
                  <a:srgbClr val="5B6372"/>
                </a:solidFill>
                <a:latin typeface="Arial"/>
              </a:rPr>
              <a:t>SNS informs responders with context — they watch, not scramble.</a:t>
            </a:r>
          </a:p>
        </p:txBody>
      </p:sp>
      <p:sp>
        <p:nvSpPr>
          <p:cNvPr id="22" name="Rectangle 21"/>
          <p:cNvSpPr/>
          <p:nvPr/>
        </p:nvSpPr>
        <p:spPr>
          <a:xfrm>
            <a:off x="777240" y="4080510"/>
            <a:ext cx="4253788" cy="765810"/>
          </a:xfrm>
          <a:prstGeom prst="rect">
            <a:avLst/>
          </a:prstGeom>
          <a:solidFill>
            <a:srgbClr val="FFFFFF"/>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ectangle 22"/>
          <p:cNvSpPr/>
          <p:nvPr/>
        </p:nvSpPr>
        <p:spPr>
          <a:xfrm>
            <a:off x="777240" y="4080510"/>
            <a:ext cx="73152" cy="765810"/>
          </a:xfrm>
          <a:prstGeom prst="rect">
            <a:avLst/>
          </a:prstGeom>
          <a:solidFill>
            <a:srgbClr val="EC711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Rectangle 23"/>
          <p:cNvSpPr/>
          <p:nvPr/>
        </p:nvSpPr>
        <p:spPr>
          <a:xfrm>
            <a:off x="5031028" y="4080510"/>
            <a:ext cx="6380684" cy="765810"/>
          </a:xfrm>
          <a:prstGeom prst="rect">
            <a:avLst/>
          </a:prstGeom>
          <a:solidFill>
            <a:srgbClr val="FFFFFF"/>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978408" y="4080510"/>
            <a:ext cx="3933748" cy="765810"/>
          </a:xfrm>
          <a:prstGeom prst="rect">
            <a:avLst/>
          </a:prstGeom>
          <a:noFill/>
        </p:spPr>
        <p:txBody>
          <a:bodyPr wrap="square" anchor="ctr">
            <a:spAutoFit/>
          </a:bodyPr>
          <a:lstStyle/>
          <a:p>
            <a:pPr algn="l">
              <a:spcAft>
                <a:spcPts val="400"/>
              </a:spcAft>
            </a:pPr>
            <a:r>
              <a:rPr sz="1250" b="1">
                <a:solidFill>
                  <a:srgbClr val="161B26"/>
                </a:solidFill>
                <a:latin typeface="Arial"/>
              </a:rPr>
              <a:t>Act &amp; verify</a:t>
            </a:r>
          </a:p>
        </p:txBody>
      </p:sp>
      <p:sp>
        <p:nvSpPr>
          <p:cNvPr id="26" name="TextBox 25"/>
          <p:cNvSpPr txBox="1"/>
          <p:nvPr/>
        </p:nvSpPr>
        <p:spPr>
          <a:xfrm>
            <a:off x="5213908" y="4080510"/>
            <a:ext cx="6060644" cy="765810"/>
          </a:xfrm>
          <a:prstGeom prst="rect">
            <a:avLst/>
          </a:prstGeom>
          <a:noFill/>
        </p:spPr>
        <p:txBody>
          <a:bodyPr wrap="square" anchor="ctr">
            <a:spAutoFit/>
          </a:bodyPr>
          <a:lstStyle/>
          <a:p>
            <a:pPr algn="l">
              <a:spcAft>
                <a:spcPts val="400"/>
              </a:spcAft>
            </a:pPr>
            <a:r>
              <a:rPr sz="1200" b="0">
                <a:solidFill>
                  <a:srgbClr val="5B6372"/>
                </a:solidFill>
                <a:latin typeface="Arial"/>
              </a:rPr>
              <a:t>Lambda/SSM runbook remediates; a follow-up check confirms healthy state, else escalates.</a:t>
            </a:r>
          </a:p>
        </p:txBody>
      </p:sp>
      <p:sp>
        <p:nvSpPr>
          <p:cNvPr id="27" name="Rectangle 26"/>
          <p:cNvSpPr/>
          <p:nvPr/>
        </p:nvSpPr>
        <p:spPr>
          <a:xfrm>
            <a:off x="777240" y="5010912"/>
            <a:ext cx="10634472" cy="86868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Rectangle 27"/>
          <p:cNvSpPr/>
          <p:nvPr/>
        </p:nvSpPr>
        <p:spPr>
          <a:xfrm>
            <a:off x="777240" y="5010912"/>
            <a:ext cx="91440" cy="86868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TextBox 28"/>
          <p:cNvSpPr txBox="1"/>
          <p:nvPr/>
        </p:nvSpPr>
        <p:spPr>
          <a:xfrm>
            <a:off x="1033272" y="5102352"/>
            <a:ext cx="2743200" cy="320040"/>
          </a:xfrm>
          <a:prstGeom prst="rect">
            <a:avLst/>
          </a:prstGeom>
          <a:noFill/>
        </p:spPr>
        <p:txBody>
          <a:bodyPr wrap="square" anchor="t">
            <a:spAutoFit/>
          </a:bodyPr>
          <a:lstStyle/>
          <a:p>
            <a:pPr algn="l">
              <a:spcAft>
                <a:spcPts val="400"/>
              </a:spcAft>
            </a:pPr>
            <a:r>
              <a:rPr sz="1150" b="1">
                <a:solidFill>
                  <a:srgbClr val="10B981"/>
                </a:solidFill>
                <a:latin typeface="Arial"/>
              </a:rPr>
              <a:t>TAKEAWAY</a:t>
            </a:r>
          </a:p>
        </p:txBody>
      </p:sp>
      <p:sp>
        <p:nvSpPr>
          <p:cNvPr id="30" name="TextBox 29"/>
          <p:cNvSpPr txBox="1"/>
          <p:nvPr/>
        </p:nvSpPr>
        <p:spPr>
          <a:xfrm>
            <a:off x="1033272" y="5394960"/>
            <a:ext cx="10085832" cy="457200"/>
          </a:xfrm>
          <a:prstGeom prst="rect">
            <a:avLst/>
          </a:prstGeom>
          <a:noFill/>
        </p:spPr>
        <p:txBody>
          <a:bodyPr wrap="square" anchor="t">
            <a:spAutoFit/>
          </a:bodyPr>
          <a:lstStyle/>
          <a:p>
            <a:pPr algn="l">
              <a:spcAft>
                <a:spcPts val="400"/>
              </a:spcAft>
            </a:pPr>
            <a:r>
              <a:rPr sz="1300" b="1">
                <a:solidFill>
                  <a:srgbClr val="161B26"/>
                </a:solidFill>
                <a:latin typeface="Arial"/>
              </a:rPr>
              <a:t>A good response is a small, testable pipeline — precise trigger, parallel notify-and-act, and a verification step that escalates if the fix didn't hold.</a:t>
            </a:r>
          </a:p>
        </p:txBody>
      </p:sp>
      <p:sp>
        <p:nvSpPr>
          <p:cNvPr id="31" name="TextBox 30"/>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DevOps Engineering on AWS  ·  TGS-2023040474</a:t>
            </a:r>
          </a:p>
        </p:txBody>
      </p:sp>
      <p:sp>
        <p:nvSpPr>
          <p:cNvPr id="32" name="TextBox 31"/>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33" name="TextBox 32"/>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183</a:t>
            </a:r>
          </a:p>
        </p:txBody>
      </p:sp>
    </p:spTree>
  </p:cSld>
  <p:clrMapOvr>
    <a:masterClrMapping/>
  </p:clrMapOvr>
  <p:transition xmlns:p14="http://schemas.microsoft.com/office/powerpoint/2010/main" p14:dur="380">
    <p:fade/>
  </p:transition>
</p:sld>
</file>

<file path=ppt/slides/slide18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EC711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38912"/>
            <a:ext cx="10607040" cy="365760"/>
          </a:xfrm>
          <a:prstGeom prst="rect">
            <a:avLst/>
          </a:prstGeom>
          <a:noFill/>
        </p:spPr>
        <p:txBody>
          <a:bodyPr wrap="square" anchor="t">
            <a:spAutoFit/>
          </a:bodyPr>
          <a:lstStyle/>
          <a:p>
            <a:pPr algn="l">
              <a:spcAft>
                <a:spcPts val="400"/>
              </a:spcAft>
            </a:pPr>
            <a:r>
              <a:rPr sz="1400" b="1">
                <a:solidFill>
                  <a:srgbClr val="EC711E"/>
                </a:solidFill>
                <a:latin typeface="Arial"/>
              </a:rPr>
              <a:t>LAB 19 · DAY 4 · LO5 · HANDS-ON</a:t>
            </a:r>
          </a:p>
        </p:txBody>
      </p:sp>
      <p:sp>
        <p:nvSpPr>
          <p:cNvPr id="5" name="TextBox 4"/>
          <p:cNvSpPr txBox="1"/>
          <p:nvPr/>
        </p:nvSpPr>
        <p:spPr>
          <a:xfrm>
            <a:off x="777240" y="804672"/>
            <a:ext cx="10927080" cy="731520"/>
          </a:xfrm>
          <a:prstGeom prst="rect">
            <a:avLst/>
          </a:prstGeom>
          <a:noFill/>
        </p:spPr>
        <p:txBody>
          <a:bodyPr wrap="square" anchor="t">
            <a:spAutoFit/>
          </a:bodyPr>
          <a:lstStyle/>
          <a:p>
            <a:pPr algn="l">
              <a:spcAft>
                <a:spcPts val="400"/>
              </a:spcAft>
            </a:pPr>
            <a:r>
              <a:rPr sz="2900" b="1">
                <a:solidFill>
                  <a:srgbClr val="161B26"/>
                </a:solidFill>
                <a:latin typeface="Arial"/>
              </a:rPr>
              <a:t>Route Incidents with Amazon EventBridge</a:t>
            </a:r>
          </a:p>
        </p:txBody>
      </p:sp>
      <p:sp>
        <p:nvSpPr>
          <p:cNvPr id="6" name="Rectangle 5"/>
          <p:cNvSpPr/>
          <p:nvPr/>
        </p:nvSpPr>
        <p:spPr>
          <a:xfrm>
            <a:off x="777240" y="1572768"/>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737360"/>
            <a:ext cx="1737360" cy="457200"/>
          </a:xfrm>
          <a:prstGeom prst="rect">
            <a:avLst/>
          </a:prstGeom>
          <a:solidFill>
            <a:srgbClr val="EC711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77240" y="1783080"/>
            <a:ext cx="1737360" cy="365760"/>
          </a:xfrm>
          <a:prstGeom prst="rect">
            <a:avLst/>
          </a:prstGeom>
          <a:noFill/>
        </p:spPr>
        <p:txBody>
          <a:bodyPr wrap="square" anchor="t">
            <a:spAutoFit/>
          </a:bodyPr>
          <a:lstStyle/>
          <a:p>
            <a:pPr algn="ctr">
              <a:spcAft>
                <a:spcPts val="400"/>
              </a:spcAft>
            </a:pPr>
            <a:r>
              <a:rPr sz="1600" b="1">
                <a:solidFill>
                  <a:srgbClr val="FFFFFF"/>
                </a:solidFill>
                <a:latin typeface="Arial"/>
              </a:rPr>
              <a:t>LAB 19</a:t>
            </a:r>
          </a:p>
        </p:txBody>
      </p:sp>
      <p:sp>
        <p:nvSpPr>
          <p:cNvPr id="9" name="TextBox 8"/>
          <p:cNvSpPr txBox="1"/>
          <p:nvPr/>
        </p:nvSpPr>
        <p:spPr>
          <a:xfrm>
            <a:off x="2697480" y="1783080"/>
            <a:ext cx="3566160" cy="365760"/>
          </a:xfrm>
          <a:prstGeom prst="rect">
            <a:avLst/>
          </a:prstGeom>
          <a:noFill/>
        </p:spPr>
        <p:txBody>
          <a:bodyPr wrap="square" anchor="t">
            <a:spAutoFit/>
          </a:bodyPr>
          <a:lstStyle/>
          <a:p>
            <a:pPr algn="l">
              <a:spcAft>
                <a:spcPts val="400"/>
              </a:spcAft>
            </a:pPr>
            <a:r>
              <a:rPr sz="1200" b="1">
                <a:solidFill>
                  <a:srgbClr val="5B6372"/>
                </a:solidFill>
                <a:latin typeface="Arial"/>
              </a:rPr>
              <a:t>Day 4 · LO5 · K7, A5</a:t>
            </a:r>
          </a:p>
        </p:txBody>
      </p:sp>
      <p:sp>
        <p:nvSpPr>
          <p:cNvPr id="10" name="TextBox 9"/>
          <p:cNvSpPr txBox="1"/>
          <p:nvPr/>
        </p:nvSpPr>
        <p:spPr>
          <a:xfrm>
            <a:off x="777240" y="2286000"/>
            <a:ext cx="5486400" cy="885190"/>
          </a:xfrm>
          <a:prstGeom prst="rect">
            <a:avLst/>
          </a:prstGeom>
          <a:noFill/>
        </p:spPr>
        <p:txBody>
          <a:bodyPr wrap="square" anchor="t">
            <a:spAutoFit/>
          </a:bodyPr>
          <a:lstStyle/>
          <a:p>
            <a:pPr algn="l">
              <a:spcAft>
                <a:spcPts val="400"/>
              </a:spcAft>
            </a:pPr>
            <a:r>
              <a:rPr sz="1350" b="0">
                <a:solidFill>
                  <a:srgbClr val="161B26"/>
                </a:solidFill>
                <a:latin typeface="Arial"/>
              </a:rPr>
              <a:t>Your team wants a single 'routing brain' for operational incidents so that a CloudWatch alarm firing, an EC2 instance changing state, or an AWS Config compliance change all land in the …</a:t>
            </a:r>
          </a:p>
        </p:txBody>
      </p:sp>
      <p:sp>
        <p:nvSpPr>
          <p:cNvPr id="11" name="Rectangle 10"/>
          <p:cNvSpPr/>
          <p:nvPr/>
        </p:nvSpPr>
        <p:spPr>
          <a:xfrm>
            <a:off x="777240" y="3280918"/>
            <a:ext cx="5486400" cy="1658366"/>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ectangle 11"/>
          <p:cNvSpPr/>
          <p:nvPr/>
        </p:nvSpPr>
        <p:spPr>
          <a:xfrm>
            <a:off x="777240" y="3280918"/>
            <a:ext cx="91440" cy="1658366"/>
          </a:xfrm>
          <a:prstGeom prst="rect">
            <a:avLst/>
          </a:prstGeom>
          <a:solidFill>
            <a:srgbClr val="EC711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960120" y="3408934"/>
            <a:ext cx="5120640" cy="274320"/>
          </a:xfrm>
          <a:prstGeom prst="rect">
            <a:avLst/>
          </a:prstGeom>
          <a:noFill/>
        </p:spPr>
        <p:txBody>
          <a:bodyPr wrap="square" anchor="t">
            <a:spAutoFit/>
          </a:bodyPr>
          <a:lstStyle/>
          <a:p>
            <a:pPr algn="l">
              <a:spcAft>
                <a:spcPts val="400"/>
              </a:spcAft>
            </a:pPr>
            <a:r>
              <a:rPr sz="1200" b="1">
                <a:solidFill>
                  <a:srgbClr val="EC711E"/>
                </a:solidFill>
                <a:latin typeface="Arial"/>
              </a:rPr>
              <a:t>YOU'LL BUILD</a:t>
            </a:r>
          </a:p>
        </p:txBody>
      </p:sp>
      <p:sp>
        <p:nvSpPr>
          <p:cNvPr id="14" name="TextBox 13"/>
          <p:cNvSpPr txBox="1"/>
          <p:nvPr/>
        </p:nvSpPr>
        <p:spPr>
          <a:xfrm>
            <a:off x="960120" y="3683254"/>
            <a:ext cx="5166360" cy="726440"/>
          </a:xfrm>
          <a:prstGeom prst="rect">
            <a:avLst/>
          </a:prstGeom>
          <a:noFill/>
        </p:spPr>
        <p:txBody>
          <a:bodyPr wrap="square" anchor="t">
            <a:spAutoFit/>
          </a:bodyPr>
          <a:lstStyle/>
          <a:p>
            <a:pPr algn="l">
              <a:spcAft>
                <a:spcPts val="400"/>
              </a:spcAft>
            </a:pPr>
            <a:r>
              <a:rPr sz="1100" b="1">
                <a:solidFill>
                  <a:srgbClr val="161B26"/>
                </a:solidFill>
                <a:latin typeface="Arial"/>
              </a:rPr>
              <a:t>An enabled EventBridge rule on the default bus whose validated event pattern matches CloudWatch Alarm state changes, EC2 state-change notifications and AWS Config compliance-change events, fanning out to an SNS topic (notify) and a CloudWatch …</a:t>
            </a:r>
          </a:p>
        </p:txBody>
      </p:sp>
      <p:sp>
        <p:nvSpPr>
          <p:cNvPr id="15" name="TextBox 14"/>
          <p:cNvSpPr txBox="1"/>
          <p:nvPr/>
        </p:nvSpPr>
        <p:spPr>
          <a:xfrm>
            <a:off x="960120" y="4464558"/>
            <a:ext cx="5166360" cy="346710"/>
          </a:xfrm>
          <a:prstGeom prst="rect">
            <a:avLst/>
          </a:prstGeom>
          <a:noFill/>
        </p:spPr>
        <p:txBody>
          <a:bodyPr wrap="square" anchor="t">
            <a:spAutoFit/>
          </a:bodyPr>
          <a:lstStyle/>
          <a:p>
            <a:pPr algn="l">
              <a:spcAft>
                <a:spcPts val="400"/>
              </a:spcAft>
            </a:pPr>
            <a:r>
              <a:rPr sz="1050" b="0">
                <a:solidFill>
                  <a:srgbClr val="5B6372"/>
                </a:solidFill>
                <a:latin typeface="Arial"/>
              </a:rPr>
              <a:t>Tools:  Amazon EventBridge, Amazon SNS, Amazon CloudWatch, CloudWatch Logs, IAM</a:t>
            </a:r>
          </a:p>
        </p:txBody>
      </p:sp>
      <p:sp>
        <p:nvSpPr>
          <p:cNvPr id="16" name="Rectangle 15"/>
          <p:cNvSpPr/>
          <p:nvPr/>
        </p:nvSpPr>
        <p:spPr>
          <a:xfrm>
            <a:off x="777240" y="5049012"/>
            <a:ext cx="5486400" cy="1278636"/>
          </a:xfrm>
          <a:prstGeom prst="rect">
            <a:avLst/>
          </a:prstGeom>
          <a:solidFill>
            <a:srgbClr val="FFFFFF"/>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ectangle 16"/>
          <p:cNvSpPr/>
          <p:nvPr/>
        </p:nvSpPr>
        <p:spPr>
          <a:xfrm>
            <a:off x="777240" y="5049012"/>
            <a:ext cx="91440" cy="1278636"/>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960120" y="5177028"/>
            <a:ext cx="5120640" cy="274320"/>
          </a:xfrm>
          <a:prstGeom prst="rect">
            <a:avLst/>
          </a:prstGeom>
          <a:noFill/>
        </p:spPr>
        <p:txBody>
          <a:bodyPr wrap="square" anchor="t">
            <a:spAutoFit/>
          </a:bodyPr>
          <a:lstStyle/>
          <a:p>
            <a:pPr algn="l">
              <a:spcAft>
                <a:spcPts val="400"/>
              </a:spcAft>
            </a:pPr>
            <a:r>
              <a:rPr sz="1200" b="1">
                <a:solidFill>
                  <a:srgbClr val="10B981"/>
                </a:solidFill>
                <a:latin typeface="Arial"/>
              </a:rPr>
              <a:t>OUTCOME &amp; EVIDENCE</a:t>
            </a:r>
          </a:p>
        </p:txBody>
      </p:sp>
      <p:sp>
        <p:nvSpPr>
          <p:cNvPr id="19" name="TextBox 18"/>
          <p:cNvSpPr txBox="1"/>
          <p:nvPr/>
        </p:nvSpPr>
        <p:spPr>
          <a:xfrm>
            <a:off x="960120" y="5451348"/>
            <a:ext cx="5166360" cy="693420"/>
          </a:xfrm>
          <a:prstGeom prst="rect">
            <a:avLst/>
          </a:prstGeom>
          <a:noFill/>
        </p:spPr>
        <p:txBody>
          <a:bodyPr wrap="square" anchor="t">
            <a:spAutoFit/>
          </a:bodyPr>
          <a:lstStyle/>
          <a:p>
            <a:pPr algn="l">
              <a:spcAft>
                <a:spcPts val="300"/>
              </a:spcAft>
            </a:pPr>
            <a:r>
              <a:rPr sz="1050" b="0">
                <a:solidFill>
                  <a:srgbClr val="5B6372"/>
                </a:solidFill>
                <a:latin typeface="Arial"/>
              </a:rPr>
              <a:t>Outcome: You author a precise multi-source event pattern, prove it matches CloudWatch Alarm and EC2 events but rejects an unrelated S3 event …</a:t>
            </a:r>
          </a:p>
          <a:p>
            <a:pPr algn="l">
              <a:spcAft>
                <a:spcPts val="300"/>
              </a:spcAft>
            </a:pPr>
            <a:r>
              <a:rPr sz="1050" b="0">
                <a:solidFill>
                  <a:srgbClr val="5B6372"/>
                </a:solidFill>
                <a:latin typeface="Arial"/>
              </a:rPr>
              <a:t>Evidence:  The three results showing true / true / false for the alarm, EC2 and unrelated samples.</a:t>
            </a:r>
          </a:p>
        </p:txBody>
      </p:sp>
      <p:sp>
        <p:nvSpPr>
          <p:cNvPr id="20" name="Rectangle 19"/>
          <p:cNvSpPr/>
          <p:nvPr/>
        </p:nvSpPr>
        <p:spPr>
          <a:xfrm>
            <a:off x="6446520" y="1783080"/>
            <a:ext cx="5029200" cy="2901403"/>
          </a:xfrm>
          <a:prstGeom prst="rect">
            <a:avLst/>
          </a:prstGeom>
          <a:solidFill>
            <a:srgbClr val="F5F8FC"/>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21" name="Picture 20" descr="lab-19-eventbridge-incident-routing.jpg"/>
          <p:cNvPicPr>
            <a:picLocks noChangeAspect="1"/>
          </p:cNvPicPr>
          <p:nvPr/>
        </p:nvPicPr>
        <p:blipFill>
          <a:blip r:embed="rId2"/>
          <a:stretch>
            <a:fillRect/>
          </a:stretch>
        </p:blipFill>
        <p:spPr>
          <a:xfrm>
            <a:off x="6492240" y="1828800"/>
            <a:ext cx="4937760" cy="2809963"/>
          </a:xfrm>
          <a:prstGeom prst="rect">
            <a:avLst/>
          </a:prstGeom>
        </p:spPr>
      </p:pic>
      <p:sp>
        <p:nvSpPr>
          <p:cNvPr id="22" name="TextBox 21"/>
          <p:cNvSpPr txBox="1"/>
          <p:nvPr/>
        </p:nvSpPr>
        <p:spPr>
          <a:xfrm>
            <a:off x="6492240" y="4730203"/>
            <a:ext cx="4937760" cy="365760"/>
          </a:xfrm>
          <a:prstGeom prst="rect">
            <a:avLst/>
          </a:prstGeom>
          <a:noFill/>
        </p:spPr>
        <p:txBody>
          <a:bodyPr wrap="square" anchor="t">
            <a:spAutoFit/>
          </a:bodyPr>
          <a:lstStyle/>
          <a:p>
            <a:pPr algn="ctr">
              <a:spcAft>
                <a:spcPts val="400"/>
              </a:spcAft>
            </a:pPr>
            <a:r>
              <a:rPr sz="1100" b="1">
                <a:solidFill>
                  <a:srgbClr val="5B6372"/>
                </a:solidFill>
                <a:latin typeface="Arial"/>
              </a:rPr>
              <a:t>Reference architecture</a:t>
            </a:r>
          </a:p>
        </p:txBody>
      </p:sp>
      <p:sp>
        <p:nvSpPr>
          <p:cNvPr id="23" name="TextBox 22"/>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DevOps Engineering on AWS  ·  TGS-2023040474</a:t>
            </a:r>
          </a:p>
        </p:txBody>
      </p:sp>
      <p:sp>
        <p:nvSpPr>
          <p:cNvPr id="24" name="TextBox 23"/>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25" name="TextBox 24"/>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184</a:t>
            </a:r>
          </a:p>
        </p:txBody>
      </p:sp>
    </p:spTree>
  </p:cSld>
  <p:clrMapOvr>
    <a:masterClrMapping/>
  </p:clrMapOvr>
  <p:transition xmlns:p14="http://schemas.microsoft.com/office/powerpoint/2010/main" p14:dur="380">
    <p:fade/>
  </p:transition>
</p:sld>
</file>

<file path=ppt/slides/slide18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EC711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38912"/>
            <a:ext cx="10607040" cy="365760"/>
          </a:xfrm>
          <a:prstGeom prst="rect">
            <a:avLst/>
          </a:prstGeom>
          <a:noFill/>
        </p:spPr>
        <p:txBody>
          <a:bodyPr wrap="square" anchor="t">
            <a:spAutoFit/>
          </a:bodyPr>
          <a:lstStyle/>
          <a:p>
            <a:pPr algn="l">
              <a:spcAft>
                <a:spcPts val="400"/>
              </a:spcAft>
            </a:pPr>
            <a:r>
              <a:rPr sz="1400" b="1">
                <a:solidFill>
                  <a:srgbClr val="EC711E"/>
                </a:solidFill>
                <a:latin typeface="Arial"/>
              </a:rPr>
              <a:t>LAB 20 · DAY 4 · LO5 · HANDS-ON</a:t>
            </a:r>
          </a:p>
        </p:txBody>
      </p:sp>
      <p:sp>
        <p:nvSpPr>
          <p:cNvPr id="5" name="TextBox 4"/>
          <p:cNvSpPr txBox="1"/>
          <p:nvPr/>
        </p:nvSpPr>
        <p:spPr>
          <a:xfrm>
            <a:off x="777240" y="896112"/>
            <a:ext cx="10927080" cy="731520"/>
          </a:xfrm>
          <a:prstGeom prst="rect">
            <a:avLst/>
          </a:prstGeom>
          <a:noFill/>
        </p:spPr>
        <p:txBody>
          <a:bodyPr wrap="square" anchor="t">
            <a:spAutoFit/>
          </a:bodyPr>
          <a:lstStyle/>
          <a:p>
            <a:pPr algn="l">
              <a:spcAft>
                <a:spcPts val="400"/>
              </a:spcAft>
            </a:pPr>
            <a:r>
              <a:rPr sz="2500" b="1">
                <a:solidFill>
                  <a:srgbClr val="161B26"/>
                </a:solidFill>
                <a:latin typeface="Arial"/>
              </a:rPr>
              <a:t>Automated Remediation with Lambda and Systems Manager</a:t>
            </a:r>
          </a:p>
        </p:txBody>
      </p:sp>
      <p:sp>
        <p:nvSpPr>
          <p:cNvPr id="6" name="Rectangle 5"/>
          <p:cNvSpPr/>
          <p:nvPr/>
        </p:nvSpPr>
        <p:spPr>
          <a:xfrm>
            <a:off x="777240" y="1572768"/>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737360"/>
            <a:ext cx="1737360" cy="457200"/>
          </a:xfrm>
          <a:prstGeom prst="rect">
            <a:avLst/>
          </a:prstGeom>
          <a:solidFill>
            <a:srgbClr val="EC711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77240" y="1783080"/>
            <a:ext cx="1737360" cy="365760"/>
          </a:xfrm>
          <a:prstGeom prst="rect">
            <a:avLst/>
          </a:prstGeom>
          <a:noFill/>
        </p:spPr>
        <p:txBody>
          <a:bodyPr wrap="square" anchor="t">
            <a:spAutoFit/>
          </a:bodyPr>
          <a:lstStyle/>
          <a:p>
            <a:pPr algn="ctr">
              <a:spcAft>
                <a:spcPts val="400"/>
              </a:spcAft>
            </a:pPr>
            <a:r>
              <a:rPr sz="1600" b="1">
                <a:solidFill>
                  <a:srgbClr val="FFFFFF"/>
                </a:solidFill>
                <a:latin typeface="Arial"/>
              </a:rPr>
              <a:t>LAB 20</a:t>
            </a:r>
          </a:p>
        </p:txBody>
      </p:sp>
      <p:sp>
        <p:nvSpPr>
          <p:cNvPr id="9" name="TextBox 8"/>
          <p:cNvSpPr txBox="1"/>
          <p:nvPr/>
        </p:nvSpPr>
        <p:spPr>
          <a:xfrm>
            <a:off x="2697480" y="1783080"/>
            <a:ext cx="3566160" cy="365760"/>
          </a:xfrm>
          <a:prstGeom prst="rect">
            <a:avLst/>
          </a:prstGeom>
          <a:noFill/>
        </p:spPr>
        <p:txBody>
          <a:bodyPr wrap="square" anchor="t">
            <a:spAutoFit/>
          </a:bodyPr>
          <a:lstStyle/>
          <a:p>
            <a:pPr algn="l">
              <a:spcAft>
                <a:spcPts val="400"/>
              </a:spcAft>
            </a:pPr>
            <a:r>
              <a:rPr sz="1200" b="1">
                <a:solidFill>
                  <a:srgbClr val="5B6372"/>
                </a:solidFill>
                <a:latin typeface="Arial"/>
              </a:rPr>
              <a:t>Day 4 · LO5 · K7, A5</a:t>
            </a:r>
          </a:p>
        </p:txBody>
      </p:sp>
      <p:sp>
        <p:nvSpPr>
          <p:cNvPr id="10" name="TextBox 9"/>
          <p:cNvSpPr txBox="1"/>
          <p:nvPr/>
        </p:nvSpPr>
        <p:spPr>
          <a:xfrm>
            <a:off x="777240" y="2286000"/>
            <a:ext cx="5486400" cy="885190"/>
          </a:xfrm>
          <a:prstGeom prst="rect">
            <a:avLst/>
          </a:prstGeom>
          <a:noFill/>
        </p:spPr>
        <p:txBody>
          <a:bodyPr wrap="square" anchor="t">
            <a:spAutoFit/>
          </a:bodyPr>
          <a:lstStyle/>
          <a:p>
            <a:pPr algn="l">
              <a:spcAft>
                <a:spcPts val="400"/>
              </a:spcAft>
            </a:pPr>
            <a:r>
              <a:rPr sz="1350" b="0">
                <a:solidFill>
                  <a:srgbClr val="161B26"/>
                </a:solidFill>
                <a:latin typeface="Arial"/>
              </a:rPr>
              <a:t>Notification alone does not resolve an incident — the on-call engineer still has to act. In this lab you close the loop: an EventBridge rule detects an unhealthy/stopped EC2 instance …</a:t>
            </a:r>
          </a:p>
        </p:txBody>
      </p:sp>
      <p:sp>
        <p:nvSpPr>
          <p:cNvPr id="11" name="Rectangle 10"/>
          <p:cNvSpPr/>
          <p:nvPr/>
        </p:nvSpPr>
        <p:spPr>
          <a:xfrm>
            <a:off x="777240" y="3280918"/>
            <a:ext cx="5486400" cy="1658366"/>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ectangle 11"/>
          <p:cNvSpPr/>
          <p:nvPr/>
        </p:nvSpPr>
        <p:spPr>
          <a:xfrm>
            <a:off x="777240" y="3280918"/>
            <a:ext cx="91440" cy="1658366"/>
          </a:xfrm>
          <a:prstGeom prst="rect">
            <a:avLst/>
          </a:prstGeom>
          <a:solidFill>
            <a:srgbClr val="EC711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960120" y="3408934"/>
            <a:ext cx="5120640" cy="274320"/>
          </a:xfrm>
          <a:prstGeom prst="rect">
            <a:avLst/>
          </a:prstGeom>
          <a:noFill/>
        </p:spPr>
        <p:txBody>
          <a:bodyPr wrap="square" anchor="t">
            <a:spAutoFit/>
          </a:bodyPr>
          <a:lstStyle/>
          <a:p>
            <a:pPr algn="l">
              <a:spcAft>
                <a:spcPts val="400"/>
              </a:spcAft>
            </a:pPr>
            <a:r>
              <a:rPr sz="1200" b="1">
                <a:solidFill>
                  <a:srgbClr val="EC711E"/>
                </a:solidFill>
                <a:latin typeface="Arial"/>
              </a:rPr>
              <a:t>YOU'LL BUILD</a:t>
            </a:r>
          </a:p>
        </p:txBody>
      </p:sp>
      <p:sp>
        <p:nvSpPr>
          <p:cNvPr id="14" name="TextBox 13"/>
          <p:cNvSpPr txBox="1"/>
          <p:nvPr/>
        </p:nvSpPr>
        <p:spPr>
          <a:xfrm>
            <a:off x="960120" y="3683254"/>
            <a:ext cx="5166360" cy="726440"/>
          </a:xfrm>
          <a:prstGeom prst="rect">
            <a:avLst/>
          </a:prstGeom>
          <a:noFill/>
        </p:spPr>
        <p:txBody>
          <a:bodyPr wrap="square" anchor="t">
            <a:spAutoFit/>
          </a:bodyPr>
          <a:lstStyle/>
          <a:p>
            <a:pPr algn="l">
              <a:spcAft>
                <a:spcPts val="400"/>
              </a:spcAft>
            </a:pPr>
            <a:r>
              <a:rPr sz="1100" b="1">
                <a:solidFill>
                  <a:srgbClr val="161B26"/>
                </a:solidFill>
                <a:latin typeface="Arial"/>
              </a:rPr>
              <a:t>A CloudFormation-deployed auto-remediation stack (EventBridge rule + least-privilege Lambda + SSM Automation runbook + SNS notify) that, on an unhealthy-instance event, restarts the instance automatically and returns it to a running/healthy state — proven …</a:t>
            </a:r>
          </a:p>
        </p:txBody>
      </p:sp>
      <p:sp>
        <p:nvSpPr>
          <p:cNvPr id="15" name="TextBox 14"/>
          <p:cNvSpPr txBox="1"/>
          <p:nvPr/>
        </p:nvSpPr>
        <p:spPr>
          <a:xfrm>
            <a:off x="960120" y="4464558"/>
            <a:ext cx="5166360" cy="346710"/>
          </a:xfrm>
          <a:prstGeom prst="rect">
            <a:avLst/>
          </a:prstGeom>
          <a:noFill/>
        </p:spPr>
        <p:txBody>
          <a:bodyPr wrap="square" anchor="t">
            <a:spAutoFit/>
          </a:bodyPr>
          <a:lstStyle/>
          <a:p>
            <a:pPr algn="l">
              <a:spcAft>
                <a:spcPts val="400"/>
              </a:spcAft>
            </a:pPr>
            <a:r>
              <a:rPr sz="1050" b="0">
                <a:solidFill>
                  <a:srgbClr val="5B6372"/>
                </a:solidFill>
                <a:latin typeface="Arial"/>
              </a:rPr>
              <a:t>Tools: AWS Lambda, AWS Systems Manager Automation, Amazon EventBridge, AWS IAM, Amazon CloudWatch Logs, Amazon SNS …</a:t>
            </a:r>
          </a:p>
        </p:txBody>
      </p:sp>
      <p:sp>
        <p:nvSpPr>
          <p:cNvPr id="16" name="Rectangle 15"/>
          <p:cNvSpPr/>
          <p:nvPr/>
        </p:nvSpPr>
        <p:spPr>
          <a:xfrm>
            <a:off x="777240" y="5049012"/>
            <a:ext cx="5486400" cy="1278636"/>
          </a:xfrm>
          <a:prstGeom prst="rect">
            <a:avLst/>
          </a:prstGeom>
          <a:solidFill>
            <a:srgbClr val="FFFFFF"/>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ectangle 16"/>
          <p:cNvSpPr/>
          <p:nvPr/>
        </p:nvSpPr>
        <p:spPr>
          <a:xfrm>
            <a:off x="777240" y="5049012"/>
            <a:ext cx="91440" cy="1278636"/>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960120" y="5177028"/>
            <a:ext cx="5120640" cy="274320"/>
          </a:xfrm>
          <a:prstGeom prst="rect">
            <a:avLst/>
          </a:prstGeom>
          <a:noFill/>
        </p:spPr>
        <p:txBody>
          <a:bodyPr wrap="square" anchor="t">
            <a:spAutoFit/>
          </a:bodyPr>
          <a:lstStyle/>
          <a:p>
            <a:pPr algn="l">
              <a:spcAft>
                <a:spcPts val="400"/>
              </a:spcAft>
            </a:pPr>
            <a:r>
              <a:rPr sz="1200" b="1">
                <a:solidFill>
                  <a:srgbClr val="10B981"/>
                </a:solidFill>
                <a:latin typeface="Arial"/>
              </a:rPr>
              <a:t>OUTCOME &amp; EVIDENCE</a:t>
            </a:r>
          </a:p>
        </p:txBody>
      </p:sp>
      <p:sp>
        <p:nvSpPr>
          <p:cNvPr id="19" name="TextBox 18"/>
          <p:cNvSpPr txBox="1"/>
          <p:nvPr/>
        </p:nvSpPr>
        <p:spPr>
          <a:xfrm>
            <a:off x="960120" y="5451348"/>
            <a:ext cx="5166360" cy="693420"/>
          </a:xfrm>
          <a:prstGeom prst="rect">
            <a:avLst/>
          </a:prstGeom>
          <a:noFill/>
        </p:spPr>
        <p:txBody>
          <a:bodyPr wrap="square" anchor="t">
            <a:spAutoFit/>
          </a:bodyPr>
          <a:lstStyle/>
          <a:p>
            <a:pPr algn="l">
              <a:spcAft>
                <a:spcPts val="300"/>
              </a:spcAft>
            </a:pPr>
            <a:r>
              <a:rPr sz="1050" b="0">
                <a:solidFill>
                  <a:srgbClr val="5B6372"/>
                </a:solidFill>
                <a:latin typeface="Arial"/>
              </a:rPr>
              <a:t>Outcome: You stop the test instance to create an incident, EventBridge invokes the least-privilege Lambda, the Lambda starts the SSM …</a:t>
            </a:r>
          </a:p>
          <a:p>
            <a:pPr algn="l">
              <a:spcAft>
                <a:spcPts val="300"/>
              </a:spcAft>
            </a:pPr>
            <a:r>
              <a:rPr sz="1050" b="0">
                <a:solidFill>
                  <a:srgbClr val="5B6372"/>
                </a:solidFill>
                <a:latin typeface="Arial"/>
              </a:rPr>
              <a:t>Evidence:  output proving the Lambda role is least-privilege (scoped runbook + tag-conditioned EC2, no broad wildcards).</a:t>
            </a:r>
          </a:p>
        </p:txBody>
      </p:sp>
      <p:sp>
        <p:nvSpPr>
          <p:cNvPr id="20" name="Rectangle 19"/>
          <p:cNvSpPr/>
          <p:nvPr/>
        </p:nvSpPr>
        <p:spPr>
          <a:xfrm>
            <a:off x="6446520" y="1783080"/>
            <a:ext cx="5029200" cy="2901403"/>
          </a:xfrm>
          <a:prstGeom prst="rect">
            <a:avLst/>
          </a:prstGeom>
          <a:solidFill>
            <a:srgbClr val="F5F8FC"/>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21" name="Picture 20" descr="lab-20-lambda-ssm-auto-remediation.jpg"/>
          <p:cNvPicPr>
            <a:picLocks noChangeAspect="1"/>
          </p:cNvPicPr>
          <p:nvPr/>
        </p:nvPicPr>
        <p:blipFill>
          <a:blip r:embed="rId2"/>
          <a:stretch>
            <a:fillRect/>
          </a:stretch>
        </p:blipFill>
        <p:spPr>
          <a:xfrm>
            <a:off x="6492240" y="1828800"/>
            <a:ext cx="4937760" cy="2809963"/>
          </a:xfrm>
          <a:prstGeom prst="rect">
            <a:avLst/>
          </a:prstGeom>
        </p:spPr>
      </p:pic>
      <p:sp>
        <p:nvSpPr>
          <p:cNvPr id="22" name="TextBox 21"/>
          <p:cNvSpPr txBox="1"/>
          <p:nvPr/>
        </p:nvSpPr>
        <p:spPr>
          <a:xfrm>
            <a:off x="6492240" y="4730203"/>
            <a:ext cx="4937760" cy="365760"/>
          </a:xfrm>
          <a:prstGeom prst="rect">
            <a:avLst/>
          </a:prstGeom>
          <a:noFill/>
        </p:spPr>
        <p:txBody>
          <a:bodyPr wrap="square" anchor="t">
            <a:spAutoFit/>
          </a:bodyPr>
          <a:lstStyle/>
          <a:p>
            <a:pPr algn="ctr">
              <a:spcAft>
                <a:spcPts val="400"/>
              </a:spcAft>
            </a:pPr>
            <a:r>
              <a:rPr sz="1100" b="1">
                <a:solidFill>
                  <a:srgbClr val="5B6372"/>
                </a:solidFill>
                <a:latin typeface="Arial"/>
              </a:rPr>
              <a:t>Reference architecture</a:t>
            </a:r>
          </a:p>
        </p:txBody>
      </p:sp>
      <p:sp>
        <p:nvSpPr>
          <p:cNvPr id="23" name="TextBox 22"/>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DevOps Engineering on AWS  ·  TGS-2023040474</a:t>
            </a:r>
          </a:p>
        </p:txBody>
      </p:sp>
      <p:sp>
        <p:nvSpPr>
          <p:cNvPr id="24" name="TextBox 23"/>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25" name="TextBox 24"/>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185</a:t>
            </a:r>
          </a:p>
        </p:txBody>
      </p:sp>
    </p:spTree>
  </p:cSld>
  <p:clrMapOvr>
    <a:masterClrMapping/>
  </p:clrMapOvr>
  <p:transition xmlns:p14="http://schemas.microsoft.com/office/powerpoint/2010/main" p14:dur="380">
    <p:fade/>
  </p:transition>
</p:sld>
</file>

<file path=ppt/slides/slide18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38912"/>
            <a:ext cx="10607040" cy="365760"/>
          </a:xfrm>
          <a:prstGeom prst="rect">
            <a:avLst/>
          </a:prstGeom>
          <a:noFill/>
        </p:spPr>
        <p:txBody>
          <a:bodyPr wrap="square" anchor="t">
            <a:spAutoFit/>
          </a:bodyPr>
          <a:lstStyle/>
          <a:p>
            <a:pPr algn="l">
              <a:spcAft>
                <a:spcPts val="400"/>
              </a:spcAft>
            </a:pPr>
            <a:r>
              <a:rPr sz="1400" b="1">
                <a:solidFill>
                  <a:srgbClr val="1F6FEB"/>
                </a:solidFill>
                <a:latin typeface="Arial"/>
              </a:rPr>
              <a:t>DOMAIN RECAP</a:t>
            </a:r>
          </a:p>
        </p:txBody>
      </p:sp>
      <p:sp>
        <p:nvSpPr>
          <p:cNvPr id="5" name="TextBox 4"/>
          <p:cNvSpPr txBox="1"/>
          <p:nvPr/>
        </p:nvSpPr>
        <p:spPr>
          <a:xfrm>
            <a:off x="777240" y="804672"/>
            <a:ext cx="10927080" cy="731520"/>
          </a:xfrm>
          <a:prstGeom prst="rect">
            <a:avLst/>
          </a:prstGeom>
          <a:noFill/>
        </p:spPr>
        <p:txBody>
          <a:bodyPr wrap="square" anchor="t">
            <a:spAutoFit/>
          </a:bodyPr>
          <a:lstStyle/>
          <a:p>
            <a:pPr algn="l">
              <a:spcAft>
                <a:spcPts val="400"/>
              </a:spcAft>
            </a:pPr>
            <a:r>
              <a:rPr sz="2900" b="1">
                <a:solidFill>
                  <a:srgbClr val="161B26"/>
                </a:solidFill>
                <a:latin typeface="Arial"/>
              </a:rPr>
              <a:t>Recap — Incident and Event Response</a:t>
            </a:r>
          </a:p>
        </p:txBody>
      </p:sp>
      <p:sp>
        <p:nvSpPr>
          <p:cNvPr id="6" name="Rectangle 5"/>
          <p:cNvSpPr/>
          <p:nvPr/>
        </p:nvSpPr>
        <p:spPr>
          <a:xfrm>
            <a:off x="777240" y="1572768"/>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777240" y="1783080"/>
            <a:ext cx="10607040" cy="4480560"/>
          </a:xfrm>
          <a:prstGeom prst="rect">
            <a:avLst/>
          </a:prstGeom>
          <a:noFill/>
        </p:spPr>
        <p:txBody>
          <a:bodyPr wrap="square">
            <a:spAutoFit/>
          </a:bodyPr>
          <a:lstStyle/>
          <a:p>
            <a:pPr>
              <a:spcAft>
                <a:spcPts val="1000"/>
              </a:spcAft>
            </a:pPr>
            <a:r>
              <a:rPr sz="1500" b="0">
                <a:solidFill>
                  <a:srgbClr val="161B26"/>
                </a:solidFill>
                <a:latin typeface="Arial"/>
              </a:rPr>
              <a:t>•  You can now: Build an EventBridge rule that matches incident signals and fans them out to notify and log targets (LO5, K7, A5)</a:t>
            </a:r>
          </a:p>
          <a:p>
            <a:pPr>
              <a:spcAft>
                <a:spcPts val="1000"/>
              </a:spcAft>
            </a:pPr>
            <a:r>
              <a:rPr sz="1500" b="0">
                <a:solidFill>
                  <a:srgbClr val="161B26"/>
                </a:solidFill>
                <a:latin typeface="Arial"/>
              </a:rPr>
              <a:t>•  You can now: Wire an EventBridge target to a least-privilege Lambda that triggers an SSM Automation runbook so an unhealthy resource self-heals (LO5, K7, A5)</a:t>
            </a:r>
          </a:p>
          <a:p>
            <a:pPr>
              <a:spcAft>
                <a:spcPts val="1000"/>
              </a:spcAft>
            </a:pPr>
            <a:r>
              <a:rPr sz="1500" b="0">
                <a:solidFill>
                  <a:srgbClr val="161B26"/>
                </a:solidFill>
                <a:latin typeface="Arial"/>
              </a:rPr>
              <a:t>•  Event-driven operations — EventBridge routes events from AWS services and applications to targets that act automatically.</a:t>
            </a:r>
          </a:p>
          <a:p>
            <a:pPr>
              <a:spcAft>
                <a:spcPts val="1000"/>
              </a:spcAft>
            </a:pPr>
            <a:r>
              <a:rPr sz="1500" b="0">
                <a:solidFill>
                  <a:srgbClr val="161B26"/>
                </a:solidFill>
                <a:latin typeface="Arial"/>
              </a:rPr>
              <a:t>•  Notify &amp; act — SNS notifies people; Lambda, Systems Manager Automation and Step Functions take the remediating action.</a:t>
            </a:r>
          </a:p>
          <a:p>
            <a:pPr>
              <a:spcAft>
                <a:spcPts val="1000"/>
              </a:spcAft>
            </a:pPr>
            <a:r>
              <a:rPr sz="1500" b="0">
                <a:solidFill>
                  <a:srgbClr val="161B26"/>
                </a:solidFill>
                <a:latin typeface="Arial"/>
              </a:rPr>
              <a:t>•  Auto-remediation — AWS Config rules and EventBridge patterns detect drift and fix it — tag, isolate, restart or roll back.</a:t>
            </a:r>
          </a:p>
        </p:txBody>
      </p:sp>
      <p:sp>
        <p:nvSpPr>
          <p:cNvPr id="8" name="TextBox 7"/>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DevOps Engineering on AWS  ·  TGS-2023040474</a:t>
            </a:r>
          </a:p>
        </p:txBody>
      </p:sp>
      <p:sp>
        <p:nvSpPr>
          <p:cNvPr id="9" name="TextBox 8"/>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0" name="TextBox 9"/>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186</a:t>
            </a:r>
          </a:p>
        </p:txBody>
      </p:sp>
    </p:spTree>
  </p:cSld>
  <p:clrMapOvr>
    <a:masterClrMapping/>
  </p:clrMapOvr>
  <p:transition xmlns:p14="http://schemas.microsoft.com/office/powerpoint/2010/main" p14:dur="380">
    <p:fade/>
  </p:transition>
</p:sld>
</file>

<file path=ppt/slides/slide18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685800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777240" y="2286000"/>
            <a:ext cx="128016" cy="182880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1143000" y="2331720"/>
            <a:ext cx="10058400" cy="548640"/>
          </a:xfrm>
          <a:prstGeom prst="rect">
            <a:avLst/>
          </a:prstGeom>
          <a:noFill/>
        </p:spPr>
        <p:txBody>
          <a:bodyPr wrap="square" anchor="t">
            <a:spAutoFit/>
          </a:bodyPr>
          <a:lstStyle/>
          <a:p>
            <a:pPr algn="l">
              <a:spcAft>
                <a:spcPts val="400"/>
              </a:spcAft>
            </a:pPr>
            <a:r>
              <a:rPr sz="1800" b="1">
                <a:solidFill>
                  <a:srgbClr val="1F6FEB"/>
                </a:solidFill>
                <a:latin typeface="Arial"/>
              </a:rPr>
              <a:t>DOMAIN 06</a:t>
            </a:r>
          </a:p>
        </p:txBody>
      </p:sp>
      <p:sp>
        <p:nvSpPr>
          <p:cNvPr id="6" name="TextBox 5"/>
          <p:cNvSpPr txBox="1"/>
          <p:nvPr/>
        </p:nvSpPr>
        <p:spPr>
          <a:xfrm>
            <a:off x="1143000" y="2743200"/>
            <a:ext cx="10424160" cy="1463040"/>
          </a:xfrm>
          <a:prstGeom prst="rect">
            <a:avLst/>
          </a:prstGeom>
          <a:noFill/>
        </p:spPr>
        <p:txBody>
          <a:bodyPr wrap="square" anchor="t">
            <a:spAutoFit/>
          </a:bodyPr>
          <a:lstStyle/>
          <a:p>
            <a:pPr algn="l">
              <a:spcAft>
                <a:spcPts val="400"/>
              </a:spcAft>
            </a:pPr>
            <a:r>
              <a:rPr sz="4000" b="1">
                <a:solidFill>
                  <a:srgbClr val="161B26"/>
                </a:solidFill>
                <a:latin typeface="Arial"/>
              </a:rPr>
              <a:t>Security and Compliance</a:t>
            </a:r>
          </a:p>
        </p:txBody>
      </p:sp>
      <p:sp>
        <p:nvSpPr>
          <p:cNvPr id="7" name="TextBox 6"/>
          <p:cNvSpPr txBox="1"/>
          <p:nvPr/>
        </p:nvSpPr>
        <p:spPr>
          <a:xfrm>
            <a:off x="1161288" y="4160520"/>
            <a:ext cx="10058400" cy="731520"/>
          </a:xfrm>
          <a:prstGeom prst="rect">
            <a:avLst/>
          </a:prstGeom>
          <a:noFill/>
        </p:spPr>
        <p:txBody>
          <a:bodyPr wrap="square" anchor="t">
            <a:spAutoFit/>
          </a:bodyPr>
          <a:lstStyle/>
          <a:p>
            <a:pPr algn="l">
              <a:spcAft>
                <a:spcPts val="400"/>
              </a:spcAft>
            </a:pPr>
            <a:r>
              <a:rPr sz="1600" b="0">
                <a:solidFill>
                  <a:srgbClr val="5B6372"/>
                </a:solidFill>
                <a:latin typeface="Arial"/>
              </a:rPr>
              <a:t>Exam weighting 17%  ·  Identity &amp; access at scale · data protection · security monitoring &amp; audit</a:t>
            </a:r>
          </a:p>
        </p:txBody>
      </p:sp>
      <p:sp>
        <p:nvSpPr>
          <p:cNvPr id="8" name="TextBox 7"/>
          <p:cNvSpPr txBox="1"/>
          <p:nvPr/>
        </p:nvSpPr>
        <p:spPr>
          <a:xfrm>
            <a:off x="9144000" y="640080"/>
            <a:ext cx="2560320" cy="1463040"/>
          </a:xfrm>
          <a:prstGeom prst="rect">
            <a:avLst/>
          </a:prstGeom>
          <a:noFill/>
        </p:spPr>
        <p:txBody>
          <a:bodyPr wrap="square" anchor="t">
            <a:spAutoFit/>
          </a:bodyPr>
          <a:lstStyle/>
          <a:p>
            <a:pPr algn="r">
              <a:spcAft>
                <a:spcPts val="400"/>
              </a:spcAft>
            </a:pPr>
            <a:r>
              <a:rPr sz="7200" b="1">
                <a:solidFill>
                  <a:srgbClr val="E2E8F0"/>
                </a:solidFill>
                <a:latin typeface="Arial"/>
              </a:rPr>
              <a:t>06</a:t>
            </a:r>
          </a:p>
        </p:txBody>
      </p:sp>
      <p:sp>
        <p:nvSpPr>
          <p:cNvPr id="9" name="TextBox 8"/>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DevOps Engineering on AWS  ·  TGS-2023040474</a:t>
            </a:r>
          </a:p>
        </p:txBody>
      </p:sp>
      <p:sp>
        <p:nvSpPr>
          <p:cNvPr id="10" name="TextBox 9"/>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1" name="TextBox 10"/>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187</a:t>
            </a:r>
          </a:p>
        </p:txBody>
      </p:sp>
    </p:spTree>
  </p:cSld>
  <p:clrMapOvr>
    <a:masterClrMapping/>
  </p:clrMapOvr>
  <p:transition xmlns:p14="http://schemas.microsoft.com/office/powerpoint/2010/main" p14:dur="380">
    <p:fade/>
  </p:transition>
</p:sld>
</file>

<file path=ppt/slides/slide18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38912"/>
            <a:ext cx="10607040" cy="365760"/>
          </a:xfrm>
          <a:prstGeom prst="rect">
            <a:avLst/>
          </a:prstGeom>
          <a:noFill/>
        </p:spPr>
        <p:txBody>
          <a:bodyPr wrap="square" anchor="t">
            <a:spAutoFit/>
          </a:bodyPr>
          <a:lstStyle/>
          <a:p>
            <a:pPr algn="l">
              <a:spcAft>
                <a:spcPts val="400"/>
              </a:spcAft>
            </a:pPr>
            <a:r>
              <a:rPr sz="1400" b="1">
                <a:solidFill>
                  <a:srgbClr val="C0392B"/>
                </a:solidFill>
                <a:latin typeface="Arial"/>
              </a:rPr>
              <a:t>SECURITY &amp; COMPLIANCE</a:t>
            </a:r>
          </a:p>
        </p:txBody>
      </p:sp>
      <p:sp>
        <p:nvSpPr>
          <p:cNvPr id="5" name="TextBox 4"/>
          <p:cNvSpPr txBox="1"/>
          <p:nvPr/>
        </p:nvSpPr>
        <p:spPr>
          <a:xfrm>
            <a:off x="777240" y="804672"/>
            <a:ext cx="10927080" cy="731520"/>
          </a:xfrm>
          <a:prstGeom prst="rect">
            <a:avLst/>
          </a:prstGeom>
          <a:noFill/>
        </p:spPr>
        <p:txBody>
          <a:bodyPr wrap="square" anchor="t">
            <a:spAutoFit/>
          </a:bodyPr>
          <a:lstStyle/>
          <a:p>
            <a:pPr algn="l">
              <a:spcAft>
                <a:spcPts val="400"/>
              </a:spcAft>
            </a:pPr>
            <a:r>
              <a:rPr sz="2900" b="1">
                <a:solidFill>
                  <a:srgbClr val="161B26"/>
                </a:solidFill>
                <a:latin typeface="Arial"/>
              </a:rPr>
              <a:t>Security and Compliance</a:t>
            </a:r>
          </a:p>
        </p:txBody>
      </p:sp>
      <p:sp>
        <p:nvSpPr>
          <p:cNvPr id="6" name="Rectangle 5"/>
          <p:cNvSpPr/>
          <p:nvPr/>
        </p:nvSpPr>
        <p:spPr>
          <a:xfrm>
            <a:off x="777240" y="1572768"/>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2629037" y="1819655"/>
            <a:ext cx="6933620" cy="3950208"/>
          </a:xfrm>
          <a:prstGeom prst="rect">
            <a:avLst/>
          </a:prstGeom>
          <a:solidFill>
            <a:srgbClr val="F5F8FC"/>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8" name="Picture 7" descr="devops-security-compliance.png"/>
          <p:cNvPicPr>
            <a:picLocks noChangeAspect="1"/>
          </p:cNvPicPr>
          <p:nvPr/>
        </p:nvPicPr>
        <p:blipFill>
          <a:blip r:embed="rId2"/>
          <a:stretch>
            <a:fillRect/>
          </a:stretch>
        </p:blipFill>
        <p:spPr>
          <a:xfrm>
            <a:off x="2683901" y="1874519"/>
            <a:ext cx="6823892" cy="3840480"/>
          </a:xfrm>
          <a:prstGeom prst="rect">
            <a:avLst/>
          </a:prstGeom>
        </p:spPr>
      </p:pic>
      <p:sp>
        <p:nvSpPr>
          <p:cNvPr id="9" name="Rectangle 8"/>
          <p:cNvSpPr/>
          <p:nvPr/>
        </p:nvSpPr>
        <p:spPr>
          <a:xfrm>
            <a:off x="777240" y="5852159"/>
            <a:ext cx="10634472" cy="64008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777240" y="5852159"/>
            <a:ext cx="91440" cy="640080"/>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1005840" y="5852159"/>
            <a:ext cx="10241280" cy="640080"/>
          </a:xfrm>
          <a:prstGeom prst="rect">
            <a:avLst/>
          </a:prstGeom>
          <a:noFill/>
        </p:spPr>
        <p:txBody>
          <a:bodyPr wrap="square" anchor="ctr">
            <a:spAutoFit/>
          </a:bodyPr>
          <a:lstStyle/>
          <a:p>
            <a:pPr algn="l">
              <a:spcAft>
                <a:spcPts val="400"/>
              </a:spcAft>
            </a:pPr>
            <a:r>
              <a:rPr sz="1300" b="1">
                <a:solidFill>
                  <a:srgbClr val="C0392B"/>
                </a:solidFill>
                <a:latin typeface="Arial"/>
              </a:rPr>
              <a:t>▶  </a:t>
            </a:r>
            <a:r>
              <a:rPr sz="1350" b="0">
                <a:solidFill>
                  <a:srgbClr val="161B26"/>
                </a:solidFill>
                <a:latin typeface="Arial"/>
              </a:rPr>
              <a:t>Security and compliance as continuous, automated guardrails</a:t>
            </a:r>
          </a:p>
        </p:txBody>
      </p:sp>
      <p:sp>
        <p:nvSpPr>
          <p:cNvPr id="12" name="TextBox 11"/>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DevOps Engineering on AWS  ·  TGS-2023040474</a:t>
            </a:r>
          </a:p>
        </p:txBody>
      </p:sp>
      <p:sp>
        <p:nvSpPr>
          <p:cNvPr id="13" name="TextBox 12"/>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4" name="TextBox 13"/>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188</a:t>
            </a:r>
          </a:p>
        </p:txBody>
      </p:sp>
    </p:spTree>
  </p:cSld>
  <p:clrMapOvr>
    <a:masterClrMapping/>
  </p:clrMapOvr>
  <p:transition xmlns:p14="http://schemas.microsoft.com/office/powerpoint/2010/main" p14:dur="380">
    <p:fade/>
  </p:transition>
</p:sld>
</file>

<file path=ppt/slides/slide19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38912"/>
            <a:ext cx="10607040" cy="365760"/>
          </a:xfrm>
          <a:prstGeom prst="rect">
            <a:avLst/>
          </a:prstGeom>
          <a:noFill/>
        </p:spPr>
        <p:txBody>
          <a:bodyPr wrap="square" anchor="t">
            <a:spAutoFit/>
          </a:bodyPr>
          <a:lstStyle/>
          <a:p>
            <a:pPr algn="l">
              <a:spcAft>
                <a:spcPts val="400"/>
              </a:spcAft>
            </a:pPr>
            <a:r>
              <a:rPr sz="1400" b="1">
                <a:solidFill>
                  <a:srgbClr val="C0392B"/>
                </a:solidFill>
                <a:latin typeface="Arial"/>
              </a:rPr>
              <a:t>DOMAIN 06 · WEIGHTING 17%</a:t>
            </a:r>
          </a:p>
        </p:txBody>
      </p:sp>
      <p:sp>
        <p:nvSpPr>
          <p:cNvPr id="5" name="TextBox 4"/>
          <p:cNvSpPr txBox="1"/>
          <p:nvPr/>
        </p:nvSpPr>
        <p:spPr>
          <a:xfrm>
            <a:off x="777240" y="804672"/>
            <a:ext cx="10927080" cy="731520"/>
          </a:xfrm>
          <a:prstGeom prst="rect">
            <a:avLst/>
          </a:prstGeom>
          <a:noFill/>
        </p:spPr>
        <p:txBody>
          <a:bodyPr wrap="square" anchor="t">
            <a:spAutoFit/>
          </a:bodyPr>
          <a:lstStyle/>
          <a:p>
            <a:pPr algn="l">
              <a:spcAft>
                <a:spcPts val="400"/>
              </a:spcAft>
            </a:pPr>
            <a:r>
              <a:rPr sz="2900" b="1">
                <a:solidFill>
                  <a:srgbClr val="161B26"/>
                </a:solidFill>
                <a:latin typeface="Arial"/>
              </a:rPr>
              <a:t>Key Concepts — Security and Compliance</a:t>
            </a:r>
          </a:p>
        </p:txBody>
      </p:sp>
      <p:sp>
        <p:nvSpPr>
          <p:cNvPr id="6" name="Rectangle 5"/>
          <p:cNvSpPr/>
          <p:nvPr/>
        </p:nvSpPr>
        <p:spPr>
          <a:xfrm>
            <a:off x="777240" y="1572768"/>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783080"/>
            <a:ext cx="5180076" cy="131064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1783080"/>
            <a:ext cx="91440" cy="131064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1033272" y="2164080"/>
            <a:ext cx="548640" cy="548640"/>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033272" y="2164080"/>
            <a:ext cx="548640" cy="548640"/>
          </a:xfrm>
          <a:prstGeom prst="rect">
            <a:avLst/>
          </a:prstGeom>
          <a:noFill/>
        </p:spPr>
        <p:txBody>
          <a:bodyPr wrap="square" anchor="ctr">
            <a:spAutoFit/>
          </a:bodyPr>
          <a:lstStyle/>
          <a:p>
            <a:pPr algn="ctr">
              <a:spcAft>
                <a:spcPts val="400"/>
              </a:spcAft>
            </a:pPr>
            <a:r>
              <a:rPr sz="1800" b="1">
                <a:solidFill>
                  <a:srgbClr val="FFFFFF"/>
                </a:solidFill>
                <a:latin typeface="Arial"/>
              </a:rPr>
              <a:t>1</a:t>
            </a:r>
          </a:p>
        </p:txBody>
      </p:sp>
      <p:sp>
        <p:nvSpPr>
          <p:cNvPr id="11" name="TextBox 10"/>
          <p:cNvSpPr txBox="1"/>
          <p:nvPr/>
        </p:nvSpPr>
        <p:spPr>
          <a:xfrm>
            <a:off x="1764792" y="1892808"/>
            <a:ext cx="3973068" cy="1127760"/>
          </a:xfrm>
          <a:prstGeom prst="rect">
            <a:avLst/>
          </a:prstGeom>
          <a:noFill/>
        </p:spPr>
        <p:txBody>
          <a:bodyPr wrap="square" anchor="ctr">
            <a:spAutoFit/>
          </a:bodyPr>
          <a:lstStyle/>
          <a:p>
            <a:pPr algn="l">
              <a:spcAft>
                <a:spcPts val="300"/>
              </a:spcAft>
            </a:pPr>
            <a:r>
              <a:rPr sz="1550" b="1">
                <a:solidFill>
                  <a:srgbClr val="161B26"/>
                </a:solidFill>
                <a:latin typeface="Arial"/>
              </a:rPr>
              <a:t>Identity &amp; access management</a:t>
            </a:r>
          </a:p>
          <a:p>
            <a:pPr algn="l">
              <a:spcAft>
                <a:spcPts val="300"/>
              </a:spcAft>
            </a:pPr>
            <a:r>
              <a:rPr sz="1150" b="0">
                <a:solidFill>
                  <a:srgbClr val="5B6372"/>
                </a:solidFill>
                <a:latin typeface="Arial"/>
              </a:rPr>
              <a:t>IAM users, roles, policies and permission boundaries enforce least privilege; roles beat long-lived keys.</a:t>
            </a:r>
          </a:p>
        </p:txBody>
      </p:sp>
      <p:sp>
        <p:nvSpPr>
          <p:cNvPr id="12" name="Rectangle 11"/>
          <p:cNvSpPr/>
          <p:nvPr/>
        </p:nvSpPr>
        <p:spPr>
          <a:xfrm>
            <a:off x="6231636" y="1783080"/>
            <a:ext cx="5180076" cy="131064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6231636" y="1783080"/>
            <a:ext cx="91440" cy="131064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Oval 13"/>
          <p:cNvSpPr/>
          <p:nvPr/>
        </p:nvSpPr>
        <p:spPr>
          <a:xfrm>
            <a:off x="6487668" y="2164080"/>
            <a:ext cx="548640" cy="54864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6487668" y="2164080"/>
            <a:ext cx="548640" cy="548640"/>
          </a:xfrm>
          <a:prstGeom prst="rect">
            <a:avLst/>
          </a:prstGeom>
          <a:noFill/>
        </p:spPr>
        <p:txBody>
          <a:bodyPr wrap="square" anchor="ctr">
            <a:spAutoFit/>
          </a:bodyPr>
          <a:lstStyle/>
          <a:p>
            <a:pPr algn="ctr">
              <a:spcAft>
                <a:spcPts val="400"/>
              </a:spcAft>
            </a:pPr>
            <a:r>
              <a:rPr sz="1800" b="1">
                <a:solidFill>
                  <a:srgbClr val="FFFFFF"/>
                </a:solidFill>
                <a:latin typeface="Arial"/>
              </a:rPr>
              <a:t>2</a:t>
            </a:r>
          </a:p>
        </p:txBody>
      </p:sp>
      <p:sp>
        <p:nvSpPr>
          <p:cNvPr id="16" name="TextBox 15"/>
          <p:cNvSpPr txBox="1"/>
          <p:nvPr/>
        </p:nvSpPr>
        <p:spPr>
          <a:xfrm>
            <a:off x="7219188" y="1892808"/>
            <a:ext cx="3973068" cy="1127760"/>
          </a:xfrm>
          <a:prstGeom prst="rect">
            <a:avLst/>
          </a:prstGeom>
          <a:noFill/>
        </p:spPr>
        <p:txBody>
          <a:bodyPr wrap="square" anchor="ctr">
            <a:spAutoFit/>
          </a:bodyPr>
          <a:lstStyle/>
          <a:p>
            <a:pPr algn="l">
              <a:spcAft>
                <a:spcPts val="300"/>
              </a:spcAft>
            </a:pPr>
            <a:r>
              <a:rPr sz="1550" b="1">
                <a:solidFill>
                  <a:srgbClr val="161B26"/>
                </a:solidFill>
                <a:latin typeface="Arial"/>
              </a:rPr>
              <a:t>IAM at scale</a:t>
            </a:r>
          </a:p>
          <a:p>
            <a:pPr algn="l">
              <a:spcAft>
                <a:spcPts val="300"/>
              </a:spcAft>
            </a:pPr>
            <a:r>
              <a:rPr sz="1150" b="0">
                <a:solidFill>
                  <a:srgbClr val="5B6372"/>
                </a:solidFill>
                <a:latin typeface="Arial"/>
              </a:rPr>
              <a:t>Organizations SCPs, IAM Identity Center and federation manage access across many accounts.</a:t>
            </a:r>
          </a:p>
        </p:txBody>
      </p:sp>
      <p:sp>
        <p:nvSpPr>
          <p:cNvPr id="17" name="Rectangle 16"/>
          <p:cNvSpPr/>
          <p:nvPr/>
        </p:nvSpPr>
        <p:spPr>
          <a:xfrm>
            <a:off x="777240" y="3313176"/>
            <a:ext cx="5180076" cy="131064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777240" y="3313176"/>
            <a:ext cx="91440" cy="1310640"/>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Oval 18"/>
          <p:cNvSpPr/>
          <p:nvPr/>
        </p:nvSpPr>
        <p:spPr>
          <a:xfrm>
            <a:off x="1033272" y="3694176"/>
            <a:ext cx="548640" cy="548640"/>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1033272" y="3694176"/>
            <a:ext cx="548640" cy="548640"/>
          </a:xfrm>
          <a:prstGeom prst="rect">
            <a:avLst/>
          </a:prstGeom>
          <a:noFill/>
        </p:spPr>
        <p:txBody>
          <a:bodyPr wrap="square" anchor="ctr">
            <a:spAutoFit/>
          </a:bodyPr>
          <a:lstStyle/>
          <a:p>
            <a:pPr algn="ctr">
              <a:spcAft>
                <a:spcPts val="400"/>
              </a:spcAft>
            </a:pPr>
            <a:r>
              <a:rPr sz="1800" b="1">
                <a:solidFill>
                  <a:srgbClr val="FFFFFF"/>
                </a:solidFill>
                <a:latin typeface="Arial"/>
              </a:rPr>
              <a:t>3</a:t>
            </a:r>
          </a:p>
        </p:txBody>
      </p:sp>
      <p:sp>
        <p:nvSpPr>
          <p:cNvPr id="21" name="TextBox 20"/>
          <p:cNvSpPr txBox="1"/>
          <p:nvPr/>
        </p:nvSpPr>
        <p:spPr>
          <a:xfrm>
            <a:off x="1764792" y="3422904"/>
            <a:ext cx="3973068" cy="1127760"/>
          </a:xfrm>
          <a:prstGeom prst="rect">
            <a:avLst/>
          </a:prstGeom>
          <a:noFill/>
        </p:spPr>
        <p:txBody>
          <a:bodyPr wrap="square" anchor="ctr">
            <a:spAutoFit/>
          </a:bodyPr>
          <a:lstStyle/>
          <a:p>
            <a:pPr algn="l">
              <a:spcAft>
                <a:spcPts val="300"/>
              </a:spcAft>
            </a:pPr>
            <a:r>
              <a:rPr sz="1550" b="1">
                <a:solidFill>
                  <a:srgbClr val="161B26"/>
                </a:solidFill>
                <a:latin typeface="Arial"/>
              </a:rPr>
              <a:t>Data protection</a:t>
            </a:r>
          </a:p>
          <a:p>
            <a:pPr algn="l">
              <a:spcAft>
                <a:spcPts val="300"/>
              </a:spcAft>
            </a:pPr>
            <a:r>
              <a:rPr sz="1150" b="0">
                <a:solidFill>
                  <a:srgbClr val="5B6372"/>
                </a:solidFill>
                <a:latin typeface="Arial"/>
              </a:rPr>
              <a:t>KMS encryption, Secrets Manager, S3 Block Public Access and TLS protect data at rest and in transit.</a:t>
            </a:r>
          </a:p>
        </p:txBody>
      </p:sp>
      <p:sp>
        <p:nvSpPr>
          <p:cNvPr id="22" name="Rectangle 21"/>
          <p:cNvSpPr/>
          <p:nvPr/>
        </p:nvSpPr>
        <p:spPr>
          <a:xfrm>
            <a:off x="6231636" y="3313176"/>
            <a:ext cx="5180076" cy="131064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ectangle 22"/>
          <p:cNvSpPr/>
          <p:nvPr/>
        </p:nvSpPr>
        <p:spPr>
          <a:xfrm>
            <a:off x="6231636" y="3313176"/>
            <a:ext cx="91440" cy="1310640"/>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Oval 23"/>
          <p:cNvSpPr/>
          <p:nvPr/>
        </p:nvSpPr>
        <p:spPr>
          <a:xfrm>
            <a:off x="6487668" y="3694176"/>
            <a:ext cx="548640" cy="548640"/>
          </a:xfrm>
          <a:prstGeom prst="ellipse">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6487668" y="3694176"/>
            <a:ext cx="548640" cy="548640"/>
          </a:xfrm>
          <a:prstGeom prst="rect">
            <a:avLst/>
          </a:prstGeom>
          <a:noFill/>
        </p:spPr>
        <p:txBody>
          <a:bodyPr wrap="square" anchor="ctr">
            <a:spAutoFit/>
          </a:bodyPr>
          <a:lstStyle/>
          <a:p>
            <a:pPr algn="ctr">
              <a:spcAft>
                <a:spcPts val="400"/>
              </a:spcAft>
            </a:pPr>
            <a:r>
              <a:rPr sz="1800" b="1">
                <a:solidFill>
                  <a:srgbClr val="FFFFFF"/>
                </a:solidFill>
                <a:latin typeface="Arial"/>
              </a:rPr>
              <a:t>4</a:t>
            </a:r>
          </a:p>
        </p:txBody>
      </p:sp>
      <p:sp>
        <p:nvSpPr>
          <p:cNvPr id="26" name="TextBox 25"/>
          <p:cNvSpPr txBox="1"/>
          <p:nvPr/>
        </p:nvSpPr>
        <p:spPr>
          <a:xfrm>
            <a:off x="7219188" y="3422904"/>
            <a:ext cx="3973068" cy="1127760"/>
          </a:xfrm>
          <a:prstGeom prst="rect">
            <a:avLst/>
          </a:prstGeom>
          <a:noFill/>
        </p:spPr>
        <p:txBody>
          <a:bodyPr wrap="square" anchor="ctr">
            <a:spAutoFit/>
          </a:bodyPr>
          <a:lstStyle/>
          <a:p>
            <a:pPr algn="l">
              <a:spcAft>
                <a:spcPts val="300"/>
              </a:spcAft>
            </a:pPr>
            <a:r>
              <a:rPr sz="1550" b="1">
                <a:solidFill>
                  <a:srgbClr val="161B26"/>
                </a:solidFill>
                <a:latin typeface="Arial"/>
              </a:rPr>
              <a:t>Detective controls</a:t>
            </a:r>
          </a:p>
          <a:p>
            <a:pPr algn="l">
              <a:spcAft>
                <a:spcPts val="300"/>
              </a:spcAft>
            </a:pPr>
            <a:r>
              <a:rPr sz="1150" b="0">
                <a:solidFill>
                  <a:srgbClr val="5B6372"/>
                </a:solidFill>
                <a:latin typeface="Arial"/>
              </a:rPr>
              <a:t>CloudTrail, AWS Config, GuardDuty and Security Hub record, assess and score the account's posture.</a:t>
            </a:r>
          </a:p>
        </p:txBody>
      </p:sp>
      <p:sp>
        <p:nvSpPr>
          <p:cNvPr id="27" name="Rectangle 26"/>
          <p:cNvSpPr/>
          <p:nvPr/>
        </p:nvSpPr>
        <p:spPr>
          <a:xfrm>
            <a:off x="777240" y="4843272"/>
            <a:ext cx="5180076" cy="131064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Rectangle 27"/>
          <p:cNvSpPr/>
          <p:nvPr/>
        </p:nvSpPr>
        <p:spPr>
          <a:xfrm>
            <a:off x="777240" y="4843272"/>
            <a:ext cx="91440" cy="1310640"/>
          </a:xfrm>
          <a:prstGeom prst="rect">
            <a:avLst/>
          </a:prstGeom>
          <a:solidFill>
            <a:srgbClr val="EC711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Oval 28"/>
          <p:cNvSpPr/>
          <p:nvPr/>
        </p:nvSpPr>
        <p:spPr>
          <a:xfrm>
            <a:off x="1033272" y="5224272"/>
            <a:ext cx="548640" cy="548640"/>
          </a:xfrm>
          <a:prstGeom prst="ellipse">
            <a:avLst/>
          </a:prstGeom>
          <a:solidFill>
            <a:srgbClr val="EC711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1033272" y="5224272"/>
            <a:ext cx="548640" cy="548640"/>
          </a:xfrm>
          <a:prstGeom prst="rect">
            <a:avLst/>
          </a:prstGeom>
          <a:noFill/>
        </p:spPr>
        <p:txBody>
          <a:bodyPr wrap="square" anchor="ctr">
            <a:spAutoFit/>
          </a:bodyPr>
          <a:lstStyle/>
          <a:p>
            <a:pPr algn="ctr">
              <a:spcAft>
                <a:spcPts val="400"/>
              </a:spcAft>
            </a:pPr>
            <a:r>
              <a:rPr sz="1800" b="1">
                <a:solidFill>
                  <a:srgbClr val="FFFFFF"/>
                </a:solidFill>
                <a:latin typeface="Arial"/>
              </a:rPr>
              <a:t>5</a:t>
            </a:r>
          </a:p>
        </p:txBody>
      </p:sp>
      <p:sp>
        <p:nvSpPr>
          <p:cNvPr id="31" name="TextBox 30"/>
          <p:cNvSpPr txBox="1"/>
          <p:nvPr/>
        </p:nvSpPr>
        <p:spPr>
          <a:xfrm>
            <a:off x="1764792" y="4953000"/>
            <a:ext cx="3973068" cy="1127760"/>
          </a:xfrm>
          <a:prstGeom prst="rect">
            <a:avLst/>
          </a:prstGeom>
          <a:noFill/>
        </p:spPr>
        <p:txBody>
          <a:bodyPr wrap="square" anchor="ctr">
            <a:spAutoFit/>
          </a:bodyPr>
          <a:lstStyle/>
          <a:p>
            <a:pPr algn="l">
              <a:spcAft>
                <a:spcPts val="300"/>
              </a:spcAft>
            </a:pPr>
            <a:r>
              <a:rPr sz="1550" b="1">
                <a:solidFill>
                  <a:srgbClr val="161B26"/>
                </a:solidFill>
                <a:latin typeface="Arial"/>
              </a:rPr>
              <a:t>Automated compliance</a:t>
            </a:r>
          </a:p>
          <a:p>
            <a:pPr algn="l">
              <a:spcAft>
                <a:spcPts val="300"/>
              </a:spcAft>
            </a:pPr>
            <a:r>
              <a:rPr sz="1150" b="0">
                <a:solidFill>
                  <a:srgbClr val="5B6372"/>
                </a:solidFill>
                <a:latin typeface="Arial"/>
              </a:rPr>
              <a:t>Config rules and conformance packs continuously check resources against a technical blueprint.</a:t>
            </a:r>
          </a:p>
        </p:txBody>
      </p:sp>
      <p:sp>
        <p:nvSpPr>
          <p:cNvPr id="32" name="Rectangle 31"/>
          <p:cNvSpPr/>
          <p:nvPr/>
        </p:nvSpPr>
        <p:spPr>
          <a:xfrm>
            <a:off x="6231636" y="4843272"/>
            <a:ext cx="5180076" cy="131064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Rectangle 32"/>
          <p:cNvSpPr/>
          <p:nvPr/>
        </p:nvSpPr>
        <p:spPr>
          <a:xfrm>
            <a:off x="6231636" y="4843272"/>
            <a:ext cx="91440" cy="1310640"/>
          </a:xfrm>
          <a:prstGeom prst="rect">
            <a:avLst/>
          </a:prstGeom>
          <a:solidFill>
            <a:srgbClr val="0E9EC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Oval 33"/>
          <p:cNvSpPr/>
          <p:nvPr/>
        </p:nvSpPr>
        <p:spPr>
          <a:xfrm>
            <a:off x="6487668" y="5224272"/>
            <a:ext cx="548640" cy="548640"/>
          </a:xfrm>
          <a:prstGeom prst="ellipse">
            <a:avLst/>
          </a:prstGeom>
          <a:solidFill>
            <a:srgbClr val="0E9EC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TextBox 34"/>
          <p:cNvSpPr txBox="1"/>
          <p:nvPr/>
        </p:nvSpPr>
        <p:spPr>
          <a:xfrm>
            <a:off x="6487668" y="5224272"/>
            <a:ext cx="548640" cy="548640"/>
          </a:xfrm>
          <a:prstGeom prst="rect">
            <a:avLst/>
          </a:prstGeom>
          <a:noFill/>
        </p:spPr>
        <p:txBody>
          <a:bodyPr wrap="square" anchor="ctr">
            <a:spAutoFit/>
          </a:bodyPr>
          <a:lstStyle/>
          <a:p>
            <a:pPr algn="ctr">
              <a:spcAft>
                <a:spcPts val="400"/>
              </a:spcAft>
            </a:pPr>
            <a:r>
              <a:rPr sz="1800" b="1">
                <a:solidFill>
                  <a:srgbClr val="FFFFFF"/>
                </a:solidFill>
                <a:latin typeface="Arial"/>
              </a:rPr>
              <a:t>6</a:t>
            </a:r>
          </a:p>
        </p:txBody>
      </p:sp>
      <p:sp>
        <p:nvSpPr>
          <p:cNvPr id="36" name="TextBox 35"/>
          <p:cNvSpPr txBox="1"/>
          <p:nvPr/>
        </p:nvSpPr>
        <p:spPr>
          <a:xfrm>
            <a:off x="7219188" y="4953000"/>
            <a:ext cx="3973068" cy="1127760"/>
          </a:xfrm>
          <a:prstGeom prst="rect">
            <a:avLst/>
          </a:prstGeom>
          <a:noFill/>
        </p:spPr>
        <p:txBody>
          <a:bodyPr wrap="square" anchor="ctr">
            <a:spAutoFit/>
          </a:bodyPr>
          <a:lstStyle/>
          <a:p>
            <a:pPr algn="l">
              <a:spcAft>
                <a:spcPts val="300"/>
              </a:spcAft>
            </a:pPr>
            <a:r>
              <a:rPr sz="1550" b="1">
                <a:solidFill>
                  <a:srgbClr val="161B26"/>
                </a:solidFill>
                <a:latin typeface="Arial"/>
              </a:rPr>
              <a:t>Governance blueprint</a:t>
            </a:r>
          </a:p>
          <a:p>
            <a:pPr algn="l">
              <a:spcAft>
                <a:spcPts val="300"/>
              </a:spcAft>
            </a:pPr>
            <a:r>
              <a:rPr sz="1150" b="0">
                <a:solidFill>
                  <a:srgbClr val="5B6372"/>
                </a:solidFill>
                <a:latin typeface="Arial"/>
              </a:rPr>
              <a:t>A landing zone plus guardrails give a documented, auditable security and compliance baseline.</a:t>
            </a:r>
          </a:p>
        </p:txBody>
      </p:sp>
      <p:sp>
        <p:nvSpPr>
          <p:cNvPr id="37" name="TextBox 36"/>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DevOps Engineering on AWS  ·  TGS-2023040474</a:t>
            </a:r>
          </a:p>
        </p:txBody>
      </p:sp>
      <p:sp>
        <p:nvSpPr>
          <p:cNvPr id="38" name="TextBox 37"/>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39" name="TextBox 38"/>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189</a:t>
            </a:r>
          </a:p>
        </p:txBody>
      </p:sp>
    </p:spTree>
  </p:cSld>
  <p:clrMapOvr>
    <a:masterClrMapping/>
  </p:clrMapOvr>
  <p:transition xmlns:p14="http://schemas.microsoft.com/office/powerpoint/2010/main" p14:dur="380">
    <p:fade/>
  </p:transition>
</p:sld>
</file>

<file path=ppt/slides/slide19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38912"/>
            <a:ext cx="10607040" cy="365760"/>
          </a:xfrm>
          <a:prstGeom prst="rect">
            <a:avLst/>
          </a:prstGeom>
          <a:noFill/>
        </p:spPr>
        <p:txBody>
          <a:bodyPr wrap="square" anchor="t">
            <a:spAutoFit/>
          </a:bodyPr>
          <a:lstStyle/>
          <a:p>
            <a:pPr algn="l">
              <a:spcAft>
                <a:spcPts val="400"/>
              </a:spcAft>
            </a:pPr>
            <a:r>
              <a:rPr sz="1400" b="1">
                <a:solidFill>
                  <a:srgbClr val="C0392B"/>
                </a:solidFill>
                <a:latin typeface="Arial"/>
              </a:rPr>
              <a:t>DOMAIN 06 · SECURE &amp; AUDIT</a:t>
            </a:r>
          </a:p>
        </p:txBody>
      </p:sp>
      <p:sp>
        <p:nvSpPr>
          <p:cNvPr id="5" name="TextBox 4"/>
          <p:cNvSpPr txBox="1"/>
          <p:nvPr/>
        </p:nvSpPr>
        <p:spPr>
          <a:xfrm>
            <a:off x="777240" y="804672"/>
            <a:ext cx="10927080" cy="731520"/>
          </a:xfrm>
          <a:prstGeom prst="rect">
            <a:avLst/>
          </a:prstGeom>
          <a:noFill/>
        </p:spPr>
        <p:txBody>
          <a:bodyPr wrap="square" anchor="t">
            <a:spAutoFit/>
          </a:bodyPr>
          <a:lstStyle/>
          <a:p>
            <a:pPr algn="l">
              <a:spcAft>
                <a:spcPts val="400"/>
              </a:spcAft>
            </a:pPr>
            <a:r>
              <a:rPr sz="2900" b="1">
                <a:solidFill>
                  <a:srgbClr val="161B26"/>
                </a:solidFill>
                <a:latin typeface="Arial"/>
              </a:rPr>
              <a:t>Security &amp; Compliance Blueprint</a:t>
            </a:r>
          </a:p>
        </p:txBody>
      </p:sp>
      <p:sp>
        <p:nvSpPr>
          <p:cNvPr id="6" name="Rectangle 5"/>
          <p:cNvSpPr/>
          <p:nvPr/>
        </p:nvSpPr>
        <p:spPr>
          <a:xfrm>
            <a:off x="777240" y="1572768"/>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ounded Rectangle 6"/>
          <p:cNvSpPr/>
          <p:nvPr/>
        </p:nvSpPr>
        <p:spPr>
          <a:xfrm>
            <a:off x="777240" y="1965960"/>
            <a:ext cx="2377440" cy="1051560"/>
          </a:xfrm>
          <a:prstGeom prst="roundRect">
            <a:avLst/>
          </a:prstGeom>
          <a:solidFill>
            <a:srgbClr val="F5F8FC"/>
          </a:solidFill>
          <a:ln w="15875">
            <a:solidFill>
              <a:srgbClr val="C0392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1965960"/>
            <a:ext cx="2377440" cy="82296"/>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868680" y="2075688"/>
            <a:ext cx="2194560" cy="868680"/>
          </a:xfrm>
          <a:prstGeom prst="rect">
            <a:avLst/>
          </a:prstGeom>
          <a:noFill/>
        </p:spPr>
        <p:txBody>
          <a:bodyPr wrap="square" anchor="ctr">
            <a:spAutoFit/>
          </a:bodyPr>
          <a:lstStyle/>
          <a:p>
            <a:pPr algn="ctr">
              <a:spcAft>
                <a:spcPts val="400"/>
              </a:spcAft>
            </a:pPr>
            <a:r>
              <a:rPr sz="1300" b="1">
                <a:solidFill>
                  <a:srgbClr val="161B26"/>
                </a:solidFill>
                <a:latin typeface="Arial"/>
              </a:rPr>
              <a:t>IAM
least-privilege roles</a:t>
            </a:r>
          </a:p>
        </p:txBody>
      </p:sp>
      <p:sp>
        <p:nvSpPr>
          <p:cNvPr id="10" name="Rounded Rectangle 9"/>
          <p:cNvSpPr/>
          <p:nvPr/>
        </p:nvSpPr>
        <p:spPr>
          <a:xfrm>
            <a:off x="777240" y="3657600"/>
            <a:ext cx="2377440" cy="1051560"/>
          </a:xfrm>
          <a:prstGeom prst="roundRect">
            <a:avLst/>
          </a:prstGeom>
          <a:solidFill>
            <a:srgbClr val="F5F8FC"/>
          </a:solidFill>
          <a:ln w="15875">
            <a:solidFill>
              <a:srgbClr val="7C3AED"/>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ectangle 10"/>
          <p:cNvSpPr/>
          <p:nvPr/>
        </p:nvSpPr>
        <p:spPr>
          <a:xfrm>
            <a:off x="777240" y="3657600"/>
            <a:ext cx="2377440" cy="82296"/>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868680" y="3767328"/>
            <a:ext cx="2194560" cy="868680"/>
          </a:xfrm>
          <a:prstGeom prst="rect">
            <a:avLst/>
          </a:prstGeom>
          <a:noFill/>
        </p:spPr>
        <p:txBody>
          <a:bodyPr wrap="square" anchor="ctr">
            <a:spAutoFit/>
          </a:bodyPr>
          <a:lstStyle/>
          <a:p>
            <a:pPr algn="ctr">
              <a:spcAft>
                <a:spcPts val="400"/>
              </a:spcAft>
            </a:pPr>
            <a:r>
              <a:rPr sz="1300" b="1">
                <a:solidFill>
                  <a:srgbClr val="161B26"/>
                </a:solidFill>
                <a:latin typeface="Arial"/>
              </a:rPr>
              <a:t>KMS + Secrets
encryption</a:t>
            </a:r>
          </a:p>
        </p:txBody>
      </p:sp>
      <p:sp>
        <p:nvSpPr>
          <p:cNvPr id="13" name="Rounded Rectangle 12"/>
          <p:cNvSpPr/>
          <p:nvPr/>
        </p:nvSpPr>
        <p:spPr>
          <a:xfrm>
            <a:off x="3520440" y="1965960"/>
            <a:ext cx="2377440" cy="1051560"/>
          </a:xfrm>
          <a:prstGeom prst="roundRect">
            <a:avLst/>
          </a:prstGeom>
          <a:solidFill>
            <a:srgbClr val="F5F8FC"/>
          </a:solidFill>
          <a:ln w="15875">
            <a:solidFill>
              <a:srgbClr val="1F6FE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ectangle 13"/>
          <p:cNvSpPr/>
          <p:nvPr/>
        </p:nvSpPr>
        <p:spPr>
          <a:xfrm>
            <a:off x="3520440" y="1965960"/>
            <a:ext cx="2377440" cy="82296"/>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3611880" y="2075688"/>
            <a:ext cx="2194560" cy="868680"/>
          </a:xfrm>
          <a:prstGeom prst="rect">
            <a:avLst/>
          </a:prstGeom>
          <a:noFill/>
        </p:spPr>
        <p:txBody>
          <a:bodyPr wrap="square" anchor="ctr">
            <a:spAutoFit/>
          </a:bodyPr>
          <a:lstStyle/>
          <a:p>
            <a:pPr algn="ctr">
              <a:spcAft>
                <a:spcPts val="400"/>
              </a:spcAft>
            </a:pPr>
            <a:r>
              <a:rPr sz="1300" b="1">
                <a:solidFill>
                  <a:srgbClr val="161B26"/>
                </a:solidFill>
                <a:latin typeface="Arial"/>
              </a:rPr>
              <a:t>CloudTrail
audit log</a:t>
            </a:r>
          </a:p>
        </p:txBody>
      </p:sp>
      <p:sp>
        <p:nvSpPr>
          <p:cNvPr id="16" name="Rounded Rectangle 15"/>
          <p:cNvSpPr/>
          <p:nvPr/>
        </p:nvSpPr>
        <p:spPr>
          <a:xfrm>
            <a:off x="6263640" y="1965960"/>
            <a:ext cx="2377440" cy="1051560"/>
          </a:xfrm>
          <a:prstGeom prst="roundRect">
            <a:avLst/>
          </a:prstGeom>
          <a:solidFill>
            <a:srgbClr val="F5F8FC"/>
          </a:solidFill>
          <a:ln w="15875">
            <a:solidFill>
              <a:srgbClr val="10B98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ectangle 16"/>
          <p:cNvSpPr/>
          <p:nvPr/>
        </p:nvSpPr>
        <p:spPr>
          <a:xfrm>
            <a:off x="6263640" y="1965960"/>
            <a:ext cx="2377440" cy="82296"/>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6355080" y="2075688"/>
            <a:ext cx="2194560" cy="868680"/>
          </a:xfrm>
          <a:prstGeom prst="rect">
            <a:avLst/>
          </a:prstGeom>
          <a:noFill/>
        </p:spPr>
        <p:txBody>
          <a:bodyPr wrap="square" anchor="ctr">
            <a:spAutoFit/>
          </a:bodyPr>
          <a:lstStyle/>
          <a:p>
            <a:pPr algn="ctr">
              <a:spcAft>
                <a:spcPts val="400"/>
              </a:spcAft>
            </a:pPr>
            <a:r>
              <a:rPr sz="1300" b="1">
                <a:solidFill>
                  <a:srgbClr val="161B26"/>
                </a:solidFill>
                <a:latin typeface="Arial"/>
              </a:rPr>
              <a:t>AWS Config
rules + drift</a:t>
            </a:r>
          </a:p>
        </p:txBody>
      </p:sp>
      <p:sp>
        <p:nvSpPr>
          <p:cNvPr id="19" name="Rounded Rectangle 18"/>
          <p:cNvSpPr/>
          <p:nvPr/>
        </p:nvSpPr>
        <p:spPr>
          <a:xfrm>
            <a:off x="9006840" y="1965960"/>
            <a:ext cx="2377440" cy="1051560"/>
          </a:xfrm>
          <a:prstGeom prst="roundRect">
            <a:avLst/>
          </a:prstGeom>
          <a:solidFill>
            <a:srgbClr val="F5F8FC"/>
          </a:solidFill>
          <a:ln w="15875">
            <a:solidFill>
              <a:srgbClr val="EC711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Rectangle 19"/>
          <p:cNvSpPr/>
          <p:nvPr/>
        </p:nvSpPr>
        <p:spPr>
          <a:xfrm>
            <a:off x="9006840" y="1965960"/>
            <a:ext cx="2377440" cy="82296"/>
          </a:xfrm>
          <a:prstGeom prst="rect">
            <a:avLst/>
          </a:prstGeom>
          <a:solidFill>
            <a:srgbClr val="EC711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9098280" y="2075688"/>
            <a:ext cx="2194560" cy="868680"/>
          </a:xfrm>
          <a:prstGeom prst="rect">
            <a:avLst/>
          </a:prstGeom>
          <a:noFill/>
        </p:spPr>
        <p:txBody>
          <a:bodyPr wrap="square" anchor="ctr">
            <a:spAutoFit/>
          </a:bodyPr>
          <a:lstStyle/>
          <a:p>
            <a:pPr algn="ctr">
              <a:spcAft>
                <a:spcPts val="400"/>
              </a:spcAft>
            </a:pPr>
            <a:r>
              <a:rPr sz="1300" b="1">
                <a:solidFill>
                  <a:srgbClr val="161B26"/>
                </a:solidFill>
                <a:latin typeface="Arial"/>
              </a:rPr>
              <a:t>Security Hub /
GuardDuty</a:t>
            </a:r>
          </a:p>
        </p:txBody>
      </p:sp>
      <p:sp>
        <p:nvSpPr>
          <p:cNvPr id="22" name="Rounded Rectangle 21"/>
          <p:cNvSpPr/>
          <p:nvPr/>
        </p:nvSpPr>
        <p:spPr>
          <a:xfrm>
            <a:off x="6263640" y="3657600"/>
            <a:ext cx="2377440" cy="1051560"/>
          </a:xfrm>
          <a:prstGeom prst="roundRect">
            <a:avLst/>
          </a:prstGeom>
          <a:solidFill>
            <a:srgbClr val="F5F8FC"/>
          </a:solidFill>
          <a:ln w="15875">
            <a:solidFill>
              <a:srgbClr val="F59E0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ectangle 22"/>
          <p:cNvSpPr/>
          <p:nvPr/>
        </p:nvSpPr>
        <p:spPr>
          <a:xfrm>
            <a:off x="6263640" y="3657600"/>
            <a:ext cx="2377440" cy="82296"/>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6355080" y="3767328"/>
            <a:ext cx="2194560" cy="868680"/>
          </a:xfrm>
          <a:prstGeom prst="rect">
            <a:avLst/>
          </a:prstGeom>
          <a:noFill/>
        </p:spPr>
        <p:txBody>
          <a:bodyPr wrap="square" anchor="ctr">
            <a:spAutoFit/>
          </a:bodyPr>
          <a:lstStyle/>
          <a:p>
            <a:pPr algn="ctr">
              <a:spcAft>
                <a:spcPts val="400"/>
              </a:spcAft>
            </a:pPr>
            <a:r>
              <a:rPr sz="1300" b="1">
                <a:solidFill>
                  <a:srgbClr val="161B26"/>
                </a:solidFill>
                <a:latin typeface="Arial"/>
              </a:rPr>
              <a:t>Auto-remediate
/ notify</a:t>
            </a:r>
          </a:p>
        </p:txBody>
      </p:sp>
      <p:cxnSp>
        <p:nvCxnSpPr>
          <p:cNvPr id="25" name="Connector 24"/>
          <p:cNvCxnSpPr/>
          <p:nvPr/>
        </p:nvCxnSpPr>
        <p:spPr>
          <a:xfrm>
            <a:off x="3154680" y="2491740"/>
            <a:ext cx="365760" cy="0"/>
          </a:xfrm>
          <a:prstGeom prst="line">
            <a:avLst/>
          </a:prstGeom>
          <a:ln w="22225">
            <a:solidFill>
              <a:srgbClr val="5B6372"/>
            </a:solidFill>
            <a:tailEnd type="triangle" w="med" len="med"/>
          </a:ln>
          <a:effectLst/>
        </p:spPr>
        <p:style>
          <a:lnRef idx="2">
            <a:schemeClr val="accent1"/>
          </a:lnRef>
          <a:fillRef idx="0">
            <a:schemeClr val="accent1"/>
          </a:fillRef>
          <a:effectRef idx="1">
            <a:schemeClr val="accent1"/>
          </a:effectRef>
          <a:fontRef idx="minor">
            <a:schemeClr val="tx1"/>
          </a:fontRef>
        </p:style>
      </p:cxnSp>
      <p:cxnSp>
        <p:nvCxnSpPr>
          <p:cNvPr id="26" name="Connector 25"/>
          <p:cNvCxnSpPr/>
          <p:nvPr/>
        </p:nvCxnSpPr>
        <p:spPr>
          <a:xfrm flipV="1">
            <a:off x="3154680" y="2491740"/>
            <a:ext cx="365760" cy="1691640"/>
          </a:xfrm>
          <a:prstGeom prst="line">
            <a:avLst/>
          </a:prstGeom>
          <a:ln w="22225">
            <a:solidFill>
              <a:srgbClr val="5B6372"/>
            </a:solidFill>
            <a:tailEnd type="triangle" w="med" len="med"/>
          </a:ln>
          <a:effectLst/>
        </p:spPr>
        <p:style>
          <a:lnRef idx="2">
            <a:schemeClr val="accent1"/>
          </a:lnRef>
          <a:fillRef idx="0">
            <a:schemeClr val="accent1"/>
          </a:fillRef>
          <a:effectRef idx="1">
            <a:schemeClr val="accent1"/>
          </a:effectRef>
          <a:fontRef idx="minor">
            <a:schemeClr val="tx1"/>
          </a:fontRef>
        </p:style>
      </p:cxnSp>
      <p:cxnSp>
        <p:nvCxnSpPr>
          <p:cNvPr id="27" name="Connector 26"/>
          <p:cNvCxnSpPr/>
          <p:nvPr/>
        </p:nvCxnSpPr>
        <p:spPr>
          <a:xfrm>
            <a:off x="5897880" y="2491740"/>
            <a:ext cx="365760" cy="0"/>
          </a:xfrm>
          <a:prstGeom prst="line">
            <a:avLst/>
          </a:prstGeom>
          <a:ln w="22225">
            <a:solidFill>
              <a:srgbClr val="5B6372"/>
            </a:solidFill>
            <a:tailEnd type="triangle" w="med" len="med"/>
          </a:ln>
          <a:effectLst/>
        </p:spPr>
        <p:style>
          <a:lnRef idx="2">
            <a:schemeClr val="accent1"/>
          </a:lnRef>
          <a:fillRef idx="0">
            <a:schemeClr val="accent1"/>
          </a:fillRef>
          <a:effectRef idx="1">
            <a:schemeClr val="accent1"/>
          </a:effectRef>
          <a:fontRef idx="minor">
            <a:schemeClr val="tx1"/>
          </a:fontRef>
        </p:style>
      </p:cxnSp>
      <p:cxnSp>
        <p:nvCxnSpPr>
          <p:cNvPr id="28" name="Connector 27"/>
          <p:cNvCxnSpPr/>
          <p:nvPr/>
        </p:nvCxnSpPr>
        <p:spPr>
          <a:xfrm>
            <a:off x="8641080" y="2491740"/>
            <a:ext cx="365760" cy="0"/>
          </a:xfrm>
          <a:prstGeom prst="line">
            <a:avLst/>
          </a:prstGeom>
          <a:ln w="22225">
            <a:solidFill>
              <a:srgbClr val="5B6372"/>
            </a:solidFill>
            <a:tailEnd type="triangle" w="med" len="med"/>
          </a:ln>
          <a:effectLst/>
        </p:spPr>
        <p:style>
          <a:lnRef idx="2">
            <a:schemeClr val="accent1"/>
          </a:lnRef>
          <a:fillRef idx="0">
            <a:schemeClr val="accent1"/>
          </a:fillRef>
          <a:effectRef idx="1">
            <a:schemeClr val="accent1"/>
          </a:effectRef>
          <a:fontRef idx="minor">
            <a:schemeClr val="tx1"/>
          </a:fontRef>
        </p:style>
      </p:cxnSp>
      <p:cxnSp>
        <p:nvCxnSpPr>
          <p:cNvPr id="29" name="Connector 28"/>
          <p:cNvCxnSpPr/>
          <p:nvPr/>
        </p:nvCxnSpPr>
        <p:spPr>
          <a:xfrm>
            <a:off x="7452360" y="3017520"/>
            <a:ext cx="0" cy="640080"/>
          </a:xfrm>
          <a:prstGeom prst="line">
            <a:avLst/>
          </a:prstGeom>
          <a:ln w="22225">
            <a:solidFill>
              <a:srgbClr val="5B6372"/>
            </a:solidFill>
            <a:tailEnd type="triangle" w="med" len="med"/>
          </a:ln>
          <a:effectLst/>
        </p:spPr>
        <p:style>
          <a:lnRef idx="2">
            <a:schemeClr val="accent1"/>
          </a:lnRef>
          <a:fillRef idx="0">
            <a:schemeClr val="accent1"/>
          </a:fillRef>
          <a:effectRef idx="1">
            <a:schemeClr val="accent1"/>
          </a:effectRef>
          <a:fontRef idx="minor">
            <a:schemeClr val="tx1"/>
          </a:fontRef>
        </p:style>
      </p:cxnSp>
      <p:sp>
        <p:nvSpPr>
          <p:cNvPr id="30" name="Rectangle 29"/>
          <p:cNvSpPr/>
          <p:nvPr/>
        </p:nvSpPr>
        <p:spPr>
          <a:xfrm>
            <a:off x="777240" y="5669280"/>
            <a:ext cx="10634472" cy="54864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TextBox 30"/>
          <p:cNvSpPr txBox="1"/>
          <p:nvPr/>
        </p:nvSpPr>
        <p:spPr>
          <a:xfrm>
            <a:off x="1005840" y="5742432"/>
            <a:ext cx="10241280" cy="411480"/>
          </a:xfrm>
          <a:prstGeom prst="rect">
            <a:avLst/>
          </a:prstGeom>
          <a:noFill/>
        </p:spPr>
        <p:txBody>
          <a:bodyPr wrap="square" anchor="ctr">
            <a:spAutoFit/>
          </a:bodyPr>
          <a:lstStyle/>
          <a:p>
            <a:pPr algn="l">
              <a:spcAft>
                <a:spcPts val="400"/>
              </a:spcAft>
            </a:pPr>
            <a:r>
              <a:rPr sz="1300" b="1">
                <a:solidFill>
                  <a:srgbClr val="C0392B"/>
                </a:solidFill>
                <a:latin typeface="Arial"/>
              </a:rPr>
              <a:t>▶  </a:t>
            </a:r>
            <a:r>
              <a:rPr sz="1300" b="0">
                <a:solidFill>
                  <a:srgbClr val="161B26"/>
                </a:solidFill>
                <a:latin typeface="Arial"/>
              </a:rPr>
              <a:t>Least-privilege identity + encryption, with CloudTrail, Config and Security Hub providing continuous audit and scoring.</a:t>
            </a:r>
          </a:p>
        </p:txBody>
      </p:sp>
      <p:sp>
        <p:nvSpPr>
          <p:cNvPr id="32" name="TextBox 31"/>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DevOps Engineering on AWS  ·  TGS-2023040474</a:t>
            </a:r>
          </a:p>
        </p:txBody>
      </p:sp>
      <p:sp>
        <p:nvSpPr>
          <p:cNvPr id="33" name="TextBox 32"/>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34" name="TextBox 33"/>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190</a:t>
            </a:r>
          </a:p>
        </p:txBody>
      </p:sp>
    </p:spTree>
  </p:cSld>
  <p:clrMapOvr>
    <a:masterClrMapping/>
  </p:clrMapOvr>
  <p:transition xmlns:p14="http://schemas.microsoft.com/office/powerpoint/2010/main" p14:dur="380">
    <p:fade/>
  </p:transition>
</p:sld>
</file>

<file path=ppt/slides/slide19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38912"/>
            <a:ext cx="10607040" cy="365760"/>
          </a:xfrm>
          <a:prstGeom prst="rect">
            <a:avLst/>
          </a:prstGeom>
          <a:noFill/>
        </p:spPr>
        <p:txBody>
          <a:bodyPr wrap="square" anchor="t">
            <a:spAutoFit/>
          </a:bodyPr>
          <a:lstStyle/>
          <a:p>
            <a:pPr algn="l">
              <a:spcAft>
                <a:spcPts val="400"/>
              </a:spcAft>
            </a:pPr>
            <a:r>
              <a:rPr sz="1400" b="1">
                <a:solidFill>
                  <a:srgbClr val="C0392B"/>
                </a:solidFill>
                <a:latin typeface="Arial"/>
              </a:rPr>
              <a:t>LAYERED SECURITY</a:t>
            </a:r>
          </a:p>
        </p:txBody>
      </p:sp>
      <p:sp>
        <p:nvSpPr>
          <p:cNvPr id="5" name="TextBox 4"/>
          <p:cNvSpPr txBox="1"/>
          <p:nvPr/>
        </p:nvSpPr>
        <p:spPr>
          <a:xfrm>
            <a:off x="777240" y="804672"/>
            <a:ext cx="10927080" cy="731520"/>
          </a:xfrm>
          <a:prstGeom prst="rect">
            <a:avLst/>
          </a:prstGeom>
          <a:noFill/>
        </p:spPr>
        <p:txBody>
          <a:bodyPr wrap="square" anchor="t">
            <a:spAutoFit/>
          </a:bodyPr>
          <a:lstStyle/>
          <a:p>
            <a:pPr algn="l">
              <a:spcAft>
                <a:spcPts val="400"/>
              </a:spcAft>
            </a:pPr>
            <a:r>
              <a:rPr sz="2900" b="1">
                <a:solidFill>
                  <a:srgbClr val="161B26"/>
                </a:solidFill>
                <a:latin typeface="Arial"/>
              </a:rPr>
              <a:t>Defence in Depth on AWS</a:t>
            </a:r>
          </a:p>
        </p:txBody>
      </p:sp>
      <p:sp>
        <p:nvSpPr>
          <p:cNvPr id="6" name="Rectangle 5"/>
          <p:cNvSpPr/>
          <p:nvPr/>
        </p:nvSpPr>
        <p:spPr>
          <a:xfrm>
            <a:off x="777240" y="1572768"/>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783080"/>
            <a:ext cx="5180076" cy="131064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1783080"/>
            <a:ext cx="91440" cy="131064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1033272" y="2164080"/>
            <a:ext cx="548640" cy="548640"/>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033272" y="2164080"/>
            <a:ext cx="548640" cy="548640"/>
          </a:xfrm>
          <a:prstGeom prst="rect">
            <a:avLst/>
          </a:prstGeom>
          <a:noFill/>
        </p:spPr>
        <p:txBody>
          <a:bodyPr wrap="square" anchor="ctr">
            <a:spAutoFit/>
          </a:bodyPr>
          <a:lstStyle/>
          <a:p>
            <a:pPr algn="ctr">
              <a:spcAft>
                <a:spcPts val="400"/>
              </a:spcAft>
            </a:pPr>
            <a:r>
              <a:rPr sz="1800" b="1">
                <a:solidFill>
                  <a:srgbClr val="FFFFFF"/>
                </a:solidFill>
                <a:latin typeface="Arial"/>
              </a:rPr>
              <a:t>1</a:t>
            </a:r>
          </a:p>
        </p:txBody>
      </p:sp>
      <p:sp>
        <p:nvSpPr>
          <p:cNvPr id="11" name="TextBox 10"/>
          <p:cNvSpPr txBox="1"/>
          <p:nvPr/>
        </p:nvSpPr>
        <p:spPr>
          <a:xfrm>
            <a:off x="1764792" y="1892808"/>
            <a:ext cx="3973068" cy="1127760"/>
          </a:xfrm>
          <a:prstGeom prst="rect">
            <a:avLst/>
          </a:prstGeom>
          <a:noFill/>
        </p:spPr>
        <p:txBody>
          <a:bodyPr wrap="square" anchor="ctr">
            <a:spAutoFit/>
          </a:bodyPr>
          <a:lstStyle/>
          <a:p>
            <a:pPr algn="l">
              <a:spcAft>
                <a:spcPts val="300"/>
              </a:spcAft>
            </a:pPr>
            <a:r>
              <a:rPr sz="1550" b="1">
                <a:solidFill>
                  <a:srgbClr val="161B26"/>
                </a:solidFill>
                <a:latin typeface="Arial"/>
              </a:rPr>
              <a:t>Identity</a:t>
            </a:r>
          </a:p>
          <a:p>
            <a:pPr algn="l">
              <a:spcAft>
                <a:spcPts val="300"/>
              </a:spcAft>
            </a:pPr>
            <a:r>
              <a:rPr sz="1150" b="0">
                <a:solidFill>
                  <a:srgbClr val="5B6372"/>
                </a:solidFill>
                <a:latin typeface="Arial"/>
              </a:rPr>
              <a:t>IAM roles, permission boundaries, IAM Identity Center, SCPs.</a:t>
            </a:r>
          </a:p>
        </p:txBody>
      </p:sp>
      <p:sp>
        <p:nvSpPr>
          <p:cNvPr id="12" name="Rectangle 11"/>
          <p:cNvSpPr/>
          <p:nvPr/>
        </p:nvSpPr>
        <p:spPr>
          <a:xfrm>
            <a:off x="6231636" y="1783080"/>
            <a:ext cx="5180076" cy="131064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6231636" y="1783080"/>
            <a:ext cx="91440" cy="131064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Oval 13"/>
          <p:cNvSpPr/>
          <p:nvPr/>
        </p:nvSpPr>
        <p:spPr>
          <a:xfrm>
            <a:off x="6487668" y="2164080"/>
            <a:ext cx="548640" cy="54864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6487668" y="2164080"/>
            <a:ext cx="548640" cy="548640"/>
          </a:xfrm>
          <a:prstGeom prst="rect">
            <a:avLst/>
          </a:prstGeom>
          <a:noFill/>
        </p:spPr>
        <p:txBody>
          <a:bodyPr wrap="square" anchor="ctr">
            <a:spAutoFit/>
          </a:bodyPr>
          <a:lstStyle/>
          <a:p>
            <a:pPr algn="ctr">
              <a:spcAft>
                <a:spcPts val="400"/>
              </a:spcAft>
            </a:pPr>
            <a:r>
              <a:rPr sz="1800" b="1">
                <a:solidFill>
                  <a:srgbClr val="FFFFFF"/>
                </a:solidFill>
                <a:latin typeface="Arial"/>
              </a:rPr>
              <a:t>2</a:t>
            </a:r>
          </a:p>
        </p:txBody>
      </p:sp>
      <p:sp>
        <p:nvSpPr>
          <p:cNvPr id="16" name="TextBox 15"/>
          <p:cNvSpPr txBox="1"/>
          <p:nvPr/>
        </p:nvSpPr>
        <p:spPr>
          <a:xfrm>
            <a:off x="7219188" y="1892808"/>
            <a:ext cx="3973068" cy="1127760"/>
          </a:xfrm>
          <a:prstGeom prst="rect">
            <a:avLst/>
          </a:prstGeom>
          <a:noFill/>
        </p:spPr>
        <p:txBody>
          <a:bodyPr wrap="square" anchor="ctr">
            <a:spAutoFit/>
          </a:bodyPr>
          <a:lstStyle/>
          <a:p>
            <a:pPr algn="l">
              <a:spcAft>
                <a:spcPts val="300"/>
              </a:spcAft>
            </a:pPr>
            <a:r>
              <a:rPr sz="1550" b="1">
                <a:solidFill>
                  <a:srgbClr val="161B26"/>
                </a:solidFill>
                <a:latin typeface="Arial"/>
              </a:rPr>
              <a:t>Data protection</a:t>
            </a:r>
          </a:p>
          <a:p>
            <a:pPr algn="l">
              <a:spcAft>
                <a:spcPts val="300"/>
              </a:spcAft>
            </a:pPr>
            <a:r>
              <a:rPr sz="1150" b="0">
                <a:solidFill>
                  <a:srgbClr val="5B6372"/>
                </a:solidFill>
                <a:latin typeface="Arial"/>
              </a:rPr>
              <a:t>KMS encryption, Secrets Manager, S3 Block Public Access, TLS.</a:t>
            </a:r>
          </a:p>
        </p:txBody>
      </p:sp>
      <p:sp>
        <p:nvSpPr>
          <p:cNvPr id="17" name="Rectangle 16"/>
          <p:cNvSpPr/>
          <p:nvPr/>
        </p:nvSpPr>
        <p:spPr>
          <a:xfrm>
            <a:off x="777240" y="3313176"/>
            <a:ext cx="5180076" cy="131064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777240" y="3313176"/>
            <a:ext cx="91440" cy="1310640"/>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Oval 18"/>
          <p:cNvSpPr/>
          <p:nvPr/>
        </p:nvSpPr>
        <p:spPr>
          <a:xfrm>
            <a:off x="1033272" y="3694176"/>
            <a:ext cx="548640" cy="548640"/>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1033272" y="3694176"/>
            <a:ext cx="548640" cy="548640"/>
          </a:xfrm>
          <a:prstGeom prst="rect">
            <a:avLst/>
          </a:prstGeom>
          <a:noFill/>
        </p:spPr>
        <p:txBody>
          <a:bodyPr wrap="square" anchor="ctr">
            <a:spAutoFit/>
          </a:bodyPr>
          <a:lstStyle/>
          <a:p>
            <a:pPr algn="ctr">
              <a:spcAft>
                <a:spcPts val="400"/>
              </a:spcAft>
            </a:pPr>
            <a:r>
              <a:rPr sz="1800" b="1">
                <a:solidFill>
                  <a:srgbClr val="FFFFFF"/>
                </a:solidFill>
                <a:latin typeface="Arial"/>
              </a:rPr>
              <a:t>3</a:t>
            </a:r>
          </a:p>
        </p:txBody>
      </p:sp>
      <p:sp>
        <p:nvSpPr>
          <p:cNvPr id="21" name="TextBox 20"/>
          <p:cNvSpPr txBox="1"/>
          <p:nvPr/>
        </p:nvSpPr>
        <p:spPr>
          <a:xfrm>
            <a:off x="1764792" y="3422904"/>
            <a:ext cx="3973068" cy="1127760"/>
          </a:xfrm>
          <a:prstGeom prst="rect">
            <a:avLst/>
          </a:prstGeom>
          <a:noFill/>
        </p:spPr>
        <p:txBody>
          <a:bodyPr wrap="square" anchor="ctr">
            <a:spAutoFit/>
          </a:bodyPr>
          <a:lstStyle/>
          <a:p>
            <a:pPr algn="l">
              <a:spcAft>
                <a:spcPts val="300"/>
              </a:spcAft>
            </a:pPr>
            <a:r>
              <a:rPr sz="1550" b="1">
                <a:solidFill>
                  <a:srgbClr val="161B26"/>
                </a:solidFill>
                <a:latin typeface="Arial"/>
              </a:rPr>
              <a:t>Detective controls</a:t>
            </a:r>
          </a:p>
          <a:p>
            <a:pPr algn="l">
              <a:spcAft>
                <a:spcPts val="300"/>
              </a:spcAft>
            </a:pPr>
            <a:r>
              <a:rPr sz="1150" b="0">
                <a:solidFill>
                  <a:srgbClr val="5B6372"/>
                </a:solidFill>
                <a:latin typeface="Arial"/>
              </a:rPr>
              <a:t>CloudTrail, AWS Config, GuardDuty, Security Hub.</a:t>
            </a:r>
          </a:p>
        </p:txBody>
      </p:sp>
      <p:sp>
        <p:nvSpPr>
          <p:cNvPr id="22" name="Rectangle 21"/>
          <p:cNvSpPr/>
          <p:nvPr/>
        </p:nvSpPr>
        <p:spPr>
          <a:xfrm>
            <a:off x="6231636" y="3313176"/>
            <a:ext cx="5180076" cy="131064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ectangle 22"/>
          <p:cNvSpPr/>
          <p:nvPr/>
        </p:nvSpPr>
        <p:spPr>
          <a:xfrm>
            <a:off x="6231636" y="3313176"/>
            <a:ext cx="91440" cy="1310640"/>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Oval 23"/>
          <p:cNvSpPr/>
          <p:nvPr/>
        </p:nvSpPr>
        <p:spPr>
          <a:xfrm>
            <a:off x="6487668" y="3694176"/>
            <a:ext cx="548640" cy="548640"/>
          </a:xfrm>
          <a:prstGeom prst="ellipse">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6487668" y="3694176"/>
            <a:ext cx="548640" cy="548640"/>
          </a:xfrm>
          <a:prstGeom prst="rect">
            <a:avLst/>
          </a:prstGeom>
          <a:noFill/>
        </p:spPr>
        <p:txBody>
          <a:bodyPr wrap="square" anchor="ctr">
            <a:spAutoFit/>
          </a:bodyPr>
          <a:lstStyle/>
          <a:p>
            <a:pPr algn="ctr">
              <a:spcAft>
                <a:spcPts val="400"/>
              </a:spcAft>
            </a:pPr>
            <a:r>
              <a:rPr sz="1800" b="1">
                <a:solidFill>
                  <a:srgbClr val="FFFFFF"/>
                </a:solidFill>
                <a:latin typeface="Arial"/>
              </a:rPr>
              <a:t>4</a:t>
            </a:r>
          </a:p>
        </p:txBody>
      </p:sp>
      <p:sp>
        <p:nvSpPr>
          <p:cNvPr id="26" name="TextBox 25"/>
          <p:cNvSpPr txBox="1"/>
          <p:nvPr/>
        </p:nvSpPr>
        <p:spPr>
          <a:xfrm>
            <a:off x="7219188" y="3422904"/>
            <a:ext cx="3973068" cy="1127760"/>
          </a:xfrm>
          <a:prstGeom prst="rect">
            <a:avLst/>
          </a:prstGeom>
          <a:noFill/>
        </p:spPr>
        <p:txBody>
          <a:bodyPr wrap="square" anchor="ctr">
            <a:spAutoFit/>
          </a:bodyPr>
          <a:lstStyle/>
          <a:p>
            <a:pPr algn="l">
              <a:spcAft>
                <a:spcPts val="300"/>
              </a:spcAft>
            </a:pPr>
            <a:r>
              <a:rPr sz="1550" b="1">
                <a:solidFill>
                  <a:srgbClr val="161B26"/>
                </a:solidFill>
                <a:latin typeface="Arial"/>
              </a:rPr>
              <a:t>Preventive controls</a:t>
            </a:r>
          </a:p>
          <a:p>
            <a:pPr algn="l">
              <a:spcAft>
                <a:spcPts val="300"/>
              </a:spcAft>
            </a:pPr>
            <a:r>
              <a:rPr sz="1150" b="0">
                <a:solidFill>
                  <a:srgbClr val="5B6372"/>
                </a:solidFill>
                <a:latin typeface="Arial"/>
              </a:rPr>
              <a:t>Security groups, WAF, SCPs and least-privilege policies.</a:t>
            </a:r>
          </a:p>
        </p:txBody>
      </p:sp>
      <p:sp>
        <p:nvSpPr>
          <p:cNvPr id="27" name="Rectangle 26"/>
          <p:cNvSpPr/>
          <p:nvPr/>
        </p:nvSpPr>
        <p:spPr>
          <a:xfrm>
            <a:off x="777240" y="4843272"/>
            <a:ext cx="5180076" cy="131064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Rectangle 27"/>
          <p:cNvSpPr/>
          <p:nvPr/>
        </p:nvSpPr>
        <p:spPr>
          <a:xfrm>
            <a:off x="777240" y="4843272"/>
            <a:ext cx="91440" cy="1310640"/>
          </a:xfrm>
          <a:prstGeom prst="rect">
            <a:avLst/>
          </a:prstGeom>
          <a:solidFill>
            <a:srgbClr val="EC711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Oval 28"/>
          <p:cNvSpPr/>
          <p:nvPr/>
        </p:nvSpPr>
        <p:spPr>
          <a:xfrm>
            <a:off x="1033272" y="5224272"/>
            <a:ext cx="548640" cy="548640"/>
          </a:xfrm>
          <a:prstGeom prst="ellipse">
            <a:avLst/>
          </a:prstGeom>
          <a:solidFill>
            <a:srgbClr val="EC711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1033272" y="5224272"/>
            <a:ext cx="548640" cy="548640"/>
          </a:xfrm>
          <a:prstGeom prst="rect">
            <a:avLst/>
          </a:prstGeom>
          <a:noFill/>
        </p:spPr>
        <p:txBody>
          <a:bodyPr wrap="square" anchor="ctr">
            <a:spAutoFit/>
          </a:bodyPr>
          <a:lstStyle/>
          <a:p>
            <a:pPr algn="ctr">
              <a:spcAft>
                <a:spcPts val="400"/>
              </a:spcAft>
            </a:pPr>
            <a:r>
              <a:rPr sz="1800" b="1">
                <a:solidFill>
                  <a:srgbClr val="FFFFFF"/>
                </a:solidFill>
                <a:latin typeface="Arial"/>
              </a:rPr>
              <a:t>5</a:t>
            </a:r>
          </a:p>
        </p:txBody>
      </p:sp>
      <p:sp>
        <p:nvSpPr>
          <p:cNvPr id="31" name="TextBox 30"/>
          <p:cNvSpPr txBox="1"/>
          <p:nvPr/>
        </p:nvSpPr>
        <p:spPr>
          <a:xfrm>
            <a:off x="1764792" y="4953000"/>
            <a:ext cx="3973068" cy="1127760"/>
          </a:xfrm>
          <a:prstGeom prst="rect">
            <a:avLst/>
          </a:prstGeom>
          <a:noFill/>
        </p:spPr>
        <p:txBody>
          <a:bodyPr wrap="square" anchor="ctr">
            <a:spAutoFit/>
          </a:bodyPr>
          <a:lstStyle/>
          <a:p>
            <a:pPr algn="l">
              <a:spcAft>
                <a:spcPts val="300"/>
              </a:spcAft>
            </a:pPr>
            <a:r>
              <a:rPr sz="1550" b="1">
                <a:solidFill>
                  <a:srgbClr val="161B26"/>
                </a:solidFill>
                <a:latin typeface="Arial"/>
              </a:rPr>
              <a:t>Automated compliance</a:t>
            </a:r>
          </a:p>
          <a:p>
            <a:pPr algn="l">
              <a:spcAft>
                <a:spcPts val="300"/>
              </a:spcAft>
            </a:pPr>
            <a:r>
              <a:rPr sz="1150" b="0">
                <a:solidFill>
                  <a:srgbClr val="5B6372"/>
                </a:solidFill>
                <a:latin typeface="Arial"/>
              </a:rPr>
              <a:t>Config rules and conformance packs check continuously.</a:t>
            </a:r>
          </a:p>
        </p:txBody>
      </p:sp>
      <p:sp>
        <p:nvSpPr>
          <p:cNvPr id="32" name="Rectangle 31"/>
          <p:cNvSpPr/>
          <p:nvPr/>
        </p:nvSpPr>
        <p:spPr>
          <a:xfrm>
            <a:off x="6231636" y="4843272"/>
            <a:ext cx="5180076" cy="131064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Rectangle 32"/>
          <p:cNvSpPr/>
          <p:nvPr/>
        </p:nvSpPr>
        <p:spPr>
          <a:xfrm>
            <a:off x="6231636" y="4843272"/>
            <a:ext cx="91440" cy="1310640"/>
          </a:xfrm>
          <a:prstGeom prst="rect">
            <a:avLst/>
          </a:prstGeom>
          <a:solidFill>
            <a:srgbClr val="0E9EC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Oval 33"/>
          <p:cNvSpPr/>
          <p:nvPr/>
        </p:nvSpPr>
        <p:spPr>
          <a:xfrm>
            <a:off x="6487668" y="5224272"/>
            <a:ext cx="548640" cy="548640"/>
          </a:xfrm>
          <a:prstGeom prst="ellipse">
            <a:avLst/>
          </a:prstGeom>
          <a:solidFill>
            <a:srgbClr val="0E9EC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TextBox 34"/>
          <p:cNvSpPr txBox="1"/>
          <p:nvPr/>
        </p:nvSpPr>
        <p:spPr>
          <a:xfrm>
            <a:off x="6487668" y="5224272"/>
            <a:ext cx="548640" cy="548640"/>
          </a:xfrm>
          <a:prstGeom prst="rect">
            <a:avLst/>
          </a:prstGeom>
          <a:noFill/>
        </p:spPr>
        <p:txBody>
          <a:bodyPr wrap="square" anchor="ctr">
            <a:spAutoFit/>
          </a:bodyPr>
          <a:lstStyle/>
          <a:p>
            <a:pPr algn="ctr">
              <a:spcAft>
                <a:spcPts val="400"/>
              </a:spcAft>
            </a:pPr>
            <a:r>
              <a:rPr sz="1800" b="1">
                <a:solidFill>
                  <a:srgbClr val="FFFFFF"/>
                </a:solidFill>
                <a:latin typeface="Arial"/>
              </a:rPr>
              <a:t>6</a:t>
            </a:r>
          </a:p>
        </p:txBody>
      </p:sp>
      <p:sp>
        <p:nvSpPr>
          <p:cNvPr id="36" name="TextBox 35"/>
          <p:cNvSpPr txBox="1"/>
          <p:nvPr/>
        </p:nvSpPr>
        <p:spPr>
          <a:xfrm>
            <a:off x="7219188" y="4953000"/>
            <a:ext cx="3973068" cy="1127760"/>
          </a:xfrm>
          <a:prstGeom prst="rect">
            <a:avLst/>
          </a:prstGeom>
          <a:noFill/>
        </p:spPr>
        <p:txBody>
          <a:bodyPr wrap="square" anchor="ctr">
            <a:spAutoFit/>
          </a:bodyPr>
          <a:lstStyle/>
          <a:p>
            <a:pPr algn="l">
              <a:spcAft>
                <a:spcPts val="300"/>
              </a:spcAft>
            </a:pPr>
            <a:r>
              <a:rPr sz="1550" b="1">
                <a:solidFill>
                  <a:srgbClr val="161B26"/>
                </a:solidFill>
                <a:latin typeface="Arial"/>
              </a:rPr>
              <a:t>Auditable blueprint</a:t>
            </a:r>
          </a:p>
          <a:p>
            <a:pPr algn="l">
              <a:spcAft>
                <a:spcPts val="300"/>
              </a:spcAft>
            </a:pPr>
            <a:r>
              <a:rPr sz="1150" b="0">
                <a:solidFill>
                  <a:srgbClr val="5B6372"/>
                </a:solidFill>
                <a:latin typeface="Arial"/>
              </a:rPr>
              <a:t>Landing zone + guardrails give a documented baseline.</a:t>
            </a:r>
          </a:p>
        </p:txBody>
      </p:sp>
      <p:sp>
        <p:nvSpPr>
          <p:cNvPr id="37" name="TextBox 36"/>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DevOps Engineering on AWS  ·  TGS-2023040474</a:t>
            </a:r>
          </a:p>
        </p:txBody>
      </p:sp>
      <p:sp>
        <p:nvSpPr>
          <p:cNvPr id="38" name="TextBox 37"/>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39" name="TextBox 38"/>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191</a:t>
            </a:r>
          </a:p>
        </p:txBody>
      </p:sp>
    </p:spTree>
  </p:cSld>
  <p:clrMapOvr>
    <a:masterClrMapping/>
  </p:clrMapOvr>
  <p:transition xmlns:p14="http://schemas.microsoft.com/office/powerpoint/2010/main" p14:dur="380">
    <p:fade/>
  </p:transition>
</p:sld>
</file>

<file path=ppt/slides/slide19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38912"/>
            <a:ext cx="10607040" cy="365760"/>
          </a:xfrm>
          <a:prstGeom prst="rect">
            <a:avLst/>
          </a:prstGeom>
          <a:noFill/>
        </p:spPr>
        <p:txBody>
          <a:bodyPr wrap="square" anchor="t">
            <a:spAutoFit/>
          </a:bodyPr>
          <a:lstStyle/>
          <a:p>
            <a:pPr algn="l">
              <a:spcAft>
                <a:spcPts val="400"/>
              </a:spcAft>
            </a:pPr>
            <a:r>
              <a:rPr sz="1400" b="1">
                <a:solidFill>
                  <a:srgbClr val="C0392B"/>
                </a:solidFill>
                <a:latin typeface="Arial"/>
              </a:rPr>
              <a:t>LEAST PRIVILEGE</a:t>
            </a:r>
          </a:p>
        </p:txBody>
      </p:sp>
      <p:sp>
        <p:nvSpPr>
          <p:cNvPr id="5" name="TextBox 4"/>
          <p:cNvSpPr txBox="1"/>
          <p:nvPr/>
        </p:nvSpPr>
        <p:spPr>
          <a:xfrm>
            <a:off x="777240" y="804672"/>
            <a:ext cx="10927080" cy="731520"/>
          </a:xfrm>
          <a:prstGeom prst="rect">
            <a:avLst/>
          </a:prstGeom>
          <a:noFill/>
        </p:spPr>
        <p:txBody>
          <a:bodyPr wrap="square" anchor="t">
            <a:spAutoFit/>
          </a:bodyPr>
          <a:lstStyle/>
          <a:p>
            <a:pPr algn="l">
              <a:spcAft>
                <a:spcPts val="400"/>
              </a:spcAft>
            </a:pPr>
            <a:r>
              <a:rPr sz="2900" b="1">
                <a:solidFill>
                  <a:srgbClr val="161B26"/>
                </a:solidFill>
                <a:latin typeface="Arial"/>
              </a:rPr>
              <a:t>IAM — Users vs Roles vs Policies</a:t>
            </a:r>
          </a:p>
        </p:txBody>
      </p:sp>
      <p:sp>
        <p:nvSpPr>
          <p:cNvPr id="6" name="Rectangle 5"/>
          <p:cNvSpPr/>
          <p:nvPr/>
        </p:nvSpPr>
        <p:spPr>
          <a:xfrm>
            <a:off x="777240" y="1572768"/>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783080"/>
            <a:ext cx="2552273" cy="502920"/>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886968" y="1783080"/>
            <a:ext cx="2369393" cy="502920"/>
          </a:xfrm>
          <a:prstGeom prst="rect">
            <a:avLst/>
          </a:prstGeom>
          <a:noFill/>
        </p:spPr>
        <p:txBody>
          <a:bodyPr wrap="square" anchor="ctr">
            <a:spAutoFit/>
          </a:bodyPr>
          <a:lstStyle/>
          <a:p>
            <a:pPr algn="l">
              <a:spcAft>
                <a:spcPts val="400"/>
              </a:spcAft>
            </a:pPr>
            <a:r>
              <a:rPr sz="1400" b="1">
                <a:solidFill>
                  <a:srgbClr val="FFFFFF"/>
                </a:solidFill>
                <a:latin typeface="Arial"/>
              </a:rPr>
              <a:t>Concept</a:t>
            </a:r>
          </a:p>
        </p:txBody>
      </p:sp>
      <p:sp>
        <p:nvSpPr>
          <p:cNvPr id="9" name="Rectangle 8"/>
          <p:cNvSpPr/>
          <p:nvPr/>
        </p:nvSpPr>
        <p:spPr>
          <a:xfrm>
            <a:off x="3329513" y="1783080"/>
            <a:ext cx="4253788" cy="502920"/>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3439241" y="1783080"/>
            <a:ext cx="4070908" cy="502920"/>
          </a:xfrm>
          <a:prstGeom prst="rect">
            <a:avLst/>
          </a:prstGeom>
          <a:noFill/>
        </p:spPr>
        <p:txBody>
          <a:bodyPr wrap="square" anchor="ctr">
            <a:spAutoFit/>
          </a:bodyPr>
          <a:lstStyle/>
          <a:p>
            <a:pPr algn="ctr">
              <a:spcAft>
                <a:spcPts val="400"/>
              </a:spcAft>
            </a:pPr>
            <a:r>
              <a:rPr sz="1400" b="1">
                <a:solidFill>
                  <a:srgbClr val="FFFFFF"/>
                </a:solidFill>
                <a:latin typeface="Arial"/>
              </a:rPr>
              <a:t>What it is</a:t>
            </a:r>
          </a:p>
        </p:txBody>
      </p:sp>
      <p:sp>
        <p:nvSpPr>
          <p:cNvPr id="11" name="Rectangle 10"/>
          <p:cNvSpPr/>
          <p:nvPr/>
        </p:nvSpPr>
        <p:spPr>
          <a:xfrm>
            <a:off x="7583301" y="1783080"/>
            <a:ext cx="3828409" cy="502920"/>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7693029" y="1783080"/>
            <a:ext cx="3645529" cy="502920"/>
          </a:xfrm>
          <a:prstGeom prst="rect">
            <a:avLst/>
          </a:prstGeom>
          <a:noFill/>
        </p:spPr>
        <p:txBody>
          <a:bodyPr wrap="square" anchor="ctr">
            <a:spAutoFit/>
          </a:bodyPr>
          <a:lstStyle/>
          <a:p>
            <a:pPr algn="ctr">
              <a:spcAft>
                <a:spcPts val="400"/>
              </a:spcAft>
            </a:pPr>
            <a:r>
              <a:rPr sz="1400" b="1">
                <a:solidFill>
                  <a:srgbClr val="FFFFFF"/>
                </a:solidFill>
                <a:latin typeface="Arial"/>
              </a:rPr>
              <a:t>Best practice</a:t>
            </a:r>
          </a:p>
        </p:txBody>
      </p:sp>
      <p:sp>
        <p:nvSpPr>
          <p:cNvPr id="13" name="Rectangle 12"/>
          <p:cNvSpPr/>
          <p:nvPr/>
        </p:nvSpPr>
        <p:spPr>
          <a:xfrm>
            <a:off x="777240" y="2286000"/>
            <a:ext cx="2552273" cy="822960"/>
          </a:xfrm>
          <a:prstGeom prst="rect">
            <a:avLst/>
          </a:prstGeom>
          <a:solidFill>
            <a:srgbClr val="F5F8FC"/>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886968" y="2286000"/>
            <a:ext cx="2369393" cy="822960"/>
          </a:xfrm>
          <a:prstGeom prst="rect">
            <a:avLst/>
          </a:prstGeom>
          <a:noFill/>
        </p:spPr>
        <p:txBody>
          <a:bodyPr wrap="square" anchor="ctr">
            <a:spAutoFit/>
          </a:bodyPr>
          <a:lstStyle/>
          <a:p>
            <a:pPr algn="l">
              <a:spcAft>
                <a:spcPts val="400"/>
              </a:spcAft>
            </a:pPr>
            <a:r>
              <a:rPr sz="1250" b="1">
                <a:solidFill>
                  <a:srgbClr val="161B26"/>
                </a:solidFill>
                <a:latin typeface="Arial"/>
              </a:rPr>
              <a:t>IAM User</a:t>
            </a:r>
          </a:p>
        </p:txBody>
      </p:sp>
      <p:sp>
        <p:nvSpPr>
          <p:cNvPr id="15" name="Rectangle 14"/>
          <p:cNvSpPr/>
          <p:nvPr/>
        </p:nvSpPr>
        <p:spPr>
          <a:xfrm>
            <a:off x="3329513" y="2286000"/>
            <a:ext cx="4253788" cy="822960"/>
          </a:xfrm>
          <a:prstGeom prst="rect">
            <a:avLst/>
          </a:prstGeom>
          <a:solidFill>
            <a:srgbClr val="F5F8FC"/>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3439241" y="2286000"/>
            <a:ext cx="4070908" cy="822960"/>
          </a:xfrm>
          <a:prstGeom prst="rect">
            <a:avLst/>
          </a:prstGeom>
          <a:noFill/>
        </p:spPr>
        <p:txBody>
          <a:bodyPr wrap="square" anchor="ctr">
            <a:spAutoFit/>
          </a:bodyPr>
          <a:lstStyle/>
          <a:p>
            <a:pPr algn="ctr">
              <a:spcAft>
                <a:spcPts val="400"/>
              </a:spcAft>
            </a:pPr>
            <a:r>
              <a:rPr sz="1250" b="0">
                <a:solidFill>
                  <a:srgbClr val="5B6372"/>
                </a:solidFill>
                <a:latin typeface="Arial"/>
              </a:rPr>
              <a:t>Long-lived identity + credentials</a:t>
            </a:r>
          </a:p>
        </p:txBody>
      </p:sp>
      <p:sp>
        <p:nvSpPr>
          <p:cNvPr id="17" name="Rectangle 16"/>
          <p:cNvSpPr/>
          <p:nvPr/>
        </p:nvSpPr>
        <p:spPr>
          <a:xfrm>
            <a:off x="7583301" y="2286000"/>
            <a:ext cx="3828409" cy="822960"/>
          </a:xfrm>
          <a:prstGeom prst="rect">
            <a:avLst/>
          </a:prstGeom>
          <a:solidFill>
            <a:srgbClr val="F5F8FC"/>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7693029" y="2286000"/>
            <a:ext cx="3645529" cy="822960"/>
          </a:xfrm>
          <a:prstGeom prst="rect">
            <a:avLst/>
          </a:prstGeom>
          <a:noFill/>
        </p:spPr>
        <p:txBody>
          <a:bodyPr wrap="square" anchor="ctr">
            <a:spAutoFit/>
          </a:bodyPr>
          <a:lstStyle/>
          <a:p>
            <a:pPr algn="ctr">
              <a:spcAft>
                <a:spcPts val="400"/>
              </a:spcAft>
            </a:pPr>
            <a:r>
              <a:rPr sz="1250" b="0">
                <a:solidFill>
                  <a:srgbClr val="5B6372"/>
                </a:solidFill>
                <a:latin typeface="Arial"/>
              </a:rPr>
              <a:t>Avoid; prefer federation</a:t>
            </a:r>
          </a:p>
        </p:txBody>
      </p:sp>
      <p:sp>
        <p:nvSpPr>
          <p:cNvPr id="19" name="Rectangle 18"/>
          <p:cNvSpPr/>
          <p:nvPr/>
        </p:nvSpPr>
        <p:spPr>
          <a:xfrm>
            <a:off x="777240" y="3108960"/>
            <a:ext cx="2552273" cy="822960"/>
          </a:xfrm>
          <a:prstGeom prst="rect">
            <a:avLst/>
          </a:prstGeom>
          <a:solidFill>
            <a:srgbClr val="FFFFFF"/>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886968" y="3108960"/>
            <a:ext cx="2369393" cy="822960"/>
          </a:xfrm>
          <a:prstGeom prst="rect">
            <a:avLst/>
          </a:prstGeom>
          <a:noFill/>
        </p:spPr>
        <p:txBody>
          <a:bodyPr wrap="square" anchor="ctr">
            <a:spAutoFit/>
          </a:bodyPr>
          <a:lstStyle/>
          <a:p>
            <a:pPr algn="l">
              <a:spcAft>
                <a:spcPts val="400"/>
              </a:spcAft>
            </a:pPr>
            <a:r>
              <a:rPr sz="1250" b="1">
                <a:solidFill>
                  <a:srgbClr val="161B26"/>
                </a:solidFill>
                <a:latin typeface="Arial"/>
              </a:rPr>
              <a:t>IAM Role</a:t>
            </a:r>
          </a:p>
        </p:txBody>
      </p:sp>
      <p:sp>
        <p:nvSpPr>
          <p:cNvPr id="21" name="Rectangle 20"/>
          <p:cNvSpPr/>
          <p:nvPr/>
        </p:nvSpPr>
        <p:spPr>
          <a:xfrm>
            <a:off x="3329513" y="3108960"/>
            <a:ext cx="4253788" cy="822960"/>
          </a:xfrm>
          <a:prstGeom prst="rect">
            <a:avLst/>
          </a:prstGeom>
          <a:solidFill>
            <a:srgbClr val="FFFFFF"/>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3439241" y="3108960"/>
            <a:ext cx="4070908" cy="822960"/>
          </a:xfrm>
          <a:prstGeom prst="rect">
            <a:avLst/>
          </a:prstGeom>
          <a:noFill/>
        </p:spPr>
        <p:txBody>
          <a:bodyPr wrap="square" anchor="ctr">
            <a:spAutoFit/>
          </a:bodyPr>
          <a:lstStyle/>
          <a:p>
            <a:pPr algn="ctr">
              <a:spcAft>
                <a:spcPts val="400"/>
              </a:spcAft>
            </a:pPr>
            <a:r>
              <a:rPr sz="1250" b="0">
                <a:solidFill>
                  <a:srgbClr val="5B6372"/>
                </a:solidFill>
                <a:latin typeface="Arial"/>
              </a:rPr>
              <a:t>Temporary, assumable permissions</a:t>
            </a:r>
          </a:p>
        </p:txBody>
      </p:sp>
      <p:sp>
        <p:nvSpPr>
          <p:cNvPr id="23" name="Rectangle 22"/>
          <p:cNvSpPr/>
          <p:nvPr/>
        </p:nvSpPr>
        <p:spPr>
          <a:xfrm>
            <a:off x="7583301" y="3108960"/>
            <a:ext cx="3828409" cy="822960"/>
          </a:xfrm>
          <a:prstGeom prst="rect">
            <a:avLst/>
          </a:prstGeom>
          <a:solidFill>
            <a:srgbClr val="FFFFFF"/>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7693029" y="3108960"/>
            <a:ext cx="3645529" cy="822960"/>
          </a:xfrm>
          <a:prstGeom prst="rect">
            <a:avLst/>
          </a:prstGeom>
          <a:noFill/>
        </p:spPr>
        <p:txBody>
          <a:bodyPr wrap="square" anchor="ctr">
            <a:spAutoFit/>
          </a:bodyPr>
          <a:lstStyle/>
          <a:p>
            <a:pPr algn="ctr">
              <a:spcAft>
                <a:spcPts val="400"/>
              </a:spcAft>
            </a:pPr>
            <a:r>
              <a:rPr sz="1250" b="0">
                <a:solidFill>
                  <a:srgbClr val="5B6372"/>
                </a:solidFill>
                <a:latin typeface="Arial"/>
              </a:rPr>
              <a:t>Use for apps &amp; cross-account</a:t>
            </a:r>
          </a:p>
        </p:txBody>
      </p:sp>
      <p:sp>
        <p:nvSpPr>
          <p:cNvPr id="25" name="Rectangle 24"/>
          <p:cNvSpPr/>
          <p:nvPr/>
        </p:nvSpPr>
        <p:spPr>
          <a:xfrm>
            <a:off x="777240" y="3931920"/>
            <a:ext cx="2552273" cy="822960"/>
          </a:xfrm>
          <a:prstGeom prst="rect">
            <a:avLst/>
          </a:prstGeom>
          <a:solidFill>
            <a:srgbClr val="F5F8FC"/>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886968" y="3931920"/>
            <a:ext cx="2369393" cy="822960"/>
          </a:xfrm>
          <a:prstGeom prst="rect">
            <a:avLst/>
          </a:prstGeom>
          <a:noFill/>
        </p:spPr>
        <p:txBody>
          <a:bodyPr wrap="square" anchor="ctr">
            <a:spAutoFit/>
          </a:bodyPr>
          <a:lstStyle/>
          <a:p>
            <a:pPr algn="l">
              <a:spcAft>
                <a:spcPts val="400"/>
              </a:spcAft>
            </a:pPr>
            <a:r>
              <a:rPr sz="1250" b="1">
                <a:solidFill>
                  <a:srgbClr val="161B26"/>
                </a:solidFill>
                <a:latin typeface="Arial"/>
              </a:rPr>
              <a:t>Policy</a:t>
            </a:r>
          </a:p>
        </p:txBody>
      </p:sp>
      <p:sp>
        <p:nvSpPr>
          <p:cNvPr id="27" name="Rectangle 26"/>
          <p:cNvSpPr/>
          <p:nvPr/>
        </p:nvSpPr>
        <p:spPr>
          <a:xfrm>
            <a:off x="3329513" y="3931920"/>
            <a:ext cx="4253788" cy="822960"/>
          </a:xfrm>
          <a:prstGeom prst="rect">
            <a:avLst/>
          </a:prstGeom>
          <a:solidFill>
            <a:srgbClr val="F5F8FC"/>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3439241" y="3931920"/>
            <a:ext cx="4070908" cy="822960"/>
          </a:xfrm>
          <a:prstGeom prst="rect">
            <a:avLst/>
          </a:prstGeom>
          <a:noFill/>
        </p:spPr>
        <p:txBody>
          <a:bodyPr wrap="square" anchor="ctr">
            <a:spAutoFit/>
          </a:bodyPr>
          <a:lstStyle/>
          <a:p>
            <a:pPr algn="ctr">
              <a:spcAft>
                <a:spcPts val="400"/>
              </a:spcAft>
            </a:pPr>
            <a:r>
              <a:rPr sz="1250" b="0">
                <a:solidFill>
                  <a:srgbClr val="5B6372"/>
                </a:solidFill>
                <a:latin typeface="Arial"/>
              </a:rPr>
              <a:t>JSON permissions document</a:t>
            </a:r>
          </a:p>
        </p:txBody>
      </p:sp>
      <p:sp>
        <p:nvSpPr>
          <p:cNvPr id="29" name="Rectangle 28"/>
          <p:cNvSpPr/>
          <p:nvPr/>
        </p:nvSpPr>
        <p:spPr>
          <a:xfrm>
            <a:off x="7583301" y="3931920"/>
            <a:ext cx="3828409" cy="822960"/>
          </a:xfrm>
          <a:prstGeom prst="rect">
            <a:avLst/>
          </a:prstGeom>
          <a:solidFill>
            <a:srgbClr val="F5F8FC"/>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7693029" y="3931920"/>
            <a:ext cx="3645529" cy="822960"/>
          </a:xfrm>
          <a:prstGeom prst="rect">
            <a:avLst/>
          </a:prstGeom>
          <a:noFill/>
        </p:spPr>
        <p:txBody>
          <a:bodyPr wrap="square" anchor="ctr">
            <a:spAutoFit/>
          </a:bodyPr>
          <a:lstStyle/>
          <a:p>
            <a:pPr algn="ctr">
              <a:spcAft>
                <a:spcPts val="400"/>
              </a:spcAft>
            </a:pPr>
            <a:r>
              <a:rPr sz="1250" b="0">
                <a:solidFill>
                  <a:srgbClr val="5B6372"/>
                </a:solidFill>
                <a:latin typeface="Arial"/>
              </a:rPr>
              <a:t>Least privilege; scope by condition</a:t>
            </a:r>
          </a:p>
        </p:txBody>
      </p:sp>
      <p:sp>
        <p:nvSpPr>
          <p:cNvPr id="31" name="Rectangle 30"/>
          <p:cNvSpPr/>
          <p:nvPr/>
        </p:nvSpPr>
        <p:spPr>
          <a:xfrm>
            <a:off x="777240" y="4754880"/>
            <a:ext cx="2552273" cy="822960"/>
          </a:xfrm>
          <a:prstGeom prst="rect">
            <a:avLst/>
          </a:prstGeom>
          <a:solidFill>
            <a:srgbClr val="FFFFFF"/>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TextBox 31"/>
          <p:cNvSpPr txBox="1"/>
          <p:nvPr/>
        </p:nvSpPr>
        <p:spPr>
          <a:xfrm>
            <a:off x="886968" y="4754880"/>
            <a:ext cx="2369393" cy="822960"/>
          </a:xfrm>
          <a:prstGeom prst="rect">
            <a:avLst/>
          </a:prstGeom>
          <a:noFill/>
        </p:spPr>
        <p:txBody>
          <a:bodyPr wrap="square" anchor="ctr">
            <a:spAutoFit/>
          </a:bodyPr>
          <a:lstStyle/>
          <a:p>
            <a:pPr algn="l">
              <a:spcAft>
                <a:spcPts val="400"/>
              </a:spcAft>
            </a:pPr>
            <a:r>
              <a:rPr sz="1250" b="1">
                <a:solidFill>
                  <a:srgbClr val="161B26"/>
                </a:solidFill>
                <a:latin typeface="Arial"/>
              </a:rPr>
              <a:t>Permission boundary</a:t>
            </a:r>
          </a:p>
        </p:txBody>
      </p:sp>
      <p:sp>
        <p:nvSpPr>
          <p:cNvPr id="33" name="Rectangle 32"/>
          <p:cNvSpPr/>
          <p:nvPr/>
        </p:nvSpPr>
        <p:spPr>
          <a:xfrm>
            <a:off x="3329513" y="4754880"/>
            <a:ext cx="4253788" cy="822960"/>
          </a:xfrm>
          <a:prstGeom prst="rect">
            <a:avLst/>
          </a:prstGeom>
          <a:solidFill>
            <a:srgbClr val="FFFFFF"/>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TextBox 33"/>
          <p:cNvSpPr txBox="1"/>
          <p:nvPr/>
        </p:nvSpPr>
        <p:spPr>
          <a:xfrm>
            <a:off x="3439241" y="4754880"/>
            <a:ext cx="4070908" cy="822960"/>
          </a:xfrm>
          <a:prstGeom prst="rect">
            <a:avLst/>
          </a:prstGeom>
          <a:noFill/>
        </p:spPr>
        <p:txBody>
          <a:bodyPr wrap="square" anchor="ctr">
            <a:spAutoFit/>
          </a:bodyPr>
          <a:lstStyle/>
          <a:p>
            <a:pPr algn="ctr">
              <a:spcAft>
                <a:spcPts val="400"/>
              </a:spcAft>
            </a:pPr>
            <a:r>
              <a:rPr sz="1250" b="0">
                <a:solidFill>
                  <a:srgbClr val="5B6372"/>
                </a:solidFill>
                <a:latin typeface="Arial"/>
              </a:rPr>
              <a:t>Max permissions a principal can have</a:t>
            </a:r>
          </a:p>
        </p:txBody>
      </p:sp>
      <p:sp>
        <p:nvSpPr>
          <p:cNvPr id="35" name="Rectangle 34"/>
          <p:cNvSpPr/>
          <p:nvPr/>
        </p:nvSpPr>
        <p:spPr>
          <a:xfrm>
            <a:off x="7583301" y="4754880"/>
            <a:ext cx="3828409" cy="822960"/>
          </a:xfrm>
          <a:prstGeom prst="rect">
            <a:avLst/>
          </a:prstGeom>
          <a:solidFill>
            <a:srgbClr val="FFFFFF"/>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TextBox 35"/>
          <p:cNvSpPr txBox="1"/>
          <p:nvPr/>
        </p:nvSpPr>
        <p:spPr>
          <a:xfrm>
            <a:off x="7693029" y="4754880"/>
            <a:ext cx="3645529" cy="822960"/>
          </a:xfrm>
          <a:prstGeom prst="rect">
            <a:avLst/>
          </a:prstGeom>
          <a:noFill/>
        </p:spPr>
        <p:txBody>
          <a:bodyPr wrap="square" anchor="ctr">
            <a:spAutoFit/>
          </a:bodyPr>
          <a:lstStyle/>
          <a:p>
            <a:pPr algn="ctr">
              <a:spcAft>
                <a:spcPts val="400"/>
              </a:spcAft>
            </a:pPr>
            <a:r>
              <a:rPr sz="1250" b="0">
                <a:solidFill>
                  <a:srgbClr val="5B6372"/>
                </a:solidFill>
                <a:latin typeface="Arial"/>
              </a:rPr>
              <a:t>Guardrail for delegated admin</a:t>
            </a:r>
          </a:p>
        </p:txBody>
      </p:sp>
      <p:sp>
        <p:nvSpPr>
          <p:cNvPr id="37" name="TextBox 36"/>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DevOps Engineering on AWS  ·  TGS-2023040474</a:t>
            </a:r>
          </a:p>
        </p:txBody>
      </p:sp>
      <p:sp>
        <p:nvSpPr>
          <p:cNvPr id="38" name="TextBox 37"/>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39" name="TextBox 38"/>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192</a:t>
            </a:r>
          </a:p>
        </p:txBody>
      </p:sp>
    </p:spTree>
  </p:cSld>
  <p:clrMapOvr>
    <a:masterClrMapping/>
  </p:clrMapOvr>
  <p:transition xmlns:p14="http://schemas.microsoft.com/office/powerpoint/2010/main" p14:dur="380">
    <p:fade/>
  </p:transition>
</p:sld>
</file>

<file path=ppt/slides/slide19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38912"/>
            <a:ext cx="10607040" cy="365760"/>
          </a:xfrm>
          <a:prstGeom prst="rect">
            <a:avLst/>
          </a:prstGeom>
          <a:noFill/>
        </p:spPr>
        <p:txBody>
          <a:bodyPr wrap="square" anchor="t">
            <a:spAutoFit/>
          </a:bodyPr>
          <a:lstStyle/>
          <a:p>
            <a:pPr algn="l">
              <a:spcAft>
                <a:spcPts val="400"/>
              </a:spcAft>
            </a:pPr>
            <a:r>
              <a:rPr sz="1400" b="1">
                <a:solidFill>
                  <a:srgbClr val="C0392B"/>
                </a:solidFill>
                <a:latin typeface="Arial"/>
              </a:rPr>
              <a:t>GUARDRAILS THAT WATCH</a:t>
            </a:r>
          </a:p>
        </p:txBody>
      </p:sp>
      <p:sp>
        <p:nvSpPr>
          <p:cNvPr id="5" name="TextBox 4"/>
          <p:cNvSpPr txBox="1"/>
          <p:nvPr/>
        </p:nvSpPr>
        <p:spPr>
          <a:xfrm>
            <a:off x="777240" y="804672"/>
            <a:ext cx="10927080" cy="731520"/>
          </a:xfrm>
          <a:prstGeom prst="rect">
            <a:avLst/>
          </a:prstGeom>
          <a:noFill/>
        </p:spPr>
        <p:txBody>
          <a:bodyPr wrap="square" anchor="t">
            <a:spAutoFit/>
          </a:bodyPr>
          <a:lstStyle/>
          <a:p>
            <a:pPr algn="l">
              <a:spcAft>
                <a:spcPts val="400"/>
              </a:spcAft>
            </a:pPr>
            <a:r>
              <a:rPr sz="2900" b="1">
                <a:solidFill>
                  <a:srgbClr val="161B26"/>
                </a:solidFill>
                <a:latin typeface="Arial"/>
              </a:rPr>
              <a:t>AWS Config — Continuous Compliance</a:t>
            </a:r>
          </a:p>
        </p:txBody>
      </p:sp>
      <p:sp>
        <p:nvSpPr>
          <p:cNvPr id="6" name="Rectangle 5"/>
          <p:cNvSpPr/>
          <p:nvPr/>
        </p:nvSpPr>
        <p:spPr>
          <a:xfrm>
            <a:off x="777240" y="1572768"/>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2331720"/>
            <a:ext cx="1878177" cy="288036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2331720"/>
            <a:ext cx="1878177" cy="91440"/>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1341424" y="2715768"/>
            <a:ext cx="749808" cy="749808"/>
          </a:xfrm>
          <a:prstGeom prst="ellipse">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341424" y="2715768"/>
            <a:ext cx="749808" cy="749808"/>
          </a:xfrm>
          <a:prstGeom prst="rect">
            <a:avLst/>
          </a:prstGeom>
          <a:noFill/>
        </p:spPr>
        <p:txBody>
          <a:bodyPr wrap="square" anchor="ctr">
            <a:spAutoFit/>
          </a:bodyPr>
          <a:lstStyle/>
          <a:p>
            <a:pPr algn="ctr">
              <a:spcAft>
                <a:spcPts val="400"/>
              </a:spcAft>
            </a:pPr>
            <a:r>
              <a:rPr sz="3000" b="1">
                <a:solidFill>
                  <a:srgbClr val="FFFFFF"/>
                </a:solidFill>
                <a:latin typeface="Arial"/>
              </a:rPr>
              <a:t>1</a:t>
            </a:r>
          </a:p>
        </p:txBody>
      </p:sp>
      <p:sp>
        <p:nvSpPr>
          <p:cNvPr id="11" name="TextBox 10"/>
          <p:cNvSpPr txBox="1"/>
          <p:nvPr/>
        </p:nvSpPr>
        <p:spPr>
          <a:xfrm>
            <a:off x="923544" y="3749040"/>
            <a:ext cx="1585569" cy="1325880"/>
          </a:xfrm>
          <a:prstGeom prst="rect">
            <a:avLst/>
          </a:prstGeom>
          <a:noFill/>
        </p:spPr>
        <p:txBody>
          <a:bodyPr wrap="square" anchor="t">
            <a:spAutoFit/>
          </a:bodyPr>
          <a:lstStyle/>
          <a:p>
            <a:pPr algn="ctr">
              <a:spcAft>
                <a:spcPts val="400"/>
              </a:spcAft>
            </a:pPr>
            <a:r>
              <a:rPr sz="1300" b="0">
                <a:solidFill>
                  <a:srgbClr val="161B26"/>
                </a:solidFill>
                <a:latin typeface="Arial"/>
              </a:rPr>
              <a:t>Recorder
tracks resources</a:t>
            </a:r>
          </a:p>
        </p:txBody>
      </p:sp>
      <p:sp>
        <p:nvSpPr>
          <p:cNvPr id="12" name="TextBox 11"/>
          <p:cNvSpPr txBox="1"/>
          <p:nvPr/>
        </p:nvSpPr>
        <p:spPr>
          <a:xfrm>
            <a:off x="2618841" y="3497580"/>
            <a:ext cx="384048" cy="548640"/>
          </a:xfrm>
          <a:prstGeom prst="rect">
            <a:avLst/>
          </a:prstGeom>
          <a:noFill/>
        </p:spPr>
        <p:txBody>
          <a:bodyPr wrap="square" anchor="ctr">
            <a:spAutoFit/>
          </a:bodyPr>
          <a:lstStyle/>
          <a:p>
            <a:pPr algn="ctr">
              <a:spcAft>
                <a:spcPts val="400"/>
              </a:spcAft>
            </a:pPr>
            <a:r>
              <a:rPr sz="1500" b="1">
                <a:solidFill>
                  <a:srgbClr val="C0392B"/>
                </a:solidFill>
                <a:latin typeface="Arial"/>
              </a:rPr>
              <a:t>▶</a:t>
            </a:r>
          </a:p>
        </p:txBody>
      </p:sp>
      <p:sp>
        <p:nvSpPr>
          <p:cNvPr id="13" name="Rectangle 12"/>
          <p:cNvSpPr/>
          <p:nvPr/>
        </p:nvSpPr>
        <p:spPr>
          <a:xfrm>
            <a:off x="2966313" y="2331720"/>
            <a:ext cx="1878177" cy="288036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ectangle 13"/>
          <p:cNvSpPr/>
          <p:nvPr/>
        </p:nvSpPr>
        <p:spPr>
          <a:xfrm>
            <a:off x="2966313" y="2331720"/>
            <a:ext cx="1878177" cy="91440"/>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Oval 14"/>
          <p:cNvSpPr/>
          <p:nvPr/>
        </p:nvSpPr>
        <p:spPr>
          <a:xfrm>
            <a:off x="3530497" y="2715768"/>
            <a:ext cx="749808" cy="749808"/>
          </a:xfrm>
          <a:prstGeom prst="ellipse">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3530497" y="2715768"/>
            <a:ext cx="749808" cy="749808"/>
          </a:xfrm>
          <a:prstGeom prst="rect">
            <a:avLst/>
          </a:prstGeom>
          <a:noFill/>
        </p:spPr>
        <p:txBody>
          <a:bodyPr wrap="square" anchor="ctr">
            <a:spAutoFit/>
          </a:bodyPr>
          <a:lstStyle/>
          <a:p>
            <a:pPr algn="ctr">
              <a:spcAft>
                <a:spcPts val="400"/>
              </a:spcAft>
            </a:pPr>
            <a:r>
              <a:rPr sz="3000" b="1">
                <a:solidFill>
                  <a:srgbClr val="FFFFFF"/>
                </a:solidFill>
                <a:latin typeface="Arial"/>
              </a:rPr>
              <a:t>2</a:t>
            </a:r>
          </a:p>
        </p:txBody>
      </p:sp>
      <p:sp>
        <p:nvSpPr>
          <p:cNvPr id="17" name="TextBox 16"/>
          <p:cNvSpPr txBox="1"/>
          <p:nvPr/>
        </p:nvSpPr>
        <p:spPr>
          <a:xfrm>
            <a:off x="3112617" y="3749040"/>
            <a:ext cx="1585569" cy="1325880"/>
          </a:xfrm>
          <a:prstGeom prst="rect">
            <a:avLst/>
          </a:prstGeom>
          <a:noFill/>
        </p:spPr>
        <p:txBody>
          <a:bodyPr wrap="square" anchor="t">
            <a:spAutoFit/>
          </a:bodyPr>
          <a:lstStyle/>
          <a:p>
            <a:pPr algn="ctr">
              <a:spcAft>
                <a:spcPts val="400"/>
              </a:spcAft>
            </a:pPr>
            <a:r>
              <a:rPr sz="1300" b="0">
                <a:solidFill>
                  <a:srgbClr val="161B26"/>
                </a:solidFill>
                <a:latin typeface="Arial"/>
              </a:rPr>
              <a:t>Rules
managed/custom</a:t>
            </a:r>
          </a:p>
        </p:txBody>
      </p:sp>
      <p:sp>
        <p:nvSpPr>
          <p:cNvPr id="18" name="TextBox 17"/>
          <p:cNvSpPr txBox="1"/>
          <p:nvPr/>
        </p:nvSpPr>
        <p:spPr>
          <a:xfrm>
            <a:off x="4807914" y="3497580"/>
            <a:ext cx="384048" cy="548640"/>
          </a:xfrm>
          <a:prstGeom prst="rect">
            <a:avLst/>
          </a:prstGeom>
          <a:noFill/>
        </p:spPr>
        <p:txBody>
          <a:bodyPr wrap="square" anchor="ctr">
            <a:spAutoFit/>
          </a:bodyPr>
          <a:lstStyle/>
          <a:p>
            <a:pPr algn="ctr">
              <a:spcAft>
                <a:spcPts val="400"/>
              </a:spcAft>
            </a:pPr>
            <a:r>
              <a:rPr sz="1500" b="1">
                <a:solidFill>
                  <a:srgbClr val="C0392B"/>
                </a:solidFill>
                <a:latin typeface="Arial"/>
              </a:rPr>
              <a:t>▶</a:t>
            </a:r>
          </a:p>
        </p:txBody>
      </p:sp>
      <p:sp>
        <p:nvSpPr>
          <p:cNvPr id="19" name="Rectangle 18"/>
          <p:cNvSpPr/>
          <p:nvPr/>
        </p:nvSpPr>
        <p:spPr>
          <a:xfrm>
            <a:off x="5155386" y="2331720"/>
            <a:ext cx="1878177" cy="288036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Rectangle 19"/>
          <p:cNvSpPr/>
          <p:nvPr/>
        </p:nvSpPr>
        <p:spPr>
          <a:xfrm>
            <a:off x="5155386" y="2331720"/>
            <a:ext cx="1878177" cy="91440"/>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Oval 20"/>
          <p:cNvSpPr/>
          <p:nvPr/>
        </p:nvSpPr>
        <p:spPr>
          <a:xfrm>
            <a:off x="5719570" y="2715768"/>
            <a:ext cx="749808" cy="749808"/>
          </a:xfrm>
          <a:prstGeom prst="ellipse">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5719570" y="2715768"/>
            <a:ext cx="749808" cy="749808"/>
          </a:xfrm>
          <a:prstGeom prst="rect">
            <a:avLst/>
          </a:prstGeom>
          <a:noFill/>
        </p:spPr>
        <p:txBody>
          <a:bodyPr wrap="square" anchor="ctr">
            <a:spAutoFit/>
          </a:bodyPr>
          <a:lstStyle/>
          <a:p>
            <a:pPr algn="ctr">
              <a:spcAft>
                <a:spcPts val="400"/>
              </a:spcAft>
            </a:pPr>
            <a:r>
              <a:rPr sz="3000" b="1">
                <a:solidFill>
                  <a:srgbClr val="FFFFFF"/>
                </a:solidFill>
                <a:latin typeface="Arial"/>
              </a:rPr>
              <a:t>3</a:t>
            </a:r>
          </a:p>
        </p:txBody>
      </p:sp>
      <p:sp>
        <p:nvSpPr>
          <p:cNvPr id="23" name="TextBox 22"/>
          <p:cNvSpPr txBox="1"/>
          <p:nvPr/>
        </p:nvSpPr>
        <p:spPr>
          <a:xfrm>
            <a:off x="5301690" y="3749040"/>
            <a:ext cx="1585569" cy="1325880"/>
          </a:xfrm>
          <a:prstGeom prst="rect">
            <a:avLst/>
          </a:prstGeom>
          <a:noFill/>
        </p:spPr>
        <p:txBody>
          <a:bodyPr wrap="square" anchor="t">
            <a:spAutoFit/>
          </a:bodyPr>
          <a:lstStyle/>
          <a:p>
            <a:pPr algn="ctr">
              <a:spcAft>
                <a:spcPts val="400"/>
              </a:spcAft>
            </a:pPr>
            <a:r>
              <a:rPr sz="1300" b="0">
                <a:solidFill>
                  <a:srgbClr val="161B26"/>
                </a:solidFill>
                <a:latin typeface="Arial"/>
              </a:rPr>
              <a:t>Evaluate
compliance</a:t>
            </a:r>
          </a:p>
        </p:txBody>
      </p:sp>
      <p:sp>
        <p:nvSpPr>
          <p:cNvPr id="24" name="TextBox 23"/>
          <p:cNvSpPr txBox="1"/>
          <p:nvPr/>
        </p:nvSpPr>
        <p:spPr>
          <a:xfrm>
            <a:off x="6996987" y="3497580"/>
            <a:ext cx="384048" cy="548640"/>
          </a:xfrm>
          <a:prstGeom prst="rect">
            <a:avLst/>
          </a:prstGeom>
          <a:noFill/>
        </p:spPr>
        <p:txBody>
          <a:bodyPr wrap="square" anchor="ctr">
            <a:spAutoFit/>
          </a:bodyPr>
          <a:lstStyle/>
          <a:p>
            <a:pPr algn="ctr">
              <a:spcAft>
                <a:spcPts val="400"/>
              </a:spcAft>
            </a:pPr>
            <a:r>
              <a:rPr sz="1500" b="1">
                <a:solidFill>
                  <a:srgbClr val="C0392B"/>
                </a:solidFill>
                <a:latin typeface="Arial"/>
              </a:rPr>
              <a:t>▶</a:t>
            </a:r>
          </a:p>
        </p:txBody>
      </p:sp>
      <p:sp>
        <p:nvSpPr>
          <p:cNvPr id="25" name="Rectangle 24"/>
          <p:cNvSpPr/>
          <p:nvPr/>
        </p:nvSpPr>
        <p:spPr>
          <a:xfrm>
            <a:off x="7344459" y="2331720"/>
            <a:ext cx="1878177" cy="288036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Rectangle 25"/>
          <p:cNvSpPr/>
          <p:nvPr/>
        </p:nvSpPr>
        <p:spPr>
          <a:xfrm>
            <a:off x="7344459" y="2331720"/>
            <a:ext cx="1878177" cy="91440"/>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Oval 26"/>
          <p:cNvSpPr/>
          <p:nvPr/>
        </p:nvSpPr>
        <p:spPr>
          <a:xfrm>
            <a:off x="7908643" y="2715768"/>
            <a:ext cx="749808" cy="749808"/>
          </a:xfrm>
          <a:prstGeom prst="ellipse">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7908643" y="2715768"/>
            <a:ext cx="749808" cy="749808"/>
          </a:xfrm>
          <a:prstGeom prst="rect">
            <a:avLst/>
          </a:prstGeom>
          <a:noFill/>
        </p:spPr>
        <p:txBody>
          <a:bodyPr wrap="square" anchor="ctr">
            <a:spAutoFit/>
          </a:bodyPr>
          <a:lstStyle/>
          <a:p>
            <a:pPr algn="ctr">
              <a:spcAft>
                <a:spcPts val="400"/>
              </a:spcAft>
            </a:pPr>
            <a:r>
              <a:rPr sz="3000" b="1">
                <a:solidFill>
                  <a:srgbClr val="FFFFFF"/>
                </a:solidFill>
                <a:latin typeface="Arial"/>
              </a:rPr>
              <a:t>4</a:t>
            </a:r>
          </a:p>
        </p:txBody>
      </p:sp>
      <p:sp>
        <p:nvSpPr>
          <p:cNvPr id="29" name="TextBox 28"/>
          <p:cNvSpPr txBox="1"/>
          <p:nvPr/>
        </p:nvSpPr>
        <p:spPr>
          <a:xfrm>
            <a:off x="7490763" y="3749040"/>
            <a:ext cx="1585569" cy="1325880"/>
          </a:xfrm>
          <a:prstGeom prst="rect">
            <a:avLst/>
          </a:prstGeom>
          <a:noFill/>
        </p:spPr>
        <p:txBody>
          <a:bodyPr wrap="square" anchor="t">
            <a:spAutoFit/>
          </a:bodyPr>
          <a:lstStyle/>
          <a:p>
            <a:pPr algn="ctr">
              <a:spcAft>
                <a:spcPts val="400"/>
              </a:spcAft>
            </a:pPr>
            <a:r>
              <a:rPr sz="1300" b="0">
                <a:solidFill>
                  <a:srgbClr val="161B26"/>
                </a:solidFill>
                <a:latin typeface="Arial"/>
              </a:rPr>
              <a:t>Non-compliant
flagged</a:t>
            </a:r>
          </a:p>
        </p:txBody>
      </p:sp>
      <p:sp>
        <p:nvSpPr>
          <p:cNvPr id="30" name="TextBox 29"/>
          <p:cNvSpPr txBox="1"/>
          <p:nvPr/>
        </p:nvSpPr>
        <p:spPr>
          <a:xfrm>
            <a:off x="9186060" y="3497580"/>
            <a:ext cx="384048" cy="548640"/>
          </a:xfrm>
          <a:prstGeom prst="rect">
            <a:avLst/>
          </a:prstGeom>
          <a:noFill/>
        </p:spPr>
        <p:txBody>
          <a:bodyPr wrap="square" anchor="ctr">
            <a:spAutoFit/>
          </a:bodyPr>
          <a:lstStyle/>
          <a:p>
            <a:pPr algn="ctr">
              <a:spcAft>
                <a:spcPts val="400"/>
              </a:spcAft>
            </a:pPr>
            <a:r>
              <a:rPr sz="1500" b="1">
                <a:solidFill>
                  <a:srgbClr val="C0392B"/>
                </a:solidFill>
                <a:latin typeface="Arial"/>
              </a:rPr>
              <a:t>▶</a:t>
            </a:r>
          </a:p>
        </p:txBody>
      </p:sp>
      <p:sp>
        <p:nvSpPr>
          <p:cNvPr id="31" name="Rectangle 30"/>
          <p:cNvSpPr/>
          <p:nvPr/>
        </p:nvSpPr>
        <p:spPr>
          <a:xfrm>
            <a:off x="9533532" y="2331720"/>
            <a:ext cx="1878177" cy="288036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Rectangle 31"/>
          <p:cNvSpPr/>
          <p:nvPr/>
        </p:nvSpPr>
        <p:spPr>
          <a:xfrm>
            <a:off x="9533532" y="2331720"/>
            <a:ext cx="1878177" cy="91440"/>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Oval 32"/>
          <p:cNvSpPr/>
          <p:nvPr/>
        </p:nvSpPr>
        <p:spPr>
          <a:xfrm>
            <a:off x="10097716" y="2715768"/>
            <a:ext cx="749808" cy="749808"/>
          </a:xfrm>
          <a:prstGeom prst="ellipse">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TextBox 33"/>
          <p:cNvSpPr txBox="1"/>
          <p:nvPr/>
        </p:nvSpPr>
        <p:spPr>
          <a:xfrm>
            <a:off x="10097716" y="2715768"/>
            <a:ext cx="749808" cy="749808"/>
          </a:xfrm>
          <a:prstGeom prst="rect">
            <a:avLst/>
          </a:prstGeom>
          <a:noFill/>
        </p:spPr>
        <p:txBody>
          <a:bodyPr wrap="square" anchor="ctr">
            <a:spAutoFit/>
          </a:bodyPr>
          <a:lstStyle/>
          <a:p>
            <a:pPr algn="ctr">
              <a:spcAft>
                <a:spcPts val="400"/>
              </a:spcAft>
            </a:pPr>
            <a:r>
              <a:rPr sz="3000" b="1">
                <a:solidFill>
                  <a:srgbClr val="FFFFFF"/>
                </a:solidFill>
                <a:latin typeface="Arial"/>
              </a:rPr>
              <a:t>5</a:t>
            </a:r>
          </a:p>
        </p:txBody>
      </p:sp>
      <p:sp>
        <p:nvSpPr>
          <p:cNvPr id="35" name="TextBox 34"/>
          <p:cNvSpPr txBox="1"/>
          <p:nvPr/>
        </p:nvSpPr>
        <p:spPr>
          <a:xfrm>
            <a:off x="9679836" y="3749040"/>
            <a:ext cx="1585569" cy="1325880"/>
          </a:xfrm>
          <a:prstGeom prst="rect">
            <a:avLst/>
          </a:prstGeom>
          <a:noFill/>
        </p:spPr>
        <p:txBody>
          <a:bodyPr wrap="square" anchor="t">
            <a:spAutoFit/>
          </a:bodyPr>
          <a:lstStyle/>
          <a:p>
            <a:pPr algn="ctr">
              <a:spcAft>
                <a:spcPts val="400"/>
              </a:spcAft>
            </a:pPr>
            <a:r>
              <a:rPr sz="1300" b="0">
                <a:solidFill>
                  <a:srgbClr val="161B26"/>
                </a:solidFill>
                <a:latin typeface="Arial"/>
              </a:rPr>
              <a:t>Remediate
auto/manual</a:t>
            </a:r>
          </a:p>
        </p:txBody>
      </p:sp>
      <p:sp>
        <p:nvSpPr>
          <p:cNvPr id="36" name="TextBox 35"/>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DevOps Engineering on AWS  ·  TGS-2023040474</a:t>
            </a:r>
          </a:p>
        </p:txBody>
      </p:sp>
      <p:sp>
        <p:nvSpPr>
          <p:cNvPr id="37" name="TextBox 36"/>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38" name="TextBox 37"/>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193</a:t>
            </a:r>
          </a:p>
        </p:txBody>
      </p:sp>
    </p:spTree>
  </p:cSld>
  <p:clrMapOvr>
    <a:masterClrMapping/>
  </p:clrMapOvr>
  <p:transition xmlns:p14="http://schemas.microsoft.com/office/powerpoint/2010/main" p14:dur="380">
    <p:fade/>
  </p:transition>
</p:sld>
</file>

<file path=ppt/slides/slide19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38912"/>
            <a:ext cx="10607040" cy="365760"/>
          </a:xfrm>
          <a:prstGeom prst="rect">
            <a:avLst/>
          </a:prstGeom>
          <a:noFill/>
        </p:spPr>
        <p:txBody>
          <a:bodyPr wrap="square" anchor="t">
            <a:spAutoFit/>
          </a:bodyPr>
          <a:lstStyle/>
          <a:p>
            <a:pPr algn="l">
              <a:spcAft>
                <a:spcPts val="400"/>
              </a:spcAft>
            </a:pPr>
            <a:r>
              <a:rPr sz="1400" b="1">
                <a:solidFill>
                  <a:srgbClr val="C0392B"/>
                </a:solidFill>
                <a:latin typeface="Arial"/>
              </a:rPr>
              <a:t>KNOW WHAT HAPPENED</a:t>
            </a:r>
          </a:p>
        </p:txBody>
      </p:sp>
      <p:sp>
        <p:nvSpPr>
          <p:cNvPr id="5" name="TextBox 4"/>
          <p:cNvSpPr txBox="1"/>
          <p:nvPr/>
        </p:nvSpPr>
        <p:spPr>
          <a:xfrm>
            <a:off x="777240" y="804672"/>
            <a:ext cx="10927080" cy="731520"/>
          </a:xfrm>
          <a:prstGeom prst="rect">
            <a:avLst/>
          </a:prstGeom>
          <a:noFill/>
        </p:spPr>
        <p:txBody>
          <a:bodyPr wrap="square" anchor="t">
            <a:spAutoFit/>
          </a:bodyPr>
          <a:lstStyle/>
          <a:p>
            <a:pPr algn="l">
              <a:spcAft>
                <a:spcPts val="400"/>
              </a:spcAft>
            </a:pPr>
            <a:r>
              <a:rPr sz="2900" b="1">
                <a:solidFill>
                  <a:srgbClr val="161B26"/>
                </a:solidFill>
                <a:latin typeface="Arial"/>
              </a:rPr>
              <a:t>Detective &amp; Governance Services</a:t>
            </a:r>
          </a:p>
        </p:txBody>
      </p:sp>
      <p:sp>
        <p:nvSpPr>
          <p:cNvPr id="6" name="Rectangle 5"/>
          <p:cNvSpPr/>
          <p:nvPr/>
        </p:nvSpPr>
        <p:spPr>
          <a:xfrm>
            <a:off x="777240" y="1572768"/>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783080"/>
            <a:ext cx="2764962" cy="502920"/>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886968" y="1783080"/>
            <a:ext cx="2582082" cy="502920"/>
          </a:xfrm>
          <a:prstGeom prst="rect">
            <a:avLst/>
          </a:prstGeom>
          <a:noFill/>
        </p:spPr>
        <p:txBody>
          <a:bodyPr wrap="square" anchor="ctr">
            <a:spAutoFit/>
          </a:bodyPr>
          <a:lstStyle/>
          <a:p>
            <a:pPr algn="l">
              <a:spcAft>
                <a:spcPts val="400"/>
              </a:spcAft>
            </a:pPr>
            <a:r>
              <a:rPr sz="1400" b="1">
                <a:solidFill>
                  <a:srgbClr val="FFFFFF"/>
                </a:solidFill>
                <a:latin typeface="Arial"/>
              </a:rPr>
              <a:t>Service</a:t>
            </a:r>
          </a:p>
        </p:txBody>
      </p:sp>
      <p:sp>
        <p:nvSpPr>
          <p:cNvPr id="9" name="Rectangle 8"/>
          <p:cNvSpPr/>
          <p:nvPr/>
        </p:nvSpPr>
        <p:spPr>
          <a:xfrm>
            <a:off x="3542202" y="1783080"/>
            <a:ext cx="7869509" cy="502920"/>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3651930" y="1783080"/>
            <a:ext cx="7686629" cy="502920"/>
          </a:xfrm>
          <a:prstGeom prst="rect">
            <a:avLst/>
          </a:prstGeom>
          <a:noFill/>
        </p:spPr>
        <p:txBody>
          <a:bodyPr wrap="square" anchor="ctr">
            <a:spAutoFit/>
          </a:bodyPr>
          <a:lstStyle/>
          <a:p>
            <a:pPr algn="ctr">
              <a:spcAft>
                <a:spcPts val="400"/>
              </a:spcAft>
            </a:pPr>
            <a:r>
              <a:rPr sz="1400" b="1">
                <a:solidFill>
                  <a:srgbClr val="FFFFFF"/>
                </a:solidFill>
                <a:latin typeface="Arial"/>
              </a:rPr>
              <a:t>What it does</a:t>
            </a:r>
          </a:p>
        </p:txBody>
      </p:sp>
      <p:sp>
        <p:nvSpPr>
          <p:cNvPr id="11" name="Rectangle 10"/>
          <p:cNvSpPr/>
          <p:nvPr/>
        </p:nvSpPr>
        <p:spPr>
          <a:xfrm>
            <a:off x="777240" y="2286000"/>
            <a:ext cx="2764962" cy="822960"/>
          </a:xfrm>
          <a:prstGeom prst="rect">
            <a:avLst/>
          </a:prstGeom>
          <a:solidFill>
            <a:srgbClr val="F5F8FC"/>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886968" y="2286000"/>
            <a:ext cx="2582082" cy="822960"/>
          </a:xfrm>
          <a:prstGeom prst="rect">
            <a:avLst/>
          </a:prstGeom>
          <a:noFill/>
        </p:spPr>
        <p:txBody>
          <a:bodyPr wrap="square" anchor="ctr">
            <a:spAutoFit/>
          </a:bodyPr>
          <a:lstStyle/>
          <a:p>
            <a:pPr algn="l">
              <a:spcAft>
                <a:spcPts val="400"/>
              </a:spcAft>
            </a:pPr>
            <a:r>
              <a:rPr sz="1250" b="1">
                <a:solidFill>
                  <a:srgbClr val="161B26"/>
                </a:solidFill>
                <a:latin typeface="Arial"/>
              </a:rPr>
              <a:t>CloudTrail</a:t>
            </a:r>
          </a:p>
        </p:txBody>
      </p:sp>
      <p:sp>
        <p:nvSpPr>
          <p:cNvPr id="13" name="Rectangle 12"/>
          <p:cNvSpPr/>
          <p:nvPr/>
        </p:nvSpPr>
        <p:spPr>
          <a:xfrm>
            <a:off x="3542202" y="2286000"/>
            <a:ext cx="7869509" cy="822960"/>
          </a:xfrm>
          <a:prstGeom prst="rect">
            <a:avLst/>
          </a:prstGeom>
          <a:solidFill>
            <a:srgbClr val="F5F8FC"/>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3651930" y="2286000"/>
            <a:ext cx="7686629" cy="822960"/>
          </a:xfrm>
          <a:prstGeom prst="rect">
            <a:avLst/>
          </a:prstGeom>
          <a:noFill/>
        </p:spPr>
        <p:txBody>
          <a:bodyPr wrap="square" anchor="ctr">
            <a:spAutoFit/>
          </a:bodyPr>
          <a:lstStyle/>
          <a:p>
            <a:pPr algn="ctr">
              <a:spcAft>
                <a:spcPts val="400"/>
              </a:spcAft>
            </a:pPr>
            <a:r>
              <a:rPr sz="1250" b="0">
                <a:solidFill>
                  <a:srgbClr val="5B6372"/>
                </a:solidFill>
                <a:latin typeface="Arial"/>
              </a:rPr>
              <a:t>Records every API call for audit and forensics</a:t>
            </a:r>
          </a:p>
        </p:txBody>
      </p:sp>
      <p:sp>
        <p:nvSpPr>
          <p:cNvPr id="15" name="Rectangle 14"/>
          <p:cNvSpPr/>
          <p:nvPr/>
        </p:nvSpPr>
        <p:spPr>
          <a:xfrm>
            <a:off x="777240" y="3108960"/>
            <a:ext cx="2764962" cy="822960"/>
          </a:xfrm>
          <a:prstGeom prst="rect">
            <a:avLst/>
          </a:prstGeom>
          <a:solidFill>
            <a:srgbClr val="FFFFFF"/>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886968" y="3108960"/>
            <a:ext cx="2582082" cy="822960"/>
          </a:xfrm>
          <a:prstGeom prst="rect">
            <a:avLst/>
          </a:prstGeom>
          <a:noFill/>
        </p:spPr>
        <p:txBody>
          <a:bodyPr wrap="square" anchor="ctr">
            <a:spAutoFit/>
          </a:bodyPr>
          <a:lstStyle/>
          <a:p>
            <a:pPr algn="l">
              <a:spcAft>
                <a:spcPts val="400"/>
              </a:spcAft>
            </a:pPr>
            <a:r>
              <a:rPr sz="1250" b="1">
                <a:solidFill>
                  <a:srgbClr val="161B26"/>
                </a:solidFill>
                <a:latin typeface="Arial"/>
              </a:rPr>
              <a:t>AWS Config</a:t>
            </a:r>
          </a:p>
        </p:txBody>
      </p:sp>
      <p:sp>
        <p:nvSpPr>
          <p:cNvPr id="17" name="Rectangle 16"/>
          <p:cNvSpPr/>
          <p:nvPr/>
        </p:nvSpPr>
        <p:spPr>
          <a:xfrm>
            <a:off x="3542202" y="3108960"/>
            <a:ext cx="7869509" cy="822960"/>
          </a:xfrm>
          <a:prstGeom prst="rect">
            <a:avLst/>
          </a:prstGeom>
          <a:solidFill>
            <a:srgbClr val="FFFFFF"/>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3651930" y="3108960"/>
            <a:ext cx="7686629" cy="822960"/>
          </a:xfrm>
          <a:prstGeom prst="rect">
            <a:avLst/>
          </a:prstGeom>
          <a:noFill/>
        </p:spPr>
        <p:txBody>
          <a:bodyPr wrap="square" anchor="ctr">
            <a:spAutoFit/>
          </a:bodyPr>
          <a:lstStyle/>
          <a:p>
            <a:pPr algn="ctr">
              <a:spcAft>
                <a:spcPts val="400"/>
              </a:spcAft>
            </a:pPr>
            <a:r>
              <a:rPr sz="1250" b="0">
                <a:solidFill>
                  <a:srgbClr val="5B6372"/>
                </a:solidFill>
                <a:latin typeface="Arial"/>
              </a:rPr>
              <a:t>Tracks resource configuration &amp; compliance over time</a:t>
            </a:r>
          </a:p>
        </p:txBody>
      </p:sp>
      <p:sp>
        <p:nvSpPr>
          <p:cNvPr id="19" name="Rectangle 18"/>
          <p:cNvSpPr/>
          <p:nvPr/>
        </p:nvSpPr>
        <p:spPr>
          <a:xfrm>
            <a:off x="777240" y="3931920"/>
            <a:ext cx="2764962" cy="822960"/>
          </a:xfrm>
          <a:prstGeom prst="rect">
            <a:avLst/>
          </a:prstGeom>
          <a:solidFill>
            <a:srgbClr val="F5F8FC"/>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886968" y="3931920"/>
            <a:ext cx="2582082" cy="822960"/>
          </a:xfrm>
          <a:prstGeom prst="rect">
            <a:avLst/>
          </a:prstGeom>
          <a:noFill/>
        </p:spPr>
        <p:txBody>
          <a:bodyPr wrap="square" anchor="ctr">
            <a:spAutoFit/>
          </a:bodyPr>
          <a:lstStyle/>
          <a:p>
            <a:pPr algn="l">
              <a:spcAft>
                <a:spcPts val="400"/>
              </a:spcAft>
            </a:pPr>
            <a:r>
              <a:rPr sz="1250" b="1">
                <a:solidFill>
                  <a:srgbClr val="161B26"/>
                </a:solidFill>
                <a:latin typeface="Arial"/>
              </a:rPr>
              <a:t>GuardDuty</a:t>
            </a:r>
          </a:p>
        </p:txBody>
      </p:sp>
      <p:sp>
        <p:nvSpPr>
          <p:cNvPr id="21" name="Rectangle 20"/>
          <p:cNvSpPr/>
          <p:nvPr/>
        </p:nvSpPr>
        <p:spPr>
          <a:xfrm>
            <a:off x="3542202" y="3931920"/>
            <a:ext cx="7869509" cy="822960"/>
          </a:xfrm>
          <a:prstGeom prst="rect">
            <a:avLst/>
          </a:prstGeom>
          <a:solidFill>
            <a:srgbClr val="F5F8FC"/>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3651930" y="3931920"/>
            <a:ext cx="7686629" cy="822960"/>
          </a:xfrm>
          <a:prstGeom prst="rect">
            <a:avLst/>
          </a:prstGeom>
          <a:noFill/>
        </p:spPr>
        <p:txBody>
          <a:bodyPr wrap="square" anchor="ctr">
            <a:spAutoFit/>
          </a:bodyPr>
          <a:lstStyle/>
          <a:p>
            <a:pPr algn="ctr">
              <a:spcAft>
                <a:spcPts val="400"/>
              </a:spcAft>
            </a:pPr>
            <a:r>
              <a:rPr sz="1250" b="0">
                <a:solidFill>
                  <a:srgbClr val="5B6372"/>
                </a:solidFill>
                <a:latin typeface="Arial"/>
              </a:rPr>
              <a:t>ML threat detection from logs &amp; network traffic</a:t>
            </a:r>
          </a:p>
        </p:txBody>
      </p:sp>
      <p:sp>
        <p:nvSpPr>
          <p:cNvPr id="23" name="Rectangle 22"/>
          <p:cNvSpPr/>
          <p:nvPr/>
        </p:nvSpPr>
        <p:spPr>
          <a:xfrm>
            <a:off x="777240" y="4754880"/>
            <a:ext cx="2764962" cy="822960"/>
          </a:xfrm>
          <a:prstGeom prst="rect">
            <a:avLst/>
          </a:prstGeom>
          <a:solidFill>
            <a:srgbClr val="FFFFFF"/>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886968" y="4754880"/>
            <a:ext cx="2582082" cy="822960"/>
          </a:xfrm>
          <a:prstGeom prst="rect">
            <a:avLst/>
          </a:prstGeom>
          <a:noFill/>
        </p:spPr>
        <p:txBody>
          <a:bodyPr wrap="square" anchor="ctr">
            <a:spAutoFit/>
          </a:bodyPr>
          <a:lstStyle/>
          <a:p>
            <a:pPr algn="l">
              <a:spcAft>
                <a:spcPts val="400"/>
              </a:spcAft>
            </a:pPr>
            <a:r>
              <a:rPr sz="1250" b="1">
                <a:solidFill>
                  <a:srgbClr val="161B26"/>
                </a:solidFill>
                <a:latin typeface="Arial"/>
              </a:rPr>
              <a:t>Security Hub</a:t>
            </a:r>
          </a:p>
        </p:txBody>
      </p:sp>
      <p:sp>
        <p:nvSpPr>
          <p:cNvPr id="25" name="Rectangle 24"/>
          <p:cNvSpPr/>
          <p:nvPr/>
        </p:nvSpPr>
        <p:spPr>
          <a:xfrm>
            <a:off x="3542202" y="4754880"/>
            <a:ext cx="7869509" cy="822960"/>
          </a:xfrm>
          <a:prstGeom prst="rect">
            <a:avLst/>
          </a:prstGeom>
          <a:solidFill>
            <a:srgbClr val="FFFFFF"/>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3651930" y="4754880"/>
            <a:ext cx="7686629" cy="822960"/>
          </a:xfrm>
          <a:prstGeom prst="rect">
            <a:avLst/>
          </a:prstGeom>
          <a:noFill/>
        </p:spPr>
        <p:txBody>
          <a:bodyPr wrap="square" anchor="ctr">
            <a:spAutoFit/>
          </a:bodyPr>
          <a:lstStyle/>
          <a:p>
            <a:pPr algn="ctr">
              <a:spcAft>
                <a:spcPts val="400"/>
              </a:spcAft>
            </a:pPr>
            <a:r>
              <a:rPr sz="1250" b="0">
                <a:solidFill>
                  <a:srgbClr val="5B6372"/>
                </a:solidFill>
                <a:latin typeface="Arial"/>
              </a:rPr>
              <a:t>Aggregates findings &amp; scores posture against standards</a:t>
            </a:r>
          </a:p>
        </p:txBody>
      </p:sp>
      <p:sp>
        <p:nvSpPr>
          <p:cNvPr id="27" name="TextBox 26"/>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DevOps Engineering on AWS  ·  TGS-2023040474</a:t>
            </a:r>
          </a:p>
        </p:txBody>
      </p:sp>
      <p:sp>
        <p:nvSpPr>
          <p:cNvPr id="28" name="TextBox 27"/>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29" name="TextBox 28"/>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194</a:t>
            </a:r>
          </a:p>
        </p:txBody>
      </p:sp>
    </p:spTree>
  </p:cSld>
  <p:clrMapOvr>
    <a:masterClrMapping/>
  </p:clrMapOvr>
  <p:transition xmlns:p14="http://schemas.microsoft.com/office/powerpoint/2010/main" p14:dur="380">
    <p:fade/>
  </p:transition>
</p:sld>
</file>

<file path=ppt/slides/slide19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38912"/>
            <a:ext cx="10607040" cy="365760"/>
          </a:xfrm>
          <a:prstGeom prst="rect">
            <a:avLst/>
          </a:prstGeom>
          <a:noFill/>
        </p:spPr>
        <p:txBody>
          <a:bodyPr wrap="square" anchor="t">
            <a:spAutoFit/>
          </a:bodyPr>
          <a:lstStyle/>
          <a:p>
            <a:pPr algn="l">
              <a:spcAft>
                <a:spcPts val="400"/>
              </a:spcAft>
            </a:pPr>
            <a:r>
              <a:rPr sz="1400" b="1">
                <a:solidFill>
                  <a:srgbClr val="C0392B"/>
                </a:solidFill>
                <a:latin typeface="Arial"/>
              </a:rPr>
              <a:t>PROTECTING DATA</a:t>
            </a:r>
          </a:p>
        </p:txBody>
      </p:sp>
      <p:sp>
        <p:nvSpPr>
          <p:cNvPr id="5" name="TextBox 4"/>
          <p:cNvSpPr txBox="1"/>
          <p:nvPr/>
        </p:nvSpPr>
        <p:spPr>
          <a:xfrm>
            <a:off x="777240" y="804672"/>
            <a:ext cx="10927080" cy="731520"/>
          </a:xfrm>
          <a:prstGeom prst="rect">
            <a:avLst/>
          </a:prstGeom>
          <a:noFill/>
        </p:spPr>
        <p:txBody>
          <a:bodyPr wrap="square" anchor="t">
            <a:spAutoFit/>
          </a:bodyPr>
          <a:lstStyle/>
          <a:p>
            <a:pPr algn="l">
              <a:spcAft>
                <a:spcPts val="400"/>
              </a:spcAft>
            </a:pPr>
            <a:r>
              <a:rPr sz="2900" b="1">
                <a:solidFill>
                  <a:srgbClr val="161B26"/>
                </a:solidFill>
                <a:latin typeface="Arial"/>
              </a:rPr>
              <a:t>Encryption Everywhere</a:t>
            </a:r>
          </a:p>
        </p:txBody>
      </p:sp>
      <p:sp>
        <p:nvSpPr>
          <p:cNvPr id="6" name="Rectangle 5"/>
          <p:cNvSpPr/>
          <p:nvPr/>
        </p:nvSpPr>
        <p:spPr>
          <a:xfrm>
            <a:off x="777240" y="1572768"/>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783080"/>
            <a:ext cx="5180076" cy="207568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1783080"/>
            <a:ext cx="91440" cy="2075688"/>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1033272" y="2546604"/>
            <a:ext cx="548640" cy="548640"/>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033272" y="2546604"/>
            <a:ext cx="548640" cy="548640"/>
          </a:xfrm>
          <a:prstGeom prst="rect">
            <a:avLst/>
          </a:prstGeom>
          <a:noFill/>
        </p:spPr>
        <p:txBody>
          <a:bodyPr wrap="square" anchor="ctr">
            <a:spAutoFit/>
          </a:bodyPr>
          <a:lstStyle/>
          <a:p>
            <a:pPr algn="ctr">
              <a:spcAft>
                <a:spcPts val="400"/>
              </a:spcAft>
            </a:pPr>
            <a:r>
              <a:rPr sz="1800" b="1">
                <a:solidFill>
                  <a:srgbClr val="FFFFFF"/>
                </a:solidFill>
                <a:latin typeface="Arial"/>
              </a:rPr>
              <a:t>1</a:t>
            </a:r>
          </a:p>
        </p:txBody>
      </p:sp>
      <p:sp>
        <p:nvSpPr>
          <p:cNvPr id="11" name="TextBox 10"/>
          <p:cNvSpPr txBox="1"/>
          <p:nvPr/>
        </p:nvSpPr>
        <p:spPr>
          <a:xfrm>
            <a:off x="1764792" y="1892808"/>
            <a:ext cx="3973068" cy="1892808"/>
          </a:xfrm>
          <a:prstGeom prst="rect">
            <a:avLst/>
          </a:prstGeom>
          <a:noFill/>
        </p:spPr>
        <p:txBody>
          <a:bodyPr wrap="square" anchor="ctr">
            <a:spAutoFit/>
          </a:bodyPr>
          <a:lstStyle/>
          <a:p>
            <a:pPr algn="l">
              <a:spcAft>
                <a:spcPts val="300"/>
              </a:spcAft>
            </a:pPr>
            <a:r>
              <a:rPr sz="1600" b="1">
                <a:solidFill>
                  <a:srgbClr val="161B26"/>
                </a:solidFill>
                <a:latin typeface="Arial"/>
              </a:rPr>
              <a:t>At rest</a:t>
            </a:r>
          </a:p>
          <a:p>
            <a:pPr algn="l">
              <a:spcAft>
                <a:spcPts val="300"/>
              </a:spcAft>
            </a:pPr>
            <a:r>
              <a:rPr sz="1200" b="0">
                <a:solidFill>
                  <a:srgbClr val="5B6372"/>
                </a:solidFill>
                <a:latin typeface="Arial"/>
              </a:rPr>
              <a:t>KMS-managed keys for S3, EBS, RDS, DynamoDB.</a:t>
            </a:r>
          </a:p>
        </p:txBody>
      </p:sp>
      <p:sp>
        <p:nvSpPr>
          <p:cNvPr id="12" name="Rectangle 11"/>
          <p:cNvSpPr/>
          <p:nvPr/>
        </p:nvSpPr>
        <p:spPr>
          <a:xfrm>
            <a:off x="6231636" y="1783080"/>
            <a:ext cx="5180076" cy="207568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6231636" y="1783080"/>
            <a:ext cx="91440" cy="2075688"/>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Oval 13"/>
          <p:cNvSpPr/>
          <p:nvPr/>
        </p:nvSpPr>
        <p:spPr>
          <a:xfrm>
            <a:off x="6487668" y="2546604"/>
            <a:ext cx="548640" cy="54864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6487668" y="2546604"/>
            <a:ext cx="548640" cy="548640"/>
          </a:xfrm>
          <a:prstGeom prst="rect">
            <a:avLst/>
          </a:prstGeom>
          <a:noFill/>
        </p:spPr>
        <p:txBody>
          <a:bodyPr wrap="square" anchor="ctr">
            <a:spAutoFit/>
          </a:bodyPr>
          <a:lstStyle/>
          <a:p>
            <a:pPr algn="ctr">
              <a:spcAft>
                <a:spcPts val="400"/>
              </a:spcAft>
            </a:pPr>
            <a:r>
              <a:rPr sz="1800" b="1">
                <a:solidFill>
                  <a:srgbClr val="FFFFFF"/>
                </a:solidFill>
                <a:latin typeface="Arial"/>
              </a:rPr>
              <a:t>2</a:t>
            </a:r>
          </a:p>
        </p:txBody>
      </p:sp>
      <p:sp>
        <p:nvSpPr>
          <p:cNvPr id="16" name="TextBox 15"/>
          <p:cNvSpPr txBox="1"/>
          <p:nvPr/>
        </p:nvSpPr>
        <p:spPr>
          <a:xfrm>
            <a:off x="7219188" y="1892808"/>
            <a:ext cx="3973068" cy="1892808"/>
          </a:xfrm>
          <a:prstGeom prst="rect">
            <a:avLst/>
          </a:prstGeom>
          <a:noFill/>
        </p:spPr>
        <p:txBody>
          <a:bodyPr wrap="square" anchor="ctr">
            <a:spAutoFit/>
          </a:bodyPr>
          <a:lstStyle/>
          <a:p>
            <a:pPr algn="l">
              <a:spcAft>
                <a:spcPts val="300"/>
              </a:spcAft>
            </a:pPr>
            <a:r>
              <a:rPr sz="1600" b="1">
                <a:solidFill>
                  <a:srgbClr val="161B26"/>
                </a:solidFill>
                <a:latin typeface="Arial"/>
              </a:rPr>
              <a:t>In transit</a:t>
            </a:r>
          </a:p>
          <a:p>
            <a:pPr algn="l">
              <a:spcAft>
                <a:spcPts val="300"/>
              </a:spcAft>
            </a:pPr>
            <a:r>
              <a:rPr sz="1200" b="0">
                <a:solidFill>
                  <a:srgbClr val="5B6372"/>
                </a:solidFill>
                <a:latin typeface="Arial"/>
              </a:rPr>
              <a:t>TLS for all service and app traffic.</a:t>
            </a:r>
          </a:p>
        </p:txBody>
      </p:sp>
      <p:sp>
        <p:nvSpPr>
          <p:cNvPr id="17" name="Rectangle 16"/>
          <p:cNvSpPr/>
          <p:nvPr/>
        </p:nvSpPr>
        <p:spPr>
          <a:xfrm>
            <a:off x="777240" y="4078224"/>
            <a:ext cx="5180076" cy="207568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777240" y="4078224"/>
            <a:ext cx="91440" cy="2075688"/>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Oval 18"/>
          <p:cNvSpPr/>
          <p:nvPr/>
        </p:nvSpPr>
        <p:spPr>
          <a:xfrm>
            <a:off x="1033272" y="4841748"/>
            <a:ext cx="548640" cy="548640"/>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1033272" y="4841748"/>
            <a:ext cx="548640" cy="548640"/>
          </a:xfrm>
          <a:prstGeom prst="rect">
            <a:avLst/>
          </a:prstGeom>
          <a:noFill/>
        </p:spPr>
        <p:txBody>
          <a:bodyPr wrap="square" anchor="ctr">
            <a:spAutoFit/>
          </a:bodyPr>
          <a:lstStyle/>
          <a:p>
            <a:pPr algn="ctr">
              <a:spcAft>
                <a:spcPts val="400"/>
              </a:spcAft>
            </a:pPr>
            <a:r>
              <a:rPr sz="1800" b="1">
                <a:solidFill>
                  <a:srgbClr val="FFFFFF"/>
                </a:solidFill>
                <a:latin typeface="Arial"/>
              </a:rPr>
              <a:t>3</a:t>
            </a:r>
          </a:p>
        </p:txBody>
      </p:sp>
      <p:sp>
        <p:nvSpPr>
          <p:cNvPr id="21" name="TextBox 20"/>
          <p:cNvSpPr txBox="1"/>
          <p:nvPr/>
        </p:nvSpPr>
        <p:spPr>
          <a:xfrm>
            <a:off x="1764792" y="4187952"/>
            <a:ext cx="3973068" cy="1892808"/>
          </a:xfrm>
          <a:prstGeom prst="rect">
            <a:avLst/>
          </a:prstGeom>
          <a:noFill/>
        </p:spPr>
        <p:txBody>
          <a:bodyPr wrap="square" anchor="ctr">
            <a:spAutoFit/>
          </a:bodyPr>
          <a:lstStyle/>
          <a:p>
            <a:pPr algn="l">
              <a:spcAft>
                <a:spcPts val="300"/>
              </a:spcAft>
            </a:pPr>
            <a:r>
              <a:rPr sz="1600" b="1">
                <a:solidFill>
                  <a:srgbClr val="161B26"/>
                </a:solidFill>
                <a:latin typeface="Arial"/>
              </a:rPr>
              <a:t>Secrets</a:t>
            </a:r>
          </a:p>
          <a:p>
            <a:pPr algn="l">
              <a:spcAft>
                <a:spcPts val="300"/>
              </a:spcAft>
            </a:pPr>
            <a:r>
              <a:rPr sz="1200" b="0">
                <a:solidFill>
                  <a:srgbClr val="5B6372"/>
                </a:solidFill>
                <a:latin typeface="Arial"/>
              </a:rPr>
              <a:t>Secrets Manager with automatic rotation.</a:t>
            </a:r>
          </a:p>
        </p:txBody>
      </p:sp>
      <p:sp>
        <p:nvSpPr>
          <p:cNvPr id="22" name="Rectangle 21"/>
          <p:cNvSpPr/>
          <p:nvPr/>
        </p:nvSpPr>
        <p:spPr>
          <a:xfrm>
            <a:off x="6231636" y="4078224"/>
            <a:ext cx="5180076" cy="207568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ectangle 22"/>
          <p:cNvSpPr/>
          <p:nvPr/>
        </p:nvSpPr>
        <p:spPr>
          <a:xfrm>
            <a:off x="6231636" y="4078224"/>
            <a:ext cx="91440" cy="2075688"/>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Oval 23"/>
          <p:cNvSpPr/>
          <p:nvPr/>
        </p:nvSpPr>
        <p:spPr>
          <a:xfrm>
            <a:off x="6487668" y="4841748"/>
            <a:ext cx="548640" cy="548640"/>
          </a:xfrm>
          <a:prstGeom prst="ellipse">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6487668" y="4841748"/>
            <a:ext cx="548640" cy="548640"/>
          </a:xfrm>
          <a:prstGeom prst="rect">
            <a:avLst/>
          </a:prstGeom>
          <a:noFill/>
        </p:spPr>
        <p:txBody>
          <a:bodyPr wrap="square" anchor="ctr">
            <a:spAutoFit/>
          </a:bodyPr>
          <a:lstStyle/>
          <a:p>
            <a:pPr algn="ctr">
              <a:spcAft>
                <a:spcPts val="400"/>
              </a:spcAft>
            </a:pPr>
            <a:r>
              <a:rPr sz="1800" b="1">
                <a:solidFill>
                  <a:srgbClr val="FFFFFF"/>
                </a:solidFill>
                <a:latin typeface="Arial"/>
              </a:rPr>
              <a:t>4</a:t>
            </a:r>
          </a:p>
        </p:txBody>
      </p:sp>
      <p:sp>
        <p:nvSpPr>
          <p:cNvPr id="26" name="TextBox 25"/>
          <p:cNvSpPr txBox="1"/>
          <p:nvPr/>
        </p:nvSpPr>
        <p:spPr>
          <a:xfrm>
            <a:off x="7219188" y="4187952"/>
            <a:ext cx="3973068" cy="1892808"/>
          </a:xfrm>
          <a:prstGeom prst="rect">
            <a:avLst/>
          </a:prstGeom>
          <a:noFill/>
        </p:spPr>
        <p:txBody>
          <a:bodyPr wrap="square" anchor="ctr">
            <a:spAutoFit/>
          </a:bodyPr>
          <a:lstStyle/>
          <a:p>
            <a:pPr algn="l">
              <a:spcAft>
                <a:spcPts val="300"/>
              </a:spcAft>
            </a:pPr>
            <a:r>
              <a:rPr sz="1600" b="1">
                <a:solidFill>
                  <a:srgbClr val="161B26"/>
                </a:solidFill>
                <a:latin typeface="Arial"/>
              </a:rPr>
              <a:t>Key governance</a:t>
            </a:r>
          </a:p>
          <a:p>
            <a:pPr algn="l">
              <a:spcAft>
                <a:spcPts val="300"/>
              </a:spcAft>
            </a:pPr>
            <a:r>
              <a:rPr sz="1200" b="0">
                <a:solidFill>
                  <a:srgbClr val="5B6372"/>
                </a:solidFill>
                <a:latin typeface="Arial"/>
              </a:rPr>
              <a:t>Key policies, grants and rotation with AWS KMS.</a:t>
            </a:r>
          </a:p>
        </p:txBody>
      </p:sp>
      <p:sp>
        <p:nvSpPr>
          <p:cNvPr id="27" name="TextBox 26"/>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DevOps Engineering on AWS  ·  TGS-2023040474</a:t>
            </a:r>
          </a:p>
        </p:txBody>
      </p:sp>
      <p:sp>
        <p:nvSpPr>
          <p:cNvPr id="28" name="TextBox 27"/>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29" name="TextBox 28"/>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195</a:t>
            </a:r>
          </a:p>
        </p:txBody>
      </p:sp>
    </p:spTree>
  </p:cSld>
  <p:clrMapOvr>
    <a:masterClrMapping/>
  </p:clrMapOvr>
  <p:transition xmlns:p14="http://schemas.microsoft.com/office/powerpoint/2010/main" p14:dur="380">
    <p:fade/>
  </p:transition>
</p:sld>
</file>

<file path=ppt/slides/slide19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38912"/>
            <a:ext cx="10607040" cy="365760"/>
          </a:xfrm>
          <a:prstGeom prst="rect">
            <a:avLst/>
          </a:prstGeom>
          <a:noFill/>
        </p:spPr>
        <p:txBody>
          <a:bodyPr wrap="square" anchor="t">
            <a:spAutoFit/>
          </a:bodyPr>
          <a:lstStyle/>
          <a:p>
            <a:pPr algn="l">
              <a:spcAft>
                <a:spcPts val="400"/>
              </a:spcAft>
            </a:pPr>
            <a:r>
              <a:rPr sz="1400" b="1">
                <a:solidFill>
                  <a:srgbClr val="C0392B"/>
                </a:solidFill>
                <a:latin typeface="Arial"/>
              </a:rPr>
              <a:t>IN DEPTH</a:t>
            </a:r>
          </a:p>
        </p:txBody>
      </p:sp>
      <p:sp>
        <p:nvSpPr>
          <p:cNvPr id="5" name="TextBox 4"/>
          <p:cNvSpPr txBox="1"/>
          <p:nvPr/>
        </p:nvSpPr>
        <p:spPr>
          <a:xfrm>
            <a:off x="777240" y="896112"/>
            <a:ext cx="10927080" cy="731520"/>
          </a:xfrm>
          <a:prstGeom prst="rect">
            <a:avLst/>
          </a:prstGeom>
          <a:noFill/>
        </p:spPr>
        <p:txBody>
          <a:bodyPr wrap="square" anchor="t">
            <a:spAutoFit/>
          </a:bodyPr>
          <a:lstStyle/>
          <a:p>
            <a:pPr algn="l">
              <a:spcAft>
                <a:spcPts val="400"/>
              </a:spcAft>
            </a:pPr>
            <a:r>
              <a:rPr sz="2500" b="1">
                <a:solidFill>
                  <a:srgbClr val="161B26"/>
                </a:solidFill>
                <a:latin typeface="Arial"/>
              </a:rPr>
              <a:t>Identity and access — least privilege by design</a:t>
            </a:r>
          </a:p>
        </p:txBody>
      </p:sp>
      <p:sp>
        <p:nvSpPr>
          <p:cNvPr id="6" name="Rectangle 5"/>
          <p:cNvSpPr/>
          <p:nvPr/>
        </p:nvSpPr>
        <p:spPr>
          <a:xfrm>
            <a:off x="777240" y="1572768"/>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783080"/>
            <a:ext cx="5212080" cy="425196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1783080"/>
            <a:ext cx="5212080" cy="91440"/>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1005840" y="1938528"/>
            <a:ext cx="4754880" cy="365760"/>
          </a:xfrm>
          <a:prstGeom prst="rect">
            <a:avLst/>
          </a:prstGeom>
          <a:noFill/>
        </p:spPr>
        <p:txBody>
          <a:bodyPr wrap="square" anchor="t">
            <a:spAutoFit/>
          </a:bodyPr>
          <a:lstStyle/>
          <a:p>
            <a:pPr algn="l">
              <a:spcAft>
                <a:spcPts val="400"/>
              </a:spcAft>
            </a:pPr>
            <a:r>
              <a:rPr sz="1200" b="1">
                <a:solidFill>
                  <a:srgbClr val="C0392B"/>
                </a:solidFill>
                <a:latin typeface="Arial"/>
              </a:rPr>
              <a:t>IN DEPTH</a:t>
            </a:r>
          </a:p>
        </p:txBody>
      </p:sp>
      <p:sp>
        <p:nvSpPr>
          <p:cNvPr id="10" name="TextBox 9"/>
          <p:cNvSpPr txBox="1"/>
          <p:nvPr/>
        </p:nvSpPr>
        <p:spPr>
          <a:xfrm>
            <a:off x="1005840" y="2377440"/>
            <a:ext cx="4754880" cy="3566160"/>
          </a:xfrm>
          <a:prstGeom prst="rect">
            <a:avLst/>
          </a:prstGeom>
          <a:noFill/>
        </p:spPr>
        <p:txBody>
          <a:bodyPr wrap="square">
            <a:spAutoFit/>
          </a:bodyPr>
          <a:lstStyle/>
          <a:p>
            <a:pPr>
              <a:spcAft>
                <a:spcPts val="800"/>
              </a:spcAft>
            </a:pPr>
            <a:r>
              <a:rPr sz="1350" b="0">
                <a:solidFill>
                  <a:srgbClr val="161B26"/>
                </a:solidFill>
                <a:latin typeface="Arial"/>
              </a:rPr>
              <a:t>•  IAM policies grant explicit permissions; roles provide temporary, assumable credentials for apps and cross-account access.</a:t>
            </a:r>
          </a:p>
          <a:p>
            <a:pPr>
              <a:spcAft>
                <a:spcPts val="800"/>
              </a:spcAft>
            </a:pPr>
            <a:r>
              <a:rPr sz="1350" b="0">
                <a:solidFill>
                  <a:srgbClr val="161B26"/>
                </a:solidFill>
                <a:latin typeface="Arial"/>
              </a:rPr>
              <a:t>•  Permission boundaries cap the maximum permissions a delegated admin can grant.</a:t>
            </a:r>
          </a:p>
          <a:p>
            <a:pPr>
              <a:spcAft>
                <a:spcPts val="800"/>
              </a:spcAft>
            </a:pPr>
            <a:r>
              <a:rPr sz="1350" b="0">
                <a:solidFill>
                  <a:srgbClr val="161B26"/>
                </a:solidFill>
                <a:latin typeface="Arial"/>
              </a:rPr>
              <a:t>•  Prefer roles and short-lived credentials over long-lived access keys everywhere.</a:t>
            </a:r>
          </a:p>
        </p:txBody>
      </p:sp>
      <p:sp>
        <p:nvSpPr>
          <p:cNvPr id="11" name="Rectangle 10"/>
          <p:cNvSpPr/>
          <p:nvPr/>
        </p:nvSpPr>
        <p:spPr>
          <a:xfrm>
            <a:off x="6172200" y="1783080"/>
            <a:ext cx="5239512" cy="1325880"/>
          </a:xfrm>
          <a:prstGeom prst="rect">
            <a:avLst/>
          </a:prstGeom>
          <a:solidFill>
            <a:srgbClr val="FFFFFF"/>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ectangle 11"/>
          <p:cNvSpPr/>
          <p:nvPr/>
        </p:nvSpPr>
        <p:spPr>
          <a:xfrm>
            <a:off x="6172200" y="1783080"/>
            <a:ext cx="91440" cy="1325880"/>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6428232" y="1892808"/>
            <a:ext cx="4782312" cy="320040"/>
          </a:xfrm>
          <a:prstGeom prst="rect">
            <a:avLst/>
          </a:prstGeom>
          <a:noFill/>
        </p:spPr>
        <p:txBody>
          <a:bodyPr wrap="square" anchor="t">
            <a:spAutoFit/>
          </a:bodyPr>
          <a:lstStyle/>
          <a:p>
            <a:pPr algn="l">
              <a:spcAft>
                <a:spcPts val="400"/>
              </a:spcAft>
            </a:pPr>
            <a:r>
              <a:rPr sz="1150" b="1">
                <a:solidFill>
                  <a:srgbClr val="C0392B"/>
                </a:solidFill>
                <a:latin typeface="Arial"/>
              </a:rPr>
              <a:t>WHY IT MATTERS</a:t>
            </a:r>
          </a:p>
        </p:txBody>
      </p:sp>
      <p:sp>
        <p:nvSpPr>
          <p:cNvPr id="14" name="TextBox 13"/>
          <p:cNvSpPr txBox="1"/>
          <p:nvPr/>
        </p:nvSpPr>
        <p:spPr>
          <a:xfrm>
            <a:off x="6428232" y="2221992"/>
            <a:ext cx="4782312" cy="822960"/>
          </a:xfrm>
          <a:prstGeom prst="rect">
            <a:avLst/>
          </a:prstGeom>
          <a:noFill/>
        </p:spPr>
        <p:txBody>
          <a:bodyPr wrap="square" anchor="t">
            <a:spAutoFit/>
          </a:bodyPr>
          <a:lstStyle/>
          <a:p>
            <a:pPr algn="l">
              <a:spcAft>
                <a:spcPts val="400"/>
              </a:spcAft>
            </a:pPr>
            <a:r>
              <a:rPr sz="1250" b="0">
                <a:solidFill>
                  <a:srgbClr val="161B26"/>
                </a:solidFill>
                <a:latin typeface="Arial"/>
              </a:rPr>
              <a:t>Least privilege limits the blast radius of any compromised credential or mistaken policy to exactly what was needed.</a:t>
            </a:r>
          </a:p>
        </p:txBody>
      </p:sp>
      <p:sp>
        <p:nvSpPr>
          <p:cNvPr id="15" name="Rectangle 14"/>
          <p:cNvSpPr/>
          <p:nvPr/>
        </p:nvSpPr>
        <p:spPr>
          <a:xfrm>
            <a:off x="6172200" y="3246120"/>
            <a:ext cx="5239512" cy="1325880"/>
          </a:xfrm>
          <a:prstGeom prst="rect">
            <a:avLst/>
          </a:prstGeom>
          <a:solidFill>
            <a:srgbClr val="FFFFFF"/>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ectangle 15"/>
          <p:cNvSpPr/>
          <p:nvPr/>
        </p:nvSpPr>
        <p:spPr>
          <a:xfrm>
            <a:off x="6172200" y="3246120"/>
            <a:ext cx="91440" cy="1325880"/>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6428232" y="3355848"/>
            <a:ext cx="4782312" cy="320040"/>
          </a:xfrm>
          <a:prstGeom prst="rect">
            <a:avLst/>
          </a:prstGeom>
          <a:noFill/>
        </p:spPr>
        <p:txBody>
          <a:bodyPr wrap="square" anchor="t">
            <a:spAutoFit/>
          </a:bodyPr>
          <a:lstStyle/>
          <a:p>
            <a:pPr algn="l">
              <a:spcAft>
                <a:spcPts val="400"/>
              </a:spcAft>
            </a:pPr>
            <a:r>
              <a:rPr sz="1150" b="1">
                <a:solidFill>
                  <a:srgbClr val="C0392B"/>
                </a:solidFill>
                <a:latin typeface="Arial"/>
              </a:rPr>
              <a:t>FAILURE MODE</a:t>
            </a:r>
          </a:p>
        </p:txBody>
      </p:sp>
      <p:sp>
        <p:nvSpPr>
          <p:cNvPr id="18" name="TextBox 17"/>
          <p:cNvSpPr txBox="1"/>
          <p:nvPr/>
        </p:nvSpPr>
        <p:spPr>
          <a:xfrm>
            <a:off x="6428232" y="3685032"/>
            <a:ext cx="4782312" cy="822960"/>
          </a:xfrm>
          <a:prstGeom prst="rect">
            <a:avLst/>
          </a:prstGeom>
          <a:noFill/>
        </p:spPr>
        <p:txBody>
          <a:bodyPr wrap="square" anchor="t">
            <a:spAutoFit/>
          </a:bodyPr>
          <a:lstStyle/>
          <a:p>
            <a:pPr algn="l">
              <a:spcAft>
                <a:spcPts val="400"/>
              </a:spcAft>
            </a:pPr>
            <a:r>
              <a:rPr sz="1250" b="0">
                <a:solidFill>
                  <a:srgbClr val="161B26"/>
                </a:solidFill>
                <a:latin typeface="Arial"/>
              </a:rPr>
              <a:t>A wildcard 'Action: *' policy or shared long-lived keys turn one leaked secret into full account compromise.</a:t>
            </a:r>
          </a:p>
        </p:txBody>
      </p:sp>
      <p:sp>
        <p:nvSpPr>
          <p:cNvPr id="19" name="Rectangle 18"/>
          <p:cNvSpPr/>
          <p:nvPr/>
        </p:nvSpPr>
        <p:spPr>
          <a:xfrm>
            <a:off x="6172200" y="4709160"/>
            <a:ext cx="5239512" cy="1325880"/>
          </a:xfrm>
          <a:prstGeom prst="rect">
            <a:avLst/>
          </a:prstGeom>
          <a:solidFill>
            <a:srgbClr val="FFFFFF"/>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Rectangle 19"/>
          <p:cNvSpPr/>
          <p:nvPr/>
        </p:nvSpPr>
        <p:spPr>
          <a:xfrm>
            <a:off x="6172200" y="4709160"/>
            <a:ext cx="91440" cy="1325880"/>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6428232" y="4818888"/>
            <a:ext cx="4782312" cy="320040"/>
          </a:xfrm>
          <a:prstGeom prst="rect">
            <a:avLst/>
          </a:prstGeom>
          <a:noFill/>
        </p:spPr>
        <p:txBody>
          <a:bodyPr wrap="square" anchor="t">
            <a:spAutoFit/>
          </a:bodyPr>
          <a:lstStyle/>
          <a:p>
            <a:pPr algn="l">
              <a:spcAft>
                <a:spcPts val="400"/>
              </a:spcAft>
            </a:pPr>
            <a:r>
              <a:rPr sz="1150" b="1">
                <a:solidFill>
                  <a:srgbClr val="F59E0B"/>
                </a:solidFill>
                <a:latin typeface="Arial"/>
              </a:rPr>
              <a:t>TRADE-OFF / DECISION</a:t>
            </a:r>
          </a:p>
        </p:txBody>
      </p:sp>
      <p:sp>
        <p:nvSpPr>
          <p:cNvPr id="22" name="TextBox 21"/>
          <p:cNvSpPr txBox="1"/>
          <p:nvPr/>
        </p:nvSpPr>
        <p:spPr>
          <a:xfrm>
            <a:off x="6428232" y="5148072"/>
            <a:ext cx="4782312" cy="822960"/>
          </a:xfrm>
          <a:prstGeom prst="rect">
            <a:avLst/>
          </a:prstGeom>
          <a:noFill/>
        </p:spPr>
        <p:txBody>
          <a:bodyPr wrap="square" anchor="t">
            <a:spAutoFit/>
          </a:bodyPr>
          <a:lstStyle/>
          <a:p>
            <a:pPr algn="l">
              <a:spcAft>
                <a:spcPts val="400"/>
              </a:spcAft>
            </a:pPr>
            <a:r>
              <a:rPr sz="1250" b="0">
                <a:solidFill>
                  <a:srgbClr val="161B26"/>
                </a:solidFill>
                <a:latin typeface="Arial"/>
              </a:rPr>
              <a:t>Tight policies take more effort to author and maintain — Access Analyzer and policy generation reduce that cost.</a:t>
            </a:r>
          </a:p>
        </p:txBody>
      </p:sp>
      <p:sp>
        <p:nvSpPr>
          <p:cNvPr id="23" name="TextBox 22"/>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DevOps Engineering on AWS  ·  TGS-2023040474</a:t>
            </a:r>
          </a:p>
        </p:txBody>
      </p:sp>
      <p:sp>
        <p:nvSpPr>
          <p:cNvPr id="24" name="TextBox 23"/>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25" name="TextBox 24"/>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196</a:t>
            </a:r>
          </a:p>
        </p:txBody>
      </p:sp>
    </p:spTree>
  </p:cSld>
  <p:clrMapOvr>
    <a:masterClrMapping/>
  </p:clrMapOvr>
  <p:transition xmlns:p14="http://schemas.microsoft.com/office/powerpoint/2010/main" p14:dur="380">
    <p:fade/>
  </p:transition>
</p:sld>
</file>

<file path=ppt/slides/slide19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38912"/>
            <a:ext cx="10607040" cy="365760"/>
          </a:xfrm>
          <a:prstGeom prst="rect">
            <a:avLst/>
          </a:prstGeom>
          <a:noFill/>
        </p:spPr>
        <p:txBody>
          <a:bodyPr wrap="square" anchor="t">
            <a:spAutoFit/>
          </a:bodyPr>
          <a:lstStyle/>
          <a:p>
            <a:pPr algn="l">
              <a:spcAft>
                <a:spcPts val="400"/>
              </a:spcAft>
            </a:pPr>
            <a:r>
              <a:rPr sz="1400" b="1">
                <a:solidFill>
                  <a:srgbClr val="C0392B"/>
                </a:solidFill>
                <a:latin typeface="Arial"/>
              </a:rPr>
              <a:t>IN DEPTH</a:t>
            </a:r>
          </a:p>
        </p:txBody>
      </p:sp>
      <p:sp>
        <p:nvSpPr>
          <p:cNvPr id="5" name="TextBox 4"/>
          <p:cNvSpPr txBox="1"/>
          <p:nvPr/>
        </p:nvSpPr>
        <p:spPr>
          <a:xfrm>
            <a:off x="777240" y="896112"/>
            <a:ext cx="10927080" cy="731520"/>
          </a:xfrm>
          <a:prstGeom prst="rect">
            <a:avLst/>
          </a:prstGeom>
          <a:noFill/>
        </p:spPr>
        <p:txBody>
          <a:bodyPr wrap="square" anchor="t">
            <a:spAutoFit/>
          </a:bodyPr>
          <a:lstStyle/>
          <a:p>
            <a:pPr algn="l">
              <a:spcAft>
                <a:spcPts val="400"/>
              </a:spcAft>
            </a:pPr>
            <a:r>
              <a:rPr sz="2500" b="1">
                <a:solidFill>
                  <a:srgbClr val="161B26"/>
                </a:solidFill>
                <a:latin typeface="Arial"/>
              </a:rPr>
              <a:t>Identity at scale — Identity Center, federation, SCPs</a:t>
            </a:r>
          </a:p>
        </p:txBody>
      </p:sp>
      <p:sp>
        <p:nvSpPr>
          <p:cNvPr id="6" name="Rectangle 5"/>
          <p:cNvSpPr/>
          <p:nvPr/>
        </p:nvSpPr>
        <p:spPr>
          <a:xfrm>
            <a:off x="777240" y="1572768"/>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783080"/>
            <a:ext cx="5212080" cy="425196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1783080"/>
            <a:ext cx="5212080" cy="91440"/>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1005840" y="1938528"/>
            <a:ext cx="4754880" cy="365760"/>
          </a:xfrm>
          <a:prstGeom prst="rect">
            <a:avLst/>
          </a:prstGeom>
          <a:noFill/>
        </p:spPr>
        <p:txBody>
          <a:bodyPr wrap="square" anchor="t">
            <a:spAutoFit/>
          </a:bodyPr>
          <a:lstStyle/>
          <a:p>
            <a:pPr algn="l">
              <a:spcAft>
                <a:spcPts val="400"/>
              </a:spcAft>
            </a:pPr>
            <a:r>
              <a:rPr sz="1200" b="1">
                <a:solidFill>
                  <a:srgbClr val="C0392B"/>
                </a:solidFill>
                <a:latin typeface="Arial"/>
              </a:rPr>
              <a:t>IN DEPTH</a:t>
            </a:r>
          </a:p>
        </p:txBody>
      </p:sp>
      <p:sp>
        <p:nvSpPr>
          <p:cNvPr id="10" name="TextBox 9"/>
          <p:cNvSpPr txBox="1"/>
          <p:nvPr/>
        </p:nvSpPr>
        <p:spPr>
          <a:xfrm>
            <a:off x="1005840" y="2377440"/>
            <a:ext cx="4754880" cy="3566160"/>
          </a:xfrm>
          <a:prstGeom prst="rect">
            <a:avLst/>
          </a:prstGeom>
          <a:noFill/>
        </p:spPr>
        <p:txBody>
          <a:bodyPr wrap="square">
            <a:spAutoFit/>
          </a:bodyPr>
          <a:lstStyle/>
          <a:p>
            <a:pPr>
              <a:spcAft>
                <a:spcPts val="800"/>
              </a:spcAft>
            </a:pPr>
            <a:r>
              <a:rPr sz="1350" b="0">
                <a:solidFill>
                  <a:srgbClr val="161B26"/>
                </a:solidFill>
                <a:latin typeface="Arial"/>
              </a:rPr>
              <a:t>•  IAM Identity Center centralises workforce access and single sign-on across many accounts.</a:t>
            </a:r>
          </a:p>
          <a:p>
            <a:pPr>
              <a:spcAft>
                <a:spcPts val="800"/>
              </a:spcAft>
            </a:pPr>
            <a:r>
              <a:rPr sz="1350" b="0">
                <a:solidFill>
                  <a:srgbClr val="161B26"/>
                </a:solidFill>
                <a:latin typeface="Arial"/>
              </a:rPr>
              <a:t>•  Federation lets your corporate identity provider issue temporary AWS access — no per-user IAM users.</a:t>
            </a:r>
          </a:p>
          <a:p>
            <a:pPr>
              <a:spcAft>
                <a:spcPts val="800"/>
              </a:spcAft>
            </a:pPr>
            <a:r>
              <a:rPr sz="1350" b="0">
                <a:solidFill>
                  <a:srgbClr val="161B26"/>
                </a:solidFill>
                <a:latin typeface="Arial"/>
              </a:rPr>
              <a:t>•  Service Control Policies set org-wide guardrails no account can exceed.</a:t>
            </a:r>
          </a:p>
        </p:txBody>
      </p:sp>
      <p:sp>
        <p:nvSpPr>
          <p:cNvPr id="11" name="Rectangle 10"/>
          <p:cNvSpPr/>
          <p:nvPr/>
        </p:nvSpPr>
        <p:spPr>
          <a:xfrm>
            <a:off x="6172200" y="1783080"/>
            <a:ext cx="5239512" cy="1325880"/>
          </a:xfrm>
          <a:prstGeom prst="rect">
            <a:avLst/>
          </a:prstGeom>
          <a:solidFill>
            <a:srgbClr val="FFFFFF"/>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ectangle 11"/>
          <p:cNvSpPr/>
          <p:nvPr/>
        </p:nvSpPr>
        <p:spPr>
          <a:xfrm>
            <a:off x="6172200" y="1783080"/>
            <a:ext cx="91440" cy="1325880"/>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6428232" y="1892808"/>
            <a:ext cx="4782312" cy="320040"/>
          </a:xfrm>
          <a:prstGeom prst="rect">
            <a:avLst/>
          </a:prstGeom>
          <a:noFill/>
        </p:spPr>
        <p:txBody>
          <a:bodyPr wrap="square" anchor="t">
            <a:spAutoFit/>
          </a:bodyPr>
          <a:lstStyle/>
          <a:p>
            <a:pPr algn="l">
              <a:spcAft>
                <a:spcPts val="400"/>
              </a:spcAft>
            </a:pPr>
            <a:r>
              <a:rPr sz="1150" b="1">
                <a:solidFill>
                  <a:srgbClr val="C0392B"/>
                </a:solidFill>
                <a:latin typeface="Arial"/>
              </a:rPr>
              <a:t>WHY IT MATTERS</a:t>
            </a:r>
          </a:p>
        </p:txBody>
      </p:sp>
      <p:sp>
        <p:nvSpPr>
          <p:cNvPr id="14" name="TextBox 13"/>
          <p:cNvSpPr txBox="1"/>
          <p:nvPr/>
        </p:nvSpPr>
        <p:spPr>
          <a:xfrm>
            <a:off x="6428232" y="2221992"/>
            <a:ext cx="4782312" cy="822960"/>
          </a:xfrm>
          <a:prstGeom prst="rect">
            <a:avLst/>
          </a:prstGeom>
          <a:noFill/>
        </p:spPr>
        <p:txBody>
          <a:bodyPr wrap="square" anchor="t">
            <a:spAutoFit/>
          </a:bodyPr>
          <a:lstStyle/>
          <a:p>
            <a:pPr algn="l">
              <a:spcAft>
                <a:spcPts val="400"/>
              </a:spcAft>
            </a:pPr>
            <a:r>
              <a:rPr sz="1250" b="0">
                <a:solidFill>
                  <a:srgbClr val="161B26"/>
                </a:solidFill>
                <a:latin typeface="Arial"/>
              </a:rPr>
              <a:t>Central identity plus org guardrails make access consistent, auditable and revocable across a whole organisation.</a:t>
            </a:r>
          </a:p>
        </p:txBody>
      </p:sp>
      <p:sp>
        <p:nvSpPr>
          <p:cNvPr id="15" name="Rectangle 14"/>
          <p:cNvSpPr/>
          <p:nvPr/>
        </p:nvSpPr>
        <p:spPr>
          <a:xfrm>
            <a:off x="6172200" y="3246120"/>
            <a:ext cx="5239512" cy="1325880"/>
          </a:xfrm>
          <a:prstGeom prst="rect">
            <a:avLst/>
          </a:prstGeom>
          <a:solidFill>
            <a:srgbClr val="FFFFFF"/>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ectangle 15"/>
          <p:cNvSpPr/>
          <p:nvPr/>
        </p:nvSpPr>
        <p:spPr>
          <a:xfrm>
            <a:off x="6172200" y="3246120"/>
            <a:ext cx="91440" cy="1325880"/>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6428232" y="3355848"/>
            <a:ext cx="4782312" cy="320040"/>
          </a:xfrm>
          <a:prstGeom prst="rect">
            <a:avLst/>
          </a:prstGeom>
          <a:noFill/>
        </p:spPr>
        <p:txBody>
          <a:bodyPr wrap="square" anchor="t">
            <a:spAutoFit/>
          </a:bodyPr>
          <a:lstStyle/>
          <a:p>
            <a:pPr algn="l">
              <a:spcAft>
                <a:spcPts val="400"/>
              </a:spcAft>
            </a:pPr>
            <a:r>
              <a:rPr sz="1150" b="1">
                <a:solidFill>
                  <a:srgbClr val="C0392B"/>
                </a:solidFill>
                <a:latin typeface="Arial"/>
              </a:rPr>
              <a:t>FAILURE MODE</a:t>
            </a:r>
          </a:p>
        </p:txBody>
      </p:sp>
      <p:sp>
        <p:nvSpPr>
          <p:cNvPr id="18" name="TextBox 17"/>
          <p:cNvSpPr txBox="1"/>
          <p:nvPr/>
        </p:nvSpPr>
        <p:spPr>
          <a:xfrm>
            <a:off x="6428232" y="3685032"/>
            <a:ext cx="4782312" cy="822960"/>
          </a:xfrm>
          <a:prstGeom prst="rect">
            <a:avLst/>
          </a:prstGeom>
          <a:noFill/>
        </p:spPr>
        <p:txBody>
          <a:bodyPr wrap="square" anchor="t">
            <a:spAutoFit/>
          </a:bodyPr>
          <a:lstStyle/>
          <a:p>
            <a:pPr algn="l">
              <a:spcAft>
                <a:spcPts val="400"/>
              </a:spcAft>
            </a:pPr>
            <a:r>
              <a:rPr sz="1250" b="0">
                <a:solidFill>
                  <a:srgbClr val="161B26"/>
                </a:solidFill>
                <a:latin typeface="Arial"/>
              </a:rPr>
              <a:t>Per-account IAM users multiply credentials to rotate and audit and inevitably drift out of least privilege.</a:t>
            </a:r>
          </a:p>
        </p:txBody>
      </p:sp>
      <p:sp>
        <p:nvSpPr>
          <p:cNvPr id="19" name="Rectangle 18"/>
          <p:cNvSpPr/>
          <p:nvPr/>
        </p:nvSpPr>
        <p:spPr>
          <a:xfrm>
            <a:off x="6172200" y="4709160"/>
            <a:ext cx="5239512" cy="1325880"/>
          </a:xfrm>
          <a:prstGeom prst="rect">
            <a:avLst/>
          </a:prstGeom>
          <a:solidFill>
            <a:srgbClr val="FFFFFF"/>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Rectangle 19"/>
          <p:cNvSpPr/>
          <p:nvPr/>
        </p:nvSpPr>
        <p:spPr>
          <a:xfrm>
            <a:off x="6172200" y="4709160"/>
            <a:ext cx="91440" cy="1325880"/>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6428232" y="4818888"/>
            <a:ext cx="4782312" cy="320040"/>
          </a:xfrm>
          <a:prstGeom prst="rect">
            <a:avLst/>
          </a:prstGeom>
          <a:noFill/>
        </p:spPr>
        <p:txBody>
          <a:bodyPr wrap="square" anchor="t">
            <a:spAutoFit/>
          </a:bodyPr>
          <a:lstStyle/>
          <a:p>
            <a:pPr algn="l">
              <a:spcAft>
                <a:spcPts val="400"/>
              </a:spcAft>
            </a:pPr>
            <a:r>
              <a:rPr sz="1150" b="1">
                <a:solidFill>
                  <a:srgbClr val="F59E0B"/>
                </a:solidFill>
                <a:latin typeface="Arial"/>
              </a:rPr>
              <a:t>TRADE-OFF / DECISION</a:t>
            </a:r>
          </a:p>
        </p:txBody>
      </p:sp>
      <p:sp>
        <p:nvSpPr>
          <p:cNvPr id="22" name="TextBox 21"/>
          <p:cNvSpPr txBox="1"/>
          <p:nvPr/>
        </p:nvSpPr>
        <p:spPr>
          <a:xfrm>
            <a:off x="6428232" y="5148072"/>
            <a:ext cx="4782312" cy="822960"/>
          </a:xfrm>
          <a:prstGeom prst="rect">
            <a:avLst/>
          </a:prstGeom>
          <a:noFill/>
        </p:spPr>
        <p:txBody>
          <a:bodyPr wrap="square" anchor="t">
            <a:spAutoFit/>
          </a:bodyPr>
          <a:lstStyle/>
          <a:p>
            <a:pPr algn="l">
              <a:spcAft>
                <a:spcPts val="400"/>
              </a:spcAft>
            </a:pPr>
            <a:r>
              <a:rPr sz="1250" b="0">
                <a:solidFill>
                  <a:srgbClr val="161B26"/>
                </a:solidFill>
                <a:latin typeface="Arial"/>
              </a:rPr>
              <a:t>Central control needs governance so it doesn't become a bottleneck for teams needing new access.</a:t>
            </a:r>
          </a:p>
        </p:txBody>
      </p:sp>
      <p:sp>
        <p:nvSpPr>
          <p:cNvPr id="23" name="TextBox 22"/>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DevOps Engineering on AWS  ·  TGS-2023040474</a:t>
            </a:r>
          </a:p>
        </p:txBody>
      </p:sp>
      <p:sp>
        <p:nvSpPr>
          <p:cNvPr id="24" name="TextBox 23"/>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25" name="TextBox 24"/>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197</a:t>
            </a:r>
          </a:p>
        </p:txBody>
      </p:sp>
    </p:spTree>
  </p:cSld>
  <p:clrMapOvr>
    <a:masterClrMapping/>
  </p:clrMapOvr>
  <p:transition xmlns:p14="http://schemas.microsoft.com/office/powerpoint/2010/main" p14:dur="380">
    <p:fade/>
  </p:transition>
</p:sld>
</file>

<file path=ppt/slides/slide19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38912"/>
            <a:ext cx="10607040" cy="365760"/>
          </a:xfrm>
          <a:prstGeom prst="rect">
            <a:avLst/>
          </a:prstGeom>
          <a:noFill/>
        </p:spPr>
        <p:txBody>
          <a:bodyPr wrap="square" anchor="t">
            <a:spAutoFit/>
          </a:bodyPr>
          <a:lstStyle/>
          <a:p>
            <a:pPr algn="l">
              <a:spcAft>
                <a:spcPts val="400"/>
              </a:spcAft>
            </a:pPr>
            <a:r>
              <a:rPr sz="1400" b="1">
                <a:solidFill>
                  <a:srgbClr val="C0392B"/>
                </a:solidFill>
                <a:latin typeface="Arial"/>
              </a:rPr>
              <a:t>IN DEPTH</a:t>
            </a:r>
          </a:p>
        </p:txBody>
      </p:sp>
      <p:sp>
        <p:nvSpPr>
          <p:cNvPr id="5" name="TextBox 4"/>
          <p:cNvSpPr txBox="1"/>
          <p:nvPr/>
        </p:nvSpPr>
        <p:spPr>
          <a:xfrm>
            <a:off x="777240" y="804672"/>
            <a:ext cx="10927080" cy="731520"/>
          </a:xfrm>
          <a:prstGeom prst="rect">
            <a:avLst/>
          </a:prstGeom>
          <a:noFill/>
        </p:spPr>
        <p:txBody>
          <a:bodyPr wrap="square" anchor="t">
            <a:spAutoFit/>
          </a:bodyPr>
          <a:lstStyle/>
          <a:p>
            <a:pPr algn="l">
              <a:spcAft>
                <a:spcPts val="400"/>
              </a:spcAft>
            </a:pPr>
            <a:r>
              <a:rPr sz="2900" b="1">
                <a:solidFill>
                  <a:srgbClr val="161B26"/>
                </a:solidFill>
                <a:latin typeface="Arial"/>
              </a:rPr>
              <a:t>Data protection — encryption and secrets</a:t>
            </a:r>
          </a:p>
        </p:txBody>
      </p:sp>
      <p:sp>
        <p:nvSpPr>
          <p:cNvPr id="6" name="Rectangle 5"/>
          <p:cNvSpPr/>
          <p:nvPr/>
        </p:nvSpPr>
        <p:spPr>
          <a:xfrm>
            <a:off x="777240" y="1572768"/>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783080"/>
            <a:ext cx="5212080" cy="425196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1783080"/>
            <a:ext cx="5212080" cy="91440"/>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1005840" y="1938528"/>
            <a:ext cx="4754880" cy="365760"/>
          </a:xfrm>
          <a:prstGeom prst="rect">
            <a:avLst/>
          </a:prstGeom>
          <a:noFill/>
        </p:spPr>
        <p:txBody>
          <a:bodyPr wrap="square" anchor="t">
            <a:spAutoFit/>
          </a:bodyPr>
          <a:lstStyle/>
          <a:p>
            <a:pPr algn="l">
              <a:spcAft>
                <a:spcPts val="400"/>
              </a:spcAft>
            </a:pPr>
            <a:r>
              <a:rPr sz="1200" b="1">
                <a:solidFill>
                  <a:srgbClr val="C0392B"/>
                </a:solidFill>
                <a:latin typeface="Arial"/>
              </a:rPr>
              <a:t>IN DEPTH</a:t>
            </a:r>
          </a:p>
        </p:txBody>
      </p:sp>
      <p:sp>
        <p:nvSpPr>
          <p:cNvPr id="10" name="TextBox 9"/>
          <p:cNvSpPr txBox="1"/>
          <p:nvPr/>
        </p:nvSpPr>
        <p:spPr>
          <a:xfrm>
            <a:off x="1005840" y="2377440"/>
            <a:ext cx="4754880" cy="3566160"/>
          </a:xfrm>
          <a:prstGeom prst="rect">
            <a:avLst/>
          </a:prstGeom>
          <a:noFill/>
        </p:spPr>
        <p:txBody>
          <a:bodyPr wrap="square">
            <a:spAutoFit/>
          </a:bodyPr>
          <a:lstStyle/>
          <a:p>
            <a:pPr>
              <a:spcAft>
                <a:spcPts val="800"/>
              </a:spcAft>
            </a:pPr>
            <a:r>
              <a:rPr sz="1350" b="0">
                <a:solidFill>
                  <a:srgbClr val="161B26"/>
                </a:solidFill>
                <a:latin typeface="Arial"/>
              </a:rPr>
              <a:t>•  KMS manages encryption keys and key policies for data at rest across S3, EBS, RDS and DynamoDB; TLS protects data in transit.</a:t>
            </a:r>
          </a:p>
          <a:p>
            <a:pPr>
              <a:spcAft>
                <a:spcPts val="800"/>
              </a:spcAft>
            </a:pPr>
            <a:r>
              <a:rPr sz="1350" b="0">
                <a:solidFill>
                  <a:srgbClr val="161B26"/>
                </a:solidFill>
                <a:latin typeface="Arial"/>
              </a:rPr>
              <a:t>•  Secrets Manager stores and rotates credentials; S3 Block Public Access prevents accidental exposure.</a:t>
            </a:r>
          </a:p>
          <a:p>
            <a:pPr>
              <a:spcAft>
                <a:spcPts val="800"/>
              </a:spcAft>
            </a:pPr>
            <a:r>
              <a:rPr sz="1350" b="0">
                <a:solidFill>
                  <a:srgbClr val="161B26"/>
                </a:solidFill>
                <a:latin typeface="Arial"/>
              </a:rPr>
              <a:t>•  Envelope encryption and key policies control exactly who can use which key.</a:t>
            </a:r>
          </a:p>
        </p:txBody>
      </p:sp>
      <p:sp>
        <p:nvSpPr>
          <p:cNvPr id="11" name="Rectangle 10"/>
          <p:cNvSpPr/>
          <p:nvPr/>
        </p:nvSpPr>
        <p:spPr>
          <a:xfrm>
            <a:off x="6172200" y="1783080"/>
            <a:ext cx="5239512" cy="1325880"/>
          </a:xfrm>
          <a:prstGeom prst="rect">
            <a:avLst/>
          </a:prstGeom>
          <a:solidFill>
            <a:srgbClr val="FFFFFF"/>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ectangle 11"/>
          <p:cNvSpPr/>
          <p:nvPr/>
        </p:nvSpPr>
        <p:spPr>
          <a:xfrm>
            <a:off x="6172200" y="1783080"/>
            <a:ext cx="91440" cy="1325880"/>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6428232" y="1892808"/>
            <a:ext cx="4782312" cy="320040"/>
          </a:xfrm>
          <a:prstGeom prst="rect">
            <a:avLst/>
          </a:prstGeom>
          <a:noFill/>
        </p:spPr>
        <p:txBody>
          <a:bodyPr wrap="square" anchor="t">
            <a:spAutoFit/>
          </a:bodyPr>
          <a:lstStyle/>
          <a:p>
            <a:pPr algn="l">
              <a:spcAft>
                <a:spcPts val="400"/>
              </a:spcAft>
            </a:pPr>
            <a:r>
              <a:rPr sz="1150" b="1">
                <a:solidFill>
                  <a:srgbClr val="C0392B"/>
                </a:solidFill>
                <a:latin typeface="Arial"/>
              </a:rPr>
              <a:t>WHY IT MATTERS</a:t>
            </a:r>
          </a:p>
        </p:txBody>
      </p:sp>
      <p:sp>
        <p:nvSpPr>
          <p:cNvPr id="14" name="TextBox 13"/>
          <p:cNvSpPr txBox="1"/>
          <p:nvPr/>
        </p:nvSpPr>
        <p:spPr>
          <a:xfrm>
            <a:off x="6428232" y="2221992"/>
            <a:ext cx="4782312" cy="822960"/>
          </a:xfrm>
          <a:prstGeom prst="rect">
            <a:avLst/>
          </a:prstGeom>
          <a:noFill/>
        </p:spPr>
        <p:txBody>
          <a:bodyPr wrap="square" anchor="t">
            <a:spAutoFit/>
          </a:bodyPr>
          <a:lstStyle/>
          <a:p>
            <a:pPr algn="l">
              <a:spcAft>
                <a:spcPts val="400"/>
              </a:spcAft>
            </a:pPr>
            <a:r>
              <a:rPr sz="1250" b="0">
                <a:solidFill>
                  <a:srgbClr val="161B26"/>
                </a:solidFill>
                <a:latin typeface="Arial"/>
              </a:rPr>
              <a:t>Encrypting everywhere and centralising key and secret governance protect data even if another control fails.</a:t>
            </a:r>
          </a:p>
        </p:txBody>
      </p:sp>
      <p:sp>
        <p:nvSpPr>
          <p:cNvPr id="15" name="Rectangle 14"/>
          <p:cNvSpPr/>
          <p:nvPr/>
        </p:nvSpPr>
        <p:spPr>
          <a:xfrm>
            <a:off x="6172200" y="3246120"/>
            <a:ext cx="5239512" cy="1325880"/>
          </a:xfrm>
          <a:prstGeom prst="rect">
            <a:avLst/>
          </a:prstGeom>
          <a:solidFill>
            <a:srgbClr val="FFFFFF"/>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ectangle 15"/>
          <p:cNvSpPr/>
          <p:nvPr/>
        </p:nvSpPr>
        <p:spPr>
          <a:xfrm>
            <a:off x="6172200" y="3246120"/>
            <a:ext cx="91440" cy="1325880"/>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6428232" y="3355848"/>
            <a:ext cx="4782312" cy="320040"/>
          </a:xfrm>
          <a:prstGeom prst="rect">
            <a:avLst/>
          </a:prstGeom>
          <a:noFill/>
        </p:spPr>
        <p:txBody>
          <a:bodyPr wrap="square" anchor="t">
            <a:spAutoFit/>
          </a:bodyPr>
          <a:lstStyle/>
          <a:p>
            <a:pPr algn="l">
              <a:spcAft>
                <a:spcPts val="400"/>
              </a:spcAft>
            </a:pPr>
            <a:r>
              <a:rPr sz="1150" b="1">
                <a:solidFill>
                  <a:srgbClr val="C0392B"/>
                </a:solidFill>
                <a:latin typeface="Arial"/>
              </a:rPr>
              <a:t>FAILURE MODE</a:t>
            </a:r>
          </a:p>
        </p:txBody>
      </p:sp>
      <p:sp>
        <p:nvSpPr>
          <p:cNvPr id="18" name="TextBox 17"/>
          <p:cNvSpPr txBox="1"/>
          <p:nvPr/>
        </p:nvSpPr>
        <p:spPr>
          <a:xfrm>
            <a:off x="6428232" y="3685032"/>
            <a:ext cx="4782312" cy="822960"/>
          </a:xfrm>
          <a:prstGeom prst="rect">
            <a:avLst/>
          </a:prstGeom>
          <a:noFill/>
        </p:spPr>
        <p:txBody>
          <a:bodyPr wrap="square" anchor="t">
            <a:spAutoFit/>
          </a:bodyPr>
          <a:lstStyle/>
          <a:p>
            <a:pPr algn="l">
              <a:spcAft>
                <a:spcPts val="400"/>
              </a:spcAft>
            </a:pPr>
            <a:r>
              <a:rPr sz="1250" b="0">
                <a:solidFill>
                  <a:srgbClr val="161B26"/>
                </a:solidFill>
                <a:latin typeface="Arial"/>
              </a:rPr>
              <a:t>An unencrypted volume or a public bucket exposes data regardless of how strong the network perimeter is.</a:t>
            </a:r>
          </a:p>
        </p:txBody>
      </p:sp>
      <p:sp>
        <p:nvSpPr>
          <p:cNvPr id="19" name="Rectangle 18"/>
          <p:cNvSpPr/>
          <p:nvPr/>
        </p:nvSpPr>
        <p:spPr>
          <a:xfrm>
            <a:off x="6172200" y="4709160"/>
            <a:ext cx="5239512" cy="1325880"/>
          </a:xfrm>
          <a:prstGeom prst="rect">
            <a:avLst/>
          </a:prstGeom>
          <a:solidFill>
            <a:srgbClr val="FFFFFF"/>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Rectangle 19"/>
          <p:cNvSpPr/>
          <p:nvPr/>
        </p:nvSpPr>
        <p:spPr>
          <a:xfrm>
            <a:off x="6172200" y="4709160"/>
            <a:ext cx="91440" cy="1325880"/>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6428232" y="4818888"/>
            <a:ext cx="4782312" cy="320040"/>
          </a:xfrm>
          <a:prstGeom prst="rect">
            <a:avLst/>
          </a:prstGeom>
          <a:noFill/>
        </p:spPr>
        <p:txBody>
          <a:bodyPr wrap="square" anchor="t">
            <a:spAutoFit/>
          </a:bodyPr>
          <a:lstStyle/>
          <a:p>
            <a:pPr algn="l">
              <a:spcAft>
                <a:spcPts val="400"/>
              </a:spcAft>
            </a:pPr>
            <a:r>
              <a:rPr sz="1150" b="1">
                <a:solidFill>
                  <a:srgbClr val="F59E0B"/>
                </a:solidFill>
                <a:latin typeface="Arial"/>
              </a:rPr>
              <a:t>TRADE-OFF / DECISION</a:t>
            </a:r>
          </a:p>
        </p:txBody>
      </p:sp>
      <p:sp>
        <p:nvSpPr>
          <p:cNvPr id="22" name="TextBox 21"/>
          <p:cNvSpPr txBox="1"/>
          <p:nvPr/>
        </p:nvSpPr>
        <p:spPr>
          <a:xfrm>
            <a:off x="6428232" y="5148072"/>
            <a:ext cx="4782312" cy="822960"/>
          </a:xfrm>
          <a:prstGeom prst="rect">
            <a:avLst/>
          </a:prstGeom>
          <a:noFill/>
        </p:spPr>
        <p:txBody>
          <a:bodyPr wrap="square" anchor="t">
            <a:spAutoFit/>
          </a:bodyPr>
          <a:lstStyle/>
          <a:p>
            <a:pPr algn="l">
              <a:spcAft>
                <a:spcPts val="400"/>
              </a:spcAft>
            </a:pPr>
            <a:r>
              <a:rPr sz="1250" b="0">
                <a:solidFill>
                  <a:srgbClr val="161B26"/>
                </a:solidFill>
                <a:latin typeface="Arial"/>
              </a:rPr>
              <a:t>Customer-managed keys give control and auditability but add key-management responsibility and cost.</a:t>
            </a:r>
          </a:p>
        </p:txBody>
      </p:sp>
      <p:sp>
        <p:nvSpPr>
          <p:cNvPr id="23" name="TextBox 22"/>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DevOps Engineering on AWS  ·  TGS-2023040474</a:t>
            </a:r>
          </a:p>
        </p:txBody>
      </p:sp>
      <p:sp>
        <p:nvSpPr>
          <p:cNvPr id="24" name="TextBox 23"/>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25" name="TextBox 24"/>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198</a:t>
            </a:r>
          </a:p>
        </p:txBody>
      </p:sp>
    </p:spTree>
  </p:cSld>
  <p:clrMapOvr>
    <a:masterClrMapping/>
  </p:clrMapOvr>
  <p:transition xmlns:p14="http://schemas.microsoft.com/office/powerpoint/2010/main" p14:dur="380">
    <p:fade/>
  </p:transition>
</p:sld>
</file>

<file path=ppt/slides/slide20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38912"/>
            <a:ext cx="10607040" cy="365760"/>
          </a:xfrm>
          <a:prstGeom prst="rect">
            <a:avLst/>
          </a:prstGeom>
          <a:noFill/>
        </p:spPr>
        <p:txBody>
          <a:bodyPr wrap="square" anchor="t">
            <a:spAutoFit/>
          </a:bodyPr>
          <a:lstStyle/>
          <a:p>
            <a:pPr algn="l">
              <a:spcAft>
                <a:spcPts val="400"/>
              </a:spcAft>
            </a:pPr>
            <a:r>
              <a:rPr sz="1400" b="1">
                <a:solidFill>
                  <a:srgbClr val="C0392B"/>
                </a:solidFill>
                <a:latin typeface="Arial"/>
              </a:rPr>
              <a:t>IN DEPTH</a:t>
            </a:r>
          </a:p>
        </p:txBody>
      </p:sp>
      <p:sp>
        <p:nvSpPr>
          <p:cNvPr id="5" name="TextBox 4"/>
          <p:cNvSpPr txBox="1"/>
          <p:nvPr/>
        </p:nvSpPr>
        <p:spPr>
          <a:xfrm>
            <a:off x="777240" y="804672"/>
            <a:ext cx="10927080" cy="731520"/>
          </a:xfrm>
          <a:prstGeom prst="rect">
            <a:avLst/>
          </a:prstGeom>
          <a:noFill/>
        </p:spPr>
        <p:txBody>
          <a:bodyPr wrap="square" anchor="t">
            <a:spAutoFit/>
          </a:bodyPr>
          <a:lstStyle/>
          <a:p>
            <a:pPr algn="l">
              <a:spcAft>
                <a:spcPts val="400"/>
              </a:spcAft>
            </a:pPr>
            <a:r>
              <a:rPr sz="2900" b="1">
                <a:solidFill>
                  <a:srgbClr val="161B26"/>
                </a:solidFill>
                <a:latin typeface="Arial"/>
              </a:rPr>
              <a:t>Detective controls — the audit trail</a:t>
            </a:r>
          </a:p>
        </p:txBody>
      </p:sp>
      <p:sp>
        <p:nvSpPr>
          <p:cNvPr id="6" name="Rectangle 5"/>
          <p:cNvSpPr/>
          <p:nvPr/>
        </p:nvSpPr>
        <p:spPr>
          <a:xfrm>
            <a:off x="777240" y="1572768"/>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783080"/>
            <a:ext cx="5212080" cy="425196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1783080"/>
            <a:ext cx="5212080" cy="91440"/>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1005840" y="1938528"/>
            <a:ext cx="4754880" cy="365760"/>
          </a:xfrm>
          <a:prstGeom prst="rect">
            <a:avLst/>
          </a:prstGeom>
          <a:noFill/>
        </p:spPr>
        <p:txBody>
          <a:bodyPr wrap="square" anchor="t">
            <a:spAutoFit/>
          </a:bodyPr>
          <a:lstStyle/>
          <a:p>
            <a:pPr algn="l">
              <a:spcAft>
                <a:spcPts val="400"/>
              </a:spcAft>
            </a:pPr>
            <a:r>
              <a:rPr sz="1200" b="1">
                <a:solidFill>
                  <a:srgbClr val="C0392B"/>
                </a:solidFill>
                <a:latin typeface="Arial"/>
              </a:rPr>
              <a:t>IN DEPTH</a:t>
            </a:r>
          </a:p>
        </p:txBody>
      </p:sp>
      <p:sp>
        <p:nvSpPr>
          <p:cNvPr id="10" name="TextBox 9"/>
          <p:cNvSpPr txBox="1"/>
          <p:nvPr/>
        </p:nvSpPr>
        <p:spPr>
          <a:xfrm>
            <a:off x="1005840" y="2377440"/>
            <a:ext cx="4754880" cy="3566160"/>
          </a:xfrm>
          <a:prstGeom prst="rect">
            <a:avLst/>
          </a:prstGeom>
          <a:noFill/>
        </p:spPr>
        <p:txBody>
          <a:bodyPr wrap="square">
            <a:spAutoFit/>
          </a:bodyPr>
          <a:lstStyle/>
          <a:p>
            <a:pPr>
              <a:spcAft>
                <a:spcPts val="800"/>
              </a:spcAft>
            </a:pPr>
            <a:r>
              <a:rPr sz="1350" b="0">
                <a:solidFill>
                  <a:srgbClr val="161B26"/>
                </a:solidFill>
                <a:latin typeface="Arial"/>
              </a:rPr>
              <a:t>•  CloudTrail records every API call for audit and forensics; AWS Config tracks configuration state over time.</a:t>
            </a:r>
          </a:p>
          <a:p>
            <a:pPr>
              <a:spcAft>
                <a:spcPts val="800"/>
              </a:spcAft>
            </a:pPr>
            <a:r>
              <a:rPr sz="1350" b="0">
                <a:solidFill>
                  <a:srgbClr val="161B26"/>
                </a:solidFill>
                <a:latin typeface="Arial"/>
              </a:rPr>
              <a:t>•  GuardDuty applies ML threat detection to logs and network flows; Security Hub aggregates and scores findings.</a:t>
            </a:r>
          </a:p>
          <a:p>
            <a:pPr>
              <a:spcAft>
                <a:spcPts val="800"/>
              </a:spcAft>
            </a:pPr>
            <a:r>
              <a:rPr sz="1350" b="0">
                <a:solidFill>
                  <a:srgbClr val="161B26"/>
                </a:solidFill>
                <a:latin typeface="Arial"/>
              </a:rPr>
              <a:t>•  Together they answer 'what happened, when, by whom, and are we compliant?'</a:t>
            </a:r>
          </a:p>
        </p:txBody>
      </p:sp>
      <p:sp>
        <p:nvSpPr>
          <p:cNvPr id="11" name="Rectangle 10"/>
          <p:cNvSpPr/>
          <p:nvPr/>
        </p:nvSpPr>
        <p:spPr>
          <a:xfrm>
            <a:off x="6172200" y="1783080"/>
            <a:ext cx="5239512" cy="1325880"/>
          </a:xfrm>
          <a:prstGeom prst="rect">
            <a:avLst/>
          </a:prstGeom>
          <a:solidFill>
            <a:srgbClr val="FFFFFF"/>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ectangle 11"/>
          <p:cNvSpPr/>
          <p:nvPr/>
        </p:nvSpPr>
        <p:spPr>
          <a:xfrm>
            <a:off x="6172200" y="1783080"/>
            <a:ext cx="91440" cy="1325880"/>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6428232" y="1892808"/>
            <a:ext cx="4782312" cy="320040"/>
          </a:xfrm>
          <a:prstGeom prst="rect">
            <a:avLst/>
          </a:prstGeom>
          <a:noFill/>
        </p:spPr>
        <p:txBody>
          <a:bodyPr wrap="square" anchor="t">
            <a:spAutoFit/>
          </a:bodyPr>
          <a:lstStyle/>
          <a:p>
            <a:pPr algn="l">
              <a:spcAft>
                <a:spcPts val="400"/>
              </a:spcAft>
            </a:pPr>
            <a:r>
              <a:rPr sz="1150" b="1">
                <a:solidFill>
                  <a:srgbClr val="C0392B"/>
                </a:solidFill>
                <a:latin typeface="Arial"/>
              </a:rPr>
              <a:t>WHY IT MATTERS</a:t>
            </a:r>
          </a:p>
        </p:txBody>
      </p:sp>
      <p:sp>
        <p:nvSpPr>
          <p:cNvPr id="14" name="TextBox 13"/>
          <p:cNvSpPr txBox="1"/>
          <p:nvPr/>
        </p:nvSpPr>
        <p:spPr>
          <a:xfrm>
            <a:off x="6428232" y="2221992"/>
            <a:ext cx="4782312" cy="822960"/>
          </a:xfrm>
          <a:prstGeom prst="rect">
            <a:avLst/>
          </a:prstGeom>
          <a:noFill/>
        </p:spPr>
        <p:txBody>
          <a:bodyPr wrap="square" anchor="t">
            <a:spAutoFit/>
          </a:bodyPr>
          <a:lstStyle/>
          <a:p>
            <a:pPr algn="l">
              <a:spcAft>
                <a:spcPts val="400"/>
              </a:spcAft>
            </a:pPr>
            <a:r>
              <a:rPr sz="1250" b="0">
                <a:solidFill>
                  <a:srgbClr val="161B26"/>
                </a:solidFill>
                <a:latin typeface="Arial"/>
              </a:rPr>
              <a:t>Detective controls provide the evidence for incident forensics, audits and continuous compliance scoring.</a:t>
            </a:r>
          </a:p>
        </p:txBody>
      </p:sp>
      <p:sp>
        <p:nvSpPr>
          <p:cNvPr id="15" name="Rectangle 14"/>
          <p:cNvSpPr/>
          <p:nvPr/>
        </p:nvSpPr>
        <p:spPr>
          <a:xfrm>
            <a:off x="6172200" y="3246120"/>
            <a:ext cx="5239512" cy="1325880"/>
          </a:xfrm>
          <a:prstGeom prst="rect">
            <a:avLst/>
          </a:prstGeom>
          <a:solidFill>
            <a:srgbClr val="FFFFFF"/>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ectangle 15"/>
          <p:cNvSpPr/>
          <p:nvPr/>
        </p:nvSpPr>
        <p:spPr>
          <a:xfrm>
            <a:off x="6172200" y="3246120"/>
            <a:ext cx="91440" cy="1325880"/>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6428232" y="3355848"/>
            <a:ext cx="4782312" cy="320040"/>
          </a:xfrm>
          <a:prstGeom prst="rect">
            <a:avLst/>
          </a:prstGeom>
          <a:noFill/>
        </p:spPr>
        <p:txBody>
          <a:bodyPr wrap="square" anchor="t">
            <a:spAutoFit/>
          </a:bodyPr>
          <a:lstStyle/>
          <a:p>
            <a:pPr algn="l">
              <a:spcAft>
                <a:spcPts val="400"/>
              </a:spcAft>
            </a:pPr>
            <a:r>
              <a:rPr sz="1150" b="1">
                <a:solidFill>
                  <a:srgbClr val="C0392B"/>
                </a:solidFill>
                <a:latin typeface="Arial"/>
              </a:rPr>
              <a:t>FAILURE MODE</a:t>
            </a:r>
          </a:p>
        </p:txBody>
      </p:sp>
      <p:sp>
        <p:nvSpPr>
          <p:cNvPr id="18" name="TextBox 17"/>
          <p:cNvSpPr txBox="1"/>
          <p:nvPr/>
        </p:nvSpPr>
        <p:spPr>
          <a:xfrm>
            <a:off x="6428232" y="3685032"/>
            <a:ext cx="4782312" cy="822960"/>
          </a:xfrm>
          <a:prstGeom prst="rect">
            <a:avLst/>
          </a:prstGeom>
          <a:noFill/>
        </p:spPr>
        <p:txBody>
          <a:bodyPr wrap="square" anchor="t">
            <a:spAutoFit/>
          </a:bodyPr>
          <a:lstStyle/>
          <a:p>
            <a:pPr algn="l">
              <a:spcAft>
                <a:spcPts val="400"/>
              </a:spcAft>
            </a:pPr>
            <a:r>
              <a:rPr sz="1250" b="0">
                <a:solidFill>
                  <a:srgbClr val="161B26"/>
                </a:solidFill>
                <a:latin typeface="Arial"/>
              </a:rPr>
              <a:t>No CloudTrail (or a trail without log-file validation) means an incident can't be reconstructed and audits fail.</a:t>
            </a:r>
          </a:p>
        </p:txBody>
      </p:sp>
      <p:sp>
        <p:nvSpPr>
          <p:cNvPr id="19" name="Rectangle 18"/>
          <p:cNvSpPr/>
          <p:nvPr/>
        </p:nvSpPr>
        <p:spPr>
          <a:xfrm>
            <a:off x="6172200" y="4709160"/>
            <a:ext cx="5239512" cy="1325880"/>
          </a:xfrm>
          <a:prstGeom prst="rect">
            <a:avLst/>
          </a:prstGeom>
          <a:solidFill>
            <a:srgbClr val="FFFFFF"/>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Rectangle 19"/>
          <p:cNvSpPr/>
          <p:nvPr/>
        </p:nvSpPr>
        <p:spPr>
          <a:xfrm>
            <a:off x="6172200" y="4709160"/>
            <a:ext cx="91440" cy="1325880"/>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6428232" y="4818888"/>
            <a:ext cx="4782312" cy="320040"/>
          </a:xfrm>
          <a:prstGeom prst="rect">
            <a:avLst/>
          </a:prstGeom>
          <a:noFill/>
        </p:spPr>
        <p:txBody>
          <a:bodyPr wrap="square" anchor="t">
            <a:spAutoFit/>
          </a:bodyPr>
          <a:lstStyle/>
          <a:p>
            <a:pPr algn="l">
              <a:spcAft>
                <a:spcPts val="400"/>
              </a:spcAft>
            </a:pPr>
            <a:r>
              <a:rPr sz="1150" b="1">
                <a:solidFill>
                  <a:srgbClr val="F59E0B"/>
                </a:solidFill>
                <a:latin typeface="Arial"/>
              </a:rPr>
              <a:t>TRADE-OFF / DECISION</a:t>
            </a:r>
          </a:p>
        </p:txBody>
      </p:sp>
      <p:sp>
        <p:nvSpPr>
          <p:cNvPr id="22" name="TextBox 21"/>
          <p:cNvSpPr txBox="1"/>
          <p:nvPr/>
        </p:nvSpPr>
        <p:spPr>
          <a:xfrm>
            <a:off x="6428232" y="5148072"/>
            <a:ext cx="4782312" cy="822960"/>
          </a:xfrm>
          <a:prstGeom prst="rect">
            <a:avLst/>
          </a:prstGeom>
          <a:noFill/>
        </p:spPr>
        <p:txBody>
          <a:bodyPr wrap="square" anchor="t">
            <a:spAutoFit/>
          </a:bodyPr>
          <a:lstStyle/>
          <a:p>
            <a:pPr algn="l">
              <a:spcAft>
                <a:spcPts val="400"/>
              </a:spcAft>
            </a:pPr>
            <a:r>
              <a:rPr sz="1250" b="0">
                <a:solidFill>
                  <a:srgbClr val="161B26"/>
                </a:solidFill>
                <a:latin typeface="Arial"/>
              </a:rPr>
              <a:t>Full logging and threat detection cost money and generate findings to triage — tune and prioritise by severity.</a:t>
            </a:r>
          </a:p>
        </p:txBody>
      </p:sp>
      <p:sp>
        <p:nvSpPr>
          <p:cNvPr id="23" name="TextBox 22"/>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DevOps Engineering on AWS  ·  TGS-2023040474</a:t>
            </a:r>
          </a:p>
        </p:txBody>
      </p:sp>
      <p:sp>
        <p:nvSpPr>
          <p:cNvPr id="24" name="TextBox 23"/>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25" name="TextBox 24"/>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199</a:t>
            </a:r>
          </a:p>
        </p:txBody>
      </p:sp>
    </p:spTree>
  </p:cSld>
  <p:clrMapOvr>
    <a:masterClrMapping/>
  </p:clrMapOvr>
  <p:transition xmlns:p14="http://schemas.microsoft.com/office/powerpoint/2010/main" p14:dur="380">
    <p:fade/>
  </p:transition>
</p:sld>
</file>

<file path=ppt/slides/slide20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38912"/>
            <a:ext cx="10607040" cy="365760"/>
          </a:xfrm>
          <a:prstGeom prst="rect">
            <a:avLst/>
          </a:prstGeom>
          <a:noFill/>
        </p:spPr>
        <p:txBody>
          <a:bodyPr wrap="square" anchor="t">
            <a:spAutoFit/>
          </a:bodyPr>
          <a:lstStyle/>
          <a:p>
            <a:pPr algn="l">
              <a:spcAft>
                <a:spcPts val="400"/>
              </a:spcAft>
            </a:pPr>
            <a:r>
              <a:rPr sz="1400" b="1">
                <a:solidFill>
                  <a:srgbClr val="C0392B"/>
                </a:solidFill>
                <a:latin typeface="Arial"/>
              </a:rPr>
              <a:t>IN DEPTH</a:t>
            </a:r>
          </a:p>
        </p:txBody>
      </p:sp>
      <p:sp>
        <p:nvSpPr>
          <p:cNvPr id="5" name="TextBox 4"/>
          <p:cNvSpPr txBox="1"/>
          <p:nvPr/>
        </p:nvSpPr>
        <p:spPr>
          <a:xfrm>
            <a:off x="777240" y="896112"/>
            <a:ext cx="10927080" cy="731520"/>
          </a:xfrm>
          <a:prstGeom prst="rect">
            <a:avLst/>
          </a:prstGeom>
          <a:noFill/>
        </p:spPr>
        <p:txBody>
          <a:bodyPr wrap="square" anchor="t">
            <a:spAutoFit/>
          </a:bodyPr>
          <a:lstStyle/>
          <a:p>
            <a:pPr algn="l">
              <a:spcAft>
                <a:spcPts val="400"/>
              </a:spcAft>
            </a:pPr>
            <a:r>
              <a:rPr sz="2100" b="1">
                <a:solidFill>
                  <a:srgbClr val="161B26"/>
                </a:solidFill>
                <a:latin typeface="Arial"/>
              </a:rPr>
              <a:t>Automated compliance — Config rules and conformance packs</a:t>
            </a:r>
          </a:p>
        </p:txBody>
      </p:sp>
      <p:sp>
        <p:nvSpPr>
          <p:cNvPr id="6" name="Rectangle 5"/>
          <p:cNvSpPr/>
          <p:nvPr/>
        </p:nvSpPr>
        <p:spPr>
          <a:xfrm>
            <a:off x="777240" y="1572768"/>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783080"/>
            <a:ext cx="5212080" cy="425196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1783080"/>
            <a:ext cx="5212080" cy="91440"/>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1005840" y="1938528"/>
            <a:ext cx="4754880" cy="365760"/>
          </a:xfrm>
          <a:prstGeom prst="rect">
            <a:avLst/>
          </a:prstGeom>
          <a:noFill/>
        </p:spPr>
        <p:txBody>
          <a:bodyPr wrap="square" anchor="t">
            <a:spAutoFit/>
          </a:bodyPr>
          <a:lstStyle/>
          <a:p>
            <a:pPr algn="l">
              <a:spcAft>
                <a:spcPts val="400"/>
              </a:spcAft>
            </a:pPr>
            <a:r>
              <a:rPr sz="1200" b="1">
                <a:solidFill>
                  <a:srgbClr val="C0392B"/>
                </a:solidFill>
                <a:latin typeface="Arial"/>
              </a:rPr>
              <a:t>IN DEPTH</a:t>
            </a:r>
          </a:p>
        </p:txBody>
      </p:sp>
      <p:sp>
        <p:nvSpPr>
          <p:cNvPr id="10" name="TextBox 9"/>
          <p:cNvSpPr txBox="1"/>
          <p:nvPr/>
        </p:nvSpPr>
        <p:spPr>
          <a:xfrm>
            <a:off x="1005840" y="2377440"/>
            <a:ext cx="4754880" cy="3566160"/>
          </a:xfrm>
          <a:prstGeom prst="rect">
            <a:avLst/>
          </a:prstGeom>
          <a:noFill/>
        </p:spPr>
        <p:txBody>
          <a:bodyPr wrap="square">
            <a:spAutoFit/>
          </a:bodyPr>
          <a:lstStyle/>
          <a:p>
            <a:pPr>
              <a:spcAft>
                <a:spcPts val="800"/>
              </a:spcAft>
            </a:pPr>
            <a:r>
              <a:rPr sz="1350" b="0">
                <a:solidFill>
                  <a:srgbClr val="161B26"/>
                </a:solidFill>
                <a:latin typeface="Arial"/>
              </a:rPr>
              <a:t>•  Config rules continuously evaluate resources against a technical blueprint (managed or custom rules).</a:t>
            </a:r>
          </a:p>
          <a:p>
            <a:pPr>
              <a:spcAft>
                <a:spcPts val="800"/>
              </a:spcAft>
            </a:pPr>
            <a:r>
              <a:rPr sz="1350" b="0">
                <a:solidFill>
                  <a:srgbClr val="161B26"/>
                </a:solidFill>
                <a:latin typeface="Arial"/>
              </a:rPr>
              <a:t>•  Conformance packs bundle rules and remediations to a standard (e.g. CIS, PCI) and deploy org-wide.</a:t>
            </a:r>
          </a:p>
          <a:p>
            <a:pPr>
              <a:spcAft>
                <a:spcPts val="800"/>
              </a:spcAft>
            </a:pPr>
            <a:r>
              <a:rPr sz="1350" b="0">
                <a:solidFill>
                  <a:srgbClr val="161B26"/>
                </a:solidFill>
                <a:latin typeface="Arial"/>
              </a:rPr>
              <a:t>•  Non-compliant resources are flagged and can be auto-remediated.</a:t>
            </a:r>
          </a:p>
        </p:txBody>
      </p:sp>
      <p:sp>
        <p:nvSpPr>
          <p:cNvPr id="11" name="Rectangle 10"/>
          <p:cNvSpPr/>
          <p:nvPr/>
        </p:nvSpPr>
        <p:spPr>
          <a:xfrm>
            <a:off x="6172200" y="1783080"/>
            <a:ext cx="5239512" cy="1325880"/>
          </a:xfrm>
          <a:prstGeom prst="rect">
            <a:avLst/>
          </a:prstGeom>
          <a:solidFill>
            <a:srgbClr val="FFFFFF"/>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ectangle 11"/>
          <p:cNvSpPr/>
          <p:nvPr/>
        </p:nvSpPr>
        <p:spPr>
          <a:xfrm>
            <a:off x="6172200" y="1783080"/>
            <a:ext cx="91440" cy="1325880"/>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6428232" y="1892808"/>
            <a:ext cx="4782312" cy="320040"/>
          </a:xfrm>
          <a:prstGeom prst="rect">
            <a:avLst/>
          </a:prstGeom>
          <a:noFill/>
        </p:spPr>
        <p:txBody>
          <a:bodyPr wrap="square" anchor="t">
            <a:spAutoFit/>
          </a:bodyPr>
          <a:lstStyle/>
          <a:p>
            <a:pPr algn="l">
              <a:spcAft>
                <a:spcPts val="400"/>
              </a:spcAft>
            </a:pPr>
            <a:r>
              <a:rPr sz="1150" b="1">
                <a:solidFill>
                  <a:srgbClr val="C0392B"/>
                </a:solidFill>
                <a:latin typeface="Arial"/>
              </a:rPr>
              <a:t>WHY IT MATTERS</a:t>
            </a:r>
          </a:p>
        </p:txBody>
      </p:sp>
      <p:sp>
        <p:nvSpPr>
          <p:cNvPr id="14" name="TextBox 13"/>
          <p:cNvSpPr txBox="1"/>
          <p:nvPr/>
        </p:nvSpPr>
        <p:spPr>
          <a:xfrm>
            <a:off x="6428232" y="2221992"/>
            <a:ext cx="4782312" cy="822960"/>
          </a:xfrm>
          <a:prstGeom prst="rect">
            <a:avLst/>
          </a:prstGeom>
          <a:noFill/>
        </p:spPr>
        <p:txBody>
          <a:bodyPr wrap="square" anchor="t">
            <a:spAutoFit/>
          </a:bodyPr>
          <a:lstStyle/>
          <a:p>
            <a:pPr algn="l">
              <a:spcAft>
                <a:spcPts val="400"/>
              </a:spcAft>
            </a:pPr>
            <a:r>
              <a:rPr sz="1250" b="0">
                <a:solidFill>
                  <a:srgbClr val="161B26"/>
                </a:solidFill>
                <a:latin typeface="Arial"/>
              </a:rPr>
              <a:t>Continuous, codified compliance replaces point-in-time audits with always-on assurance and evidence.</a:t>
            </a:r>
          </a:p>
        </p:txBody>
      </p:sp>
      <p:sp>
        <p:nvSpPr>
          <p:cNvPr id="15" name="Rectangle 14"/>
          <p:cNvSpPr/>
          <p:nvPr/>
        </p:nvSpPr>
        <p:spPr>
          <a:xfrm>
            <a:off x="6172200" y="3246120"/>
            <a:ext cx="5239512" cy="1325880"/>
          </a:xfrm>
          <a:prstGeom prst="rect">
            <a:avLst/>
          </a:prstGeom>
          <a:solidFill>
            <a:srgbClr val="FFFFFF"/>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ectangle 15"/>
          <p:cNvSpPr/>
          <p:nvPr/>
        </p:nvSpPr>
        <p:spPr>
          <a:xfrm>
            <a:off x="6172200" y="3246120"/>
            <a:ext cx="91440" cy="1325880"/>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6428232" y="3355848"/>
            <a:ext cx="4782312" cy="320040"/>
          </a:xfrm>
          <a:prstGeom prst="rect">
            <a:avLst/>
          </a:prstGeom>
          <a:noFill/>
        </p:spPr>
        <p:txBody>
          <a:bodyPr wrap="square" anchor="t">
            <a:spAutoFit/>
          </a:bodyPr>
          <a:lstStyle/>
          <a:p>
            <a:pPr algn="l">
              <a:spcAft>
                <a:spcPts val="400"/>
              </a:spcAft>
            </a:pPr>
            <a:r>
              <a:rPr sz="1150" b="1">
                <a:solidFill>
                  <a:srgbClr val="C0392B"/>
                </a:solidFill>
                <a:latin typeface="Arial"/>
              </a:rPr>
              <a:t>FAILURE MODE</a:t>
            </a:r>
          </a:p>
        </p:txBody>
      </p:sp>
      <p:sp>
        <p:nvSpPr>
          <p:cNvPr id="18" name="TextBox 17"/>
          <p:cNvSpPr txBox="1"/>
          <p:nvPr/>
        </p:nvSpPr>
        <p:spPr>
          <a:xfrm>
            <a:off x="6428232" y="3685032"/>
            <a:ext cx="4782312" cy="822960"/>
          </a:xfrm>
          <a:prstGeom prst="rect">
            <a:avLst/>
          </a:prstGeom>
          <a:noFill/>
        </p:spPr>
        <p:txBody>
          <a:bodyPr wrap="square" anchor="t">
            <a:spAutoFit/>
          </a:bodyPr>
          <a:lstStyle/>
          <a:p>
            <a:pPr algn="l">
              <a:spcAft>
                <a:spcPts val="400"/>
              </a:spcAft>
            </a:pPr>
            <a:r>
              <a:rPr sz="1250" b="0">
                <a:solidFill>
                  <a:srgbClr val="161B26"/>
                </a:solidFill>
                <a:latin typeface="Arial"/>
              </a:rPr>
              <a:t>Manual quarterly audits miss the days-to-weeks a resource sits non-compliant between checks.</a:t>
            </a:r>
          </a:p>
        </p:txBody>
      </p:sp>
      <p:sp>
        <p:nvSpPr>
          <p:cNvPr id="19" name="Rectangle 18"/>
          <p:cNvSpPr/>
          <p:nvPr/>
        </p:nvSpPr>
        <p:spPr>
          <a:xfrm>
            <a:off x="6172200" y="4709160"/>
            <a:ext cx="5239512" cy="1325880"/>
          </a:xfrm>
          <a:prstGeom prst="rect">
            <a:avLst/>
          </a:prstGeom>
          <a:solidFill>
            <a:srgbClr val="FFFFFF"/>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Rectangle 19"/>
          <p:cNvSpPr/>
          <p:nvPr/>
        </p:nvSpPr>
        <p:spPr>
          <a:xfrm>
            <a:off x="6172200" y="4709160"/>
            <a:ext cx="91440" cy="1325880"/>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6428232" y="4818888"/>
            <a:ext cx="4782312" cy="320040"/>
          </a:xfrm>
          <a:prstGeom prst="rect">
            <a:avLst/>
          </a:prstGeom>
          <a:noFill/>
        </p:spPr>
        <p:txBody>
          <a:bodyPr wrap="square" anchor="t">
            <a:spAutoFit/>
          </a:bodyPr>
          <a:lstStyle/>
          <a:p>
            <a:pPr algn="l">
              <a:spcAft>
                <a:spcPts val="400"/>
              </a:spcAft>
            </a:pPr>
            <a:r>
              <a:rPr sz="1150" b="1">
                <a:solidFill>
                  <a:srgbClr val="F59E0B"/>
                </a:solidFill>
                <a:latin typeface="Arial"/>
              </a:rPr>
              <a:t>TRADE-OFF / DECISION</a:t>
            </a:r>
          </a:p>
        </p:txBody>
      </p:sp>
      <p:sp>
        <p:nvSpPr>
          <p:cNvPr id="22" name="TextBox 21"/>
          <p:cNvSpPr txBox="1"/>
          <p:nvPr/>
        </p:nvSpPr>
        <p:spPr>
          <a:xfrm>
            <a:off x="6428232" y="5148072"/>
            <a:ext cx="4782312" cy="822960"/>
          </a:xfrm>
          <a:prstGeom prst="rect">
            <a:avLst/>
          </a:prstGeom>
          <a:noFill/>
        </p:spPr>
        <p:txBody>
          <a:bodyPr wrap="square" anchor="t">
            <a:spAutoFit/>
          </a:bodyPr>
          <a:lstStyle/>
          <a:p>
            <a:pPr algn="l">
              <a:spcAft>
                <a:spcPts val="400"/>
              </a:spcAft>
            </a:pPr>
            <a:r>
              <a:rPr sz="1250" b="0">
                <a:solidFill>
                  <a:srgbClr val="161B26"/>
                </a:solidFill>
                <a:latin typeface="Arial"/>
              </a:rPr>
              <a:t>Strict conformance packs improve posture but can generate noise — phase in rules and remediations.</a:t>
            </a:r>
          </a:p>
        </p:txBody>
      </p:sp>
      <p:sp>
        <p:nvSpPr>
          <p:cNvPr id="23" name="TextBox 22"/>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DevOps Engineering on AWS  ·  TGS-2023040474</a:t>
            </a:r>
          </a:p>
        </p:txBody>
      </p:sp>
      <p:sp>
        <p:nvSpPr>
          <p:cNvPr id="24" name="TextBox 23"/>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25" name="TextBox 24"/>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200</a:t>
            </a:r>
          </a:p>
        </p:txBody>
      </p:sp>
    </p:spTree>
  </p:cSld>
  <p:clrMapOvr>
    <a:masterClrMapping/>
  </p:clrMapOvr>
  <p:transition xmlns:p14="http://schemas.microsoft.com/office/powerpoint/2010/main" p14:dur="380">
    <p:fade/>
  </p:transition>
</p:sld>
</file>

<file path=ppt/slides/slide20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38912"/>
            <a:ext cx="10607040" cy="365760"/>
          </a:xfrm>
          <a:prstGeom prst="rect">
            <a:avLst/>
          </a:prstGeom>
          <a:noFill/>
        </p:spPr>
        <p:txBody>
          <a:bodyPr wrap="square" anchor="t">
            <a:spAutoFit/>
          </a:bodyPr>
          <a:lstStyle/>
          <a:p>
            <a:pPr algn="l">
              <a:spcAft>
                <a:spcPts val="400"/>
              </a:spcAft>
            </a:pPr>
            <a:r>
              <a:rPr sz="1400" b="1">
                <a:solidFill>
                  <a:srgbClr val="C0392B"/>
                </a:solidFill>
                <a:latin typeface="Arial"/>
              </a:rPr>
              <a:t>IN DEPTH</a:t>
            </a:r>
          </a:p>
        </p:txBody>
      </p:sp>
      <p:sp>
        <p:nvSpPr>
          <p:cNvPr id="5" name="TextBox 4"/>
          <p:cNvSpPr txBox="1"/>
          <p:nvPr/>
        </p:nvSpPr>
        <p:spPr>
          <a:xfrm>
            <a:off x="777240" y="804672"/>
            <a:ext cx="10927080" cy="731520"/>
          </a:xfrm>
          <a:prstGeom prst="rect">
            <a:avLst/>
          </a:prstGeom>
          <a:noFill/>
        </p:spPr>
        <p:txBody>
          <a:bodyPr wrap="square" anchor="t">
            <a:spAutoFit/>
          </a:bodyPr>
          <a:lstStyle/>
          <a:p>
            <a:pPr algn="l">
              <a:spcAft>
                <a:spcPts val="400"/>
              </a:spcAft>
            </a:pPr>
            <a:r>
              <a:rPr sz="2900" b="1">
                <a:solidFill>
                  <a:srgbClr val="161B26"/>
                </a:solidFill>
                <a:latin typeface="Arial"/>
              </a:rPr>
              <a:t>Preventive controls and defence in depth</a:t>
            </a:r>
          </a:p>
        </p:txBody>
      </p:sp>
      <p:sp>
        <p:nvSpPr>
          <p:cNvPr id="6" name="Rectangle 5"/>
          <p:cNvSpPr/>
          <p:nvPr/>
        </p:nvSpPr>
        <p:spPr>
          <a:xfrm>
            <a:off x="777240" y="1572768"/>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783080"/>
            <a:ext cx="5212080" cy="425196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1783080"/>
            <a:ext cx="5212080" cy="91440"/>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1005840" y="1938528"/>
            <a:ext cx="4754880" cy="365760"/>
          </a:xfrm>
          <a:prstGeom prst="rect">
            <a:avLst/>
          </a:prstGeom>
          <a:noFill/>
        </p:spPr>
        <p:txBody>
          <a:bodyPr wrap="square" anchor="t">
            <a:spAutoFit/>
          </a:bodyPr>
          <a:lstStyle/>
          <a:p>
            <a:pPr algn="l">
              <a:spcAft>
                <a:spcPts val="400"/>
              </a:spcAft>
            </a:pPr>
            <a:r>
              <a:rPr sz="1200" b="1">
                <a:solidFill>
                  <a:srgbClr val="C0392B"/>
                </a:solidFill>
                <a:latin typeface="Arial"/>
              </a:rPr>
              <a:t>IN DEPTH</a:t>
            </a:r>
          </a:p>
        </p:txBody>
      </p:sp>
      <p:sp>
        <p:nvSpPr>
          <p:cNvPr id="10" name="TextBox 9"/>
          <p:cNvSpPr txBox="1"/>
          <p:nvPr/>
        </p:nvSpPr>
        <p:spPr>
          <a:xfrm>
            <a:off x="1005840" y="2377440"/>
            <a:ext cx="4754880" cy="3566160"/>
          </a:xfrm>
          <a:prstGeom prst="rect">
            <a:avLst/>
          </a:prstGeom>
          <a:noFill/>
        </p:spPr>
        <p:txBody>
          <a:bodyPr wrap="square">
            <a:spAutoFit/>
          </a:bodyPr>
          <a:lstStyle/>
          <a:p>
            <a:pPr>
              <a:spcAft>
                <a:spcPts val="800"/>
              </a:spcAft>
            </a:pPr>
            <a:r>
              <a:rPr sz="1350" b="0">
                <a:solidFill>
                  <a:srgbClr val="161B26"/>
                </a:solidFill>
                <a:latin typeface="Arial"/>
              </a:rPr>
              <a:t>•  Security groups and network ACLs, WAF, and least-privilege policies stop bad requests before they reach resources.</a:t>
            </a:r>
          </a:p>
          <a:p>
            <a:pPr>
              <a:spcAft>
                <a:spcPts val="800"/>
              </a:spcAft>
            </a:pPr>
            <a:r>
              <a:rPr sz="1350" b="0">
                <a:solidFill>
                  <a:srgbClr val="161B26"/>
                </a:solidFill>
                <a:latin typeface="Arial"/>
              </a:rPr>
              <a:t>•  SCPs prevent whole classes of action org-wide; VPC design limits lateral movement.</a:t>
            </a:r>
          </a:p>
          <a:p>
            <a:pPr>
              <a:spcAft>
                <a:spcPts val="800"/>
              </a:spcAft>
            </a:pPr>
            <a:r>
              <a:rPr sz="1350" b="0">
                <a:solidFill>
                  <a:srgbClr val="161B26"/>
                </a:solidFill>
                <a:latin typeface="Arial"/>
              </a:rPr>
              <a:t>•  Layered controls mean no single failure exposes the system.</a:t>
            </a:r>
          </a:p>
        </p:txBody>
      </p:sp>
      <p:sp>
        <p:nvSpPr>
          <p:cNvPr id="11" name="Rectangle 10"/>
          <p:cNvSpPr/>
          <p:nvPr/>
        </p:nvSpPr>
        <p:spPr>
          <a:xfrm>
            <a:off x="6172200" y="1783080"/>
            <a:ext cx="5239512" cy="1325880"/>
          </a:xfrm>
          <a:prstGeom prst="rect">
            <a:avLst/>
          </a:prstGeom>
          <a:solidFill>
            <a:srgbClr val="FFFFFF"/>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ectangle 11"/>
          <p:cNvSpPr/>
          <p:nvPr/>
        </p:nvSpPr>
        <p:spPr>
          <a:xfrm>
            <a:off x="6172200" y="1783080"/>
            <a:ext cx="91440" cy="1325880"/>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6428232" y="1892808"/>
            <a:ext cx="4782312" cy="320040"/>
          </a:xfrm>
          <a:prstGeom prst="rect">
            <a:avLst/>
          </a:prstGeom>
          <a:noFill/>
        </p:spPr>
        <p:txBody>
          <a:bodyPr wrap="square" anchor="t">
            <a:spAutoFit/>
          </a:bodyPr>
          <a:lstStyle/>
          <a:p>
            <a:pPr algn="l">
              <a:spcAft>
                <a:spcPts val="400"/>
              </a:spcAft>
            </a:pPr>
            <a:r>
              <a:rPr sz="1150" b="1">
                <a:solidFill>
                  <a:srgbClr val="C0392B"/>
                </a:solidFill>
                <a:latin typeface="Arial"/>
              </a:rPr>
              <a:t>WHY IT MATTERS</a:t>
            </a:r>
          </a:p>
        </p:txBody>
      </p:sp>
      <p:sp>
        <p:nvSpPr>
          <p:cNvPr id="14" name="TextBox 13"/>
          <p:cNvSpPr txBox="1"/>
          <p:nvPr/>
        </p:nvSpPr>
        <p:spPr>
          <a:xfrm>
            <a:off x="6428232" y="2221992"/>
            <a:ext cx="4782312" cy="822960"/>
          </a:xfrm>
          <a:prstGeom prst="rect">
            <a:avLst/>
          </a:prstGeom>
          <a:noFill/>
        </p:spPr>
        <p:txBody>
          <a:bodyPr wrap="square" anchor="t">
            <a:spAutoFit/>
          </a:bodyPr>
          <a:lstStyle/>
          <a:p>
            <a:pPr algn="l">
              <a:spcAft>
                <a:spcPts val="400"/>
              </a:spcAft>
            </a:pPr>
            <a:r>
              <a:rPr sz="1250" b="0">
                <a:solidFill>
                  <a:srgbClr val="161B26"/>
                </a:solidFill>
                <a:latin typeface="Arial"/>
              </a:rPr>
              <a:t>Defence in depth ensures that when one layer fails — and layers do fail — others still protect the data.</a:t>
            </a:r>
          </a:p>
        </p:txBody>
      </p:sp>
      <p:sp>
        <p:nvSpPr>
          <p:cNvPr id="15" name="Rectangle 14"/>
          <p:cNvSpPr/>
          <p:nvPr/>
        </p:nvSpPr>
        <p:spPr>
          <a:xfrm>
            <a:off x="6172200" y="3246120"/>
            <a:ext cx="5239512" cy="1325880"/>
          </a:xfrm>
          <a:prstGeom prst="rect">
            <a:avLst/>
          </a:prstGeom>
          <a:solidFill>
            <a:srgbClr val="FFFFFF"/>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ectangle 15"/>
          <p:cNvSpPr/>
          <p:nvPr/>
        </p:nvSpPr>
        <p:spPr>
          <a:xfrm>
            <a:off x="6172200" y="3246120"/>
            <a:ext cx="91440" cy="1325880"/>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6428232" y="3355848"/>
            <a:ext cx="4782312" cy="320040"/>
          </a:xfrm>
          <a:prstGeom prst="rect">
            <a:avLst/>
          </a:prstGeom>
          <a:noFill/>
        </p:spPr>
        <p:txBody>
          <a:bodyPr wrap="square" anchor="t">
            <a:spAutoFit/>
          </a:bodyPr>
          <a:lstStyle/>
          <a:p>
            <a:pPr algn="l">
              <a:spcAft>
                <a:spcPts val="400"/>
              </a:spcAft>
            </a:pPr>
            <a:r>
              <a:rPr sz="1150" b="1">
                <a:solidFill>
                  <a:srgbClr val="C0392B"/>
                </a:solidFill>
                <a:latin typeface="Arial"/>
              </a:rPr>
              <a:t>FAILURE MODE</a:t>
            </a:r>
          </a:p>
        </p:txBody>
      </p:sp>
      <p:sp>
        <p:nvSpPr>
          <p:cNvPr id="18" name="TextBox 17"/>
          <p:cNvSpPr txBox="1"/>
          <p:nvPr/>
        </p:nvSpPr>
        <p:spPr>
          <a:xfrm>
            <a:off x="6428232" y="3685032"/>
            <a:ext cx="4782312" cy="822960"/>
          </a:xfrm>
          <a:prstGeom prst="rect">
            <a:avLst/>
          </a:prstGeom>
          <a:noFill/>
        </p:spPr>
        <p:txBody>
          <a:bodyPr wrap="square" anchor="t">
            <a:spAutoFit/>
          </a:bodyPr>
          <a:lstStyle/>
          <a:p>
            <a:pPr algn="l">
              <a:spcAft>
                <a:spcPts val="400"/>
              </a:spcAft>
            </a:pPr>
            <a:r>
              <a:rPr sz="1250" b="0">
                <a:solidFill>
                  <a:srgbClr val="161B26"/>
                </a:solidFill>
                <a:latin typeface="Arial"/>
              </a:rPr>
              <a:t>Relying on a single perimeter (a firewall) fails completely the moment that one control is bypassed.</a:t>
            </a:r>
          </a:p>
        </p:txBody>
      </p:sp>
      <p:sp>
        <p:nvSpPr>
          <p:cNvPr id="19" name="Rectangle 18"/>
          <p:cNvSpPr/>
          <p:nvPr/>
        </p:nvSpPr>
        <p:spPr>
          <a:xfrm>
            <a:off x="6172200" y="4709160"/>
            <a:ext cx="5239512" cy="1325880"/>
          </a:xfrm>
          <a:prstGeom prst="rect">
            <a:avLst/>
          </a:prstGeom>
          <a:solidFill>
            <a:srgbClr val="FFFFFF"/>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Rectangle 19"/>
          <p:cNvSpPr/>
          <p:nvPr/>
        </p:nvSpPr>
        <p:spPr>
          <a:xfrm>
            <a:off x="6172200" y="4709160"/>
            <a:ext cx="91440" cy="1325880"/>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6428232" y="4818888"/>
            <a:ext cx="4782312" cy="320040"/>
          </a:xfrm>
          <a:prstGeom prst="rect">
            <a:avLst/>
          </a:prstGeom>
          <a:noFill/>
        </p:spPr>
        <p:txBody>
          <a:bodyPr wrap="square" anchor="t">
            <a:spAutoFit/>
          </a:bodyPr>
          <a:lstStyle/>
          <a:p>
            <a:pPr algn="l">
              <a:spcAft>
                <a:spcPts val="400"/>
              </a:spcAft>
            </a:pPr>
            <a:r>
              <a:rPr sz="1150" b="1">
                <a:solidFill>
                  <a:srgbClr val="F59E0B"/>
                </a:solidFill>
                <a:latin typeface="Arial"/>
              </a:rPr>
              <a:t>TRADE-OFF / DECISION</a:t>
            </a:r>
          </a:p>
        </p:txBody>
      </p:sp>
      <p:sp>
        <p:nvSpPr>
          <p:cNvPr id="22" name="TextBox 21"/>
          <p:cNvSpPr txBox="1"/>
          <p:nvPr/>
        </p:nvSpPr>
        <p:spPr>
          <a:xfrm>
            <a:off x="6428232" y="5148072"/>
            <a:ext cx="4782312" cy="822960"/>
          </a:xfrm>
          <a:prstGeom prst="rect">
            <a:avLst/>
          </a:prstGeom>
          <a:noFill/>
        </p:spPr>
        <p:txBody>
          <a:bodyPr wrap="square" anchor="t">
            <a:spAutoFit/>
          </a:bodyPr>
          <a:lstStyle/>
          <a:p>
            <a:pPr algn="l">
              <a:spcAft>
                <a:spcPts val="400"/>
              </a:spcAft>
            </a:pPr>
            <a:r>
              <a:rPr sz="1250" b="0">
                <a:solidFill>
                  <a:srgbClr val="161B26"/>
                </a:solidFill>
                <a:latin typeface="Arial"/>
              </a:rPr>
              <a:t>More layers add complexity and can impede legitimate traffic — design them to be observable and testable.</a:t>
            </a:r>
          </a:p>
        </p:txBody>
      </p:sp>
      <p:sp>
        <p:nvSpPr>
          <p:cNvPr id="23" name="TextBox 22"/>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DevOps Engineering on AWS  ·  TGS-2023040474</a:t>
            </a:r>
          </a:p>
        </p:txBody>
      </p:sp>
      <p:sp>
        <p:nvSpPr>
          <p:cNvPr id="24" name="TextBox 23"/>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25" name="TextBox 24"/>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201</a:t>
            </a:r>
          </a:p>
        </p:txBody>
      </p:sp>
    </p:spTree>
  </p:cSld>
  <p:clrMapOvr>
    <a:masterClrMapping/>
  </p:clrMapOvr>
  <p:transition xmlns:p14="http://schemas.microsoft.com/office/powerpoint/2010/main" p14:dur="380">
    <p:fade/>
  </p:transition>
</p:sld>
</file>

<file path=ppt/slides/slide20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38912"/>
            <a:ext cx="10607040" cy="365760"/>
          </a:xfrm>
          <a:prstGeom prst="rect">
            <a:avLst/>
          </a:prstGeom>
          <a:noFill/>
        </p:spPr>
        <p:txBody>
          <a:bodyPr wrap="square" anchor="t">
            <a:spAutoFit/>
          </a:bodyPr>
          <a:lstStyle/>
          <a:p>
            <a:pPr algn="l">
              <a:spcAft>
                <a:spcPts val="400"/>
              </a:spcAft>
            </a:pPr>
            <a:r>
              <a:rPr sz="1400" b="1">
                <a:solidFill>
                  <a:srgbClr val="C0392B"/>
                </a:solidFill>
                <a:latin typeface="Arial"/>
              </a:rPr>
              <a:t>IN DEPTH</a:t>
            </a:r>
          </a:p>
        </p:txBody>
      </p:sp>
      <p:sp>
        <p:nvSpPr>
          <p:cNvPr id="5" name="TextBox 4"/>
          <p:cNvSpPr txBox="1"/>
          <p:nvPr/>
        </p:nvSpPr>
        <p:spPr>
          <a:xfrm>
            <a:off x="777240" y="896112"/>
            <a:ext cx="10927080" cy="731520"/>
          </a:xfrm>
          <a:prstGeom prst="rect">
            <a:avLst/>
          </a:prstGeom>
          <a:noFill/>
        </p:spPr>
        <p:txBody>
          <a:bodyPr wrap="square" anchor="t">
            <a:spAutoFit/>
          </a:bodyPr>
          <a:lstStyle/>
          <a:p>
            <a:pPr algn="l">
              <a:spcAft>
                <a:spcPts val="400"/>
              </a:spcAft>
            </a:pPr>
            <a:r>
              <a:rPr sz="2500" b="1">
                <a:solidFill>
                  <a:srgbClr val="161B26"/>
                </a:solidFill>
                <a:latin typeface="Arial"/>
              </a:rPr>
              <a:t>Governance blueprint — landing zone and guardrails</a:t>
            </a:r>
          </a:p>
        </p:txBody>
      </p:sp>
      <p:sp>
        <p:nvSpPr>
          <p:cNvPr id="6" name="Rectangle 5"/>
          <p:cNvSpPr/>
          <p:nvPr/>
        </p:nvSpPr>
        <p:spPr>
          <a:xfrm>
            <a:off x="777240" y="1572768"/>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783080"/>
            <a:ext cx="5212080" cy="425196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1783080"/>
            <a:ext cx="5212080" cy="91440"/>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1005840" y="1938528"/>
            <a:ext cx="4754880" cy="365760"/>
          </a:xfrm>
          <a:prstGeom prst="rect">
            <a:avLst/>
          </a:prstGeom>
          <a:noFill/>
        </p:spPr>
        <p:txBody>
          <a:bodyPr wrap="square" anchor="t">
            <a:spAutoFit/>
          </a:bodyPr>
          <a:lstStyle/>
          <a:p>
            <a:pPr algn="l">
              <a:spcAft>
                <a:spcPts val="400"/>
              </a:spcAft>
            </a:pPr>
            <a:r>
              <a:rPr sz="1200" b="1">
                <a:solidFill>
                  <a:srgbClr val="C0392B"/>
                </a:solidFill>
                <a:latin typeface="Arial"/>
              </a:rPr>
              <a:t>IN DEPTH</a:t>
            </a:r>
          </a:p>
        </p:txBody>
      </p:sp>
      <p:sp>
        <p:nvSpPr>
          <p:cNvPr id="10" name="TextBox 9"/>
          <p:cNvSpPr txBox="1"/>
          <p:nvPr/>
        </p:nvSpPr>
        <p:spPr>
          <a:xfrm>
            <a:off x="1005840" y="2377440"/>
            <a:ext cx="4754880" cy="3566160"/>
          </a:xfrm>
          <a:prstGeom prst="rect">
            <a:avLst/>
          </a:prstGeom>
          <a:noFill/>
        </p:spPr>
        <p:txBody>
          <a:bodyPr wrap="square">
            <a:spAutoFit/>
          </a:bodyPr>
          <a:lstStyle/>
          <a:p>
            <a:pPr>
              <a:spcAft>
                <a:spcPts val="800"/>
              </a:spcAft>
            </a:pPr>
            <a:r>
              <a:rPr sz="1350" b="0">
                <a:solidFill>
                  <a:srgbClr val="161B26"/>
                </a:solidFill>
                <a:latin typeface="Arial"/>
              </a:rPr>
              <a:t>•  A landing zone (via Control Tower) gives a documented, auditable security and network baseline.</a:t>
            </a:r>
          </a:p>
          <a:p>
            <a:pPr>
              <a:spcAft>
                <a:spcPts val="800"/>
              </a:spcAft>
            </a:pPr>
            <a:r>
              <a:rPr sz="1350" b="0">
                <a:solidFill>
                  <a:srgbClr val="161B26"/>
                </a:solidFill>
                <a:latin typeface="Arial"/>
              </a:rPr>
              <a:t>•  Preventive guardrails (SCPs) and detective guardrails (Config rules) are applied to every account.</a:t>
            </a:r>
          </a:p>
          <a:p>
            <a:pPr>
              <a:spcAft>
                <a:spcPts val="800"/>
              </a:spcAft>
            </a:pPr>
            <a:r>
              <a:rPr sz="1350" b="0">
                <a:solidFill>
                  <a:srgbClr val="161B26"/>
                </a:solidFill>
                <a:latin typeface="Arial"/>
              </a:rPr>
              <a:t>•  New accounts inherit the baseline automatically through account vending.</a:t>
            </a:r>
          </a:p>
        </p:txBody>
      </p:sp>
      <p:sp>
        <p:nvSpPr>
          <p:cNvPr id="11" name="Rectangle 10"/>
          <p:cNvSpPr/>
          <p:nvPr/>
        </p:nvSpPr>
        <p:spPr>
          <a:xfrm>
            <a:off x="6172200" y="1783080"/>
            <a:ext cx="5239512" cy="1325880"/>
          </a:xfrm>
          <a:prstGeom prst="rect">
            <a:avLst/>
          </a:prstGeom>
          <a:solidFill>
            <a:srgbClr val="FFFFFF"/>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ectangle 11"/>
          <p:cNvSpPr/>
          <p:nvPr/>
        </p:nvSpPr>
        <p:spPr>
          <a:xfrm>
            <a:off x="6172200" y="1783080"/>
            <a:ext cx="91440" cy="1325880"/>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6428232" y="1892808"/>
            <a:ext cx="4782312" cy="320040"/>
          </a:xfrm>
          <a:prstGeom prst="rect">
            <a:avLst/>
          </a:prstGeom>
          <a:noFill/>
        </p:spPr>
        <p:txBody>
          <a:bodyPr wrap="square" anchor="t">
            <a:spAutoFit/>
          </a:bodyPr>
          <a:lstStyle/>
          <a:p>
            <a:pPr algn="l">
              <a:spcAft>
                <a:spcPts val="400"/>
              </a:spcAft>
            </a:pPr>
            <a:r>
              <a:rPr sz="1150" b="1">
                <a:solidFill>
                  <a:srgbClr val="C0392B"/>
                </a:solidFill>
                <a:latin typeface="Arial"/>
              </a:rPr>
              <a:t>WHY IT MATTERS</a:t>
            </a:r>
          </a:p>
        </p:txBody>
      </p:sp>
      <p:sp>
        <p:nvSpPr>
          <p:cNvPr id="14" name="TextBox 13"/>
          <p:cNvSpPr txBox="1"/>
          <p:nvPr/>
        </p:nvSpPr>
        <p:spPr>
          <a:xfrm>
            <a:off x="6428232" y="2221992"/>
            <a:ext cx="4782312" cy="822960"/>
          </a:xfrm>
          <a:prstGeom prst="rect">
            <a:avLst/>
          </a:prstGeom>
          <a:noFill/>
        </p:spPr>
        <p:txBody>
          <a:bodyPr wrap="square" anchor="t">
            <a:spAutoFit/>
          </a:bodyPr>
          <a:lstStyle/>
          <a:p>
            <a:pPr algn="l">
              <a:spcAft>
                <a:spcPts val="400"/>
              </a:spcAft>
            </a:pPr>
            <a:r>
              <a:rPr sz="1250" b="0">
                <a:solidFill>
                  <a:srgbClr val="161B26"/>
                </a:solidFill>
                <a:latin typeface="Arial"/>
              </a:rPr>
              <a:t>A governance blueprint makes 'secure and compliant' the default state of every account, not a per-project effort.</a:t>
            </a:r>
          </a:p>
        </p:txBody>
      </p:sp>
      <p:sp>
        <p:nvSpPr>
          <p:cNvPr id="15" name="Rectangle 14"/>
          <p:cNvSpPr/>
          <p:nvPr/>
        </p:nvSpPr>
        <p:spPr>
          <a:xfrm>
            <a:off x="6172200" y="3246120"/>
            <a:ext cx="5239512" cy="1325880"/>
          </a:xfrm>
          <a:prstGeom prst="rect">
            <a:avLst/>
          </a:prstGeom>
          <a:solidFill>
            <a:srgbClr val="FFFFFF"/>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ectangle 15"/>
          <p:cNvSpPr/>
          <p:nvPr/>
        </p:nvSpPr>
        <p:spPr>
          <a:xfrm>
            <a:off x="6172200" y="3246120"/>
            <a:ext cx="91440" cy="1325880"/>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6428232" y="3355848"/>
            <a:ext cx="4782312" cy="320040"/>
          </a:xfrm>
          <a:prstGeom prst="rect">
            <a:avLst/>
          </a:prstGeom>
          <a:noFill/>
        </p:spPr>
        <p:txBody>
          <a:bodyPr wrap="square" anchor="t">
            <a:spAutoFit/>
          </a:bodyPr>
          <a:lstStyle/>
          <a:p>
            <a:pPr algn="l">
              <a:spcAft>
                <a:spcPts val="400"/>
              </a:spcAft>
            </a:pPr>
            <a:r>
              <a:rPr sz="1150" b="1">
                <a:solidFill>
                  <a:srgbClr val="C0392B"/>
                </a:solidFill>
                <a:latin typeface="Arial"/>
              </a:rPr>
              <a:t>FAILURE MODE</a:t>
            </a:r>
          </a:p>
        </p:txBody>
      </p:sp>
      <p:sp>
        <p:nvSpPr>
          <p:cNvPr id="18" name="TextBox 17"/>
          <p:cNvSpPr txBox="1"/>
          <p:nvPr/>
        </p:nvSpPr>
        <p:spPr>
          <a:xfrm>
            <a:off x="6428232" y="3685032"/>
            <a:ext cx="4782312" cy="822960"/>
          </a:xfrm>
          <a:prstGeom prst="rect">
            <a:avLst/>
          </a:prstGeom>
          <a:noFill/>
        </p:spPr>
        <p:txBody>
          <a:bodyPr wrap="square" anchor="t">
            <a:spAutoFit/>
          </a:bodyPr>
          <a:lstStyle/>
          <a:p>
            <a:pPr algn="l">
              <a:spcAft>
                <a:spcPts val="400"/>
              </a:spcAft>
            </a:pPr>
            <a:r>
              <a:rPr sz="1250" b="0">
                <a:solidFill>
                  <a:srgbClr val="161B26"/>
                </a:solidFill>
                <a:latin typeface="Arial"/>
              </a:rPr>
              <a:t>Ad-hoc, per-project security guarantees nothing is consistent and every audit re-discovers the same gaps.</a:t>
            </a:r>
          </a:p>
        </p:txBody>
      </p:sp>
      <p:sp>
        <p:nvSpPr>
          <p:cNvPr id="19" name="Rectangle 18"/>
          <p:cNvSpPr/>
          <p:nvPr/>
        </p:nvSpPr>
        <p:spPr>
          <a:xfrm>
            <a:off x="6172200" y="4709160"/>
            <a:ext cx="5239512" cy="1325880"/>
          </a:xfrm>
          <a:prstGeom prst="rect">
            <a:avLst/>
          </a:prstGeom>
          <a:solidFill>
            <a:srgbClr val="FFFFFF"/>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Rectangle 19"/>
          <p:cNvSpPr/>
          <p:nvPr/>
        </p:nvSpPr>
        <p:spPr>
          <a:xfrm>
            <a:off x="6172200" y="4709160"/>
            <a:ext cx="91440" cy="1325880"/>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6428232" y="4818888"/>
            <a:ext cx="4782312" cy="320040"/>
          </a:xfrm>
          <a:prstGeom prst="rect">
            <a:avLst/>
          </a:prstGeom>
          <a:noFill/>
        </p:spPr>
        <p:txBody>
          <a:bodyPr wrap="square" anchor="t">
            <a:spAutoFit/>
          </a:bodyPr>
          <a:lstStyle/>
          <a:p>
            <a:pPr algn="l">
              <a:spcAft>
                <a:spcPts val="400"/>
              </a:spcAft>
            </a:pPr>
            <a:r>
              <a:rPr sz="1150" b="1">
                <a:solidFill>
                  <a:srgbClr val="F59E0B"/>
                </a:solidFill>
                <a:latin typeface="Arial"/>
              </a:rPr>
              <a:t>TRADE-OFF / DECISION</a:t>
            </a:r>
          </a:p>
        </p:txBody>
      </p:sp>
      <p:sp>
        <p:nvSpPr>
          <p:cNvPr id="22" name="TextBox 21"/>
          <p:cNvSpPr txBox="1"/>
          <p:nvPr/>
        </p:nvSpPr>
        <p:spPr>
          <a:xfrm>
            <a:off x="6428232" y="5148072"/>
            <a:ext cx="4782312" cy="822960"/>
          </a:xfrm>
          <a:prstGeom prst="rect">
            <a:avLst/>
          </a:prstGeom>
          <a:noFill/>
        </p:spPr>
        <p:txBody>
          <a:bodyPr wrap="square" anchor="t">
            <a:spAutoFit/>
          </a:bodyPr>
          <a:lstStyle/>
          <a:p>
            <a:pPr algn="l">
              <a:spcAft>
                <a:spcPts val="400"/>
              </a:spcAft>
            </a:pPr>
            <a:r>
              <a:rPr sz="1250" b="0">
                <a:solidFill>
                  <a:srgbClr val="161B26"/>
                </a:solidFill>
                <a:latin typeface="Arial"/>
              </a:rPr>
              <a:t>A central blueprint needs a platform team and change process — the payoff is org-wide, provable compliance.</a:t>
            </a:r>
          </a:p>
        </p:txBody>
      </p:sp>
      <p:sp>
        <p:nvSpPr>
          <p:cNvPr id="23" name="TextBox 22"/>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DevOps Engineering on AWS  ·  TGS-2023040474</a:t>
            </a:r>
          </a:p>
        </p:txBody>
      </p:sp>
      <p:sp>
        <p:nvSpPr>
          <p:cNvPr id="24" name="TextBox 23"/>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25" name="TextBox 24"/>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202</a:t>
            </a:r>
          </a:p>
        </p:txBody>
      </p:sp>
    </p:spTree>
  </p:cSld>
  <p:clrMapOvr>
    <a:masterClrMapping/>
  </p:clrMapOvr>
  <p:transition xmlns:p14="http://schemas.microsoft.com/office/powerpoint/2010/main" p14:dur="380">
    <p:fade/>
  </p:transition>
</p:sld>
</file>

<file path=ppt/slides/slide20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38912"/>
            <a:ext cx="10607040" cy="365760"/>
          </a:xfrm>
          <a:prstGeom prst="rect">
            <a:avLst/>
          </a:prstGeom>
          <a:noFill/>
        </p:spPr>
        <p:txBody>
          <a:bodyPr wrap="square" anchor="t">
            <a:spAutoFit/>
          </a:bodyPr>
          <a:lstStyle/>
          <a:p>
            <a:pPr algn="l">
              <a:spcAft>
                <a:spcPts val="400"/>
              </a:spcAft>
            </a:pPr>
            <a:r>
              <a:rPr sz="1400" b="1">
                <a:solidFill>
                  <a:srgbClr val="C0392B"/>
                </a:solidFill>
                <a:latin typeface="Arial"/>
              </a:rPr>
              <a:t>IN DEPTH</a:t>
            </a:r>
          </a:p>
        </p:txBody>
      </p:sp>
      <p:sp>
        <p:nvSpPr>
          <p:cNvPr id="5" name="TextBox 4"/>
          <p:cNvSpPr txBox="1"/>
          <p:nvPr/>
        </p:nvSpPr>
        <p:spPr>
          <a:xfrm>
            <a:off x="777240" y="804672"/>
            <a:ext cx="10927080" cy="731520"/>
          </a:xfrm>
          <a:prstGeom prst="rect">
            <a:avLst/>
          </a:prstGeom>
          <a:noFill/>
        </p:spPr>
        <p:txBody>
          <a:bodyPr wrap="square" anchor="t">
            <a:spAutoFit/>
          </a:bodyPr>
          <a:lstStyle/>
          <a:p>
            <a:pPr algn="l">
              <a:spcAft>
                <a:spcPts val="400"/>
              </a:spcAft>
            </a:pPr>
            <a:r>
              <a:rPr sz="2900" b="1">
                <a:solidFill>
                  <a:srgbClr val="161B26"/>
                </a:solidFill>
                <a:latin typeface="Arial"/>
              </a:rPr>
              <a:t>Securing the pipeline itself (DevSecOps)</a:t>
            </a:r>
          </a:p>
        </p:txBody>
      </p:sp>
      <p:sp>
        <p:nvSpPr>
          <p:cNvPr id="6" name="Rectangle 5"/>
          <p:cNvSpPr/>
          <p:nvPr/>
        </p:nvSpPr>
        <p:spPr>
          <a:xfrm>
            <a:off x="777240" y="1572768"/>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783080"/>
            <a:ext cx="5212080" cy="425196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1783080"/>
            <a:ext cx="5212080" cy="91440"/>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1005840" y="1938528"/>
            <a:ext cx="4754880" cy="365760"/>
          </a:xfrm>
          <a:prstGeom prst="rect">
            <a:avLst/>
          </a:prstGeom>
          <a:noFill/>
        </p:spPr>
        <p:txBody>
          <a:bodyPr wrap="square" anchor="t">
            <a:spAutoFit/>
          </a:bodyPr>
          <a:lstStyle/>
          <a:p>
            <a:pPr algn="l">
              <a:spcAft>
                <a:spcPts val="400"/>
              </a:spcAft>
            </a:pPr>
            <a:r>
              <a:rPr sz="1200" b="1">
                <a:solidFill>
                  <a:srgbClr val="C0392B"/>
                </a:solidFill>
                <a:latin typeface="Arial"/>
              </a:rPr>
              <a:t>IN DEPTH</a:t>
            </a:r>
          </a:p>
        </p:txBody>
      </p:sp>
      <p:sp>
        <p:nvSpPr>
          <p:cNvPr id="10" name="TextBox 9"/>
          <p:cNvSpPr txBox="1"/>
          <p:nvPr/>
        </p:nvSpPr>
        <p:spPr>
          <a:xfrm>
            <a:off x="1005840" y="2377440"/>
            <a:ext cx="4754880" cy="3566160"/>
          </a:xfrm>
          <a:prstGeom prst="rect">
            <a:avLst/>
          </a:prstGeom>
          <a:noFill/>
        </p:spPr>
        <p:txBody>
          <a:bodyPr wrap="square">
            <a:spAutoFit/>
          </a:bodyPr>
          <a:lstStyle/>
          <a:p>
            <a:pPr>
              <a:spcAft>
                <a:spcPts val="800"/>
              </a:spcAft>
            </a:pPr>
            <a:r>
              <a:rPr sz="1350" b="0">
                <a:solidFill>
                  <a:srgbClr val="161B26"/>
                </a:solidFill>
                <a:latin typeface="Arial"/>
              </a:rPr>
              <a:t>•  Scan source and dependencies (SAST/SCA) and infrastructure templates in the build; sign and verify artifacts.</a:t>
            </a:r>
          </a:p>
          <a:p>
            <a:pPr>
              <a:spcAft>
                <a:spcPts val="800"/>
              </a:spcAft>
            </a:pPr>
            <a:r>
              <a:rPr sz="1350" b="0">
                <a:solidFill>
                  <a:srgbClr val="161B26"/>
                </a:solidFill>
                <a:latin typeface="Arial"/>
              </a:rPr>
              <a:t>•  Scope pipeline and deployment roles to least privilege and isolate environments by account.</a:t>
            </a:r>
          </a:p>
          <a:p>
            <a:pPr>
              <a:spcAft>
                <a:spcPts val="800"/>
              </a:spcAft>
            </a:pPr>
            <a:r>
              <a:rPr sz="1350" b="0">
                <a:solidFill>
                  <a:srgbClr val="161B26"/>
                </a:solidFill>
                <a:latin typeface="Arial"/>
              </a:rPr>
              <a:t>•  Store no secrets in code; pull them at deploy time from Secrets Manager/SSM.</a:t>
            </a:r>
          </a:p>
        </p:txBody>
      </p:sp>
      <p:sp>
        <p:nvSpPr>
          <p:cNvPr id="11" name="Rectangle 10"/>
          <p:cNvSpPr/>
          <p:nvPr/>
        </p:nvSpPr>
        <p:spPr>
          <a:xfrm>
            <a:off x="6172200" y="1783080"/>
            <a:ext cx="5239512" cy="1325880"/>
          </a:xfrm>
          <a:prstGeom prst="rect">
            <a:avLst/>
          </a:prstGeom>
          <a:solidFill>
            <a:srgbClr val="FFFFFF"/>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ectangle 11"/>
          <p:cNvSpPr/>
          <p:nvPr/>
        </p:nvSpPr>
        <p:spPr>
          <a:xfrm>
            <a:off x="6172200" y="1783080"/>
            <a:ext cx="91440" cy="1325880"/>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6428232" y="1892808"/>
            <a:ext cx="4782312" cy="320040"/>
          </a:xfrm>
          <a:prstGeom prst="rect">
            <a:avLst/>
          </a:prstGeom>
          <a:noFill/>
        </p:spPr>
        <p:txBody>
          <a:bodyPr wrap="square" anchor="t">
            <a:spAutoFit/>
          </a:bodyPr>
          <a:lstStyle/>
          <a:p>
            <a:pPr algn="l">
              <a:spcAft>
                <a:spcPts val="400"/>
              </a:spcAft>
            </a:pPr>
            <a:r>
              <a:rPr sz="1150" b="1">
                <a:solidFill>
                  <a:srgbClr val="C0392B"/>
                </a:solidFill>
                <a:latin typeface="Arial"/>
              </a:rPr>
              <a:t>WHY IT MATTERS</a:t>
            </a:r>
          </a:p>
        </p:txBody>
      </p:sp>
      <p:sp>
        <p:nvSpPr>
          <p:cNvPr id="14" name="TextBox 13"/>
          <p:cNvSpPr txBox="1"/>
          <p:nvPr/>
        </p:nvSpPr>
        <p:spPr>
          <a:xfrm>
            <a:off x="6428232" y="2221992"/>
            <a:ext cx="4782312" cy="822960"/>
          </a:xfrm>
          <a:prstGeom prst="rect">
            <a:avLst/>
          </a:prstGeom>
          <a:noFill/>
        </p:spPr>
        <p:txBody>
          <a:bodyPr wrap="square" anchor="t">
            <a:spAutoFit/>
          </a:bodyPr>
          <a:lstStyle/>
          <a:p>
            <a:pPr algn="l">
              <a:spcAft>
                <a:spcPts val="400"/>
              </a:spcAft>
            </a:pPr>
            <a:r>
              <a:rPr sz="1250" b="0">
                <a:solidFill>
                  <a:srgbClr val="161B26"/>
                </a:solidFill>
                <a:latin typeface="Arial"/>
              </a:rPr>
              <a:t>The pipeline has powerful credentials and touches production — a compromised pipeline is a compromised environment.</a:t>
            </a:r>
          </a:p>
        </p:txBody>
      </p:sp>
      <p:sp>
        <p:nvSpPr>
          <p:cNvPr id="15" name="Rectangle 14"/>
          <p:cNvSpPr/>
          <p:nvPr/>
        </p:nvSpPr>
        <p:spPr>
          <a:xfrm>
            <a:off x="6172200" y="3246120"/>
            <a:ext cx="5239512" cy="1325880"/>
          </a:xfrm>
          <a:prstGeom prst="rect">
            <a:avLst/>
          </a:prstGeom>
          <a:solidFill>
            <a:srgbClr val="FFFFFF"/>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ectangle 15"/>
          <p:cNvSpPr/>
          <p:nvPr/>
        </p:nvSpPr>
        <p:spPr>
          <a:xfrm>
            <a:off x="6172200" y="3246120"/>
            <a:ext cx="91440" cy="1325880"/>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6428232" y="3355848"/>
            <a:ext cx="4782312" cy="320040"/>
          </a:xfrm>
          <a:prstGeom prst="rect">
            <a:avLst/>
          </a:prstGeom>
          <a:noFill/>
        </p:spPr>
        <p:txBody>
          <a:bodyPr wrap="square" anchor="t">
            <a:spAutoFit/>
          </a:bodyPr>
          <a:lstStyle/>
          <a:p>
            <a:pPr algn="l">
              <a:spcAft>
                <a:spcPts val="400"/>
              </a:spcAft>
            </a:pPr>
            <a:r>
              <a:rPr sz="1150" b="1">
                <a:solidFill>
                  <a:srgbClr val="C0392B"/>
                </a:solidFill>
                <a:latin typeface="Arial"/>
              </a:rPr>
              <a:t>FAILURE MODE</a:t>
            </a:r>
          </a:p>
        </p:txBody>
      </p:sp>
      <p:sp>
        <p:nvSpPr>
          <p:cNvPr id="18" name="TextBox 17"/>
          <p:cNvSpPr txBox="1"/>
          <p:nvPr/>
        </p:nvSpPr>
        <p:spPr>
          <a:xfrm>
            <a:off x="6428232" y="3685032"/>
            <a:ext cx="4782312" cy="822960"/>
          </a:xfrm>
          <a:prstGeom prst="rect">
            <a:avLst/>
          </a:prstGeom>
          <a:noFill/>
        </p:spPr>
        <p:txBody>
          <a:bodyPr wrap="square" anchor="t">
            <a:spAutoFit/>
          </a:bodyPr>
          <a:lstStyle/>
          <a:p>
            <a:pPr algn="l">
              <a:spcAft>
                <a:spcPts val="400"/>
              </a:spcAft>
            </a:pPr>
            <a:r>
              <a:rPr sz="1250" b="0">
                <a:solidFill>
                  <a:srgbClr val="161B26"/>
                </a:solidFill>
                <a:latin typeface="Arial"/>
              </a:rPr>
              <a:t>A pipeline role with broad permissions and secrets in the repo is a direct path from a code leak to full compromise.</a:t>
            </a:r>
          </a:p>
        </p:txBody>
      </p:sp>
      <p:sp>
        <p:nvSpPr>
          <p:cNvPr id="19" name="Rectangle 18"/>
          <p:cNvSpPr/>
          <p:nvPr/>
        </p:nvSpPr>
        <p:spPr>
          <a:xfrm>
            <a:off x="6172200" y="4709160"/>
            <a:ext cx="5239512" cy="1325880"/>
          </a:xfrm>
          <a:prstGeom prst="rect">
            <a:avLst/>
          </a:prstGeom>
          <a:solidFill>
            <a:srgbClr val="FFFFFF"/>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Rectangle 19"/>
          <p:cNvSpPr/>
          <p:nvPr/>
        </p:nvSpPr>
        <p:spPr>
          <a:xfrm>
            <a:off x="6172200" y="4709160"/>
            <a:ext cx="91440" cy="1325880"/>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6428232" y="4818888"/>
            <a:ext cx="4782312" cy="320040"/>
          </a:xfrm>
          <a:prstGeom prst="rect">
            <a:avLst/>
          </a:prstGeom>
          <a:noFill/>
        </p:spPr>
        <p:txBody>
          <a:bodyPr wrap="square" anchor="t">
            <a:spAutoFit/>
          </a:bodyPr>
          <a:lstStyle/>
          <a:p>
            <a:pPr algn="l">
              <a:spcAft>
                <a:spcPts val="400"/>
              </a:spcAft>
            </a:pPr>
            <a:r>
              <a:rPr sz="1150" b="1">
                <a:solidFill>
                  <a:srgbClr val="F59E0B"/>
                </a:solidFill>
                <a:latin typeface="Arial"/>
              </a:rPr>
              <a:t>TRADE-OFF / DECISION</a:t>
            </a:r>
          </a:p>
        </p:txBody>
      </p:sp>
      <p:sp>
        <p:nvSpPr>
          <p:cNvPr id="22" name="TextBox 21"/>
          <p:cNvSpPr txBox="1"/>
          <p:nvPr/>
        </p:nvSpPr>
        <p:spPr>
          <a:xfrm>
            <a:off x="6428232" y="5148072"/>
            <a:ext cx="4782312" cy="822960"/>
          </a:xfrm>
          <a:prstGeom prst="rect">
            <a:avLst/>
          </a:prstGeom>
          <a:noFill/>
        </p:spPr>
        <p:txBody>
          <a:bodyPr wrap="square" anchor="t">
            <a:spAutoFit/>
          </a:bodyPr>
          <a:lstStyle/>
          <a:p>
            <a:pPr algn="l">
              <a:spcAft>
                <a:spcPts val="400"/>
              </a:spcAft>
            </a:pPr>
            <a:r>
              <a:rPr sz="1250" b="0">
                <a:solidFill>
                  <a:srgbClr val="161B26"/>
                </a:solidFill>
                <a:latin typeface="Arial"/>
              </a:rPr>
              <a:t>Security gates add build time — order them fast-to-slow and fail fast to keep the pipeline usable.</a:t>
            </a:r>
          </a:p>
        </p:txBody>
      </p:sp>
      <p:sp>
        <p:nvSpPr>
          <p:cNvPr id="23" name="TextBox 22"/>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DevOps Engineering on AWS  ·  TGS-2023040474</a:t>
            </a:r>
          </a:p>
        </p:txBody>
      </p:sp>
      <p:sp>
        <p:nvSpPr>
          <p:cNvPr id="24" name="TextBox 23"/>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25" name="TextBox 24"/>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203</a:t>
            </a:r>
          </a:p>
        </p:txBody>
      </p:sp>
    </p:spTree>
  </p:cSld>
  <p:clrMapOvr>
    <a:masterClrMapping/>
  </p:clrMapOvr>
  <p:transition xmlns:p14="http://schemas.microsoft.com/office/powerpoint/2010/main" p14:dur="380">
    <p:fade/>
  </p:transition>
</p:sld>
</file>

<file path=ppt/slides/slide20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38912"/>
            <a:ext cx="10607040" cy="365760"/>
          </a:xfrm>
          <a:prstGeom prst="rect">
            <a:avLst/>
          </a:prstGeom>
          <a:noFill/>
        </p:spPr>
        <p:txBody>
          <a:bodyPr wrap="square" anchor="t">
            <a:spAutoFit/>
          </a:bodyPr>
          <a:lstStyle/>
          <a:p>
            <a:pPr algn="l">
              <a:spcAft>
                <a:spcPts val="400"/>
              </a:spcAft>
            </a:pPr>
            <a:r>
              <a:rPr sz="1400" b="1">
                <a:solidFill>
                  <a:srgbClr val="C0392B"/>
                </a:solidFill>
                <a:latin typeface="Arial"/>
              </a:rPr>
              <a:t>LEAST PRIVILEGE AT SCALE</a:t>
            </a:r>
          </a:p>
        </p:txBody>
      </p:sp>
      <p:sp>
        <p:nvSpPr>
          <p:cNvPr id="5" name="TextBox 4"/>
          <p:cNvSpPr txBox="1"/>
          <p:nvPr/>
        </p:nvSpPr>
        <p:spPr>
          <a:xfrm>
            <a:off x="777240" y="804672"/>
            <a:ext cx="10927080" cy="731520"/>
          </a:xfrm>
          <a:prstGeom prst="rect">
            <a:avLst/>
          </a:prstGeom>
          <a:noFill/>
        </p:spPr>
        <p:txBody>
          <a:bodyPr wrap="square" anchor="t">
            <a:spAutoFit/>
          </a:bodyPr>
          <a:lstStyle/>
          <a:p>
            <a:pPr algn="l">
              <a:spcAft>
                <a:spcPts val="400"/>
              </a:spcAft>
            </a:pPr>
            <a:r>
              <a:rPr sz="2900" b="1">
                <a:solidFill>
                  <a:srgbClr val="161B26"/>
                </a:solidFill>
                <a:latin typeface="Arial"/>
              </a:rPr>
              <a:t>IAM — Users vs Roles vs Federation</a:t>
            </a:r>
          </a:p>
        </p:txBody>
      </p:sp>
      <p:sp>
        <p:nvSpPr>
          <p:cNvPr id="6" name="Rectangle 5"/>
          <p:cNvSpPr/>
          <p:nvPr/>
        </p:nvSpPr>
        <p:spPr>
          <a:xfrm>
            <a:off x="777240" y="1572768"/>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783080"/>
            <a:ext cx="2977652" cy="502920"/>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886968" y="1783080"/>
            <a:ext cx="2794772" cy="502920"/>
          </a:xfrm>
          <a:prstGeom prst="rect">
            <a:avLst/>
          </a:prstGeom>
          <a:noFill/>
        </p:spPr>
        <p:txBody>
          <a:bodyPr wrap="square" anchor="ctr">
            <a:spAutoFit/>
          </a:bodyPr>
          <a:lstStyle/>
          <a:p>
            <a:pPr algn="l">
              <a:spcAft>
                <a:spcPts val="400"/>
              </a:spcAft>
            </a:pPr>
            <a:r>
              <a:rPr sz="1400" b="1">
                <a:solidFill>
                  <a:srgbClr val="FFFFFF"/>
                </a:solidFill>
                <a:latin typeface="Arial"/>
              </a:rPr>
              <a:t>Identity</a:t>
            </a:r>
          </a:p>
        </p:txBody>
      </p:sp>
      <p:sp>
        <p:nvSpPr>
          <p:cNvPr id="9" name="Rectangle 8"/>
          <p:cNvSpPr/>
          <p:nvPr/>
        </p:nvSpPr>
        <p:spPr>
          <a:xfrm>
            <a:off x="3754892" y="1783080"/>
            <a:ext cx="3828409" cy="502920"/>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3864620" y="1783080"/>
            <a:ext cx="3645529" cy="502920"/>
          </a:xfrm>
          <a:prstGeom prst="rect">
            <a:avLst/>
          </a:prstGeom>
          <a:noFill/>
        </p:spPr>
        <p:txBody>
          <a:bodyPr wrap="square" anchor="ctr">
            <a:spAutoFit/>
          </a:bodyPr>
          <a:lstStyle/>
          <a:p>
            <a:pPr algn="ctr">
              <a:spcAft>
                <a:spcPts val="400"/>
              </a:spcAft>
            </a:pPr>
            <a:r>
              <a:rPr sz="1400" b="1">
                <a:solidFill>
                  <a:srgbClr val="FFFFFF"/>
                </a:solidFill>
                <a:latin typeface="Arial"/>
              </a:rPr>
              <a:t>What it is</a:t>
            </a:r>
          </a:p>
        </p:txBody>
      </p:sp>
      <p:sp>
        <p:nvSpPr>
          <p:cNvPr id="11" name="Rectangle 10"/>
          <p:cNvSpPr/>
          <p:nvPr/>
        </p:nvSpPr>
        <p:spPr>
          <a:xfrm>
            <a:off x="7583301" y="1783080"/>
            <a:ext cx="3828409" cy="502920"/>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7693029" y="1783080"/>
            <a:ext cx="3645529" cy="502920"/>
          </a:xfrm>
          <a:prstGeom prst="rect">
            <a:avLst/>
          </a:prstGeom>
          <a:noFill/>
        </p:spPr>
        <p:txBody>
          <a:bodyPr wrap="square" anchor="ctr">
            <a:spAutoFit/>
          </a:bodyPr>
          <a:lstStyle/>
          <a:p>
            <a:pPr algn="ctr">
              <a:spcAft>
                <a:spcPts val="400"/>
              </a:spcAft>
            </a:pPr>
            <a:r>
              <a:rPr sz="1400" b="1">
                <a:solidFill>
                  <a:srgbClr val="FFFFFF"/>
                </a:solidFill>
                <a:latin typeface="Arial"/>
              </a:rPr>
              <a:t>Best practice</a:t>
            </a:r>
          </a:p>
        </p:txBody>
      </p:sp>
      <p:sp>
        <p:nvSpPr>
          <p:cNvPr id="13" name="Rectangle 12"/>
          <p:cNvSpPr/>
          <p:nvPr/>
        </p:nvSpPr>
        <p:spPr>
          <a:xfrm>
            <a:off x="777240" y="2286000"/>
            <a:ext cx="2977652" cy="822960"/>
          </a:xfrm>
          <a:prstGeom prst="rect">
            <a:avLst/>
          </a:prstGeom>
          <a:solidFill>
            <a:srgbClr val="F5F8FC"/>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886968" y="2286000"/>
            <a:ext cx="2794772" cy="822960"/>
          </a:xfrm>
          <a:prstGeom prst="rect">
            <a:avLst/>
          </a:prstGeom>
          <a:noFill/>
        </p:spPr>
        <p:txBody>
          <a:bodyPr wrap="square" anchor="ctr">
            <a:spAutoFit/>
          </a:bodyPr>
          <a:lstStyle/>
          <a:p>
            <a:pPr algn="l">
              <a:spcAft>
                <a:spcPts val="400"/>
              </a:spcAft>
            </a:pPr>
            <a:r>
              <a:rPr sz="1250" b="1">
                <a:solidFill>
                  <a:srgbClr val="161B26"/>
                </a:solidFill>
                <a:latin typeface="Arial"/>
              </a:rPr>
              <a:t>IAM user + keys</a:t>
            </a:r>
          </a:p>
        </p:txBody>
      </p:sp>
      <p:sp>
        <p:nvSpPr>
          <p:cNvPr id="15" name="Rectangle 14"/>
          <p:cNvSpPr/>
          <p:nvPr/>
        </p:nvSpPr>
        <p:spPr>
          <a:xfrm>
            <a:off x="3754892" y="2286000"/>
            <a:ext cx="3828409" cy="822960"/>
          </a:xfrm>
          <a:prstGeom prst="rect">
            <a:avLst/>
          </a:prstGeom>
          <a:solidFill>
            <a:srgbClr val="F5F8FC"/>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3864620" y="2286000"/>
            <a:ext cx="3645529" cy="822960"/>
          </a:xfrm>
          <a:prstGeom prst="rect">
            <a:avLst/>
          </a:prstGeom>
          <a:noFill/>
        </p:spPr>
        <p:txBody>
          <a:bodyPr wrap="square" anchor="ctr">
            <a:spAutoFit/>
          </a:bodyPr>
          <a:lstStyle/>
          <a:p>
            <a:pPr algn="ctr">
              <a:spcAft>
                <a:spcPts val="400"/>
              </a:spcAft>
            </a:pPr>
            <a:r>
              <a:rPr sz="1250" b="0">
                <a:solidFill>
                  <a:srgbClr val="5B6372"/>
                </a:solidFill>
                <a:latin typeface="Arial"/>
              </a:rPr>
              <a:t>Long-lived credential</a:t>
            </a:r>
          </a:p>
        </p:txBody>
      </p:sp>
      <p:sp>
        <p:nvSpPr>
          <p:cNvPr id="17" name="Rectangle 16"/>
          <p:cNvSpPr/>
          <p:nvPr/>
        </p:nvSpPr>
        <p:spPr>
          <a:xfrm>
            <a:off x="7583301" y="2286000"/>
            <a:ext cx="3828409" cy="822960"/>
          </a:xfrm>
          <a:prstGeom prst="rect">
            <a:avLst/>
          </a:prstGeom>
          <a:solidFill>
            <a:srgbClr val="F5F8FC"/>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7693029" y="2286000"/>
            <a:ext cx="3645529" cy="822960"/>
          </a:xfrm>
          <a:prstGeom prst="rect">
            <a:avLst/>
          </a:prstGeom>
          <a:noFill/>
        </p:spPr>
        <p:txBody>
          <a:bodyPr wrap="square" anchor="ctr">
            <a:spAutoFit/>
          </a:bodyPr>
          <a:lstStyle/>
          <a:p>
            <a:pPr algn="ctr">
              <a:spcAft>
                <a:spcPts val="400"/>
              </a:spcAft>
            </a:pPr>
            <a:r>
              <a:rPr sz="1250" b="0">
                <a:solidFill>
                  <a:srgbClr val="5B6372"/>
                </a:solidFill>
                <a:latin typeface="Arial"/>
              </a:rPr>
              <a:t>Avoid; rotate/retire, prefer roles</a:t>
            </a:r>
          </a:p>
        </p:txBody>
      </p:sp>
      <p:sp>
        <p:nvSpPr>
          <p:cNvPr id="19" name="Rectangle 18"/>
          <p:cNvSpPr/>
          <p:nvPr/>
        </p:nvSpPr>
        <p:spPr>
          <a:xfrm>
            <a:off x="777240" y="3108960"/>
            <a:ext cx="2977652" cy="822960"/>
          </a:xfrm>
          <a:prstGeom prst="rect">
            <a:avLst/>
          </a:prstGeom>
          <a:solidFill>
            <a:srgbClr val="FFFFFF"/>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886968" y="3108960"/>
            <a:ext cx="2794772" cy="822960"/>
          </a:xfrm>
          <a:prstGeom prst="rect">
            <a:avLst/>
          </a:prstGeom>
          <a:noFill/>
        </p:spPr>
        <p:txBody>
          <a:bodyPr wrap="square" anchor="ctr">
            <a:spAutoFit/>
          </a:bodyPr>
          <a:lstStyle/>
          <a:p>
            <a:pPr algn="l">
              <a:spcAft>
                <a:spcPts val="400"/>
              </a:spcAft>
            </a:pPr>
            <a:r>
              <a:rPr sz="1250" b="1">
                <a:solidFill>
                  <a:srgbClr val="161B26"/>
                </a:solidFill>
                <a:latin typeface="Arial"/>
              </a:rPr>
              <a:t>IAM role</a:t>
            </a:r>
          </a:p>
        </p:txBody>
      </p:sp>
      <p:sp>
        <p:nvSpPr>
          <p:cNvPr id="21" name="Rectangle 20"/>
          <p:cNvSpPr/>
          <p:nvPr/>
        </p:nvSpPr>
        <p:spPr>
          <a:xfrm>
            <a:off x="3754892" y="3108960"/>
            <a:ext cx="3828409" cy="822960"/>
          </a:xfrm>
          <a:prstGeom prst="rect">
            <a:avLst/>
          </a:prstGeom>
          <a:solidFill>
            <a:srgbClr val="FFFFFF"/>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3864620" y="3108960"/>
            <a:ext cx="3645529" cy="822960"/>
          </a:xfrm>
          <a:prstGeom prst="rect">
            <a:avLst/>
          </a:prstGeom>
          <a:noFill/>
        </p:spPr>
        <p:txBody>
          <a:bodyPr wrap="square" anchor="ctr">
            <a:spAutoFit/>
          </a:bodyPr>
          <a:lstStyle/>
          <a:p>
            <a:pPr algn="ctr">
              <a:spcAft>
                <a:spcPts val="400"/>
              </a:spcAft>
            </a:pPr>
            <a:r>
              <a:rPr sz="1250" b="0">
                <a:solidFill>
                  <a:srgbClr val="5B6372"/>
                </a:solidFill>
                <a:latin typeface="Arial"/>
              </a:rPr>
              <a:t>Temporary, assumable</a:t>
            </a:r>
          </a:p>
        </p:txBody>
      </p:sp>
      <p:sp>
        <p:nvSpPr>
          <p:cNvPr id="23" name="Rectangle 22"/>
          <p:cNvSpPr/>
          <p:nvPr/>
        </p:nvSpPr>
        <p:spPr>
          <a:xfrm>
            <a:off x="7583301" y="3108960"/>
            <a:ext cx="3828409" cy="822960"/>
          </a:xfrm>
          <a:prstGeom prst="rect">
            <a:avLst/>
          </a:prstGeom>
          <a:solidFill>
            <a:srgbClr val="FFFFFF"/>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7693029" y="3108960"/>
            <a:ext cx="3645529" cy="822960"/>
          </a:xfrm>
          <a:prstGeom prst="rect">
            <a:avLst/>
          </a:prstGeom>
          <a:noFill/>
        </p:spPr>
        <p:txBody>
          <a:bodyPr wrap="square" anchor="ctr">
            <a:spAutoFit/>
          </a:bodyPr>
          <a:lstStyle/>
          <a:p>
            <a:pPr algn="ctr">
              <a:spcAft>
                <a:spcPts val="400"/>
              </a:spcAft>
            </a:pPr>
            <a:r>
              <a:rPr sz="1250" b="0">
                <a:solidFill>
                  <a:srgbClr val="5B6372"/>
                </a:solidFill>
                <a:latin typeface="Arial"/>
              </a:rPr>
              <a:t>Use for apps and cross-account</a:t>
            </a:r>
          </a:p>
        </p:txBody>
      </p:sp>
      <p:sp>
        <p:nvSpPr>
          <p:cNvPr id="25" name="Rectangle 24"/>
          <p:cNvSpPr/>
          <p:nvPr/>
        </p:nvSpPr>
        <p:spPr>
          <a:xfrm>
            <a:off x="777240" y="3931920"/>
            <a:ext cx="2977652" cy="822960"/>
          </a:xfrm>
          <a:prstGeom prst="rect">
            <a:avLst/>
          </a:prstGeom>
          <a:solidFill>
            <a:srgbClr val="F5F8FC"/>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886968" y="3931920"/>
            <a:ext cx="2794772" cy="822960"/>
          </a:xfrm>
          <a:prstGeom prst="rect">
            <a:avLst/>
          </a:prstGeom>
          <a:noFill/>
        </p:spPr>
        <p:txBody>
          <a:bodyPr wrap="square" anchor="ctr">
            <a:spAutoFit/>
          </a:bodyPr>
          <a:lstStyle/>
          <a:p>
            <a:pPr algn="l">
              <a:spcAft>
                <a:spcPts val="400"/>
              </a:spcAft>
            </a:pPr>
            <a:r>
              <a:rPr sz="1250" b="1">
                <a:solidFill>
                  <a:srgbClr val="161B26"/>
                </a:solidFill>
                <a:latin typeface="Arial"/>
              </a:rPr>
              <a:t>Federation / Identity Center</a:t>
            </a:r>
          </a:p>
        </p:txBody>
      </p:sp>
      <p:sp>
        <p:nvSpPr>
          <p:cNvPr id="27" name="Rectangle 26"/>
          <p:cNvSpPr/>
          <p:nvPr/>
        </p:nvSpPr>
        <p:spPr>
          <a:xfrm>
            <a:off x="3754892" y="3931920"/>
            <a:ext cx="3828409" cy="822960"/>
          </a:xfrm>
          <a:prstGeom prst="rect">
            <a:avLst/>
          </a:prstGeom>
          <a:solidFill>
            <a:srgbClr val="F5F8FC"/>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3864620" y="3931920"/>
            <a:ext cx="3645529" cy="822960"/>
          </a:xfrm>
          <a:prstGeom prst="rect">
            <a:avLst/>
          </a:prstGeom>
          <a:noFill/>
        </p:spPr>
        <p:txBody>
          <a:bodyPr wrap="square" anchor="ctr">
            <a:spAutoFit/>
          </a:bodyPr>
          <a:lstStyle/>
          <a:p>
            <a:pPr algn="ctr">
              <a:spcAft>
                <a:spcPts val="400"/>
              </a:spcAft>
            </a:pPr>
            <a:r>
              <a:rPr sz="1250" b="0">
                <a:solidFill>
                  <a:srgbClr val="5B6372"/>
                </a:solidFill>
                <a:latin typeface="Arial"/>
              </a:rPr>
              <a:t>IdP issues short-lived access</a:t>
            </a:r>
          </a:p>
        </p:txBody>
      </p:sp>
      <p:sp>
        <p:nvSpPr>
          <p:cNvPr id="29" name="Rectangle 28"/>
          <p:cNvSpPr/>
          <p:nvPr/>
        </p:nvSpPr>
        <p:spPr>
          <a:xfrm>
            <a:off x="7583301" y="3931920"/>
            <a:ext cx="3828409" cy="822960"/>
          </a:xfrm>
          <a:prstGeom prst="rect">
            <a:avLst/>
          </a:prstGeom>
          <a:solidFill>
            <a:srgbClr val="F5F8FC"/>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7693029" y="3931920"/>
            <a:ext cx="3645529" cy="822960"/>
          </a:xfrm>
          <a:prstGeom prst="rect">
            <a:avLst/>
          </a:prstGeom>
          <a:noFill/>
        </p:spPr>
        <p:txBody>
          <a:bodyPr wrap="square" anchor="ctr">
            <a:spAutoFit/>
          </a:bodyPr>
          <a:lstStyle/>
          <a:p>
            <a:pPr algn="ctr">
              <a:spcAft>
                <a:spcPts val="400"/>
              </a:spcAft>
            </a:pPr>
            <a:r>
              <a:rPr sz="1250" b="0">
                <a:solidFill>
                  <a:srgbClr val="5B6372"/>
                </a:solidFill>
                <a:latin typeface="Arial"/>
              </a:rPr>
              <a:t>Standard for workforce access</a:t>
            </a:r>
          </a:p>
        </p:txBody>
      </p:sp>
      <p:sp>
        <p:nvSpPr>
          <p:cNvPr id="31" name="Rectangle 30"/>
          <p:cNvSpPr/>
          <p:nvPr/>
        </p:nvSpPr>
        <p:spPr>
          <a:xfrm>
            <a:off x="777240" y="4754880"/>
            <a:ext cx="2977652" cy="822960"/>
          </a:xfrm>
          <a:prstGeom prst="rect">
            <a:avLst/>
          </a:prstGeom>
          <a:solidFill>
            <a:srgbClr val="FFFFFF"/>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TextBox 31"/>
          <p:cNvSpPr txBox="1"/>
          <p:nvPr/>
        </p:nvSpPr>
        <p:spPr>
          <a:xfrm>
            <a:off x="886968" y="4754880"/>
            <a:ext cx="2794772" cy="822960"/>
          </a:xfrm>
          <a:prstGeom prst="rect">
            <a:avLst/>
          </a:prstGeom>
          <a:noFill/>
        </p:spPr>
        <p:txBody>
          <a:bodyPr wrap="square" anchor="ctr">
            <a:spAutoFit/>
          </a:bodyPr>
          <a:lstStyle/>
          <a:p>
            <a:pPr algn="l">
              <a:spcAft>
                <a:spcPts val="400"/>
              </a:spcAft>
            </a:pPr>
            <a:r>
              <a:rPr sz="1250" b="1">
                <a:solidFill>
                  <a:srgbClr val="161B26"/>
                </a:solidFill>
                <a:latin typeface="Arial"/>
              </a:rPr>
              <a:t>Permission boundary</a:t>
            </a:r>
          </a:p>
        </p:txBody>
      </p:sp>
      <p:sp>
        <p:nvSpPr>
          <p:cNvPr id="33" name="Rectangle 32"/>
          <p:cNvSpPr/>
          <p:nvPr/>
        </p:nvSpPr>
        <p:spPr>
          <a:xfrm>
            <a:off x="3754892" y="4754880"/>
            <a:ext cx="3828409" cy="822960"/>
          </a:xfrm>
          <a:prstGeom prst="rect">
            <a:avLst/>
          </a:prstGeom>
          <a:solidFill>
            <a:srgbClr val="FFFFFF"/>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TextBox 33"/>
          <p:cNvSpPr txBox="1"/>
          <p:nvPr/>
        </p:nvSpPr>
        <p:spPr>
          <a:xfrm>
            <a:off x="3864620" y="4754880"/>
            <a:ext cx="3645529" cy="822960"/>
          </a:xfrm>
          <a:prstGeom prst="rect">
            <a:avLst/>
          </a:prstGeom>
          <a:noFill/>
        </p:spPr>
        <p:txBody>
          <a:bodyPr wrap="square" anchor="ctr">
            <a:spAutoFit/>
          </a:bodyPr>
          <a:lstStyle/>
          <a:p>
            <a:pPr algn="ctr">
              <a:spcAft>
                <a:spcPts val="400"/>
              </a:spcAft>
            </a:pPr>
            <a:r>
              <a:rPr sz="1250" b="0">
                <a:solidFill>
                  <a:srgbClr val="5B6372"/>
                </a:solidFill>
                <a:latin typeface="Arial"/>
              </a:rPr>
              <a:t>Cap on granted permissions</a:t>
            </a:r>
          </a:p>
        </p:txBody>
      </p:sp>
      <p:sp>
        <p:nvSpPr>
          <p:cNvPr id="35" name="Rectangle 34"/>
          <p:cNvSpPr/>
          <p:nvPr/>
        </p:nvSpPr>
        <p:spPr>
          <a:xfrm>
            <a:off x="7583301" y="4754880"/>
            <a:ext cx="3828409" cy="822960"/>
          </a:xfrm>
          <a:prstGeom prst="rect">
            <a:avLst/>
          </a:prstGeom>
          <a:solidFill>
            <a:srgbClr val="FFFFFF"/>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TextBox 35"/>
          <p:cNvSpPr txBox="1"/>
          <p:nvPr/>
        </p:nvSpPr>
        <p:spPr>
          <a:xfrm>
            <a:off x="7693029" y="4754880"/>
            <a:ext cx="3645529" cy="822960"/>
          </a:xfrm>
          <a:prstGeom prst="rect">
            <a:avLst/>
          </a:prstGeom>
          <a:noFill/>
        </p:spPr>
        <p:txBody>
          <a:bodyPr wrap="square" anchor="ctr">
            <a:spAutoFit/>
          </a:bodyPr>
          <a:lstStyle/>
          <a:p>
            <a:pPr algn="ctr">
              <a:spcAft>
                <a:spcPts val="400"/>
              </a:spcAft>
            </a:pPr>
            <a:r>
              <a:rPr sz="1250" b="0">
                <a:solidFill>
                  <a:srgbClr val="5B6372"/>
                </a:solidFill>
                <a:latin typeface="Arial"/>
              </a:rPr>
              <a:t>Guardrail for delegated admins</a:t>
            </a:r>
          </a:p>
        </p:txBody>
      </p:sp>
      <p:sp>
        <p:nvSpPr>
          <p:cNvPr id="37" name="TextBox 36"/>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DevOps Engineering on AWS  ·  TGS-2023040474</a:t>
            </a:r>
          </a:p>
        </p:txBody>
      </p:sp>
      <p:sp>
        <p:nvSpPr>
          <p:cNvPr id="38" name="TextBox 37"/>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39" name="TextBox 38"/>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204</a:t>
            </a:r>
          </a:p>
        </p:txBody>
      </p:sp>
    </p:spTree>
  </p:cSld>
  <p:clrMapOvr>
    <a:masterClrMapping/>
  </p:clrMapOvr>
  <p:transition xmlns:p14="http://schemas.microsoft.com/office/powerpoint/2010/main" p14:dur="380">
    <p:fade/>
  </p:transition>
</p:sld>
</file>

<file path=ppt/slides/slide20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38912"/>
            <a:ext cx="10607040" cy="365760"/>
          </a:xfrm>
          <a:prstGeom prst="rect">
            <a:avLst/>
          </a:prstGeom>
          <a:noFill/>
        </p:spPr>
        <p:txBody>
          <a:bodyPr wrap="square" anchor="t">
            <a:spAutoFit/>
          </a:bodyPr>
          <a:lstStyle/>
          <a:p>
            <a:pPr algn="l">
              <a:spcAft>
                <a:spcPts val="400"/>
              </a:spcAft>
            </a:pPr>
            <a:r>
              <a:rPr sz="1400" b="1">
                <a:solidFill>
                  <a:srgbClr val="C0392B"/>
                </a:solidFill>
                <a:latin typeface="Arial"/>
              </a:rPr>
              <a:t>CONTINUOUS COMPLIANCE WINS</a:t>
            </a:r>
          </a:p>
        </p:txBody>
      </p:sp>
      <p:sp>
        <p:nvSpPr>
          <p:cNvPr id="5" name="TextBox 4"/>
          <p:cNvSpPr txBox="1"/>
          <p:nvPr/>
        </p:nvSpPr>
        <p:spPr>
          <a:xfrm>
            <a:off x="777240" y="896112"/>
            <a:ext cx="10927080" cy="731520"/>
          </a:xfrm>
          <a:prstGeom prst="rect">
            <a:avLst/>
          </a:prstGeom>
          <a:noFill/>
        </p:spPr>
        <p:txBody>
          <a:bodyPr wrap="square" anchor="t">
            <a:spAutoFit/>
          </a:bodyPr>
          <a:lstStyle/>
          <a:p>
            <a:pPr algn="l">
              <a:spcAft>
                <a:spcPts val="400"/>
              </a:spcAft>
            </a:pPr>
            <a:r>
              <a:rPr sz="2500" b="1">
                <a:solidFill>
                  <a:srgbClr val="161B26"/>
                </a:solidFill>
                <a:latin typeface="Arial"/>
              </a:rPr>
              <a:t>Time-to-Detect a Public Bucket — Manual vs Continuous</a:t>
            </a:r>
          </a:p>
        </p:txBody>
      </p:sp>
      <p:sp>
        <p:nvSpPr>
          <p:cNvPr id="6" name="Rectangle 5"/>
          <p:cNvSpPr/>
          <p:nvPr/>
        </p:nvSpPr>
        <p:spPr>
          <a:xfrm>
            <a:off x="777240" y="1572768"/>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graphicFrame>
        <p:nvGraphicFramePr>
          <p:cNvPr id="7" name="Chart 6"/>
          <p:cNvGraphicFramePr>
            <a:graphicFrameLocks noGrp="1"/>
          </p:cNvGraphicFramePr>
          <p:nvPr/>
        </p:nvGraphicFramePr>
        <p:xfrm>
          <a:off x="777240" y="1828800"/>
          <a:ext cx="10634472" cy="3291840"/>
        </p:xfrm>
        <a:graphic>
          <a:graphicData uri="http://schemas.openxmlformats.org/drawingml/2006/chart">
            <c:chart xmlns:c="http://schemas.openxmlformats.org/drawingml/2006/chart" r:id="rId2"/>
          </a:graphicData>
        </a:graphic>
      </p:graphicFrame>
      <p:sp>
        <p:nvSpPr>
          <p:cNvPr id="8" name="Rectangle 7"/>
          <p:cNvSpPr/>
          <p:nvPr/>
        </p:nvSpPr>
        <p:spPr>
          <a:xfrm>
            <a:off x="777240" y="5349240"/>
            <a:ext cx="10634472" cy="86868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777240" y="5349240"/>
            <a:ext cx="91440" cy="868680"/>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005840" y="5440680"/>
            <a:ext cx="10241280" cy="320040"/>
          </a:xfrm>
          <a:prstGeom prst="rect">
            <a:avLst/>
          </a:prstGeom>
          <a:noFill/>
        </p:spPr>
        <p:txBody>
          <a:bodyPr wrap="square" anchor="t">
            <a:spAutoFit/>
          </a:bodyPr>
          <a:lstStyle/>
          <a:p>
            <a:pPr algn="l">
              <a:spcAft>
                <a:spcPts val="400"/>
              </a:spcAft>
            </a:pPr>
            <a:r>
              <a:rPr sz="1100" b="1">
                <a:solidFill>
                  <a:srgbClr val="C0392B"/>
                </a:solidFill>
                <a:latin typeface="Arial"/>
              </a:rPr>
              <a:t>WHAT THE DATA SHOWS</a:t>
            </a:r>
          </a:p>
        </p:txBody>
      </p:sp>
      <p:sp>
        <p:nvSpPr>
          <p:cNvPr id="11" name="TextBox 10"/>
          <p:cNvSpPr txBox="1"/>
          <p:nvPr/>
        </p:nvSpPr>
        <p:spPr>
          <a:xfrm>
            <a:off x="1005840" y="5742432"/>
            <a:ext cx="10241280" cy="457200"/>
          </a:xfrm>
          <a:prstGeom prst="rect">
            <a:avLst/>
          </a:prstGeom>
          <a:noFill/>
        </p:spPr>
        <p:txBody>
          <a:bodyPr wrap="square" anchor="t">
            <a:spAutoFit/>
          </a:bodyPr>
          <a:lstStyle/>
          <a:p>
            <a:pPr algn="l">
              <a:spcAft>
                <a:spcPts val="400"/>
              </a:spcAft>
            </a:pPr>
            <a:r>
              <a:rPr sz="1350" b="0">
                <a:solidFill>
                  <a:srgbClr val="161B26"/>
                </a:solidFill>
                <a:latin typeface="Arial"/>
              </a:rPr>
              <a:t>Continuous Config evaluation shrinks the exposure window from months to minutes — the difference between a finding and a breach.</a:t>
            </a:r>
          </a:p>
        </p:txBody>
      </p:sp>
      <p:sp>
        <p:nvSpPr>
          <p:cNvPr id="12" name="TextBox 11"/>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DevOps Engineering on AWS  ·  TGS-2023040474</a:t>
            </a:r>
          </a:p>
        </p:txBody>
      </p:sp>
      <p:sp>
        <p:nvSpPr>
          <p:cNvPr id="13" name="TextBox 12"/>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4" name="TextBox 13"/>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205</a:t>
            </a:r>
          </a:p>
        </p:txBody>
      </p:sp>
    </p:spTree>
  </p:cSld>
  <p:clrMapOvr>
    <a:masterClrMapping/>
  </p:clrMapOvr>
  <p:transition xmlns:p14="http://schemas.microsoft.com/office/powerpoint/2010/main" p14:dur="380">
    <p:fade/>
  </p:transition>
</p:sld>
</file>

<file path=ppt/slides/slide20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38912"/>
            <a:ext cx="10607040" cy="365760"/>
          </a:xfrm>
          <a:prstGeom prst="rect">
            <a:avLst/>
          </a:prstGeom>
          <a:noFill/>
        </p:spPr>
        <p:txBody>
          <a:bodyPr wrap="square" anchor="t">
            <a:spAutoFit/>
          </a:bodyPr>
          <a:lstStyle/>
          <a:p>
            <a:pPr algn="l">
              <a:spcAft>
                <a:spcPts val="400"/>
              </a:spcAft>
            </a:pPr>
            <a:r>
              <a:rPr sz="1400" b="1">
                <a:solidFill>
                  <a:srgbClr val="C0392B"/>
                </a:solidFill>
                <a:latin typeface="Arial"/>
              </a:rPr>
              <a:t>HOW ACCOUNTS GET COMPROMISED</a:t>
            </a:r>
          </a:p>
        </p:txBody>
      </p:sp>
      <p:sp>
        <p:nvSpPr>
          <p:cNvPr id="5" name="TextBox 4"/>
          <p:cNvSpPr txBox="1"/>
          <p:nvPr/>
        </p:nvSpPr>
        <p:spPr>
          <a:xfrm>
            <a:off x="777240" y="804672"/>
            <a:ext cx="10927080" cy="731520"/>
          </a:xfrm>
          <a:prstGeom prst="rect">
            <a:avLst/>
          </a:prstGeom>
          <a:noFill/>
        </p:spPr>
        <p:txBody>
          <a:bodyPr wrap="square" anchor="t">
            <a:spAutoFit/>
          </a:bodyPr>
          <a:lstStyle/>
          <a:p>
            <a:pPr algn="l">
              <a:spcAft>
                <a:spcPts val="400"/>
              </a:spcAft>
            </a:pPr>
            <a:r>
              <a:rPr sz="2900" b="1">
                <a:solidFill>
                  <a:srgbClr val="161B26"/>
                </a:solidFill>
                <a:latin typeface="Arial"/>
              </a:rPr>
              <a:t>Security Failure Modes &amp; Anti-Patterns</a:t>
            </a:r>
          </a:p>
        </p:txBody>
      </p:sp>
      <p:sp>
        <p:nvSpPr>
          <p:cNvPr id="6" name="Rectangle 5"/>
          <p:cNvSpPr/>
          <p:nvPr/>
        </p:nvSpPr>
        <p:spPr>
          <a:xfrm>
            <a:off x="777240" y="1572768"/>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783080"/>
            <a:ext cx="5180076" cy="131064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1783080"/>
            <a:ext cx="91440" cy="131064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1033272" y="2164080"/>
            <a:ext cx="548640" cy="548640"/>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033272" y="2164080"/>
            <a:ext cx="548640" cy="548640"/>
          </a:xfrm>
          <a:prstGeom prst="rect">
            <a:avLst/>
          </a:prstGeom>
          <a:noFill/>
        </p:spPr>
        <p:txBody>
          <a:bodyPr wrap="square" anchor="ctr">
            <a:spAutoFit/>
          </a:bodyPr>
          <a:lstStyle/>
          <a:p>
            <a:pPr algn="ctr">
              <a:spcAft>
                <a:spcPts val="400"/>
              </a:spcAft>
            </a:pPr>
            <a:r>
              <a:rPr sz="1800" b="1">
                <a:solidFill>
                  <a:srgbClr val="FFFFFF"/>
                </a:solidFill>
                <a:latin typeface="Arial"/>
              </a:rPr>
              <a:t>1</a:t>
            </a:r>
          </a:p>
        </p:txBody>
      </p:sp>
      <p:sp>
        <p:nvSpPr>
          <p:cNvPr id="11" name="TextBox 10"/>
          <p:cNvSpPr txBox="1"/>
          <p:nvPr/>
        </p:nvSpPr>
        <p:spPr>
          <a:xfrm>
            <a:off x="1764792" y="1892808"/>
            <a:ext cx="3973068" cy="1127760"/>
          </a:xfrm>
          <a:prstGeom prst="rect">
            <a:avLst/>
          </a:prstGeom>
          <a:noFill/>
        </p:spPr>
        <p:txBody>
          <a:bodyPr wrap="square" anchor="ctr">
            <a:spAutoFit/>
          </a:bodyPr>
          <a:lstStyle/>
          <a:p>
            <a:pPr algn="l">
              <a:spcAft>
                <a:spcPts val="300"/>
              </a:spcAft>
            </a:pPr>
            <a:r>
              <a:rPr sz="1500" b="1">
                <a:solidFill>
                  <a:srgbClr val="161B26"/>
                </a:solidFill>
                <a:latin typeface="Arial"/>
              </a:rPr>
              <a:t>Wildcard IAM policies</a:t>
            </a:r>
          </a:p>
          <a:p>
            <a:pPr algn="l">
              <a:spcAft>
                <a:spcPts val="300"/>
              </a:spcAft>
            </a:pPr>
            <a:r>
              <a:rPr sz="1100" b="0">
                <a:solidFill>
                  <a:srgbClr val="5B6372"/>
                </a:solidFill>
                <a:latin typeface="Arial"/>
              </a:rPr>
              <a:t>One leaked key = full access → least privilege + Access Analyzer.</a:t>
            </a:r>
          </a:p>
        </p:txBody>
      </p:sp>
      <p:sp>
        <p:nvSpPr>
          <p:cNvPr id="12" name="Rectangle 11"/>
          <p:cNvSpPr/>
          <p:nvPr/>
        </p:nvSpPr>
        <p:spPr>
          <a:xfrm>
            <a:off x="6231636" y="1783080"/>
            <a:ext cx="5180076" cy="131064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6231636" y="1783080"/>
            <a:ext cx="91440" cy="131064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Oval 13"/>
          <p:cNvSpPr/>
          <p:nvPr/>
        </p:nvSpPr>
        <p:spPr>
          <a:xfrm>
            <a:off x="6487668" y="2164080"/>
            <a:ext cx="548640" cy="54864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6487668" y="2164080"/>
            <a:ext cx="548640" cy="548640"/>
          </a:xfrm>
          <a:prstGeom prst="rect">
            <a:avLst/>
          </a:prstGeom>
          <a:noFill/>
        </p:spPr>
        <p:txBody>
          <a:bodyPr wrap="square" anchor="ctr">
            <a:spAutoFit/>
          </a:bodyPr>
          <a:lstStyle/>
          <a:p>
            <a:pPr algn="ctr">
              <a:spcAft>
                <a:spcPts val="400"/>
              </a:spcAft>
            </a:pPr>
            <a:r>
              <a:rPr sz="1800" b="1">
                <a:solidFill>
                  <a:srgbClr val="FFFFFF"/>
                </a:solidFill>
                <a:latin typeface="Arial"/>
              </a:rPr>
              <a:t>2</a:t>
            </a:r>
          </a:p>
        </p:txBody>
      </p:sp>
      <p:sp>
        <p:nvSpPr>
          <p:cNvPr id="16" name="TextBox 15"/>
          <p:cNvSpPr txBox="1"/>
          <p:nvPr/>
        </p:nvSpPr>
        <p:spPr>
          <a:xfrm>
            <a:off x="7219188" y="1892808"/>
            <a:ext cx="3973068" cy="1127760"/>
          </a:xfrm>
          <a:prstGeom prst="rect">
            <a:avLst/>
          </a:prstGeom>
          <a:noFill/>
        </p:spPr>
        <p:txBody>
          <a:bodyPr wrap="square" anchor="ctr">
            <a:spAutoFit/>
          </a:bodyPr>
          <a:lstStyle/>
          <a:p>
            <a:pPr algn="l">
              <a:spcAft>
                <a:spcPts val="300"/>
              </a:spcAft>
            </a:pPr>
            <a:r>
              <a:rPr sz="1500" b="1">
                <a:solidFill>
                  <a:srgbClr val="161B26"/>
                </a:solidFill>
                <a:latin typeface="Arial"/>
              </a:rPr>
              <a:t>Long-lived access keys</a:t>
            </a:r>
          </a:p>
          <a:p>
            <a:pPr algn="l">
              <a:spcAft>
                <a:spcPts val="300"/>
              </a:spcAft>
            </a:pPr>
            <a:r>
              <a:rPr sz="1100" b="0">
                <a:solidFill>
                  <a:srgbClr val="5B6372"/>
                </a:solidFill>
                <a:latin typeface="Arial"/>
              </a:rPr>
              <a:t>Hard to rotate/audit → roles and federation.</a:t>
            </a:r>
          </a:p>
        </p:txBody>
      </p:sp>
      <p:sp>
        <p:nvSpPr>
          <p:cNvPr id="17" name="Rectangle 16"/>
          <p:cNvSpPr/>
          <p:nvPr/>
        </p:nvSpPr>
        <p:spPr>
          <a:xfrm>
            <a:off x="777240" y="3313176"/>
            <a:ext cx="5180076" cy="131064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777240" y="3313176"/>
            <a:ext cx="91440" cy="1310640"/>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Oval 18"/>
          <p:cNvSpPr/>
          <p:nvPr/>
        </p:nvSpPr>
        <p:spPr>
          <a:xfrm>
            <a:off x="1033272" y="3694176"/>
            <a:ext cx="548640" cy="548640"/>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1033272" y="3694176"/>
            <a:ext cx="548640" cy="548640"/>
          </a:xfrm>
          <a:prstGeom prst="rect">
            <a:avLst/>
          </a:prstGeom>
          <a:noFill/>
        </p:spPr>
        <p:txBody>
          <a:bodyPr wrap="square" anchor="ctr">
            <a:spAutoFit/>
          </a:bodyPr>
          <a:lstStyle/>
          <a:p>
            <a:pPr algn="ctr">
              <a:spcAft>
                <a:spcPts val="400"/>
              </a:spcAft>
            </a:pPr>
            <a:r>
              <a:rPr sz="1800" b="1">
                <a:solidFill>
                  <a:srgbClr val="FFFFFF"/>
                </a:solidFill>
                <a:latin typeface="Arial"/>
              </a:rPr>
              <a:t>3</a:t>
            </a:r>
          </a:p>
        </p:txBody>
      </p:sp>
      <p:sp>
        <p:nvSpPr>
          <p:cNvPr id="21" name="TextBox 20"/>
          <p:cNvSpPr txBox="1"/>
          <p:nvPr/>
        </p:nvSpPr>
        <p:spPr>
          <a:xfrm>
            <a:off x="1764792" y="3422904"/>
            <a:ext cx="3973068" cy="1127760"/>
          </a:xfrm>
          <a:prstGeom prst="rect">
            <a:avLst/>
          </a:prstGeom>
          <a:noFill/>
        </p:spPr>
        <p:txBody>
          <a:bodyPr wrap="square" anchor="ctr">
            <a:spAutoFit/>
          </a:bodyPr>
          <a:lstStyle/>
          <a:p>
            <a:pPr algn="l">
              <a:spcAft>
                <a:spcPts val="300"/>
              </a:spcAft>
            </a:pPr>
            <a:r>
              <a:rPr sz="1500" b="1">
                <a:solidFill>
                  <a:srgbClr val="161B26"/>
                </a:solidFill>
                <a:latin typeface="Arial"/>
              </a:rPr>
              <a:t>Public S3 / open SGs</a:t>
            </a:r>
          </a:p>
          <a:p>
            <a:pPr algn="l">
              <a:spcAft>
                <a:spcPts val="300"/>
              </a:spcAft>
            </a:pPr>
            <a:r>
              <a:rPr sz="1100" b="0">
                <a:solidFill>
                  <a:srgbClr val="5B6372"/>
                </a:solidFill>
                <a:latin typeface="Arial"/>
              </a:rPr>
              <a:t>Accidental exposure → Block Public Access, Config rules.</a:t>
            </a:r>
          </a:p>
        </p:txBody>
      </p:sp>
      <p:sp>
        <p:nvSpPr>
          <p:cNvPr id="22" name="Rectangle 21"/>
          <p:cNvSpPr/>
          <p:nvPr/>
        </p:nvSpPr>
        <p:spPr>
          <a:xfrm>
            <a:off x="6231636" y="3313176"/>
            <a:ext cx="5180076" cy="131064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ectangle 22"/>
          <p:cNvSpPr/>
          <p:nvPr/>
        </p:nvSpPr>
        <p:spPr>
          <a:xfrm>
            <a:off x="6231636" y="3313176"/>
            <a:ext cx="91440" cy="1310640"/>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Oval 23"/>
          <p:cNvSpPr/>
          <p:nvPr/>
        </p:nvSpPr>
        <p:spPr>
          <a:xfrm>
            <a:off x="6487668" y="3694176"/>
            <a:ext cx="548640" cy="548640"/>
          </a:xfrm>
          <a:prstGeom prst="ellipse">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6487668" y="3694176"/>
            <a:ext cx="548640" cy="548640"/>
          </a:xfrm>
          <a:prstGeom prst="rect">
            <a:avLst/>
          </a:prstGeom>
          <a:noFill/>
        </p:spPr>
        <p:txBody>
          <a:bodyPr wrap="square" anchor="ctr">
            <a:spAutoFit/>
          </a:bodyPr>
          <a:lstStyle/>
          <a:p>
            <a:pPr algn="ctr">
              <a:spcAft>
                <a:spcPts val="400"/>
              </a:spcAft>
            </a:pPr>
            <a:r>
              <a:rPr sz="1800" b="1">
                <a:solidFill>
                  <a:srgbClr val="FFFFFF"/>
                </a:solidFill>
                <a:latin typeface="Arial"/>
              </a:rPr>
              <a:t>4</a:t>
            </a:r>
          </a:p>
        </p:txBody>
      </p:sp>
      <p:sp>
        <p:nvSpPr>
          <p:cNvPr id="26" name="TextBox 25"/>
          <p:cNvSpPr txBox="1"/>
          <p:nvPr/>
        </p:nvSpPr>
        <p:spPr>
          <a:xfrm>
            <a:off x="7219188" y="3422904"/>
            <a:ext cx="3973068" cy="1127760"/>
          </a:xfrm>
          <a:prstGeom prst="rect">
            <a:avLst/>
          </a:prstGeom>
          <a:noFill/>
        </p:spPr>
        <p:txBody>
          <a:bodyPr wrap="square" anchor="ctr">
            <a:spAutoFit/>
          </a:bodyPr>
          <a:lstStyle/>
          <a:p>
            <a:pPr algn="l">
              <a:spcAft>
                <a:spcPts val="300"/>
              </a:spcAft>
            </a:pPr>
            <a:r>
              <a:rPr sz="1500" b="1">
                <a:solidFill>
                  <a:srgbClr val="161B26"/>
                </a:solidFill>
                <a:latin typeface="Arial"/>
              </a:rPr>
              <a:t>No CloudTrail / validation</a:t>
            </a:r>
          </a:p>
          <a:p>
            <a:pPr algn="l">
              <a:spcAft>
                <a:spcPts val="300"/>
              </a:spcAft>
            </a:pPr>
            <a:r>
              <a:rPr sz="1100" b="0">
                <a:solidFill>
                  <a:srgbClr val="5B6372"/>
                </a:solidFill>
                <a:latin typeface="Arial"/>
              </a:rPr>
              <a:t>Incidents unauditable → org trail + log-file validation.</a:t>
            </a:r>
          </a:p>
        </p:txBody>
      </p:sp>
      <p:sp>
        <p:nvSpPr>
          <p:cNvPr id="27" name="Rectangle 26"/>
          <p:cNvSpPr/>
          <p:nvPr/>
        </p:nvSpPr>
        <p:spPr>
          <a:xfrm>
            <a:off x="777240" y="4843272"/>
            <a:ext cx="5180076" cy="131064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Rectangle 27"/>
          <p:cNvSpPr/>
          <p:nvPr/>
        </p:nvSpPr>
        <p:spPr>
          <a:xfrm>
            <a:off x="777240" y="4843272"/>
            <a:ext cx="91440" cy="1310640"/>
          </a:xfrm>
          <a:prstGeom prst="rect">
            <a:avLst/>
          </a:prstGeom>
          <a:solidFill>
            <a:srgbClr val="EC711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Oval 28"/>
          <p:cNvSpPr/>
          <p:nvPr/>
        </p:nvSpPr>
        <p:spPr>
          <a:xfrm>
            <a:off x="1033272" y="5224272"/>
            <a:ext cx="548640" cy="548640"/>
          </a:xfrm>
          <a:prstGeom prst="ellipse">
            <a:avLst/>
          </a:prstGeom>
          <a:solidFill>
            <a:srgbClr val="EC711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1033272" y="5224272"/>
            <a:ext cx="548640" cy="548640"/>
          </a:xfrm>
          <a:prstGeom prst="rect">
            <a:avLst/>
          </a:prstGeom>
          <a:noFill/>
        </p:spPr>
        <p:txBody>
          <a:bodyPr wrap="square" anchor="ctr">
            <a:spAutoFit/>
          </a:bodyPr>
          <a:lstStyle/>
          <a:p>
            <a:pPr algn="ctr">
              <a:spcAft>
                <a:spcPts val="400"/>
              </a:spcAft>
            </a:pPr>
            <a:r>
              <a:rPr sz="1800" b="1">
                <a:solidFill>
                  <a:srgbClr val="FFFFFF"/>
                </a:solidFill>
                <a:latin typeface="Arial"/>
              </a:rPr>
              <a:t>5</a:t>
            </a:r>
          </a:p>
        </p:txBody>
      </p:sp>
      <p:sp>
        <p:nvSpPr>
          <p:cNvPr id="31" name="TextBox 30"/>
          <p:cNvSpPr txBox="1"/>
          <p:nvPr/>
        </p:nvSpPr>
        <p:spPr>
          <a:xfrm>
            <a:off x="1764792" y="4953000"/>
            <a:ext cx="3973068" cy="1127760"/>
          </a:xfrm>
          <a:prstGeom prst="rect">
            <a:avLst/>
          </a:prstGeom>
          <a:noFill/>
        </p:spPr>
        <p:txBody>
          <a:bodyPr wrap="square" anchor="ctr">
            <a:spAutoFit/>
          </a:bodyPr>
          <a:lstStyle/>
          <a:p>
            <a:pPr algn="l">
              <a:spcAft>
                <a:spcPts val="300"/>
              </a:spcAft>
            </a:pPr>
            <a:r>
              <a:rPr sz="1500" b="1">
                <a:solidFill>
                  <a:srgbClr val="161B26"/>
                </a:solidFill>
                <a:latin typeface="Arial"/>
              </a:rPr>
              <a:t>Secrets in code</a:t>
            </a:r>
          </a:p>
          <a:p>
            <a:pPr algn="l">
              <a:spcAft>
                <a:spcPts val="300"/>
              </a:spcAft>
            </a:pPr>
            <a:r>
              <a:rPr sz="1100" b="0">
                <a:solidFill>
                  <a:srgbClr val="5B6372"/>
                </a:solidFill>
                <a:latin typeface="Arial"/>
              </a:rPr>
              <a:t>Leak on repo access → Secrets Manager/SSM.</a:t>
            </a:r>
          </a:p>
        </p:txBody>
      </p:sp>
      <p:sp>
        <p:nvSpPr>
          <p:cNvPr id="32" name="Rectangle 31"/>
          <p:cNvSpPr/>
          <p:nvPr/>
        </p:nvSpPr>
        <p:spPr>
          <a:xfrm>
            <a:off x="6231636" y="4843272"/>
            <a:ext cx="5180076" cy="131064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Rectangle 32"/>
          <p:cNvSpPr/>
          <p:nvPr/>
        </p:nvSpPr>
        <p:spPr>
          <a:xfrm>
            <a:off x="6231636" y="4843272"/>
            <a:ext cx="91440" cy="1310640"/>
          </a:xfrm>
          <a:prstGeom prst="rect">
            <a:avLst/>
          </a:prstGeom>
          <a:solidFill>
            <a:srgbClr val="0E9EC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Oval 33"/>
          <p:cNvSpPr/>
          <p:nvPr/>
        </p:nvSpPr>
        <p:spPr>
          <a:xfrm>
            <a:off x="6487668" y="5224272"/>
            <a:ext cx="548640" cy="548640"/>
          </a:xfrm>
          <a:prstGeom prst="ellipse">
            <a:avLst/>
          </a:prstGeom>
          <a:solidFill>
            <a:srgbClr val="0E9EC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TextBox 34"/>
          <p:cNvSpPr txBox="1"/>
          <p:nvPr/>
        </p:nvSpPr>
        <p:spPr>
          <a:xfrm>
            <a:off x="6487668" y="5224272"/>
            <a:ext cx="548640" cy="548640"/>
          </a:xfrm>
          <a:prstGeom prst="rect">
            <a:avLst/>
          </a:prstGeom>
          <a:noFill/>
        </p:spPr>
        <p:txBody>
          <a:bodyPr wrap="square" anchor="ctr">
            <a:spAutoFit/>
          </a:bodyPr>
          <a:lstStyle/>
          <a:p>
            <a:pPr algn="ctr">
              <a:spcAft>
                <a:spcPts val="400"/>
              </a:spcAft>
            </a:pPr>
            <a:r>
              <a:rPr sz="1800" b="1">
                <a:solidFill>
                  <a:srgbClr val="FFFFFF"/>
                </a:solidFill>
                <a:latin typeface="Arial"/>
              </a:rPr>
              <a:t>6</a:t>
            </a:r>
          </a:p>
        </p:txBody>
      </p:sp>
      <p:sp>
        <p:nvSpPr>
          <p:cNvPr id="36" name="TextBox 35"/>
          <p:cNvSpPr txBox="1"/>
          <p:nvPr/>
        </p:nvSpPr>
        <p:spPr>
          <a:xfrm>
            <a:off x="7219188" y="4953000"/>
            <a:ext cx="3973068" cy="1127760"/>
          </a:xfrm>
          <a:prstGeom prst="rect">
            <a:avLst/>
          </a:prstGeom>
          <a:noFill/>
        </p:spPr>
        <p:txBody>
          <a:bodyPr wrap="square" anchor="ctr">
            <a:spAutoFit/>
          </a:bodyPr>
          <a:lstStyle/>
          <a:p>
            <a:pPr algn="l">
              <a:spcAft>
                <a:spcPts val="300"/>
              </a:spcAft>
            </a:pPr>
            <a:r>
              <a:rPr sz="1500" b="1">
                <a:solidFill>
                  <a:srgbClr val="161B26"/>
                </a:solidFill>
                <a:latin typeface="Arial"/>
              </a:rPr>
              <a:t>Over-privileged pipeline</a:t>
            </a:r>
          </a:p>
          <a:p>
            <a:pPr algn="l">
              <a:spcAft>
                <a:spcPts val="300"/>
              </a:spcAft>
            </a:pPr>
            <a:r>
              <a:rPr sz="1100" b="0">
                <a:solidFill>
                  <a:srgbClr val="5B6372"/>
                </a:solidFill>
                <a:latin typeface="Arial"/>
              </a:rPr>
              <a:t>Code leak → prod compromise → scope deploy roles.</a:t>
            </a:r>
          </a:p>
        </p:txBody>
      </p:sp>
      <p:sp>
        <p:nvSpPr>
          <p:cNvPr id="37" name="TextBox 36"/>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DevOps Engineering on AWS  ·  TGS-2023040474</a:t>
            </a:r>
          </a:p>
        </p:txBody>
      </p:sp>
      <p:sp>
        <p:nvSpPr>
          <p:cNvPr id="38" name="TextBox 37"/>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39" name="TextBox 38"/>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206</a:t>
            </a:r>
          </a:p>
        </p:txBody>
      </p:sp>
    </p:spTree>
  </p:cSld>
  <p:clrMapOvr>
    <a:masterClrMapping/>
  </p:clrMapOvr>
  <p:transition xmlns:p14="http://schemas.microsoft.com/office/powerpoint/2010/main" p14:dur="380">
    <p:fade/>
  </p:transition>
</p:sld>
</file>

<file path=ppt/slides/slide20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38912"/>
            <a:ext cx="10607040" cy="365760"/>
          </a:xfrm>
          <a:prstGeom prst="rect">
            <a:avLst/>
          </a:prstGeom>
          <a:noFill/>
        </p:spPr>
        <p:txBody>
          <a:bodyPr wrap="square" anchor="t">
            <a:spAutoFit/>
          </a:bodyPr>
          <a:lstStyle/>
          <a:p>
            <a:pPr algn="l">
              <a:spcAft>
                <a:spcPts val="400"/>
              </a:spcAft>
            </a:pPr>
            <a:r>
              <a:rPr sz="1400" b="1">
                <a:solidFill>
                  <a:srgbClr val="C0392B"/>
                </a:solidFill>
                <a:latin typeface="Arial"/>
              </a:rPr>
              <a:t>PROVEN PRACTICES</a:t>
            </a:r>
          </a:p>
        </p:txBody>
      </p:sp>
      <p:sp>
        <p:nvSpPr>
          <p:cNvPr id="5" name="TextBox 4"/>
          <p:cNvSpPr txBox="1"/>
          <p:nvPr/>
        </p:nvSpPr>
        <p:spPr>
          <a:xfrm>
            <a:off x="777240" y="804672"/>
            <a:ext cx="10927080" cy="731520"/>
          </a:xfrm>
          <a:prstGeom prst="rect">
            <a:avLst/>
          </a:prstGeom>
          <a:noFill/>
        </p:spPr>
        <p:txBody>
          <a:bodyPr wrap="square" anchor="t">
            <a:spAutoFit/>
          </a:bodyPr>
          <a:lstStyle/>
          <a:p>
            <a:pPr algn="l">
              <a:spcAft>
                <a:spcPts val="400"/>
              </a:spcAft>
            </a:pPr>
            <a:r>
              <a:rPr sz="2900" b="1">
                <a:solidFill>
                  <a:srgbClr val="161B26"/>
                </a:solidFill>
                <a:latin typeface="Arial"/>
              </a:rPr>
              <a:t>Security Patterns Worth Adopting</a:t>
            </a:r>
          </a:p>
        </p:txBody>
      </p:sp>
      <p:sp>
        <p:nvSpPr>
          <p:cNvPr id="6" name="Rectangle 5"/>
          <p:cNvSpPr/>
          <p:nvPr/>
        </p:nvSpPr>
        <p:spPr>
          <a:xfrm>
            <a:off x="777240" y="1572768"/>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783080"/>
            <a:ext cx="5180076" cy="131064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1783080"/>
            <a:ext cx="91440" cy="131064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1033272" y="2164080"/>
            <a:ext cx="548640" cy="548640"/>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033272" y="2164080"/>
            <a:ext cx="548640" cy="548640"/>
          </a:xfrm>
          <a:prstGeom prst="rect">
            <a:avLst/>
          </a:prstGeom>
          <a:noFill/>
        </p:spPr>
        <p:txBody>
          <a:bodyPr wrap="square" anchor="ctr">
            <a:spAutoFit/>
          </a:bodyPr>
          <a:lstStyle/>
          <a:p>
            <a:pPr algn="ctr">
              <a:spcAft>
                <a:spcPts val="400"/>
              </a:spcAft>
            </a:pPr>
            <a:r>
              <a:rPr sz="1800" b="1">
                <a:solidFill>
                  <a:srgbClr val="FFFFFF"/>
                </a:solidFill>
                <a:latin typeface="Arial"/>
              </a:rPr>
              <a:t>1</a:t>
            </a:r>
          </a:p>
        </p:txBody>
      </p:sp>
      <p:sp>
        <p:nvSpPr>
          <p:cNvPr id="11" name="TextBox 10"/>
          <p:cNvSpPr txBox="1"/>
          <p:nvPr/>
        </p:nvSpPr>
        <p:spPr>
          <a:xfrm>
            <a:off x="1764792" y="1892808"/>
            <a:ext cx="3973068" cy="1127760"/>
          </a:xfrm>
          <a:prstGeom prst="rect">
            <a:avLst/>
          </a:prstGeom>
          <a:noFill/>
        </p:spPr>
        <p:txBody>
          <a:bodyPr wrap="square" anchor="ctr">
            <a:spAutoFit/>
          </a:bodyPr>
          <a:lstStyle/>
          <a:p>
            <a:pPr algn="l">
              <a:spcAft>
                <a:spcPts val="300"/>
              </a:spcAft>
            </a:pPr>
            <a:r>
              <a:rPr sz="1500" b="1">
                <a:solidFill>
                  <a:srgbClr val="161B26"/>
                </a:solidFill>
                <a:latin typeface="Arial"/>
              </a:rPr>
              <a:t>Least privilege everywhere</a:t>
            </a:r>
          </a:p>
          <a:p>
            <a:pPr algn="l">
              <a:spcAft>
                <a:spcPts val="300"/>
              </a:spcAft>
            </a:pPr>
            <a:r>
              <a:rPr sz="1100" b="0">
                <a:solidFill>
                  <a:srgbClr val="5B6372"/>
                </a:solidFill>
                <a:latin typeface="Arial"/>
              </a:rPr>
              <a:t>Roles, boundaries, scoped policies, no wildcards.</a:t>
            </a:r>
          </a:p>
        </p:txBody>
      </p:sp>
      <p:sp>
        <p:nvSpPr>
          <p:cNvPr id="12" name="Rectangle 11"/>
          <p:cNvSpPr/>
          <p:nvPr/>
        </p:nvSpPr>
        <p:spPr>
          <a:xfrm>
            <a:off x="6231636" y="1783080"/>
            <a:ext cx="5180076" cy="131064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6231636" y="1783080"/>
            <a:ext cx="91440" cy="131064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Oval 13"/>
          <p:cNvSpPr/>
          <p:nvPr/>
        </p:nvSpPr>
        <p:spPr>
          <a:xfrm>
            <a:off x="6487668" y="2164080"/>
            <a:ext cx="548640" cy="54864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6487668" y="2164080"/>
            <a:ext cx="548640" cy="548640"/>
          </a:xfrm>
          <a:prstGeom prst="rect">
            <a:avLst/>
          </a:prstGeom>
          <a:noFill/>
        </p:spPr>
        <p:txBody>
          <a:bodyPr wrap="square" anchor="ctr">
            <a:spAutoFit/>
          </a:bodyPr>
          <a:lstStyle/>
          <a:p>
            <a:pPr algn="ctr">
              <a:spcAft>
                <a:spcPts val="400"/>
              </a:spcAft>
            </a:pPr>
            <a:r>
              <a:rPr sz="1800" b="1">
                <a:solidFill>
                  <a:srgbClr val="FFFFFF"/>
                </a:solidFill>
                <a:latin typeface="Arial"/>
              </a:rPr>
              <a:t>2</a:t>
            </a:r>
          </a:p>
        </p:txBody>
      </p:sp>
      <p:sp>
        <p:nvSpPr>
          <p:cNvPr id="16" name="TextBox 15"/>
          <p:cNvSpPr txBox="1"/>
          <p:nvPr/>
        </p:nvSpPr>
        <p:spPr>
          <a:xfrm>
            <a:off x="7219188" y="1892808"/>
            <a:ext cx="3973068" cy="1127760"/>
          </a:xfrm>
          <a:prstGeom prst="rect">
            <a:avLst/>
          </a:prstGeom>
          <a:noFill/>
        </p:spPr>
        <p:txBody>
          <a:bodyPr wrap="square" anchor="ctr">
            <a:spAutoFit/>
          </a:bodyPr>
          <a:lstStyle/>
          <a:p>
            <a:pPr algn="l">
              <a:spcAft>
                <a:spcPts val="300"/>
              </a:spcAft>
            </a:pPr>
            <a:r>
              <a:rPr sz="1500" b="1">
                <a:solidFill>
                  <a:srgbClr val="161B26"/>
                </a:solidFill>
                <a:latin typeface="Arial"/>
              </a:rPr>
              <a:t>Encrypt at rest and in transit</a:t>
            </a:r>
          </a:p>
          <a:p>
            <a:pPr algn="l">
              <a:spcAft>
                <a:spcPts val="300"/>
              </a:spcAft>
            </a:pPr>
            <a:r>
              <a:rPr sz="1100" b="0">
                <a:solidFill>
                  <a:srgbClr val="5B6372"/>
                </a:solidFill>
                <a:latin typeface="Arial"/>
              </a:rPr>
              <a:t>KMS + TLS by default on every store.</a:t>
            </a:r>
          </a:p>
        </p:txBody>
      </p:sp>
      <p:sp>
        <p:nvSpPr>
          <p:cNvPr id="17" name="Rectangle 16"/>
          <p:cNvSpPr/>
          <p:nvPr/>
        </p:nvSpPr>
        <p:spPr>
          <a:xfrm>
            <a:off x="777240" y="3313176"/>
            <a:ext cx="5180076" cy="131064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777240" y="3313176"/>
            <a:ext cx="91440" cy="1310640"/>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Oval 18"/>
          <p:cNvSpPr/>
          <p:nvPr/>
        </p:nvSpPr>
        <p:spPr>
          <a:xfrm>
            <a:off x="1033272" y="3694176"/>
            <a:ext cx="548640" cy="548640"/>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1033272" y="3694176"/>
            <a:ext cx="548640" cy="548640"/>
          </a:xfrm>
          <a:prstGeom prst="rect">
            <a:avLst/>
          </a:prstGeom>
          <a:noFill/>
        </p:spPr>
        <p:txBody>
          <a:bodyPr wrap="square" anchor="ctr">
            <a:spAutoFit/>
          </a:bodyPr>
          <a:lstStyle/>
          <a:p>
            <a:pPr algn="ctr">
              <a:spcAft>
                <a:spcPts val="400"/>
              </a:spcAft>
            </a:pPr>
            <a:r>
              <a:rPr sz="1800" b="1">
                <a:solidFill>
                  <a:srgbClr val="FFFFFF"/>
                </a:solidFill>
                <a:latin typeface="Arial"/>
              </a:rPr>
              <a:t>3</a:t>
            </a:r>
          </a:p>
        </p:txBody>
      </p:sp>
      <p:sp>
        <p:nvSpPr>
          <p:cNvPr id="21" name="TextBox 20"/>
          <p:cNvSpPr txBox="1"/>
          <p:nvPr/>
        </p:nvSpPr>
        <p:spPr>
          <a:xfrm>
            <a:off x="1764792" y="3422904"/>
            <a:ext cx="3973068" cy="1127760"/>
          </a:xfrm>
          <a:prstGeom prst="rect">
            <a:avLst/>
          </a:prstGeom>
          <a:noFill/>
        </p:spPr>
        <p:txBody>
          <a:bodyPr wrap="square" anchor="ctr">
            <a:spAutoFit/>
          </a:bodyPr>
          <a:lstStyle/>
          <a:p>
            <a:pPr algn="l">
              <a:spcAft>
                <a:spcPts val="300"/>
              </a:spcAft>
            </a:pPr>
            <a:r>
              <a:rPr sz="1500" b="1">
                <a:solidFill>
                  <a:srgbClr val="161B26"/>
                </a:solidFill>
                <a:latin typeface="Arial"/>
              </a:rPr>
              <a:t>Continuous compliance</a:t>
            </a:r>
          </a:p>
          <a:p>
            <a:pPr algn="l">
              <a:spcAft>
                <a:spcPts val="300"/>
              </a:spcAft>
            </a:pPr>
            <a:r>
              <a:rPr sz="1100" b="0">
                <a:solidFill>
                  <a:srgbClr val="5B6372"/>
                </a:solidFill>
                <a:latin typeface="Arial"/>
              </a:rPr>
              <a:t>Config rules + conformance packs, auto-remediate.</a:t>
            </a:r>
          </a:p>
        </p:txBody>
      </p:sp>
      <p:sp>
        <p:nvSpPr>
          <p:cNvPr id="22" name="Rectangle 21"/>
          <p:cNvSpPr/>
          <p:nvPr/>
        </p:nvSpPr>
        <p:spPr>
          <a:xfrm>
            <a:off x="6231636" y="3313176"/>
            <a:ext cx="5180076" cy="131064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ectangle 22"/>
          <p:cNvSpPr/>
          <p:nvPr/>
        </p:nvSpPr>
        <p:spPr>
          <a:xfrm>
            <a:off x="6231636" y="3313176"/>
            <a:ext cx="91440" cy="1310640"/>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Oval 23"/>
          <p:cNvSpPr/>
          <p:nvPr/>
        </p:nvSpPr>
        <p:spPr>
          <a:xfrm>
            <a:off x="6487668" y="3694176"/>
            <a:ext cx="548640" cy="548640"/>
          </a:xfrm>
          <a:prstGeom prst="ellipse">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6487668" y="3694176"/>
            <a:ext cx="548640" cy="548640"/>
          </a:xfrm>
          <a:prstGeom prst="rect">
            <a:avLst/>
          </a:prstGeom>
          <a:noFill/>
        </p:spPr>
        <p:txBody>
          <a:bodyPr wrap="square" anchor="ctr">
            <a:spAutoFit/>
          </a:bodyPr>
          <a:lstStyle/>
          <a:p>
            <a:pPr algn="ctr">
              <a:spcAft>
                <a:spcPts val="400"/>
              </a:spcAft>
            </a:pPr>
            <a:r>
              <a:rPr sz="1800" b="1">
                <a:solidFill>
                  <a:srgbClr val="FFFFFF"/>
                </a:solidFill>
                <a:latin typeface="Arial"/>
              </a:rPr>
              <a:t>4</a:t>
            </a:r>
          </a:p>
        </p:txBody>
      </p:sp>
      <p:sp>
        <p:nvSpPr>
          <p:cNvPr id="26" name="TextBox 25"/>
          <p:cNvSpPr txBox="1"/>
          <p:nvPr/>
        </p:nvSpPr>
        <p:spPr>
          <a:xfrm>
            <a:off x="7219188" y="3422904"/>
            <a:ext cx="3973068" cy="1127760"/>
          </a:xfrm>
          <a:prstGeom prst="rect">
            <a:avLst/>
          </a:prstGeom>
          <a:noFill/>
        </p:spPr>
        <p:txBody>
          <a:bodyPr wrap="square" anchor="ctr">
            <a:spAutoFit/>
          </a:bodyPr>
          <a:lstStyle/>
          <a:p>
            <a:pPr algn="l">
              <a:spcAft>
                <a:spcPts val="300"/>
              </a:spcAft>
            </a:pPr>
            <a:r>
              <a:rPr sz="1500" b="1">
                <a:solidFill>
                  <a:srgbClr val="161B26"/>
                </a:solidFill>
                <a:latin typeface="Arial"/>
              </a:rPr>
              <a:t>Central logging account</a:t>
            </a:r>
          </a:p>
          <a:p>
            <a:pPr algn="l">
              <a:spcAft>
                <a:spcPts val="300"/>
              </a:spcAft>
            </a:pPr>
            <a:r>
              <a:rPr sz="1100" b="0">
                <a:solidFill>
                  <a:srgbClr val="5B6372"/>
                </a:solidFill>
                <a:latin typeface="Arial"/>
              </a:rPr>
              <a:t>Immutable CloudTrail + Security Hub aggregation.</a:t>
            </a:r>
          </a:p>
        </p:txBody>
      </p:sp>
      <p:sp>
        <p:nvSpPr>
          <p:cNvPr id="27" name="Rectangle 26"/>
          <p:cNvSpPr/>
          <p:nvPr/>
        </p:nvSpPr>
        <p:spPr>
          <a:xfrm>
            <a:off x="777240" y="4843272"/>
            <a:ext cx="5180076" cy="131064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Rectangle 27"/>
          <p:cNvSpPr/>
          <p:nvPr/>
        </p:nvSpPr>
        <p:spPr>
          <a:xfrm>
            <a:off x="777240" y="4843272"/>
            <a:ext cx="91440" cy="1310640"/>
          </a:xfrm>
          <a:prstGeom prst="rect">
            <a:avLst/>
          </a:prstGeom>
          <a:solidFill>
            <a:srgbClr val="EC711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Oval 28"/>
          <p:cNvSpPr/>
          <p:nvPr/>
        </p:nvSpPr>
        <p:spPr>
          <a:xfrm>
            <a:off x="1033272" y="5224272"/>
            <a:ext cx="548640" cy="548640"/>
          </a:xfrm>
          <a:prstGeom prst="ellipse">
            <a:avLst/>
          </a:prstGeom>
          <a:solidFill>
            <a:srgbClr val="EC711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1033272" y="5224272"/>
            <a:ext cx="548640" cy="548640"/>
          </a:xfrm>
          <a:prstGeom prst="rect">
            <a:avLst/>
          </a:prstGeom>
          <a:noFill/>
        </p:spPr>
        <p:txBody>
          <a:bodyPr wrap="square" anchor="ctr">
            <a:spAutoFit/>
          </a:bodyPr>
          <a:lstStyle/>
          <a:p>
            <a:pPr algn="ctr">
              <a:spcAft>
                <a:spcPts val="400"/>
              </a:spcAft>
            </a:pPr>
            <a:r>
              <a:rPr sz="1800" b="1">
                <a:solidFill>
                  <a:srgbClr val="FFFFFF"/>
                </a:solidFill>
                <a:latin typeface="Arial"/>
              </a:rPr>
              <a:t>5</a:t>
            </a:r>
          </a:p>
        </p:txBody>
      </p:sp>
      <p:sp>
        <p:nvSpPr>
          <p:cNvPr id="31" name="TextBox 30"/>
          <p:cNvSpPr txBox="1"/>
          <p:nvPr/>
        </p:nvSpPr>
        <p:spPr>
          <a:xfrm>
            <a:off x="1764792" y="4953000"/>
            <a:ext cx="3973068" cy="1127760"/>
          </a:xfrm>
          <a:prstGeom prst="rect">
            <a:avLst/>
          </a:prstGeom>
          <a:noFill/>
        </p:spPr>
        <p:txBody>
          <a:bodyPr wrap="square" anchor="ctr">
            <a:spAutoFit/>
          </a:bodyPr>
          <a:lstStyle/>
          <a:p>
            <a:pPr algn="l">
              <a:spcAft>
                <a:spcPts val="300"/>
              </a:spcAft>
            </a:pPr>
            <a:r>
              <a:rPr sz="1500" b="1">
                <a:solidFill>
                  <a:srgbClr val="161B26"/>
                </a:solidFill>
                <a:latin typeface="Arial"/>
              </a:rPr>
              <a:t>Guardrails by SCP</a:t>
            </a:r>
          </a:p>
          <a:p>
            <a:pPr algn="l">
              <a:spcAft>
                <a:spcPts val="300"/>
              </a:spcAft>
            </a:pPr>
            <a:r>
              <a:rPr sz="1100" b="0">
                <a:solidFill>
                  <a:srgbClr val="5B6372"/>
                </a:solidFill>
                <a:latin typeface="Arial"/>
              </a:rPr>
              <a:t>Prevent whole action classes org-wide.</a:t>
            </a:r>
          </a:p>
        </p:txBody>
      </p:sp>
      <p:sp>
        <p:nvSpPr>
          <p:cNvPr id="32" name="Rectangle 31"/>
          <p:cNvSpPr/>
          <p:nvPr/>
        </p:nvSpPr>
        <p:spPr>
          <a:xfrm>
            <a:off x="6231636" y="4843272"/>
            <a:ext cx="5180076" cy="131064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Rectangle 32"/>
          <p:cNvSpPr/>
          <p:nvPr/>
        </p:nvSpPr>
        <p:spPr>
          <a:xfrm>
            <a:off x="6231636" y="4843272"/>
            <a:ext cx="91440" cy="1310640"/>
          </a:xfrm>
          <a:prstGeom prst="rect">
            <a:avLst/>
          </a:prstGeom>
          <a:solidFill>
            <a:srgbClr val="0E9EC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Oval 33"/>
          <p:cNvSpPr/>
          <p:nvPr/>
        </p:nvSpPr>
        <p:spPr>
          <a:xfrm>
            <a:off x="6487668" y="5224272"/>
            <a:ext cx="548640" cy="548640"/>
          </a:xfrm>
          <a:prstGeom prst="ellipse">
            <a:avLst/>
          </a:prstGeom>
          <a:solidFill>
            <a:srgbClr val="0E9EC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TextBox 34"/>
          <p:cNvSpPr txBox="1"/>
          <p:nvPr/>
        </p:nvSpPr>
        <p:spPr>
          <a:xfrm>
            <a:off x="6487668" y="5224272"/>
            <a:ext cx="548640" cy="548640"/>
          </a:xfrm>
          <a:prstGeom prst="rect">
            <a:avLst/>
          </a:prstGeom>
          <a:noFill/>
        </p:spPr>
        <p:txBody>
          <a:bodyPr wrap="square" anchor="ctr">
            <a:spAutoFit/>
          </a:bodyPr>
          <a:lstStyle/>
          <a:p>
            <a:pPr algn="ctr">
              <a:spcAft>
                <a:spcPts val="400"/>
              </a:spcAft>
            </a:pPr>
            <a:r>
              <a:rPr sz="1800" b="1">
                <a:solidFill>
                  <a:srgbClr val="FFFFFF"/>
                </a:solidFill>
                <a:latin typeface="Arial"/>
              </a:rPr>
              <a:t>6</a:t>
            </a:r>
          </a:p>
        </p:txBody>
      </p:sp>
      <p:sp>
        <p:nvSpPr>
          <p:cNvPr id="36" name="TextBox 35"/>
          <p:cNvSpPr txBox="1"/>
          <p:nvPr/>
        </p:nvSpPr>
        <p:spPr>
          <a:xfrm>
            <a:off x="7219188" y="4953000"/>
            <a:ext cx="3973068" cy="1127760"/>
          </a:xfrm>
          <a:prstGeom prst="rect">
            <a:avLst/>
          </a:prstGeom>
          <a:noFill/>
        </p:spPr>
        <p:txBody>
          <a:bodyPr wrap="square" anchor="ctr">
            <a:spAutoFit/>
          </a:bodyPr>
          <a:lstStyle/>
          <a:p>
            <a:pPr algn="l">
              <a:spcAft>
                <a:spcPts val="300"/>
              </a:spcAft>
            </a:pPr>
            <a:r>
              <a:rPr sz="1500" b="1">
                <a:solidFill>
                  <a:srgbClr val="161B26"/>
                </a:solidFill>
                <a:latin typeface="Arial"/>
              </a:rPr>
              <a:t>DevSecOps</a:t>
            </a:r>
          </a:p>
          <a:p>
            <a:pPr algn="l">
              <a:spcAft>
                <a:spcPts val="300"/>
              </a:spcAft>
            </a:pPr>
            <a:r>
              <a:rPr sz="1100" b="0">
                <a:solidFill>
                  <a:srgbClr val="5B6372"/>
                </a:solidFill>
                <a:latin typeface="Arial"/>
              </a:rPr>
              <a:t>Scan code, deps and IaC in the pipeline.</a:t>
            </a:r>
          </a:p>
        </p:txBody>
      </p:sp>
      <p:sp>
        <p:nvSpPr>
          <p:cNvPr id="37" name="TextBox 36"/>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DevOps Engineering on AWS  ·  TGS-2023040474</a:t>
            </a:r>
          </a:p>
        </p:txBody>
      </p:sp>
      <p:sp>
        <p:nvSpPr>
          <p:cNvPr id="38" name="TextBox 37"/>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39" name="TextBox 38"/>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207</a:t>
            </a:r>
          </a:p>
        </p:txBody>
      </p:sp>
    </p:spTree>
  </p:cSld>
  <p:clrMapOvr>
    <a:masterClrMapping/>
  </p:clrMapOvr>
  <p:transition xmlns:p14="http://schemas.microsoft.com/office/powerpoint/2010/main" p14:dur="380">
    <p:fade/>
  </p:transition>
</p:sld>
</file>

<file path=ppt/slides/slide20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38912"/>
            <a:ext cx="10607040" cy="365760"/>
          </a:xfrm>
          <a:prstGeom prst="rect">
            <a:avLst/>
          </a:prstGeom>
          <a:noFill/>
        </p:spPr>
        <p:txBody>
          <a:bodyPr wrap="square" anchor="t">
            <a:spAutoFit/>
          </a:bodyPr>
          <a:lstStyle/>
          <a:p>
            <a:pPr algn="l">
              <a:spcAft>
                <a:spcPts val="400"/>
              </a:spcAft>
            </a:pPr>
            <a:r>
              <a:rPr sz="1400" b="1">
                <a:solidFill>
                  <a:srgbClr val="C0392B"/>
                </a:solidFill>
                <a:latin typeface="Arial"/>
              </a:rPr>
              <a:t>PREVENT, DETECT, REMEDIATE</a:t>
            </a:r>
          </a:p>
        </p:txBody>
      </p:sp>
      <p:sp>
        <p:nvSpPr>
          <p:cNvPr id="5" name="TextBox 4"/>
          <p:cNvSpPr txBox="1"/>
          <p:nvPr/>
        </p:nvSpPr>
        <p:spPr>
          <a:xfrm>
            <a:off x="777240" y="896112"/>
            <a:ext cx="10927080" cy="731520"/>
          </a:xfrm>
          <a:prstGeom prst="rect">
            <a:avLst/>
          </a:prstGeom>
          <a:noFill/>
        </p:spPr>
        <p:txBody>
          <a:bodyPr wrap="square" anchor="t">
            <a:spAutoFit/>
          </a:bodyPr>
          <a:lstStyle/>
          <a:p>
            <a:pPr algn="l">
              <a:spcAft>
                <a:spcPts val="400"/>
              </a:spcAft>
            </a:pPr>
            <a:r>
              <a:rPr sz="2100" b="1">
                <a:solidFill>
                  <a:srgbClr val="161B26"/>
                </a:solidFill>
                <a:latin typeface="Arial"/>
              </a:rPr>
              <a:t>Architecture Decision — Where Do Compliance Controls Live?</a:t>
            </a:r>
          </a:p>
        </p:txBody>
      </p:sp>
      <p:sp>
        <p:nvSpPr>
          <p:cNvPr id="6" name="Rectangle 5"/>
          <p:cNvSpPr/>
          <p:nvPr/>
        </p:nvSpPr>
        <p:spPr>
          <a:xfrm>
            <a:off x="777240" y="1572768"/>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783080"/>
            <a:ext cx="3337560" cy="429768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1783080"/>
            <a:ext cx="3337560" cy="109728"/>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1033272" y="2057400"/>
            <a:ext cx="457200" cy="457200"/>
          </a:xfrm>
          <a:prstGeom prst="ellipse">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033272" y="2057400"/>
            <a:ext cx="457200" cy="457200"/>
          </a:xfrm>
          <a:prstGeom prst="rect">
            <a:avLst/>
          </a:prstGeom>
          <a:noFill/>
        </p:spPr>
        <p:txBody>
          <a:bodyPr wrap="square" anchor="ctr">
            <a:spAutoFit/>
          </a:bodyPr>
          <a:lstStyle/>
          <a:p>
            <a:pPr algn="ctr">
              <a:spcAft>
                <a:spcPts val="400"/>
              </a:spcAft>
            </a:pPr>
            <a:r>
              <a:rPr sz="2000" b="1">
                <a:solidFill>
                  <a:srgbClr val="FFFFFF"/>
                </a:solidFill>
                <a:latin typeface="Arial"/>
              </a:rPr>
              <a:t>A</a:t>
            </a:r>
          </a:p>
        </p:txBody>
      </p:sp>
      <p:sp>
        <p:nvSpPr>
          <p:cNvPr id="11" name="TextBox 10"/>
          <p:cNvSpPr txBox="1"/>
          <p:nvPr/>
        </p:nvSpPr>
        <p:spPr>
          <a:xfrm>
            <a:off x="1645920" y="2084831"/>
            <a:ext cx="2286000" cy="640080"/>
          </a:xfrm>
          <a:prstGeom prst="rect">
            <a:avLst/>
          </a:prstGeom>
          <a:noFill/>
        </p:spPr>
        <p:txBody>
          <a:bodyPr wrap="square" anchor="ctr">
            <a:spAutoFit/>
          </a:bodyPr>
          <a:lstStyle/>
          <a:p>
            <a:pPr algn="l">
              <a:spcAft>
                <a:spcPts val="400"/>
              </a:spcAft>
            </a:pPr>
            <a:r>
              <a:rPr sz="1450" b="1">
                <a:solidFill>
                  <a:srgbClr val="C0392B"/>
                </a:solidFill>
                <a:latin typeface="Arial"/>
              </a:rPr>
              <a:t>Preventive (SCP / policy)</a:t>
            </a:r>
          </a:p>
        </p:txBody>
      </p:sp>
      <p:sp>
        <p:nvSpPr>
          <p:cNvPr id="12" name="TextBox 11"/>
          <p:cNvSpPr txBox="1"/>
          <p:nvPr/>
        </p:nvSpPr>
        <p:spPr>
          <a:xfrm>
            <a:off x="1033272" y="2788920"/>
            <a:ext cx="2880360" cy="3108960"/>
          </a:xfrm>
          <a:prstGeom prst="rect">
            <a:avLst/>
          </a:prstGeom>
          <a:noFill/>
        </p:spPr>
        <p:txBody>
          <a:bodyPr wrap="square" anchor="t">
            <a:spAutoFit/>
          </a:bodyPr>
          <a:lstStyle/>
          <a:p>
            <a:pPr algn="l">
              <a:spcAft>
                <a:spcPts val="400"/>
              </a:spcAft>
            </a:pPr>
            <a:r>
              <a:rPr sz="1250" b="0">
                <a:solidFill>
                  <a:srgbClr val="161B26"/>
                </a:solidFill>
                <a:latin typeface="Arial"/>
              </a:rPr>
              <a:t>Stop the action from ever happening org-wide. Strongest — but blunt; can block legitimate edge cases.</a:t>
            </a:r>
          </a:p>
        </p:txBody>
      </p:sp>
      <p:sp>
        <p:nvSpPr>
          <p:cNvPr id="13" name="Rectangle 12"/>
          <p:cNvSpPr/>
          <p:nvPr/>
        </p:nvSpPr>
        <p:spPr>
          <a:xfrm>
            <a:off x="4572000" y="1783080"/>
            <a:ext cx="3337560" cy="429768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ectangle 13"/>
          <p:cNvSpPr/>
          <p:nvPr/>
        </p:nvSpPr>
        <p:spPr>
          <a:xfrm>
            <a:off x="4572000" y="1783080"/>
            <a:ext cx="3337560" cy="109728"/>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Oval 14"/>
          <p:cNvSpPr/>
          <p:nvPr/>
        </p:nvSpPr>
        <p:spPr>
          <a:xfrm>
            <a:off x="4828032" y="2057400"/>
            <a:ext cx="457200" cy="457200"/>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4828032" y="2057400"/>
            <a:ext cx="457200" cy="457200"/>
          </a:xfrm>
          <a:prstGeom prst="rect">
            <a:avLst/>
          </a:prstGeom>
          <a:noFill/>
        </p:spPr>
        <p:txBody>
          <a:bodyPr wrap="square" anchor="ctr">
            <a:spAutoFit/>
          </a:bodyPr>
          <a:lstStyle/>
          <a:p>
            <a:pPr algn="ctr">
              <a:spcAft>
                <a:spcPts val="400"/>
              </a:spcAft>
            </a:pPr>
            <a:r>
              <a:rPr sz="2000" b="1">
                <a:solidFill>
                  <a:srgbClr val="FFFFFF"/>
                </a:solidFill>
                <a:latin typeface="Arial"/>
              </a:rPr>
              <a:t>B</a:t>
            </a:r>
          </a:p>
        </p:txBody>
      </p:sp>
      <p:sp>
        <p:nvSpPr>
          <p:cNvPr id="17" name="TextBox 16"/>
          <p:cNvSpPr txBox="1"/>
          <p:nvPr/>
        </p:nvSpPr>
        <p:spPr>
          <a:xfrm>
            <a:off x="5440680" y="2084831"/>
            <a:ext cx="2286000" cy="640080"/>
          </a:xfrm>
          <a:prstGeom prst="rect">
            <a:avLst/>
          </a:prstGeom>
          <a:noFill/>
        </p:spPr>
        <p:txBody>
          <a:bodyPr wrap="square" anchor="ctr">
            <a:spAutoFit/>
          </a:bodyPr>
          <a:lstStyle/>
          <a:p>
            <a:pPr algn="l">
              <a:spcAft>
                <a:spcPts val="400"/>
              </a:spcAft>
            </a:pPr>
            <a:r>
              <a:rPr sz="1450" b="1">
                <a:solidFill>
                  <a:srgbClr val="7C3AED"/>
                </a:solidFill>
                <a:latin typeface="Arial"/>
              </a:rPr>
              <a:t>Detective (Config / GuardDuty)</a:t>
            </a:r>
          </a:p>
        </p:txBody>
      </p:sp>
      <p:sp>
        <p:nvSpPr>
          <p:cNvPr id="18" name="TextBox 17"/>
          <p:cNvSpPr txBox="1"/>
          <p:nvPr/>
        </p:nvSpPr>
        <p:spPr>
          <a:xfrm>
            <a:off x="4828032" y="2788920"/>
            <a:ext cx="2880360" cy="3108960"/>
          </a:xfrm>
          <a:prstGeom prst="rect">
            <a:avLst/>
          </a:prstGeom>
          <a:noFill/>
        </p:spPr>
        <p:txBody>
          <a:bodyPr wrap="square" anchor="t">
            <a:spAutoFit/>
          </a:bodyPr>
          <a:lstStyle/>
          <a:p>
            <a:pPr algn="l">
              <a:spcAft>
                <a:spcPts val="400"/>
              </a:spcAft>
            </a:pPr>
            <a:r>
              <a:rPr sz="1250" b="0">
                <a:solidFill>
                  <a:srgbClr val="161B26"/>
                </a:solidFill>
                <a:latin typeface="Arial"/>
              </a:rPr>
              <a:t>Allow, but continuously detect and score. Flexible and auditable — leaves a (short) exposure window.</a:t>
            </a:r>
          </a:p>
        </p:txBody>
      </p:sp>
      <p:sp>
        <p:nvSpPr>
          <p:cNvPr id="19" name="Rectangle 18"/>
          <p:cNvSpPr/>
          <p:nvPr/>
        </p:nvSpPr>
        <p:spPr>
          <a:xfrm>
            <a:off x="8366760" y="1783080"/>
            <a:ext cx="3337560" cy="429768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Rectangle 19"/>
          <p:cNvSpPr/>
          <p:nvPr/>
        </p:nvSpPr>
        <p:spPr>
          <a:xfrm>
            <a:off x="8366760" y="1783080"/>
            <a:ext cx="3337560" cy="109728"/>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Oval 20"/>
          <p:cNvSpPr/>
          <p:nvPr/>
        </p:nvSpPr>
        <p:spPr>
          <a:xfrm>
            <a:off x="8622792" y="2057400"/>
            <a:ext cx="457200" cy="45720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8622792" y="2057400"/>
            <a:ext cx="457200" cy="457200"/>
          </a:xfrm>
          <a:prstGeom prst="rect">
            <a:avLst/>
          </a:prstGeom>
          <a:noFill/>
        </p:spPr>
        <p:txBody>
          <a:bodyPr wrap="square" anchor="ctr">
            <a:spAutoFit/>
          </a:bodyPr>
          <a:lstStyle/>
          <a:p>
            <a:pPr algn="ctr">
              <a:spcAft>
                <a:spcPts val="400"/>
              </a:spcAft>
            </a:pPr>
            <a:r>
              <a:rPr sz="2000" b="1">
                <a:solidFill>
                  <a:srgbClr val="FFFFFF"/>
                </a:solidFill>
                <a:latin typeface="Arial"/>
              </a:rPr>
              <a:t>C</a:t>
            </a:r>
          </a:p>
        </p:txBody>
      </p:sp>
      <p:sp>
        <p:nvSpPr>
          <p:cNvPr id="23" name="TextBox 22"/>
          <p:cNvSpPr txBox="1"/>
          <p:nvPr/>
        </p:nvSpPr>
        <p:spPr>
          <a:xfrm>
            <a:off x="9235440" y="2084831"/>
            <a:ext cx="2286000" cy="640080"/>
          </a:xfrm>
          <a:prstGeom prst="rect">
            <a:avLst/>
          </a:prstGeom>
          <a:noFill/>
        </p:spPr>
        <p:txBody>
          <a:bodyPr wrap="square" anchor="ctr">
            <a:spAutoFit/>
          </a:bodyPr>
          <a:lstStyle/>
          <a:p>
            <a:pPr algn="l">
              <a:spcAft>
                <a:spcPts val="400"/>
              </a:spcAft>
            </a:pPr>
            <a:r>
              <a:rPr sz="1450" b="1">
                <a:solidFill>
                  <a:srgbClr val="10B981"/>
                </a:solidFill>
                <a:latin typeface="Arial"/>
              </a:rPr>
              <a:t>Automated remediation</a:t>
            </a:r>
          </a:p>
        </p:txBody>
      </p:sp>
      <p:sp>
        <p:nvSpPr>
          <p:cNvPr id="24" name="TextBox 23"/>
          <p:cNvSpPr txBox="1"/>
          <p:nvPr/>
        </p:nvSpPr>
        <p:spPr>
          <a:xfrm>
            <a:off x="8622792" y="2788920"/>
            <a:ext cx="2880360" cy="3108960"/>
          </a:xfrm>
          <a:prstGeom prst="rect">
            <a:avLst/>
          </a:prstGeom>
          <a:noFill/>
        </p:spPr>
        <p:txBody>
          <a:bodyPr wrap="square" anchor="t">
            <a:spAutoFit/>
          </a:bodyPr>
          <a:lstStyle/>
          <a:p>
            <a:pPr algn="l">
              <a:spcAft>
                <a:spcPts val="400"/>
              </a:spcAft>
            </a:pPr>
            <a:r>
              <a:rPr sz="1250" b="0">
                <a:solidFill>
                  <a:srgbClr val="161B26"/>
                </a:solidFill>
                <a:latin typeface="Arial"/>
              </a:rPr>
              <a:t>Detect then auto-fix (Config → SSM). Closes the window fast — needs careful scoping and logging.</a:t>
            </a:r>
          </a:p>
        </p:txBody>
      </p:sp>
      <p:sp>
        <p:nvSpPr>
          <p:cNvPr id="25" name="TextBox 24"/>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DevOps Engineering on AWS  ·  TGS-2023040474</a:t>
            </a:r>
          </a:p>
        </p:txBody>
      </p:sp>
      <p:sp>
        <p:nvSpPr>
          <p:cNvPr id="26" name="TextBox 25"/>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27" name="TextBox 26"/>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208</a:t>
            </a:r>
          </a:p>
        </p:txBody>
      </p:sp>
    </p:spTree>
  </p:cSld>
  <p:clrMapOvr>
    <a:masterClrMapping/>
  </p:clrMapOvr>
  <p:transition xmlns:p14="http://schemas.microsoft.com/office/powerpoint/2010/main" p14:dur="380">
    <p:fade/>
  </p:transition>
</p:sld>
</file>

<file path=ppt/slides/slide21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38912"/>
            <a:ext cx="10607040" cy="365760"/>
          </a:xfrm>
          <a:prstGeom prst="rect">
            <a:avLst/>
          </a:prstGeom>
          <a:noFill/>
        </p:spPr>
        <p:txBody>
          <a:bodyPr wrap="square" anchor="t">
            <a:spAutoFit/>
          </a:bodyPr>
          <a:lstStyle/>
          <a:p>
            <a:pPr algn="l">
              <a:spcAft>
                <a:spcPts val="400"/>
              </a:spcAft>
            </a:pPr>
            <a:r>
              <a:rPr sz="1400" b="1">
                <a:solidFill>
                  <a:srgbClr val="C0392B"/>
                </a:solidFill>
                <a:latin typeface="Arial"/>
              </a:rPr>
              <a:t>EVIDENCE ON DEMAND</a:t>
            </a:r>
          </a:p>
        </p:txBody>
      </p:sp>
      <p:sp>
        <p:nvSpPr>
          <p:cNvPr id="5" name="TextBox 4"/>
          <p:cNvSpPr txBox="1"/>
          <p:nvPr/>
        </p:nvSpPr>
        <p:spPr>
          <a:xfrm>
            <a:off x="777240" y="896112"/>
            <a:ext cx="10927080" cy="731520"/>
          </a:xfrm>
          <a:prstGeom prst="rect">
            <a:avLst/>
          </a:prstGeom>
          <a:noFill/>
        </p:spPr>
        <p:txBody>
          <a:bodyPr wrap="square" anchor="t">
            <a:spAutoFit/>
          </a:bodyPr>
          <a:lstStyle/>
          <a:p>
            <a:pPr algn="l">
              <a:spcAft>
                <a:spcPts val="400"/>
              </a:spcAft>
            </a:pPr>
            <a:r>
              <a:rPr sz="2500" b="1">
                <a:solidFill>
                  <a:srgbClr val="161B26"/>
                </a:solidFill>
                <a:latin typeface="Arial"/>
              </a:rPr>
              <a:t>Scenario — Passing an external security audit</a:t>
            </a:r>
          </a:p>
        </p:txBody>
      </p:sp>
      <p:sp>
        <p:nvSpPr>
          <p:cNvPr id="6" name="Rectangle 5"/>
          <p:cNvSpPr/>
          <p:nvPr/>
        </p:nvSpPr>
        <p:spPr>
          <a:xfrm>
            <a:off x="777240" y="1572768"/>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755648"/>
            <a:ext cx="10634472" cy="91440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1755648"/>
            <a:ext cx="91440" cy="914400"/>
          </a:xfrm>
          <a:prstGeom prst="rect">
            <a:avLst/>
          </a:prstGeom>
          <a:solidFill>
            <a:srgbClr val="5B637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1033272" y="1847088"/>
            <a:ext cx="2194560" cy="320040"/>
          </a:xfrm>
          <a:prstGeom prst="rect">
            <a:avLst/>
          </a:prstGeom>
          <a:noFill/>
        </p:spPr>
        <p:txBody>
          <a:bodyPr wrap="square" anchor="t">
            <a:spAutoFit/>
          </a:bodyPr>
          <a:lstStyle/>
          <a:p>
            <a:pPr algn="l">
              <a:spcAft>
                <a:spcPts val="400"/>
              </a:spcAft>
            </a:pPr>
            <a:r>
              <a:rPr sz="1150" b="1">
                <a:solidFill>
                  <a:srgbClr val="5B6372"/>
                </a:solidFill>
                <a:latin typeface="Arial"/>
              </a:rPr>
              <a:t>SITUATION</a:t>
            </a:r>
          </a:p>
        </p:txBody>
      </p:sp>
      <p:sp>
        <p:nvSpPr>
          <p:cNvPr id="10" name="TextBox 9"/>
          <p:cNvSpPr txBox="1"/>
          <p:nvPr/>
        </p:nvSpPr>
        <p:spPr>
          <a:xfrm>
            <a:off x="1033272" y="2157984"/>
            <a:ext cx="10085832" cy="457200"/>
          </a:xfrm>
          <a:prstGeom prst="rect">
            <a:avLst/>
          </a:prstGeom>
          <a:noFill/>
        </p:spPr>
        <p:txBody>
          <a:bodyPr wrap="square" anchor="t">
            <a:spAutoFit/>
          </a:bodyPr>
          <a:lstStyle/>
          <a:p>
            <a:pPr algn="l">
              <a:spcAft>
                <a:spcPts val="400"/>
              </a:spcAft>
            </a:pPr>
            <a:r>
              <a:rPr sz="1300" b="0">
                <a:solidFill>
                  <a:srgbClr val="161B26"/>
                </a:solidFill>
                <a:latin typeface="Arial"/>
              </a:rPr>
              <a:t>An auditor asks you to prove that all volumes are encrypted and no bucket is public, historically and now.</a:t>
            </a:r>
          </a:p>
        </p:txBody>
      </p:sp>
      <p:sp>
        <p:nvSpPr>
          <p:cNvPr id="11" name="Rectangle 10"/>
          <p:cNvSpPr/>
          <p:nvPr/>
        </p:nvSpPr>
        <p:spPr>
          <a:xfrm>
            <a:off x="777240" y="2788920"/>
            <a:ext cx="10634472" cy="2194560"/>
          </a:xfrm>
          <a:prstGeom prst="rect">
            <a:avLst/>
          </a:prstGeom>
          <a:solidFill>
            <a:srgbClr val="FFFFFF"/>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ectangle 11"/>
          <p:cNvSpPr/>
          <p:nvPr/>
        </p:nvSpPr>
        <p:spPr>
          <a:xfrm>
            <a:off x="777240" y="2788920"/>
            <a:ext cx="91440" cy="2194560"/>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1033272" y="2880360"/>
            <a:ext cx="2743200" cy="320040"/>
          </a:xfrm>
          <a:prstGeom prst="rect">
            <a:avLst/>
          </a:prstGeom>
          <a:noFill/>
        </p:spPr>
        <p:txBody>
          <a:bodyPr wrap="square" anchor="t">
            <a:spAutoFit/>
          </a:bodyPr>
          <a:lstStyle/>
          <a:p>
            <a:pPr algn="l">
              <a:spcAft>
                <a:spcPts val="400"/>
              </a:spcAft>
            </a:pPr>
            <a:r>
              <a:rPr sz="1150" b="1">
                <a:solidFill>
                  <a:srgbClr val="C0392B"/>
                </a:solidFill>
                <a:latin typeface="Arial"/>
              </a:rPr>
              <a:t>ANALYSIS</a:t>
            </a:r>
          </a:p>
        </p:txBody>
      </p:sp>
      <p:sp>
        <p:nvSpPr>
          <p:cNvPr id="14" name="TextBox 13"/>
          <p:cNvSpPr txBox="1"/>
          <p:nvPr/>
        </p:nvSpPr>
        <p:spPr>
          <a:xfrm>
            <a:off x="1033272" y="3246120"/>
            <a:ext cx="9994392" cy="1645920"/>
          </a:xfrm>
          <a:prstGeom prst="rect">
            <a:avLst/>
          </a:prstGeom>
          <a:noFill/>
        </p:spPr>
        <p:txBody>
          <a:bodyPr wrap="square">
            <a:spAutoFit/>
          </a:bodyPr>
          <a:lstStyle/>
          <a:p>
            <a:pPr>
              <a:spcAft>
                <a:spcPts val="700"/>
              </a:spcAft>
            </a:pPr>
            <a:r>
              <a:rPr sz="1300" b="0">
                <a:solidFill>
                  <a:srgbClr val="161B26"/>
                </a:solidFill>
                <a:latin typeface="Arial"/>
              </a:rPr>
              <a:t>•  Point-in-time console screenshots don't prove continuous compliance over the audit period.</a:t>
            </a:r>
          </a:p>
          <a:p>
            <a:pPr>
              <a:spcAft>
                <a:spcPts val="700"/>
              </a:spcAft>
            </a:pPr>
            <a:r>
              <a:rPr sz="1300" b="0">
                <a:solidFill>
                  <a:srgbClr val="161B26"/>
                </a:solidFill>
                <a:latin typeface="Arial"/>
              </a:rPr>
              <a:t>•  AWS Config records configuration history and rule-compliance over time — that history is the evidence.</a:t>
            </a:r>
          </a:p>
          <a:p>
            <a:pPr>
              <a:spcAft>
                <a:spcPts val="700"/>
              </a:spcAft>
            </a:pPr>
            <a:r>
              <a:rPr sz="1300" b="0">
                <a:solidFill>
                  <a:srgbClr val="161B26"/>
                </a:solidFill>
                <a:latin typeface="Arial"/>
              </a:rPr>
              <a:t>•  CloudTrail with log-file validation proves the audit record itself wasn't tampered with.</a:t>
            </a:r>
          </a:p>
        </p:txBody>
      </p:sp>
      <p:sp>
        <p:nvSpPr>
          <p:cNvPr id="15" name="Rectangle 14"/>
          <p:cNvSpPr/>
          <p:nvPr/>
        </p:nvSpPr>
        <p:spPr>
          <a:xfrm>
            <a:off x="777240" y="5102352"/>
            <a:ext cx="10634472" cy="96012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ectangle 15"/>
          <p:cNvSpPr/>
          <p:nvPr/>
        </p:nvSpPr>
        <p:spPr>
          <a:xfrm>
            <a:off x="777240" y="5102352"/>
            <a:ext cx="91440" cy="9601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1033272" y="5193792"/>
            <a:ext cx="2743200" cy="320040"/>
          </a:xfrm>
          <a:prstGeom prst="rect">
            <a:avLst/>
          </a:prstGeom>
          <a:noFill/>
        </p:spPr>
        <p:txBody>
          <a:bodyPr wrap="square" anchor="t">
            <a:spAutoFit/>
          </a:bodyPr>
          <a:lstStyle/>
          <a:p>
            <a:pPr algn="l">
              <a:spcAft>
                <a:spcPts val="400"/>
              </a:spcAft>
            </a:pPr>
            <a:r>
              <a:rPr sz="1150" b="1">
                <a:solidFill>
                  <a:srgbClr val="10B981"/>
                </a:solidFill>
                <a:latin typeface="Arial"/>
              </a:rPr>
              <a:t>DECISION</a:t>
            </a:r>
          </a:p>
        </p:txBody>
      </p:sp>
      <p:sp>
        <p:nvSpPr>
          <p:cNvPr id="18" name="TextBox 17"/>
          <p:cNvSpPr txBox="1"/>
          <p:nvPr/>
        </p:nvSpPr>
        <p:spPr>
          <a:xfrm>
            <a:off x="1033272" y="5486400"/>
            <a:ext cx="10085832" cy="548640"/>
          </a:xfrm>
          <a:prstGeom prst="rect">
            <a:avLst/>
          </a:prstGeom>
          <a:noFill/>
        </p:spPr>
        <p:txBody>
          <a:bodyPr wrap="square" anchor="t">
            <a:spAutoFit/>
          </a:bodyPr>
          <a:lstStyle/>
          <a:p>
            <a:pPr algn="l">
              <a:spcAft>
                <a:spcPts val="400"/>
              </a:spcAft>
            </a:pPr>
            <a:r>
              <a:rPr sz="1300" b="1">
                <a:solidFill>
                  <a:srgbClr val="161B26"/>
                </a:solidFill>
                <a:latin typeface="Arial"/>
              </a:rPr>
              <a:t>Present Config compliance history and conformance-pack results as continuous evidence, backed by a validated CloudTrail — turning audit from a scramble into a query.</a:t>
            </a:r>
          </a:p>
        </p:txBody>
      </p:sp>
      <p:sp>
        <p:nvSpPr>
          <p:cNvPr id="19" name="TextBox 18"/>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DevOps Engineering on AWS  ·  TGS-2023040474</a:t>
            </a:r>
          </a:p>
        </p:txBody>
      </p:sp>
      <p:sp>
        <p:nvSpPr>
          <p:cNvPr id="20" name="TextBox 19"/>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21" name="TextBox 20"/>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209</a:t>
            </a:r>
          </a:p>
        </p:txBody>
      </p:sp>
    </p:spTree>
  </p:cSld>
  <p:clrMapOvr>
    <a:masterClrMapping/>
  </p:clrMapOvr>
  <p:transition xmlns:p14="http://schemas.microsoft.com/office/powerpoint/2010/main" p14:dur="380">
    <p:fade/>
  </p:transition>
</p:sld>
</file>

<file path=ppt/slides/slide21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38912"/>
            <a:ext cx="10607040" cy="365760"/>
          </a:xfrm>
          <a:prstGeom prst="rect">
            <a:avLst/>
          </a:prstGeom>
          <a:noFill/>
        </p:spPr>
        <p:txBody>
          <a:bodyPr wrap="square" anchor="t">
            <a:spAutoFit/>
          </a:bodyPr>
          <a:lstStyle/>
          <a:p>
            <a:pPr algn="l">
              <a:spcAft>
                <a:spcPts val="400"/>
              </a:spcAft>
            </a:pPr>
            <a:r>
              <a:rPr sz="1400" b="1">
                <a:solidFill>
                  <a:srgbClr val="C0392B"/>
                </a:solidFill>
                <a:latin typeface="Arial"/>
              </a:rPr>
              <a:t>LEAST PRIVILEGE IN PRACTICE</a:t>
            </a:r>
          </a:p>
        </p:txBody>
      </p:sp>
      <p:sp>
        <p:nvSpPr>
          <p:cNvPr id="5" name="TextBox 4"/>
          <p:cNvSpPr txBox="1"/>
          <p:nvPr/>
        </p:nvSpPr>
        <p:spPr>
          <a:xfrm>
            <a:off x="777240" y="896112"/>
            <a:ext cx="10927080" cy="731520"/>
          </a:xfrm>
          <a:prstGeom prst="rect">
            <a:avLst/>
          </a:prstGeom>
          <a:noFill/>
        </p:spPr>
        <p:txBody>
          <a:bodyPr wrap="square" anchor="t">
            <a:spAutoFit/>
          </a:bodyPr>
          <a:lstStyle/>
          <a:p>
            <a:pPr algn="l">
              <a:spcAft>
                <a:spcPts val="400"/>
              </a:spcAft>
            </a:pPr>
            <a:r>
              <a:rPr sz="2500" b="1">
                <a:solidFill>
                  <a:srgbClr val="161B26"/>
                </a:solidFill>
                <a:latin typeface="Arial"/>
              </a:rPr>
              <a:t>Scenario — An app needs one new permission</a:t>
            </a:r>
          </a:p>
        </p:txBody>
      </p:sp>
      <p:sp>
        <p:nvSpPr>
          <p:cNvPr id="6" name="Rectangle 5"/>
          <p:cNvSpPr/>
          <p:nvPr/>
        </p:nvSpPr>
        <p:spPr>
          <a:xfrm>
            <a:off x="777240" y="1572768"/>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755648"/>
            <a:ext cx="10634472" cy="91440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1755648"/>
            <a:ext cx="91440" cy="914400"/>
          </a:xfrm>
          <a:prstGeom prst="rect">
            <a:avLst/>
          </a:prstGeom>
          <a:solidFill>
            <a:srgbClr val="5B637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1033272" y="1847088"/>
            <a:ext cx="2194560" cy="320040"/>
          </a:xfrm>
          <a:prstGeom prst="rect">
            <a:avLst/>
          </a:prstGeom>
          <a:noFill/>
        </p:spPr>
        <p:txBody>
          <a:bodyPr wrap="square" anchor="t">
            <a:spAutoFit/>
          </a:bodyPr>
          <a:lstStyle/>
          <a:p>
            <a:pPr algn="l">
              <a:spcAft>
                <a:spcPts val="400"/>
              </a:spcAft>
            </a:pPr>
            <a:r>
              <a:rPr sz="1150" b="1">
                <a:solidFill>
                  <a:srgbClr val="5B6372"/>
                </a:solidFill>
                <a:latin typeface="Arial"/>
              </a:rPr>
              <a:t>SITUATION</a:t>
            </a:r>
          </a:p>
        </p:txBody>
      </p:sp>
      <p:sp>
        <p:nvSpPr>
          <p:cNvPr id="10" name="TextBox 9"/>
          <p:cNvSpPr txBox="1"/>
          <p:nvPr/>
        </p:nvSpPr>
        <p:spPr>
          <a:xfrm>
            <a:off x="1033272" y="2157984"/>
            <a:ext cx="10085832" cy="457200"/>
          </a:xfrm>
          <a:prstGeom prst="rect">
            <a:avLst/>
          </a:prstGeom>
          <a:noFill/>
        </p:spPr>
        <p:txBody>
          <a:bodyPr wrap="square" anchor="t">
            <a:spAutoFit/>
          </a:bodyPr>
          <a:lstStyle/>
          <a:p>
            <a:pPr algn="l">
              <a:spcAft>
                <a:spcPts val="400"/>
              </a:spcAft>
            </a:pPr>
            <a:r>
              <a:rPr sz="1300" b="0">
                <a:solidFill>
                  <a:srgbClr val="161B26"/>
                </a:solidFill>
                <a:latin typeface="Arial"/>
              </a:rPr>
              <a:t>A service fails with AccessDenied writing to a new S3 prefix. The quick fix is to grant s3:* on all buckets.</a:t>
            </a:r>
          </a:p>
        </p:txBody>
      </p:sp>
      <p:sp>
        <p:nvSpPr>
          <p:cNvPr id="11" name="Rectangle 10"/>
          <p:cNvSpPr/>
          <p:nvPr/>
        </p:nvSpPr>
        <p:spPr>
          <a:xfrm>
            <a:off x="777240" y="2788920"/>
            <a:ext cx="10634472" cy="2194560"/>
          </a:xfrm>
          <a:prstGeom prst="rect">
            <a:avLst/>
          </a:prstGeom>
          <a:solidFill>
            <a:srgbClr val="FFFFFF"/>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ectangle 11"/>
          <p:cNvSpPr/>
          <p:nvPr/>
        </p:nvSpPr>
        <p:spPr>
          <a:xfrm>
            <a:off x="777240" y="2788920"/>
            <a:ext cx="91440" cy="2194560"/>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1033272" y="2880360"/>
            <a:ext cx="2743200" cy="320040"/>
          </a:xfrm>
          <a:prstGeom prst="rect">
            <a:avLst/>
          </a:prstGeom>
          <a:noFill/>
        </p:spPr>
        <p:txBody>
          <a:bodyPr wrap="square" anchor="t">
            <a:spAutoFit/>
          </a:bodyPr>
          <a:lstStyle/>
          <a:p>
            <a:pPr algn="l">
              <a:spcAft>
                <a:spcPts val="400"/>
              </a:spcAft>
            </a:pPr>
            <a:r>
              <a:rPr sz="1150" b="1">
                <a:solidFill>
                  <a:srgbClr val="C0392B"/>
                </a:solidFill>
                <a:latin typeface="Arial"/>
              </a:rPr>
              <a:t>ANALYSIS</a:t>
            </a:r>
          </a:p>
        </p:txBody>
      </p:sp>
      <p:sp>
        <p:nvSpPr>
          <p:cNvPr id="14" name="TextBox 13"/>
          <p:cNvSpPr txBox="1"/>
          <p:nvPr/>
        </p:nvSpPr>
        <p:spPr>
          <a:xfrm>
            <a:off x="1033272" y="3246120"/>
            <a:ext cx="9994392" cy="1645920"/>
          </a:xfrm>
          <a:prstGeom prst="rect">
            <a:avLst/>
          </a:prstGeom>
          <a:noFill/>
        </p:spPr>
        <p:txBody>
          <a:bodyPr wrap="square">
            <a:spAutoFit/>
          </a:bodyPr>
          <a:lstStyle/>
          <a:p>
            <a:pPr>
              <a:spcAft>
                <a:spcPts val="700"/>
              </a:spcAft>
            </a:pPr>
            <a:r>
              <a:rPr sz="1300" b="0">
                <a:solidFill>
                  <a:srgbClr val="161B26"/>
                </a:solidFill>
                <a:latin typeface="Arial"/>
              </a:rPr>
              <a:t>•  A wildcard grant fixes the error but massively widens blast radius if the role is ever compromised.</a:t>
            </a:r>
          </a:p>
          <a:p>
            <a:pPr>
              <a:spcAft>
                <a:spcPts val="700"/>
              </a:spcAft>
            </a:pPr>
            <a:r>
              <a:rPr sz="1300" b="0">
                <a:solidFill>
                  <a:srgbClr val="161B26"/>
                </a:solidFill>
                <a:latin typeface="Arial"/>
              </a:rPr>
              <a:t>•  IAM Access Analyzer can generate a policy scoped to exactly the actions and resources the app used.</a:t>
            </a:r>
          </a:p>
          <a:p>
            <a:pPr>
              <a:spcAft>
                <a:spcPts val="700"/>
              </a:spcAft>
            </a:pPr>
            <a:r>
              <a:rPr sz="1300" b="0">
                <a:solidFill>
                  <a:srgbClr val="161B26"/>
                </a:solidFill>
                <a:latin typeface="Arial"/>
              </a:rPr>
              <a:t>•  The correct grant is s3:PutObject on that specific bucket/prefix, nothing more.</a:t>
            </a:r>
          </a:p>
        </p:txBody>
      </p:sp>
      <p:sp>
        <p:nvSpPr>
          <p:cNvPr id="15" name="Rectangle 14"/>
          <p:cNvSpPr/>
          <p:nvPr/>
        </p:nvSpPr>
        <p:spPr>
          <a:xfrm>
            <a:off x="777240" y="5102352"/>
            <a:ext cx="10634472" cy="96012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ectangle 15"/>
          <p:cNvSpPr/>
          <p:nvPr/>
        </p:nvSpPr>
        <p:spPr>
          <a:xfrm>
            <a:off x="777240" y="5102352"/>
            <a:ext cx="91440" cy="9601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1033272" y="5193792"/>
            <a:ext cx="2743200" cy="320040"/>
          </a:xfrm>
          <a:prstGeom prst="rect">
            <a:avLst/>
          </a:prstGeom>
          <a:noFill/>
        </p:spPr>
        <p:txBody>
          <a:bodyPr wrap="square" anchor="t">
            <a:spAutoFit/>
          </a:bodyPr>
          <a:lstStyle/>
          <a:p>
            <a:pPr algn="l">
              <a:spcAft>
                <a:spcPts val="400"/>
              </a:spcAft>
            </a:pPr>
            <a:r>
              <a:rPr sz="1150" b="1">
                <a:solidFill>
                  <a:srgbClr val="10B981"/>
                </a:solidFill>
                <a:latin typeface="Arial"/>
              </a:rPr>
              <a:t>DECISION</a:t>
            </a:r>
          </a:p>
        </p:txBody>
      </p:sp>
      <p:sp>
        <p:nvSpPr>
          <p:cNvPr id="18" name="TextBox 17"/>
          <p:cNvSpPr txBox="1"/>
          <p:nvPr/>
        </p:nvSpPr>
        <p:spPr>
          <a:xfrm>
            <a:off x="1033272" y="5486400"/>
            <a:ext cx="10085832" cy="548640"/>
          </a:xfrm>
          <a:prstGeom prst="rect">
            <a:avLst/>
          </a:prstGeom>
          <a:noFill/>
        </p:spPr>
        <p:txBody>
          <a:bodyPr wrap="square" anchor="t">
            <a:spAutoFit/>
          </a:bodyPr>
          <a:lstStyle/>
          <a:p>
            <a:pPr algn="l">
              <a:spcAft>
                <a:spcPts val="400"/>
              </a:spcAft>
            </a:pPr>
            <a:r>
              <a:rPr sz="1300" b="1">
                <a:solidFill>
                  <a:srgbClr val="161B26"/>
                </a:solidFill>
                <a:latin typeface="Arial"/>
              </a:rPr>
              <a:t>Grant the single scoped permission the app actually needs (not a wildcard), using Access Analyzer to right-size the policy — keeping least privilege intact under time pressure.</a:t>
            </a:r>
          </a:p>
        </p:txBody>
      </p:sp>
      <p:sp>
        <p:nvSpPr>
          <p:cNvPr id="19" name="TextBox 18"/>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DevOps Engineering on AWS  ·  TGS-2023040474</a:t>
            </a:r>
          </a:p>
        </p:txBody>
      </p:sp>
      <p:sp>
        <p:nvSpPr>
          <p:cNvPr id="20" name="TextBox 19"/>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21" name="TextBox 20"/>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210</a:t>
            </a:r>
          </a:p>
        </p:txBody>
      </p:sp>
    </p:spTree>
  </p:cSld>
  <p:clrMapOvr>
    <a:masterClrMapping/>
  </p:clrMapOvr>
  <p:transition xmlns:p14="http://schemas.microsoft.com/office/powerpoint/2010/main" p14:dur="380">
    <p:fade/>
  </p:transition>
</p:sld>
</file>

<file path=ppt/slides/slide21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38912"/>
            <a:ext cx="10607040" cy="365760"/>
          </a:xfrm>
          <a:prstGeom prst="rect">
            <a:avLst/>
          </a:prstGeom>
          <a:noFill/>
        </p:spPr>
        <p:txBody>
          <a:bodyPr wrap="square" anchor="t">
            <a:spAutoFit/>
          </a:bodyPr>
          <a:lstStyle/>
          <a:p>
            <a:pPr algn="l">
              <a:spcAft>
                <a:spcPts val="400"/>
              </a:spcAft>
            </a:pPr>
            <a:r>
              <a:rPr sz="1400" b="1">
                <a:solidFill>
                  <a:srgbClr val="C0392B"/>
                </a:solidFill>
                <a:latin typeface="Arial"/>
              </a:rPr>
              <a:t>FROM POLICY TO GUARDRAILS</a:t>
            </a:r>
          </a:p>
        </p:txBody>
      </p:sp>
      <p:sp>
        <p:nvSpPr>
          <p:cNvPr id="5" name="TextBox 4"/>
          <p:cNvSpPr txBox="1"/>
          <p:nvPr/>
        </p:nvSpPr>
        <p:spPr>
          <a:xfrm>
            <a:off x="777240" y="896112"/>
            <a:ext cx="10927080" cy="731520"/>
          </a:xfrm>
          <a:prstGeom prst="rect">
            <a:avLst/>
          </a:prstGeom>
          <a:noFill/>
        </p:spPr>
        <p:txBody>
          <a:bodyPr wrap="square" anchor="t">
            <a:spAutoFit/>
          </a:bodyPr>
          <a:lstStyle/>
          <a:p>
            <a:pPr algn="l">
              <a:spcAft>
                <a:spcPts val="400"/>
              </a:spcAft>
            </a:pPr>
            <a:r>
              <a:rPr sz="2500" b="1">
                <a:solidFill>
                  <a:srgbClr val="161B26"/>
                </a:solidFill>
                <a:latin typeface="Arial"/>
              </a:rPr>
              <a:t>Worked Analysis — Building a Compliance Blueprint</a:t>
            </a:r>
          </a:p>
        </p:txBody>
      </p:sp>
      <p:sp>
        <p:nvSpPr>
          <p:cNvPr id="6" name="Rectangle 5"/>
          <p:cNvSpPr/>
          <p:nvPr/>
        </p:nvSpPr>
        <p:spPr>
          <a:xfrm>
            <a:off x="777240" y="1572768"/>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783080"/>
            <a:ext cx="4253788" cy="765810"/>
          </a:xfrm>
          <a:prstGeom prst="rect">
            <a:avLst/>
          </a:prstGeom>
          <a:solidFill>
            <a:srgbClr val="F5F8FC"/>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1783080"/>
            <a:ext cx="73152" cy="765810"/>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5031028" y="1783080"/>
            <a:ext cx="6380684" cy="765810"/>
          </a:xfrm>
          <a:prstGeom prst="rect">
            <a:avLst/>
          </a:prstGeom>
          <a:solidFill>
            <a:srgbClr val="F5F8FC"/>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978408" y="1783080"/>
            <a:ext cx="3933748" cy="765810"/>
          </a:xfrm>
          <a:prstGeom prst="rect">
            <a:avLst/>
          </a:prstGeom>
          <a:noFill/>
        </p:spPr>
        <p:txBody>
          <a:bodyPr wrap="square" anchor="ctr">
            <a:spAutoFit/>
          </a:bodyPr>
          <a:lstStyle/>
          <a:p>
            <a:pPr algn="l">
              <a:spcAft>
                <a:spcPts val="400"/>
              </a:spcAft>
            </a:pPr>
            <a:r>
              <a:rPr sz="1250" b="1">
                <a:solidFill>
                  <a:srgbClr val="161B26"/>
                </a:solidFill>
                <a:latin typeface="Arial"/>
              </a:rPr>
              <a:t>Requirement: encrypt all data at rest</a:t>
            </a:r>
          </a:p>
        </p:txBody>
      </p:sp>
      <p:sp>
        <p:nvSpPr>
          <p:cNvPr id="11" name="TextBox 10"/>
          <p:cNvSpPr txBox="1"/>
          <p:nvPr/>
        </p:nvSpPr>
        <p:spPr>
          <a:xfrm>
            <a:off x="5213908" y="1783080"/>
            <a:ext cx="6060644" cy="765810"/>
          </a:xfrm>
          <a:prstGeom prst="rect">
            <a:avLst/>
          </a:prstGeom>
          <a:noFill/>
        </p:spPr>
        <p:txBody>
          <a:bodyPr wrap="square" anchor="ctr">
            <a:spAutoFit/>
          </a:bodyPr>
          <a:lstStyle/>
          <a:p>
            <a:pPr algn="l">
              <a:spcAft>
                <a:spcPts val="400"/>
              </a:spcAft>
            </a:pPr>
            <a:r>
              <a:rPr sz="1200" b="0">
                <a:solidFill>
                  <a:srgbClr val="5B6372"/>
                </a:solidFill>
                <a:latin typeface="Arial"/>
              </a:rPr>
              <a:t>Config rule encrypted-volumes + S3 default encryption; KMS keys with scoped policies.</a:t>
            </a:r>
          </a:p>
        </p:txBody>
      </p:sp>
      <p:sp>
        <p:nvSpPr>
          <p:cNvPr id="12" name="Rectangle 11"/>
          <p:cNvSpPr/>
          <p:nvPr/>
        </p:nvSpPr>
        <p:spPr>
          <a:xfrm>
            <a:off x="777240" y="2548890"/>
            <a:ext cx="4253788" cy="765810"/>
          </a:xfrm>
          <a:prstGeom prst="rect">
            <a:avLst/>
          </a:prstGeom>
          <a:solidFill>
            <a:srgbClr val="FFFFFF"/>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777240" y="2548890"/>
            <a:ext cx="73152" cy="765810"/>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ectangle 13"/>
          <p:cNvSpPr/>
          <p:nvPr/>
        </p:nvSpPr>
        <p:spPr>
          <a:xfrm>
            <a:off x="5031028" y="2548890"/>
            <a:ext cx="6380684" cy="765810"/>
          </a:xfrm>
          <a:prstGeom prst="rect">
            <a:avLst/>
          </a:prstGeom>
          <a:solidFill>
            <a:srgbClr val="FFFFFF"/>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978408" y="2548890"/>
            <a:ext cx="3933748" cy="765810"/>
          </a:xfrm>
          <a:prstGeom prst="rect">
            <a:avLst/>
          </a:prstGeom>
          <a:noFill/>
        </p:spPr>
        <p:txBody>
          <a:bodyPr wrap="square" anchor="ctr">
            <a:spAutoFit/>
          </a:bodyPr>
          <a:lstStyle/>
          <a:p>
            <a:pPr algn="l">
              <a:spcAft>
                <a:spcPts val="400"/>
              </a:spcAft>
            </a:pPr>
            <a:r>
              <a:rPr sz="1250" b="1">
                <a:solidFill>
                  <a:srgbClr val="161B26"/>
                </a:solidFill>
                <a:latin typeface="Arial"/>
              </a:rPr>
              <a:t>Requirement: no public data</a:t>
            </a:r>
          </a:p>
        </p:txBody>
      </p:sp>
      <p:sp>
        <p:nvSpPr>
          <p:cNvPr id="16" name="TextBox 15"/>
          <p:cNvSpPr txBox="1"/>
          <p:nvPr/>
        </p:nvSpPr>
        <p:spPr>
          <a:xfrm>
            <a:off x="5213908" y="2548890"/>
            <a:ext cx="6060644" cy="765810"/>
          </a:xfrm>
          <a:prstGeom prst="rect">
            <a:avLst/>
          </a:prstGeom>
          <a:noFill/>
        </p:spPr>
        <p:txBody>
          <a:bodyPr wrap="square" anchor="ctr">
            <a:spAutoFit/>
          </a:bodyPr>
          <a:lstStyle/>
          <a:p>
            <a:pPr algn="l">
              <a:spcAft>
                <a:spcPts val="400"/>
              </a:spcAft>
            </a:pPr>
            <a:r>
              <a:rPr sz="1200" b="0">
                <a:solidFill>
                  <a:srgbClr val="5B6372"/>
                </a:solidFill>
                <a:latin typeface="Arial"/>
              </a:rPr>
              <a:t>S3 Block Public Access org-wide + s3-bucket-public-read-prohibited rule.</a:t>
            </a:r>
          </a:p>
        </p:txBody>
      </p:sp>
      <p:sp>
        <p:nvSpPr>
          <p:cNvPr id="17" name="Rectangle 16"/>
          <p:cNvSpPr/>
          <p:nvPr/>
        </p:nvSpPr>
        <p:spPr>
          <a:xfrm>
            <a:off x="777240" y="3314700"/>
            <a:ext cx="4253788" cy="765810"/>
          </a:xfrm>
          <a:prstGeom prst="rect">
            <a:avLst/>
          </a:prstGeom>
          <a:solidFill>
            <a:srgbClr val="F5F8FC"/>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777240" y="3314700"/>
            <a:ext cx="73152" cy="765810"/>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Rectangle 18"/>
          <p:cNvSpPr/>
          <p:nvPr/>
        </p:nvSpPr>
        <p:spPr>
          <a:xfrm>
            <a:off x="5031028" y="3314700"/>
            <a:ext cx="6380684" cy="765810"/>
          </a:xfrm>
          <a:prstGeom prst="rect">
            <a:avLst/>
          </a:prstGeom>
          <a:solidFill>
            <a:srgbClr val="F5F8FC"/>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978408" y="3314700"/>
            <a:ext cx="3933748" cy="765810"/>
          </a:xfrm>
          <a:prstGeom prst="rect">
            <a:avLst/>
          </a:prstGeom>
          <a:noFill/>
        </p:spPr>
        <p:txBody>
          <a:bodyPr wrap="square" anchor="ctr">
            <a:spAutoFit/>
          </a:bodyPr>
          <a:lstStyle/>
          <a:p>
            <a:pPr algn="l">
              <a:spcAft>
                <a:spcPts val="400"/>
              </a:spcAft>
            </a:pPr>
            <a:r>
              <a:rPr sz="1250" b="1">
                <a:solidFill>
                  <a:srgbClr val="161B26"/>
                </a:solidFill>
                <a:latin typeface="Arial"/>
              </a:rPr>
              <a:t>Requirement: full audit trail</a:t>
            </a:r>
          </a:p>
        </p:txBody>
      </p:sp>
      <p:sp>
        <p:nvSpPr>
          <p:cNvPr id="21" name="TextBox 20"/>
          <p:cNvSpPr txBox="1"/>
          <p:nvPr/>
        </p:nvSpPr>
        <p:spPr>
          <a:xfrm>
            <a:off x="5213908" y="3314700"/>
            <a:ext cx="6060644" cy="765810"/>
          </a:xfrm>
          <a:prstGeom prst="rect">
            <a:avLst/>
          </a:prstGeom>
          <a:noFill/>
        </p:spPr>
        <p:txBody>
          <a:bodyPr wrap="square" anchor="ctr">
            <a:spAutoFit/>
          </a:bodyPr>
          <a:lstStyle/>
          <a:p>
            <a:pPr algn="l">
              <a:spcAft>
                <a:spcPts val="400"/>
              </a:spcAft>
            </a:pPr>
            <a:r>
              <a:rPr sz="1200" b="0">
                <a:solidFill>
                  <a:srgbClr val="5B6372"/>
                </a:solidFill>
                <a:latin typeface="Arial"/>
              </a:rPr>
              <a:t>Org CloudTrail to an encrypted, access-controlled logging account with validation.</a:t>
            </a:r>
          </a:p>
        </p:txBody>
      </p:sp>
      <p:sp>
        <p:nvSpPr>
          <p:cNvPr id="22" name="Rectangle 21"/>
          <p:cNvSpPr/>
          <p:nvPr/>
        </p:nvSpPr>
        <p:spPr>
          <a:xfrm>
            <a:off x="777240" y="4080510"/>
            <a:ext cx="4253788" cy="765810"/>
          </a:xfrm>
          <a:prstGeom prst="rect">
            <a:avLst/>
          </a:prstGeom>
          <a:solidFill>
            <a:srgbClr val="FFFFFF"/>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ectangle 22"/>
          <p:cNvSpPr/>
          <p:nvPr/>
        </p:nvSpPr>
        <p:spPr>
          <a:xfrm>
            <a:off x="777240" y="4080510"/>
            <a:ext cx="73152" cy="765810"/>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Rectangle 23"/>
          <p:cNvSpPr/>
          <p:nvPr/>
        </p:nvSpPr>
        <p:spPr>
          <a:xfrm>
            <a:off x="5031028" y="4080510"/>
            <a:ext cx="6380684" cy="765810"/>
          </a:xfrm>
          <a:prstGeom prst="rect">
            <a:avLst/>
          </a:prstGeom>
          <a:solidFill>
            <a:srgbClr val="FFFFFF"/>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978408" y="4080510"/>
            <a:ext cx="3933748" cy="765810"/>
          </a:xfrm>
          <a:prstGeom prst="rect">
            <a:avLst/>
          </a:prstGeom>
          <a:noFill/>
        </p:spPr>
        <p:txBody>
          <a:bodyPr wrap="square" anchor="ctr">
            <a:spAutoFit/>
          </a:bodyPr>
          <a:lstStyle/>
          <a:p>
            <a:pPr algn="l">
              <a:spcAft>
                <a:spcPts val="400"/>
              </a:spcAft>
            </a:pPr>
            <a:r>
              <a:rPr sz="1250" b="1">
                <a:solidFill>
                  <a:srgbClr val="161B26"/>
                </a:solidFill>
                <a:latin typeface="Arial"/>
              </a:rPr>
              <a:t>Requirement: least-privilege identity</a:t>
            </a:r>
          </a:p>
        </p:txBody>
      </p:sp>
      <p:sp>
        <p:nvSpPr>
          <p:cNvPr id="26" name="TextBox 25"/>
          <p:cNvSpPr txBox="1"/>
          <p:nvPr/>
        </p:nvSpPr>
        <p:spPr>
          <a:xfrm>
            <a:off x="5213908" y="4080510"/>
            <a:ext cx="6060644" cy="765810"/>
          </a:xfrm>
          <a:prstGeom prst="rect">
            <a:avLst/>
          </a:prstGeom>
          <a:noFill/>
        </p:spPr>
        <p:txBody>
          <a:bodyPr wrap="square" anchor="ctr">
            <a:spAutoFit/>
          </a:bodyPr>
          <a:lstStyle/>
          <a:p>
            <a:pPr algn="l">
              <a:spcAft>
                <a:spcPts val="400"/>
              </a:spcAft>
            </a:pPr>
            <a:r>
              <a:rPr sz="1200" b="0">
                <a:solidFill>
                  <a:srgbClr val="5B6372"/>
                </a:solidFill>
                <a:latin typeface="Arial"/>
              </a:rPr>
              <a:t>Roles + Identity Center + permission boundaries + Access Analyzer reviews.</a:t>
            </a:r>
          </a:p>
        </p:txBody>
      </p:sp>
      <p:sp>
        <p:nvSpPr>
          <p:cNvPr id="27" name="Rectangle 26"/>
          <p:cNvSpPr/>
          <p:nvPr/>
        </p:nvSpPr>
        <p:spPr>
          <a:xfrm>
            <a:off x="777240" y="5010912"/>
            <a:ext cx="10634472" cy="86868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Rectangle 27"/>
          <p:cNvSpPr/>
          <p:nvPr/>
        </p:nvSpPr>
        <p:spPr>
          <a:xfrm>
            <a:off x="777240" y="5010912"/>
            <a:ext cx="91440" cy="86868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TextBox 28"/>
          <p:cNvSpPr txBox="1"/>
          <p:nvPr/>
        </p:nvSpPr>
        <p:spPr>
          <a:xfrm>
            <a:off x="1033272" y="5102352"/>
            <a:ext cx="2743200" cy="320040"/>
          </a:xfrm>
          <a:prstGeom prst="rect">
            <a:avLst/>
          </a:prstGeom>
          <a:noFill/>
        </p:spPr>
        <p:txBody>
          <a:bodyPr wrap="square" anchor="t">
            <a:spAutoFit/>
          </a:bodyPr>
          <a:lstStyle/>
          <a:p>
            <a:pPr algn="l">
              <a:spcAft>
                <a:spcPts val="400"/>
              </a:spcAft>
            </a:pPr>
            <a:r>
              <a:rPr sz="1150" b="1">
                <a:solidFill>
                  <a:srgbClr val="10B981"/>
                </a:solidFill>
                <a:latin typeface="Arial"/>
              </a:rPr>
              <a:t>TAKEAWAY</a:t>
            </a:r>
          </a:p>
        </p:txBody>
      </p:sp>
      <p:sp>
        <p:nvSpPr>
          <p:cNvPr id="30" name="TextBox 29"/>
          <p:cNvSpPr txBox="1"/>
          <p:nvPr/>
        </p:nvSpPr>
        <p:spPr>
          <a:xfrm>
            <a:off x="1033272" y="5394960"/>
            <a:ext cx="10085832" cy="457200"/>
          </a:xfrm>
          <a:prstGeom prst="rect">
            <a:avLst/>
          </a:prstGeom>
          <a:noFill/>
        </p:spPr>
        <p:txBody>
          <a:bodyPr wrap="square" anchor="t">
            <a:spAutoFit/>
          </a:bodyPr>
          <a:lstStyle/>
          <a:p>
            <a:pPr algn="l">
              <a:spcAft>
                <a:spcPts val="400"/>
              </a:spcAft>
            </a:pPr>
            <a:r>
              <a:rPr sz="1300" b="1">
                <a:solidFill>
                  <a:srgbClr val="161B26"/>
                </a:solidFill>
                <a:latin typeface="Arial"/>
              </a:rPr>
              <a:t>A compliance blueprint maps each written requirement to a concrete, testable AWS control — so 'we are compliant' is something you can prove, continuously.</a:t>
            </a:r>
          </a:p>
        </p:txBody>
      </p:sp>
      <p:sp>
        <p:nvSpPr>
          <p:cNvPr id="31" name="TextBox 30"/>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DevOps Engineering on AWS  ·  TGS-2023040474</a:t>
            </a:r>
          </a:p>
        </p:txBody>
      </p:sp>
      <p:sp>
        <p:nvSpPr>
          <p:cNvPr id="32" name="TextBox 31"/>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33" name="TextBox 32"/>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211</a:t>
            </a:r>
          </a:p>
        </p:txBody>
      </p:sp>
    </p:spTree>
  </p:cSld>
  <p:clrMapOvr>
    <a:masterClrMapping/>
  </p:clrMapOvr>
  <p:transition xmlns:p14="http://schemas.microsoft.com/office/powerpoint/2010/main" p14:dur="380">
    <p:fade/>
  </p:transition>
</p:sld>
</file>

<file path=ppt/slides/slide21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38912"/>
            <a:ext cx="10607040" cy="365760"/>
          </a:xfrm>
          <a:prstGeom prst="rect">
            <a:avLst/>
          </a:prstGeom>
          <a:noFill/>
        </p:spPr>
        <p:txBody>
          <a:bodyPr wrap="square" anchor="t">
            <a:spAutoFit/>
          </a:bodyPr>
          <a:lstStyle/>
          <a:p>
            <a:pPr algn="l">
              <a:spcAft>
                <a:spcPts val="400"/>
              </a:spcAft>
            </a:pPr>
            <a:r>
              <a:rPr sz="1400" b="1">
                <a:solidFill>
                  <a:srgbClr val="C0392B"/>
                </a:solidFill>
                <a:latin typeface="Arial"/>
              </a:rPr>
              <a:t>LAB 21 · DAY 5 · LO6 · HANDS-ON</a:t>
            </a:r>
          </a:p>
        </p:txBody>
      </p:sp>
      <p:sp>
        <p:nvSpPr>
          <p:cNvPr id="5" name="TextBox 4"/>
          <p:cNvSpPr txBox="1"/>
          <p:nvPr/>
        </p:nvSpPr>
        <p:spPr>
          <a:xfrm>
            <a:off x="777240" y="896112"/>
            <a:ext cx="10927080" cy="731520"/>
          </a:xfrm>
          <a:prstGeom prst="rect">
            <a:avLst/>
          </a:prstGeom>
          <a:noFill/>
        </p:spPr>
        <p:txBody>
          <a:bodyPr wrap="square" anchor="t">
            <a:spAutoFit/>
          </a:bodyPr>
          <a:lstStyle/>
          <a:p>
            <a:pPr algn="l">
              <a:spcAft>
                <a:spcPts val="400"/>
              </a:spcAft>
            </a:pPr>
            <a:r>
              <a:rPr sz="2100" b="1">
                <a:solidFill>
                  <a:srgbClr val="161B26"/>
                </a:solidFill>
                <a:latin typeface="Arial"/>
              </a:rPr>
              <a:t>Enforce IAM Least Privilege and Analyse Policies for Over-Permissive Access</a:t>
            </a:r>
          </a:p>
        </p:txBody>
      </p:sp>
      <p:sp>
        <p:nvSpPr>
          <p:cNvPr id="6" name="Rectangle 5"/>
          <p:cNvSpPr/>
          <p:nvPr/>
        </p:nvSpPr>
        <p:spPr>
          <a:xfrm>
            <a:off x="777240" y="1572768"/>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737360"/>
            <a:ext cx="1737360" cy="457200"/>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77240" y="1783080"/>
            <a:ext cx="1737360" cy="365760"/>
          </a:xfrm>
          <a:prstGeom prst="rect">
            <a:avLst/>
          </a:prstGeom>
          <a:noFill/>
        </p:spPr>
        <p:txBody>
          <a:bodyPr wrap="square" anchor="t">
            <a:spAutoFit/>
          </a:bodyPr>
          <a:lstStyle/>
          <a:p>
            <a:pPr algn="ctr">
              <a:spcAft>
                <a:spcPts val="400"/>
              </a:spcAft>
            </a:pPr>
            <a:r>
              <a:rPr sz="1600" b="1">
                <a:solidFill>
                  <a:srgbClr val="FFFFFF"/>
                </a:solidFill>
                <a:latin typeface="Arial"/>
              </a:rPr>
              <a:t>LAB 21</a:t>
            </a:r>
          </a:p>
        </p:txBody>
      </p:sp>
      <p:sp>
        <p:nvSpPr>
          <p:cNvPr id="9" name="TextBox 8"/>
          <p:cNvSpPr txBox="1"/>
          <p:nvPr/>
        </p:nvSpPr>
        <p:spPr>
          <a:xfrm>
            <a:off x="2697480" y="1783080"/>
            <a:ext cx="3566160" cy="365760"/>
          </a:xfrm>
          <a:prstGeom prst="rect">
            <a:avLst/>
          </a:prstGeom>
          <a:noFill/>
        </p:spPr>
        <p:txBody>
          <a:bodyPr wrap="square" anchor="t">
            <a:spAutoFit/>
          </a:bodyPr>
          <a:lstStyle/>
          <a:p>
            <a:pPr algn="l">
              <a:spcAft>
                <a:spcPts val="400"/>
              </a:spcAft>
            </a:pPr>
            <a:r>
              <a:rPr sz="1200" b="1">
                <a:solidFill>
                  <a:srgbClr val="5B6372"/>
                </a:solidFill>
                <a:latin typeface="Arial"/>
              </a:rPr>
              <a:t>Day 5 · LO6 · K6, A4</a:t>
            </a:r>
          </a:p>
        </p:txBody>
      </p:sp>
      <p:sp>
        <p:nvSpPr>
          <p:cNvPr id="10" name="TextBox 9"/>
          <p:cNvSpPr txBox="1"/>
          <p:nvPr/>
        </p:nvSpPr>
        <p:spPr>
          <a:xfrm>
            <a:off x="777240" y="2286000"/>
            <a:ext cx="5486400" cy="1215390"/>
          </a:xfrm>
          <a:prstGeom prst="rect">
            <a:avLst/>
          </a:prstGeom>
          <a:noFill/>
        </p:spPr>
        <p:txBody>
          <a:bodyPr wrap="square" anchor="t">
            <a:spAutoFit/>
          </a:bodyPr>
          <a:lstStyle/>
          <a:p>
            <a:pPr algn="l">
              <a:spcAft>
                <a:spcPts val="400"/>
              </a:spcAft>
            </a:pPr>
            <a:r>
              <a:rPr sz="1350" b="0">
                <a:solidFill>
                  <a:srgbClr val="161B26"/>
                </a:solidFill>
                <a:latin typeface="Arial"/>
              </a:rPr>
              <a:t>Broad permissions are the single most common cloud security failure. In this lab you replace a wildcard grant with a tightly scoped policy for the sample app's role, attach a permission boundary so the role can never exceed its remit, then use IAM Access Analyzer policy validation, and an Access Analyzer …</a:t>
            </a:r>
          </a:p>
        </p:txBody>
      </p:sp>
      <p:sp>
        <p:nvSpPr>
          <p:cNvPr id="11" name="Rectangle 10"/>
          <p:cNvSpPr/>
          <p:nvPr/>
        </p:nvSpPr>
        <p:spPr>
          <a:xfrm>
            <a:off x="777240" y="3611118"/>
            <a:ext cx="5486400" cy="1328166"/>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ectangle 11"/>
          <p:cNvSpPr/>
          <p:nvPr/>
        </p:nvSpPr>
        <p:spPr>
          <a:xfrm>
            <a:off x="777240" y="3611118"/>
            <a:ext cx="91440" cy="1328166"/>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960120" y="3739134"/>
            <a:ext cx="5120640" cy="274320"/>
          </a:xfrm>
          <a:prstGeom prst="rect">
            <a:avLst/>
          </a:prstGeom>
          <a:noFill/>
        </p:spPr>
        <p:txBody>
          <a:bodyPr wrap="square" anchor="t">
            <a:spAutoFit/>
          </a:bodyPr>
          <a:lstStyle/>
          <a:p>
            <a:pPr algn="l">
              <a:spcAft>
                <a:spcPts val="400"/>
              </a:spcAft>
            </a:pPr>
            <a:r>
              <a:rPr sz="1200" b="1">
                <a:solidFill>
                  <a:srgbClr val="C0392B"/>
                </a:solidFill>
                <a:latin typeface="Arial"/>
              </a:rPr>
              <a:t>YOU'LL BUILD</a:t>
            </a:r>
          </a:p>
        </p:txBody>
      </p:sp>
      <p:sp>
        <p:nvSpPr>
          <p:cNvPr id="14" name="TextBox 13"/>
          <p:cNvSpPr txBox="1"/>
          <p:nvPr/>
        </p:nvSpPr>
        <p:spPr>
          <a:xfrm>
            <a:off x="960120" y="4013454"/>
            <a:ext cx="5166360" cy="569595"/>
          </a:xfrm>
          <a:prstGeom prst="rect">
            <a:avLst/>
          </a:prstGeom>
          <a:noFill/>
        </p:spPr>
        <p:txBody>
          <a:bodyPr wrap="square" anchor="t">
            <a:spAutoFit/>
          </a:bodyPr>
          <a:lstStyle/>
          <a:p>
            <a:pPr algn="l">
              <a:spcAft>
                <a:spcPts val="400"/>
              </a:spcAft>
            </a:pPr>
            <a:r>
              <a:rPr sz="1150" b="1">
                <a:solidFill>
                  <a:srgbClr val="161B26"/>
                </a:solidFill>
                <a:latin typeface="Arial"/>
              </a:rPr>
              <a:t>A least-privilege IAM policy for the app role, capped by a permission boundary, that passes Access Analyzer validation with no security warnings and grants nothing beyond the app's real needs.</a:t>
            </a:r>
          </a:p>
        </p:txBody>
      </p:sp>
      <p:sp>
        <p:nvSpPr>
          <p:cNvPr id="15" name="TextBox 14"/>
          <p:cNvSpPr txBox="1"/>
          <p:nvPr/>
        </p:nvSpPr>
        <p:spPr>
          <a:xfrm>
            <a:off x="960120" y="4637913"/>
            <a:ext cx="5166360" cy="173355"/>
          </a:xfrm>
          <a:prstGeom prst="rect">
            <a:avLst/>
          </a:prstGeom>
          <a:noFill/>
        </p:spPr>
        <p:txBody>
          <a:bodyPr wrap="square" anchor="t">
            <a:spAutoFit/>
          </a:bodyPr>
          <a:lstStyle/>
          <a:p>
            <a:pPr algn="l">
              <a:spcAft>
                <a:spcPts val="400"/>
              </a:spcAft>
            </a:pPr>
            <a:r>
              <a:rPr sz="1050" b="0">
                <a:solidFill>
                  <a:srgbClr val="5B6372"/>
                </a:solidFill>
                <a:latin typeface="Arial"/>
              </a:rPr>
              <a:t>Tools:  AWS IAM, IAM Access Analyzer, AWS STS, AWS CloudFormation</a:t>
            </a:r>
          </a:p>
        </p:txBody>
      </p:sp>
      <p:sp>
        <p:nvSpPr>
          <p:cNvPr id="16" name="Rectangle 15"/>
          <p:cNvSpPr/>
          <p:nvPr/>
        </p:nvSpPr>
        <p:spPr>
          <a:xfrm>
            <a:off x="777240" y="5049012"/>
            <a:ext cx="5486400" cy="1278636"/>
          </a:xfrm>
          <a:prstGeom prst="rect">
            <a:avLst/>
          </a:prstGeom>
          <a:solidFill>
            <a:srgbClr val="FFFFFF"/>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ectangle 16"/>
          <p:cNvSpPr/>
          <p:nvPr/>
        </p:nvSpPr>
        <p:spPr>
          <a:xfrm>
            <a:off x="777240" y="5049012"/>
            <a:ext cx="91440" cy="1278636"/>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960120" y="5177028"/>
            <a:ext cx="5120640" cy="274320"/>
          </a:xfrm>
          <a:prstGeom prst="rect">
            <a:avLst/>
          </a:prstGeom>
          <a:noFill/>
        </p:spPr>
        <p:txBody>
          <a:bodyPr wrap="square" anchor="t">
            <a:spAutoFit/>
          </a:bodyPr>
          <a:lstStyle/>
          <a:p>
            <a:pPr algn="l">
              <a:spcAft>
                <a:spcPts val="400"/>
              </a:spcAft>
            </a:pPr>
            <a:r>
              <a:rPr sz="1200" b="1">
                <a:solidFill>
                  <a:srgbClr val="10B981"/>
                </a:solidFill>
                <a:latin typeface="Arial"/>
              </a:rPr>
              <a:t>OUTCOME &amp; EVIDENCE</a:t>
            </a:r>
          </a:p>
        </p:txBody>
      </p:sp>
      <p:sp>
        <p:nvSpPr>
          <p:cNvPr id="19" name="TextBox 18"/>
          <p:cNvSpPr txBox="1"/>
          <p:nvPr/>
        </p:nvSpPr>
        <p:spPr>
          <a:xfrm>
            <a:off x="960120" y="5451348"/>
            <a:ext cx="5166360" cy="693420"/>
          </a:xfrm>
          <a:prstGeom prst="rect">
            <a:avLst/>
          </a:prstGeom>
          <a:noFill/>
        </p:spPr>
        <p:txBody>
          <a:bodyPr wrap="square" anchor="t">
            <a:spAutoFit/>
          </a:bodyPr>
          <a:lstStyle/>
          <a:p>
            <a:pPr algn="l">
              <a:spcAft>
                <a:spcPts val="300"/>
              </a:spcAft>
            </a:pPr>
            <a:r>
              <a:rPr sz="1050" b="0">
                <a:solidFill>
                  <a:srgbClr val="5B6372"/>
                </a:solidFill>
                <a:latin typeface="Arial"/>
              </a:rPr>
              <a:t>Outcome: You can prove, with Access Analyzer and policy simulation, that the app role grants exactly the actions the app needs and nothing more …</a:t>
            </a:r>
          </a:p>
          <a:p>
            <a:pPr algn="l">
              <a:spcAft>
                <a:spcPts val="300"/>
              </a:spcAft>
            </a:pPr>
            <a:r>
              <a:rPr sz="1050" b="0">
                <a:solidFill>
                  <a:srgbClr val="5B6372"/>
                </a:solidFill>
                <a:latin typeface="Arial"/>
              </a:rPr>
              <a:t>Evidence:  The output showing zero SECURITY_WARNING findings for iam-policy.json.</a:t>
            </a:r>
          </a:p>
        </p:txBody>
      </p:sp>
      <p:sp>
        <p:nvSpPr>
          <p:cNvPr id="20" name="Rectangle 19"/>
          <p:cNvSpPr/>
          <p:nvPr/>
        </p:nvSpPr>
        <p:spPr>
          <a:xfrm>
            <a:off x="6446520" y="1783080"/>
            <a:ext cx="5029200" cy="2901403"/>
          </a:xfrm>
          <a:prstGeom prst="rect">
            <a:avLst/>
          </a:prstGeom>
          <a:solidFill>
            <a:srgbClr val="F5F8FC"/>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21" name="Picture 20" descr="lab-21-iam-least-privilege-analysis.jpg"/>
          <p:cNvPicPr>
            <a:picLocks noChangeAspect="1"/>
          </p:cNvPicPr>
          <p:nvPr/>
        </p:nvPicPr>
        <p:blipFill>
          <a:blip r:embed="rId2"/>
          <a:stretch>
            <a:fillRect/>
          </a:stretch>
        </p:blipFill>
        <p:spPr>
          <a:xfrm>
            <a:off x="6492240" y="1828800"/>
            <a:ext cx="4937760" cy="2809963"/>
          </a:xfrm>
          <a:prstGeom prst="rect">
            <a:avLst/>
          </a:prstGeom>
        </p:spPr>
      </p:pic>
      <p:sp>
        <p:nvSpPr>
          <p:cNvPr id="22" name="TextBox 21"/>
          <p:cNvSpPr txBox="1"/>
          <p:nvPr/>
        </p:nvSpPr>
        <p:spPr>
          <a:xfrm>
            <a:off x="6492240" y="4730203"/>
            <a:ext cx="4937760" cy="365760"/>
          </a:xfrm>
          <a:prstGeom prst="rect">
            <a:avLst/>
          </a:prstGeom>
          <a:noFill/>
        </p:spPr>
        <p:txBody>
          <a:bodyPr wrap="square" anchor="t">
            <a:spAutoFit/>
          </a:bodyPr>
          <a:lstStyle/>
          <a:p>
            <a:pPr algn="ctr">
              <a:spcAft>
                <a:spcPts val="400"/>
              </a:spcAft>
            </a:pPr>
            <a:r>
              <a:rPr sz="1100" b="1">
                <a:solidFill>
                  <a:srgbClr val="5B6372"/>
                </a:solidFill>
                <a:latin typeface="Arial"/>
              </a:rPr>
              <a:t>Reference architecture</a:t>
            </a:r>
          </a:p>
        </p:txBody>
      </p:sp>
      <p:sp>
        <p:nvSpPr>
          <p:cNvPr id="23" name="TextBox 22"/>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DevOps Engineering on AWS  ·  TGS-2023040474</a:t>
            </a:r>
          </a:p>
        </p:txBody>
      </p:sp>
      <p:sp>
        <p:nvSpPr>
          <p:cNvPr id="24" name="TextBox 23"/>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25" name="TextBox 24"/>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212</a:t>
            </a:r>
          </a:p>
        </p:txBody>
      </p:sp>
    </p:spTree>
  </p:cSld>
  <p:clrMapOvr>
    <a:masterClrMapping/>
  </p:clrMapOvr>
  <p:transition xmlns:p14="http://schemas.microsoft.com/office/powerpoint/2010/main" p14:dur="380">
    <p:fade/>
  </p:transition>
</p:sld>
</file>

<file path=ppt/slides/slide21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38912"/>
            <a:ext cx="10607040" cy="365760"/>
          </a:xfrm>
          <a:prstGeom prst="rect">
            <a:avLst/>
          </a:prstGeom>
          <a:noFill/>
        </p:spPr>
        <p:txBody>
          <a:bodyPr wrap="square" anchor="t">
            <a:spAutoFit/>
          </a:bodyPr>
          <a:lstStyle/>
          <a:p>
            <a:pPr algn="l">
              <a:spcAft>
                <a:spcPts val="400"/>
              </a:spcAft>
            </a:pPr>
            <a:r>
              <a:rPr sz="1400" b="1">
                <a:solidFill>
                  <a:srgbClr val="C0392B"/>
                </a:solidFill>
                <a:latin typeface="Arial"/>
              </a:rPr>
              <a:t>LAB 22 · DAY 5 · LO6 · HANDS-ON</a:t>
            </a:r>
          </a:p>
        </p:txBody>
      </p:sp>
      <p:sp>
        <p:nvSpPr>
          <p:cNvPr id="5" name="TextBox 4"/>
          <p:cNvSpPr txBox="1"/>
          <p:nvPr/>
        </p:nvSpPr>
        <p:spPr>
          <a:xfrm>
            <a:off x="777240" y="896112"/>
            <a:ext cx="10927080" cy="731520"/>
          </a:xfrm>
          <a:prstGeom prst="rect">
            <a:avLst/>
          </a:prstGeom>
          <a:noFill/>
        </p:spPr>
        <p:txBody>
          <a:bodyPr wrap="square" anchor="t">
            <a:spAutoFit/>
          </a:bodyPr>
          <a:lstStyle/>
          <a:p>
            <a:pPr algn="l">
              <a:spcAft>
                <a:spcPts val="400"/>
              </a:spcAft>
            </a:pPr>
            <a:r>
              <a:rPr sz="2100" b="1">
                <a:solidFill>
                  <a:srgbClr val="161B26"/>
                </a:solidFill>
                <a:latin typeface="Arial"/>
              </a:rPr>
              <a:t>Protect Data with Secrets Manager and Customer-Managed KMS Encryption</a:t>
            </a:r>
          </a:p>
        </p:txBody>
      </p:sp>
      <p:sp>
        <p:nvSpPr>
          <p:cNvPr id="6" name="Rectangle 5"/>
          <p:cNvSpPr/>
          <p:nvPr/>
        </p:nvSpPr>
        <p:spPr>
          <a:xfrm>
            <a:off x="777240" y="1572768"/>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737360"/>
            <a:ext cx="1737360" cy="457200"/>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77240" y="1783080"/>
            <a:ext cx="1737360" cy="365760"/>
          </a:xfrm>
          <a:prstGeom prst="rect">
            <a:avLst/>
          </a:prstGeom>
          <a:noFill/>
        </p:spPr>
        <p:txBody>
          <a:bodyPr wrap="square" anchor="t">
            <a:spAutoFit/>
          </a:bodyPr>
          <a:lstStyle/>
          <a:p>
            <a:pPr algn="ctr">
              <a:spcAft>
                <a:spcPts val="400"/>
              </a:spcAft>
            </a:pPr>
            <a:r>
              <a:rPr sz="1600" b="1">
                <a:solidFill>
                  <a:srgbClr val="FFFFFF"/>
                </a:solidFill>
                <a:latin typeface="Arial"/>
              </a:rPr>
              <a:t>LAB 22</a:t>
            </a:r>
          </a:p>
        </p:txBody>
      </p:sp>
      <p:sp>
        <p:nvSpPr>
          <p:cNvPr id="9" name="TextBox 8"/>
          <p:cNvSpPr txBox="1"/>
          <p:nvPr/>
        </p:nvSpPr>
        <p:spPr>
          <a:xfrm>
            <a:off x="2697480" y="1783080"/>
            <a:ext cx="3566160" cy="365760"/>
          </a:xfrm>
          <a:prstGeom prst="rect">
            <a:avLst/>
          </a:prstGeom>
          <a:noFill/>
        </p:spPr>
        <p:txBody>
          <a:bodyPr wrap="square" anchor="t">
            <a:spAutoFit/>
          </a:bodyPr>
          <a:lstStyle/>
          <a:p>
            <a:pPr algn="l">
              <a:spcAft>
                <a:spcPts val="400"/>
              </a:spcAft>
            </a:pPr>
            <a:r>
              <a:rPr sz="1200" b="1">
                <a:solidFill>
                  <a:srgbClr val="5B6372"/>
                </a:solidFill>
                <a:latin typeface="Arial"/>
              </a:rPr>
              <a:t>Day 5 · LO6 · K6, A4</a:t>
            </a:r>
          </a:p>
        </p:txBody>
      </p:sp>
      <p:sp>
        <p:nvSpPr>
          <p:cNvPr id="10" name="TextBox 9"/>
          <p:cNvSpPr txBox="1"/>
          <p:nvPr/>
        </p:nvSpPr>
        <p:spPr>
          <a:xfrm>
            <a:off x="777240" y="2286000"/>
            <a:ext cx="5486400" cy="1017270"/>
          </a:xfrm>
          <a:prstGeom prst="rect">
            <a:avLst/>
          </a:prstGeom>
          <a:noFill/>
        </p:spPr>
        <p:txBody>
          <a:bodyPr wrap="square" anchor="t">
            <a:spAutoFit/>
          </a:bodyPr>
          <a:lstStyle/>
          <a:p>
            <a:pPr algn="l">
              <a:spcAft>
                <a:spcPts val="400"/>
              </a:spcAft>
            </a:pPr>
            <a:r>
              <a:rPr sz="1350" b="0">
                <a:solidFill>
                  <a:srgbClr val="161B26"/>
                </a:solidFill>
                <a:latin typeface="Arial"/>
              </a:rPr>
              <a:t>Sensitive data must be encrypted with keys you control and secrets must never live in code. In this lab you create a customer-managed KMS key with a least-privilege key policy, store an application credential in AWS Secrets Manager …</a:t>
            </a:r>
          </a:p>
        </p:txBody>
      </p:sp>
      <p:sp>
        <p:nvSpPr>
          <p:cNvPr id="11" name="Rectangle 10"/>
          <p:cNvSpPr/>
          <p:nvPr/>
        </p:nvSpPr>
        <p:spPr>
          <a:xfrm>
            <a:off x="777240" y="3412998"/>
            <a:ext cx="5486400" cy="1526286"/>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ectangle 11"/>
          <p:cNvSpPr/>
          <p:nvPr/>
        </p:nvSpPr>
        <p:spPr>
          <a:xfrm>
            <a:off x="777240" y="3412998"/>
            <a:ext cx="91440" cy="1526286"/>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960120" y="3541014"/>
            <a:ext cx="5120640" cy="274320"/>
          </a:xfrm>
          <a:prstGeom prst="rect">
            <a:avLst/>
          </a:prstGeom>
          <a:noFill/>
        </p:spPr>
        <p:txBody>
          <a:bodyPr wrap="square" anchor="t">
            <a:spAutoFit/>
          </a:bodyPr>
          <a:lstStyle/>
          <a:p>
            <a:pPr algn="l">
              <a:spcAft>
                <a:spcPts val="400"/>
              </a:spcAft>
            </a:pPr>
            <a:r>
              <a:rPr sz="1200" b="1">
                <a:solidFill>
                  <a:srgbClr val="C0392B"/>
                </a:solidFill>
                <a:latin typeface="Arial"/>
              </a:rPr>
              <a:t>YOU'LL BUILD</a:t>
            </a:r>
          </a:p>
        </p:txBody>
      </p:sp>
      <p:sp>
        <p:nvSpPr>
          <p:cNvPr id="14" name="TextBox 13"/>
          <p:cNvSpPr txBox="1"/>
          <p:nvPr/>
        </p:nvSpPr>
        <p:spPr>
          <a:xfrm>
            <a:off x="960120" y="3815334"/>
            <a:ext cx="5166360" cy="594360"/>
          </a:xfrm>
          <a:prstGeom prst="rect">
            <a:avLst/>
          </a:prstGeom>
          <a:noFill/>
        </p:spPr>
        <p:txBody>
          <a:bodyPr wrap="square" anchor="t">
            <a:spAutoFit/>
          </a:bodyPr>
          <a:lstStyle/>
          <a:p>
            <a:pPr algn="l">
              <a:spcAft>
                <a:spcPts val="400"/>
              </a:spcAft>
            </a:pPr>
            <a:r>
              <a:rPr sz="1200" b="1">
                <a:solidFill>
                  <a:srgbClr val="161B26"/>
                </a:solidFill>
                <a:latin typeface="Arial"/>
              </a:rPr>
              <a:t>A customer-managed KMS key with a scoped key policy, a rotating Secrets Manager secret, and an S3 bucket that encrypts by default with your key and rejects any unencrypted upload.</a:t>
            </a:r>
          </a:p>
        </p:txBody>
      </p:sp>
      <p:sp>
        <p:nvSpPr>
          <p:cNvPr id="15" name="TextBox 14"/>
          <p:cNvSpPr txBox="1"/>
          <p:nvPr/>
        </p:nvSpPr>
        <p:spPr>
          <a:xfrm>
            <a:off x="960120" y="4464558"/>
            <a:ext cx="5166360" cy="346710"/>
          </a:xfrm>
          <a:prstGeom prst="rect">
            <a:avLst/>
          </a:prstGeom>
          <a:noFill/>
        </p:spPr>
        <p:txBody>
          <a:bodyPr wrap="square" anchor="t">
            <a:spAutoFit/>
          </a:bodyPr>
          <a:lstStyle/>
          <a:p>
            <a:pPr algn="l">
              <a:spcAft>
                <a:spcPts val="400"/>
              </a:spcAft>
            </a:pPr>
            <a:r>
              <a:rPr sz="1050" b="0">
                <a:solidFill>
                  <a:srgbClr val="5B6372"/>
                </a:solidFill>
                <a:latin typeface="Arial"/>
              </a:rPr>
              <a:t>Tools:  AWS KMS, AWS Secrets Manager, Amazon S3, AWS Lambda (rotation), AWS CloudFormation</a:t>
            </a:r>
          </a:p>
        </p:txBody>
      </p:sp>
      <p:sp>
        <p:nvSpPr>
          <p:cNvPr id="16" name="Rectangle 15"/>
          <p:cNvSpPr/>
          <p:nvPr/>
        </p:nvSpPr>
        <p:spPr>
          <a:xfrm>
            <a:off x="777240" y="5049012"/>
            <a:ext cx="5486400" cy="1278636"/>
          </a:xfrm>
          <a:prstGeom prst="rect">
            <a:avLst/>
          </a:prstGeom>
          <a:solidFill>
            <a:srgbClr val="FFFFFF"/>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ectangle 16"/>
          <p:cNvSpPr/>
          <p:nvPr/>
        </p:nvSpPr>
        <p:spPr>
          <a:xfrm>
            <a:off x="777240" y="5049012"/>
            <a:ext cx="91440" cy="1278636"/>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960120" y="5177028"/>
            <a:ext cx="5120640" cy="274320"/>
          </a:xfrm>
          <a:prstGeom prst="rect">
            <a:avLst/>
          </a:prstGeom>
          <a:noFill/>
        </p:spPr>
        <p:txBody>
          <a:bodyPr wrap="square" anchor="t">
            <a:spAutoFit/>
          </a:bodyPr>
          <a:lstStyle/>
          <a:p>
            <a:pPr algn="l">
              <a:spcAft>
                <a:spcPts val="400"/>
              </a:spcAft>
            </a:pPr>
            <a:r>
              <a:rPr sz="1200" b="1">
                <a:solidFill>
                  <a:srgbClr val="10B981"/>
                </a:solidFill>
                <a:latin typeface="Arial"/>
              </a:rPr>
              <a:t>OUTCOME &amp; EVIDENCE</a:t>
            </a:r>
          </a:p>
        </p:txBody>
      </p:sp>
      <p:sp>
        <p:nvSpPr>
          <p:cNvPr id="19" name="TextBox 18"/>
          <p:cNvSpPr txBox="1"/>
          <p:nvPr/>
        </p:nvSpPr>
        <p:spPr>
          <a:xfrm>
            <a:off x="960120" y="5451348"/>
            <a:ext cx="5166360" cy="693420"/>
          </a:xfrm>
          <a:prstGeom prst="rect">
            <a:avLst/>
          </a:prstGeom>
          <a:noFill/>
        </p:spPr>
        <p:txBody>
          <a:bodyPr wrap="square" anchor="t">
            <a:spAutoFit/>
          </a:bodyPr>
          <a:lstStyle/>
          <a:p>
            <a:pPr algn="l">
              <a:spcAft>
                <a:spcPts val="300"/>
              </a:spcAft>
            </a:pPr>
            <a:r>
              <a:rPr sz="1050" b="0">
                <a:solidFill>
                  <a:srgbClr val="5B6372"/>
                </a:solidFill>
                <a:latin typeface="Arial"/>
              </a:rPr>
              <a:t>Outcome: You can store and rotate a secret in Secrets Manager under a customer-managed KMS key, retrieve it via KMS decrypt, and prove the …</a:t>
            </a:r>
          </a:p>
          <a:p>
            <a:pPr algn="l">
              <a:spcAft>
                <a:spcPts val="300"/>
              </a:spcAft>
            </a:pPr>
            <a:r>
              <a:rPr sz="1050" b="0">
                <a:solidFill>
                  <a:srgbClr val="5B6372"/>
                </a:solidFill>
                <a:latin typeface="Arial"/>
              </a:rPr>
              <a:t>Evidence:  describe-key output showing KeyManager CUSTOMER, KeyState Enabled and rotation enabled for alias/devops-app.</a:t>
            </a:r>
          </a:p>
        </p:txBody>
      </p:sp>
      <p:sp>
        <p:nvSpPr>
          <p:cNvPr id="20" name="Rectangle 19"/>
          <p:cNvSpPr/>
          <p:nvPr/>
        </p:nvSpPr>
        <p:spPr>
          <a:xfrm>
            <a:off x="6446520" y="1783080"/>
            <a:ext cx="5029200" cy="2901403"/>
          </a:xfrm>
          <a:prstGeom prst="rect">
            <a:avLst/>
          </a:prstGeom>
          <a:solidFill>
            <a:srgbClr val="F5F8FC"/>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21" name="Picture 20" descr="lab-22-secrets-kms-encryption.jpg"/>
          <p:cNvPicPr>
            <a:picLocks noChangeAspect="1"/>
          </p:cNvPicPr>
          <p:nvPr/>
        </p:nvPicPr>
        <p:blipFill>
          <a:blip r:embed="rId2"/>
          <a:stretch>
            <a:fillRect/>
          </a:stretch>
        </p:blipFill>
        <p:spPr>
          <a:xfrm>
            <a:off x="6492240" y="1828800"/>
            <a:ext cx="4937760" cy="2809963"/>
          </a:xfrm>
          <a:prstGeom prst="rect">
            <a:avLst/>
          </a:prstGeom>
        </p:spPr>
      </p:pic>
      <p:sp>
        <p:nvSpPr>
          <p:cNvPr id="22" name="TextBox 21"/>
          <p:cNvSpPr txBox="1"/>
          <p:nvPr/>
        </p:nvSpPr>
        <p:spPr>
          <a:xfrm>
            <a:off x="6492240" y="4730203"/>
            <a:ext cx="4937760" cy="365760"/>
          </a:xfrm>
          <a:prstGeom prst="rect">
            <a:avLst/>
          </a:prstGeom>
          <a:noFill/>
        </p:spPr>
        <p:txBody>
          <a:bodyPr wrap="square" anchor="t">
            <a:spAutoFit/>
          </a:bodyPr>
          <a:lstStyle/>
          <a:p>
            <a:pPr algn="ctr">
              <a:spcAft>
                <a:spcPts val="400"/>
              </a:spcAft>
            </a:pPr>
            <a:r>
              <a:rPr sz="1100" b="1">
                <a:solidFill>
                  <a:srgbClr val="5B6372"/>
                </a:solidFill>
                <a:latin typeface="Arial"/>
              </a:rPr>
              <a:t>Reference architecture</a:t>
            </a:r>
          </a:p>
        </p:txBody>
      </p:sp>
      <p:sp>
        <p:nvSpPr>
          <p:cNvPr id="23" name="TextBox 22"/>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DevOps Engineering on AWS  ·  TGS-2023040474</a:t>
            </a:r>
          </a:p>
        </p:txBody>
      </p:sp>
      <p:sp>
        <p:nvSpPr>
          <p:cNvPr id="24" name="TextBox 23"/>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25" name="TextBox 24"/>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213</a:t>
            </a:r>
          </a:p>
        </p:txBody>
      </p:sp>
    </p:spTree>
  </p:cSld>
  <p:clrMapOvr>
    <a:masterClrMapping/>
  </p:clrMapOvr>
  <p:transition xmlns:p14="http://schemas.microsoft.com/office/powerpoint/2010/main" p14:dur="380">
    <p:fade/>
  </p:transition>
</p:sld>
</file>

<file path=ppt/slides/slide21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38912"/>
            <a:ext cx="10607040" cy="365760"/>
          </a:xfrm>
          <a:prstGeom prst="rect">
            <a:avLst/>
          </a:prstGeom>
          <a:noFill/>
        </p:spPr>
        <p:txBody>
          <a:bodyPr wrap="square" anchor="t">
            <a:spAutoFit/>
          </a:bodyPr>
          <a:lstStyle/>
          <a:p>
            <a:pPr algn="l">
              <a:spcAft>
                <a:spcPts val="400"/>
              </a:spcAft>
            </a:pPr>
            <a:r>
              <a:rPr sz="1400" b="1">
                <a:solidFill>
                  <a:srgbClr val="C0392B"/>
                </a:solidFill>
                <a:latin typeface="Arial"/>
              </a:rPr>
              <a:t>LAB 23 · DAY 5 · LO6 · HANDS-ON</a:t>
            </a:r>
          </a:p>
        </p:txBody>
      </p:sp>
      <p:sp>
        <p:nvSpPr>
          <p:cNvPr id="5" name="TextBox 4"/>
          <p:cNvSpPr txBox="1"/>
          <p:nvPr/>
        </p:nvSpPr>
        <p:spPr>
          <a:xfrm>
            <a:off x="777240" y="896112"/>
            <a:ext cx="10927080" cy="731520"/>
          </a:xfrm>
          <a:prstGeom prst="rect">
            <a:avLst/>
          </a:prstGeom>
          <a:noFill/>
        </p:spPr>
        <p:txBody>
          <a:bodyPr wrap="square" anchor="t">
            <a:spAutoFit/>
          </a:bodyPr>
          <a:lstStyle/>
          <a:p>
            <a:pPr algn="l">
              <a:spcAft>
                <a:spcPts val="400"/>
              </a:spcAft>
            </a:pPr>
            <a:r>
              <a:rPr sz="2100" b="1">
                <a:solidFill>
                  <a:srgbClr val="161B26"/>
                </a:solidFill>
                <a:latin typeface="Arial"/>
              </a:rPr>
              <a:t>Produce CloudTrail Audit Evidence and Answer Who-Did-What-When</a:t>
            </a:r>
          </a:p>
        </p:txBody>
      </p:sp>
      <p:sp>
        <p:nvSpPr>
          <p:cNvPr id="6" name="Rectangle 5"/>
          <p:cNvSpPr/>
          <p:nvPr/>
        </p:nvSpPr>
        <p:spPr>
          <a:xfrm>
            <a:off x="777240" y="1572768"/>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737360"/>
            <a:ext cx="1737360" cy="457200"/>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77240" y="1783080"/>
            <a:ext cx="1737360" cy="365760"/>
          </a:xfrm>
          <a:prstGeom prst="rect">
            <a:avLst/>
          </a:prstGeom>
          <a:noFill/>
        </p:spPr>
        <p:txBody>
          <a:bodyPr wrap="square" anchor="t">
            <a:spAutoFit/>
          </a:bodyPr>
          <a:lstStyle/>
          <a:p>
            <a:pPr algn="ctr">
              <a:spcAft>
                <a:spcPts val="400"/>
              </a:spcAft>
            </a:pPr>
            <a:r>
              <a:rPr sz="1600" b="1">
                <a:solidFill>
                  <a:srgbClr val="FFFFFF"/>
                </a:solidFill>
                <a:latin typeface="Arial"/>
              </a:rPr>
              <a:t>LAB 23</a:t>
            </a:r>
          </a:p>
        </p:txBody>
      </p:sp>
      <p:sp>
        <p:nvSpPr>
          <p:cNvPr id="9" name="TextBox 8"/>
          <p:cNvSpPr txBox="1"/>
          <p:nvPr/>
        </p:nvSpPr>
        <p:spPr>
          <a:xfrm>
            <a:off x="2697480" y="1783080"/>
            <a:ext cx="3566160" cy="365760"/>
          </a:xfrm>
          <a:prstGeom prst="rect">
            <a:avLst/>
          </a:prstGeom>
          <a:noFill/>
        </p:spPr>
        <p:txBody>
          <a:bodyPr wrap="square" anchor="t">
            <a:spAutoFit/>
          </a:bodyPr>
          <a:lstStyle/>
          <a:p>
            <a:pPr algn="l">
              <a:spcAft>
                <a:spcPts val="400"/>
              </a:spcAft>
            </a:pPr>
            <a:r>
              <a:rPr sz="1200" b="1">
                <a:solidFill>
                  <a:srgbClr val="5B6372"/>
                </a:solidFill>
                <a:latin typeface="Arial"/>
              </a:rPr>
              <a:t>Day 5 · LO6 · K6, A4</a:t>
            </a:r>
          </a:p>
        </p:txBody>
      </p:sp>
      <p:sp>
        <p:nvSpPr>
          <p:cNvPr id="10" name="TextBox 9"/>
          <p:cNvSpPr txBox="1"/>
          <p:nvPr/>
        </p:nvSpPr>
        <p:spPr>
          <a:xfrm>
            <a:off x="777240" y="2286000"/>
            <a:ext cx="5486400" cy="992505"/>
          </a:xfrm>
          <a:prstGeom prst="rect">
            <a:avLst/>
          </a:prstGeom>
          <a:noFill/>
        </p:spPr>
        <p:txBody>
          <a:bodyPr wrap="square" anchor="t">
            <a:spAutoFit/>
          </a:bodyPr>
          <a:lstStyle/>
          <a:p>
            <a:pPr algn="l">
              <a:spcAft>
                <a:spcPts val="400"/>
              </a:spcAft>
            </a:pPr>
            <a:r>
              <a:rPr sz="1350" b="0">
                <a:solidFill>
                  <a:srgbClr val="161B26"/>
                </a:solidFill>
                <a:latin typeface="Arial"/>
              </a:rPr>
              <a:t>Auditors and incident responders need a tamper-evident record of every API call. In this lab you create a multi-Region CloudTrail with log-file validation that delivers to an encrypted, access-blocked S3 bucket, then query the events two ways …</a:t>
            </a:r>
          </a:p>
        </p:txBody>
      </p:sp>
      <p:sp>
        <p:nvSpPr>
          <p:cNvPr id="11" name="Rectangle 10"/>
          <p:cNvSpPr/>
          <p:nvPr/>
        </p:nvSpPr>
        <p:spPr>
          <a:xfrm>
            <a:off x="777240" y="3388233"/>
            <a:ext cx="5486400" cy="1551051"/>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ectangle 11"/>
          <p:cNvSpPr/>
          <p:nvPr/>
        </p:nvSpPr>
        <p:spPr>
          <a:xfrm>
            <a:off x="777240" y="3388233"/>
            <a:ext cx="91440" cy="1551051"/>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960120" y="3516249"/>
            <a:ext cx="5120640" cy="274320"/>
          </a:xfrm>
          <a:prstGeom prst="rect">
            <a:avLst/>
          </a:prstGeom>
          <a:noFill/>
        </p:spPr>
        <p:txBody>
          <a:bodyPr wrap="square" anchor="t">
            <a:spAutoFit/>
          </a:bodyPr>
          <a:lstStyle/>
          <a:p>
            <a:pPr algn="l">
              <a:spcAft>
                <a:spcPts val="400"/>
              </a:spcAft>
            </a:pPr>
            <a:r>
              <a:rPr sz="1200" b="1">
                <a:solidFill>
                  <a:srgbClr val="C0392B"/>
                </a:solidFill>
                <a:latin typeface="Arial"/>
              </a:rPr>
              <a:t>YOU'LL BUILD</a:t>
            </a:r>
          </a:p>
        </p:txBody>
      </p:sp>
      <p:sp>
        <p:nvSpPr>
          <p:cNvPr id="14" name="TextBox 13"/>
          <p:cNvSpPr txBox="1"/>
          <p:nvPr/>
        </p:nvSpPr>
        <p:spPr>
          <a:xfrm>
            <a:off x="960120" y="3790569"/>
            <a:ext cx="5166360" cy="619125"/>
          </a:xfrm>
          <a:prstGeom prst="rect">
            <a:avLst/>
          </a:prstGeom>
          <a:noFill/>
        </p:spPr>
        <p:txBody>
          <a:bodyPr wrap="square" anchor="t">
            <a:spAutoFit/>
          </a:bodyPr>
          <a:lstStyle/>
          <a:p>
            <a:pPr algn="l">
              <a:spcAft>
                <a:spcPts val="400"/>
              </a:spcAft>
            </a:pPr>
            <a:r>
              <a:rPr sz="1250" b="1">
                <a:solidFill>
                  <a:srgbClr val="161B26"/>
                </a:solidFill>
                <a:latin typeface="Arial"/>
              </a:rPr>
              <a:t>A validated, multi-Region CloudTrail delivering encrypted logs to S3, plus Athena/CloudTrail Lake queries that answer who-did-what-when and an exported evidence pack.</a:t>
            </a:r>
          </a:p>
        </p:txBody>
      </p:sp>
      <p:sp>
        <p:nvSpPr>
          <p:cNvPr id="15" name="TextBox 14"/>
          <p:cNvSpPr txBox="1"/>
          <p:nvPr/>
        </p:nvSpPr>
        <p:spPr>
          <a:xfrm>
            <a:off x="960120" y="4464558"/>
            <a:ext cx="5166360" cy="346710"/>
          </a:xfrm>
          <a:prstGeom prst="rect">
            <a:avLst/>
          </a:prstGeom>
          <a:noFill/>
        </p:spPr>
        <p:txBody>
          <a:bodyPr wrap="square" anchor="t">
            <a:spAutoFit/>
          </a:bodyPr>
          <a:lstStyle/>
          <a:p>
            <a:pPr algn="l">
              <a:spcAft>
                <a:spcPts val="400"/>
              </a:spcAft>
            </a:pPr>
            <a:r>
              <a:rPr sz="1050" b="0">
                <a:solidFill>
                  <a:srgbClr val="5B6372"/>
                </a:solidFill>
                <a:latin typeface="Arial"/>
              </a:rPr>
              <a:t>Tools:  AWS CloudTrail, Amazon S3, Amazon Athena, CloudTrail Lake, AWS KMS</a:t>
            </a:r>
          </a:p>
        </p:txBody>
      </p:sp>
      <p:sp>
        <p:nvSpPr>
          <p:cNvPr id="16" name="Rectangle 15"/>
          <p:cNvSpPr/>
          <p:nvPr/>
        </p:nvSpPr>
        <p:spPr>
          <a:xfrm>
            <a:off x="777240" y="5049012"/>
            <a:ext cx="5486400" cy="1278636"/>
          </a:xfrm>
          <a:prstGeom prst="rect">
            <a:avLst/>
          </a:prstGeom>
          <a:solidFill>
            <a:srgbClr val="FFFFFF"/>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ectangle 16"/>
          <p:cNvSpPr/>
          <p:nvPr/>
        </p:nvSpPr>
        <p:spPr>
          <a:xfrm>
            <a:off x="777240" y="5049012"/>
            <a:ext cx="91440" cy="1278636"/>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960120" y="5177028"/>
            <a:ext cx="5120640" cy="274320"/>
          </a:xfrm>
          <a:prstGeom prst="rect">
            <a:avLst/>
          </a:prstGeom>
          <a:noFill/>
        </p:spPr>
        <p:txBody>
          <a:bodyPr wrap="square" anchor="t">
            <a:spAutoFit/>
          </a:bodyPr>
          <a:lstStyle/>
          <a:p>
            <a:pPr algn="l">
              <a:spcAft>
                <a:spcPts val="400"/>
              </a:spcAft>
            </a:pPr>
            <a:r>
              <a:rPr sz="1200" b="1">
                <a:solidFill>
                  <a:srgbClr val="10B981"/>
                </a:solidFill>
                <a:latin typeface="Arial"/>
              </a:rPr>
              <a:t>OUTCOME &amp; EVIDENCE</a:t>
            </a:r>
          </a:p>
        </p:txBody>
      </p:sp>
      <p:sp>
        <p:nvSpPr>
          <p:cNvPr id="19" name="TextBox 18"/>
          <p:cNvSpPr txBox="1"/>
          <p:nvPr/>
        </p:nvSpPr>
        <p:spPr>
          <a:xfrm>
            <a:off x="960120" y="5451348"/>
            <a:ext cx="5166360" cy="693420"/>
          </a:xfrm>
          <a:prstGeom prst="rect">
            <a:avLst/>
          </a:prstGeom>
          <a:noFill/>
        </p:spPr>
        <p:txBody>
          <a:bodyPr wrap="square" anchor="t">
            <a:spAutoFit/>
          </a:bodyPr>
          <a:lstStyle/>
          <a:p>
            <a:pPr algn="l">
              <a:spcAft>
                <a:spcPts val="300"/>
              </a:spcAft>
            </a:pPr>
            <a:r>
              <a:rPr sz="1050" b="0">
                <a:solidFill>
                  <a:srgbClr val="5B6372"/>
                </a:solidFill>
                <a:latin typeface="Arial"/>
              </a:rPr>
              <a:t>Outcome: You can answer 'who did what when' from CloudTrail two independent ways (Athena over S3 and CloudTrail Lake SQL), prove the …</a:t>
            </a:r>
          </a:p>
          <a:p>
            <a:pPr algn="l">
              <a:spcAft>
                <a:spcPts val="300"/>
              </a:spcAft>
            </a:pPr>
            <a:r>
              <a:rPr sz="1050" b="0">
                <a:solidFill>
                  <a:srgbClr val="5B6372"/>
                </a:solidFill>
                <a:latin typeface="Arial"/>
              </a:rPr>
              <a:t>Evidence:  describe-trails output showing multi-Region true, log-file validation true and a KMS key on devops-trail.</a:t>
            </a:r>
          </a:p>
        </p:txBody>
      </p:sp>
      <p:sp>
        <p:nvSpPr>
          <p:cNvPr id="20" name="Rectangle 19"/>
          <p:cNvSpPr/>
          <p:nvPr/>
        </p:nvSpPr>
        <p:spPr>
          <a:xfrm>
            <a:off x="6446520" y="1783080"/>
            <a:ext cx="5029200" cy="2901403"/>
          </a:xfrm>
          <a:prstGeom prst="rect">
            <a:avLst/>
          </a:prstGeom>
          <a:solidFill>
            <a:srgbClr val="F5F8FC"/>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21" name="Picture 20" descr="lab-23-cloudtrail-audit-evidence.jpg"/>
          <p:cNvPicPr>
            <a:picLocks noChangeAspect="1"/>
          </p:cNvPicPr>
          <p:nvPr/>
        </p:nvPicPr>
        <p:blipFill>
          <a:blip r:embed="rId2"/>
          <a:stretch>
            <a:fillRect/>
          </a:stretch>
        </p:blipFill>
        <p:spPr>
          <a:xfrm>
            <a:off x="6492240" y="1828800"/>
            <a:ext cx="4937760" cy="2809963"/>
          </a:xfrm>
          <a:prstGeom prst="rect">
            <a:avLst/>
          </a:prstGeom>
        </p:spPr>
      </p:pic>
      <p:sp>
        <p:nvSpPr>
          <p:cNvPr id="22" name="TextBox 21"/>
          <p:cNvSpPr txBox="1"/>
          <p:nvPr/>
        </p:nvSpPr>
        <p:spPr>
          <a:xfrm>
            <a:off x="6492240" y="4730203"/>
            <a:ext cx="4937760" cy="365760"/>
          </a:xfrm>
          <a:prstGeom prst="rect">
            <a:avLst/>
          </a:prstGeom>
          <a:noFill/>
        </p:spPr>
        <p:txBody>
          <a:bodyPr wrap="square" anchor="t">
            <a:spAutoFit/>
          </a:bodyPr>
          <a:lstStyle/>
          <a:p>
            <a:pPr algn="ctr">
              <a:spcAft>
                <a:spcPts val="400"/>
              </a:spcAft>
            </a:pPr>
            <a:r>
              <a:rPr sz="1100" b="1">
                <a:solidFill>
                  <a:srgbClr val="5B6372"/>
                </a:solidFill>
                <a:latin typeface="Arial"/>
              </a:rPr>
              <a:t>Reference architecture</a:t>
            </a:r>
          </a:p>
        </p:txBody>
      </p:sp>
      <p:sp>
        <p:nvSpPr>
          <p:cNvPr id="23" name="TextBox 22"/>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DevOps Engineering on AWS  ·  TGS-2023040474</a:t>
            </a:r>
          </a:p>
        </p:txBody>
      </p:sp>
      <p:sp>
        <p:nvSpPr>
          <p:cNvPr id="24" name="TextBox 23"/>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25" name="TextBox 24"/>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214</a:t>
            </a:r>
          </a:p>
        </p:txBody>
      </p:sp>
    </p:spTree>
  </p:cSld>
  <p:clrMapOvr>
    <a:masterClrMapping/>
  </p:clrMapOvr>
  <p:transition xmlns:p14="http://schemas.microsoft.com/office/powerpoint/2010/main" p14:dur="380">
    <p:fade/>
  </p:transition>
</p:sld>
</file>

<file path=ppt/slides/slide21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38912"/>
            <a:ext cx="10607040" cy="365760"/>
          </a:xfrm>
          <a:prstGeom prst="rect">
            <a:avLst/>
          </a:prstGeom>
          <a:noFill/>
        </p:spPr>
        <p:txBody>
          <a:bodyPr wrap="square" anchor="t">
            <a:spAutoFit/>
          </a:bodyPr>
          <a:lstStyle/>
          <a:p>
            <a:pPr algn="l">
              <a:spcAft>
                <a:spcPts val="400"/>
              </a:spcAft>
            </a:pPr>
            <a:r>
              <a:rPr sz="1400" b="1">
                <a:solidFill>
                  <a:srgbClr val="C0392B"/>
                </a:solidFill>
                <a:latin typeface="Arial"/>
              </a:rPr>
              <a:t>LAB 24 · DAY 5 · LO6 · HANDS-ON</a:t>
            </a:r>
          </a:p>
        </p:txBody>
      </p:sp>
      <p:sp>
        <p:nvSpPr>
          <p:cNvPr id="5" name="TextBox 4"/>
          <p:cNvSpPr txBox="1"/>
          <p:nvPr/>
        </p:nvSpPr>
        <p:spPr>
          <a:xfrm>
            <a:off x="777240" y="896112"/>
            <a:ext cx="10927080" cy="731520"/>
          </a:xfrm>
          <a:prstGeom prst="rect">
            <a:avLst/>
          </a:prstGeom>
          <a:noFill/>
        </p:spPr>
        <p:txBody>
          <a:bodyPr wrap="square" anchor="t">
            <a:spAutoFit/>
          </a:bodyPr>
          <a:lstStyle/>
          <a:p>
            <a:pPr algn="l">
              <a:spcAft>
                <a:spcPts val="400"/>
              </a:spcAft>
            </a:pPr>
            <a:r>
              <a:rPr sz="2100" b="1">
                <a:solidFill>
                  <a:srgbClr val="161B26"/>
                </a:solidFill>
                <a:latin typeface="Arial"/>
              </a:rPr>
              <a:t>Run Continuous Compliance with AWS Config and Security Hub</a:t>
            </a:r>
          </a:p>
        </p:txBody>
      </p:sp>
      <p:sp>
        <p:nvSpPr>
          <p:cNvPr id="6" name="Rectangle 5"/>
          <p:cNvSpPr/>
          <p:nvPr/>
        </p:nvSpPr>
        <p:spPr>
          <a:xfrm>
            <a:off x="777240" y="1572768"/>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737360"/>
            <a:ext cx="1737360" cy="457200"/>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77240" y="1783080"/>
            <a:ext cx="1737360" cy="365760"/>
          </a:xfrm>
          <a:prstGeom prst="rect">
            <a:avLst/>
          </a:prstGeom>
          <a:noFill/>
        </p:spPr>
        <p:txBody>
          <a:bodyPr wrap="square" anchor="t">
            <a:spAutoFit/>
          </a:bodyPr>
          <a:lstStyle/>
          <a:p>
            <a:pPr algn="ctr">
              <a:spcAft>
                <a:spcPts val="400"/>
              </a:spcAft>
            </a:pPr>
            <a:r>
              <a:rPr sz="1600" b="1">
                <a:solidFill>
                  <a:srgbClr val="FFFFFF"/>
                </a:solidFill>
                <a:latin typeface="Arial"/>
              </a:rPr>
              <a:t>LAB 24</a:t>
            </a:r>
          </a:p>
        </p:txBody>
      </p:sp>
      <p:sp>
        <p:nvSpPr>
          <p:cNvPr id="9" name="TextBox 8"/>
          <p:cNvSpPr txBox="1"/>
          <p:nvPr/>
        </p:nvSpPr>
        <p:spPr>
          <a:xfrm>
            <a:off x="2697480" y="1783080"/>
            <a:ext cx="3566160" cy="365760"/>
          </a:xfrm>
          <a:prstGeom prst="rect">
            <a:avLst/>
          </a:prstGeom>
          <a:noFill/>
        </p:spPr>
        <p:txBody>
          <a:bodyPr wrap="square" anchor="t">
            <a:spAutoFit/>
          </a:bodyPr>
          <a:lstStyle/>
          <a:p>
            <a:pPr algn="l">
              <a:spcAft>
                <a:spcPts val="400"/>
              </a:spcAft>
            </a:pPr>
            <a:r>
              <a:rPr sz="1200" b="1">
                <a:solidFill>
                  <a:srgbClr val="5B6372"/>
                </a:solidFill>
                <a:latin typeface="Arial"/>
              </a:rPr>
              <a:t>Day 5 · LO6 · K6, A4</a:t>
            </a:r>
          </a:p>
        </p:txBody>
      </p:sp>
      <p:sp>
        <p:nvSpPr>
          <p:cNvPr id="10" name="TextBox 9"/>
          <p:cNvSpPr txBox="1"/>
          <p:nvPr/>
        </p:nvSpPr>
        <p:spPr>
          <a:xfrm>
            <a:off x="777240" y="2286000"/>
            <a:ext cx="5486400" cy="1042035"/>
          </a:xfrm>
          <a:prstGeom prst="rect">
            <a:avLst/>
          </a:prstGeom>
          <a:noFill/>
        </p:spPr>
        <p:txBody>
          <a:bodyPr wrap="square" anchor="t">
            <a:spAutoFit/>
          </a:bodyPr>
          <a:lstStyle/>
          <a:p>
            <a:pPr algn="l">
              <a:spcAft>
                <a:spcPts val="400"/>
              </a:spcAft>
            </a:pPr>
            <a:r>
              <a:rPr sz="1350" b="0">
                <a:solidFill>
                  <a:srgbClr val="161B26"/>
                </a:solidFill>
                <a:latin typeface="Arial"/>
              </a:rPr>
              <a:t>Compliance is not a one-off audit — it must run continuously. In this lab you turn on the AWS Config recorder with managed rules (s3-bucket-public-read-prohibited, encrypted-volumes and more) delivered as a conformance pack, enable AWS …</a:t>
            </a:r>
          </a:p>
        </p:txBody>
      </p:sp>
      <p:sp>
        <p:nvSpPr>
          <p:cNvPr id="11" name="Rectangle 10"/>
          <p:cNvSpPr/>
          <p:nvPr/>
        </p:nvSpPr>
        <p:spPr>
          <a:xfrm>
            <a:off x="777240" y="3437763"/>
            <a:ext cx="5486400" cy="1501521"/>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ectangle 11"/>
          <p:cNvSpPr/>
          <p:nvPr/>
        </p:nvSpPr>
        <p:spPr>
          <a:xfrm>
            <a:off x="777240" y="3437763"/>
            <a:ext cx="91440" cy="1501521"/>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960120" y="3565779"/>
            <a:ext cx="5120640" cy="274320"/>
          </a:xfrm>
          <a:prstGeom prst="rect">
            <a:avLst/>
          </a:prstGeom>
          <a:noFill/>
        </p:spPr>
        <p:txBody>
          <a:bodyPr wrap="square" anchor="t">
            <a:spAutoFit/>
          </a:bodyPr>
          <a:lstStyle/>
          <a:p>
            <a:pPr algn="l">
              <a:spcAft>
                <a:spcPts val="400"/>
              </a:spcAft>
            </a:pPr>
            <a:r>
              <a:rPr sz="1200" b="1">
                <a:solidFill>
                  <a:srgbClr val="C0392B"/>
                </a:solidFill>
                <a:latin typeface="Arial"/>
              </a:rPr>
              <a:t>YOU'LL BUILD</a:t>
            </a:r>
          </a:p>
        </p:txBody>
      </p:sp>
      <p:sp>
        <p:nvSpPr>
          <p:cNvPr id="14" name="TextBox 13"/>
          <p:cNvSpPr txBox="1"/>
          <p:nvPr/>
        </p:nvSpPr>
        <p:spPr>
          <a:xfrm>
            <a:off x="960120" y="3840099"/>
            <a:ext cx="5166360" cy="569595"/>
          </a:xfrm>
          <a:prstGeom prst="rect">
            <a:avLst/>
          </a:prstGeom>
          <a:noFill/>
        </p:spPr>
        <p:txBody>
          <a:bodyPr wrap="square" anchor="t">
            <a:spAutoFit/>
          </a:bodyPr>
          <a:lstStyle/>
          <a:p>
            <a:pPr algn="l">
              <a:spcAft>
                <a:spcPts val="400"/>
              </a:spcAft>
            </a:pPr>
            <a:r>
              <a:rPr sz="1150" b="1">
                <a:solidFill>
                  <a:srgbClr val="161B26"/>
                </a:solidFill>
                <a:latin typeface="Arial"/>
              </a:rPr>
              <a:t>A continuously evaluating AWS Config + Security Hub setup that detects an injected violation as NON_COMPLIANT, auto-remediates it to COMPLIANT, and shows the posture score improve.</a:t>
            </a:r>
          </a:p>
        </p:txBody>
      </p:sp>
      <p:sp>
        <p:nvSpPr>
          <p:cNvPr id="15" name="TextBox 14"/>
          <p:cNvSpPr txBox="1"/>
          <p:nvPr/>
        </p:nvSpPr>
        <p:spPr>
          <a:xfrm>
            <a:off x="960120" y="4464558"/>
            <a:ext cx="5166360" cy="346710"/>
          </a:xfrm>
          <a:prstGeom prst="rect">
            <a:avLst/>
          </a:prstGeom>
          <a:noFill/>
        </p:spPr>
        <p:txBody>
          <a:bodyPr wrap="square" anchor="t">
            <a:spAutoFit/>
          </a:bodyPr>
          <a:lstStyle/>
          <a:p>
            <a:pPr algn="l">
              <a:spcAft>
                <a:spcPts val="400"/>
              </a:spcAft>
            </a:pPr>
            <a:r>
              <a:rPr sz="1050" b="0">
                <a:solidFill>
                  <a:srgbClr val="5B6372"/>
                </a:solidFill>
                <a:latin typeface="Arial"/>
              </a:rPr>
              <a:t>Tools:  AWS Config, AWS Security Hub, AWS Systems Manager Automation, Amazon S3, AWS CloudFormation, conformance packs</a:t>
            </a:r>
          </a:p>
        </p:txBody>
      </p:sp>
      <p:sp>
        <p:nvSpPr>
          <p:cNvPr id="16" name="Rectangle 15"/>
          <p:cNvSpPr/>
          <p:nvPr/>
        </p:nvSpPr>
        <p:spPr>
          <a:xfrm>
            <a:off x="777240" y="5049012"/>
            <a:ext cx="5486400" cy="1278636"/>
          </a:xfrm>
          <a:prstGeom prst="rect">
            <a:avLst/>
          </a:prstGeom>
          <a:solidFill>
            <a:srgbClr val="FFFFFF"/>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ectangle 16"/>
          <p:cNvSpPr/>
          <p:nvPr/>
        </p:nvSpPr>
        <p:spPr>
          <a:xfrm>
            <a:off x="777240" y="5049012"/>
            <a:ext cx="91440" cy="1278636"/>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960120" y="5177028"/>
            <a:ext cx="5120640" cy="274320"/>
          </a:xfrm>
          <a:prstGeom prst="rect">
            <a:avLst/>
          </a:prstGeom>
          <a:noFill/>
        </p:spPr>
        <p:txBody>
          <a:bodyPr wrap="square" anchor="t">
            <a:spAutoFit/>
          </a:bodyPr>
          <a:lstStyle/>
          <a:p>
            <a:pPr algn="l">
              <a:spcAft>
                <a:spcPts val="400"/>
              </a:spcAft>
            </a:pPr>
            <a:r>
              <a:rPr sz="1200" b="1">
                <a:solidFill>
                  <a:srgbClr val="10B981"/>
                </a:solidFill>
                <a:latin typeface="Arial"/>
              </a:rPr>
              <a:t>OUTCOME &amp; EVIDENCE</a:t>
            </a:r>
          </a:p>
        </p:txBody>
      </p:sp>
      <p:sp>
        <p:nvSpPr>
          <p:cNvPr id="19" name="TextBox 18"/>
          <p:cNvSpPr txBox="1"/>
          <p:nvPr/>
        </p:nvSpPr>
        <p:spPr>
          <a:xfrm>
            <a:off x="960120" y="5451348"/>
            <a:ext cx="5166360" cy="693420"/>
          </a:xfrm>
          <a:prstGeom prst="rect">
            <a:avLst/>
          </a:prstGeom>
          <a:noFill/>
        </p:spPr>
        <p:txBody>
          <a:bodyPr wrap="square" anchor="t">
            <a:spAutoFit/>
          </a:bodyPr>
          <a:lstStyle/>
          <a:p>
            <a:pPr algn="l">
              <a:spcAft>
                <a:spcPts val="300"/>
              </a:spcAft>
            </a:pPr>
            <a:r>
              <a:rPr sz="1050" b="0">
                <a:solidFill>
                  <a:srgbClr val="5B6372"/>
                </a:solidFill>
                <a:latin typeface="Arial"/>
              </a:rPr>
              <a:t>Outcome: You can run a full continuous-compliance loop: inject a real violation, watch AWS Config and Security Hub flag it …</a:t>
            </a:r>
          </a:p>
          <a:p>
            <a:pPr algn="l">
              <a:spcAft>
                <a:spcPts val="300"/>
              </a:spcAft>
            </a:pPr>
            <a:r>
              <a:rPr sz="1050" b="0">
                <a:solidFill>
                  <a:srgbClr val="5B6372"/>
                </a:solidFill>
                <a:latin typeface="Arial"/>
              </a:rPr>
              <a:t>Evidence:  describe-configuration-recorder-status showing recording true and get-enabled-standards showing FSBP enabled.</a:t>
            </a:r>
          </a:p>
        </p:txBody>
      </p:sp>
      <p:sp>
        <p:nvSpPr>
          <p:cNvPr id="20" name="Rectangle 19"/>
          <p:cNvSpPr/>
          <p:nvPr/>
        </p:nvSpPr>
        <p:spPr>
          <a:xfrm>
            <a:off x="6446520" y="1783080"/>
            <a:ext cx="5029200" cy="2901403"/>
          </a:xfrm>
          <a:prstGeom prst="rect">
            <a:avLst/>
          </a:prstGeom>
          <a:solidFill>
            <a:srgbClr val="F5F8FC"/>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21" name="Picture 20" descr="lab-24-config-securityhub-compliance.jpg"/>
          <p:cNvPicPr>
            <a:picLocks noChangeAspect="1"/>
          </p:cNvPicPr>
          <p:nvPr/>
        </p:nvPicPr>
        <p:blipFill>
          <a:blip r:embed="rId2"/>
          <a:stretch>
            <a:fillRect/>
          </a:stretch>
        </p:blipFill>
        <p:spPr>
          <a:xfrm>
            <a:off x="6492240" y="1828800"/>
            <a:ext cx="4937760" cy="2809963"/>
          </a:xfrm>
          <a:prstGeom prst="rect">
            <a:avLst/>
          </a:prstGeom>
        </p:spPr>
      </p:pic>
      <p:sp>
        <p:nvSpPr>
          <p:cNvPr id="22" name="TextBox 21"/>
          <p:cNvSpPr txBox="1"/>
          <p:nvPr/>
        </p:nvSpPr>
        <p:spPr>
          <a:xfrm>
            <a:off x="6492240" y="4730203"/>
            <a:ext cx="4937760" cy="365760"/>
          </a:xfrm>
          <a:prstGeom prst="rect">
            <a:avLst/>
          </a:prstGeom>
          <a:noFill/>
        </p:spPr>
        <p:txBody>
          <a:bodyPr wrap="square" anchor="t">
            <a:spAutoFit/>
          </a:bodyPr>
          <a:lstStyle/>
          <a:p>
            <a:pPr algn="ctr">
              <a:spcAft>
                <a:spcPts val="400"/>
              </a:spcAft>
            </a:pPr>
            <a:r>
              <a:rPr sz="1100" b="1">
                <a:solidFill>
                  <a:srgbClr val="5B6372"/>
                </a:solidFill>
                <a:latin typeface="Arial"/>
              </a:rPr>
              <a:t>Reference architecture</a:t>
            </a:r>
          </a:p>
        </p:txBody>
      </p:sp>
      <p:sp>
        <p:nvSpPr>
          <p:cNvPr id="23" name="TextBox 22"/>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DevOps Engineering on AWS  ·  TGS-2023040474</a:t>
            </a:r>
          </a:p>
        </p:txBody>
      </p:sp>
      <p:sp>
        <p:nvSpPr>
          <p:cNvPr id="24" name="TextBox 23"/>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25" name="TextBox 24"/>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215</a:t>
            </a:r>
          </a:p>
        </p:txBody>
      </p:sp>
    </p:spTree>
  </p:cSld>
  <p:clrMapOvr>
    <a:masterClrMapping/>
  </p:clrMapOvr>
  <p:transition xmlns:p14="http://schemas.microsoft.com/office/powerpoint/2010/main" p14:dur="380">
    <p:fade/>
  </p:transition>
</p:sld>
</file>

<file path=ppt/slides/slide21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38912"/>
            <a:ext cx="10607040" cy="365760"/>
          </a:xfrm>
          <a:prstGeom prst="rect">
            <a:avLst/>
          </a:prstGeom>
          <a:noFill/>
        </p:spPr>
        <p:txBody>
          <a:bodyPr wrap="square" anchor="t">
            <a:spAutoFit/>
          </a:bodyPr>
          <a:lstStyle/>
          <a:p>
            <a:pPr algn="l">
              <a:spcAft>
                <a:spcPts val="400"/>
              </a:spcAft>
            </a:pPr>
            <a:r>
              <a:rPr sz="1400" b="1">
                <a:solidFill>
                  <a:srgbClr val="C0392B"/>
                </a:solidFill>
                <a:latin typeface="Arial"/>
              </a:rPr>
              <a:t>LAB 25 · DAY 5 · LO1–LO6 · HANDS-ON</a:t>
            </a:r>
          </a:p>
        </p:txBody>
      </p:sp>
      <p:sp>
        <p:nvSpPr>
          <p:cNvPr id="5" name="TextBox 4"/>
          <p:cNvSpPr txBox="1"/>
          <p:nvPr/>
        </p:nvSpPr>
        <p:spPr>
          <a:xfrm>
            <a:off x="777240" y="896112"/>
            <a:ext cx="10927080" cy="731520"/>
          </a:xfrm>
          <a:prstGeom prst="rect">
            <a:avLst/>
          </a:prstGeom>
          <a:noFill/>
        </p:spPr>
        <p:txBody>
          <a:bodyPr wrap="square" anchor="t">
            <a:spAutoFit/>
          </a:bodyPr>
          <a:lstStyle/>
          <a:p>
            <a:pPr algn="l">
              <a:spcAft>
                <a:spcPts val="400"/>
              </a:spcAft>
            </a:pPr>
            <a:r>
              <a:rPr sz="2100" b="1">
                <a:solidFill>
                  <a:srgbClr val="161B26"/>
                </a:solidFill>
                <a:latin typeface="Arial"/>
              </a:rPr>
              <a:t>Capstone — Blueprint, Well-Architected Review and Evidence Pack for the Whole Delivery System</a:t>
            </a:r>
          </a:p>
        </p:txBody>
      </p:sp>
      <p:sp>
        <p:nvSpPr>
          <p:cNvPr id="6" name="Rectangle 5"/>
          <p:cNvSpPr/>
          <p:nvPr/>
        </p:nvSpPr>
        <p:spPr>
          <a:xfrm>
            <a:off x="777240" y="1572768"/>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737360"/>
            <a:ext cx="1737360" cy="457200"/>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77240" y="1783080"/>
            <a:ext cx="1737360" cy="365760"/>
          </a:xfrm>
          <a:prstGeom prst="rect">
            <a:avLst/>
          </a:prstGeom>
          <a:noFill/>
        </p:spPr>
        <p:txBody>
          <a:bodyPr wrap="square" anchor="t">
            <a:spAutoFit/>
          </a:bodyPr>
          <a:lstStyle/>
          <a:p>
            <a:pPr algn="ctr">
              <a:spcAft>
                <a:spcPts val="400"/>
              </a:spcAft>
            </a:pPr>
            <a:r>
              <a:rPr sz="1600" b="1">
                <a:solidFill>
                  <a:srgbClr val="FFFFFF"/>
                </a:solidFill>
                <a:latin typeface="Arial"/>
              </a:rPr>
              <a:t>LAB 25</a:t>
            </a:r>
          </a:p>
        </p:txBody>
      </p:sp>
      <p:sp>
        <p:nvSpPr>
          <p:cNvPr id="9" name="TextBox 8"/>
          <p:cNvSpPr txBox="1"/>
          <p:nvPr/>
        </p:nvSpPr>
        <p:spPr>
          <a:xfrm>
            <a:off x="2697480" y="1783080"/>
            <a:ext cx="3566160" cy="365760"/>
          </a:xfrm>
          <a:prstGeom prst="rect">
            <a:avLst/>
          </a:prstGeom>
          <a:noFill/>
        </p:spPr>
        <p:txBody>
          <a:bodyPr wrap="square" anchor="t">
            <a:spAutoFit/>
          </a:bodyPr>
          <a:lstStyle/>
          <a:p>
            <a:pPr algn="l">
              <a:spcAft>
                <a:spcPts val="400"/>
              </a:spcAft>
            </a:pPr>
            <a:r>
              <a:rPr sz="1200" b="1">
                <a:solidFill>
                  <a:srgbClr val="5B6372"/>
                </a:solidFill>
                <a:latin typeface="Arial"/>
              </a:rPr>
              <a:t>Day 5 · LO1–LO6 · K1, K2, K3, K4, K5, K6, K7, A1, A2, A3, A4, A5, A6</a:t>
            </a:r>
          </a:p>
        </p:txBody>
      </p:sp>
      <p:sp>
        <p:nvSpPr>
          <p:cNvPr id="10" name="TextBox 9"/>
          <p:cNvSpPr txBox="1"/>
          <p:nvPr/>
        </p:nvSpPr>
        <p:spPr>
          <a:xfrm>
            <a:off x="777240" y="2286000"/>
            <a:ext cx="5486400" cy="1042035"/>
          </a:xfrm>
          <a:prstGeom prst="rect">
            <a:avLst/>
          </a:prstGeom>
          <a:noFill/>
        </p:spPr>
        <p:txBody>
          <a:bodyPr wrap="square" anchor="t">
            <a:spAutoFit/>
          </a:bodyPr>
          <a:lstStyle/>
          <a:p>
            <a:pPr algn="l">
              <a:spcAft>
                <a:spcPts val="400"/>
              </a:spcAft>
            </a:pPr>
            <a:r>
              <a:rPr sz="1350" b="0">
                <a:solidFill>
                  <a:srgbClr val="161B26"/>
                </a:solidFill>
                <a:latin typeface="Arial"/>
              </a:rPr>
              <a:t>This capstone ties the entire course together. You produce a single technical blueprint that connects all six domains — SDLC automation (Domain 1), configuration management &amp; IaC (Domain 2), resilient architecture (Domain 3), monitoring &amp; …</a:t>
            </a:r>
          </a:p>
        </p:txBody>
      </p:sp>
      <p:sp>
        <p:nvSpPr>
          <p:cNvPr id="11" name="Rectangle 10"/>
          <p:cNvSpPr/>
          <p:nvPr/>
        </p:nvSpPr>
        <p:spPr>
          <a:xfrm>
            <a:off x="777240" y="3437763"/>
            <a:ext cx="5486400" cy="1501521"/>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ectangle 11"/>
          <p:cNvSpPr/>
          <p:nvPr/>
        </p:nvSpPr>
        <p:spPr>
          <a:xfrm>
            <a:off x="777240" y="3437763"/>
            <a:ext cx="91440" cy="1501521"/>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960120" y="3565779"/>
            <a:ext cx="5120640" cy="274320"/>
          </a:xfrm>
          <a:prstGeom prst="rect">
            <a:avLst/>
          </a:prstGeom>
          <a:noFill/>
        </p:spPr>
        <p:txBody>
          <a:bodyPr wrap="square" anchor="t">
            <a:spAutoFit/>
          </a:bodyPr>
          <a:lstStyle/>
          <a:p>
            <a:pPr algn="l">
              <a:spcAft>
                <a:spcPts val="400"/>
              </a:spcAft>
            </a:pPr>
            <a:r>
              <a:rPr sz="1200" b="1">
                <a:solidFill>
                  <a:srgbClr val="C0392B"/>
                </a:solidFill>
                <a:latin typeface="Arial"/>
              </a:rPr>
              <a:t>YOU'LL BUILD</a:t>
            </a:r>
          </a:p>
        </p:txBody>
      </p:sp>
      <p:sp>
        <p:nvSpPr>
          <p:cNvPr id="14" name="TextBox 13"/>
          <p:cNvSpPr txBox="1"/>
          <p:nvPr/>
        </p:nvSpPr>
        <p:spPr>
          <a:xfrm>
            <a:off x="960120" y="3840099"/>
            <a:ext cx="5166360" cy="569595"/>
          </a:xfrm>
          <a:prstGeom prst="rect">
            <a:avLst/>
          </a:prstGeom>
          <a:noFill/>
        </p:spPr>
        <p:txBody>
          <a:bodyPr wrap="square" anchor="t">
            <a:spAutoFit/>
          </a:bodyPr>
          <a:lstStyle/>
          <a:p>
            <a:pPr algn="l">
              <a:spcAft>
                <a:spcPts val="400"/>
              </a:spcAft>
            </a:pPr>
            <a:r>
              <a:rPr sz="1150" b="1">
                <a:solidFill>
                  <a:srgbClr val="161B26"/>
                </a:solidFill>
                <a:latin typeface="Arial"/>
              </a:rPr>
              <a:t>A completed technical blueprint, a Well-Architected pillar review with scores and actions, and an evidence pack that proves the whole secured/resilient/observable delivery system against LO1–LO6.</a:t>
            </a:r>
          </a:p>
        </p:txBody>
      </p:sp>
      <p:sp>
        <p:nvSpPr>
          <p:cNvPr id="15" name="TextBox 14"/>
          <p:cNvSpPr txBox="1"/>
          <p:nvPr/>
        </p:nvSpPr>
        <p:spPr>
          <a:xfrm>
            <a:off x="960120" y="4464558"/>
            <a:ext cx="5166360" cy="346710"/>
          </a:xfrm>
          <a:prstGeom prst="rect">
            <a:avLst/>
          </a:prstGeom>
          <a:noFill/>
        </p:spPr>
        <p:txBody>
          <a:bodyPr wrap="square" anchor="t">
            <a:spAutoFit/>
          </a:bodyPr>
          <a:lstStyle/>
          <a:p>
            <a:pPr algn="l">
              <a:spcAft>
                <a:spcPts val="400"/>
              </a:spcAft>
            </a:pPr>
            <a:r>
              <a:rPr sz="1050" b="0">
                <a:solidFill>
                  <a:srgbClr val="5B6372"/>
                </a:solidFill>
                <a:latin typeface="Arial"/>
              </a:rPr>
              <a:t>Tools: AWS CodePipeline/CodeBuild/CodeDeploy, CloudFormation, EC2/ALB/Auto Scaling, RDS, CloudWatch, EventBridge, SNS, Lambda …</a:t>
            </a:r>
          </a:p>
        </p:txBody>
      </p:sp>
      <p:sp>
        <p:nvSpPr>
          <p:cNvPr id="16" name="Rectangle 15"/>
          <p:cNvSpPr/>
          <p:nvPr/>
        </p:nvSpPr>
        <p:spPr>
          <a:xfrm>
            <a:off x="777240" y="5049012"/>
            <a:ext cx="5486400" cy="1278636"/>
          </a:xfrm>
          <a:prstGeom prst="rect">
            <a:avLst/>
          </a:prstGeom>
          <a:solidFill>
            <a:srgbClr val="FFFFFF"/>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ectangle 16"/>
          <p:cNvSpPr/>
          <p:nvPr/>
        </p:nvSpPr>
        <p:spPr>
          <a:xfrm>
            <a:off x="777240" y="5049012"/>
            <a:ext cx="91440" cy="1278636"/>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960120" y="5177028"/>
            <a:ext cx="5120640" cy="274320"/>
          </a:xfrm>
          <a:prstGeom prst="rect">
            <a:avLst/>
          </a:prstGeom>
          <a:noFill/>
        </p:spPr>
        <p:txBody>
          <a:bodyPr wrap="square" anchor="t">
            <a:spAutoFit/>
          </a:bodyPr>
          <a:lstStyle/>
          <a:p>
            <a:pPr algn="l">
              <a:spcAft>
                <a:spcPts val="400"/>
              </a:spcAft>
            </a:pPr>
            <a:r>
              <a:rPr sz="1200" b="1">
                <a:solidFill>
                  <a:srgbClr val="10B981"/>
                </a:solidFill>
                <a:latin typeface="Arial"/>
              </a:rPr>
              <a:t>OUTCOME &amp; EVIDENCE</a:t>
            </a:r>
          </a:p>
        </p:txBody>
      </p:sp>
      <p:sp>
        <p:nvSpPr>
          <p:cNvPr id="19" name="TextBox 18"/>
          <p:cNvSpPr txBox="1"/>
          <p:nvPr/>
        </p:nvSpPr>
        <p:spPr>
          <a:xfrm>
            <a:off x="960120" y="5451348"/>
            <a:ext cx="5166360" cy="693420"/>
          </a:xfrm>
          <a:prstGeom prst="rect">
            <a:avLst/>
          </a:prstGeom>
          <a:noFill/>
        </p:spPr>
        <p:txBody>
          <a:bodyPr wrap="square" anchor="t">
            <a:spAutoFit/>
          </a:bodyPr>
          <a:lstStyle/>
          <a:p>
            <a:pPr algn="l">
              <a:spcAft>
                <a:spcPts val="300"/>
              </a:spcAft>
            </a:pPr>
            <a:r>
              <a:rPr sz="1050" b="0">
                <a:solidFill>
                  <a:srgbClr val="5B6372"/>
                </a:solidFill>
                <a:latin typeface="Arial"/>
              </a:rPr>
              <a:t>Outcome: You can present one coherent delivery system — a commit flowing through CI/CD to a resilient, observed, auto-remediating, secured and …</a:t>
            </a:r>
          </a:p>
          <a:p>
            <a:pPr algn="l">
              <a:spcAft>
                <a:spcPts val="300"/>
              </a:spcAft>
            </a:pPr>
            <a:r>
              <a:rPr sz="1050" b="0">
                <a:solidFill>
                  <a:srgbClr val="5B6372"/>
                </a:solidFill>
                <a:latin typeface="Arial"/>
              </a:rPr>
              <a:t>Evidence:  The completed blueprint.md with all six domain sections filled and cross-referenced to the labs.</a:t>
            </a:r>
          </a:p>
        </p:txBody>
      </p:sp>
      <p:sp>
        <p:nvSpPr>
          <p:cNvPr id="20" name="Rectangle 19"/>
          <p:cNvSpPr/>
          <p:nvPr/>
        </p:nvSpPr>
        <p:spPr>
          <a:xfrm>
            <a:off x="6446520" y="1783080"/>
            <a:ext cx="5029200" cy="2901403"/>
          </a:xfrm>
          <a:prstGeom prst="rect">
            <a:avLst/>
          </a:prstGeom>
          <a:solidFill>
            <a:srgbClr val="F5F8FC"/>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21" name="Picture 20" descr="lab-25-capstone-blueprint-evidence-pack.jpg"/>
          <p:cNvPicPr>
            <a:picLocks noChangeAspect="1"/>
          </p:cNvPicPr>
          <p:nvPr/>
        </p:nvPicPr>
        <p:blipFill>
          <a:blip r:embed="rId2"/>
          <a:stretch>
            <a:fillRect/>
          </a:stretch>
        </p:blipFill>
        <p:spPr>
          <a:xfrm>
            <a:off x="6492240" y="1828800"/>
            <a:ext cx="4937760" cy="2809963"/>
          </a:xfrm>
          <a:prstGeom prst="rect">
            <a:avLst/>
          </a:prstGeom>
        </p:spPr>
      </p:pic>
      <p:sp>
        <p:nvSpPr>
          <p:cNvPr id="22" name="TextBox 21"/>
          <p:cNvSpPr txBox="1"/>
          <p:nvPr/>
        </p:nvSpPr>
        <p:spPr>
          <a:xfrm>
            <a:off x="6492240" y="4730203"/>
            <a:ext cx="4937760" cy="365760"/>
          </a:xfrm>
          <a:prstGeom prst="rect">
            <a:avLst/>
          </a:prstGeom>
          <a:noFill/>
        </p:spPr>
        <p:txBody>
          <a:bodyPr wrap="square" anchor="t">
            <a:spAutoFit/>
          </a:bodyPr>
          <a:lstStyle/>
          <a:p>
            <a:pPr algn="ctr">
              <a:spcAft>
                <a:spcPts val="400"/>
              </a:spcAft>
            </a:pPr>
            <a:r>
              <a:rPr sz="1100" b="1">
                <a:solidFill>
                  <a:srgbClr val="5B6372"/>
                </a:solidFill>
                <a:latin typeface="Arial"/>
              </a:rPr>
              <a:t>Reference architecture</a:t>
            </a:r>
          </a:p>
        </p:txBody>
      </p:sp>
      <p:sp>
        <p:nvSpPr>
          <p:cNvPr id="23" name="TextBox 22"/>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DevOps Engineering on AWS  ·  TGS-2023040474</a:t>
            </a:r>
          </a:p>
        </p:txBody>
      </p:sp>
      <p:sp>
        <p:nvSpPr>
          <p:cNvPr id="24" name="TextBox 23"/>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25" name="TextBox 24"/>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216</a:t>
            </a:r>
          </a:p>
        </p:txBody>
      </p:sp>
    </p:spTree>
  </p:cSld>
  <p:clrMapOvr>
    <a:masterClrMapping/>
  </p:clrMapOvr>
  <p:transition xmlns:p14="http://schemas.microsoft.com/office/powerpoint/2010/main" p14:dur="380">
    <p:fade/>
  </p:transition>
</p:sld>
</file>

<file path=ppt/slides/slide21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38912"/>
            <a:ext cx="10607040" cy="365760"/>
          </a:xfrm>
          <a:prstGeom prst="rect">
            <a:avLst/>
          </a:prstGeom>
          <a:noFill/>
        </p:spPr>
        <p:txBody>
          <a:bodyPr wrap="square" anchor="t">
            <a:spAutoFit/>
          </a:bodyPr>
          <a:lstStyle/>
          <a:p>
            <a:pPr algn="l">
              <a:spcAft>
                <a:spcPts val="400"/>
              </a:spcAft>
            </a:pPr>
            <a:r>
              <a:rPr sz="1400" b="1">
                <a:solidFill>
                  <a:srgbClr val="1F6FEB"/>
                </a:solidFill>
                <a:latin typeface="Arial"/>
              </a:rPr>
              <a:t>DOMAIN RECAP</a:t>
            </a:r>
          </a:p>
        </p:txBody>
      </p:sp>
      <p:sp>
        <p:nvSpPr>
          <p:cNvPr id="5" name="TextBox 4"/>
          <p:cNvSpPr txBox="1"/>
          <p:nvPr/>
        </p:nvSpPr>
        <p:spPr>
          <a:xfrm>
            <a:off x="777240" y="804672"/>
            <a:ext cx="10927080" cy="731520"/>
          </a:xfrm>
          <a:prstGeom prst="rect">
            <a:avLst/>
          </a:prstGeom>
          <a:noFill/>
        </p:spPr>
        <p:txBody>
          <a:bodyPr wrap="square" anchor="t">
            <a:spAutoFit/>
          </a:bodyPr>
          <a:lstStyle/>
          <a:p>
            <a:pPr algn="l">
              <a:spcAft>
                <a:spcPts val="400"/>
              </a:spcAft>
            </a:pPr>
            <a:r>
              <a:rPr sz="2900" b="1">
                <a:solidFill>
                  <a:srgbClr val="161B26"/>
                </a:solidFill>
                <a:latin typeface="Arial"/>
              </a:rPr>
              <a:t>Recap — Security and Compliance</a:t>
            </a:r>
          </a:p>
        </p:txBody>
      </p:sp>
      <p:sp>
        <p:nvSpPr>
          <p:cNvPr id="6" name="Rectangle 5"/>
          <p:cNvSpPr/>
          <p:nvPr/>
        </p:nvSpPr>
        <p:spPr>
          <a:xfrm>
            <a:off x="777240" y="1572768"/>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777240" y="1783080"/>
            <a:ext cx="10607040" cy="4480560"/>
          </a:xfrm>
          <a:prstGeom prst="rect">
            <a:avLst/>
          </a:prstGeom>
          <a:noFill/>
        </p:spPr>
        <p:txBody>
          <a:bodyPr wrap="square">
            <a:spAutoFit/>
          </a:bodyPr>
          <a:lstStyle/>
          <a:p>
            <a:pPr>
              <a:spcAft>
                <a:spcPts val="1000"/>
              </a:spcAft>
            </a:pPr>
            <a:r>
              <a:rPr sz="1500" b="0">
                <a:solidFill>
                  <a:srgbClr val="161B26"/>
                </a:solidFill>
                <a:latin typeface="Arial"/>
              </a:rPr>
              <a:t>•  You can now: Write a scoped IAM policy, cap it with a permission boundary, and prove least privilege with IAM Access Analyzer</a:t>
            </a:r>
          </a:p>
          <a:p>
            <a:pPr>
              <a:spcAft>
                <a:spcPts val="1000"/>
              </a:spcAft>
            </a:pPr>
            <a:r>
              <a:rPr sz="1500" b="0">
                <a:solidFill>
                  <a:srgbClr val="161B26"/>
                </a:solidFill>
                <a:latin typeface="Arial"/>
              </a:rPr>
              <a:t>•  You can now: Create a customer-managed KMS key with a key policy, store a secret with rotation, and enforce encryption on S3</a:t>
            </a:r>
          </a:p>
          <a:p>
            <a:pPr>
              <a:spcAft>
                <a:spcPts val="1000"/>
              </a:spcAft>
            </a:pPr>
            <a:r>
              <a:rPr sz="1500" b="0">
                <a:solidFill>
                  <a:srgbClr val="161B26"/>
                </a:solidFill>
                <a:latin typeface="Arial"/>
              </a:rPr>
              <a:t>•  You can now: Stand up a multi-Region CloudTrail with log-file validation and query it to export audit evidence</a:t>
            </a:r>
          </a:p>
          <a:p>
            <a:pPr>
              <a:spcAft>
                <a:spcPts val="1000"/>
              </a:spcAft>
            </a:pPr>
            <a:r>
              <a:rPr sz="1500" b="0">
                <a:solidFill>
                  <a:srgbClr val="161B26"/>
                </a:solidFill>
                <a:latin typeface="Arial"/>
              </a:rPr>
              <a:t>•  You can now: Enable AWS Config managed rules and Security Hub standards, inject a violation and remediate to COMPLIANT</a:t>
            </a:r>
          </a:p>
          <a:p>
            <a:pPr>
              <a:spcAft>
                <a:spcPts val="1000"/>
              </a:spcAft>
            </a:pPr>
            <a:r>
              <a:rPr sz="1500" b="0">
                <a:solidFill>
                  <a:srgbClr val="161B26"/>
                </a:solidFill>
                <a:latin typeface="Arial"/>
              </a:rPr>
              <a:t>•  You can now: Synthesise Labs 1–24 into one secured, resilient, observable delivery system with a blueprint, an operational review and an evidence pack</a:t>
            </a:r>
          </a:p>
          <a:p>
            <a:pPr>
              <a:spcAft>
                <a:spcPts val="1000"/>
              </a:spcAft>
            </a:pPr>
            <a:r>
              <a:rPr sz="1500" b="0">
                <a:solidFill>
                  <a:srgbClr val="161B26"/>
                </a:solidFill>
                <a:latin typeface="Arial"/>
              </a:rPr>
              <a:t>•  Identity &amp; access management — IAM users, roles, policies and permission boundaries enforce least privilege; roles beat long-lived keys.</a:t>
            </a:r>
          </a:p>
          <a:p>
            <a:pPr>
              <a:spcAft>
                <a:spcPts val="1000"/>
              </a:spcAft>
            </a:pPr>
            <a:r>
              <a:rPr sz="1500" b="0">
                <a:solidFill>
                  <a:srgbClr val="161B26"/>
                </a:solidFill>
                <a:latin typeface="Arial"/>
              </a:rPr>
              <a:t>•  IAM at scale — Organizations SCPs, IAM Identity Center and federation manage access across many accounts.</a:t>
            </a:r>
          </a:p>
          <a:p>
            <a:pPr>
              <a:spcAft>
                <a:spcPts val="1000"/>
              </a:spcAft>
            </a:pPr>
            <a:r>
              <a:rPr sz="1500" b="0">
                <a:solidFill>
                  <a:srgbClr val="161B26"/>
                </a:solidFill>
                <a:latin typeface="Arial"/>
              </a:rPr>
              <a:t>•  Data protection — KMS encryption, Secrets Manager, S3 Block Public Access and TLS protect data at rest and in transit.</a:t>
            </a:r>
          </a:p>
        </p:txBody>
      </p:sp>
      <p:sp>
        <p:nvSpPr>
          <p:cNvPr id="8" name="TextBox 7"/>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DevOps Engineering on AWS  ·  TGS-2023040474</a:t>
            </a:r>
          </a:p>
        </p:txBody>
      </p:sp>
      <p:sp>
        <p:nvSpPr>
          <p:cNvPr id="9" name="TextBox 8"/>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0" name="TextBox 9"/>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217</a:t>
            </a:r>
          </a:p>
        </p:txBody>
      </p:sp>
    </p:spTree>
  </p:cSld>
  <p:clrMapOvr>
    <a:masterClrMapping/>
  </p:clrMapOvr>
  <p:transition xmlns:p14="http://schemas.microsoft.com/office/powerpoint/2010/main" p14:dur="380">
    <p:fade/>
  </p:transition>
</p:sld>
</file>

<file path=ppt/slides/slide21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685800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777240" y="2286000"/>
            <a:ext cx="128016" cy="182880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1143000" y="2331720"/>
            <a:ext cx="10058400" cy="548640"/>
          </a:xfrm>
          <a:prstGeom prst="rect">
            <a:avLst/>
          </a:prstGeom>
          <a:noFill/>
        </p:spPr>
        <p:txBody>
          <a:bodyPr wrap="square" anchor="t">
            <a:spAutoFit/>
          </a:bodyPr>
          <a:lstStyle/>
          <a:p>
            <a:pPr algn="l">
              <a:spcAft>
                <a:spcPts val="400"/>
              </a:spcAft>
            </a:pPr>
            <a:r>
              <a:rPr sz="1800" b="1">
                <a:solidFill>
                  <a:srgbClr val="1F6FEB"/>
                </a:solidFill>
                <a:latin typeface="Arial"/>
              </a:rPr>
              <a:t>PUTTING IT ALL TOGETHER</a:t>
            </a:r>
          </a:p>
        </p:txBody>
      </p:sp>
      <p:sp>
        <p:nvSpPr>
          <p:cNvPr id="6" name="TextBox 5"/>
          <p:cNvSpPr txBox="1"/>
          <p:nvPr/>
        </p:nvSpPr>
        <p:spPr>
          <a:xfrm>
            <a:off x="1143000" y="2743200"/>
            <a:ext cx="10424160" cy="1463040"/>
          </a:xfrm>
          <a:prstGeom prst="rect">
            <a:avLst/>
          </a:prstGeom>
          <a:noFill/>
        </p:spPr>
        <p:txBody>
          <a:bodyPr wrap="square" anchor="t">
            <a:spAutoFit/>
          </a:bodyPr>
          <a:lstStyle/>
          <a:p>
            <a:pPr algn="l">
              <a:spcAft>
                <a:spcPts val="400"/>
              </a:spcAft>
            </a:pPr>
            <a:r>
              <a:rPr sz="4000" b="1">
                <a:solidFill>
                  <a:srgbClr val="161B26"/>
                </a:solidFill>
                <a:latin typeface="Arial"/>
              </a:rPr>
              <a:t>Cross-Domain Integration</a:t>
            </a:r>
          </a:p>
        </p:txBody>
      </p:sp>
      <p:sp>
        <p:nvSpPr>
          <p:cNvPr id="7" name="TextBox 6"/>
          <p:cNvSpPr txBox="1"/>
          <p:nvPr/>
        </p:nvSpPr>
        <p:spPr>
          <a:xfrm>
            <a:off x="1161288" y="4160520"/>
            <a:ext cx="10058400" cy="731520"/>
          </a:xfrm>
          <a:prstGeom prst="rect">
            <a:avLst/>
          </a:prstGeom>
          <a:noFill/>
        </p:spPr>
        <p:txBody>
          <a:bodyPr wrap="square" anchor="t">
            <a:spAutoFit/>
          </a:bodyPr>
          <a:lstStyle/>
          <a:p>
            <a:pPr algn="l">
              <a:spcAft>
                <a:spcPts val="400"/>
              </a:spcAft>
            </a:pPr>
            <a:r>
              <a:rPr sz="1600" b="0">
                <a:solidFill>
                  <a:srgbClr val="5B6372"/>
                </a:solidFill>
                <a:latin typeface="Arial"/>
              </a:rPr>
              <a:t>The six domains are one system — a single sample application delivered, run and secured end to end</a:t>
            </a:r>
          </a:p>
        </p:txBody>
      </p:sp>
      <p:sp>
        <p:nvSpPr>
          <p:cNvPr id="8" name="TextBox 7"/>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DevOps Engineering on AWS  ·  TGS-2023040474</a:t>
            </a:r>
          </a:p>
        </p:txBody>
      </p:sp>
      <p:sp>
        <p:nvSpPr>
          <p:cNvPr id="9" name="TextBox 8"/>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0" name="TextBox 9"/>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218</a:t>
            </a:r>
          </a:p>
        </p:txBody>
      </p:sp>
    </p:spTree>
  </p:cSld>
  <p:clrMapOvr>
    <a:masterClrMapping/>
  </p:clrMapOvr>
  <p:transition xmlns:p14="http://schemas.microsoft.com/office/powerpoint/2010/main" p14:dur="380">
    <p:fade/>
  </p:transition>
</p:sld>
</file>

<file path=ppt/slides/slide22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38912"/>
            <a:ext cx="10607040" cy="365760"/>
          </a:xfrm>
          <a:prstGeom prst="rect">
            <a:avLst/>
          </a:prstGeom>
          <a:noFill/>
        </p:spPr>
        <p:txBody>
          <a:bodyPr wrap="square" anchor="t">
            <a:spAutoFit/>
          </a:bodyPr>
          <a:lstStyle/>
          <a:p>
            <a:pPr algn="l">
              <a:spcAft>
                <a:spcPts val="400"/>
              </a:spcAft>
            </a:pPr>
            <a:r>
              <a:rPr sz="1400" b="1">
                <a:solidFill>
                  <a:srgbClr val="1F6FEB"/>
                </a:solidFill>
                <a:latin typeface="Arial"/>
              </a:rPr>
              <a:t>ALL SIX DOMAINS AS ONE SYSTEM</a:t>
            </a:r>
          </a:p>
        </p:txBody>
      </p:sp>
      <p:sp>
        <p:nvSpPr>
          <p:cNvPr id="5" name="TextBox 4"/>
          <p:cNvSpPr txBox="1"/>
          <p:nvPr/>
        </p:nvSpPr>
        <p:spPr>
          <a:xfrm>
            <a:off x="777240" y="804672"/>
            <a:ext cx="10927080" cy="731520"/>
          </a:xfrm>
          <a:prstGeom prst="rect">
            <a:avLst/>
          </a:prstGeom>
          <a:noFill/>
        </p:spPr>
        <p:txBody>
          <a:bodyPr wrap="square" anchor="t">
            <a:spAutoFit/>
          </a:bodyPr>
          <a:lstStyle/>
          <a:p>
            <a:pPr algn="l">
              <a:spcAft>
                <a:spcPts val="400"/>
              </a:spcAft>
            </a:pPr>
            <a:r>
              <a:rPr sz="2900" b="1">
                <a:solidFill>
                  <a:srgbClr val="161B26"/>
                </a:solidFill>
                <a:latin typeface="Arial"/>
              </a:rPr>
              <a:t>The Sample Application, End to End</a:t>
            </a:r>
          </a:p>
        </p:txBody>
      </p:sp>
      <p:sp>
        <p:nvSpPr>
          <p:cNvPr id="6" name="Rectangle 5"/>
          <p:cNvSpPr/>
          <p:nvPr/>
        </p:nvSpPr>
        <p:spPr>
          <a:xfrm>
            <a:off x="777240" y="1572768"/>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ounded Rectangle 6"/>
          <p:cNvSpPr/>
          <p:nvPr/>
        </p:nvSpPr>
        <p:spPr>
          <a:xfrm>
            <a:off x="777240" y="1965960"/>
            <a:ext cx="2377440" cy="1051560"/>
          </a:xfrm>
          <a:prstGeom prst="roundRect">
            <a:avLst/>
          </a:prstGeom>
          <a:solidFill>
            <a:srgbClr val="F5F8FC"/>
          </a:solidFill>
          <a:ln w="15875">
            <a:solidFill>
              <a:srgbClr val="1F6FE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1965960"/>
            <a:ext cx="2377440" cy="82296"/>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868680" y="2075688"/>
            <a:ext cx="2194560" cy="868680"/>
          </a:xfrm>
          <a:prstGeom prst="rect">
            <a:avLst/>
          </a:prstGeom>
          <a:noFill/>
        </p:spPr>
        <p:txBody>
          <a:bodyPr wrap="square" anchor="ctr">
            <a:spAutoFit/>
          </a:bodyPr>
          <a:lstStyle/>
          <a:p>
            <a:pPr algn="ctr">
              <a:spcAft>
                <a:spcPts val="400"/>
              </a:spcAft>
            </a:pPr>
            <a:r>
              <a:rPr sz="1300" b="1">
                <a:solidFill>
                  <a:srgbClr val="161B26"/>
                </a:solidFill>
                <a:latin typeface="Arial"/>
              </a:rPr>
              <a:t>Source
GitHub via CodeConnections</a:t>
            </a:r>
          </a:p>
        </p:txBody>
      </p:sp>
      <p:sp>
        <p:nvSpPr>
          <p:cNvPr id="10" name="Rounded Rectangle 9"/>
          <p:cNvSpPr/>
          <p:nvPr/>
        </p:nvSpPr>
        <p:spPr>
          <a:xfrm>
            <a:off x="3520440" y="1965960"/>
            <a:ext cx="2377440" cy="1051560"/>
          </a:xfrm>
          <a:prstGeom prst="roundRect">
            <a:avLst/>
          </a:prstGeom>
          <a:solidFill>
            <a:srgbClr val="F5F8FC"/>
          </a:solidFill>
          <a:ln w="15875">
            <a:solidFill>
              <a:srgbClr val="1F6FE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ectangle 10"/>
          <p:cNvSpPr/>
          <p:nvPr/>
        </p:nvSpPr>
        <p:spPr>
          <a:xfrm>
            <a:off x="3520440" y="1965960"/>
            <a:ext cx="2377440" cy="82296"/>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3611880" y="2075688"/>
            <a:ext cx="2194560" cy="868680"/>
          </a:xfrm>
          <a:prstGeom prst="rect">
            <a:avLst/>
          </a:prstGeom>
          <a:noFill/>
        </p:spPr>
        <p:txBody>
          <a:bodyPr wrap="square" anchor="ctr">
            <a:spAutoFit/>
          </a:bodyPr>
          <a:lstStyle/>
          <a:p>
            <a:pPr algn="ctr">
              <a:spcAft>
                <a:spcPts val="400"/>
              </a:spcAft>
            </a:pPr>
            <a:r>
              <a:rPr sz="1300" b="1">
                <a:solidFill>
                  <a:srgbClr val="161B26"/>
                </a:solidFill>
                <a:latin typeface="Arial"/>
              </a:rPr>
              <a:t>CI/CD
CodePipeline/Build/Deploy</a:t>
            </a:r>
          </a:p>
        </p:txBody>
      </p:sp>
      <p:sp>
        <p:nvSpPr>
          <p:cNvPr id="13" name="Rounded Rectangle 12"/>
          <p:cNvSpPr/>
          <p:nvPr/>
        </p:nvSpPr>
        <p:spPr>
          <a:xfrm>
            <a:off x="777240" y="3657600"/>
            <a:ext cx="2377440" cy="1051560"/>
          </a:xfrm>
          <a:prstGeom prst="roundRect">
            <a:avLst/>
          </a:prstGeom>
          <a:solidFill>
            <a:srgbClr val="F5F8FC"/>
          </a:solidFill>
          <a:ln w="15875">
            <a:solidFill>
              <a:srgbClr val="7C3AED"/>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ectangle 13"/>
          <p:cNvSpPr/>
          <p:nvPr/>
        </p:nvSpPr>
        <p:spPr>
          <a:xfrm>
            <a:off x="777240" y="3657600"/>
            <a:ext cx="2377440" cy="82296"/>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868680" y="3767328"/>
            <a:ext cx="2194560" cy="868680"/>
          </a:xfrm>
          <a:prstGeom prst="rect">
            <a:avLst/>
          </a:prstGeom>
          <a:noFill/>
        </p:spPr>
        <p:txBody>
          <a:bodyPr wrap="square" anchor="ctr">
            <a:spAutoFit/>
          </a:bodyPr>
          <a:lstStyle/>
          <a:p>
            <a:pPr algn="ctr">
              <a:spcAft>
                <a:spcPts val="400"/>
              </a:spcAft>
            </a:pPr>
            <a:r>
              <a:rPr sz="1300" b="1">
                <a:solidFill>
                  <a:srgbClr val="161B26"/>
                </a:solidFill>
                <a:latin typeface="Arial"/>
              </a:rPr>
              <a:t>IaC
CloudFormation</a:t>
            </a:r>
          </a:p>
        </p:txBody>
      </p:sp>
      <p:sp>
        <p:nvSpPr>
          <p:cNvPr id="16" name="Rounded Rectangle 15"/>
          <p:cNvSpPr/>
          <p:nvPr/>
        </p:nvSpPr>
        <p:spPr>
          <a:xfrm>
            <a:off x="6263640" y="1965960"/>
            <a:ext cx="2377440" cy="1051560"/>
          </a:xfrm>
          <a:prstGeom prst="roundRect">
            <a:avLst/>
          </a:prstGeom>
          <a:solidFill>
            <a:srgbClr val="F5F8FC"/>
          </a:solidFill>
          <a:ln w="15875">
            <a:solidFill>
              <a:srgbClr val="10B98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ectangle 16"/>
          <p:cNvSpPr/>
          <p:nvPr/>
        </p:nvSpPr>
        <p:spPr>
          <a:xfrm>
            <a:off x="6263640" y="1965960"/>
            <a:ext cx="2377440" cy="82296"/>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6355080" y="2075688"/>
            <a:ext cx="2194560" cy="868680"/>
          </a:xfrm>
          <a:prstGeom prst="rect">
            <a:avLst/>
          </a:prstGeom>
          <a:noFill/>
        </p:spPr>
        <p:txBody>
          <a:bodyPr wrap="square" anchor="ctr">
            <a:spAutoFit/>
          </a:bodyPr>
          <a:lstStyle/>
          <a:p>
            <a:pPr algn="ctr">
              <a:spcAft>
                <a:spcPts val="400"/>
              </a:spcAft>
            </a:pPr>
            <a:r>
              <a:rPr sz="1300" b="1">
                <a:solidFill>
                  <a:srgbClr val="161B26"/>
                </a:solidFill>
                <a:latin typeface="Arial"/>
              </a:rPr>
              <a:t>Run (HA)
ALB + Multi-AZ ASG</a:t>
            </a:r>
          </a:p>
        </p:txBody>
      </p:sp>
      <p:sp>
        <p:nvSpPr>
          <p:cNvPr id="19" name="Rounded Rectangle 18"/>
          <p:cNvSpPr/>
          <p:nvPr/>
        </p:nvSpPr>
        <p:spPr>
          <a:xfrm>
            <a:off x="9006840" y="1965960"/>
            <a:ext cx="2377440" cy="1051560"/>
          </a:xfrm>
          <a:prstGeom prst="roundRect">
            <a:avLst/>
          </a:prstGeom>
          <a:solidFill>
            <a:srgbClr val="F5F8FC"/>
          </a:solidFill>
          <a:ln w="15875">
            <a:solidFill>
              <a:srgbClr val="F59E0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Rectangle 19"/>
          <p:cNvSpPr/>
          <p:nvPr/>
        </p:nvSpPr>
        <p:spPr>
          <a:xfrm>
            <a:off x="9006840" y="1965960"/>
            <a:ext cx="2377440" cy="82296"/>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9098280" y="2075688"/>
            <a:ext cx="2194560" cy="868680"/>
          </a:xfrm>
          <a:prstGeom prst="rect">
            <a:avLst/>
          </a:prstGeom>
          <a:noFill/>
        </p:spPr>
        <p:txBody>
          <a:bodyPr wrap="square" anchor="ctr">
            <a:spAutoFit/>
          </a:bodyPr>
          <a:lstStyle/>
          <a:p>
            <a:pPr algn="ctr">
              <a:spcAft>
                <a:spcPts val="400"/>
              </a:spcAft>
            </a:pPr>
            <a:r>
              <a:rPr sz="1300" b="1">
                <a:solidFill>
                  <a:srgbClr val="161B26"/>
                </a:solidFill>
                <a:latin typeface="Arial"/>
              </a:rPr>
              <a:t>Observe
CloudWatch + X-Ray</a:t>
            </a:r>
          </a:p>
        </p:txBody>
      </p:sp>
      <p:sp>
        <p:nvSpPr>
          <p:cNvPr id="22" name="Rounded Rectangle 21"/>
          <p:cNvSpPr/>
          <p:nvPr/>
        </p:nvSpPr>
        <p:spPr>
          <a:xfrm>
            <a:off x="9006840" y="3657600"/>
            <a:ext cx="2377440" cy="1051560"/>
          </a:xfrm>
          <a:prstGeom prst="roundRect">
            <a:avLst/>
          </a:prstGeom>
          <a:solidFill>
            <a:srgbClr val="F5F8FC"/>
          </a:solidFill>
          <a:ln w="15875">
            <a:solidFill>
              <a:srgbClr val="EC711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ectangle 22"/>
          <p:cNvSpPr/>
          <p:nvPr/>
        </p:nvSpPr>
        <p:spPr>
          <a:xfrm>
            <a:off x="9006840" y="3657600"/>
            <a:ext cx="2377440" cy="82296"/>
          </a:xfrm>
          <a:prstGeom prst="rect">
            <a:avLst/>
          </a:prstGeom>
          <a:solidFill>
            <a:srgbClr val="EC711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9098280" y="3767328"/>
            <a:ext cx="2194560" cy="868680"/>
          </a:xfrm>
          <a:prstGeom prst="rect">
            <a:avLst/>
          </a:prstGeom>
          <a:noFill/>
        </p:spPr>
        <p:txBody>
          <a:bodyPr wrap="square" anchor="ctr">
            <a:spAutoFit/>
          </a:bodyPr>
          <a:lstStyle/>
          <a:p>
            <a:pPr algn="ctr">
              <a:spcAft>
                <a:spcPts val="400"/>
              </a:spcAft>
            </a:pPr>
            <a:r>
              <a:rPr sz="1300" b="1">
                <a:solidFill>
                  <a:srgbClr val="161B26"/>
                </a:solidFill>
                <a:latin typeface="Arial"/>
              </a:rPr>
              <a:t>Respond
EventBridge + Lambda</a:t>
            </a:r>
          </a:p>
        </p:txBody>
      </p:sp>
      <p:sp>
        <p:nvSpPr>
          <p:cNvPr id="25" name="Rounded Rectangle 24"/>
          <p:cNvSpPr/>
          <p:nvPr/>
        </p:nvSpPr>
        <p:spPr>
          <a:xfrm>
            <a:off x="6263640" y="3657600"/>
            <a:ext cx="2377440" cy="1051560"/>
          </a:xfrm>
          <a:prstGeom prst="roundRect">
            <a:avLst/>
          </a:prstGeom>
          <a:solidFill>
            <a:srgbClr val="F5F8FC"/>
          </a:solidFill>
          <a:ln w="15875">
            <a:solidFill>
              <a:srgbClr val="C0392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Rectangle 25"/>
          <p:cNvSpPr/>
          <p:nvPr/>
        </p:nvSpPr>
        <p:spPr>
          <a:xfrm>
            <a:off x="6263640" y="3657600"/>
            <a:ext cx="2377440" cy="82296"/>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TextBox 26"/>
          <p:cNvSpPr txBox="1"/>
          <p:nvPr/>
        </p:nvSpPr>
        <p:spPr>
          <a:xfrm>
            <a:off x="6355080" y="3767328"/>
            <a:ext cx="2194560" cy="868680"/>
          </a:xfrm>
          <a:prstGeom prst="rect">
            <a:avLst/>
          </a:prstGeom>
          <a:noFill/>
        </p:spPr>
        <p:txBody>
          <a:bodyPr wrap="square" anchor="ctr">
            <a:spAutoFit/>
          </a:bodyPr>
          <a:lstStyle/>
          <a:p>
            <a:pPr algn="ctr">
              <a:spcAft>
                <a:spcPts val="400"/>
              </a:spcAft>
            </a:pPr>
            <a:r>
              <a:rPr sz="1300" b="1">
                <a:solidFill>
                  <a:srgbClr val="161B26"/>
                </a:solidFill>
                <a:latin typeface="Arial"/>
              </a:rPr>
              <a:t>Secure &amp; Audit
IAM/Config/CloudTrail</a:t>
            </a:r>
          </a:p>
        </p:txBody>
      </p:sp>
      <p:cxnSp>
        <p:nvCxnSpPr>
          <p:cNvPr id="28" name="Connector 27"/>
          <p:cNvCxnSpPr/>
          <p:nvPr/>
        </p:nvCxnSpPr>
        <p:spPr>
          <a:xfrm flipV="1">
            <a:off x="1965960" y="3017520"/>
            <a:ext cx="0" cy="640080"/>
          </a:xfrm>
          <a:prstGeom prst="line">
            <a:avLst/>
          </a:prstGeom>
          <a:ln w="22225">
            <a:solidFill>
              <a:srgbClr val="5B6372"/>
            </a:solidFill>
            <a:tailEnd type="triangle" w="med" len="med"/>
          </a:ln>
          <a:effectLst/>
        </p:spPr>
        <p:style>
          <a:lnRef idx="2">
            <a:schemeClr val="accent1"/>
          </a:lnRef>
          <a:fillRef idx="0">
            <a:schemeClr val="accent1"/>
          </a:fillRef>
          <a:effectRef idx="1">
            <a:schemeClr val="accent1"/>
          </a:effectRef>
          <a:fontRef idx="minor">
            <a:schemeClr val="tx1"/>
          </a:fontRef>
        </p:style>
      </p:cxnSp>
      <p:cxnSp>
        <p:nvCxnSpPr>
          <p:cNvPr id="29" name="Connector 28"/>
          <p:cNvCxnSpPr/>
          <p:nvPr/>
        </p:nvCxnSpPr>
        <p:spPr>
          <a:xfrm>
            <a:off x="3154680" y="2491740"/>
            <a:ext cx="365760" cy="0"/>
          </a:xfrm>
          <a:prstGeom prst="line">
            <a:avLst/>
          </a:prstGeom>
          <a:ln w="22225">
            <a:solidFill>
              <a:srgbClr val="5B6372"/>
            </a:solidFill>
            <a:tailEnd type="triangle" w="med" len="med"/>
          </a:ln>
          <a:effectLst/>
        </p:spPr>
        <p:style>
          <a:lnRef idx="2">
            <a:schemeClr val="accent1"/>
          </a:lnRef>
          <a:fillRef idx="0">
            <a:schemeClr val="accent1"/>
          </a:fillRef>
          <a:effectRef idx="1">
            <a:schemeClr val="accent1"/>
          </a:effectRef>
          <a:fontRef idx="minor">
            <a:schemeClr val="tx1"/>
          </a:fontRef>
        </p:style>
      </p:cxnSp>
      <p:cxnSp>
        <p:nvCxnSpPr>
          <p:cNvPr id="30" name="Connector 29"/>
          <p:cNvCxnSpPr/>
          <p:nvPr/>
        </p:nvCxnSpPr>
        <p:spPr>
          <a:xfrm>
            <a:off x="5897880" y="2491740"/>
            <a:ext cx="365760" cy="0"/>
          </a:xfrm>
          <a:prstGeom prst="line">
            <a:avLst/>
          </a:prstGeom>
          <a:ln w="22225">
            <a:solidFill>
              <a:srgbClr val="5B6372"/>
            </a:solidFill>
            <a:tailEnd type="triangle" w="med" len="med"/>
          </a:ln>
          <a:effectLst/>
        </p:spPr>
        <p:style>
          <a:lnRef idx="2">
            <a:schemeClr val="accent1"/>
          </a:lnRef>
          <a:fillRef idx="0">
            <a:schemeClr val="accent1"/>
          </a:fillRef>
          <a:effectRef idx="1">
            <a:schemeClr val="accent1"/>
          </a:effectRef>
          <a:fontRef idx="minor">
            <a:schemeClr val="tx1"/>
          </a:fontRef>
        </p:style>
      </p:cxnSp>
      <p:cxnSp>
        <p:nvCxnSpPr>
          <p:cNvPr id="31" name="Connector 30"/>
          <p:cNvCxnSpPr/>
          <p:nvPr/>
        </p:nvCxnSpPr>
        <p:spPr>
          <a:xfrm>
            <a:off x="8641080" y="2491740"/>
            <a:ext cx="365760" cy="0"/>
          </a:xfrm>
          <a:prstGeom prst="line">
            <a:avLst/>
          </a:prstGeom>
          <a:ln w="22225">
            <a:solidFill>
              <a:srgbClr val="5B6372"/>
            </a:solidFill>
            <a:tailEnd type="triangle" w="med" len="med"/>
          </a:ln>
          <a:effectLst/>
        </p:spPr>
        <p:style>
          <a:lnRef idx="2">
            <a:schemeClr val="accent1"/>
          </a:lnRef>
          <a:fillRef idx="0">
            <a:schemeClr val="accent1"/>
          </a:fillRef>
          <a:effectRef idx="1">
            <a:schemeClr val="accent1"/>
          </a:effectRef>
          <a:fontRef idx="minor">
            <a:schemeClr val="tx1"/>
          </a:fontRef>
        </p:style>
      </p:cxnSp>
      <p:cxnSp>
        <p:nvCxnSpPr>
          <p:cNvPr id="32" name="Connector 31"/>
          <p:cNvCxnSpPr/>
          <p:nvPr/>
        </p:nvCxnSpPr>
        <p:spPr>
          <a:xfrm>
            <a:off x="10195560" y="3017520"/>
            <a:ext cx="0" cy="640080"/>
          </a:xfrm>
          <a:prstGeom prst="line">
            <a:avLst/>
          </a:prstGeom>
          <a:ln w="22225">
            <a:solidFill>
              <a:srgbClr val="5B6372"/>
            </a:solidFill>
            <a:tailEnd type="triangle" w="med" len="med"/>
          </a:ln>
          <a:effectLst/>
        </p:spPr>
        <p:style>
          <a:lnRef idx="2">
            <a:schemeClr val="accent1"/>
          </a:lnRef>
          <a:fillRef idx="0">
            <a:schemeClr val="accent1"/>
          </a:fillRef>
          <a:effectRef idx="1">
            <a:schemeClr val="accent1"/>
          </a:effectRef>
          <a:fontRef idx="minor">
            <a:schemeClr val="tx1"/>
          </a:fontRef>
        </p:style>
      </p:cxnSp>
      <p:cxnSp>
        <p:nvCxnSpPr>
          <p:cNvPr id="33" name="Connector 32"/>
          <p:cNvCxnSpPr/>
          <p:nvPr/>
        </p:nvCxnSpPr>
        <p:spPr>
          <a:xfrm flipH="1" flipV="1">
            <a:off x="8641080" y="2491740"/>
            <a:ext cx="365760" cy="1691640"/>
          </a:xfrm>
          <a:prstGeom prst="line">
            <a:avLst/>
          </a:prstGeom>
          <a:ln w="22225">
            <a:solidFill>
              <a:srgbClr val="5B6372"/>
            </a:solidFill>
            <a:tailEnd type="triangle" w="med" len="med"/>
          </a:ln>
          <a:effectLst/>
        </p:spPr>
        <p:style>
          <a:lnRef idx="2">
            <a:schemeClr val="accent1"/>
          </a:lnRef>
          <a:fillRef idx="0">
            <a:schemeClr val="accent1"/>
          </a:fillRef>
          <a:effectRef idx="1">
            <a:schemeClr val="accent1"/>
          </a:effectRef>
          <a:fontRef idx="minor">
            <a:schemeClr val="tx1"/>
          </a:fontRef>
        </p:style>
      </p:cxnSp>
      <p:cxnSp>
        <p:nvCxnSpPr>
          <p:cNvPr id="34" name="Connector 33"/>
          <p:cNvCxnSpPr/>
          <p:nvPr/>
        </p:nvCxnSpPr>
        <p:spPr>
          <a:xfrm flipV="1">
            <a:off x="7452360" y="3017520"/>
            <a:ext cx="0" cy="640080"/>
          </a:xfrm>
          <a:prstGeom prst="line">
            <a:avLst/>
          </a:prstGeom>
          <a:ln w="22225">
            <a:solidFill>
              <a:srgbClr val="5B6372"/>
            </a:solidFill>
            <a:tailEnd type="triangle" w="med" len="med"/>
          </a:ln>
          <a:effectLst/>
        </p:spPr>
        <p:style>
          <a:lnRef idx="2">
            <a:schemeClr val="accent1"/>
          </a:lnRef>
          <a:fillRef idx="0">
            <a:schemeClr val="accent1"/>
          </a:fillRef>
          <a:effectRef idx="1">
            <a:schemeClr val="accent1"/>
          </a:effectRef>
          <a:fontRef idx="minor">
            <a:schemeClr val="tx1"/>
          </a:fontRef>
        </p:style>
      </p:cxnSp>
      <p:sp>
        <p:nvSpPr>
          <p:cNvPr id="35" name="Rectangle 34"/>
          <p:cNvSpPr/>
          <p:nvPr/>
        </p:nvSpPr>
        <p:spPr>
          <a:xfrm>
            <a:off x="777240" y="5669280"/>
            <a:ext cx="10634472" cy="54864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TextBox 35"/>
          <p:cNvSpPr txBox="1"/>
          <p:nvPr/>
        </p:nvSpPr>
        <p:spPr>
          <a:xfrm>
            <a:off x="1005840" y="5742432"/>
            <a:ext cx="10241280" cy="411480"/>
          </a:xfrm>
          <a:prstGeom prst="rect">
            <a:avLst/>
          </a:prstGeom>
          <a:noFill/>
        </p:spPr>
        <p:txBody>
          <a:bodyPr wrap="square" anchor="ctr">
            <a:spAutoFit/>
          </a:bodyPr>
          <a:lstStyle/>
          <a:p>
            <a:pPr algn="l">
              <a:spcAft>
                <a:spcPts val="400"/>
              </a:spcAft>
            </a:pPr>
            <a:r>
              <a:rPr sz="1300" b="1">
                <a:solidFill>
                  <a:srgbClr val="1F6FEB"/>
                </a:solidFill>
                <a:latin typeface="Arial"/>
              </a:rPr>
              <a:t>▶  </a:t>
            </a:r>
            <a:r>
              <a:rPr sz="1300" b="0">
                <a:solidFill>
                  <a:srgbClr val="161B26"/>
                </a:solidFill>
                <a:latin typeface="Arial"/>
              </a:rPr>
              <a:t>Domains 1–6 map onto one delivery-to-operations loop: build it (1), codify it (2), make it resilient (3), watch it (4), respond (5) and secure it (6).</a:t>
            </a:r>
          </a:p>
        </p:txBody>
      </p:sp>
      <p:sp>
        <p:nvSpPr>
          <p:cNvPr id="37" name="TextBox 36"/>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DevOps Engineering on AWS  ·  TGS-2023040474</a:t>
            </a:r>
          </a:p>
        </p:txBody>
      </p:sp>
      <p:sp>
        <p:nvSpPr>
          <p:cNvPr id="38" name="TextBox 37"/>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39" name="TextBox 38"/>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219</a:t>
            </a:r>
          </a:p>
        </p:txBody>
      </p:sp>
    </p:spTree>
  </p:cSld>
  <p:clrMapOvr>
    <a:masterClrMapping/>
  </p:clrMapOvr>
  <p:transition xmlns:p14="http://schemas.microsoft.com/office/powerpoint/2010/main" p14:dur="380">
    <p:fade/>
  </p:transition>
</p:sld>
</file>

<file path=ppt/slides/slide22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38912"/>
            <a:ext cx="10607040" cy="365760"/>
          </a:xfrm>
          <a:prstGeom prst="rect">
            <a:avLst/>
          </a:prstGeom>
          <a:noFill/>
        </p:spPr>
        <p:txBody>
          <a:bodyPr wrap="square" anchor="t">
            <a:spAutoFit/>
          </a:bodyPr>
          <a:lstStyle/>
          <a:p>
            <a:pPr algn="l">
              <a:spcAft>
                <a:spcPts val="400"/>
              </a:spcAft>
            </a:pPr>
            <a:r>
              <a:rPr sz="1400" b="1">
                <a:solidFill>
                  <a:srgbClr val="10B981"/>
                </a:solidFill>
                <a:latin typeface="Arial"/>
              </a:rPr>
              <a:t>ONE CONNECTED SYSTEM · 5 LABS × 5 DAYS</a:t>
            </a:r>
          </a:p>
        </p:txBody>
      </p:sp>
      <p:sp>
        <p:nvSpPr>
          <p:cNvPr id="5" name="TextBox 4"/>
          <p:cNvSpPr txBox="1"/>
          <p:nvPr/>
        </p:nvSpPr>
        <p:spPr>
          <a:xfrm>
            <a:off x="777240" y="804672"/>
            <a:ext cx="10927080" cy="731520"/>
          </a:xfrm>
          <a:prstGeom prst="rect">
            <a:avLst/>
          </a:prstGeom>
          <a:noFill/>
        </p:spPr>
        <p:txBody>
          <a:bodyPr wrap="square" anchor="t">
            <a:spAutoFit/>
          </a:bodyPr>
          <a:lstStyle/>
          <a:p>
            <a:pPr algn="l">
              <a:spcAft>
                <a:spcPts val="400"/>
              </a:spcAft>
            </a:pPr>
            <a:r>
              <a:rPr sz="2900" b="1">
                <a:solidFill>
                  <a:srgbClr val="161B26"/>
                </a:solidFill>
                <a:latin typeface="Arial"/>
              </a:rPr>
              <a:t>How the 25 Labs Connect</a:t>
            </a:r>
          </a:p>
        </p:txBody>
      </p:sp>
      <p:sp>
        <p:nvSpPr>
          <p:cNvPr id="6" name="Rectangle 5"/>
          <p:cNvSpPr/>
          <p:nvPr/>
        </p:nvSpPr>
        <p:spPr>
          <a:xfrm>
            <a:off x="777240" y="1572768"/>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783080"/>
            <a:ext cx="5180076" cy="131064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1783080"/>
            <a:ext cx="91440" cy="131064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1033272" y="2164080"/>
            <a:ext cx="548640" cy="548640"/>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033272" y="2164080"/>
            <a:ext cx="548640" cy="548640"/>
          </a:xfrm>
          <a:prstGeom prst="rect">
            <a:avLst/>
          </a:prstGeom>
          <a:noFill/>
        </p:spPr>
        <p:txBody>
          <a:bodyPr wrap="square" anchor="ctr">
            <a:spAutoFit/>
          </a:bodyPr>
          <a:lstStyle/>
          <a:p>
            <a:pPr algn="ctr">
              <a:spcAft>
                <a:spcPts val="400"/>
              </a:spcAft>
            </a:pPr>
            <a:r>
              <a:rPr sz="1800" b="1">
                <a:solidFill>
                  <a:srgbClr val="FFFFFF"/>
                </a:solidFill>
                <a:latin typeface="Arial"/>
              </a:rPr>
              <a:t>1</a:t>
            </a:r>
          </a:p>
        </p:txBody>
      </p:sp>
      <p:sp>
        <p:nvSpPr>
          <p:cNvPr id="11" name="TextBox 10"/>
          <p:cNvSpPr txBox="1"/>
          <p:nvPr/>
        </p:nvSpPr>
        <p:spPr>
          <a:xfrm>
            <a:off x="1764792" y="1892808"/>
            <a:ext cx="3973068" cy="1127760"/>
          </a:xfrm>
          <a:prstGeom prst="rect">
            <a:avLst/>
          </a:prstGeom>
          <a:noFill/>
        </p:spPr>
        <p:txBody>
          <a:bodyPr wrap="square" anchor="ctr">
            <a:spAutoFit/>
          </a:bodyPr>
          <a:lstStyle/>
          <a:p>
            <a:pPr algn="l">
              <a:spcAft>
                <a:spcPts val="300"/>
              </a:spcAft>
            </a:pPr>
            <a:r>
              <a:rPr sz="1550" b="1">
                <a:solidFill>
                  <a:srgbClr val="161B26"/>
                </a:solidFill>
                <a:latin typeface="Arial"/>
              </a:rPr>
              <a:t>Day 1 → Day 2</a:t>
            </a:r>
          </a:p>
          <a:p>
            <a:pPr algn="l">
              <a:spcAft>
                <a:spcPts val="300"/>
              </a:spcAft>
            </a:pPr>
            <a:r>
              <a:rPr sz="1150" b="0">
                <a:solidFill>
                  <a:srgbClr val="5B6372"/>
                </a:solidFill>
                <a:latin typeface="Arial"/>
              </a:rPr>
              <a:t>The CI/CD pipeline built across Labs 1–5 deploys the Infrastructure as Code defined in Labs 6–10.</a:t>
            </a:r>
          </a:p>
        </p:txBody>
      </p:sp>
      <p:sp>
        <p:nvSpPr>
          <p:cNvPr id="12" name="Rectangle 11"/>
          <p:cNvSpPr/>
          <p:nvPr/>
        </p:nvSpPr>
        <p:spPr>
          <a:xfrm>
            <a:off x="6231636" y="1783080"/>
            <a:ext cx="5180076" cy="131064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6231636" y="1783080"/>
            <a:ext cx="91440" cy="131064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Oval 13"/>
          <p:cNvSpPr/>
          <p:nvPr/>
        </p:nvSpPr>
        <p:spPr>
          <a:xfrm>
            <a:off x="6487668" y="2164080"/>
            <a:ext cx="548640" cy="54864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6487668" y="2164080"/>
            <a:ext cx="548640" cy="548640"/>
          </a:xfrm>
          <a:prstGeom prst="rect">
            <a:avLst/>
          </a:prstGeom>
          <a:noFill/>
        </p:spPr>
        <p:txBody>
          <a:bodyPr wrap="square" anchor="ctr">
            <a:spAutoFit/>
          </a:bodyPr>
          <a:lstStyle/>
          <a:p>
            <a:pPr algn="ctr">
              <a:spcAft>
                <a:spcPts val="400"/>
              </a:spcAft>
            </a:pPr>
            <a:r>
              <a:rPr sz="1800" b="1">
                <a:solidFill>
                  <a:srgbClr val="FFFFFF"/>
                </a:solidFill>
                <a:latin typeface="Arial"/>
              </a:rPr>
              <a:t>2</a:t>
            </a:r>
          </a:p>
        </p:txBody>
      </p:sp>
      <p:sp>
        <p:nvSpPr>
          <p:cNvPr id="16" name="TextBox 15"/>
          <p:cNvSpPr txBox="1"/>
          <p:nvPr/>
        </p:nvSpPr>
        <p:spPr>
          <a:xfrm>
            <a:off x="7219188" y="1892808"/>
            <a:ext cx="3973068" cy="1127760"/>
          </a:xfrm>
          <a:prstGeom prst="rect">
            <a:avLst/>
          </a:prstGeom>
          <a:noFill/>
        </p:spPr>
        <p:txBody>
          <a:bodyPr wrap="square" anchor="ctr">
            <a:spAutoFit/>
          </a:bodyPr>
          <a:lstStyle/>
          <a:p>
            <a:pPr algn="l">
              <a:spcAft>
                <a:spcPts val="300"/>
              </a:spcAft>
            </a:pPr>
            <a:r>
              <a:rPr sz="1550" b="1">
                <a:solidFill>
                  <a:srgbClr val="161B26"/>
                </a:solidFill>
                <a:latin typeface="Arial"/>
              </a:rPr>
              <a:t>Day 2 → Day 3</a:t>
            </a:r>
          </a:p>
          <a:p>
            <a:pPr algn="l">
              <a:spcAft>
                <a:spcPts val="300"/>
              </a:spcAft>
            </a:pPr>
            <a:r>
              <a:rPr sz="1150" b="0">
                <a:solidFill>
                  <a:srgbClr val="5B6372"/>
                </a:solidFill>
                <a:latin typeface="Arial"/>
              </a:rPr>
              <a:t>The network and app stacks become the highly available, auto-scaling, DR-ready foundation (Labs 11–15).</a:t>
            </a:r>
          </a:p>
        </p:txBody>
      </p:sp>
      <p:sp>
        <p:nvSpPr>
          <p:cNvPr id="17" name="Rectangle 16"/>
          <p:cNvSpPr/>
          <p:nvPr/>
        </p:nvSpPr>
        <p:spPr>
          <a:xfrm>
            <a:off x="777240" y="3313176"/>
            <a:ext cx="5180076" cy="131064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777240" y="3313176"/>
            <a:ext cx="91440" cy="1310640"/>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Oval 18"/>
          <p:cNvSpPr/>
          <p:nvPr/>
        </p:nvSpPr>
        <p:spPr>
          <a:xfrm>
            <a:off x="1033272" y="3694176"/>
            <a:ext cx="548640" cy="548640"/>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1033272" y="3694176"/>
            <a:ext cx="548640" cy="548640"/>
          </a:xfrm>
          <a:prstGeom prst="rect">
            <a:avLst/>
          </a:prstGeom>
          <a:noFill/>
        </p:spPr>
        <p:txBody>
          <a:bodyPr wrap="square" anchor="ctr">
            <a:spAutoFit/>
          </a:bodyPr>
          <a:lstStyle/>
          <a:p>
            <a:pPr algn="ctr">
              <a:spcAft>
                <a:spcPts val="400"/>
              </a:spcAft>
            </a:pPr>
            <a:r>
              <a:rPr sz="1800" b="1">
                <a:solidFill>
                  <a:srgbClr val="FFFFFF"/>
                </a:solidFill>
                <a:latin typeface="Arial"/>
              </a:rPr>
              <a:t>3</a:t>
            </a:r>
          </a:p>
        </p:txBody>
      </p:sp>
      <p:sp>
        <p:nvSpPr>
          <p:cNvPr id="21" name="TextBox 20"/>
          <p:cNvSpPr txBox="1"/>
          <p:nvPr/>
        </p:nvSpPr>
        <p:spPr>
          <a:xfrm>
            <a:off x="1764792" y="3422904"/>
            <a:ext cx="3973068" cy="1127760"/>
          </a:xfrm>
          <a:prstGeom prst="rect">
            <a:avLst/>
          </a:prstGeom>
          <a:noFill/>
        </p:spPr>
        <p:txBody>
          <a:bodyPr wrap="square" anchor="ctr">
            <a:spAutoFit/>
          </a:bodyPr>
          <a:lstStyle/>
          <a:p>
            <a:pPr algn="l">
              <a:spcAft>
                <a:spcPts val="300"/>
              </a:spcAft>
            </a:pPr>
            <a:r>
              <a:rPr sz="1550" b="1">
                <a:solidFill>
                  <a:srgbClr val="161B26"/>
                </a:solidFill>
                <a:latin typeface="Arial"/>
              </a:rPr>
              <a:t>Day 3 → Day 4</a:t>
            </a:r>
          </a:p>
          <a:p>
            <a:pPr algn="l">
              <a:spcAft>
                <a:spcPts val="300"/>
              </a:spcAft>
            </a:pPr>
            <a:r>
              <a:rPr sz="1150" b="0">
                <a:solidFill>
                  <a:srgbClr val="5B6372"/>
                </a:solidFill>
                <a:latin typeface="Arial"/>
              </a:rPr>
              <a:t>The running fleet emits the metrics, logs and events monitored and routed in Labs 16–20.</a:t>
            </a:r>
          </a:p>
        </p:txBody>
      </p:sp>
      <p:sp>
        <p:nvSpPr>
          <p:cNvPr id="22" name="Rectangle 21"/>
          <p:cNvSpPr/>
          <p:nvPr/>
        </p:nvSpPr>
        <p:spPr>
          <a:xfrm>
            <a:off x="6231636" y="3313176"/>
            <a:ext cx="5180076" cy="131064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ectangle 22"/>
          <p:cNvSpPr/>
          <p:nvPr/>
        </p:nvSpPr>
        <p:spPr>
          <a:xfrm>
            <a:off x="6231636" y="3313176"/>
            <a:ext cx="91440" cy="1310640"/>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Oval 23"/>
          <p:cNvSpPr/>
          <p:nvPr/>
        </p:nvSpPr>
        <p:spPr>
          <a:xfrm>
            <a:off x="6487668" y="3694176"/>
            <a:ext cx="548640" cy="548640"/>
          </a:xfrm>
          <a:prstGeom prst="ellipse">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6487668" y="3694176"/>
            <a:ext cx="548640" cy="548640"/>
          </a:xfrm>
          <a:prstGeom prst="rect">
            <a:avLst/>
          </a:prstGeom>
          <a:noFill/>
        </p:spPr>
        <p:txBody>
          <a:bodyPr wrap="square" anchor="ctr">
            <a:spAutoFit/>
          </a:bodyPr>
          <a:lstStyle/>
          <a:p>
            <a:pPr algn="ctr">
              <a:spcAft>
                <a:spcPts val="400"/>
              </a:spcAft>
            </a:pPr>
            <a:r>
              <a:rPr sz="1800" b="1">
                <a:solidFill>
                  <a:srgbClr val="FFFFFF"/>
                </a:solidFill>
                <a:latin typeface="Arial"/>
              </a:rPr>
              <a:t>4</a:t>
            </a:r>
          </a:p>
        </p:txBody>
      </p:sp>
      <p:sp>
        <p:nvSpPr>
          <p:cNvPr id="26" name="TextBox 25"/>
          <p:cNvSpPr txBox="1"/>
          <p:nvPr/>
        </p:nvSpPr>
        <p:spPr>
          <a:xfrm>
            <a:off x="7219188" y="3422904"/>
            <a:ext cx="3973068" cy="1127760"/>
          </a:xfrm>
          <a:prstGeom prst="rect">
            <a:avLst/>
          </a:prstGeom>
          <a:noFill/>
        </p:spPr>
        <p:txBody>
          <a:bodyPr wrap="square" anchor="ctr">
            <a:spAutoFit/>
          </a:bodyPr>
          <a:lstStyle/>
          <a:p>
            <a:pPr algn="l">
              <a:spcAft>
                <a:spcPts val="300"/>
              </a:spcAft>
            </a:pPr>
            <a:r>
              <a:rPr sz="1550" b="1">
                <a:solidFill>
                  <a:srgbClr val="161B26"/>
                </a:solidFill>
                <a:latin typeface="Arial"/>
              </a:rPr>
              <a:t>Day 4 → Day 5</a:t>
            </a:r>
          </a:p>
          <a:p>
            <a:pPr algn="l">
              <a:spcAft>
                <a:spcPts val="300"/>
              </a:spcAft>
            </a:pPr>
            <a:r>
              <a:rPr sz="1150" b="0">
                <a:solidFill>
                  <a:srgbClr val="5B6372"/>
                </a:solidFill>
                <a:latin typeface="Arial"/>
              </a:rPr>
              <a:t>Alarms and events drive automated response, then least-privilege, encryption and audit (Labs 21–24).</a:t>
            </a:r>
          </a:p>
        </p:txBody>
      </p:sp>
      <p:sp>
        <p:nvSpPr>
          <p:cNvPr id="27" name="Rectangle 26"/>
          <p:cNvSpPr/>
          <p:nvPr/>
        </p:nvSpPr>
        <p:spPr>
          <a:xfrm>
            <a:off x="777240" y="4843272"/>
            <a:ext cx="5180076" cy="131064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Rectangle 27"/>
          <p:cNvSpPr/>
          <p:nvPr/>
        </p:nvSpPr>
        <p:spPr>
          <a:xfrm>
            <a:off x="777240" y="4843272"/>
            <a:ext cx="91440" cy="1310640"/>
          </a:xfrm>
          <a:prstGeom prst="rect">
            <a:avLst/>
          </a:prstGeom>
          <a:solidFill>
            <a:srgbClr val="EC711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Oval 28"/>
          <p:cNvSpPr/>
          <p:nvPr/>
        </p:nvSpPr>
        <p:spPr>
          <a:xfrm>
            <a:off x="1033272" y="5224272"/>
            <a:ext cx="548640" cy="548640"/>
          </a:xfrm>
          <a:prstGeom prst="ellipse">
            <a:avLst/>
          </a:prstGeom>
          <a:solidFill>
            <a:srgbClr val="EC711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1033272" y="5224272"/>
            <a:ext cx="548640" cy="548640"/>
          </a:xfrm>
          <a:prstGeom prst="rect">
            <a:avLst/>
          </a:prstGeom>
          <a:noFill/>
        </p:spPr>
        <p:txBody>
          <a:bodyPr wrap="square" anchor="ctr">
            <a:spAutoFit/>
          </a:bodyPr>
          <a:lstStyle/>
          <a:p>
            <a:pPr algn="ctr">
              <a:spcAft>
                <a:spcPts val="400"/>
              </a:spcAft>
            </a:pPr>
            <a:r>
              <a:rPr sz="1800" b="1">
                <a:solidFill>
                  <a:srgbClr val="FFFFFF"/>
                </a:solidFill>
                <a:latin typeface="Arial"/>
              </a:rPr>
              <a:t>5</a:t>
            </a:r>
          </a:p>
        </p:txBody>
      </p:sp>
      <p:sp>
        <p:nvSpPr>
          <p:cNvPr id="31" name="TextBox 30"/>
          <p:cNvSpPr txBox="1"/>
          <p:nvPr/>
        </p:nvSpPr>
        <p:spPr>
          <a:xfrm>
            <a:off x="1764792" y="4953000"/>
            <a:ext cx="3973068" cy="1127760"/>
          </a:xfrm>
          <a:prstGeom prst="rect">
            <a:avLst/>
          </a:prstGeom>
          <a:noFill/>
        </p:spPr>
        <p:txBody>
          <a:bodyPr wrap="square" anchor="ctr">
            <a:spAutoFit/>
          </a:bodyPr>
          <a:lstStyle/>
          <a:p>
            <a:pPr algn="l">
              <a:spcAft>
                <a:spcPts val="300"/>
              </a:spcAft>
            </a:pPr>
            <a:r>
              <a:rPr sz="1550" b="1">
                <a:solidFill>
                  <a:srgbClr val="161B26"/>
                </a:solidFill>
                <a:latin typeface="Arial"/>
              </a:rPr>
              <a:t>Labs → Capstone</a:t>
            </a:r>
          </a:p>
          <a:p>
            <a:pPr algn="l">
              <a:spcAft>
                <a:spcPts val="300"/>
              </a:spcAft>
            </a:pPr>
            <a:r>
              <a:rPr sz="1150" b="0">
                <a:solidFill>
                  <a:srgbClr val="5B6372"/>
                </a:solidFill>
                <a:latin typeface="Arial"/>
              </a:rPr>
              <a:t>Lab 25 integrates all six domains into one secured, resilient, observable blueprint + evidence pack.</a:t>
            </a:r>
          </a:p>
        </p:txBody>
      </p:sp>
      <p:sp>
        <p:nvSpPr>
          <p:cNvPr id="32" name="Rectangle 31"/>
          <p:cNvSpPr/>
          <p:nvPr/>
        </p:nvSpPr>
        <p:spPr>
          <a:xfrm>
            <a:off x="6231636" y="4843272"/>
            <a:ext cx="5180076" cy="131064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Rectangle 32"/>
          <p:cNvSpPr/>
          <p:nvPr/>
        </p:nvSpPr>
        <p:spPr>
          <a:xfrm>
            <a:off x="6231636" y="4843272"/>
            <a:ext cx="91440" cy="1310640"/>
          </a:xfrm>
          <a:prstGeom prst="rect">
            <a:avLst/>
          </a:prstGeom>
          <a:solidFill>
            <a:srgbClr val="0E9EC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Oval 33"/>
          <p:cNvSpPr/>
          <p:nvPr/>
        </p:nvSpPr>
        <p:spPr>
          <a:xfrm>
            <a:off x="6487668" y="5224272"/>
            <a:ext cx="548640" cy="548640"/>
          </a:xfrm>
          <a:prstGeom prst="ellipse">
            <a:avLst/>
          </a:prstGeom>
          <a:solidFill>
            <a:srgbClr val="0E9EC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TextBox 34"/>
          <p:cNvSpPr txBox="1"/>
          <p:nvPr/>
        </p:nvSpPr>
        <p:spPr>
          <a:xfrm>
            <a:off x="6487668" y="5224272"/>
            <a:ext cx="548640" cy="548640"/>
          </a:xfrm>
          <a:prstGeom prst="rect">
            <a:avLst/>
          </a:prstGeom>
          <a:noFill/>
        </p:spPr>
        <p:txBody>
          <a:bodyPr wrap="square" anchor="ctr">
            <a:spAutoFit/>
          </a:bodyPr>
          <a:lstStyle/>
          <a:p>
            <a:pPr algn="ctr">
              <a:spcAft>
                <a:spcPts val="400"/>
              </a:spcAft>
            </a:pPr>
            <a:r>
              <a:rPr sz="1800" b="1">
                <a:solidFill>
                  <a:srgbClr val="FFFFFF"/>
                </a:solidFill>
                <a:latin typeface="Arial"/>
              </a:rPr>
              <a:t>6</a:t>
            </a:r>
          </a:p>
        </p:txBody>
      </p:sp>
      <p:sp>
        <p:nvSpPr>
          <p:cNvPr id="36" name="TextBox 35"/>
          <p:cNvSpPr txBox="1"/>
          <p:nvPr/>
        </p:nvSpPr>
        <p:spPr>
          <a:xfrm>
            <a:off x="7219188" y="4953000"/>
            <a:ext cx="3973068" cy="1127760"/>
          </a:xfrm>
          <a:prstGeom prst="rect">
            <a:avLst/>
          </a:prstGeom>
          <a:noFill/>
        </p:spPr>
        <p:txBody>
          <a:bodyPr wrap="square" anchor="ctr">
            <a:spAutoFit/>
          </a:bodyPr>
          <a:lstStyle/>
          <a:p>
            <a:pPr algn="l">
              <a:spcAft>
                <a:spcPts val="300"/>
              </a:spcAft>
            </a:pPr>
            <a:r>
              <a:rPr sz="1550" b="1">
                <a:solidFill>
                  <a:srgbClr val="161B26"/>
                </a:solidFill>
                <a:latin typeface="Arial"/>
              </a:rPr>
              <a:t>One system</a:t>
            </a:r>
          </a:p>
          <a:p>
            <a:pPr algn="l">
              <a:spcAft>
                <a:spcPts val="300"/>
              </a:spcAft>
            </a:pPr>
            <a:r>
              <a:rPr sz="1150" b="0">
                <a:solidFill>
                  <a:srgbClr val="5B6372"/>
                </a:solidFill>
                <a:latin typeface="Arial"/>
              </a:rPr>
              <a:t>Each lab produces an artifact the next builds on — 25 connected labs across 5 days, not isolated exercises.</a:t>
            </a:r>
          </a:p>
        </p:txBody>
      </p:sp>
      <p:sp>
        <p:nvSpPr>
          <p:cNvPr id="37" name="TextBox 36"/>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DevOps Engineering on AWS  ·  TGS-2023040474</a:t>
            </a:r>
          </a:p>
        </p:txBody>
      </p:sp>
      <p:sp>
        <p:nvSpPr>
          <p:cNvPr id="38" name="TextBox 37"/>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39" name="TextBox 38"/>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220</a:t>
            </a:r>
          </a:p>
        </p:txBody>
      </p:sp>
    </p:spTree>
  </p:cSld>
  <p:clrMapOvr>
    <a:masterClrMapping/>
  </p:clrMapOvr>
  <p:transition xmlns:p14="http://schemas.microsoft.com/office/powerpoint/2010/main" p14:dur="380">
    <p:fade/>
  </p:transition>
</p:sld>
</file>

<file path=ppt/slides/slide22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38912"/>
            <a:ext cx="10607040" cy="365760"/>
          </a:xfrm>
          <a:prstGeom prst="rect">
            <a:avLst/>
          </a:prstGeom>
          <a:noFill/>
        </p:spPr>
        <p:txBody>
          <a:bodyPr wrap="square" anchor="t">
            <a:spAutoFit/>
          </a:bodyPr>
          <a:lstStyle/>
          <a:p>
            <a:pPr algn="l">
              <a:spcAft>
                <a:spcPts val="400"/>
              </a:spcAft>
            </a:pPr>
            <a:r>
              <a:rPr sz="1400" b="1">
                <a:solidFill>
                  <a:srgbClr val="1F6FEB"/>
                </a:solidFill>
                <a:latin typeface="Arial"/>
              </a:rPr>
              <a:t>TRACING ONE EVENT ACROSS ALL SIX DOMAINS</a:t>
            </a:r>
          </a:p>
        </p:txBody>
      </p:sp>
      <p:sp>
        <p:nvSpPr>
          <p:cNvPr id="5" name="TextBox 4"/>
          <p:cNvSpPr txBox="1"/>
          <p:nvPr/>
        </p:nvSpPr>
        <p:spPr>
          <a:xfrm>
            <a:off x="777240" y="896112"/>
            <a:ext cx="10927080" cy="731520"/>
          </a:xfrm>
          <a:prstGeom prst="rect">
            <a:avLst/>
          </a:prstGeom>
          <a:noFill/>
        </p:spPr>
        <p:txBody>
          <a:bodyPr wrap="square" anchor="t">
            <a:spAutoFit/>
          </a:bodyPr>
          <a:lstStyle/>
          <a:p>
            <a:pPr algn="l">
              <a:spcAft>
                <a:spcPts val="400"/>
              </a:spcAft>
            </a:pPr>
            <a:r>
              <a:rPr sz="2500" b="1">
                <a:solidFill>
                  <a:srgbClr val="161B26"/>
                </a:solidFill>
                <a:latin typeface="Arial"/>
              </a:rPr>
              <a:t>Capstone Scenario — A change, a failure, a recovery</a:t>
            </a:r>
          </a:p>
        </p:txBody>
      </p:sp>
      <p:sp>
        <p:nvSpPr>
          <p:cNvPr id="6" name="Rectangle 5"/>
          <p:cNvSpPr/>
          <p:nvPr/>
        </p:nvSpPr>
        <p:spPr>
          <a:xfrm>
            <a:off x="777240" y="1572768"/>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755648"/>
            <a:ext cx="10634472" cy="91440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1755648"/>
            <a:ext cx="91440" cy="914400"/>
          </a:xfrm>
          <a:prstGeom prst="rect">
            <a:avLst/>
          </a:prstGeom>
          <a:solidFill>
            <a:srgbClr val="5B637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1033272" y="1847088"/>
            <a:ext cx="2194560" cy="320040"/>
          </a:xfrm>
          <a:prstGeom prst="rect">
            <a:avLst/>
          </a:prstGeom>
          <a:noFill/>
        </p:spPr>
        <p:txBody>
          <a:bodyPr wrap="square" anchor="t">
            <a:spAutoFit/>
          </a:bodyPr>
          <a:lstStyle/>
          <a:p>
            <a:pPr algn="l">
              <a:spcAft>
                <a:spcPts val="400"/>
              </a:spcAft>
            </a:pPr>
            <a:r>
              <a:rPr sz="1150" b="1">
                <a:solidFill>
                  <a:srgbClr val="5B6372"/>
                </a:solidFill>
                <a:latin typeface="Arial"/>
              </a:rPr>
              <a:t>SITUATION</a:t>
            </a:r>
          </a:p>
        </p:txBody>
      </p:sp>
      <p:sp>
        <p:nvSpPr>
          <p:cNvPr id="10" name="TextBox 9"/>
          <p:cNvSpPr txBox="1"/>
          <p:nvPr/>
        </p:nvSpPr>
        <p:spPr>
          <a:xfrm>
            <a:off x="1033272" y="2157984"/>
            <a:ext cx="10085832" cy="457200"/>
          </a:xfrm>
          <a:prstGeom prst="rect">
            <a:avLst/>
          </a:prstGeom>
          <a:noFill/>
        </p:spPr>
        <p:txBody>
          <a:bodyPr wrap="square" anchor="t">
            <a:spAutoFit/>
          </a:bodyPr>
          <a:lstStyle/>
          <a:p>
            <a:pPr algn="l">
              <a:spcAft>
                <a:spcPts val="400"/>
              </a:spcAft>
            </a:pPr>
            <a:r>
              <a:rPr sz="1300" b="0">
                <a:solidFill>
                  <a:srgbClr val="161B26"/>
                </a:solidFill>
                <a:latin typeface="Arial"/>
              </a:rPr>
              <a:t>A developer merges a change that passes tests but degrades checkout latency once at production scale.</a:t>
            </a:r>
          </a:p>
        </p:txBody>
      </p:sp>
      <p:sp>
        <p:nvSpPr>
          <p:cNvPr id="11" name="Rectangle 10"/>
          <p:cNvSpPr/>
          <p:nvPr/>
        </p:nvSpPr>
        <p:spPr>
          <a:xfrm>
            <a:off x="777240" y="2788920"/>
            <a:ext cx="10634472" cy="2194560"/>
          </a:xfrm>
          <a:prstGeom prst="rect">
            <a:avLst/>
          </a:prstGeom>
          <a:solidFill>
            <a:srgbClr val="FFFFFF"/>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ectangle 11"/>
          <p:cNvSpPr/>
          <p:nvPr/>
        </p:nvSpPr>
        <p:spPr>
          <a:xfrm>
            <a:off x="777240" y="2788920"/>
            <a:ext cx="91440" cy="219456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1033272" y="2880360"/>
            <a:ext cx="2743200" cy="320040"/>
          </a:xfrm>
          <a:prstGeom prst="rect">
            <a:avLst/>
          </a:prstGeom>
          <a:noFill/>
        </p:spPr>
        <p:txBody>
          <a:bodyPr wrap="square" anchor="t">
            <a:spAutoFit/>
          </a:bodyPr>
          <a:lstStyle/>
          <a:p>
            <a:pPr algn="l">
              <a:spcAft>
                <a:spcPts val="400"/>
              </a:spcAft>
            </a:pPr>
            <a:r>
              <a:rPr sz="1150" b="1">
                <a:solidFill>
                  <a:srgbClr val="1F6FEB"/>
                </a:solidFill>
                <a:latin typeface="Arial"/>
              </a:rPr>
              <a:t>ANALYSIS</a:t>
            </a:r>
          </a:p>
        </p:txBody>
      </p:sp>
      <p:sp>
        <p:nvSpPr>
          <p:cNvPr id="14" name="TextBox 13"/>
          <p:cNvSpPr txBox="1"/>
          <p:nvPr/>
        </p:nvSpPr>
        <p:spPr>
          <a:xfrm>
            <a:off x="1033272" y="3246120"/>
            <a:ext cx="9994392" cy="1645920"/>
          </a:xfrm>
          <a:prstGeom prst="rect">
            <a:avLst/>
          </a:prstGeom>
          <a:noFill/>
        </p:spPr>
        <p:txBody>
          <a:bodyPr wrap="square">
            <a:spAutoFit/>
          </a:bodyPr>
          <a:lstStyle/>
          <a:p>
            <a:pPr>
              <a:spcAft>
                <a:spcPts val="700"/>
              </a:spcAft>
            </a:pPr>
            <a:r>
              <a:rPr sz="1300" b="0">
                <a:solidFill>
                  <a:srgbClr val="161B26"/>
                </a:solidFill>
                <a:latin typeface="Arial"/>
              </a:rPr>
              <a:t>•  Domain 1: the pipeline built and promoted an immutable artifact with a canary stage.</a:t>
            </a:r>
          </a:p>
          <a:p>
            <a:pPr>
              <a:spcAft>
                <a:spcPts val="700"/>
              </a:spcAft>
            </a:pPr>
            <a:r>
              <a:rPr sz="1300" b="0">
                <a:solidFill>
                  <a:srgbClr val="161B26"/>
                </a:solidFill>
                <a:latin typeface="Arial"/>
              </a:rPr>
              <a:t>•  Domain 3/4: canary p99 latency breaches the SLO; the CloudWatch alarm fires within minutes.</a:t>
            </a:r>
          </a:p>
          <a:p>
            <a:pPr>
              <a:spcAft>
                <a:spcPts val="700"/>
              </a:spcAft>
            </a:pPr>
            <a:r>
              <a:rPr sz="1300" b="0">
                <a:solidFill>
                  <a:srgbClr val="161B26"/>
                </a:solidFill>
                <a:latin typeface="Arial"/>
              </a:rPr>
              <a:t>•  Domain 5: the alarm triggers CodeDeploy auto-rollback and notifies the on-call via EventBridge/SNS.</a:t>
            </a:r>
          </a:p>
          <a:p>
            <a:pPr>
              <a:spcAft>
                <a:spcPts val="700"/>
              </a:spcAft>
            </a:pPr>
            <a:r>
              <a:rPr sz="1300" b="0">
                <a:solidFill>
                  <a:srgbClr val="161B26"/>
                </a:solidFill>
                <a:latin typeface="Arial"/>
              </a:rPr>
              <a:t>•  Domain 6: CloudTrail records exactly who changed what, feeding the blameless review.</a:t>
            </a:r>
          </a:p>
          <a:p>
            <a:pPr>
              <a:spcAft>
                <a:spcPts val="700"/>
              </a:spcAft>
            </a:pPr>
            <a:r>
              <a:rPr sz="1300" b="0">
                <a:solidFill>
                  <a:srgbClr val="161B26"/>
                </a:solidFill>
                <a:latin typeface="Arial"/>
              </a:rPr>
              <a:t>•  Domain 2: the durable fix is encoded in the template/config and re-applied, not hand-patched.</a:t>
            </a:r>
          </a:p>
        </p:txBody>
      </p:sp>
      <p:sp>
        <p:nvSpPr>
          <p:cNvPr id="15" name="Rectangle 14"/>
          <p:cNvSpPr/>
          <p:nvPr/>
        </p:nvSpPr>
        <p:spPr>
          <a:xfrm>
            <a:off x="777240" y="5102352"/>
            <a:ext cx="10634472" cy="96012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ectangle 15"/>
          <p:cNvSpPr/>
          <p:nvPr/>
        </p:nvSpPr>
        <p:spPr>
          <a:xfrm>
            <a:off x="777240" y="5102352"/>
            <a:ext cx="91440" cy="9601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1033272" y="5193792"/>
            <a:ext cx="2743200" cy="320040"/>
          </a:xfrm>
          <a:prstGeom prst="rect">
            <a:avLst/>
          </a:prstGeom>
          <a:noFill/>
        </p:spPr>
        <p:txBody>
          <a:bodyPr wrap="square" anchor="t">
            <a:spAutoFit/>
          </a:bodyPr>
          <a:lstStyle/>
          <a:p>
            <a:pPr algn="l">
              <a:spcAft>
                <a:spcPts val="400"/>
              </a:spcAft>
            </a:pPr>
            <a:r>
              <a:rPr sz="1150" b="1">
                <a:solidFill>
                  <a:srgbClr val="10B981"/>
                </a:solidFill>
                <a:latin typeface="Arial"/>
              </a:rPr>
              <a:t>DECISION</a:t>
            </a:r>
          </a:p>
        </p:txBody>
      </p:sp>
      <p:sp>
        <p:nvSpPr>
          <p:cNvPr id="18" name="TextBox 17"/>
          <p:cNvSpPr txBox="1"/>
          <p:nvPr/>
        </p:nvSpPr>
        <p:spPr>
          <a:xfrm>
            <a:off x="1033272" y="5486400"/>
            <a:ext cx="10085832" cy="548640"/>
          </a:xfrm>
          <a:prstGeom prst="rect">
            <a:avLst/>
          </a:prstGeom>
          <a:noFill/>
        </p:spPr>
        <p:txBody>
          <a:bodyPr wrap="square" anchor="t">
            <a:spAutoFit/>
          </a:bodyPr>
          <a:lstStyle/>
          <a:p>
            <a:pPr algn="l">
              <a:spcAft>
                <a:spcPts val="400"/>
              </a:spcAft>
            </a:pPr>
            <a:r>
              <a:rPr sz="1300" b="1">
                <a:solidFill>
                  <a:srgbClr val="161B26"/>
                </a:solidFill>
                <a:latin typeface="Arial"/>
              </a:rPr>
              <a:t>No 2am heroics: the system detects, rolls back and records the event automatically. The follow-up hardens the canary threshold and adds a regression test.</a:t>
            </a:r>
          </a:p>
        </p:txBody>
      </p:sp>
      <p:sp>
        <p:nvSpPr>
          <p:cNvPr id="19" name="TextBox 18"/>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DevOps Engineering on AWS  ·  TGS-2023040474</a:t>
            </a:r>
          </a:p>
        </p:txBody>
      </p:sp>
      <p:sp>
        <p:nvSpPr>
          <p:cNvPr id="20" name="TextBox 19"/>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21" name="TextBox 20"/>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221</a:t>
            </a:r>
          </a:p>
        </p:txBody>
      </p:sp>
    </p:spTree>
  </p:cSld>
  <p:clrMapOvr>
    <a:masterClrMapping/>
  </p:clrMapOvr>
  <p:transition xmlns:p14="http://schemas.microsoft.com/office/powerpoint/2010/main" p14:dur="380">
    <p:fade/>
  </p:transition>
</p:sld>
</file>

<file path=ppt/slides/slide22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38912"/>
            <a:ext cx="10607040" cy="365760"/>
          </a:xfrm>
          <a:prstGeom prst="rect">
            <a:avLst/>
          </a:prstGeom>
          <a:noFill/>
        </p:spPr>
        <p:txBody>
          <a:bodyPr wrap="square" anchor="t">
            <a:spAutoFit/>
          </a:bodyPr>
          <a:lstStyle/>
          <a:p>
            <a:pPr algn="l">
              <a:spcAft>
                <a:spcPts val="400"/>
              </a:spcAft>
            </a:pPr>
            <a:r>
              <a:rPr sz="1400" b="1">
                <a:solidFill>
                  <a:srgbClr val="1F6FEB"/>
                </a:solidFill>
                <a:latin typeface="Arial"/>
              </a:rPr>
              <a:t>MAPPING A NEED ONTO THE DOMAINS</a:t>
            </a:r>
          </a:p>
        </p:txBody>
      </p:sp>
      <p:sp>
        <p:nvSpPr>
          <p:cNvPr id="5" name="TextBox 4"/>
          <p:cNvSpPr txBox="1"/>
          <p:nvPr/>
        </p:nvSpPr>
        <p:spPr>
          <a:xfrm>
            <a:off x="777240" y="896112"/>
            <a:ext cx="10927080" cy="731520"/>
          </a:xfrm>
          <a:prstGeom prst="rect">
            <a:avLst/>
          </a:prstGeom>
          <a:noFill/>
        </p:spPr>
        <p:txBody>
          <a:bodyPr wrap="square" anchor="t">
            <a:spAutoFit/>
          </a:bodyPr>
          <a:lstStyle/>
          <a:p>
            <a:pPr algn="l">
              <a:spcAft>
                <a:spcPts val="400"/>
              </a:spcAft>
            </a:pPr>
            <a:r>
              <a:rPr sz="2500" b="1">
                <a:solidFill>
                  <a:srgbClr val="161B26"/>
                </a:solidFill>
                <a:latin typeface="Arial"/>
              </a:rPr>
              <a:t>From Business Requirement to Six-Domain Design</a:t>
            </a:r>
          </a:p>
        </p:txBody>
      </p:sp>
      <p:sp>
        <p:nvSpPr>
          <p:cNvPr id="6" name="Rectangle 5"/>
          <p:cNvSpPr/>
          <p:nvPr/>
        </p:nvSpPr>
        <p:spPr>
          <a:xfrm>
            <a:off x="777240" y="1572768"/>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783080"/>
            <a:ext cx="4253788" cy="765810"/>
          </a:xfrm>
          <a:prstGeom prst="rect">
            <a:avLst/>
          </a:prstGeom>
          <a:solidFill>
            <a:srgbClr val="F5F8FC"/>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1783080"/>
            <a:ext cx="73152" cy="76581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5031028" y="1783080"/>
            <a:ext cx="6380684" cy="765810"/>
          </a:xfrm>
          <a:prstGeom prst="rect">
            <a:avLst/>
          </a:prstGeom>
          <a:solidFill>
            <a:srgbClr val="F5F8FC"/>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978408" y="1783080"/>
            <a:ext cx="3933748" cy="765810"/>
          </a:xfrm>
          <a:prstGeom prst="rect">
            <a:avLst/>
          </a:prstGeom>
          <a:noFill/>
        </p:spPr>
        <p:txBody>
          <a:bodyPr wrap="square" anchor="ctr">
            <a:spAutoFit/>
          </a:bodyPr>
          <a:lstStyle/>
          <a:p>
            <a:pPr algn="l">
              <a:spcAft>
                <a:spcPts val="400"/>
              </a:spcAft>
            </a:pPr>
            <a:r>
              <a:rPr sz="1250" b="1">
                <a:solidFill>
                  <a:srgbClr val="161B26"/>
                </a:solidFill>
                <a:latin typeface="Arial"/>
              </a:rPr>
              <a:t>'Ship weekly without downtime'</a:t>
            </a:r>
          </a:p>
        </p:txBody>
      </p:sp>
      <p:sp>
        <p:nvSpPr>
          <p:cNvPr id="11" name="TextBox 10"/>
          <p:cNvSpPr txBox="1"/>
          <p:nvPr/>
        </p:nvSpPr>
        <p:spPr>
          <a:xfrm>
            <a:off x="5213908" y="1783080"/>
            <a:ext cx="6060644" cy="765810"/>
          </a:xfrm>
          <a:prstGeom prst="rect">
            <a:avLst/>
          </a:prstGeom>
          <a:noFill/>
        </p:spPr>
        <p:txBody>
          <a:bodyPr wrap="square" anchor="ctr">
            <a:spAutoFit/>
          </a:bodyPr>
          <a:lstStyle/>
          <a:p>
            <a:pPr algn="l">
              <a:spcAft>
                <a:spcPts val="400"/>
              </a:spcAft>
            </a:pPr>
            <a:r>
              <a:rPr sz="1200" b="0">
                <a:solidFill>
                  <a:srgbClr val="5B6372"/>
                </a:solidFill>
                <a:latin typeface="Arial"/>
              </a:rPr>
              <a:t>Domain 1 CI/CD + blue/green; Domain 3 multi-AZ so releases don't drop traffic.</a:t>
            </a:r>
          </a:p>
        </p:txBody>
      </p:sp>
      <p:sp>
        <p:nvSpPr>
          <p:cNvPr id="12" name="Rectangle 11"/>
          <p:cNvSpPr/>
          <p:nvPr/>
        </p:nvSpPr>
        <p:spPr>
          <a:xfrm>
            <a:off x="777240" y="2548890"/>
            <a:ext cx="4253788" cy="765810"/>
          </a:xfrm>
          <a:prstGeom prst="rect">
            <a:avLst/>
          </a:prstGeom>
          <a:solidFill>
            <a:srgbClr val="FFFFFF"/>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777240" y="2548890"/>
            <a:ext cx="73152" cy="76581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ectangle 13"/>
          <p:cNvSpPr/>
          <p:nvPr/>
        </p:nvSpPr>
        <p:spPr>
          <a:xfrm>
            <a:off x="5031028" y="2548890"/>
            <a:ext cx="6380684" cy="765810"/>
          </a:xfrm>
          <a:prstGeom prst="rect">
            <a:avLst/>
          </a:prstGeom>
          <a:solidFill>
            <a:srgbClr val="FFFFFF"/>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978408" y="2548890"/>
            <a:ext cx="3933748" cy="765810"/>
          </a:xfrm>
          <a:prstGeom prst="rect">
            <a:avLst/>
          </a:prstGeom>
          <a:noFill/>
        </p:spPr>
        <p:txBody>
          <a:bodyPr wrap="square" anchor="ctr">
            <a:spAutoFit/>
          </a:bodyPr>
          <a:lstStyle/>
          <a:p>
            <a:pPr algn="l">
              <a:spcAft>
                <a:spcPts val="400"/>
              </a:spcAft>
            </a:pPr>
            <a:r>
              <a:rPr sz="1250" b="1">
                <a:solidFill>
                  <a:srgbClr val="161B26"/>
                </a:solidFill>
                <a:latin typeface="Arial"/>
              </a:rPr>
              <a:t>'Recover an AZ loss in minutes'</a:t>
            </a:r>
          </a:p>
        </p:txBody>
      </p:sp>
      <p:sp>
        <p:nvSpPr>
          <p:cNvPr id="16" name="TextBox 15"/>
          <p:cNvSpPr txBox="1"/>
          <p:nvPr/>
        </p:nvSpPr>
        <p:spPr>
          <a:xfrm>
            <a:off x="5213908" y="2548890"/>
            <a:ext cx="6060644" cy="765810"/>
          </a:xfrm>
          <a:prstGeom prst="rect">
            <a:avLst/>
          </a:prstGeom>
          <a:noFill/>
        </p:spPr>
        <p:txBody>
          <a:bodyPr wrap="square" anchor="ctr">
            <a:spAutoFit/>
          </a:bodyPr>
          <a:lstStyle/>
          <a:p>
            <a:pPr algn="l">
              <a:spcAft>
                <a:spcPts val="400"/>
              </a:spcAft>
            </a:pPr>
            <a:r>
              <a:rPr sz="1200" b="0">
                <a:solidFill>
                  <a:srgbClr val="5B6372"/>
                </a:solidFill>
                <a:latin typeface="Arial"/>
              </a:rPr>
              <a:t>Domain 3 Multi-AZ ASG + RDS failover; Domain 4 alarms to confirm health.</a:t>
            </a:r>
          </a:p>
        </p:txBody>
      </p:sp>
      <p:sp>
        <p:nvSpPr>
          <p:cNvPr id="17" name="Rectangle 16"/>
          <p:cNvSpPr/>
          <p:nvPr/>
        </p:nvSpPr>
        <p:spPr>
          <a:xfrm>
            <a:off x="777240" y="3314700"/>
            <a:ext cx="4253788" cy="765810"/>
          </a:xfrm>
          <a:prstGeom prst="rect">
            <a:avLst/>
          </a:prstGeom>
          <a:solidFill>
            <a:srgbClr val="F5F8FC"/>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777240" y="3314700"/>
            <a:ext cx="73152" cy="76581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Rectangle 18"/>
          <p:cNvSpPr/>
          <p:nvPr/>
        </p:nvSpPr>
        <p:spPr>
          <a:xfrm>
            <a:off x="5031028" y="3314700"/>
            <a:ext cx="6380684" cy="765810"/>
          </a:xfrm>
          <a:prstGeom prst="rect">
            <a:avLst/>
          </a:prstGeom>
          <a:solidFill>
            <a:srgbClr val="F5F8FC"/>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978408" y="3314700"/>
            <a:ext cx="3933748" cy="765810"/>
          </a:xfrm>
          <a:prstGeom prst="rect">
            <a:avLst/>
          </a:prstGeom>
          <a:noFill/>
        </p:spPr>
        <p:txBody>
          <a:bodyPr wrap="square" anchor="ctr">
            <a:spAutoFit/>
          </a:bodyPr>
          <a:lstStyle/>
          <a:p>
            <a:pPr algn="l">
              <a:spcAft>
                <a:spcPts val="400"/>
              </a:spcAft>
            </a:pPr>
            <a:r>
              <a:rPr sz="1250" b="1">
                <a:solidFill>
                  <a:srgbClr val="161B26"/>
                </a:solidFill>
                <a:latin typeface="Arial"/>
              </a:rPr>
              <a:t>'Know within a minute when it breaks'</a:t>
            </a:r>
          </a:p>
        </p:txBody>
      </p:sp>
      <p:sp>
        <p:nvSpPr>
          <p:cNvPr id="21" name="TextBox 20"/>
          <p:cNvSpPr txBox="1"/>
          <p:nvPr/>
        </p:nvSpPr>
        <p:spPr>
          <a:xfrm>
            <a:off x="5213908" y="3314700"/>
            <a:ext cx="6060644" cy="765810"/>
          </a:xfrm>
          <a:prstGeom prst="rect">
            <a:avLst/>
          </a:prstGeom>
          <a:noFill/>
        </p:spPr>
        <p:txBody>
          <a:bodyPr wrap="square" anchor="ctr">
            <a:spAutoFit/>
          </a:bodyPr>
          <a:lstStyle/>
          <a:p>
            <a:pPr algn="l">
              <a:spcAft>
                <a:spcPts val="400"/>
              </a:spcAft>
            </a:pPr>
            <a:r>
              <a:rPr sz="1200" b="0">
                <a:solidFill>
                  <a:srgbClr val="5B6372"/>
                </a:solidFill>
                <a:latin typeface="Arial"/>
              </a:rPr>
              <a:t>Domain 4 golden-signal alarms; Domain 5 event-driven notify + remediate.</a:t>
            </a:r>
          </a:p>
        </p:txBody>
      </p:sp>
      <p:sp>
        <p:nvSpPr>
          <p:cNvPr id="22" name="Rectangle 21"/>
          <p:cNvSpPr/>
          <p:nvPr/>
        </p:nvSpPr>
        <p:spPr>
          <a:xfrm>
            <a:off x="777240" y="4080510"/>
            <a:ext cx="4253788" cy="765810"/>
          </a:xfrm>
          <a:prstGeom prst="rect">
            <a:avLst/>
          </a:prstGeom>
          <a:solidFill>
            <a:srgbClr val="FFFFFF"/>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ectangle 22"/>
          <p:cNvSpPr/>
          <p:nvPr/>
        </p:nvSpPr>
        <p:spPr>
          <a:xfrm>
            <a:off x="777240" y="4080510"/>
            <a:ext cx="73152" cy="76581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Rectangle 23"/>
          <p:cNvSpPr/>
          <p:nvPr/>
        </p:nvSpPr>
        <p:spPr>
          <a:xfrm>
            <a:off x="5031028" y="4080510"/>
            <a:ext cx="6380684" cy="765810"/>
          </a:xfrm>
          <a:prstGeom prst="rect">
            <a:avLst/>
          </a:prstGeom>
          <a:solidFill>
            <a:srgbClr val="FFFFFF"/>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978408" y="4080510"/>
            <a:ext cx="3933748" cy="765810"/>
          </a:xfrm>
          <a:prstGeom prst="rect">
            <a:avLst/>
          </a:prstGeom>
          <a:noFill/>
        </p:spPr>
        <p:txBody>
          <a:bodyPr wrap="square" anchor="ctr">
            <a:spAutoFit/>
          </a:bodyPr>
          <a:lstStyle/>
          <a:p>
            <a:pPr algn="l">
              <a:spcAft>
                <a:spcPts val="400"/>
              </a:spcAft>
            </a:pPr>
            <a:r>
              <a:rPr sz="1250" b="1">
                <a:solidFill>
                  <a:srgbClr val="161B26"/>
                </a:solidFill>
                <a:latin typeface="Arial"/>
              </a:rPr>
              <a:t>'Prove we are compliant'</a:t>
            </a:r>
          </a:p>
        </p:txBody>
      </p:sp>
      <p:sp>
        <p:nvSpPr>
          <p:cNvPr id="26" name="TextBox 25"/>
          <p:cNvSpPr txBox="1"/>
          <p:nvPr/>
        </p:nvSpPr>
        <p:spPr>
          <a:xfrm>
            <a:off x="5213908" y="4080510"/>
            <a:ext cx="6060644" cy="765810"/>
          </a:xfrm>
          <a:prstGeom prst="rect">
            <a:avLst/>
          </a:prstGeom>
          <a:noFill/>
        </p:spPr>
        <p:txBody>
          <a:bodyPr wrap="square" anchor="ctr">
            <a:spAutoFit/>
          </a:bodyPr>
          <a:lstStyle/>
          <a:p>
            <a:pPr algn="l">
              <a:spcAft>
                <a:spcPts val="400"/>
              </a:spcAft>
            </a:pPr>
            <a:r>
              <a:rPr sz="1200" b="0">
                <a:solidFill>
                  <a:srgbClr val="5B6372"/>
                </a:solidFill>
                <a:latin typeface="Arial"/>
              </a:rPr>
              <a:t>Domain 6 Config + CloudTrail; Domain 2 guardrails as code in every account.</a:t>
            </a:r>
          </a:p>
        </p:txBody>
      </p:sp>
      <p:sp>
        <p:nvSpPr>
          <p:cNvPr id="27" name="Rectangle 26"/>
          <p:cNvSpPr/>
          <p:nvPr/>
        </p:nvSpPr>
        <p:spPr>
          <a:xfrm>
            <a:off x="777240" y="5010912"/>
            <a:ext cx="10634472" cy="86868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Rectangle 27"/>
          <p:cNvSpPr/>
          <p:nvPr/>
        </p:nvSpPr>
        <p:spPr>
          <a:xfrm>
            <a:off x="777240" y="5010912"/>
            <a:ext cx="91440" cy="86868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TextBox 28"/>
          <p:cNvSpPr txBox="1"/>
          <p:nvPr/>
        </p:nvSpPr>
        <p:spPr>
          <a:xfrm>
            <a:off x="1033272" y="5102352"/>
            <a:ext cx="2743200" cy="320040"/>
          </a:xfrm>
          <a:prstGeom prst="rect">
            <a:avLst/>
          </a:prstGeom>
          <a:noFill/>
        </p:spPr>
        <p:txBody>
          <a:bodyPr wrap="square" anchor="t">
            <a:spAutoFit/>
          </a:bodyPr>
          <a:lstStyle/>
          <a:p>
            <a:pPr algn="l">
              <a:spcAft>
                <a:spcPts val="400"/>
              </a:spcAft>
            </a:pPr>
            <a:r>
              <a:rPr sz="1150" b="1">
                <a:solidFill>
                  <a:srgbClr val="10B981"/>
                </a:solidFill>
                <a:latin typeface="Arial"/>
              </a:rPr>
              <a:t>TAKEAWAY</a:t>
            </a:r>
          </a:p>
        </p:txBody>
      </p:sp>
      <p:sp>
        <p:nvSpPr>
          <p:cNvPr id="30" name="TextBox 29"/>
          <p:cNvSpPr txBox="1"/>
          <p:nvPr/>
        </p:nvSpPr>
        <p:spPr>
          <a:xfrm>
            <a:off x="1033272" y="5394960"/>
            <a:ext cx="10085832" cy="457200"/>
          </a:xfrm>
          <a:prstGeom prst="rect">
            <a:avLst/>
          </a:prstGeom>
          <a:noFill/>
        </p:spPr>
        <p:txBody>
          <a:bodyPr wrap="square" anchor="t">
            <a:spAutoFit/>
          </a:bodyPr>
          <a:lstStyle/>
          <a:p>
            <a:pPr algn="l">
              <a:spcAft>
                <a:spcPts val="400"/>
              </a:spcAft>
            </a:pPr>
            <a:r>
              <a:rPr sz="1300" b="1">
                <a:solidFill>
                  <a:srgbClr val="161B26"/>
                </a:solidFill>
                <a:latin typeface="Arial"/>
              </a:rPr>
              <a:t>Real requirements cut across domains — a competent DevOps engineer composes controls from all six into one coherent design.</a:t>
            </a:r>
          </a:p>
        </p:txBody>
      </p:sp>
      <p:sp>
        <p:nvSpPr>
          <p:cNvPr id="31" name="TextBox 30"/>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DevOps Engineering on AWS  ·  TGS-2023040474</a:t>
            </a:r>
          </a:p>
        </p:txBody>
      </p:sp>
      <p:sp>
        <p:nvSpPr>
          <p:cNvPr id="32" name="TextBox 31"/>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33" name="TextBox 32"/>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222</a:t>
            </a:r>
          </a:p>
        </p:txBody>
      </p:sp>
    </p:spTree>
  </p:cSld>
  <p:clrMapOvr>
    <a:masterClrMapping/>
  </p:clrMapOvr>
  <p:transition xmlns:p14="http://schemas.microsoft.com/office/powerpoint/2010/main" p14:dur="380">
    <p:fade/>
  </p:transition>
</p:sld>
</file>

<file path=ppt/slides/slide22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38912"/>
            <a:ext cx="10607040" cy="365760"/>
          </a:xfrm>
          <a:prstGeom prst="rect">
            <a:avLst/>
          </a:prstGeom>
          <a:noFill/>
        </p:spPr>
        <p:txBody>
          <a:bodyPr wrap="square" anchor="t">
            <a:spAutoFit/>
          </a:bodyPr>
          <a:lstStyle/>
          <a:p>
            <a:pPr algn="l">
              <a:spcAft>
                <a:spcPts val="400"/>
              </a:spcAft>
            </a:pPr>
            <a:r>
              <a:rPr sz="1400" b="1">
                <a:solidFill>
                  <a:srgbClr val="1F6FEB"/>
                </a:solidFill>
                <a:latin typeface="Arial"/>
              </a:rPr>
              <a:t>A RECURRING DEVOPS TRADE-OFF</a:t>
            </a:r>
          </a:p>
        </p:txBody>
      </p:sp>
      <p:sp>
        <p:nvSpPr>
          <p:cNvPr id="5" name="TextBox 4"/>
          <p:cNvSpPr txBox="1"/>
          <p:nvPr/>
        </p:nvSpPr>
        <p:spPr>
          <a:xfrm>
            <a:off x="777240" y="896112"/>
            <a:ext cx="10927080" cy="731520"/>
          </a:xfrm>
          <a:prstGeom prst="rect">
            <a:avLst/>
          </a:prstGeom>
          <a:noFill/>
        </p:spPr>
        <p:txBody>
          <a:bodyPr wrap="square" anchor="t">
            <a:spAutoFit/>
          </a:bodyPr>
          <a:lstStyle/>
          <a:p>
            <a:pPr algn="l">
              <a:spcAft>
                <a:spcPts val="400"/>
              </a:spcAft>
            </a:pPr>
            <a:r>
              <a:rPr sz="2500" b="1">
                <a:solidFill>
                  <a:srgbClr val="161B26"/>
                </a:solidFill>
                <a:latin typeface="Arial"/>
              </a:rPr>
              <a:t>Decision — Build It Yourself or Use a Managed Service?</a:t>
            </a:r>
          </a:p>
        </p:txBody>
      </p:sp>
      <p:sp>
        <p:nvSpPr>
          <p:cNvPr id="6" name="Rectangle 5"/>
          <p:cNvSpPr/>
          <p:nvPr/>
        </p:nvSpPr>
        <p:spPr>
          <a:xfrm>
            <a:off x="777240" y="1572768"/>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783080"/>
            <a:ext cx="3337560" cy="429768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1783080"/>
            <a:ext cx="3337560" cy="109728"/>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1033272" y="2057400"/>
            <a:ext cx="457200" cy="457200"/>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033272" y="2057400"/>
            <a:ext cx="457200" cy="457200"/>
          </a:xfrm>
          <a:prstGeom prst="rect">
            <a:avLst/>
          </a:prstGeom>
          <a:noFill/>
        </p:spPr>
        <p:txBody>
          <a:bodyPr wrap="square" anchor="ctr">
            <a:spAutoFit/>
          </a:bodyPr>
          <a:lstStyle/>
          <a:p>
            <a:pPr algn="ctr">
              <a:spcAft>
                <a:spcPts val="400"/>
              </a:spcAft>
            </a:pPr>
            <a:r>
              <a:rPr sz="2000" b="1">
                <a:solidFill>
                  <a:srgbClr val="FFFFFF"/>
                </a:solidFill>
                <a:latin typeface="Arial"/>
              </a:rPr>
              <a:t>A</a:t>
            </a:r>
          </a:p>
        </p:txBody>
      </p:sp>
      <p:sp>
        <p:nvSpPr>
          <p:cNvPr id="11" name="TextBox 10"/>
          <p:cNvSpPr txBox="1"/>
          <p:nvPr/>
        </p:nvSpPr>
        <p:spPr>
          <a:xfrm>
            <a:off x="1645920" y="2084831"/>
            <a:ext cx="2286000" cy="640080"/>
          </a:xfrm>
          <a:prstGeom prst="rect">
            <a:avLst/>
          </a:prstGeom>
          <a:noFill/>
        </p:spPr>
        <p:txBody>
          <a:bodyPr wrap="square" anchor="ctr">
            <a:spAutoFit/>
          </a:bodyPr>
          <a:lstStyle/>
          <a:p>
            <a:pPr algn="l">
              <a:spcAft>
                <a:spcPts val="400"/>
              </a:spcAft>
            </a:pPr>
            <a:r>
              <a:rPr sz="1450" b="1">
                <a:solidFill>
                  <a:srgbClr val="1F6FEB"/>
                </a:solidFill>
                <a:latin typeface="Arial"/>
              </a:rPr>
              <a:t>Managed service</a:t>
            </a:r>
          </a:p>
        </p:txBody>
      </p:sp>
      <p:sp>
        <p:nvSpPr>
          <p:cNvPr id="12" name="TextBox 11"/>
          <p:cNvSpPr txBox="1"/>
          <p:nvPr/>
        </p:nvSpPr>
        <p:spPr>
          <a:xfrm>
            <a:off x="1033272" y="2788920"/>
            <a:ext cx="2880360" cy="3108960"/>
          </a:xfrm>
          <a:prstGeom prst="rect">
            <a:avLst/>
          </a:prstGeom>
          <a:noFill/>
        </p:spPr>
        <p:txBody>
          <a:bodyPr wrap="square" anchor="t">
            <a:spAutoFit/>
          </a:bodyPr>
          <a:lstStyle/>
          <a:p>
            <a:pPr algn="l">
              <a:spcAft>
                <a:spcPts val="400"/>
              </a:spcAft>
            </a:pPr>
            <a:r>
              <a:rPr sz="1250" b="0">
                <a:solidFill>
                  <a:srgbClr val="161B26"/>
                </a:solidFill>
                <a:latin typeface="Arial"/>
              </a:rPr>
              <a:t>Default choice. Less undifferentiated heavy lifting (e.g. RDS vs self-run DB) — at higher unit cost and less control.</a:t>
            </a:r>
          </a:p>
        </p:txBody>
      </p:sp>
      <p:sp>
        <p:nvSpPr>
          <p:cNvPr id="13" name="Rectangle 12"/>
          <p:cNvSpPr/>
          <p:nvPr/>
        </p:nvSpPr>
        <p:spPr>
          <a:xfrm>
            <a:off x="4572000" y="1783080"/>
            <a:ext cx="3337560" cy="429768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ectangle 13"/>
          <p:cNvSpPr/>
          <p:nvPr/>
        </p:nvSpPr>
        <p:spPr>
          <a:xfrm>
            <a:off x="4572000" y="1783080"/>
            <a:ext cx="3337560" cy="109728"/>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Oval 14"/>
          <p:cNvSpPr/>
          <p:nvPr/>
        </p:nvSpPr>
        <p:spPr>
          <a:xfrm>
            <a:off x="4828032" y="2057400"/>
            <a:ext cx="457200" cy="457200"/>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4828032" y="2057400"/>
            <a:ext cx="457200" cy="457200"/>
          </a:xfrm>
          <a:prstGeom prst="rect">
            <a:avLst/>
          </a:prstGeom>
          <a:noFill/>
        </p:spPr>
        <p:txBody>
          <a:bodyPr wrap="square" anchor="ctr">
            <a:spAutoFit/>
          </a:bodyPr>
          <a:lstStyle/>
          <a:p>
            <a:pPr algn="ctr">
              <a:spcAft>
                <a:spcPts val="400"/>
              </a:spcAft>
            </a:pPr>
            <a:r>
              <a:rPr sz="2000" b="1">
                <a:solidFill>
                  <a:srgbClr val="FFFFFF"/>
                </a:solidFill>
                <a:latin typeface="Arial"/>
              </a:rPr>
              <a:t>B</a:t>
            </a:r>
          </a:p>
        </p:txBody>
      </p:sp>
      <p:sp>
        <p:nvSpPr>
          <p:cNvPr id="17" name="TextBox 16"/>
          <p:cNvSpPr txBox="1"/>
          <p:nvPr/>
        </p:nvSpPr>
        <p:spPr>
          <a:xfrm>
            <a:off x="5440680" y="2084831"/>
            <a:ext cx="2286000" cy="640080"/>
          </a:xfrm>
          <a:prstGeom prst="rect">
            <a:avLst/>
          </a:prstGeom>
          <a:noFill/>
        </p:spPr>
        <p:txBody>
          <a:bodyPr wrap="square" anchor="ctr">
            <a:spAutoFit/>
          </a:bodyPr>
          <a:lstStyle/>
          <a:p>
            <a:pPr algn="l">
              <a:spcAft>
                <a:spcPts val="400"/>
              </a:spcAft>
            </a:pPr>
            <a:r>
              <a:rPr sz="1450" b="1">
                <a:solidFill>
                  <a:srgbClr val="7C3AED"/>
                </a:solidFill>
                <a:latin typeface="Arial"/>
              </a:rPr>
              <a:t>Self-managed on EC2</a:t>
            </a:r>
          </a:p>
        </p:txBody>
      </p:sp>
      <p:sp>
        <p:nvSpPr>
          <p:cNvPr id="18" name="TextBox 17"/>
          <p:cNvSpPr txBox="1"/>
          <p:nvPr/>
        </p:nvSpPr>
        <p:spPr>
          <a:xfrm>
            <a:off x="4828032" y="2788920"/>
            <a:ext cx="2880360" cy="3108960"/>
          </a:xfrm>
          <a:prstGeom prst="rect">
            <a:avLst/>
          </a:prstGeom>
          <a:noFill/>
        </p:spPr>
        <p:txBody>
          <a:bodyPr wrap="square" anchor="t">
            <a:spAutoFit/>
          </a:bodyPr>
          <a:lstStyle/>
          <a:p>
            <a:pPr algn="l">
              <a:spcAft>
                <a:spcPts val="400"/>
              </a:spcAft>
            </a:pPr>
            <a:r>
              <a:rPr sz="1250" b="0">
                <a:solidFill>
                  <a:srgbClr val="161B26"/>
                </a:solidFill>
                <a:latin typeface="Arial"/>
              </a:rPr>
              <a:t>Only when you need control the managed option can't give (custom kernel, licensing). More ops burden and patching you own.</a:t>
            </a:r>
          </a:p>
        </p:txBody>
      </p:sp>
      <p:sp>
        <p:nvSpPr>
          <p:cNvPr id="19" name="Rectangle 18"/>
          <p:cNvSpPr/>
          <p:nvPr/>
        </p:nvSpPr>
        <p:spPr>
          <a:xfrm>
            <a:off x="8366760" y="1783080"/>
            <a:ext cx="3337560" cy="429768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Rectangle 19"/>
          <p:cNvSpPr/>
          <p:nvPr/>
        </p:nvSpPr>
        <p:spPr>
          <a:xfrm>
            <a:off x="8366760" y="1783080"/>
            <a:ext cx="3337560" cy="109728"/>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Oval 20"/>
          <p:cNvSpPr/>
          <p:nvPr/>
        </p:nvSpPr>
        <p:spPr>
          <a:xfrm>
            <a:off x="8622792" y="2057400"/>
            <a:ext cx="457200" cy="45720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8622792" y="2057400"/>
            <a:ext cx="457200" cy="457200"/>
          </a:xfrm>
          <a:prstGeom prst="rect">
            <a:avLst/>
          </a:prstGeom>
          <a:noFill/>
        </p:spPr>
        <p:txBody>
          <a:bodyPr wrap="square" anchor="ctr">
            <a:spAutoFit/>
          </a:bodyPr>
          <a:lstStyle/>
          <a:p>
            <a:pPr algn="ctr">
              <a:spcAft>
                <a:spcPts val="400"/>
              </a:spcAft>
            </a:pPr>
            <a:r>
              <a:rPr sz="2000" b="1">
                <a:solidFill>
                  <a:srgbClr val="FFFFFF"/>
                </a:solidFill>
                <a:latin typeface="Arial"/>
              </a:rPr>
              <a:t>C</a:t>
            </a:r>
          </a:p>
        </p:txBody>
      </p:sp>
      <p:sp>
        <p:nvSpPr>
          <p:cNvPr id="23" name="TextBox 22"/>
          <p:cNvSpPr txBox="1"/>
          <p:nvPr/>
        </p:nvSpPr>
        <p:spPr>
          <a:xfrm>
            <a:off x="9235440" y="2084831"/>
            <a:ext cx="2286000" cy="640080"/>
          </a:xfrm>
          <a:prstGeom prst="rect">
            <a:avLst/>
          </a:prstGeom>
          <a:noFill/>
        </p:spPr>
        <p:txBody>
          <a:bodyPr wrap="square" anchor="ctr">
            <a:spAutoFit/>
          </a:bodyPr>
          <a:lstStyle/>
          <a:p>
            <a:pPr algn="l">
              <a:spcAft>
                <a:spcPts val="400"/>
              </a:spcAft>
            </a:pPr>
            <a:r>
              <a:rPr sz="1450" b="1">
                <a:solidFill>
                  <a:srgbClr val="10B981"/>
                </a:solidFill>
                <a:latin typeface="Arial"/>
              </a:rPr>
              <a:t>Serverless-first</a:t>
            </a:r>
          </a:p>
        </p:txBody>
      </p:sp>
      <p:sp>
        <p:nvSpPr>
          <p:cNvPr id="24" name="TextBox 23"/>
          <p:cNvSpPr txBox="1"/>
          <p:nvPr/>
        </p:nvSpPr>
        <p:spPr>
          <a:xfrm>
            <a:off x="8622792" y="2788920"/>
            <a:ext cx="2880360" cy="3108960"/>
          </a:xfrm>
          <a:prstGeom prst="rect">
            <a:avLst/>
          </a:prstGeom>
          <a:noFill/>
        </p:spPr>
        <p:txBody>
          <a:bodyPr wrap="square" anchor="t">
            <a:spAutoFit/>
          </a:bodyPr>
          <a:lstStyle/>
          <a:p>
            <a:pPr algn="l">
              <a:spcAft>
                <a:spcPts val="400"/>
              </a:spcAft>
            </a:pPr>
            <a:r>
              <a:rPr sz="1250" b="0">
                <a:solidFill>
                  <a:srgbClr val="161B26"/>
                </a:solidFill>
                <a:latin typeface="Arial"/>
              </a:rPr>
              <a:t>For spiky, event-driven work. Pay-per-use and minimal ops — within the service's limits and cold-start profile.</a:t>
            </a:r>
          </a:p>
        </p:txBody>
      </p:sp>
      <p:sp>
        <p:nvSpPr>
          <p:cNvPr id="25" name="TextBox 24"/>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DevOps Engineering on AWS  ·  TGS-2023040474</a:t>
            </a:r>
          </a:p>
        </p:txBody>
      </p:sp>
      <p:sp>
        <p:nvSpPr>
          <p:cNvPr id="26" name="TextBox 25"/>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27" name="TextBox 26"/>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223</a:t>
            </a:r>
          </a:p>
        </p:txBody>
      </p:sp>
    </p:spTree>
  </p:cSld>
  <p:clrMapOvr>
    <a:masterClrMapping/>
  </p:clrMapOvr>
  <p:transition xmlns:p14="http://schemas.microsoft.com/office/powerpoint/2010/main" p14:dur="380">
    <p:fade/>
  </p:transition>
</p:sld>
</file>

<file path=ppt/slides/slide22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685800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777240" y="2286000"/>
            <a:ext cx="128016" cy="182880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1143000" y="2331720"/>
            <a:ext cx="10058400" cy="548640"/>
          </a:xfrm>
          <a:prstGeom prst="rect">
            <a:avLst/>
          </a:prstGeom>
          <a:noFill/>
        </p:spPr>
        <p:txBody>
          <a:bodyPr wrap="square" anchor="t">
            <a:spAutoFit/>
          </a:bodyPr>
          <a:lstStyle/>
          <a:p>
            <a:pPr algn="l">
              <a:spcAft>
                <a:spcPts val="400"/>
              </a:spcAft>
            </a:pPr>
            <a:r>
              <a:rPr sz="1800" b="1">
                <a:solidFill>
                  <a:srgbClr val="1F6FEB"/>
                </a:solidFill>
                <a:latin typeface="Arial"/>
              </a:rPr>
              <a:t>WRAP-UP</a:t>
            </a:r>
          </a:p>
        </p:txBody>
      </p:sp>
      <p:sp>
        <p:nvSpPr>
          <p:cNvPr id="6" name="TextBox 5"/>
          <p:cNvSpPr txBox="1"/>
          <p:nvPr/>
        </p:nvSpPr>
        <p:spPr>
          <a:xfrm>
            <a:off x="1143000" y="2743200"/>
            <a:ext cx="10424160" cy="1463040"/>
          </a:xfrm>
          <a:prstGeom prst="rect">
            <a:avLst/>
          </a:prstGeom>
          <a:noFill/>
        </p:spPr>
        <p:txBody>
          <a:bodyPr wrap="square" anchor="t">
            <a:spAutoFit/>
          </a:bodyPr>
          <a:lstStyle/>
          <a:p>
            <a:pPr algn="l">
              <a:spcAft>
                <a:spcPts val="400"/>
              </a:spcAft>
            </a:pPr>
            <a:r>
              <a:rPr sz="4000" b="1">
                <a:solidFill>
                  <a:srgbClr val="161B26"/>
                </a:solidFill>
                <a:latin typeface="Arial"/>
              </a:rPr>
              <a:t>Course Summary &amp; Next Steps</a:t>
            </a:r>
          </a:p>
        </p:txBody>
      </p:sp>
      <p:sp>
        <p:nvSpPr>
          <p:cNvPr id="7" name="TextBox 6"/>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DevOps Engineering on AWS  ·  TGS-2023040474</a:t>
            </a:r>
          </a:p>
        </p:txBody>
      </p:sp>
      <p:sp>
        <p:nvSpPr>
          <p:cNvPr id="8" name="TextBox 7"/>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9" name="TextBox 8"/>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224</a:t>
            </a:r>
          </a:p>
        </p:txBody>
      </p:sp>
    </p:spTree>
  </p:cSld>
  <p:clrMapOvr>
    <a:masterClrMapping/>
  </p:clrMapOvr>
  <p:transition xmlns:p14="http://schemas.microsoft.com/office/powerpoint/2010/main" p14:dur="380">
    <p:fade/>
  </p:transition>
</p:sld>
</file>

<file path=ppt/slides/slide22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38912"/>
            <a:ext cx="10607040" cy="365760"/>
          </a:xfrm>
          <a:prstGeom prst="rect">
            <a:avLst/>
          </a:prstGeom>
          <a:noFill/>
        </p:spPr>
        <p:txBody>
          <a:bodyPr wrap="square" anchor="t">
            <a:spAutoFit/>
          </a:bodyPr>
          <a:lstStyle/>
          <a:p>
            <a:pPr algn="l">
              <a:spcAft>
                <a:spcPts val="400"/>
              </a:spcAft>
            </a:pPr>
            <a:r>
              <a:rPr sz="1400" b="1">
                <a:solidFill>
                  <a:srgbClr val="1F6FEB"/>
                </a:solidFill>
                <a:latin typeface="Arial"/>
              </a:rPr>
              <a:t>LEARNING OUTCOMES</a:t>
            </a:r>
          </a:p>
        </p:txBody>
      </p:sp>
      <p:sp>
        <p:nvSpPr>
          <p:cNvPr id="5" name="TextBox 4"/>
          <p:cNvSpPr txBox="1"/>
          <p:nvPr/>
        </p:nvSpPr>
        <p:spPr>
          <a:xfrm>
            <a:off x="777240" y="804672"/>
            <a:ext cx="10927080" cy="731520"/>
          </a:xfrm>
          <a:prstGeom prst="rect">
            <a:avLst/>
          </a:prstGeom>
          <a:noFill/>
        </p:spPr>
        <p:txBody>
          <a:bodyPr wrap="square" anchor="t">
            <a:spAutoFit/>
          </a:bodyPr>
          <a:lstStyle/>
          <a:p>
            <a:pPr algn="l">
              <a:spcAft>
                <a:spcPts val="400"/>
              </a:spcAft>
            </a:pPr>
            <a:r>
              <a:rPr sz="2900" b="1">
                <a:solidFill>
                  <a:srgbClr val="161B26"/>
                </a:solidFill>
                <a:latin typeface="Arial"/>
              </a:rPr>
              <a:t>What You Achieved</a:t>
            </a:r>
          </a:p>
        </p:txBody>
      </p:sp>
      <p:sp>
        <p:nvSpPr>
          <p:cNvPr id="6" name="Rectangle 5"/>
          <p:cNvSpPr/>
          <p:nvPr/>
        </p:nvSpPr>
        <p:spPr>
          <a:xfrm>
            <a:off x="777240" y="1572768"/>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783080"/>
            <a:ext cx="5180076" cy="131064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1783080"/>
            <a:ext cx="91440" cy="131064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1033272" y="2164080"/>
            <a:ext cx="548640" cy="548640"/>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033272" y="2164080"/>
            <a:ext cx="548640" cy="548640"/>
          </a:xfrm>
          <a:prstGeom prst="rect">
            <a:avLst/>
          </a:prstGeom>
          <a:noFill/>
        </p:spPr>
        <p:txBody>
          <a:bodyPr wrap="square" anchor="ctr">
            <a:spAutoFit/>
          </a:bodyPr>
          <a:lstStyle/>
          <a:p>
            <a:pPr algn="ctr">
              <a:spcAft>
                <a:spcPts val="400"/>
              </a:spcAft>
            </a:pPr>
            <a:r>
              <a:rPr sz="1800" b="1">
                <a:solidFill>
                  <a:srgbClr val="FFFFFF"/>
                </a:solidFill>
                <a:latin typeface="Arial"/>
              </a:rPr>
              <a:t>1</a:t>
            </a:r>
          </a:p>
        </p:txBody>
      </p:sp>
      <p:sp>
        <p:nvSpPr>
          <p:cNvPr id="11" name="TextBox 10"/>
          <p:cNvSpPr txBox="1"/>
          <p:nvPr/>
        </p:nvSpPr>
        <p:spPr>
          <a:xfrm>
            <a:off x="1764792" y="1892808"/>
            <a:ext cx="3973068" cy="1127760"/>
          </a:xfrm>
          <a:prstGeom prst="rect">
            <a:avLst/>
          </a:prstGeom>
          <a:noFill/>
        </p:spPr>
        <p:txBody>
          <a:bodyPr wrap="square" anchor="ctr">
            <a:spAutoFit/>
          </a:bodyPr>
          <a:lstStyle/>
          <a:p>
            <a:pPr algn="l">
              <a:spcAft>
                <a:spcPts val="300"/>
              </a:spcAft>
            </a:pPr>
            <a:r>
              <a:rPr sz="1600" b="1">
                <a:solidFill>
                  <a:srgbClr val="161B26"/>
                </a:solidFill>
                <a:latin typeface="Arial"/>
              </a:rPr>
              <a:t>LO1</a:t>
            </a:r>
          </a:p>
          <a:p>
            <a:pPr algn="l">
              <a:spcAft>
                <a:spcPts val="300"/>
              </a:spcAft>
            </a:pPr>
            <a:r>
              <a:rPr sz="1200" b="0">
                <a:solidFill>
                  <a:srgbClr val="5B6372"/>
                </a:solidFill>
                <a:latin typeface="Arial"/>
              </a:rPr>
              <a:t>Develop an AWS CI/CD pipeline proof of concept.</a:t>
            </a:r>
          </a:p>
        </p:txBody>
      </p:sp>
      <p:sp>
        <p:nvSpPr>
          <p:cNvPr id="12" name="Rectangle 11"/>
          <p:cNvSpPr/>
          <p:nvPr/>
        </p:nvSpPr>
        <p:spPr>
          <a:xfrm>
            <a:off x="6231636" y="1783080"/>
            <a:ext cx="5180076" cy="131064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6231636" y="1783080"/>
            <a:ext cx="91440" cy="131064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Oval 13"/>
          <p:cNvSpPr/>
          <p:nvPr/>
        </p:nvSpPr>
        <p:spPr>
          <a:xfrm>
            <a:off x="6487668" y="2164080"/>
            <a:ext cx="548640" cy="54864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6487668" y="2164080"/>
            <a:ext cx="548640" cy="548640"/>
          </a:xfrm>
          <a:prstGeom prst="rect">
            <a:avLst/>
          </a:prstGeom>
          <a:noFill/>
        </p:spPr>
        <p:txBody>
          <a:bodyPr wrap="square" anchor="ctr">
            <a:spAutoFit/>
          </a:bodyPr>
          <a:lstStyle/>
          <a:p>
            <a:pPr algn="ctr">
              <a:spcAft>
                <a:spcPts val="400"/>
              </a:spcAft>
            </a:pPr>
            <a:r>
              <a:rPr sz="1800" b="1">
                <a:solidFill>
                  <a:srgbClr val="FFFFFF"/>
                </a:solidFill>
                <a:latin typeface="Arial"/>
              </a:rPr>
              <a:t>2</a:t>
            </a:r>
          </a:p>
        </p:txBody>
      </p:sp>
      <p:sp>
        <p:nvSpPr>
          <p:cNvPr id="16" name="TextBox 15"/>
          <p:cNvSpPr txBox="1"/>
          <p:nvPr/>
        </p:nvSpPr>
        <p:spPr>
          <a:xfrm>
            <a:off x="7219188" y="1892808"/>
            <a:ext cx="3973068" cy="1127760"/>
          </a:xfrm>
          <a:prstGeom prst="rect">
            <a:avLst/>
          </a:prstGeom>
          <a:noFill/>
        </p:spPr>
        <p:txBody>
          <a:bodyPr wrap="square" anchor="ctr">
            <a:spAutoFit/>
          </a:bodyPr>
          <a:lstStyle/>
          <a:p>
            <a:pPr algn="l">
              <a:spcAft>
                <a:spcPts val="300"/>
              </a:spcAft>
            </a:pPr>
            <a:r>
              <a:rPr sz="1600" b="1">
                <a:solidFill>
                  <a:srgbClr val="161B26"/>
                </a:solidFill>
                <a:latin typeface="Arial"/>
              </a:rPr>
              <a:t>LO2</a:t>
            </a:r>
          </a:p>
          <a:p>
            <a:pPr algn="l">
              <a:spcAft>
                <a:spcPts val="300"/>
              </a:spcAft>
            </a:pPr>
            <a:r>
              <a:rPr sz="1200" b="0">
                <a:solidFill>
                  <a:srgbClr val="5B6372"/>
                </a:solidFill>
                <a:latin typeface="Arial"/>
              </a:rPr>
              <a:t>Identify the technical and practical requirements in an AWS cloud infrastructure setup.</a:t>
            </a:r>
          </a:p>
        </p:txBody>
      </p:sp>
      <p:sp>
        <p:nvSpPr>
          <p:cNvPr id="17" name="Rectangle 16"/>
          <p:cNvSpPr/>
          <p:nvPr/>
        </p:nvSpPr>
        <p:spPr>
          <a:xfrm>
            <a:off x="777240" y="3313176"/>
            <a:ext cx="5180076" cy="131064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777240" y="3313176"/>
            <a:ext cx="91440" cy="1310640"/>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Oval 18"/>
          <p:cNvSpPr/>
          <p:nvPr/>
        </p:nvSpPr>
        <p:spPr>
          <a:xfrm>
            <a:off x="1033272" y="3694176"/>
            <a:ext cx="548640" cy="548640"/>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1033272" y="3694176"/>
            <a:ext cx="548640" cy="548640"/>
          </a:xfrm>
          <a:prstGeom prst="rect">
            <a:avLst/>
          </a:prstGeom>
          <a:noFill/>
        </p:spPr>
        <p:txBody>
          <a:bodyPr wrap="square" anchor="ctr">
            <a:spAutoFit/>
          </a:bodyPr>
          <a:lstStyle/>
          <a:p>
            <a:pPr algn="ctr">
              <a:spcAft>
                <a:spcPts val="400"/>
              </a:spcAft>
            </a:pPr>
            <a:r>
              <a:rPr sz="1800" b="1">
                <a:solidFill>
                  <a:srgbClr val="FFFFFF"/>
                </a:solidFill>
                <a:latin typeface="Arial"/>
              </a:rPr>
              <a:t>3</a:t>
            </a:r>
          </a:p>
        </p:txBody>
      </p:sp>
      <p:sp>
        <p:nvSpPr>
          <p:cNvPr id="21" name="TextBox 20"/>
          <p:cNvSpPr txBox="1"/>
          <p:nvPr/>
        </p:nvSpPr>
        <p:spPr>
          <a:xfrm>
            <a:off x="1764792" y="3422904"/>
            <a:ext cx="3973068" cy="1127760"/>
          </a:xfrm>
          <a:prstGeom prst="rect">
            <a:avLst/>
          </a:prstGeom>
          <a:noFill/>
        </p:spPr>
        <p:txBody>
          <a:bodyPr wrap="square" anchor="ctr">
            <a:spAutoFit/>
          </a:bodyPr>
          <a:lstStyle/>
          <a:p>
            <a:pPr algn="l">
              <a:spcAft>
                <a:spcPts val="300"/>
              </a:spcAft>
            </a:pPr>
            <a:r>
              <a:rPr sz="1600" b="1">
                <a:solidFill>
                  <a:srgbClr val="161B26"/>
                </a:solidFill>
                <a:latin typeface="Arial"/>
              </a:rPr>
              <a:t>LO3</a:t>
            </a:r>
          </a:p>
          <a:p>
            <a:pPr algn="l">
              <a:spcAft>
                <a:spcPts val="300"/>
              </a:spcAft>
            </a:pPr>
            <a:r>
              <a:rPr sz="1200" b="0">
                <a:solidFill>
                  <a:srgbClr val="5B6372"/>
                </a:solidFill>
                <a:latin typeface="Arial"/>
              </a:rPr>
              <a:t>Develop a resilient cloud solution based on AWS cloud components.</a:t>
            </a:r>
          </a:p>
        </p:txBody>
      </p:sp>
      <p:sp>
        <p:nvSpPr>
          <p:cNvPr id="22" name="Rectangle 21"/>
          <p:cNvSpPr/>
          <p:nvPr/>
        </p:nvSpPr>
        <p:spPr>
          <a:xfrm>
            <a:off x="6231636" y="3313176"/>
            <a:ext cx="5180076" cy="131064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ectangle 22"/>
          <p:cNvSpPr/>
          <p:nvPr/>
        </p:nvSpPr>
        <p:spPr>
          <a:xfrm>
            <a:off x="6231636" y="3313176"/>
            <a:ext cx="91440" cy="1310640"/>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Oval 23"/>
          <p:cNvSpPr/>
          <p:nvPr/>
        </p:nvSpPr>
        <p:spPr>
          <a:xfrm>
            <a:off x="6487668" y="3694176"/>
            <a:ext cx="548640" cy="548640"/>
          </a:xfrm>
          <a:prstGeom prst="ellipse">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6487668" y="3694176"/>
            <a:ext cx="548640" cy="548640"/>
          </a:xfrm>
          <a:prstGeom prst="rect">
            <a:avLst/>
          </a:prstGeom>
          <a:noFill/>
        </p:spPr>
        <p:txBody>
          <a:bodyPr wrap="square" anchor="ctr">
            <a:spAutoFit/>
          </a:bodyPr>
          <a:lstStyle/>
          <a:p>
            <a:pPr algn="ctr">
              <a:spcAft>
                <a:spcPts val="400"/>
              </a:spcAft>
            </a:pPr>
            <a:r>
              <a:rPr sz="1800" b="1">
                <a:solidFill>
                  <a:srgbClr val="FFFFFF"/>
                </a:solidFill>
                <a:latin typeface="Arial"/>
              </a:rPr>
              <a:t>4</a:t>
            </a:r>
          </a:p>
        </p:txBody>
      </p:sp>
      <p:sp>
        <p:nvSpPr>
          <p:cNvPr id="26" name="TextBox 25"/>
          <p:cNvSpPr txBox="1"/>
          <p:nvPr/>
        </p:nvSpPr>
        <p:spPr>
          <a:xfrm>
            <a:off x="7219188" y="3422904"/>
            <a:ext cx="3973068" cy="1127760"/>
          </a:xfrm>
          <a:prstGeom prst="rect">
            <a:avLst/>
          </a:prstGeom>
          <a:noFill/>
        </p:spPr>
        <p:txBody>
          <a:bodyPr wrap="square" anchor="ctr">
            <a:spAutoFit/>
          </a:bodyPr>
          <a:lstStyle/>
          <a:p>
            <a:pPr algn="l">
              <a:spcAft>
                <a:spcPts val="300"/>
              </a:spcAft>
            </a:pPr>
            <a:r>
              <a:rPr sz="1600" b="1">
                <a:solidFill>
                  <a:srgbClr val="161B26"/>
                </a:solidFill>
                <a:latin typeface="Arial"/>
              </a:rPr>
              <a:t>LO4</a:t>
            </a:r>
          </a:p>
          <a:p>
            <a:pPr algn="l">
              <a:spcAft>
                <a:spcPts val="300"/>
              </a:spcAft>
            </a:pPr>
            <a:r>
              <a:rPr sz="1200" b="0">
                <a:solidFill>
                  <a:srgbClr val="5B6372"/>
                </a:solidFill>
                <a:latin typeface="Arial"/>
              </a:rPr>
              <a:t>Implement regular AWS monitoring and perform necessary troubleshooting.</a:t>
            </a:r>
          </a:p>
        </p:txBody>
      </p:sp>
      <p:sp>
        <p:nvSpPr>
          <p:cNvPr id="27" name="Rectangle 26"/>
          <p:cNvSpPr/>
          <p:nvPr/>
        </p:nvSpPr>
        <p:spPr>
          <a:xfrm>
            <a:off x="777240" y="4843272"/>
            <a:ext cx="5180076" cy="131064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Rectangle 27"/>
          <p:cNvSpPr/>
          <p:nvPr/>
        </p:nvSpPr>
        <p:spPr>
          <a:xfrm>
            <a:off x="777240" y="4843272"/>
            <a:ext cx="91440" cy="1310640"/>
          </a:xfrm>
          <a:prstGeom prst="rect">
            <a:avLst/>
          </a:prstGeom>
          <a:solidFill>
            <a:srgbClr val="EC711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Oval 28"/>
          <p:cNvSpPr/>
          <p:nvPr/>
        </p:nvSpPr>
        <p:spPr>
          <a:xfrm>
            <a:off x="1033272" y="5224272"/>
            <a:ext cx="548640" cy="548640"/>
          </a:xfrm>
          <a:prstGeom prst="ellipse">
            <a:avLst/>
          </a:prstGeom>
          <a:solidFill>
            <a:srgbClr val="EC711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1033272" y="5224272"/>
            <a:ext cx="548640" cy="548640"/>
          </a:xfrm>
          <a:prstGeom prst="rect">
            <a:avLst/>
          </a:prstGeom>
          <a:noFill/>
        </p:spPr>
        <p:txBody>
          <a:bodyPr wrap="square" anchor="ctr">
            <a:spAutoFit/>
          </a:bodyPr>
          <a:lstStyle/>
          <a:p>
            <a:pPr algn="ctr">
              <a:spcAft>
                <a:spcPts val="400"/>
              </a:spcAft>
            </a:pPr>
            <a:r>
              <a:rPr sz="1800" b="1">
                <a:solidFill>
                  <a:srgbClr val="FFFFFF"/>
                </a:solidFill>
                <a:latin typeface="Arial"/>
              </a:rPr>
              <a:t>5</a:t>
            </a:r>
          </a:p>
        </p:txBody>
      </p:sp>
      <p:sp>
        <p:nvSpPr>
          <p:cNvPr id="31" name="TextBox 30"/>
          <p:cNvSpPr txBox="1"/>
          <p:nvPr/>
        </p:nvSpPr>
        <p:spPr>
          <a:xfrm>
            <a:off x="1764792" y="4953000"/>
            <a:ext cx="3973068" cy="1127760"/>
          </a:xfrm>
          <a:prstGeom prst="rect">
            <a:avLst/>
          </a:prstGeom>
          <a:noFill/>
        </p:spPr>
        <p:txBody>
          <a:bodyPr wrap="square" anchor="ctr">
            <a:spAutoFit/>
          </a:bodyPr>
          <a:lstStyle/>
          <a:p>
            <a:pPr algn="l">
              <a:spcAft>
                <a:spcPts val="300"/>
              </a:spcAft>
            </a:pPr>
            <a:r>
              <a:rPr sz="1600" b="1">
                <a:solidFill>
                  <a:srgbClr val="161B26"/>
                </a:solidFill>
                <a:latin typeface="Arial"/>
              </a:rPr>
              <a:t>LO5</a:t>
            </a:r>
          </a:p>
          <a:p>
            <a:pPr algn="l">
              <a:spcAft>
                <a:spcPts val="300"/>
              </a:spcAft>
            </a:pPr>
            <a:r>
              <a:rPr sz="1200" b="0">
                <a:solidFill>
                  <a:srgbClr val="5B6372"/>
                </a:solidFill>
                <a:latin typeface="Arial"/>
              </a:rPr>
              <a:t>Demonstrate solutions to incidents and business problems on the AWS cloud.</a:t>
            </a:r>
          </a:p>
        </p:txBody>
      </p:sp>
      <p:sp>
        <p:nvSpPr>
          <p:cNvPr id="32" name="Rectangle 31"/>
          <p:cNvSpPr/>
          <p:nvPr/>
        </p:nvSpPr>
        <p:spPr>
          <a:xfrm>
            <a:off x="6231636" y="4843272"/>
            <a:ext cx="5180076" cy="131064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Rectangle 32"/>
          <p:cNvSpPr/>
          <p:nvPr/>
        </p:nvSpPr>
        <p:spPr>
          <a:xfrm>
            <a:off x="6231636" y="4843272"/>
            <a:ext cx="91440" cy="1310640"/>
          </a:xfrm>
          <a:prstGeom prst="rect">
            <a:avLst/>
          </a:prstGeom>
          <a:solidFill>
            <a:srgbClr val="0E9EC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Oval 33"/>
          <p:cNvSpPr/>
          <p:nvPr/>
        </p:nvSpPr>
        <p:spPr>
          <a:xfrm>
            <a:off x="6487668" y="5224272"/>
            <a:ext cx="548640" cy="548640"/>
          </a:xfrm>
          <a:prstGeom prst="ellipse">
            <a:avLst/>
          </a:prstGeom>
          <a:solidFill>
            <a:srgbClr val="0E9EC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TextBox 34"/>
          <p:cNvSpPr txBox="1"/>
          <p:nvPr/>
        </p:nvSpPr>
        <p:spPr>
          <a:xfrm>
            <a:off x="6487668" y="5224272"/>
            <a:ext cx="548640" cy="548640"/>
          </a:xfrm>
          <a:prstGeom prst="rect">
            <a:avLst/>
          </a:prstGeom>
          <a:noFill/>
        </p:spPr>
        <p:txBody>
          <a:bodyPr wrap="square" anchor="ctr">
            <a:spAutoFit/>
          </a:bodyPr>
          <a:lstStyle/>
          <a:p>
            <a:pPr algn="ctr">
              <a:spcAft>
                <a:spcPts val="400"/>
              </a:spcAft>
            </a:pPr>
            <a:r>
              <a:rPr sz="1800" b="1">
                <a:solidFill>
                  <a:srgbClr val="FFFFFF"/>
                </a:solidFill>
                <a:latin typeface="Arial"/>
              </a:rPr>
              <a:t>6</a:t>
            </a:r>
          </a:p>
        </p:txBody>
      </p:sp>
      <p:sp>
        <p:nvSpPr>
          <p:cNvPr id="36" name="TextBox 35"/>
          <p:cNvSpPr txBox="1"/>
          <p:nvPr/>
        </p:nvSpPr>
        <p:spPr>
          <a:xfrm>
            <a:off x="7219188" y="4953000"/>
            <a:ext cx="3973068" cy="1127760"/>
          </a:xfrm>
          <a:prstGeom prst="rect">
            <a:avLst/>
          </a:prstGeom>
          <a:noFill/>
        </p:spPr>
        <p:txBody>
          <a:bodyPr wrap="square" anchor="ctr">
            <a:spAutoFit/>
          </a:bodyPr>
          <a:lstStyle/>
          <a:p>
            <a:pPr algn="l">
              <a:spcAft>
                <a:spcPts val="300"/>
              </a:spcAft>
            </a:pPr>
            <a:r>
              <a:rPr sz="1600" b="1">
                <a:solidFill>
                  <a:srgbClr val="161B26"/>
                </a:solidFill>
                <a:latin typeface="Arial"/>
              </a:rPr>
              <a:t>LO6</a:t>
            </a:r>
          </a:p>
          <a:p>
            <a:pPr algn="l">
              <a:spcAft>
                <a:spcPts val="300"/>
              </a:spcAft>
            </a:pPr>
            <a:r>
              <a:rPr sz="1200" b="0">
                <a:solidFill>
                  <a:srgbClr val="5B6372"/>
                </a:solidFill>
                <a:latin typeface="Arial"/>
              </a:rPr>
              <a:t>Prepare a technical blueprint to address security and compliance.</a:t>
            </a:r>
          </a:p>
        </p:txBody>
      </p:sp>
      <p:sp>
        <p:nvSpPr>
          <p:cNvPr id="37" name="TextBox 36"/>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DevOps Engineering on AWS  ·  TGS-2023040474</a:t>
            </a:r>
          </a:p>
        </p:txBody>
      </p:sp>
      <p:sp>
        <p:nvSpPr>
          <p:cNvPr id="38" name="TextBox 37"/>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39" name="TextBox 38"/>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225</a:t>
            </a:r>
          </a:p>
        </p:txBody>
      </p:sp>
    </p:spTree>
  </p:cSld>
  <p:clrMapOvr>
    <a:masterClrMapping/>
  </p:clrMapOvr>
  <p:transition xmlns:p14="http://schemas.microsoft.com/office/powerpoint/2010/main" p14:dur="380">
    <p:fade/>
  </p:transition>
</p:sld>
</file>

<file path=ppt/slides/slide22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38912"/>
            <a:ext cx="10607040" cy="365760"/>
          </a:xfrm>
          <a:prstGeom prst="rect">
            <a:avLst/>
          </a:prstGeom>
          <a:noFill/>
        </p:spPr>
        <p:txBody>
          <a:bodyPr wrap="square" anchor="t">
            <a:spAutoFit/>
          </a:bodyPr>
          <a:lstStyle/>
          <a:p>
            <a:pPr algn="l">
              <a:spcAft>
                <a:spcPts val="400"/>
              </a:spcAft>
            </a:pPr>
            <a:r>
              <a:rPr sz="1400" b="1">
                <a:solidFill>
                  <a:srgbClr val="10B981"/>
                </a:solidFill>
                <a:latin typeface="Arial"/>
              </a:rPr>
              <a:t>NEXT STEPS</a:t>
            </a:r>
          </a:p>
        </p:txBody>
      </p:sp>
      <p:sp>
        <p:nvSpPr>
          <p:cNvPr id="5" name="TextBox 4"/>
          <p:cNvSpPr txBox="1"/>
          <p:nvPr/>
        </p:nvSpPr>
        <p:spPr>
          <a:xfrm>
            <a:off x="777240" y="804672"/>
            <a:ext cx="10927080" cy="731520"/>
          </a:xfrm>
          <a:prstGeom prst="rect">
            <a:avLst/>
          </a:prstGeom>
          <a:noFill/>
        </p:spPr>
        <p:txBody>
          <a:bodyPr wrap="square" anchor="t">
            <a:spAutoFit/>
          </a:bodyPr>
          <a:lstStyle/>
          <a:p>
            <a:pPr algn="l">
              <a:spcAft>
                <a:spcPts val="400"/>
              </a:spcAft>
            </a:pPr>
            <a:r>
              <a:rPr sz="2900" b="1">
                <a:solidFill>
                  <a:srgbClr val="161B26"/>
                </a:solidFill>
                <a:latin typeface="Arial"/>
              </a:rPr>
              <a:t>Continue Your AWS DevOps Journey</a:t>
            </a:r>
          </a:p>
        </p:txBody>
      </p:sp>
      <p:sp>
        <p:nvSpPr>
          <p:cNvPr id="6" name="Rectangle 5"/>
          <p:cNvSpPr/>
          <p:nvPr/>
        </p:nvSpPr>
        <p:spPr>
          <a:xfrm>
            <a:off x="777240" y="1572768"/>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783080"/>
            <a:ext cx="5180076" cy="207568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1783080"/>
            <a:ext cx="91440" cy="2075688"/>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1033272" y="2546604"/>
            <a:ext cx="548640" cy="548640"/>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033272" y="2546604"/>
            <a:ext cx="548640" cy="548640"/>
          </a:xfrm>
          <a:prstGeom prst="rect">
            <a:avLst/>
          </a:prstGeom>
          <a:noFill/>
        </p:spPr>
        <p:txBody>
          <a:bodyPr wrap="square" anchor="ctr">
            <a:spAutoFit/>
          </a:bodyPr>
          <a:lstStyle/>
          <a:p>
            <a:pPr algn="ctr">
              <a:spcAft>
                <a:spcPts val="400"/>
              </a:spcAft>
            </a:pPr>
            <a:r>
              <a:rPr sz="1800" b="1">
                <a:solidFill>
                  <a:srgbClr val="FFFFFF"/>
                </a:solidFill>
                <a:latin typeface="Arial"/>
              </a:rPr>
              <a:t>1</a:t>
            </a:r>
          </a:p>
        </p:txBody>
      </p:sp>
      <p:sp>
        <p:nvSpPr>
          <p:cNvPr id="11" name="TextBox 10"/>
          <p:cNvSpPr txBox="1"/>
          <p:nvPr/>
        </p:nvSpPr>
        <p:spPr>
          <a:xfrm>
            <a:off x="1764792" y="1892808"/>
            <a:ext cx="3973068" cy="1892808"/>
          </a:xfrm>
          <a:prstGeom prst="rect">
            <a:avLst/>
          </a:prstGeom>
          <a:noFill/>
        </p:spPr>
        <p:txBody>
          <a:bodyPr wrap="square" anchor="ctr">
            <a:spAutoFit/>
          </a:bodyPr>
          <a:lstStyle/>
          <a:p>
            <a:pPr algn="l">
              <a:spcAft>
                <a:spcPts val="300"/>
              </a:spcAft>
            </a:pPr>
            <a:r>
              <a:rPr sz="1600" b="1">
                <a:solidFill>
                  <a:srgbClr val="161B26"/>
                </a:solidFill>
                <a:latin typeface="Arial"/>
              </a:rPr>
              <a:t>Rebuild the labs</a:t>
            </a:r>
          </a:p>
          <a:p>
            <a:pPr algn="l">
              <a:spcAft>
                <a:spcPts val="300"/>
              </a:spcAft>
            </a:pPr>
            <a:r>
              <a:rPr sz="1200" b="0">
                <a:solidFill>
                  <a:srgbClr val="5B6372"/>
                </a:solidFill>
                <a:latin typeface="Arial"/>
              </a:rPr>
              <a:t>Redo all six labs from memory until the AWS workflows are automatic.</a:t>
            </a:r>
          </a:p>
        </p:txBody>
      </p:sp>
      <p:sp>
        <p:nvSpPr>
          <p:cNvPr id="12" name="Rectangle 11"/>
          <p:cNvSpPr/>
          <p:nvPr/>
        </p:nvSpPr>
        <p:spPr>
          <a:xfrm>
            <a:off x="6231636" y="1783080"/>
            <a:ext cx="5180076" cy="207568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6231636" y="1783080"/>
            <a:ext cx="91440" cy="2075688"/>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Oval 13"/>
          <p:cNvSpPr/>
          <p:nvPr/>
        </p:nvSpPr>
        <p:spPr>
          <a:xfrm>
            <a:off x="6487668" y="2546604"/>
            <a:ext cx="548640" cy="54864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6487668" y="2546604"/>
            <a:ext cx="548640" cy="548640"/>
          </a:xfrm>
          <a:prstGeom prst="rect">
            <a:avLst/>
          </a:prstGeom>
          <a:noFill/>
        </p:spPr>
        <p:txBody>
          <a:bodyPr wrap="square" anchor="ctr">
            <a:spAutoFit/>
          </a:bodyPr>
          <a:lstStyle/>
          <a:p>
            <a:pPr algn="ctr">
              <a:spcAft>
                <a:spcPts val="400"/>
              </a:spcAft>
            </a:pPr>
            <a:r>
              <a:rPr sz="1800" b="1">
                <a:solidFill>
                  <a:srgbClr val="FFFFFF"/>
                </a:solidFill>
                <a:latin typeface="Arial"/>
              </a:rPr>
              <a:t>2</a:t>
            </a:r>
          </a:p>
        </p:txBody>
      </p:sp>
      <p:sp>
        <p:nvSpPr>
          <p:cNvPr id="16" name="TextBox 15"/>
          <p:cNvSpPr txBox="1"/>
          <p:nvPr/>
        </p:nvSpPr>
        <p:spPr>
          <a:xfrm>
            <a:off x="7219188" y="1892808"/>
            <a:ext cx="3973068" cy="1892808"/>
          </a:xfrm>
          <a:prstGeom prst="rect">
            <a:avLst/>
          </a:prstGeom>
          <a:noFill/>
        </p:spPr>
        <p:txBody>
          <a:bodyPr wrap="square" anchor="ctr">
            <a:spAutoFit/>
          </a:bodyPr>
          <a:lstStyle/>
          <a:p>
            <a:pPr algn="l">
              <a:spcAft>
                <a:spcPts val="300"/>
              </a:spcAft>
            </a:pPr>
            <a:r>
              <a:rPr sz="1600" b="1">
                <a:solidFill>
                  <a:srgbClr val="161B26"/>
                </a:solidFill>
                <a:latin typeface="Arial"/>
              </a:rPr>
              <a:t>Automate more</a:t>
            </a:r>
          </a:p>
          <a:p>
            <a:pPr algn="l">
              <a:spcAft>
                <a:spcPts val="300"/>
              </a:spcAft>
            </a:pPr>
            <a:r>
              <a:rPr sz="1200" b="0">
                <a:solidFill>
                  <a:srgbClr val="5B6372"/>
                </a:solidFill>
                <a:latin typeface="Arial"/>
              </a:rPr>
              <a:t>Add tests, canary deploys and IaC to your own projects.</a:t>
            </a:r>
          </a:p>
        </p:txBody>
      </p:sp>
      <p:sp>
        <p:nvSpPr>
          <p:cNvPr id="17" name="Rectangle 16"/>
          <p:cNvSpPr/>
          <p:nvPr/>
        </p:nvSpPr>
        <p:spPr>
          <a:xfrm>
            <a:off x="777240" y="4078224"/>
            <a:ext cx="5180076" cy="207568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777240" y="4078224"/>
            <a:ext cx="91440" cy="2075688"/>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Oval 18"/>
          <p:cNvSpPr/>
          <p:nvPr/>
        </p:nvSpPr>
        <p:spPr>
          <a:xfrm>
            <a:off x="1033272" y="4841748"/>
            <a:ext cx="548640" cy="548640"/>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1033272" y="4841748"/>
            <a:ext cx="548640" cy="548640"/>
          </a:xfrm>
          <a:prstGeom prst="rect">
            <a:avLst/>
          </a:prstGeom>
          <a:noFill/>
        </p:spPr>
        <p:txBody>
          <a:bodyPr wrap="square" anchor="ctr">
            <a:spAutoFit/>
          </a:bodyPr>
          <a:lstStyle/>
          <a:p>
            <a:pPr algn="ctr">
              <a:spcAft>
                <a:spcPts val="400"/>
              </a:spcAft>
            </a:pPr>
            <a:r>
              <a:rPr sz="1800" b="1">
                <a:solidFill>
                  <a:srgbClr val="FFFFFF"/>
                </a:solidFill>
                <a:latin typeface="Arial"/>
              </a:rPr>
              <a:t>3</a:t>
            </a:r>
          </a:p>
        </p:txBody>
      </p:sp>
      <p:sp>
        <p:nvSpPr>
          <p:cNvPr id="21" name="TextBox 20"/>
          <p:cNvSpPr txBox="1"/>
          <p:nvPr/>
        </p:nvSpPr>
        <p:spPr>
          <a:xfrm>
            <a:off x="1764792" y="4187952"/>
            <a:ext cx="3973068" cy="1892808"/>
          </a:xfrm>
          <a:prstGeom prst="rect">
            <a:avLst/>
          </a:prstGeom>
          <a:noFill/>
        </p:spPr>
        <p:txBody>
          <a:bodyPr wrap="square" anchor="ctr">
            <a:spAutoFit/>
          </a:bodyPr>
          <a:lstStyle/>
          <a:p>
            <a:pPr algn="l">
              <a:spcAft>
                <a:spcPts val="300"/>
              </a:spcAft>
            </a:pPr>
            <a:r>
              <a:rPr sz="1600" b="1">
                <a:solidFill>
                  <a:srgbClr val="161B26"/>
                </a:solidFill>
                <a:latin typeface="Arial"/>
              </a:rPr>
              <a:t>Well-Architected reviews</a:t>
            </a:r>
          </a:p>
          <a:p>
            <a:pPr algn="l">
              <a:spcAft>
                <a:spcPts val="300"/>
              </a:spcAft>
            </a:pPr>
            <a:r>
              <a:rPr sz="1200" b="0">
                <a:solidFill>
                  <a:srgbClr val="5B6372"/>
                </a:solidFill>
                <a:latin typeface="Arial"/>
              </a:rPr>
              <a:t>Run Well-Architected reviews on real workloads.</a:t>
            </a:r>
          </a:p>
        </p:txBody>
      </p:sp>
      <p:sp>
        <p:nvSpPr>
          <p:cNvPr id="22" name="Rectangle 21"/>
          <p:cNvSpPr/>
          <p:nvPr/>
        </p:nvSpPr>
        <p:spPr>
          <a:xfrm>
            <a:off x="6231636" y="4078224"/>
            <a:ext cx="5180076" cy="207568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ectangle 22"/>
          <p:cNvSpPr/>
          <p:nvPr/>
        </p:nvSpPr>
        <p:spPr>
          <a:xfrm>
            <a:off x="6231636" y="4078224"/>
            <a:ext cx="91440" cy="2075688"/>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Oval 23"/>
          <p:cNvSpPr/>
          <p:nvPr/>
        </p:nvSpPr>
        <p:spPr>
          <a:xfrm>
            <a:off x="6487668" y="4841748"/>
            <a:ext cx="548640" cy="548640"/>
          </a:xfrm>
          <a:prstGeom prst="ellipse">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6487668" y="4841748"/>
            <a:ext cx="548640" cy="548640"/>
          </a:xfrm>
          <a:prstGeom prst="rect">
            <a:avLst/>
          </a:prstGeom>
          <a:noFill/>
        </p:spPr>
        <p:txBody>
          <a:bodyPr wrap="square" anchor="ctr">
            <a:spAutoFit/>
          </a:bodyPr>
          <a:lstStyle/>
          <a:p>
            <a:pPr algn="ctr">
              <a:spcAft>
                <a:spcPts val="400"/>
              </a:spcAft>
            </a:pPr>
            <a:r>
              <a:rPr sz="1800" b="1">
                <a:solidFill>
                  <a:srgbClr val="FFFFFF"/>
                </a:solidFill>
                <a:latin typeface="Arial"/>
              </a:rPr>
              <a:t>4</a:t>
            </a:r>
          </a:p>
        </p:txBody>
      </p:sp>
      <p:sp>
        <p:nvSpPr>
          <p:cNvPr id="26" name="TextBox 25"/>
          <p:cNvSpPr txBox="1"/>
          <p:nvPr/>
        </p:nvSpPr>
        <p:spPr>
          <a:xfrm>
            <a:off x="7219188" y="4187952"/>
            <a:ext cx="3973068" cy="1892808"/>
          </a:xfrm>
          <a:prstGeom prst="rect">
            <a:avLst/>
          </a:prstGeom>
          <a:noFill/>
        </p:spPr>
        <p:txBody>
          <a:bodyPr wrap="square" anchor="ctr">
            <a:spAutoFit/>
          </a:bodyPr>
          <a:lstStyle/>
          <a:p>
            <a:pPr algn="l">
              <a:spcAft>
                <a:spcPts val="300"/>
              </a:spcAft>
            </a:pPr>
            <a:r>
              <a:rPr sz="1600" b="1">
                <a:solidFill>
                  <a:srgbClr val="161B26"/>
                </a:solidFill>
                <a:latin typeface="Arial"/>
              </a:rPr>
              <a:t>Keep learning</a:t>
            </a:r>
          </a:p>
          <a:p>
            <a:pPr algn="l">
              <a:spcAft>
                <a:spcPts val="300"/>
              </a:spcAft>
            </a:pPr>
            <a:r>
              <a:rPr sz="1200" b="0">
                <a:solidFill>
                  <a:srgbClr val="5B6372"/>
                </a:solidFill>
                <a:latin typeface="Arial"/>
              </a:rPr>
              <a:t>Explore ECS/EKS, Step Functions, and multi-account governance.</a:t>
            </a:r>
          </a:p>
        </p:txBody>
      </p:sp>
      <p:sp>
        <p:nvSpPr>
          <p:cNvPr id="27" name="TextBox 26"/>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DevOps Engineering on AWS  ·  TGS-2023040474</a:t>
            </a:r>
          </a:p>
        </p:txBody>
      </p:sp>
      <p:sp>
        <p:nvSpPr>
          <p:cNvPr id="28" name="TextBox 27"/>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29" name="TextBox 28"/>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226</a:t>
            </a:r>
          </a:p>
        </p:txBody>
      </p:sp>
    </p:spTree>
  </p:cSld>
  <p:clrMapOvr>
    <a:masterClrMapping/>
  </p:clrMapOvr>
  <p:transition xmlns:p14="http://schemas.microsoft.com/office/powerpoint/2010/main" p14:dur="380">
    <p:fade/>
  </p:transition>
</p:sld>
</file>

<file path=ppt/slides/slide22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38912"/>
            <a:ext cx="10607040" cy="365760"/>
          </a:xfrm>
          <a:prstGeom prst="rect">
            <a:avLst/>
          </a:prstGeom>
          <a:noFill/>
        </p:spPr>
        <p:txBody>
          <a:bodyPr wrap="square" anchor="t">
            <a:spAutoFit/>
          </a:bodyPr>
          <a:lstStyle/>
          <a:p>
            <a:pPr algn="l">
              <a:spcAft>
                <a:spcPts val="400"/>
              </a:spcAft>
            </a:pPr>
            <a:r>
              <a:rPr sz="1400" b="1">
                <a:solidFill>
                  <a:srgbClr val="1F6FEB"/>
                </a:solidFill>
                <a:latin typeface="Arial"/>
              </a:rPr>
              <a:t>WRAP-UP</a:t>
            </a:r>
          </a:p>
        </p:txBody>
      </p:sp>
      <p:sp>
        <p:nvSpPr>
          <p:cNvPr id="5" name="TextBox 4"/>
          <p:cNvSpPr txBox="1"/>
          <p:nvPr/>
        </p:nvSpPr>
        <p:spPr>
          <a:xfrm>
            <a:off x="777240" y="804672"/>
            <a:ext cx="10927080" cy="731520"/>
          </a:xfrm>
          <a:prstGeom prst="rect">
            <a:avLst/>
          </a:prstGeom>
          <a:noFill/>
        </p:spPr>
        <p:txBody>
          <a:bodyPr wrap="square" anchor="t">
            <a:spAutoFit/>
          </a:bodyPr>
          <a:lstStyle/>
          <a:p>
            <a:pPr algn="l">
              <a:spcAft>
                <a:spcPts val="400"/>
              </a:spcAft>
            </a:pPr>
            <a:r>
              <a:rPr sz="2900" b="1">
                <a:solidFill>
                  <a:srgbClr val="161B26"/>
                </a:solidFill>
                <a:latin typeface="Arial"/>
              </a:rPr>
              <a:t>Assessment</a:t>
            </a:r>
          </a:p>
        </p:txBody>
      </p:sp>
      <p:sp>
        <p:nvSpPr>
          <p:cNvPr id="6" name="Rectangle 5"/>
          <p:cNvSpPr/>
          <p:nvPr/>
        </p:nvSpPr>
        <p:spPr>
          <a:xfrm>
            <a:off x="777240" y="1572768"/>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777240" y="1783080"/>
            <a:ext cx="10607040" cy="4480560"/>
          </a:xfrm>
          <a:prstGeom prst="rect">
            <a:avLst/>
          </a:prstGeom>
          <a:noFill/>
        </p:spPr>
        <p:txBody>
          <a:bodyPr wrap="square">
            <a:spAutoFit/>
          </a:bodyPr>
          <a:lstStyle/>
          <a:p>
            <a:pPr>
              <a:spcAft>
                <a:spcPts val="1000"/>
              </a:spcAft>
            </a:pPr>
            <a:r>
              <a:rPr sz="2000" b="0">
                <a:solidFill>
                  <a:srgbClr val="161B26"/>
                </a:solidFill>
                <a:latin typeface="Arial"/>
              </a:rPr>
              <a:t>•  Written Assessment (SAQ) — 1 hour.  Practical Performance (PP) — 2 hours.</a:t>
            </a:r>
          </a:p>
          <a:p>
            <a:pPr>
              <a:spcAft>
                <a:spcPts val="1000"/>
              </a:spcAft>
            </a:pPr>
            <a:r>
              <a:rPr sz="2000" b="0">
                <a:solidFill>
                  <a:srgbClr val="161B26"/>
                </a:solidFill>
                <a:latin typeface="Arial"/>
              </a:rPr>
              <a:t>•  Open book: slides, Learner Guide and approved materials only.</a:t>
            </a:r>
          </a:p>
          <a:p>
            <a:pPr>
              <a:spcAft>
                <a:spcPts val="1000"/>
              </a:spcAft>
            </a:pPr>
            <a:r>
              <a:rPr sz="2000" b="0">
                <a:solidFill>
                  <a:srgbClr val="161B26"/>
                </a:solidFill>
                <a:latin typeface="Arial"/>
              </a:rPr>
              <a:t>•  Remember to take the Assessment digital attendance (TRAQOM).</a:t>
            </a:r>
          </a:p>
          <a:p>
            <a:pPr>
              <a:spcAft>
                <a:spcPts val="1000"/>
              </a:spcAft>
            </a:pPr>
            <a:r>
              <a:rPr sz="2000" b="0">
                <a:solidFill>
                  <a:srgbClr val="161B26"/>
                </a:solidFill>
                <a:latin typeface="Arial"/>
              </a:rPr>
              <a:t>•  Submit your completed answers on the LMS at https://lms-tms.tertiaryinfotech.com/.</a:t>
            </a:r>
          </a:p>
        </p:txBody>
      </p:sp>
      <p:sp>
        <p:nvSpPr>
          <p:cNvPr id="8" name="TextBox 7"/>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DevOps Engineering on AWS  ·  TGS-2023040474</a:t>
            </a:r>
          </a:p>
        </p:txBody>
      </p:sp>
      <p:sp>
        <p:nvSpPr>
          <p:cNvPr id="9" name="TextBox 8"/>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0" name="TextBox 9"/>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227</a:t>
            </a:r>
          </a:p>
        </p:txBody>
      </p:sp>
    </p:spTree>
  </p:cSld>
  <p:clrMapOvr>
    <a:masterClrMapping/>
  </p:clrMapOvr>
  <p:transition xmlns:p14="http://schemas.microsoft.com/office/powerpoint/2010/main" p14:dur="380">
    <p:fade/>
  </p:transition>
</p:sld>
</file>

<file path=ppt/slides/slide22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38912"/>
            <a:ext cx="10607040" cy="365760"/>
          </a:xfrm>
          <a:prstGeom prst="rect">
            <a:avLst/>
          </a:prstGeom>
          <a:noFill/>
        </p:spPr>
        <p:txBody>
          <a:bodyPr wrap="square" anchor="t">
            <a:spAutoFit/>
          </a:bodyPr>
          <a:lstStyle/>
          <a:p>
            <a:pPr algn="l">
              <a:spcAft>
                <a:spcPts val="400"/>
              </a:spcAft>
            </a:pPr>
            <a:r>
              <a:rPr sz="1400" b="1">
                <a:solidFill>
                  <a:srgbClr val="1F6FEB"/>
                </a:solidFill>
                <a:latin typeface="Arial"/>
              </a:rPr>
              <a:t>ON ASSESSMENT DAY</a:t>
            </a:r>
          </a:p>
        </p:txBody>
      </p:sp>
      <p:sp>
        <p:nvSpPr>
          <p:cNvPr id="5" name="TextBox 4"/>
          <p:cNvSpPr txBox="1"/>
          <p:nvPr/>
        </p:nvSpPr>
        <p:spPr>
          <a:xfrm>
            <a:off x="777240" y="804672"/>
            <a:ext cx="10927080" cy="731520"/>
          </a:xfrm>
          <a:prstGeom prst="rect">
            <a:avLst/>
          </a:prstGeom>
          <a:noFill/>
        </p:spPr>
        <p:txBody>
          <a:bodyPr wrap="square" anchor="t">
            <a:spAutoFit/>
          </a:bodyPr>
          <a:lstStyle/>
          <a:p>
            <a:pPr algn="l">
              <a:spcAft>
                <a:spcPts val="400"/>
              </a:spcAft>
            </a:pPr>
            <a:r>
              <a:rPr sz="2900" b="1">
                <a:solidFill>
                  <a:srgbClr val="161B26"/>
                </a:solidFill>
                <a:latin typeface="Arial"/>
              </a:rPr>
              <a:t>Assessment Flow</a:t>
            </a:r>
          </a:p>
        </p:txBody>
      </p:sp>
      <p:sp>
        <p:nvSpPr>
          <p:cNvPr id="6" name="Rectangle 5"/>
          <p:cNvSpPr/>
          <p:nvPr/>
        </p:nvSpPr>
        <p:spPr>
          <a:xfrm>
            <a:off x="777240" y="1572768"/>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2331720"/>
            <a:ext cx="1878177" cy="288036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2331720"/>
            <a:ext cx="1878177" cy="9144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1341424" y="2715768"/>
            <a:ext cx="749808" cy="749808"/>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341424" y="2715768"/>
            <a:ext cx="749808" cy="749808"/>
          </a:xfrm>
          <a:prstGeom prst="rect">
            <a:avLst/>
          </a:prstGeom>
          <a:noFill/>
        </p:spPr>
        <p:txBody>
          <a:bodyPr wrap="square" anchor="ctr">
            <a:spAutoFit/>
          </a:bodyPr>
          <a:lstStyle/>
          <a:p>
            <a:pPr algn="ctr">
              <a:spcAft>
                <a:spcPts val="400"/>
              </a:spcAft>
            </a:pPr>
            <a:r>
              <a:rPr sz="3000" b="1">
                <a:solidFill>
                  <a:srgbClr val="FFFFFF"/>
                </a:solidFill>
                <a:latin typeface="Arial"/>
              </a:rPr>
              <a:t>1</a:t>
            </a:r>
          </a:p>
        </p:txBody>
      </p:sp>
      <p:sp>
        <p:nvSpPr>
          <p:cNvPr id="11" name="TextBox 10"/>
          <p:cNvSpPr txBox="1"/>
          <p:nvPr/>
        </p:nvSpPr>
        <p:spPr>
          <a:xfrm>
            <a:off x="923544" y="3749040"/>
            <a:ext cx="1585569" cy="1325880"/>
          </a:xfrm>
          <a:prstGeom prst="rect">
            <a:avLst/>
          </a:prstGeom>
          <a:noFill/>
        </p:spPr>
        <p:txBody>
          <a:bodyPr wrap="square" anchor="t">
            <a:spAutoFit/>
          </a:bodyPr>
          <a:lstStyle/>
          <a:p>
            <a:pPr algn="ctr">
              <a:spcAft>
                <a:spcPts val="400"/>
              </a:spcAft>
            </a:pPr>
            <a:r>
              <a:rPr sz="1300" b="0">
                <a:solidFill>
                  <a:srgbClr val="161B26"/>
                </a:solidFill>
                <a:latin typeface="Arial"/>
              </a:rPr>
              <a:t>TRAQOM survey — scan the QR code on the LMS</a:t>
            </a:r>
          </a:p>
        </p:txBody>
      </p:sp>
      <p:sp>
        <p:nvSpPr>
          <p:cNvPr id="12" name="TextBox 11"/>
          <p:cNvSpPr txBox="1"/>
          <p:nvPr/>
        </p:nvSpPr>
        <p:spPr>
          <a:xfrm>
            <a:off x="2618841" y="3497580"/>
            <a:ext cx="384048" cy="548640"/>
          </a:xfrm>
          <a:prstGeom prst="rect">
            <a:avLst/>
          </a:prstGeom>
          <a:noFill/>
        </p:spPr>
        <p:txBody>
          <a:bodyPr wrap="square" anchor="ctr">
            <a:spAutoFit/>
          </a:bodyPr>
          <a:lstStyle/>
          <a:p>
            <a:pPr algn="ctr">
              <a:spcAft>
                <a:spcPts val="400"/>
              </a:spcAft>
            </a:pPr>
            <a:r>
              <a:rPr sz="1500" b="1">
                <a:solidFill>
                  <a:srgbClr val="1F6FEB"/>
                </a:solidFill>
                <a:latin typeface="Arial"/>
              </a:rPr>
              <a:t>▶</a:t>
            </a:r>
          </a:p>
        </p:txBody>
      </p:sp>
      <p:sp>
        <p:nvSpPr>
          <p:cNvPr id="13" name="Rectangle 12"/>
          <p:cNvSpPr/>
          <p:nvPr/>
        </p:nvSpPr>
        <p:spPr>
          <a:xfrm>
            <a:off x="2966313" y="2331720"/>
            <a:ext cx="1878177" cy="288036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ectangle 13"/>
          <p:cNvSpPr/>
          <p:nvPr/>
        </p:nvSpPr>
        <p:spPr>
          <a:xfrm>
            <a:off x="2966313" y="2331720"/>
            <a:ext cx="1878177" cy="9144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Oval 14"/>
          <p:cNvSpPr/>
          <p:nvPr/>
        </p:nvSpPr>
        <p:spPr>
          <a:xfrm>
            <a:off x="3530497" y="2715768"/>
            <a:ext cx="749808" cy="749808"/>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3530497" y="2715768"/>
            <a:ext cx="749808" cy="749808"/>
          </a:xfrm>
          <a:prstGeom prst="rect">
            <a:avLst/>
          </a:prstGeom>
          <a:noFill/>
        </p:spPr>
        <p:txBody>
          <a:bodyPr wrap="square" anchor="ctr">
            <a:spAutoFit/>
          </a:bodyPr>
          <a:lstStyle/>
          <a:p>
            <a:pPr algn="ctr">
              <a:spcAft>
                <a:spcPts val="400"/>
              </a:spcAft>
            </a:pPr>
            <a:r>
              <a:rPr sz="3000" b="1">
                <a:solidFill>
                  <a:srgbClr val="FFFFFF"/>
                </a:solidFill>
                <a:latin typeface="Arial"/>
              </a:rPr>
              <a:t>2</a:t>
            </a:r>
          </a:p>
        </p:txBody>
      </p:sp>
      <p:sp>
        <p:nvSpPr>
          <p:cNvPr id="17" name="TextBox 16"/>
          <p:cNvSpPr txBox="1"/>
          <p:nvPr/>
        </p:nvSpPr>
        <p:spPr>
          <a:xfrm>
            <a:off x="3112617" y="3749040"/>
            <a:ext cx="1585569" cy="1325880"/>
          </a:xfrm>
          <a:prstGeom prst="rect">
            <a:avLst/>
          </a:prstGeom>
          <a:noFill/>
        </p:spPr>
        <p:txBody>
          <a:bodyPr wrap="square" anchor="t">
            <a:spAutoFit/>
          </a:bodyPr>
          <a:lstStyle/>
          <a:p>
            <a:pPr algn="ctr">
              <a:spcAft>
                <a:spcPts val="400"/>
              </a:spcAft>
            </a:pPr>
            <a:r>
              <a:rPr sz="1300" b="0">
                <a:solidFill>
                  <a:srgbClr val="161B26"/>
                </a:solidFill>
                <a:latin typeface="Arial"/>
              </a:rPr>
              <a:t>Assessment digital attendance — scan the SSG QR</a:t>
            </a:r>
          </a:p>
        </p:txBody>
      </p:sp>
      <p:sp>
        <p:nvSpPr>
          <p:cNvPr id="18" name="TextBox 17"/>
          <p:cNvSpPr txBox="1"/>
          <p:nvPr/>
        </p:nvSpPr>
        <p:spPr>
          <a:xfrm>
            <a:off x="4807914" y="3497580"/>
            <a:ext cx="384048" cy="548640"/>
          </a:xfrm>
          <a:prstGeom prst="rect">
            <a:avLst/>
          </a:prstGeom>
          <a:noFill/>
        </p:spPr>
        <p:txBody>
          <a:bodyPr wrap="square" anchor="ctr">
            <a:spAutoFit/>
          </a:bodyPr>
          <a:lstStyle/>
          <a:p>
            <a:pPr algn="ctr">
              <a:spcAft>
                <a:spcPts val="400"/>
              </a:spcAft>
            </a:pPr>
            <a:r>
              <a:rPr sz="1500" b="1">
                <a:solidFill>
                  <a:srgbClr val="1F6FEB"/>
                </a:solidFill>
                <a:latin typeface="Arial"/>
              </a:rPr>
              <a:t>▶</a:t>
            </a:r>
          </a:p>
        </p:txBody>
      </p:sp>
      <p:sp>
        <p:nvSpPr>
          <p:cNvPr id="19" name="Rectangle 18"/>
          <p:cNvSpPr/>
          <p:nvPr/>
        </p:nvSpPr>
        <p:spPr>
          <a:xfrm>
            <a:off x="5155386" y="2331720"/>
            <a:ext cx="1878177" cy="288036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Rectangle 19"/>
          <p:cNvSpPr/>
          <p:nvPr/>
        </p:nvSpPr>
        <p:spPr>
          <a:xfrm>
            <a:off x="5155386" y="2331720"/>
            <a:ext cx="1878177" cy="9144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Oval 20"/>
          <p:cNvSpPr/>
          <p:nvPr/>
        </p:nvSpPr>
        <p:spPr>
          <a:xfrm>
            <a:off x="5719570" y="2715768"/>
            <a:ext cx="749808" cy="749808"/>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5719570" y="2715768"/>
            <a:ext cx="749808" cy="749808"/>
          </a:xfrm>
          <a:prstGeom prst="rect">
            <a:avLst/>
          </a:prstGeom>
          <a:noFill/>
        </p:spPr>
        <p:txBody>
          <a:bodyPr wrap="square" anchor="ctr">
            <a:spAutoFit/>
          </a:bodyPr>
          <a:lstStyle/>
          <a:p>
            <a:pPr algn="ctr">
              <a:spcAft>
                <a:spcPts val="400"/>
              </a:spcAft>
            </a:pPr>
            <a:r>
              <a:rPr sz="3000" b="1">
                <a:solidFill>
                  <a:srgbClr val="FFFFFF"/>
                </a:solidFill>
                <a:latin typeface="Arial"/>
              </a:rPr>
              <a:t>3</a:t>
            </a:r>
          </a:p>
        </p:txBody>
      </p:sp>
      <p:sp>
        <p:nvSpPr>
          <p:cNvPr id="23" name="TextBox 22"/>
          <p:cNvSpPr txBox="1"/>
          <p:nvPr/>
        </p:nvSpPr>
        <p:spPr>
          <a:xfrm>
            <a:off x="5301690" y="3749040"/>
            <a:ext cx="1585569" cy="1325880"/>
          </a:xfrm>
          <a:prstGeom prst="rect">
            <a:avLst/>
          </a:prstGeom>
          <a:noFill/>
        </p:spPr>
        <p:txBody>
          <a:bodyPr wrap="square" anchor="t">
            <a:spAutoFit/>
          </a:bodyPr>
          <a:lstStyle/>
          <a:p>
            <a:pPr algn="ctr">
              <a:spcAft>
                <a:spcPts val="400"/>
              </a:spcAft>
            </a:pPr>
            <a:r>
              <a:rPr sz="1300" b="0">
                <a:solidFill>
                  <a:srgbClr val="161B26"/>
                </a:solidFill>
                <a:latin typeface="Arial"/>
              </a:rPr>
              <a:t>Sit WA (SAQ) then PP — open book</a:t>
            </a:r>
          </a:p>
        </p:txBody>
      </p:sp>
      <p:sp>
        <p:nvSpPr>
          <p:cNvPr id="24" name="TextBox 23"/>
          <p:cNvSpPr txBox="1"/>
          <p:nvPr/>
        </p:nvSpPr>
        <p:spPr>
          <a:xfrm>
            <a:off x="6996987" y="3497580"/>
            <a:ext cx="384048" cy="548640"/>
          </a:xfrm>
          <a:prstGeom prst="rect">
            <a:avLst/>
          </a:prstGeom>
          <a:noFill/>
        </p:spPr>
        <p:txBody>
          <a:bodyPr wrap="square" anchor="ctr">
            <a:spAutoFit/>
          </a:bodyPr>
          <a:lstStyle/>
          <a:p>
            <a:pPr algn="ctr">
              <a:spcAft>
                <a:spcPts val="400"/>
              </a:spcAft>
            </a:pPr>
            <a:r>
              <a:rPr sz="1500" b="1">
                <a:solidFill>
                  <a:srgbClr val="1F6FEB"/>
                </a:solidFill>
                <a:latin typeface="Arial"/>
              </a:rPr>
              <a:t>▶</a:t>
            </a:r>
          </a:p>
        </p:txBody>
      </p:sp>
      <p:sp>
        <p:nvSpPr>
          <p:cNvPr id="25" name="Rectangle 24"/>
          <p:cNvSpPr/>
          <p:nvPr/>
        </p:nvSpPr>
        <p:spPr>
          <a:xfrm>
            <a:off x="7344459" y="2331720"/>
            <a:ext cx="1878177" cy="288036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Rectangle 25"/>
          <p:cNvSpPr/>
          <p:nvPr/>
        </p:nvSpPr>
        <p:spPr>
          <a:xfrm>
            <a:off x="7344459" y="2331720"/>
            <a:ext cx="1878177" cy="9144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Oval 26"/>
          <p:cNvSpPr/>
          <p:nvPr/>
        </p:nvSpPr>
        <p:spPr>
          <a:xfrm>
            <a:off x="7908643" y="2715768"/>
            <a:ext cx="749808" cy="749808"/>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7908643" y="2715768"/>
            <a:ext cx="749808" cy="749808"/>
          </a:xfrm>
          <a:prstGeom prst="rect">
            <a:avLst/>
          </a:prstGeom>
          <a:noFill/>
        </p:spPr>
        <p:txBody>
          <a:bodyPr wrap="square" anchor="ctr">
            <a:spAutoFit/>
          </a:bodyPr>
          <a:lstStyle/>
          <a:p>
            <a:pPr algn="ctr">
              <a:spcAft>
                <a:spcPts val="400"/>
              </a:spcAft>
            </a:pPr>
            <a:r>
              <a:rPr sz="3000" b="1">
                <a:solidFill>
                  <a:srgbClr val="FFFFFF"/>
                </a:solidFill>
                <a:latin typeface="Arial"/>
              </a:rPr>
              <a:t>4</a:t>
            </a:r>
          </a:p>
        </p:txBody>
      </p:sp>
      <p:sp>
        <p:nvSpPr>
          <p:cNvPr id="29" name="TextBox 28"/>
          <p:cNvSpPr txBox="1"/>
          <p:nvPr/>
        </p:nvSpPr>
        <p:spPr>
          <a:xfrm>
            <a:off x="7490763" y="3749040"/>
            <a:ext cx="1585569" cy="1325880"/>
          </a:xfrm>
          <a:prstGeom prst="rect">
            <a:avLst/>
          </a:prstGeom>
          <a:noFill/>
        </p:spPr>
        <p:txBody>
          <a:bodyPr wrap="square" anchor="t">
            <a:spAutoFit/>
          </a:bodyPr>
          <a:lstStyle/>
          <a:p>
            <a:pPr algn="ctr">
              <a:spcAft>
                <a:spcPts val="400"/>
              </a:spcAft>
            </a:pPr>
            <a:r>
              <a:rPr sz="1300" b="0">
                <a:solidFill>
                  <a:srgbClr val="161B26"/>
                </a:solidFill>
                <a:latin typeface="Arial"/>
              </a:rPr>
              <a:t>Submit your answers on the LMS</a:t>
            </a:r>
          </a:p>
        </p:txBody>
      </p:sp>
      <p:sp>
        <p:nvSpPr>
          <p:cNvPr id="30" name="TextBox 29"/>
          <p:cNvSpPr txBox="1"/>
          <p:nvPr/>
        </p:nvSpPr>
        <p:spPr>
          <a:xfrm>
            <a:off x="9186060" y="3497580"/>
            <a:ext cx="384048" cy="548640"/>
          </a:xfrm>
          <a:prstGeom prst="rect">
            <a:avLst/>
          </a:prstGeom>
          <a:noFill/>
        </p:spPr>
        <p:txBody>
          <a:bodyPr wrap="square" anchor="ctr">
            <a:spAutoFit/>
          </a:bodyPr>
          <a:lstStyle/>
          <a:p>
            <a:pPr algn="ctr">
              <a:spcAft>
                <a:spcPts val="400"/>
              </a:spcAft>
            </a:pPr>
            <a:r>
              <a:rPr sz="1500" b="1">
                <a:solidFill>
                  <a:srgbClr val="1F6FEB"/>
                </a:solidFill>
                <a:latin typeface="Arial"/>
              </a:rPr>
              <a:t>▶</a:t>
            </a:r>
          </a:p>
        </p:txBody>
      </p:sp>
      <p:sp>
        <p:nvSpPr>
          <p:cNvPr id="31" name="Rectangle 30"/>
          <p:cNvSpPr/>
          <p:nvPr/>
        </p:nvSpPr>
        <p:spPr>
          <a:xfrm>
            <a:off x="9533532" y="2331720"/>
            <a:ext cx="1878177" cy="288036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Rectangle 31"/>
          <p:cNvSpPr/>
          <p:nvPr/>
        </p:nvSpPr>
        <p:spPr>
          <a:xfrm>
            <a:off x="9533532" y="2331720"/>
            <a:ext cx="1878177" cy="9144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Oval 32"/>
          <p:cNvSpPr/>
          <p:nvPr/>
        </p:nvSpPr>
        <p:spPr>
          <a:xfrm>
            <a:off x="10097716" y="2715768"/>
            <a:ext cx="749808" cy="749808"/>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TextBox 33"/>
          <p:cNvSpPr txBox="1"/>
          <p:nvPr/>
        </p:nvSpPr>
        <p:spPr>
          <a:xfrm>
            <a:off x="10097716" y="2715768"/>
            <a:ext cx="749808" cy="749808"/>
          </a:xfrm>
          <a:prstGeom prst="rect">
            <a:avLst/>
          </a:prstGeom>
          <a:noFill/>
        </p:spPr>
        <p:txBody>
          <a:bodyPr wrap="square" anchor="ctr">
            <a:spAutoFit/>
          </a:bodyPr>
          <a:lstStyle/>
          <a:p>
            <a:pPr algn="ctr">
              <a:spcAft>
                <a:spcPts val="400"/>
              </a:spcAft>
            </a:pPr>
            <a:r>
              <a:rPr sz="3000" b="1">
                <a:solidFill>
                  <a:srgbClr val="FFFFFF"/>
                </a:solidFill>
                <a:latin typeface="Arial"/>
              </a:rPr>
              <a:t>5</a:t>
            </a:r>
          </a:p>
        </p:txBody>
      </p:sp>
      <p:sp>
        <p:nvSpPr>
          <p:cNvPr id="35" name="TextBox 34"/>
          <p:cNvSpPr txBox="1"/>
          <p:nvPr/>
        </p:nvSpPr>
        <p:spPr>
          <a:xfrm>
            <a:off x="9679836" y="3749040"/>
            <a:ext cx="1585569" cy="1325880"/>
          </a:xfrm>
          <a:prstGeom prst="rect">
            <a:avLst/>
          </a:prstGeom>
          <a:noFill/>
        </p:spPr>
        <p:txBody>
          <a:bodyPr wrap="square" anchor="t">
            <a:spAutoFit/>
          </a:bodyPr>
          <a:lstStyle/>
          <a:p>
            <a:pPr algn="ctr">
              <a:spcAft>
                <a:spcPts val="400"/>
              </a:spcAft>
            </a:pPr>
            <a:r>
              <a:rPr sz="1300" b="0">
                <a:solidFill>
                  <a:srgbClr val="161B26"/>
                </a:solidFill>
                <a:latin typeface="Arial"/>
              </a:rPr>
              <a:t>Sign the Assessment Summary Record</a:t>
            </a:r>
          </a:p>
        </p:txBody>
      </p:sp>
      <p:sp>
        <p:nvSpPr>
          <p:cNvPr id="36" name="TextBox 35"/>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DevOps Engineering on AWS  ·  TGS-2023040474</a:t>
            </a:r>
          </a:p>
        </p:txBody>
      </p:sp>
      <p:sp>
        <p:nvSpPr>
          <p:cNvPr id="37" name="TextBox 36"/>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38" name="TextBox 37"/>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228</a:t>
            </a:r>
          </a:p>
        </p:txBody>
      </p:sp>
    </p:spTree>
  </p:cSld>
  <p:clrMapOvr>
    <a:masterClrMapping/>
  </p:clrMapOvr>
  <p:transition xmlns:p14="http://schemas.microsoft.com/office/powerpoint/2010/main" p14:dur="380">
    <p:fade/>
  </p:transition>
</p:sld>
</file>

<file path=ppt/slides/slide23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38912"/>
            <a:ext cx="10607040" cy="365760"/>
          </a:xfrm>
          <a:prstGeom prst="rect">
            <a:avLst/>
          </a:prstGeom>
          <a:noFill/>
        </p:spPr>
        <p:txBody>
          <a:bodyPr wrap="square" anchor="t">
            <a:spAutoFit/>
          </a:bodyPr>
          <a:lstStyle/>
          <a:p>
            <a:pPr algn="l">
              <a:spcAft>
                <a:spcPts val="400"/>
              </a:spcAft>
            </a:pPr>
            <a:r>
              <a:rPr sz="1400" b="1">
                <a:solidFill>
                  <a:srgbClr val="1F6FEB"/>
                </a:solidFill>
                <a:latin typeface="Arial"/>
              </a:rPr>
              <a:t>TRAQOM · SSG DIGITAL ATTENDANCE</a:t>
            </a:r>
          </a:p>
        </p:txBody>
      </p:sp>
      <p:sp>
        <p:nvSpPr>
          <p:cNvPr id="5" name="TextBox 4"/>
          <p:cNvSpPr txBox="1"/>
          <p:nvPr/>
        </p:nvSpPr>
        <p:spPr>
          <a:xfrm>
            <a:off x="777240" y="804672"/>
            <a:ext cx="10927080" cy="731520"/>
          </a:xfrm>
          <a:prstGeom prst="rect">
            <a:avLst/>
          </a:prstGeom>
          <a:noFill/>
        </p:spPr>
        <p:txBody>
          <a:bodyPr wrap="square" anchor="t">
            <a:spAutoFit/>
          </a:bodyPr>
          <a:lstStyle/>
          <a:p>
            <a:pPr algn="l">
              <a:spcAft>
                <a:spcPts val="400"/>
              </a:spcAft>
            </a:pPr>
            <a:r>
              <a:rPr sz="2900" b="1">
                <a:solidFill>
                  <a:srgbClr val="161B26"/>
                </a:solidFill>
                <a:latin typeface="Arial"/>
              </a:rPr>
              <a:t>Digital Attendance (Mandatory)</a:t>
            </a:r>
          </a:p>
        </p:txBody>
      </p:sp>
      <p:sp>
        <p:nvSpPr>
          <p:cNvPr id="6" name="Rectangle 5"/>
          <p:cNvSpPr/>
          <p:nvPr/>
        </p:nvSpPr>
        <p:spPr>
          <a:xfrm>
            <a:off x="777240" y="1572768"/>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777240" y="1737360"/>
            <a:ext cx="6720840" cy="365760"/>
          </a:xfrm>
          <a:prstGeom prst="rect">
            <a:avLst/>
          </a:prstGeom>
          <a:noFill/>
        </p:spPr>
        <p:txBody>
          <a:bodyPr wrap="square" anchor="t">
            <a:spAutoFit/>
          </a:bodyPr>
          <a:lstStyle/>
          <a:p>
            <a:pPr algn="l">
              <a:spcAft>
                <a:spcPts val="400"/>
              </a:spcAft>
            </a:pPr>
            <a:r>
              <a:rPr sz="1350" b="1">
                <a:solidFill>
                  <a:srgbClr val="161B26"/>
                </a:solidFill>
                <a:latin typeface="Arial"/>
              </a:rPr>
              <a:t>Take the SSG digital attendance at three points on every funded day:</a:t>
            </a:r>
          </a:p>
        </p:txBody>
      </p:sp>
      <p:sp>
        <p:nvSpPr>
          <p:cNvPr id="8" name="Rectangle 7"/>
          <p:cNvSpPr/>
          <p:nvPr/>
        </p:nvSpPr>
        <p:spPr>
          <a:xfrm>
            <a:off x="777240" y="2194560"/>
            <a:ext cx="2057400" cy="114300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777240" y="2194560"/>
            <a:ext cx="2057400" cy="9144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777240" y="2395728"/>
            <a:ext cx="2057400" cy="457200"/>
          </a:xfrm>
          <a:prstGeom prst="rect">
            <a:avLst/>
          </a:prstGeom>
          <a:noFill/>
        </p:spPr>
        <p:txBody>
          <a:bodyPr wrap="square" anchor="t">
            <a:spAutoFit/>
          </a:bodyPr>
          <a:lstStyle/>
          <a:p>
            <a:pPr algn="ctr">
              <a:spcAft>
                <a:spcPts val="400"/>
              </a:spcAft>
            </a:pPr>
            <a:r>
              <a:rPr sz="1800" b="1">
                <a:solidFill>
                  <a:srgbClr val="1F6FEB"/>
                </a:solidFill>
                <a:latin typeface="Arial"/>
              </a:rPr>
              <a:t>AM</a:t>
            </a:r>
          </a:p>
        </p:txBody>
      </p:sp>
      <p:sp>
        <p:nvSpPr>
          <p:cNvPr id="11" name="TextBox 10"/>
          <p:cNvSpPr txBox="1"/>
          <p:nvPr/>
        </p:nvSpPr>
        <p:spPr>
          <a:xfrm>
            <a:off x="905256" y="2852928"/>
            <a:ext cx="1801368" cy="457200"/>
          </a:xfrm>
          <a:prstGeom prst="rect">
            <a:avLst/>
          </a:prstGeom>
          <a:noFill/>
        </p:spPr>
        <p:txBody>
          <a:bodyPr wrap="square" anchor="t">
            <a:spAutoFit/>
          </a:bodyPr>
          <a:lstStyle/>
          <a:p>
            <a:pPr algn="ctr">
              <a:spcAft>
                <a:spcPts val="400"/>
              </a:spcAft>
            </a:pPr>
            <a:r>
              <a:rPr sz="1050" b="0">
                <a:solidFill>
                  <a:srgbClr val="5B6372"/>
                </a:solidFill>
                <a:latin typeface="Arial"/>
              </a:rPr>
              <a:t>Start of the morning session</a:t>
            </a:r>
          </a:p>
        </p:txBody>
      </p:sp>
      <p:sp>
        <p:nvSpPr>
          <p:cNvPr id="12" name="Rectangle 11"/>
          <p:cNvSpPr/>
          <p:nvPr/>
        </p:nvSpPr>
        <p:spPr>
          <a:xfrm>
            <a:off x="3108960" y="2194560"/>
            <a:ext cx="2057400" cy="114300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3108960" y="2194560"/>
            <a:ext cx="2057400" cy="9144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3108960" y="2395728"/>
            <a:ext cx="2057400" cy="457200"/>
          </a:xfrm>
          <a:prstGeom prst="rect">
            <a:avLst/>
          </a:prstGeom>
          <a:noFill/>
        </p:spPr>
        <p:txBody>
          <a:bodyPr wrap="square" anchor="t">
            <a:spAutoFit/>
          </a:bodyPr>
          <a:lstStyle/>
          <a:p>
            <a:pPr algn="ctr">
              <a:spcAft>
                <a:spcPts val="400"/>
              </a:spcAft>
            </a:pPr>
            <a:r>
              <a:rPr sz="1800" b="1">
                <a:solidFill>
                  <a:srgbClr val="10B981"/>
                </a:solidFill>
                <a:latin typeface="Arial"/>
              </a:rPr>
              <a:t>PM</a:t>
            </a:r>
          </a:p>
        </p:txBody>
      </p:sp>
      <p:sp>
        <p:nvSpPr>
          <p:cNvPr id="15" name="TextBox 14"/>
          <p:cNvSpPr txBox="1"/>
          <p:nvPr/>
        </p:nvSpPr>
        <p:spPr>
          <a:xfrm>
            <a:off x="3236976" y="2852928"/>
            <a:ext cx="1801368" cy="457200"/>
          </a:xfrm>
          <a:prstGeom prst="rect">
            <a:avLst/>
          </a:prstGeom>
          <a:noFill/>
        </p:spPr>
        <p:txBody>
          <a:bodyPr wrap="square" anchor="t">
            <a:spAutoFit/>
          </a:bodyPr>
          <a:lstStyle/>
          <a:p>
            <a:pPr algn="ctr">
              <a:spcAft>
                <a:spcPts val="400"/>
              </a:spcAft>
            </a:pPr>
            <a:r>
              <a:rPr sz="1050" b="0">
                <a:solidFill>
                  <a:srgbClr val="5B6372"/>
                </a:solidFill>
                <a:latin typeface="Arial"/>
              </a:rPr>
              <a:t>Start of the afternoon session</a:t>
            </a:r>
          </a:p>
        </p:txBody>
      </p:sp>
      <p:sp>
        <p:nvSpPr>
          <p:cNvPr id="16" name="Rectangle 15"/>
          <p:cNvSpPr/>
          <p:nvPr/>
        </p:nvSpPr>
        <p:spPr>
          <a:xfrm>
            <a:off x="5440680" y="2194560"/>
            <a:ext cx="2057400" cy="114300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ectangle 16"/>
          <p:cNvSpPr/>
          <p:nvPr/>
        </p:nvSpPr>
        <p:spPr>
          <a:xfrm>
            <a:off x="5440680" y="2194560"/>
            <a:ext cx="2057400" cy="91440"/>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5440680" y="2395728"/>
            <a:ext cx="2057400" cy="457200"/>
          </a:xfrm>
          <a:prstGeom prst="rect">
            <a:avLst/>
          </a:prstGeom>
          <a:noFill/>
        </p:spPr>
        <p:txBody>
          <a:bodyPr wrap="square" anchor="t">
            <a:spAutoFit/>
          </a:bodyPr>
          <a:lstStyle/>
          <a:p>
            <a:pPr algn="ctr">
              <a:spcAft>
                <a:spcPts val="400"/>
              </a:spcAft>
            </a:pPr>
            <a:r>
              <a:rPr sz="1800" b="1">
                <a:solidFill>
                  <a:srgbClr val="7C3AED"/>
                </a:solidFill>
                <a:latin typeface="Arial"/>
              </a:rPr>
              <a:t>ASSESSMENT</a:t>
            </a:r>
          </a:p>
        </p:txBody>
      </p:sp>
      <p:sp>
        <p:nvSpPr>
          <p:cNvPr id="19" name="TextBox 18"/>
          <p:cNvSpPr txBox="1"/>
          <p:nvPr/>
        </p:nvSpPr>
        <p:spPr>
          <a:xfrm>
            <a:off x="5568696" y="2852928"/>
            <a:ext cx="1801368" cy="457200"/>
          </a:xfrm>
          <a:prstGeom prst="rect">
            <a:avLst/>
          </a:prstGeom>
          <a:noFill/>
        </p:spPr>
        <p:txBody>
          <a:bodyPr wrap="square" anchor="t">
            <a:spAutoFit/>
          </a:bodyPr>
          <a:lstStyle/>
          <a:p>
            <a:pPr algn="ctr">
              <a:spcAft>
                <a:spcPts val="400"/>
              </a:spcAft>
            </a:pPr>
            <a:r>
              <a:rPr sz="1050" b="0">
                <a:solidFill>
                  <a:srgbClr val="5B6372"/>
                </a:solidFill>
                <a:latin typeface="Arial"/>
              </a:rPr>
              <a:t>Before the Day 5 assessment</a:t>
            </a:r>
          </a:p>
        </p:txBody>
      </p:sp>
      <p:sp>
        <p:nvSpPr>
          <p:cNvPr id="20" name="Rectangle 19"/>
          <p:cNvSpPr/>
          <p:nvPr/>
        </p:nvSpPr>
        <p:spPr>
          <a:xfrm>
            <a:off x="777240" y="3566160"/>
            <a:ext cx="6720840" cy="548640"/>
          </a:xfrm>
          <a:prstGeom prst="rect">
            <a:avLst/>
          </a:prstGeom>
          <a:solidFill>
            <a:srgbClr val="FFFFFF"/>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Oval 20"/>
          <p:cNvSpPr/>
          <p:nvPr/>
        </p:nvSpPr>
        <p:spPr>
          <a:xfrm>
            <a:off x="941832" y="3639312"/>
            <a:ext cx="402336" cy="402336"/>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941832" y="3639312"/>
            <a:ext cx="402336" cy="402336"/>
          </a:xfrm>
          <a:prstGeom prst="rect">
            <a:avLst/>
          </a:prstGeom>
          <a:noFill/>
        </p:spPr>
        <p:txBody>
          <a:bodyPr wrap="square" anchor="ctr">
            <a:spAutoFit/>
          </a:bodyPr>
          <a:lstStyle/>
          <a:p>
            <a:pPr algn="ctr">
              <a:spcAft>
                <a:spcPts val="400"/>
              </a:spcAft>
            </a:pPr>
            <a:r>
              <a:rPr sz="1600" b="1">
                <a:solidFill>
                  <a:srgbClr val="FFFFFF"/>
                </a:solidFill>
                <a:latin typeface="Arial"/>
              </a:rPr>
              <a:t>1</a:t>
            </a:r>
          </a:p>
        </p:txBody>
      </p:sp>
      <p:sp>
        <p:nvSpPr>
          <p:cNvPr id="23" name="TextBox 22"/>
          <p:cNvSpPr txBox="1"/>
          <p:nvPr/>
        </p:nvSpPr>
        <p:spPr>
          <a:xfrm>
            <a:off x="1600200" y="3566160"/>
            <a:ext cx="5715000" cy="548640"/>
          </a:xfrm>
          <a:prstGeom prst="rect">
            <a:avLst/>
          </a:prstGeom>
          <a:noFill/>
        </p:spPr>
        <p:txBody>
          <a:bodyPr wrap="square" anchor="ctr">
            <a:spAutoFit/>
          </a:bodyPr>
          <a:lstStyle/>
          <a:p>
            <a:pPr algn="l">
              <a:spcAft>
                <a:spcPts val="400"/>
              </a:spcAft>
            </a:pPr>
            <a:r>
              <a:rPr sz="1200" b="0">
                <a:solidFill>
                  <a:srgbClr val="161B26"/>
                </a:solidFill>
                <a:latin typeface="Arial"/>
              </a:rPr>
              <a:t>The trainer/administrator displays the SSG digital-attendance QR code from the portal.</a:t>
            </a:r>
          </a:p>
        </p:txBody>
      </p:sp>
      <p:sp>
        <p:nvSpPr>
          <p:cNvPr id="24" name="Rectangle 23"/>
          <p:cNvSpPr/>
          <p:nvPr/>
        </p:nvSpPr>
        <p:spPr>
          <a:xfrm>
            <a:off x="777240" y="4224528"/>
            <a:ext cx="6720840" cy="548640"/>
          </a:xfrm>
          <a:prstGeom prst="rect">
            <a:avLst/>
          </a:prstGeom>
          <a:solidFill>
            <a:srgbClr val="FFFFFF"/>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Oval 24"/>
          <p:cNvSpPr/>
          <p:nvPr/>
        </p:nvSpPr>
        <p:spPr>
          <a:xfrm>
            <a:off x="941832" y="4297680"/>
            <a:ext cx="402336" cy="402336"/>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941832" y="4297680"/>
            <a:ext cx="402336" cy="402336"/>
          </a:xfrm>
          <a:prstGeom prst="rect">
            <a:avLst/>
          </a:prstGeom>
          <a:noFill/>
        </p:spPr>
        <p:txBody>
          <a:bodyPr wrap="square" anchor="ctr">
            <a:spAutoFit/>
          </a:bodyPr>
          <a:lstStyle/>
          <a:p>
            <a:pPr algn="ctr">
              <a:spcAft>
                <a:spcPts val="400"/>
              </a:spcAft>
            </a:pPr>
            <a:r>
              <a:rPr sz="1600" b="1">
                <a:solidFill>
                  <a:srgbClr val="FFFFFF"/>
                </a:solidFill>
                <a:latin typeface="Arial"/>
              </a:rPr>
              <a:t>2</a:t>
            </a:r>
          </a:p>
        </p:txBody>
      </p:sp>
      <p:sp>
        <p:nvSpPr>
          <p:cNvPr id="27" name="TextBox 26"/>
          <p:cNvSpPr txBox="1"/>
          <p:nvPr/>
        </p:nvSpPr>
        <p:spPr>
          <a:xfrm>
            <a:off x="1600200" y="4224528"/>
            <a:ext cx="5715000" cy="548640"/>
          </a:xfrm>
          <a:prstGeom prst="rect">
            <a:avLst/>
          </a:prstGeom>
          <a:noFill/>
        </p:spPr>
        <p:txBody>
          <a:bodyPr wrap="square" anchor="ctr">
            <a:spAutoFit/>
          </a:bodyPr>
          <a:lstStyle/>
          <a:p>
            <a:pPr algn="l">
              <a:spcAft>
                <a:spcPts val="400"/>
              </a:spcAft>
            </a:pPr>
            <a:r>
              <a:rPr sz="1200" b="0">
                <a:solidFill>
                  <a:srgbClr val="161B26"/>
                </a:solidFill>
                <a:latin typeface="Arial"/>
              </a:rPr>
              <a:t>Scan the QR code with your mobile phone camera and submit your attendance.</a:t>
            </a:r>
          </a:p>
        </p:txBody>
      </p:sp>
      <p:sp>
        <p:nvSpPr>
          <p:cNvPr id="28" name="Rectangle 27"/>
          <p:cNvSpPr/>
          <p:nvPr/>
        </p:nvSpPr>
        <p:spPr>
          <a:xfrm>
            <a:off x="777240" y="4882896"/>
            <a:ext cx="6720840" cy="548640"/>
          </a:xfrm>
          <a:prstGeom prst="rect">
            <a:avLst/>
          </a:prstGeom>
          <a:solidFill>
            <a:srgbClr val="FFFFFF"/>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Oval 28"/>
          <p:cNvSpPr/>
          <p:nvPr/>
        </p:nvSpPr>
        <p:spPr>
          <a:xfrm>
            <a:off x="941832" y="4956048"/>
            <a:ext cx="402336" cy="402336"/>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941832" y="4956048"/>
            <a:ext cx="402336" cy="402336"/>
          </a:xfrm>
          <a:prstGeom prst="rect">
            <a:avLst/>
          </a:prstGeom>
          <a:noFill/>
        </p:spPr>
        <p:txBody>
          <a:bodyPr wrap="square" anchor="ctr">
            <a:spAutoFit/>
          </a:bodyPr>
          <a:lstStyle/>
          <a:p>
            <a:pPr algn="ctr">
              <a:spcAft>
                <a:spcPts val="400"/>
              </a:spcAft>
            </a:pPr>
            <a:r>
              <a:rPr sz="1600" b="1">
                <a:solidFill>
                  <a:srgbClr val="FFFFFF"/>
                </a:solidFill>
                <a:latin typeface="Arial"/>
              </a:rPr>
              <a:t>3</a:t>
            </a:r>
          </a:p>
        </p:txBody>
      </p:sp>
      <p:sp>
        <p:nvSpPr>
          <p:cNvPr id="31" name="TextBox 30"/>
          <p:cNvSpPr txBox="1"/>
          <p:nvPr/>
        </p:nvSpPr>
        <p:spPr>
          <a:xfrm>
            <a:off x="1600200" y="4882896"/>
            <a:ext cx="5715000" cy="548640"/>
          </a:xfrm>
          <a:prstGeom prst="rect">
            <a:avLst/>
          </a:prstGeom>
          <a:noFill/>
        </p:spPr>
        <p:txBody>
          <a:bodyPr wrap="square" anchor="ctr">
            <a:spAutoFit/>
          </a:bodyPr>
          <a:lstStyle/>
          <a:p>
            <a:pPr algn="l">
              <a:spcAft>
                <a:spcPts val="400"/>
              </a:spcAft>
            </a:pPr>
            <a:r>
              <a:rPr sz="1200" b="0">
                <a:solidFill>
                  <a:srgbClr val="161B26"/>
                </a:solidFill>
                <a:latin typeface="Arial"/>
              </a:rPr>
              <a:t>It is mandatory for AM, PM and the Assessment sessions on WSQ-funded courses.</a:t>
            </a:r>
          </a:p>
        </p:txBody>
      </p:sp>
      <p:sp>
        <p:nvSpPr>
          <p:cNvPr id="32" name="Rectangle 31"/>
          <p:cNvSpPr/>
          <p:nvPr/>
        </p:nvSpPr>
        <p:spPr>
          <a:xfrm>
            <a:off x="7818120" y="1737360"/>
            <a:ext cx="3566160" cy="370332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Rectangle 32"/>
          <p:cNvSpPr/>
          <p:nvPr/>
        </p:nvSpPr>
        <p:spPr>
          <a:xfrm>
            <a:off x="7818120" y="1737360"/>
            <a:ext cx="3566160" cy="9144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TextBox 33"/>
          <p:cNvSpPr txBox="1"/>
          <p:nvPr/>
        </p:nvSpPr>
        <p:spPr>
          <a:xfrm>
            <a:off x="7818120" y="1938528"/>
            <a:ext cx="3566160" cy="365760"/>
          </a:xfrm>
          <a:prstGeom prst="rect">
            <a:avLst/>
          </a:prstGeom>
          <a:noFill/>
        </p:spPr>
        <p:txBody>
          <a:bodyPr wrap="square" anchor="t">
            <a:spAutoFit/>
          </a:bodyPr>
          <a:lstStyle/>
          <a:p>
            <a:pPr algn="ctr">
              <a:spcAft>
                <a:spcPts val="400"/>
              </a:spcAft>
            </a:pPr>
            <a:r>
              <a:rPr sz="1100" b="1">
                <a:solidFill>
                  <a:srgbClr val="10B981"/>
                </a:solidFill>
                <a:latin typeface="Arial"/>
              </a:rPr>
              <a:t>SCAN TO SUBMIT ATTENDANCE</a:t>
            </a:r>
          </a:p>
        </p:txBody>
      </p:sp>
      <p:sp>
        <p:nvSpPr>
          <p:cNvPr id="35" name="Rectangle 34"/>
          <p:cNvSpPr/>
          <p:nvPr/>
        </p:nvSpPr>
        <p:spPr>
          <a:xfrm>
            <a:off x="8435340" y="2377440"/>
            <a:ext cx="2331720" cy="2331720"/>
          </a:xfrm>
          <a:prstGeom prst="rect">
            <a:avLst/>
          </a:prstGeom>
          <a:solidFill>
            <a:srgbClr val="FFFFFF"/>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Rectangle 35"/>
          <p:cNvSpPr/>
          <p:nvPr/>
        </p:nvSpPr>
        <p:spPr>
          <a:xfrm>
            <a:off x="9532620" y="2788920"/>
            <a:ext cx="137160" cy="137160"/>
          </a:xfrm>
          <a:prstGeom prst="rect">
            <a:avLst/>
          </a:prstGeom>
          <a:solidFill>
            <a:srgbClr val="161B2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7" name="Rectangle 36"/>
          <p:cNvSpPr/>
          <p:nvPr/>
        </p:nvSpPr>
        <p:spPr>
          <a:xfrm>
            <a:off x="9532620" y="3200400"/>
            <a:ext cx="137160" cy="137160"/>
          </a:xfrm>
          <a:prstGeom prst="rect">
            <a:avLst/>
          </a:prstGeom>
          <a:solidFill>
            <a:srgbClr val="161B2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8" name="Rectangle 37"/>
          <p:cNvSpPr/>
          <p:nvPr/>
        </p:nvSpPr>
        <p:spPr>
          <a:xfrm>
            <a:off x="8572500" y="3474720"/>
            <a:ext cx="137160" cy="137160"/>
          </a:xfrm>
          <a:prstGeom prst="rect">
            <a:avLst/>
          </a:prstGeom>
          <a:solidFill>
            <a:srgbClr val="161B2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9" name="Rectangle 38"/>
          <p:cNvSpPr/>
          <p:nvPr/>
        </p:nvSpPr>
        <p:spPr>
          <a:xfrm>
            <a:off x="8983980" y="3474720"/>
            <a:ext cx="137160" cy="137160"/>
          </a:xfrm>
          <a:prstGeom prst="rect">
            <a:avLst/>
          </a:prstGeom>
          <a:solidFill>
            <a:srgbClr val="161B2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0" name="Rectangle 39"/>
          <p:cNvSpPr/>
          <p:nvPr/>
        </p:nvSpPr>
        <p:spPr>
          <a:xfrm>
            <a:off x="9395460" y="3474720"/>
            <a:ext cx="137160" cy="137160"/>
          </a:xfrm>
          <a:prstGeom prst="rect">
            <a:avLst/>
          </a:prstGeom>
          <a:solidFill>
            <a:srgbClr val="161B2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1" name="Rectangle 40"/>
          <p:cNvSpPr/>
          <p:nvPr/>
        </p:nvSpPr>
        <p:spPr>
          <a:xfrm>
            <a:off x="9806940" y="3474720"/>
            <a:ext cx="137160" cy="137160"/>
          </a:xfrm>
          <a:prstGeom prst="rect">
            <a:avLst/>
          </a:prstGeom>
          <a:solidFill>
            <a:srgbClr val="161B2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2" name="Rectangle 41"/>
          <p:cNvSpPr/>
          <p:nvPr/>
        </p:nvSpPr>
        <p:spPr>
          <a:xfrm>
            <a:off x="10218420" y="3474720"/>
            <a:ext cx="137160" cy="137160"/>
          </a:xfrm>
          <a:prstGeom prst="rect">
            <a:avLst/>
          </a:prstGeom>
          <a:solidFill>
            <a:srgbClr val="161B2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3" name="Rectangle 42"/>
          <p:cNvSpPr/>
          <p:nvPr/>
        </p:nvSpPr>
        <p:spPr>
          <a:xfrm>
            <a:off x="9532620" y="3611880"/>
            <a:ext cx="137160" cy="137160"/>
          </a:xfrm>
          <a:prstGeom prst="rect">
            <a:avLst/>
          </a:prstGeom>
          <a:solidFill>
            <a:srgbClr val="161B2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4" name="Rectangle 43"/>
          <p:cNvSpPr/>
          <p:nvPr/>
        </p:nvSpPr>
        <p:spPr>
          <a:xfrm>
            <a:off x="9669780" y="3611880"/>
            <a:ext cx="137160" cy="137160"/>
          </a:xfrm>
          <a:prstGeom prst="rect">
            <a:avLst/>
          </a:prstGeom>
          <a:solidFill>
            <a:srgbClr val="161B2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5" name="Rectangle 44"/>
          <p:cNvSpPr/>
          <p:nvPr/>
        </p:nvSpPr>
        <p:spPr>
          <a:xfrm>
            <a:off x="9806940" y="3611880"/>
            <a:ext cx="137160" cy="137160"/>
          </a:xfrm>
          <a:prstGeom prst="rect">
            <a:avLst/>
          </a:prstGeom>
          <a:solidFill>
            <a:srgbClr val="161B2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6" name="Rectangle 45"/>
          <p:cNvSpPr/>
          <p:nvPr/>
        </p:nvSpPr>
        <p:spPr>
          <a:xfrm>
            <a:off x="9944100" y="3611880"/>
            <a:ext cx="137160" cy="137160"/>
          </a:xfrm>
          <a:prstGeom prst="rect">
            <a:avLst/>
          </a:prstGeom>
          <a:solidFill>
            <a:srgbClr val="161B2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7" name="Rectangle 46"/>
          <p:cNvSpPr/>
          <p:nvPr/>
        </p:nvSpPr>
        <p:spPr>
          <a:xfrm>
            <a:off x="10081260" y="3611880"/>
            <a:ext cx="137160" cy="137160"/>
          </a:xfrm>
          <a:prstGeom prst="rect">
            <a:avLst/>
          </a:prstGeom>
          <a:solidFill>
            <a:srgbClr val="161B2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8" name="Rectangle 47"/>
          <p:cNvSpPr/>
          <p:nvPr/>
        </p:nvSpPr>
        <p:spPr>
          <a:xfrm>
            <a:off x="10218420" y="3611880"/>
            <a:ext cx="137160" cy="137160"/>
          </a:xfrm>
          <a:prstGeom prst="rect">
            <a:avLst/>
          </a:prstGeom>
          <a:solidFill>
            <a:srgbClr val="161B2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9" name="Rectangle 48"/>
          <p:cNvSpPr/>
          <p:nvPr/>
        </p:nvSpPr>
        <p:spPr>
          <a:xfrm>
            <a:off x="10355580" y="3611880"/>
            <a:ext cx="137160" cy="137160"/>
          </a:xfrm>
          <a:prstGeom prst="rect">
            <a:avLst/>
          </a:prstGeom>
          <a:solidFill>
            <a:srgbClr val="161B2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0" name="Rectangle 49"/>
          <p:cNvSpPr/>
          <p:nvPr/>
        </p:nvSpPr>
        <p:spPr>
          <a:xfrm>
            <a:off x="10492740" y="3611880"/>
            <a:ext cx="137160" cy="137160"/>
          </a:xfrm>
          <a:prstGeom prst="rect">
            <a:avLst/>
          </a:prstGeom>
          <a:solidFill>
            <a:srgbClr val="161B2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1" name="Rectangle 50"/>
          <p:cNvSpPr/>
          <p:nvPr/>
        </p:nvSpPr>
        <p:spPr>
          <a:xfrm>
            <a:off x="9806940" y="3749040"/>
            <a:ext cx="137160" cy="137160"/>
          </a:xfrm>
          <a:prstGeom prst="rect">
            <a:avLst/>
          </a:prstGeom>
          <a:solidFill>
            <a:srgbClr val="161B2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2" name="Rectangle 51"/>
          <p:cNvSpPr/>
          <p:nvPr/>
        </p:nvSpPr>
        <p:spPr>
          <a:xfrm>
            <a:off x="10218420" y="3749040"/>
            <a:ext cx="137160" cy="137160"/>
          </a:xfrm>
          <a:prstGeom prst="rect">
            <a:avLst/>
          </a:prstGeom>
          <a:solidFill>
            <a:srgbClr val="161B2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3" name="Rectangle 52"/>
          <p:cNvSpPr/>
          <p:nvPr/>
        </p:nvSpPr>
        <p:spPr>
          <a:xfrm>
            <a:off x="9806940" y="3886200"/>
            <a:ext cx="137160" cy="137160"/>
          </a:xfrm>
          <a:prstGeom prst="rect">
            <a:avLst/>
          </a:prstGeom>
          <a:solidFill>
            <a:srgbClr val="161B2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4" name="Rectangle 53"/>
          <p:cNvSpPr/>
          <p:nvPr/>
        </p:nvSpPr>
        <p:spPr>
          <a:xfrm>
            <a:off x="10218420" y="3886200"/>
            <a:ext cx="137160" cy="137160"/>
          </a:xfrm>
          <a:prstGeom prst="rect">
            <a:avLst/>
          </a:prstGeom>
          <a:solidFill>
            <a:srgbClr val="161B2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5" name="Rectangle 54"/>
          <p:cNvSpPr/>
          <p:nvPr/>
        </p:nvSpPr>
        <p:spPr>
          <a:xfrm>
            <a:off x="9532620" y="4023360"/>
            <a:ext cx="137160" cy="137160"/>
          </a:xfrm>
          <a:prstGeom prst="rect">
            <a:avLst/>
          </a:prstGeom>
          <a:solidFill>
            <a:srgbClr val="161B2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6" name="Rectangle 55"/>
          <p:cNvSpPr/>
          <p:nvPr/>
        </p:nvSpPr>
        <p:spPr>
          <a:xfrm>
            <a:off x="9669780" y="4023360"/>
            <a:ext cx="137160" cy="137160"/>
          </a:xfrm>
          <a:prstGeom prst="rect">
            <a:avLst/>
          </a:prstGeom>
          <a:solidFill>
            <a:srgbClr val="161B2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7" name="Rectangle 56"/>
          <p:cNvSpPr/>
          <p:nvPr/>
        </p:nvSpPr>
        <p:spPr>
          <a:xfrm>
            <a:off x="9806940" y="4023360"/>
            <a:ext cx="137160" cy="137160"/>
          </a:xfrm>
          <a:prstGeom prst="rect">
            <a:avLst/>
          </a:prstGeom>
          <a:solidFill>
            <a:srgbClr val="161B2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8" name="Rectangle 57"/>
          <p:cNvSpPr/>
          <p:nvPr/>
        </p:nvSpPr>
        <p:spPr>
          <a:xfrm>
            <a:off x="9944100" y="4023360"/>
            <a:ext cx="137160" cy="137160"/>
          </a:xfrm>
          <a:prstGeom prst="rect">
            <a:avLst/>
          </a:prstGeom>
          <a:solidFill>
            <a:srgbClr val="161B2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9" name="Rectangle 58"/>
          <p:cNvSpPr/>
          <p:nvPr/>
        </p:nvSpPr>
        <p:spPr>
          <a:xfrm>
            <a:off x="10081260" y="4023360"/>
            <a:ext cx="137160" cy="137160"/>
          </a:xfrm>
          <a:prstGeom prst="rect">
            <a:avLst/>
          </a:prstGeom>
          <a:solidFill>
            <a:srgbClr val="161B2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0" name="Rectangle 59"/>
          <p:cNvSpPr/>
          <p:nvPr/>
        </p:nvSpPr>
        <p:spPr>
          <a:xfrm>
            <a:off x="10218420" y="4023360"/>
            <a:ext cx="137160" cy="137160"/>
          </a:xfrm>
          <a:prstGeom prst="rect">
            <a:avLst/>
          </a:prstGeom>
          <a:solidFill>
            <a:srgbClr val="161B2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1" name="Rectangle 60"/>
          <p:cNvSpPr/>
          <p:nvPr/>
        </p:nvSpPr>
        <p:spPr>
          <a:xfrm>
            <a:off x="10355580" y="4023360"/>
            <a:ext cx="137160" cy="137160"/>
          </a:xfrm>
          <a:prstGeom prst="rect">
            <a:avLst/>
          </a:prstGeom>
          <a:solidFill>
            <a:srgbClr val="161B2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2" name="Rectangle 61"/>
          <p:cNvSpPr/>
          <p:nvPr/>
        </p:nvSpPr>
        <p:spPr>
          <a:xfrm>
            <a:off x="10492740" y="4023360"/>
            <a:ext cx="137160" cy="137160"/>
          </a:xfrm>
          <a:prstGeom prst="rect">
            <a:avLst/>
          </a:prstGeom>
          <a:solidFill>
            <a:srgbClr val="161B2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3" name="Rectangle 62"/>
          <p:cNvSpPr/>
          <p:nvPr/>
        </p:nvSpPr>
        <p:spPr>
          <a:xfrm>
            <a:off x="9806940" y="4160520"/>
            <a:ext cx="137160" cy="137160"/>
          </a:xfrm>
          <a:prstGeom prst="rect">
            <a:avLst/>
          </a:prstGeom>
          <a:solidFill>
            <a:srgbClr val="161B2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4" name="Rectangle 63"/>
          <p:cNvSpPr/>
          <p:nvPr/>
        </p:nvSpPr>
        <p:spPr>
          <a:xfrm>
            <a:off x="10218420" y="4160520"/>
            <a:ext cx="137160" cy="137160"/>
          </a:xfrm>
          <a:prstGeom prst="rect">
            <a:avLst/>
          </a:prstGeom>
          <a:solidFill>
            <a:srgbClr val="161B2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5" name="Rectangle 64"/>
          <p:cNvSpPr/>
          <p:nvPr/>
        </p:nvSpPr>
        <p:spPr>
          <a:xfrm>
            <a:off x="9806940" y="4297680"/>
            <a:ext cx="137160" cy="137160"/>
          </a:xfrm>
          <a:prstGeom prst="rect">
            <a:avLst/>
          </a:prstGeom>
          <a:solidFill>
            <a:srgbClr val="161B2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6" name="Rectangle 65"/>
          <p:cNvSpPr/>
          <p:nvPr/>
        </p:nvSpPr>
        <p:spPr>
          <a:xfrm>
            <a:off x="10218420" y="4297680"/>
            <a:ext cx="137160" cy="137160"/>
          </a:xfrm>
          <a:prstGeom prst="rect">
            <a:avLst/>
          </a:prstGeom>
          <a:solidFill>
            <a:srgbClr val="161B2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7" name="Rectangle 66"/>
          <p:cNvSpPr/>
          <p:nvPr/>
        </p:nvSpPr>
        <p:spPr>
          <a:xfrm>
            <a:off x="9532620" y="4434840"/>
            <a:ext cx="137160" cy="137160"/>
          </a:xfrm>
          <a:prstGeom prst="rect">
            <a:avLst/>
          </a:prstGeom>
          <a:solidFill>
            <a:srgbClr val="161B2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8" name="Rectangle 67"/>
          <p:cNvSpPr/>
          <p:nvPr/>
        </p:nvSpPr>
        <p:spPr>
          <a:xfrm>
            <a:off x="9669780" y="4434840"/>
            <a:ext cx="137160" cy="137160"/>
          </a:xfrm>
          <a:prstGeom prst="rect">
            <a:avLst/>
          </a:prstGeom>
          <a:solidFill>
            <a:srgbClr val="161B2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9" name="Rectangle 68"/>
          <p:cNvSpPr/>
          <p:nvPr/>
        </p:nvSpPr>
        <p:spPr>
          <a:xfrm>
            <a:off x="9806940" y="4434840"/>
            <a:ext cx="137160" cy="137160"/>
          </a:xfrm>
          <a:prstGeom prst="rect">
            <a:avLst/>
          </a:prstGeom>
          <a:solidFill>
            <a:srgbClr val="161B2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0" name="Rectangle 69"/>
          <p:cNvSpPr/>
          <p:nvPr/>
        </p:nvSpPr>
        <p:spPr>
          <a:xfrm>
            <a:off x="9944100" y="4434840"/>
            <a:ext cx="137160" cy="137160"/>
          </a:xfrm>
          <a:prstGeom prst="rect">
            <a:avLst/>
          </a:prstGeom>
          <a:solidFill>
            <a:srgbClr val="161B2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1" name="Rectangle 70"/>
          <p:cNvSpPr/>
          <p:nvPr/>
        </p:nvSpPr>
        <p:spPr>
          <a:xfrm>
            <a:off x="10081260" y="4434840"/>
            <a:ext cx="137160" cy="137160"/>
          </a:xfrm>
          <a:prstGeom prst="rect">
            <a:avLst/>
          </a:prstGeom>
          <a:solidFill>
            <a:srgbClr val="161B2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2" name="Rectangle 71"/>
          <p:cNvSpPr/>
          <p:nvPr/>
        </p:nvSpPr>
        <p:spPr>
          <a:xfrm>
            <a:off x="10218420" y="4434840"/>
            <a:ext cx="137160" cy="137160"/>
          </a:xfrm>
          <a:prstGeom prst="rect">
            <a:avLst/>
          </a:prstGeom>
          <a:solidFill>
            <a:srgbClr val="161B2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3" name="Rectangle 72"/>
          <p:cNvSpPr/>
          <p:nvPr/>
        </p:nvSpPr>
        <p:spPr>
          <a:xfrm>
            <a:off x="10355580" y="4434840"/>
            <a:ext cx="137160" cy="137160"/>
          </a:xfrm>
          <a:prstGeom prst="rect">
            <a:avLst/>
          </a:prstGeom>
          <a:solidFill>
            <a:srgbClr val="161B2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4" name="Rectangle 73"/>
          <p:cNvSpPr/>
          <p:nvPr/>
        </p:nvSpPr>
        <p:spPr>
          <a:xfrm>
            <a:off x="10492740" y="4434840"/>
            <a:ext cx="137160" cy="137160"/>
          </a:xfrm>
          <a:prstGeom prst="rect">
            <a:avLst/>
          </a:prstGeom>
          <a:solidFill>
            <a:srgbClr val="161B2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5" name="Rectangle 74"/>
          <p:cNvSpPr/>
          <p:nvPr/>
        </p:nvSpPr>
        <p:spPr>
          <a:xfrm>
            <a:off x="8572500" y="2514600"/>
            <a:ext cx="137160" cy="137160"/>
          </a:xfrm>
          <a:prstGeom prst="rect">
            <a:avLst/>
          </a:prstGeom>
          <a:solidFill>
            <a:srgbClr val="161B2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6" name="Rectangle 75"/>
          <p:cNvSpPr/>
          <p:nvPr/>
        </p:nvSpPr>
        <p:spPr>
          <a:xfrm>
            <a:off x="8709660" y="2514600"/>
            <a:ext cx="137160" cy="137160"/>
          </a:xfrm>
          <a:prstGeom prst="rect">
            <a:avLst/>
          </a:prstGeom>
          <a:solidFill>
            <a:srgbClr val="161B2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7" name="Rectangle 76"/>
          <p:cNvSpPr/>
          <p:nvPr/>
        </p:nvSpPr>
        <p:spPr>
          <a:xfrm>
            <a:off x="8846820" y="2514600"/>
            <a:ext cx="137160" cy="137160"/>
          </a:xfrm>
          <a:prstGeom prst="rect">
            <a:avLst/>
          </a:prstGeom>
          <a:solidFill>
            <a:srgbClr val="161B2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8" name="Rectangle 77"/>
          <p:cNvSpPr/>
          <p:nvPr/>
        </p:nvSpPr>
        <p:spPr>
          <a:xfrm>
            <a:off x="8983980" y="2514600"/>
            <a:ext cx="137160" cy="137160"/>
          </a:xfrm>
          <a:prstGeom prst="rect">
            <a:avLst/>
          </a:prstGeom>
          <a:solidFill>
            <a:srgbClr val="161B2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9" name="Rectangle 78"/>
          <p:cNvSpPr/>
          <p:nvPr/>
        </p:nvSpPr>
        <p:spPr>
          <a:xfrm>
            <a:off x="9121140" y="2514600"/>
            <a:ext cx="137160" cy="137160"/>
          </a:xfrm>
          <a:prstGeom prst="rect">
            <a:avLst/>
          </a:prstGeom>
          <a:solidFill>
            <a:srgbClr val="161B2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0" name="Rectangle 79"/>
          <p:cNvSpPr/>
          <p:nvPr/>
        </p:nvSpPr>
        <p:spPr>
          <a:xfrm>
            <a:off x="9258300" y="2514600"/>
            <a:ext cx="137160" cy="137160"/>
          </a:xfrm>
          <a:prstGeom prst="rect">
            <a:avLst/>
          </a:prstGeom>
          <a:solidFill>
            <a:srgbClr val="161B2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1" name="Rectangle 80"/>
          <p:cNvSpPr/>
          <p:nvPr/>
        </p:nvSpPr>
        <p:spPr>
          <a:xfrm>
            <a:off x="9395460" y="2514600"/>
            <a:ext cx="137160" cy="137160"/>
          </a:xfrm>
          <a:prstGeom prst="rect">
            <a:avLst/>
          </a:prstGeom>
          <a:solidFill>
            <a:srgbClr val="161B2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2" name="Rectangle 81"/>
          <p:cNvSpPr/>
          <p:nvPr/>
        </p:nvSpPr>
        <p:spPr>
          <a:xfrm>
            <a:off x="8572500" y="2651760"/>
            <a:ext cx="137160" cy="137160"/>
          </a:xfrm>
          <a:prstGeom prst="rect">
            <a:avLst/>
          </a:prstGeom>
          <a:solidFill>
            <a:srgbClr val="161B2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3" name="Rectangle 82"/>
          <p:cNvSpPr/>
          <p:nvPr/>
        </p:nvSpPr>
        <p:spPr>
          <a:xfrm>
            <a:off x="9395460" y="2651760"/>
            <a:ext cx="137160" cy="137160"/>
          </a:xfrm>
          <a:prstGeom prst="rect">
            <a:avLst/>
          </a:prstGeom>
          <a:solidFill>
            <a:srgbClr val="161B2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4" name="Rectangle 83"/>
          <p:cNvSpPr/>
          <p:nvPr/>
        </p:nvSpPr>
        <p:spPr>
          <a:xfrm>
            <a:off x="8572500" y="2788920"/>
            <a:ext cx="137160" cy="137160"/>
          </a:xfrm>
          <a:prstGeom prst="rect">
            <a:avLst/>
          </a:prstGeom>
          <a:solidFill>
            <a:srgbClr val="161B2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5" name="Rectangle 84"/>
          <p:cNvSpPr/>
          <p:nvPr/>
        </p:nvSpPr>
        <p:spPr>
          <a:xfrm>
            <a:off x="8846820" y="2788920"/>
            <a:ext cx="137160" cy="137160"/>
          </a:xfrm>
          <a:prstGeom prst="rect">
            <a:avLst/>
          </a:prstGeom>
          <a:solidFill>
            <a:srgbClr val="161B2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6" name="Rectangle 85"/>
          <p:cNvSpPr/>
          <p:nvPr/>
        </p:nvSpPr>
        <p:spPr>
          <a:xfrm>
            <a:off x="8983980" y="2788920"/>
            <a:ext cx="137160" cy="137160"/>
          </a:xfrm>
          <a:prstGeom prst="rect">
            <a:avLst/>
          </a:prstGeom>
          <a:solidFill>
            <a:srgbClr val="161B2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7" name="Rectangle 86"/>
          <p:cNvSpPr/>
          <p:nvPr/>
        </p:nvSpPr>
        <p:spPr>
          <a:xfrm>
            <a:off x="9121140" y="2788920"/>
            <a:ext cx="137160" cy="137160"/>
          </a:xfrm>
          <a:prstGeom prst="rect">
            <a:avLst/>
          </a:prstGeom>
          <a:solidFill>
            <a:srgbClr val="161B2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8" name="Rectangle 87"/>
          <p:cNvSpPr/>
          <p:nvPr/>
        </p:nvSpPr>
        <p:spPr>
          <a:xfrm>
            <a:off x="9395460" y="2788920"/>
            <a:ext cx="137160" cy="137160"/>
          </a:xfrm>
          <a:prstGeom prst="rect">
            <a:avLst/>
          </a:prstGeom>
          <a:solidFill>
            <a:srgbClr val="161B2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9" name="Rectangle 88"/>
          <p:cNvSpPr/>
          <p:nvPr/>
        </p:nvSpPr>
        <p:spPr>
          <a:xfrm>
            <a:off x="8572500" y="2926080"/>
            <a:ext cx="137160" cy="137160"/>
          </a:xfrm>
          <a:prstGeom prst="rect">
            <a:avLst/>
          </a:prstGeom>
          <a:solidFill>
            <a:srgbClr val="161B2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0" name="Rectangle 89"/>
          <p:cNvSpPr/>
          <p:nvPr/>
        </p:nvSpPr>
        <p:spPr>
          <a:xfrm>
            <a:off x="8846820" y="2926080"/>
            <a:ext cx="137160" cy="137160"/>
          </a:xfrm>
          <a:prstGeom prst="rect">
            <a:avLst/>
          </a:prstGeom>
          <a:solidFill>
            <a:srgbClr val="161B2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1" name="Rectangle 90"/>
          <p:cNvSpPr/>
          <p:nvPr/>
        </p:nvSpPr>
        <p:spPr>
          <a:xfrm>
            <a:off x="8983980" y="2926080"/>
            <a:ext cx="137160" cy="137160"/>
          </a:xfrm>
          <a:prstGeom prst="rect">
            <a:avLst/>
          </a:prstGeom>
          <a:solidFill>
            <a:srgbClr val="161B2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2" name="Rectangle 91"/>
          <p:cNvSpPr/>
          <p:nvPr/>
        </p:nvSpPr>
        <p:spPr>
          <a:xfrm>
            <a:off x="9121140" y="2926080"/>
            <a:ext cx="137160" cy="137160"/>
          </a:xfrm>
          <a:prstGeom prst="rect">
            <a:avLst/>
          </a:prstGeom>
          <a:solidFill>
            <a:srgbClr val="161B2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3" name="Rectangle 92"/>
          <p:cNvSpPr/>
          <p:nvPr/>
        </p:nvSpPr>
        <p:spPr>
          <a:xfrm>
            <a:off x="9395460" y="2926080"/>
            <a:ext cx="137160" cy="137160"/>
          </a:xfrm>
          <a:prstGeom prst="rect">
            <a:avLst/>
          </a:prstGeom>
          <a:solidFill>
            <a:srgbClr val="161B2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4" name="Rectangle 93"/>
          <p:cNvSpPr/>
          <p:nvPr/>
        </p:nvSpPr>
        <p:spPr>
          <a:xfrm>
            <a:off x="8572500" y="3063240"/>
            <a:ext cx="137160" cy="137160"/>
          </a:xfrm>
          <a:prstGeom prst="rect">
            <a:avLst/>
          </a:prstGeom>
          <a:solidFill>
            <a:srgbClr val="161B2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5" name="Rectangle 94"/>
          <p:cNvSpPr/>
          <p:nvPr/>
        </p:nvSpPr>
        <p:spPr>
          <a:xfrm>
            <a:off x="8846820" y="3063240"/>
            <a:ext cx="137160" cy="137160"/>
          </a:xfrm>
          <a:prstGeom prst="rect">
            <a:avLst/>
          </a:prstGeom>
          <a:solidFill>
            <a:srgbClr val="161B2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6" name="Rectangle 95"/>
          <p:cNvSpPr/>
          <p:nvPr/>
        </p:nvSpPr>
        <p:spPr>
          <a:xfrm>
            <a:off x="8983980" y="3063240"/>
            <a:ext cx="137160" cy="137160"/>
          </a:xfrm>
          <a:prstGeom prst="rect">
            <a:avLst/>
          </a:prstGeom>
          <a:solidFill>
            <a:srgbClr val="161B2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7" name="Rectangle 96"/>
          <p:cNvSpPr/>
          <p:nvPr/>
        </p:nvSpPr>
        <p:spPr>
          <a:xfrm>
            <a:off x="9121140" y="3063240"/>
            <a:ext cx="137160" cy="137160"/>
          </a:xfrm>
          <a:prstGeom prst="rect">
            <a:avLst/>
          </a:prstGeom>
          <a:solidFill>
            <a:srgbClr val="161B2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8" name="Rectangle 97"/>
          <p:cNvSpPr/>
          <p:nvPr/>
        </p:nvSpPr>
        <p:spPr>
          <a:xfrm>
            <a:off x="9395460" y="3063240"/>
            <a:ext cx="137160" cy="137160"/>
          </a:xfrm>
          <a:prstGeom prst="rect">
            <a:avLst/>
          </a:prstGeom>
          <a:solidFill>
            <a:srgbClr val="161B2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9" name="Rectangle 98"/>
          <p:cNvSpPr/>
          <p:nvPr/>
        </p:nvSpPr>
        <p:spPr>
          <a:xfrm>
            <a:off x="8572500" y="3200400"/>
            <a:ext cx="137160" cy="137160"/>
          </a:xfrm>
          <a:prstGeom prst="rect">
            <a:avLst/>
          </a:prstGeom>
          <a:solidFill>
            <a:srgbClr val="161B2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0" name="Rectangle 99"/>
          <p:cNvSpPr/>
          <p:nvPr/>
        </p:nvSpPr>
        <p:spPr>
          <a:xfrm>
            <a:off x="9395460" y="3200400"/>
            <a:ext cx="137160" cy="137160"/>
          </a:xfrm>
          <a:prstGeom prst="rect">
            <a:avLst/>
          </a:prstGeom>
          <a:solidFill>
            <a:srgbClr val="161B2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1" name="Rectangle 100"/>
          <p:cNvSpPr/>
          <p:nvPr/>
        </p:nvSpPr>
        <p:spPr>
          <a:xfrm>
            <a:off x="8572500" y="3337560"/>
            <a:ext cx="137160" cy="137160"/>
          </a:xfrm>
          <a:prstGeom prst="rect">
            <a:avLst/>
          </a:prstGeom>
          <a:solidFill>
            <a:srgbClr val="161B2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2" name="Rectangle 101"/>
          <p:cNvSpPr/>
          <p:nvPr/>
        </p:nvSpPr>
        <p:spPr>
          <a:xfrm>
            <a:off x="8709660" y="3337560"/>
            <a:ext cx="137160" cy="137160"/>
          </a:xfrm>
          <a:prstGeom prst="rect">
            <a:avLst/>
          </a:prstGeom>
          <a:solidFill>
            <a:srgbClr val="161B2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3" name="Rectangle 102"/>
          <p:cNvSpPr/>
          <p:nvPr/>
        </p:nvSpPr>
        <p:spPr>
          <a:xfrm>
            <a:off x="8846820" y="3337560"/>
            <a:ext cx="137160" cy="137160"/>
          </a:xfrm>
          <a:prstGeom prst="rect">
            <a:avLst/>
          </a:prstGeom>
          <a:solidFill>
            <a:srgbClr val="161B2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4" name="Rectangle 103"/>
          <p:cNvSpPr/>
          <p:nvPr/>
        </p:nvSpPr>
        <p:spPr>
          <a:xfrm>
            <a:off x="8983980" y="3337560"/>
            <a:ext cx="137160" cy="137160"/>
          </a:xfrm>
          <a:prstGeom prst="rect">
            <a:avLst/>
          </a:prstGeom>
          <a:solidFill>
            <a:srgbClr val="161B2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5" name="Rectangle 104"/>
          <p:cNvSpPr/>
          <p:nvPr/>
        </p:nvSpPr>
        <p:spPr>
          <a:xfrm>
            <a:off x="9121140" y="3337560"/>
            <a:ext cx="137160" cy="137160"/>
          </a:xfrm>
          <a:prstGeom prst="rect">
            <a:avLst/>
          </a:prstGeom>
          <a:solidFill>
            <a:srgbClr val="161B2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6" name="Rectangle 105"/>
          <p:cNvSpPr/>
          <p:nvPr/>
        </p:nvSpPr>
        <p:spPr>
          <a:xfrm>
            <a:off x="9258300" y="3337560"/>
            <a:ext cx="137160" cy="137160"/>
          </a:xfrm>
          <a:prstGeom prst="rect">
            <a:avLst/>
          </a:prstGeom>
          <a:solidFill>
            <a:srgbClr val="161B2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7" name="Rectangle 106"/>
          <p:cNvSpPr/>
          <p:nvPr/>
        </p:nvSpPr>
        <p:spPr>
          <a:xfrm>
            <a:off x="9395460" y="3337560"/>
            <a:ext cx="137160" cy="137160"/>
          </a:xfrm>
          <a:prstGeom prst="rect">
            <a:avLst/>
          </a:prstGeom>
          <a:solidFill>
            <a:srgbClr val="161B2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8" name="Rectangle 107"/>
          <p:cNvSpPr/>
          <p:nvPr/>
        </p:nvSpPr>
        <p:spPr>
          <a:xfrm>
            <a:off x="9669780" y="2514600"/>
            <a:ext cx="137160" cy="137160"/>
          </a:xfrm>
          <a:prstGeom prst="rect">
            <a:avLst/>
          </a:prstGeom>
          <a:solidFill>
            <a:srgbClr val="161B2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9" name="Rectangle 108"/>
          <p:cNvSpPr/>
          <p:nvPr/>
        </p:nvSpPr>
        <p:spPr>
          <a:xfrm>
            <a:off x="9806940" y="2514600"/>
            <a:ext cx="137160" cy="137160"/>
          </a:xfrm>
          <a:prstGeom prst="rect">
            <a:avLst/>
          </a:prstGeom>
          <a:solidFill>
            <a:srgbClr val="161B2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0" name="Rectangle 109"/>
          <p:cNvSpPr/>
          <p:nvPr/>
        </p:nvSpPr>
        <p:spPr>
          <a:xfrm>
            <a:off x="9944100" y="2514600"/>
            <a:ext cx="137160" cy="137160"/>
          </a:xfrm>
          <a:prstGeom prst="rect">
            <a:avLst/>
          </a:prstGeom>
          <a:solidFill>
            <a:srgbClr val="161B2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1" name="Rectangle 110"/>
          <p:cNvSpPr/>
          <p:nvPr/>
        </p:nvSpPr>
        <p:spPr>
          <a:xfrm>
            <a:off x="10081260" y="2514600"/>
            <a:ext cx="137160" cy="137160"/>
          </a:xfrm>
          <a:prstGeom prst="rect">
            <a:avLst/>
          </a:prstGeom>
          <a:solidFill>
            <a:srgbClr val="161B2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2" name="Rectangle 111"/>
          <p:cNvSpPr/>
          <p:nvPr/>
        </p:nvSpPr>
        <p:spPr>
          <a:xfrm>
            <a:off x="10218420" y="2514600"/>
            <a:ext cx="137160" cy="137160"/>
          </a:xfrm>
          <a:prstGeom prst="rect">
            <a:avLst/>
          </a:prstGeom>
          <a:solidFill>
            <a:srgbClr val="161B2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3" name="Rectangle 112"/>
          <p:cNvSpPr/>
          <p:nvPr/>
        </p:nvSpPr>
        <p:spPr>
          <a:xfrm>
            <a:off x="10355580" y="2514600"/>
            <a:ext cx="137160" cy="137160"/>
          </a:xfrm>
          <a:prstGeom prst="rect">
            <a:avLst/>
          </a:prstGeom>
          <a:solidFill>
            <a:srgbClr val="161B2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4" name="Rectangle 113"/>
          <p:cNvSpPr/>
          <p:nvPr/>
        </p:nvSpPr>
        <p:spPr>
          <a:xfrm>
            <a:off x="10492740" y="2514600"/>
            <a:ext cx="137160" cy="137160"/>
          </a:xfrm>
          <a:prstGeom prst="rect">
            <a:avLst/>
          </a:prstGeom>
          <a:solidFill>
            <a:srgbClr val="161B2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5" name="Rectangle 114"/>
          <p:cNvSpPr/>
          <p:nvPr/>
        </p:nvSpPr>
        <p:spPr>
          <a:xfrm>
            <a:off x="9669780" y="2651760"/>
            <a:ext cx="137160" cy="137160"/>
          </a:xfrm>
          <a:prstGeom prst="rect">
            <a:avLst/>
          </a:prstGeom>
          <a:solidFill>
            <a:srgbClr val="161B2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6" name="Rectangle 115"/>
          <p:cNvSpPr/>
          <p:nvPr/>
        </p:nvSpPr>
        <p:spPr>
          <a:xfrm>
            <a:off x="10492740" y="2651760"/>
            <a:ext cx="137160" cy="137160"/>
          </a:xfrm>
          <a:prstGeom prst="rect">
            <a:avLst/>
          </a:prstGeom>
          <a:solidFill>
            <a:srgbClr val="161B2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7" name="Rectangle 116"/>
          <p:cNvSpPr/>
          <p:nvPr/>
        </p:nvSpPr>
        <p:spPr>
          <a:xfrm>
            <a:off x="9669780" y="2788920"/>
            <a:ext cx="137160" cy="137160"/>
          </a:xfrm>
          <a:prstGeom prst="rect">
            <a:avLst/>
          </a:prstGeom>
          <a:solidFill>
            <a:srgbClr val="161B2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8" name="Rectangle 117"/>
          <p:cNvSpPr/>
          <p:nvPr/>
        </p:nvSpPr>
        <p:spPr>
          <a:xfrm>
            <a:off x="9944100" y="2788920"/>
            <a:ext cx="137160" cy="137160"/>
          </a:xfrm>
          <a:prstGeom prst="rect">
            <a:avLst/>
          </a:prstGeom>
          <a:solidFill>
            <a:srgbClr val="161B2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9" name="Rectangle 118"/>
          <p:cNvSpPr/>
          <p:nvPr/>
        </p:nvSpPr>
        <p:spPr>
          <a:xfrm>
            <a:off x="10081260" y="2788920"/>
            <a:ext cx="137160" cy="137160"/>
          </a:xfrm>
          <a:prstGeom prst="rect">
            <a:avLst/>
          </a:prstGeom>
          <a:solidFill>
            <a:srgbClr val="161B2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0" name="Rectangle 119"/>
          <p:cNvSpPr/>
          <p:nvPr/>
        </p:nvSpPr>
        <p:spPr>
          <a:xfrm>
            <a:off x="10218420" y="2788920"/>
            <a:ext cx="137160" cy="137160"/>
          </a:xfrm>
          <a:prstGeom prst="rect">
            <a:avLst/>
          </a:prstGeom>
          <a:solidFill>
            <a:srgbClr val="161B2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1" name="Rectangle 120"/>
          <p:cNvSpPr/>
          <p:nvPr/>
        </p:nvSpPr>
        <p:spPr>
          <a:xfrm>
            <a:off x="10492740" y="2788920"/>
            <a:ext cx="137160" cy="137160"/>
          </a:xfrm>
          <a:prstGeom prst="rect">
            <a:avLst/>
          </a:prstGeom>
          <a:solidFill>
            <a:srgbClr val="161B2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2" name="Rectangle 121"/>
          <p:cNvSpPr/>
          <p:nvPr/>
        </p:nvSpPr>
        <p:spPr>
          <a:xfrm>
            <a:off x="9669780" y="2926080"/>
            <a:ext cx="137160" cy="137160"/>
          </a:xfrm>
          <a:prstGeom prst="rect">
            <a:avLst/>
          </a:prstGeom>
          <a:solidFill>
            <a:srgbClr val="161B2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3" name="Rectangle 122"/>
          <p:cNvSpPr/>
          <p:nvPr/>
        </p:nvSpPr>
        <p:spPr>
          <a:xfrm>
            <a:off x="9944100" y="2926080"/>
            <a:ext cx="137160" cy="137160"/>
          </a:xfrm>
          <a:prstGeom prst="rect">
            <a:avLst/>
          </a:prstGeom>
          <a:solidFill>
            <a:srgbClr val="161B2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4" name="Rectangle 123"/>
          <p:cNvSpPr/>
          <p:nvPr/>
        </p:nvSpPr>
        <p:spPr>
          <a:xfrm>
            <a:off x="10081260" y="2926080"/>
            <a:ext cx="137160" cy="137160"/>
          </a:xfrm>
          <a:prstGeom prst="rect">
            <a:avLst/>
          </a:prstGeom>
          <a:solidFill>
            <a:srgbClr val="161B2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5" name="Rectangle 124"/>
          <p:cNvSpPr/>
          <p:nvPr/>
        </p:nvSpPr>
        <p:spPr>
          <a:xfrm>
            <a:off x="10218420" y="2926080"/>
            <a:ext cx="137160" cy="137160"/>
          </a:xfrm>
          <a:prstGeom prst="rect">
            <a:avLst/>
          </a:prstGeom>
          <a:solidFill>
            <a:srgbClr val="161B2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6" name="Rectangle 125"/>
          <p:cNvSpPr/>
          <p:nvPr/>
        </p:nvSpPr>
        <p:spPr>
          <a:xfrm>
            <a:off x="10492740" y="2926080"/>
            <a:ext cx="137160" cy="137160"/>
          </a:xfrm>
          <a:prstGeom prst="rect">
            <a:avLst/>
          </a:prstGeom>
          <a:solidFill>
            <a:srgbClr val="161B2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7" name="Rectangle 126"/>
          <p:cNvSpPr/>
          <p:nvPr/>
        </p:nvSpPr>
        <p:spPr>
          <a:xfrm>
            <a:off x="9669780" y="3063240"/>
            <a:ext cx="137160" cy="137160"/>
          </a:xfrm>
          <a:prstGeom prst="rect">
            <a:avLst/>
          </a:prstGeom>
          <a:solidFill>
            <a:srgbClr val="161B2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8" name="Rectangle 127"/>
          <p:cNvSpPr/>
          <p:nvPr/>
        </p:nvSpPr>
        <p:spPr>
          <a:xfrm>
            <a:off x="9944100" y="3063240"/>
            <a:ext cx="137160" cy="137160"/>
          </a:xfrm>
          <a:prstGeom prst="rect">
            <a:avLst/>
          </a:prstGeom>
          <a:solidFill>
            <a:srgbClr val="161B2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9" name="Rectangle 128"/>
          <p:cNvSpPr/>
          <p:nvPr/>
        </p:nvSpPr>
        <p:spPr>
          <a:xfrm>
            <a:off x="10081260" y="3063240"/>
            <a:ext cx="137160" cy="137160"/>
          </a:xfrm>
          <a:prstGeom prst="rect">
            <a:avLst/>
          </a:prstGeom>
          <a:solidFill>
            <a:srgbClr val="161B2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0" name="Rectangle 129"/>
          <p:cNvSpPr/>
          <p:nvPr/>
        </p:nvSpPr>
        <p:spPr>
          <a:xfrm>
            <a:off x="10218420" y="3063240"/>
            <a:ext cx="137160" cy="137160"/>
          </a:xfrm>
          <a:prstGeom prst="rect">
            <a:avLst/>
          </a:prstGeom>
          <a:solidFill>
            <a:srgbClr val="161B2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1" name="Rectangle 130"/>
          <p:cNvSpPr/>
          <p:nvPr/>
        </p:nvSpPr>
        <p:spPr>
          <a:xfrm>
            <a:off x="10492740" y="3063240"/>
            <a:ext cx="137160" cy="137160"/>
          </a:xfrm>
          <a:prstGeom prst="rect">
            <a:avLst/>
          </a:prstGeom>
          <a:solidFill>
            <a:srgbClr val="161B2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2" name="Rectangle 131"/>
          <p:cNvSpPr/>
          <p:nvPr/>
        </p:nvSpPr>
        <p:spPr>
          <a:xfrm>
            <a:off x="9669780" y="3200400"/>
            <a:ext cx="137160" cy="137160"/>
          </a:xfrm>
          <a:prstGeom prst="rect">
            <a:avLst/>
          </a:prstGeom>
          <a:solidFill>
            <a:srgbClr val="161B2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3" name="Rectangle 132"/>
          <p:cNvSpPr/>
          <p:nvPr/>
        </p:nvSpPr>
        <p:spPr>
          <a:xfrm>
            <a:off x="10492740" y="3200400"/>
            <a:ext cx="137160" cy="137160"/>
          </a:xfrm>
          <a:prstGeom prst="rect">
            <a:avLst/>
          </a:prstGeom>
          <a:solidFill>
            <a:srgbClr val="161B2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4" name="Rectangle 133"/>
          <p:cNvSpPr/>
          <p:nvPr/>
        </p:nvSpPr>
        <p:spPr>
          <a:xfrm>
            <a:off x="9669780" y="3337560"/>
            <a:ext cx="137160" cy="137160"/>
          </a:xfrm>
          <a:prstGeom prst="rect">
            <a:avLst/>
          </a:prstGeom>
          <a:solidFill>
            <a:srgbClr val="161B2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5" name="Rectangle 134"/>
          <p:cNvSpPr/>
          <p:nvPr/>
        </p:nvSpPr>
        <p:spPr>
          <a:xfrm>
            <a:off x="9806940" y="3337560"/>
            <a:ext cx="137160" cy="137160"/>
          </a:xfrm>
          <a:prstGeom prst="rect">
            <a:avLst/>
          </a:prstGeom>
          <a:solidFill>
            <a:srgbClr val="161B2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6" name="Rectangle 135"/>
          <p:cNvSpPr/>
          <p:nvPr/>
        </p:nvSpPr>
        <p:spPr>
          <a:xfrm>
            <a:off x="9944100" y="3337560"/>
            <a:ext cx="137160" cy="137160"/>
          </a:xfrm>
          <a:prstGeom prst="rect">
            <a:avLst/>
          </a:prstGeom>
          <a:solidFill>
            <a:srgbClr val="161B2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7" name="Rectangle 136"/>
          <p:cNvSpPr/>
          <p:nvPr/>
        </p:nvSpPr>
        <p:spPr>
          <a:xfrm>
            <a:off x="10081260" y="3337560"/>
            <a:ext cx="137160" cy="137160"/>
          </a:xfrm>
          <a:prstGeom prst="rect">
            <a:avLst/>
          </a:prstGeom>
          <a:solidFill>
            <a:srgbClr val="161B2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8" name="Rectangle 137"/>
          <p:cNvSpPr/>
          <p:nvPr/>
        </p:nvSpPr>
        <p:spPr>
          <a:xfrm>
            <a:off x="10218420" y="3337560"/>
            <a:ext cx="137160" cy="137160"/>
          </a:xfrm>
          <a:prstGeom prst="rect">
            <a:avLst/>
          </a:prstGeom>
          <a:solidFill>
            <a:srgbClr val="161B2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9" name="Rectangle 138"/>
          <p:cNvSpPr/>
          <p:nvPr/>
        </p:nvSpPr>
        <p:spPr>
          <a:xfrm>
            <a:off x="10355580" y="3337560"/>
            <a:ext cx="137160" cy="137160"/>
          </a:xfrm>
          <a:prstGeom prst="rect">
            <a:avLst/>
          </a:prstGeom>
          <a:solidFill>
            <a:srgbClr val="161B2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0" name="Rectangle 139"/>
          <p:cNvSpPr/>
          <p:nvPr/>
        </p:nvSpPr>
        <p:spPr>
          <a:xfrm>
            <a:off x="10492740" y="3337560"/>
            <a:ext cx="137160" cy="137160"/>
          </a:xfrm>
          <a:prstGeom prst="rect">
            <a:avLst/>
          </a:prstGeom>
          <a:solidFill>
            <a:srgbClr val="161B2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1" name="Rectangle 140"/>
          <p:cNvSpPr/>
          <p:nvPr/>
        </p:nvSpPr>
        <p:spPr>
          <a:xfrm>
            <a:off x="8572500" y="3611880"/>
            <a:ext cx="137160" cy="137160"/>
          </a:xfrm>
          <a:prstGeom prst="rect">
            <a:avLst/>
          </a:prstGeom>
          <a:solidFill>
            <a:srgbClr val="161B2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2" name="Rectangle 141"/>
          <p:cNvSpPr/>
          <p:nvPr/>
        </p:nvSpPr>
        <p:spPr>
          <a:xfrm>
            <a:off x="8709660" y="3611880"/>
            <a:ext cx="137160" cy="137160"/>
          </a:xfrm>
          <a:prstGeom prst="rect">
            <a:avLst/>
          </a:prstGeom>
          <a:solidFill>
            <a:srgbClr val="161B2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3" name="Rectangle 142"/>
          <p:cNvSpPr/>
          <p:nvPr/>
        </p:nvSpPr>
        <p:spPr>
          <a:xfrm>
            <a:off x="8846820" y="3611880"/>
            <a:ext cx="137160" cy="137160"/>
          </a:xfrm>
          <a:prstGeom prst="rect">
            <a:avLst/>
          </a:prstGeom>
          <a:solidFill>
            <a:srgbClr val="161B2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4" name="Rectangle 143"/>
          <p:cNvSpPr/>
          <p:nvPr/>
        </p:nvSpPr>
        <p:spPr>
          <a:xfrm>
            <a:off x="8983980" y="3611880"/>
            <a:ext cx="137160" cy="137160"/>
          </a:xfrm>
          <a:prstGeom prst="rect">
            <a:avLst/>
          </a:prstGeom>
          <a:solidFill>
            <a:srgbClr val="161B2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5" name="Rectangle 144"/>
          <p:cNvSpPr/>
          <p:nvPr/>
        </p:nvSpPr>
        <p:spPr>
          <a:xfrm>
            <a:off x="9121140" y="3611880"/>
            <a:ext cx="137160" cy="137160"/>
          </a:xfrm>
          <a:prstGeom prst="rect">
            <a:avLst/>
          </a:prstGeom>
          <a:solidFill>
            <a:srgbClr val="161B2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6" name="Rectangle 145"/>
          <p:cNvSpPr/>
          <p:nvPr/>
        </p:nvSpPr>
        <p:spPr>
          <a:xfrm>
            <a:off x="9258300" y="3611880"/>
            <a:ext cx="137160" cy="137160"/>
          </a:xfrm>
          <a:prstGeom prst="rect">
            <a:avLst/>
          </a:prstGeom>
          <a:solidFill>
            <a:srgbClr val="161B2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7" name="Rectangle 146"/>
          <p:cNvSpPr/>
          <p:nvPr/>
        </p:nvSpPr>
        <p:spPr>
          <a:xfrm>
            <a:off x="9395460" y="3611880"/>
            <a:ext cx="137160" cy="137160"/>
          </a:xfrm>
          <a:prstGeom prst="rect">
            <a:avLst/>
          </a:prstGeom>
          <a:solidFill>
            <a:srgbClr val="161B2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8" name="Rectangle 147"/>
          <p:cNvSpPr/>
          <p:nvPr/>
        </p:nvSpPr>
        <p:spPr>
          <a:xfrm>
            <a:off x="8572500" y="3749040"/>
            <a:ext cx="137160" cy="137160"/>
          </a:xfrm>
          <a:prstGeom prst="rect">
            <a:avLst/>
          </a:prstGeom>
          <a:solidFill>
            <a:srgbClr val="161B2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9" name="Rectangle 148"/>
          <p:cNvSpPr/>
          <p:nvPr/>
        </p:nvSpPr>
        <p:spPr>
          <a:xfrm>
            <a:off x="9395460" y="3749040"/>
            <a:ext cx="137160" cy="137160"/>
          </a:xfrm>
          <a:prstGeom prst="rect">
            <a:avLst/>
          </a:prstGeom>
          <a:solidFill>
            <a:srgbClr val="161B2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0" name="Rectangle 149"/>
          <p:cNvSpPr/>
          <p:nvPr/>
        </p:nvSpPr>
        <p:spPr>
          <a:xfrm>
            <a:off x="8572500" y="3886200"/>
            <a:ext cx="137160" cy="137160"/>
          </a:xfrm>
          <a:prstGeom prst="rect">
            <a:avLst/>
          </a:prstGeom>
          <a:solidFill>
            <a:srgbClr val="161B2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1" name="Rectangle 150"/>
          <p:cNvSpPr/>
          <p:nvPr/>
        </p:nvSpPr>
        <p:spPr>
          <a:xfrm>
            <a:off x="8846820" y="3886200"/>
            <a:ext cx="137160" cy="137160"/>
          </a:xfrm>
          <a:prstGeom prst="rect">
            <a:avLst/>
          </a:prstGeom>
          <a:solidFill>
            <a:srgbClr val="161B2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2" name="Rectangle 151"/>
          <p:cNvSpPr/>
          <p:nvPr/>
        </p:nvSpPr>
        <p:spPr>
          <a:xfrm>
            <a:off x="8983980" y="3886200"/>
            <a:ext cx="137160" cy="137160"/>
          </a:xfrm>
          <a:prstGeom prst="rect">
            <a:avLst/>
          </a:prstGeom>
          <a:solidFill>
            <a:srgbClr val="161B2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3" name="Rectangle 152"/>
          <p:cNvSpPr/>
          <p:nvPr/>
        </p:nvSpPr>
        <p:spPr>
          <a:xfrm>
            <a:off x="9121140" y="3886200"/>
            <a:ext cx="137160" cy="137160"/>
          </a:xfrm>
          <a:prstGeom prst="rect">
            <a:avLst/>
          </a:prstGeom>
          <a:solidFill>
            <a:srgbClr val="161B2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4" name="Rectangle 153"/>
          <p:cNvSpPr/>
          <p:nvPr/>
        </p:nvSpPr>
        <p:spPr>
          <a:xfrm>
            <a:off x="9395460" y="3886200"/>
            <a:ext cx="137160" cy="137160"/>
          </a:xfrm>
          <a:prstGeom prst="rect">
            <a:avLst/>
          </a:prstGeom>
          <a:solidFill>
            <a:srgbClr val="161B2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5" name="Rectangle 154"/>
          <p:cNvSpPr/>
          <p:nvPr/>
        </p:nvSpPr>
        <p:spPr>
          <a:xfrm>
            <a:off x="8572500" y="4023360"/>
            <a:ext cx="137160" cy="137160"/>
          </a:xfrm>
          <a:prstGeom prst="rect">
            <a:avLst/>
          </a:prstGeom>
          <a:solidFill>
            <a:srgbClr val="161B2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6" name="Rectangle 155"/>
          <p:cNvSpPr/>
          <p:nvPr/>
        </p:nvSpPr>
        <p:spPr>
          <a:xfrm>
            <a:off x="8846820" y="4023360"/>
            <a:ext cx="137160" cy="137160"/>
          </a:xfrm>
          <a:prstGeom prst="rect">
            <a:avLst/>
          </a:prstGeom>
          <a:solidFill>
            <a:srgbClr val="161B2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7" name="Rectangle 156"/>
          <p:cNvSpPr/>
          <p:nvPr/>
        </p:nvSpPr>
        <p:spPr>
          <a:xfrm>
            <a:off x="8983980" y="4023360"/>
            <a:ext cx="137160" cy="137160"/>
          </a:xfrm>
          <a:prstGeom prst="rect">
            <a:avLst/>
          </a:prstGeom>
          <a:solidFill>
            <a:srgbClr val="161B2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8" name="Rectangle 157"/>
          <p:cNvSpPr/>
          <p:nvPr/>
        </p:nvSpPr>
        <p:spPr>
          <a:xfrm>
            <a:off x="9121140" y="4023360"/>
            <a:ext cx="137160" cy="137160"/>
          </a:xfrm>
          <a:prstGeom prst="rect">
            <a:avLst/>
          </a:prstGeom>
          <a:solidFill>
            <a:srgbClr val="161B2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9" name="Rectangle 158"/>
          <p:cNvSpPr/>
          <p:nvPr/>
        </p:nvSpPr>
        <p:spPr>
          <a:xfrm>
            <a:off x="9395460" y="4023360"/>
            <a:ext cx="137160" cy="137160"/>
          </a:xfrm>
          <a:prstGeom prst="rect">
            <a:avLst/>
          </a:prstGeom>
          <a:solidFill>
            <a:srgbClr val="161B2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0" name="Rectangle 159"/>
          <p:cNvSpPr/>
          <p:nvPr/>
        </p:nvSpPr>
        <p:spPr>
          <a:xfrm>
            <a:off x="8572500" y="4160520"/>
            <a:ext cx="137160" cy="137160"/>
          </a:xfrm>
          <a:prstGeom prst="rect">
            <a:avLst/>
          </a:prstGeom>
          <a:solidFill>
            <a:srgbClr val="161B2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1" name="Rectangle 160"/>
          <p:cNvSpPr/>
          <p:nvPr/>
        </p:nvSpPr>
        <p:spPr>
          <a:xfrm>
            <a:off x="8846820" y="4160520"/>
            <a:ext cx="137160" cy="137160"/>
          </a:xfrm>
          <a:prstGeom prst="rect">
            <a:avLst/>
          </a:prstGeom>
          <a:solidFill>
            <a:srgbClr val="161B2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2" name="Rectangle 161"/>
          <p:cNvSpPr/>
          <p:nvPr/>
        </p:nvSpPr>
        <p:spPr>
          <a:xfrm>
            <a:off x="8983980" y="4160520"/>
            <a:ext cx="137160" cy="137160"/>
          </a:xfrm>
          <a:prstGeom prst="rect">
            <a:avLst/>
          </a:prstGeom>
          <a:solidFill>
            <a:srgbClr val="161B2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3" name="Rectangle 162"/>
          <p:cNvSpPr/>
          <p:nvPr/>
        </p:nvSpPr>
        <p:spPr>
          <a:xfrm>
            <a:off x="9121140" y="4160520"/>
            <a:ext cx="137160" cy="137160"/>
          </a:xfrm>
          <a:prstGeom prst="rect">
            <a:avLst/>
          </a:prstGeom>
          <a:solidFill>
            <a:srgbClr val="161B2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4" name="Rectangle 163"/>
          <p:cNvSpPr/>
          <p:nvPr/>
        </p:nvSpPr>
        <p:spPr>
          <a:xfrm>
            <a:off x="9395460" y="4160520"/>
            <a:ext cx="137160" cy="137160"/>
          </a:xfrm>
          <a:prstGeom prst="rect">
            <a:avLst/>
          </a:prstGeom>
          <a:solidFill>
            <a:srgbClr val="161B2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5" name="Rectangle 164"/>
          <p:cNvSpPr/>
          <p:nvPr/>
        </p:nvSpPr>
        <p:spPr>
          <a:xfrm>
            <a:off x="8572500" y="4297680"/>
            <a:ext cx="137160" cy="137160"/>
          </a:xfrm>
          <a:prstGeom prst="rect">
            <a:avLst/>
          </a:prstGeom>
          <a:solidFill>
            <a:srgbClr val="161B2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6" name="Rectangle 165"/>
          <p:cNvSpPr/>
          <p:nvPr/>
        </p:nvSpPr>
        <p:spPr>
          <a:xfrm>
            <a:off x="9395460" y="4297680"/>
            <a:ext cx="137160" cy="137160"/>
          </a:xfrm>
          <a:prstGeom prst="rect">
            <a:avLst/>
          </a:prstGeom>
          <a:solidFill>
            <a:srgbClr val="161B2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7" name="Rectangle 166"/>
          <p:cNvSpPr/>
          <p:nvPr/>
        </p:nvSpPr>
        <p:spPr>
          <a:xfrm>
            <a:off x="8572500" y="4434840"/>
            <a:ext cx="137160" cy="137160"/>
          </a:xfrm>
          <a:prstGeom prst="rect">
            <a:avLst/>
          </a:prstGeom>
          <a:solidFill>
            <a:srgbClr val="161B2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8" name="Rectangle 167"/>
          <p:cNvSpPr/>
          <p:nvPr/>
        </p:nvSpPr>
        <p:spPr>
          <a:xfrm>
            <a:off x="8709660" y="4434840"/>
            <a:ext cx="137160" cy="137160"/>
          </a:xfrm>
          <a:prstGeom prst="rect">
            <a:avLst/>
          </a:prstGeom>
          <a:solidFill>
            <a:srgbClr val="161B2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9" name="Rectangle 168"/>
          <p:cNvSpPr/>
          <p:nvPr/>
        </p:nvSpPr>
        <p:spPr>
          <a:xfrm>
            <a:off x="8846820" y="4434840"/>
            <a:ext cx="137160" cy="137160"/>
          </a:xfrm>
          <a:prstGeom prst="rect">
            <a:avLst/>
          </a:prstGeom>
          <a:solidFill>
            <a:srgbClr val="161B2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0" name="Rectangle 169"/>
          <p:cNvSpPr/>
          <p:nvPr/>
        </p:nvSpPr>
        <p:spPr>
          <a:xfrm>
            <a:off x="8983980" y="4434840"/>
            <a:ext cx="137160" cy="137160"/>
          </a:xfrm>
          <a:prstGeom prst="rect">
            <a:avLst/>
          </a:prstGeom>
          <a:solidFill>
            <a:srgbClr val="161B2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1" name="Rectangle 170"/>
          <p:cNvSpPr/>
          <p:nvPr/>
        </p:nvSpPr>
        <p:spPr>
          <a:xfrm>
            <a:off x="9121140" y="4434840"/>
            <a:ext cx="137160" cy="137160"/>
          </a:xfrm>
          <a:prstGeom prst="rect">
            <a:avLst/>
          </a:prstGeom>
          <a:solidFill>
            <a:srgbClr val="161B2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2" name="Rectangle 171"/>
          <p:cNvSpPr/>
          <p:nvPr/>
        </p:nvSpPr>
        <p:spPr>
          <a:xfrm>
            <a:off x="9258300" y="4434840"/>
            <a:ext cx="137160" cy="137160"/>
          </a:xfrm>
          <a:prstGeom prst="rect">
            <a:avLst/>
          </a:prstGeom>
          <a:solidFill>
            <a:srgbClr val="161B2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3" name="Rectangle 172"/>
          <p:cNvSpPr/>
          <p:nvPr/>
        </p:nvSpPr>
        <p:spPr>
          <a:xfrm>
            <a:off x="9395460" y="4434840"/>
            <a:ext cx="137160" cy="137160"/>
          </a:xfrm>
          <a:prstGeom prst="rect">
            <a:avLst/>
          </a:prstGeom>
          <a:solidFill>
            <a:srgbClr val="161B2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4" name="TextBox 173"/>
          <p:cNvSpPr txBox="1"/>
          <p:nvPr/>
        </p:nvSpPr>
        <p:spPr>
          <a:xfrm>
            <a:off x="8001000" y="4846320"/>
            <a:ext cx="3200400" cy="548640"/>
          </a:xfrm>
          <a:prstGeom prst="rect">
            <a:avLst/>
          </a:prstGeom>
          <a:noFill/>
        </p:spPr>
        <p:txBody>
          <a:bodyPr wrap="square" anchor="t">
            <a:spAutoFit/>
          </a:bodyPr>
          <a:lstStyle/>
          <a:p>
            <a:pPr algn="ctr">
              <a:spcAft>
                <a:spcPts val="400"/>
              </a:spcAft>
            </a:pPr>
            <a:r>
              <a:rPr sz="1050" b="0">
                <a:solidFill>
                  <a:srgbClr val="5B6372"/>
                </a:solidFill>
                <a:latin typeface="Arial"/>
              </a:rPr>
              <a:t>SSG digital-attendance QR — displayed live from the portal by the trainer</a:t>
            </a:r>
          </a:p>
        </p:txBody>
      </p:sp>
      <p:sp>
        <p:nvSpPr>
          <p:cNvPr id="175" name="Rectangle 174"/>
          <p:cNvSpPr/>
          <p:nvPr/>
        </p:nvSpPr>
        <p:spPr>
          <a:xfrm>
            <a:off x="777240" y="5623560"/>
            <a:ext cx="10607040" cy="566928"/>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6" name="TextBox 175"/>
          <p:cNvSpPr txBox="1"/>
          <p:nvPr/>
        </p:nvSpPr>
        <p:spPr>
          <a:xfrm>
            <a:off x="1005840" y="5623560"/>
            <a:ext cx="10149840" cy="566928"/>
          </a:xfrm>
          <a:prstGeom prst="rect">
            <a:avLst/>
          </a:prstGeom>
          <a:noFill/>
        </p:spPr>
        <p:txBody>
          <a:bodyPr wrap="square" anchor="ctr">
            <a:spAutoFit/>
          </a:bodyPr>
          <a:lstStyle/>
          <a:p>
            <a:pPr algn="l">
              <a:spcAft>
                <a:spcPts val="400"/>
              </a:spcAft>
            </a:pPr>
            <a:r>
              <a:rPr sz="1250" b="1">
                <a:solidFill>
                  <a:srgbClr val="FFFFFF"/>
                </a:solidFill>
                <a:latin typeface="Arial"/>
              </a:rPr>
              <a:t>Minimum 75% attendance on the SSG Digital Attendance record is required to be eligible for assessment and funding.</a:t>
            </a:r>
          </a:p>
        </p:txBody>
      </p:sp>
      <p:sp>
        <p:nvSpPr>
          <p:cNvPr id="177" name="TextBox 176"/>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DevOps Engineering on AWS  ·  TGS-2023040474</a:t>
            </a:r>
          </a:p>
        </p:txBody>
      </p:sp>
      <p:sp>
        <p:nvSpPr>
          <p:cNvPr id="178" name="TextBox 177"/>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79" name="TextBox 178"/>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229</a:t>
            </a:r>
          </a:p>
        </p:txBody>
      </p:sp>
    </p:spTree>
  </p:cSld>
  <p:clrMapOvr>
    <a:masterClrMapping/>
  </p:clrMapOvr>
  <p:transition xmlns:p14="http://schemas.microsoft.com/office/powerpoint/2010/main" p14:dur="380">
    <p:fade/>
  </p:transition>
</p:sld>
</file>

<file path=ppt/slides/slide23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685800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1005840" y="2011680"/>
            <a:ext cx="10058400" cy="457200"/>
          </a:xfrm>
          <a:prstGeom prst="rect">
            <a:avLst/>
          </a:prstGeom>
          <a:noFill/>
        </p:spPr>
        <p:txBody>
          <a:bodyPr wrap="square" anchor="t">
            <a:spAutoFit/>
          </a:bodyPr>
          <a:lstStyle/>
          <a:p>
            <a:pPr algn="l">
              <a:spcAft>
                <a:spcPts val="400"/>
              </a:spcAft>
            </a:pPr>
            <a:r>
              <a:rPr sz="1600" b="1">
                <a:solidFill>
                  <a:srgbClr val="10B981"/>
                </a:solidFill>
                <a:latin typeface="Arial"/>
              </a:rPr>
              <a:t>WELL DONE</a:t>
            </a:r>
          </a:p>
        </p:txBody>
      </p:sp>
      <p:sp>
        <p:nvSpPr>
          <p:cNvPr id="5" name="TextBox 4"/>
          <p:cNvSpPr txBox="1"/>
          <p:nvPr/>
        </p:nvSpPr>
        <p:spPr>
          <a:xfrm>
            <a:off x="1005840" y="2560320"/>
            <a:ext cx="10332720" cy="2194560"/>
          </a:xfrm>
          <a:prstGeom prst="rect">
            <a:avLst/>
          </a:prstGeom>
          <a:noFill/>
        </p:spPr>
        <p:txBody>
          <a:bodyPr wrap="square" anchor="t">
            <a:spAutoFit/>
          </a:bodyPr>
          <a:lstStyle/>
          <a:p>
            <a:pPr algn="l">
              <a:spcAft>
                <a:spcPts val="400"/>
              </a:spcAft>
            </a:pPr>
            <a:r>
              <a:rPr sz="3800" b="1">
                <a:solidFill>
                  <a:srgbClr val="161B26"/>
                </a:solidFill>
                <a:latin typeface="Arial"/>
              </a:rPr>
              <a:t>Thank You!</a:t>
            </a:r>
          </a:p>
        </p:txBody>
      </p:sp>
      <p:sp>
        <p:nvSpPr>
          <p:cNvPr id="6" name="TextBox 5"/>
          <p:cNvSpPr txBox="1"/>
          <p:nvPr/>
        </p:nvSpPr>
        <p:spPr>
          <a:xfrm>
            <a:off x="1024128" y="4480560"/>
            <a:ext cx="10058400" cy="1097280"/>
          </a:xfrm>
          <a:prstGeom prst="rect">
            <a:avLst/>
          </a:prstGeom>
          <a:noFill/>
        </p:spPr>
        <p:txBody>
          <a:bodyPr wrap="square" anchor="t">
            <a:spAutoFit/>
          </a:bodyPr>
          <a:lstStyle/>
          <a:p>
            <a:pPr algn="l">
              <a:spcAft>
                <a:spcPts val="400"/>
              </a:spcAft>
            </a:pPr>
            <a:r>
              <a:rPr sz="2000" b="0">
                <a:solidFill>
                  <a:srgbClr val="5B6372"/>
                </a:solidFill>
                <a:latin typeface="Arial"/>
              </a:rPr>
              <a:t>You can now plan, automate, operate and secure DevOps solutions on AWS across the full delivery lifecycle.</a:t>
            </a:r>
          </a:p>
        </p:txBody>
      </p:sp>
      <p:sp>
        <p:nvSpPr>
          <p:cNvPr id="7" name="TextBox 6"/>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DevOps Engineering on AWS  ·  TGS-2023040474</a:t>
            </a:r>
          </a:p>
        </p:txBody>
      </p:sp>
      <p:sp>
        <p:nvSpPr>
          <p:cNvPr id="8" name="TextBox 7"/>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9" name="TextBox 8"/>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230</a:t>
            </a:r>
          </a:p>
        </p:txBody>
      </p:sp>
    </p:spTree>
  </p:cSld>
  <p:clrMapOvr>
    <a:masterClrMapping/>
  </p:clrMapOvr>
  <p:transition xmlns:p14="http://schemas.microsoft.com/office/powerpoint/2010/main" p14:dur="380">
    <p:fade/>
  </p:transition>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